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Arxitektura va dizayn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caeb3fe5fdc3fe1.jpg"/>
          <p:cNvPicPr>
            <a:picLocks noChangeAspect="1"/>
          </p:cNvPicPr>
          <p:nvPr/>
        </p:nvPicPr>
        <p:blipFill>
          <a:blip r:embed="rId2"/>
          <a:srcRect l="28189" r="28189"/>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Matt Kieffer · Wikimedia Commons · CC BY-SA 2.0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Xotira iyerarxiyasi va uning raqamlari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Lokallik: vaqt va fazoviy</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NUMA arxitekturasi</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Arifmetik intensivlik va roofline modeli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Xotira o'tkazuvchanligini oshirish va ma'lumot almashinuvini kamaytirish usullari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1eb192181681b00.jpg"/>
          <p:cNvPicPr>
            <a:picLocks noChangeAspect="1"/>
          </p:cNvPicPr>
          <p:nvPr/>
        </p:nvPicPr>
        <p:blipFill>
          <a:blip r:embed="rId2"/>
          <a:srcRect l="7345" r="734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Mister rf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Xotira iyerarxiyasi va uning raqamlari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Xotira iyerarxiyasi — bu tezlik, hajm va narx o'rtasidagi murosaning muhandislik yechimi.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server protsessori va tezlatkich uchun tipik ko'rsatkichlar quyidagi jadvalda keltirilgan (raqamlar taxminiy, avlod va modelga qarab farq qiladi):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Jadvaldan ikki xulosa kelib chiqadi. Birinchidan, pog'onalar orasida kechikish farqi o'nlab va yuzlab martani tashkil etadi: L1 keshdan o'qish DRAM'dan o'qishdan qariyb yuz marta tez.</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Kesh satr (cache line) birligi odatda 64 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Registrlar</a:t>
                      </a:r>
                    </a:p>
                  </a:txBody>
                  <a:tcPr>
                    <a:solidFill>
                      <a:srgbClr val="F1F4F8"/>
                    </a:solidFill>
                  </a:tcPr>
                </a:tc>
                <a:tc>
                  <a:txBody>
                    <a:bodyPr/>
                    <a:lstStyle/>
                    <a:p>
                      <a:r>
                        <a:rPr sz="1200" b="0">
                          <a:solidFill>
                            <a:srgbClr val="1B2430"/>
                          </a:solidFill>
                          <a:latin typeface="Calibri"/>
                        </a:rPr>
                        <a:t>bir necha KB</a:t>
                      </a:r>
                    </a:p>
                  </a:txBody>
                  <a:tcPr>
                    <a:solidFill>
                      <a:srgbClr val="F1F4F8"/>
                    </a:solidFill>
                  </a:tcPr>
                </a:tc>
                <a:tc>
                  <a:txBody>
                    <a:bodyPr/>
                    <a:lstStyle/>
                    <a:p>
                      <a:r>
                        <a:rPr sz="1200" b="0">
                          <a:solidFill>
                            <a:srgbClr val="1B2430"/>
                          </a:solidFill>
                          <a:latin typeface="Calibri"/>
                        </a:rPr>
                        <a:t>1 sikl (~0,3 ns)</a:t>
                      </a:r>
                    </a:p>
                  </a:txBody>
                  <a:tcPr>
                    <a:solidFill>
                      <a:srgbClr val="F1F4F8"/>
                    </a:solidFill>
                  </a:tcPr>
                </a:tc>
                <a:tc>
                  <a:txBody>
                    <a:bodyPr/>
                    <a:lstStyle/>
                    <a:p>
                      <a:r>
                        <a:rPr sz="1200" b="0">
                          <a:solidFill>
                            <a:srgbClr val="1B2430"/>
                          </a:solidFill>
                          <a:latin typeface="Calibri"/>
                        </a:rPr>
                        <a:t>juda yuqori</a:t>
                      </a:r>
                    </a:p>
                  </a:txBody>
                  <a:tcPr>
                    <a:solidFill>
                      <a:srgbClr val="F1F4F8"/>
                    </a:solidFill>
                  </a:tcPr>
                </a:tc>
              </a:tr>
              <a:tr h="520000">
                <a:tc>
                  <a:txBody>
                    <a:bodyPr/>
                    <a:lstStyle/>
                    <a:p>
                      <a:r>
                        <a:rPr sz="1200" b="0">
                          <a:solidFill>
                            <a:srgbClr val="1B2430"/>
                          </a:solidFill>
                          <a:latin typeface="Calibri"/>
                        </a:rPr>
                        <a:t>L1 kesh (ma'lumot)</a:t>
                      </a:r>
                    </a:p>
                  </a:txBody>
                  <a:tcPr>
                    <a:solidFill>
                      <a:srgbClr val="FFFFFF"/>
                    </a:solidFill>
                  </a:tcPr>
                </a:tc>
                <a:tc>
                  <a:txBody>
                    <a:bodyPr/>
                    <a:lstStyle/>
                    <a:p>
                      <a:r>
                        <a:rPr sz="1200" b="0">
                          <a:solidFill>
                            <a:srgbClr val="1B2430"/>
                          </a:solidFill>
                          <a:latin typeface="Calibri"/>
                        </a:rPr>
                        <a:t>32–48 KB / yadro</a:t>
                      </a:r>
                    </a:p>
                  </a:txBody>
                  <a:tcPr>
                    <a:solidFill>
                      <a:srgbClr val="FFFFFF"/>
                    </a:solidFill>
                  </a:tcPr>
                </a:tc>
                <a:tc>
                  <a:txBody>
                    <a:bodyPr/>
                    <a:lstStyle/>
                    <a:p>
                      <a:r>
                        <a:rPr sz="1200" b="0">
                          <a:solidFill>
                            <a:srgbClr val="1B2430"/>
                          </a:solidFill>
                          <a:latin typeface="Calibri"/>
                        </a:rPr>
                        <a:t>4–5 sikl (~1 ns)</a:t>
                      </a:r>
                    </a:p>
                  </a:txBody>
                  <a:tcPr>
                    <a:solidFill>
                      <a:srgbClr val="FFFFFF"/>
                    </a:solidFill>
                  </a:tcPr>
                </a:tc>
                <a:tc>
                  <a:txBody>
                    <a:bodyPr/>
                    <a:lstStyle/>
                    <a:p>
                      <a:r>
                        <a:rPr sz="1200" b="0">
                          <a:solidFill>
                            <a:srgbClr val="1B2430"/>
                          </a:solidFill>
                          <a:latin typeface="Calibri"/>
                        </a:rPr>
                        <a:t>~100–200 GB/s / yadro</a:t>
                      </a:r>
                    </a:p>
                  </a:txBody>
                  <a:tcPr>
                    <a:solidFill>
                      <a:srgbClr val="FFFFFF"/>
                    </a:solidFill>
                  </a:tcPr>
                </a:tc>
              </a:tr>
              <a:tr h="520000">
                <a:tc>
                  <a:txBody>
                    <a:bodyPr/>
                    <a:lstStyle/>
                    <a:p>
                      <a:r>
                        <a:rPr sz="1200" b="0">
                          <a:solidFill>
                            <a:srgbClr val="1B2430"/>
                          </a:solidFill>
                          <a:latin typeface="Calibri"/>
                        </a:rPr>
                        <a:t>L2 kesh</a:t>
                      </a:r>
                    </a:p>
                  </a:txBody>
                  <a:tcPr>
                    <a:solidFill>
                      <a:srgbClr val="F1F4F8"/>
                    </a:solidFill>
                  </a:tcPr>
                </a:tc>
                <a:tc>
                  <a:txBody>
                    <a:bodyPr/>
                    <a:lstStyle/>
                    <a:p>
                      <a:r>
                        <a:rPr sz="1200" b="0">
                          <a:solidFill>
                            <a:srgbClr val="1B2430"/>
                          </a:solidFill>
                          <a:latin typeface="Calibri"/>
                        </a:rPr>
                        <a:t>1–2 MB / yadro</a:t>
                      </a:r>
                    </a:p>
                  </a:txBody>
                  <a:tcPr>
                    <a:solidFill>
                      <a:srgbClr val="F1F4F8"/>
                    </a:solidFill>
                  </a:tcPr>
                </a:tc>
                <a:tc>
                  <a:txBody>
                    <a:bodyPr/>
                    <a:lstStyle/>
                    <a:p>
                      <a:r>
                        <a:rPr sz="1200" b="0">
                          <a:solidFill>
                            <a:srgbClr val="1B2430"/>
                          </a:solidFill>
                          <a:latin typeface="Calibri"/>
                        </a:rPr>
                        <a:t>12–16 sikl (~4 ns)</a:t>
                      </a:r>
                    </a:p>
                  </a:txBody>
                  <a:tcPr>
                    <a:solidFill>
                      <a:srgbClr val="F1F4F8"/>
                    </a:solidFill>
                  </a:tcPr>
                </a:tc>
                <a:tc>
                  <a:txBody>
                    <a:bodyPr/>
                    <a:lstStyle/>
                    <a:p>
                      <a:r>
                        <a:rPr sz="1200" b="0">
                          <a:solidFill>
                            <a:srgbClr val="1B2430"/>
                          </a:solidFill>
                          <a:latin typeface="Calibri"/>
                        </a:rPr>
                        <a:t>~50–100 GB/s / yadro</a:t>
                      </a:r>
                    </a:p>
                  </a:txBody>
                  <a:tcPr>
                    <a:solidFill>
                      <a:srgbClr val="F1F4F8"/>
                    </a:solidFill>
                  </a:tcPr>
                </a:tc>
              </a:tr>
              <a:tr h="520000">
                <a:tc>
                  <a:txBody>
                    <a:bodyPr/>
                    <a:lstStyle/>
                    <a:p>
                      <a:r>
                        <a:rPr sz="1200" b="0">
                          <a:solidFill>
                            <a:srgbClr val="1B2430"/>
                          </a:solidFill>
                          <a:latin typeface="Calibri"/>
                        </a:rPr>
                        <a:t>L3 kesh (umumiy)</a:t>
                      </a:r>
                    </a:p>
                  </a:txBody>
                  <a:tcPr>
                    <a:solidFill>
                      <a:srgbClr val="FFFFFF"/>
                    </a:solidFill>
                  </a:tcPr>
                </a:tc>
                <a:tc>
                  <a:txBody>
                    <a:bodyPr/>
                    <a:lstStyle/>
                    <a:p>
                      <a:r>
                        <a:rPr sz="1200" b="0">
                          <a:solidFill>
                            <a:srgbClr val="1B2430"/>
                          </a:solidFill>
                          <a:latin typeface="Calibri"/>
                        </a:rPr>
                        <a:t>32–384 MB / soket</a:t>
                      </a:r>
                    </a:p>
                  </a:txBody>
                  <a:tcPr>
                    <a:solidFill>
                      <a:srgbClr val="FFFFFF"/>
                    </a:solidFill>
                  </a:tcPr>
                </a:tc>
                <a:tc>
                  <a:txBody>
                    <a:bodyPr/>
                    <a:lstStyle/>
                    <a:p>
                      <a:r>
                        <a:rPr sz="1200" b="0">
                          <a:solidFill>
                            <a:srgbClr val="1B2430"/>
                          </a:solidFill>
                          <a:latin typeface="Calibri"/>
                        </a:rPr>
                        <a:t>40–80 sikl (~15–40 ns)</a:t>
                      </a:r>
                    </a:p>
                  </a:txBody>
                  <a:tcPr>
                    <a:solidFill>
                      <a:srgbClr val="FFFFFF"/>
                    </a:solidFill>
                  </a:tcPr>
                </a:tc>
                <a:tc>
                  <a:txBody>
                    <a:bodyPr/>
                    <a:lstStyle/>
                    <a:p>
                      <a:r>
                        <a:rPr sz="1200" b="0">
                          <a:solidFill>
                            <a:srgbClr val="1B2430"/>
                          </a:solidFill>
                          <a:latin typeface="Calibri"/>
                        </a:rPr>
                        <a:t>bir necha yuz GB/s / soket</a:t>
                      </a:r>
                    </a:p>
                  </a:txBody>
                  <a:tcPr>
                    <a:solidFill>
                      <a:srgbClr val="FFFFFF"/>
                    </a:solidFill>
                  </a:tcPr>
                </a:tc>
              </a:tr>
              <a:tr h="520000">
                <a:tc>
                  <a:txBody>
                    <a:bodyPr/>
                    <a:lstStyle/>
                    <a:p>
                      <a:r>
                        <a:rPr sz="1200" b="0">
                          <a:solidFill>
                            <a:srgbClr val="1B2430"/>
                          </a:solidFill>
                          <a:latin typeface="Calibri"/>
                        </a:rPr>
                        <a:t>DRAM (DDR5, 8 kanal)</a:t>
                      </a:r>
                    </a:p>
                  </a:txBody>
                  <a:tcPr>
                    <a:solidFill>
                      <a:srgbClr val="F1F4F8"/>
                    </a:solidFill>
                  </a:tcPr>
                </a:tc>
                <a:tc>
                  <a:txBody>
                    <a:bodyPr/>
                    <a:lstStyle/>
                    <a:p>
                      <a:r>
                        <a:rPr sz="1200" b="0">
                          <a:solidFill>
                            <a:srgbClr val="1B2430"/>
                          </a:solidFill>
                          <a:latin typeface="Calibri"/>
                        </a:rPr>
                        <a:t>256 GB – 2 TB</a:t>
                      </a:r>
                    </a:p>
                  </a:txBody>
                  <a:tcPr>
                    <a:solidFill>
                      <a:srgbClr val="F1F4F8"/>
                    </a:solidFill>
                  </a:tcPr>
                </a:tc>
                <a:tc>
                  <a:txBody>
                    <a:bodyPr/>
                    <a:lstStyle/>
                    <a:p>
                      <a:r>
                        <a:rPr sz="1200" b="0">
                          <a:solidFill>
                            <a:srgbClr val="1B2430"/>
                          </a:solidFill>
                          <a:latin typeface="Calibri"/>
                        </a:rPr>
                        <a:t>~80–120 ns</a:t>
                      </a:r>
                    </a:p>
                  </a:txBody>
                  <a:tcPr>
                    <a:solidFill>
                      <a:srgbClr val="F1F4F8"/>
                    </a:solidFill>
                  </a:tcPr>
                </a:tc>
                <a:tc>
                  <a:txBody>
                    <a:bodyPr/>
                    <a:lstStyle/>
                    <a:p>
                      <a:r>
                        <a:rPr sz="1200" b="0">
                          <a:solidFill>
                            <a:srgbClr val="1B2430"/>
                          </a:solidFill>
                          <a:latin typeface="Calibri"/>
                        </a:rPr>
                        <a:t>~300–400 GB/s / soket</a:t>
                      </a:r>
                    </a:p>
                  </a:txBody>
                  <a:tcPr>
                    <a:solidFill>
                      <a:srgbClr val="F1F4F8"/>
                    </a:solidFill>
                  </a:tcPr>
                </a:tc>
              </a:tr>
              <a:tr h="520000">
                <a:tc>
                  <a:txBody>
                    <a:bodyPr/>
                    <a:lstStyle/>
                    <a:p>
                      <a:r>
                        <a:rPr sz="1200" b="0">
                          <a:solidFill>
                            <a:srgbClr val="1B2430"/>
                          </a:solidFill>
                          <a:latin typeface="Calibri"/>
                        </a:rPr>
                        <a:t>Uzoq NUMA tugun DRAM'i</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~130–200 ns</a:t>
                      </a:r>
                    </a:p>
                  </a:txBody>
                  <a:tcPr>
                    <a:solidFill>
                      <a:srgbClr val="FFFFFF"/>
                    </a:solidFill>
                  </a:tcPr>
                </a:tc>
                <a:tc>
                  <a:txBody>
                    <a:bodyPr/>
                    <a:lstStyle/>
                    <a:p>
                      <a:r>
                        <a:rPr sz="1200" b="0">
                          <a:solidFill>
                            <a:srgbClr val="1B2430"/>
                          </a:solidFill>
                          <a:latin typeface="Calibri"/>
                        </a:rPr>
                        <a:t>tugunlararo havola bilan cheklangan</a:t>
                      </a:r>
                    </a:p>
                  </a:txBody>
                  <a:tcPr>
                    <a:solidFill>
                      <a:srgbClr val="FFFFFF"/>
                    </a:solidFill>
                  </a:tcPr>
                </a:tc>
              </a:tr>
              <a:tr h="520000">
                <a:tc>
                  <a:txBody>
                    <a:bodyPr/>
                    <a:lstStyle/>
                    <a:p>
                      <a:r>
                        <a:rPr sz="1200" b="0">
                          <a:solidFill>
                            <a:srgbClr val="1B2430"/>
                          </a:solidFill>
                          <a:latin typeface="Calibri"/>
                        </a:rPr>
                        <a:t>GPU HBM3 (H100)</a:t>
                      </a:r>
                    </a:p>
                  </a:txBody>
                  <a:tcPr>
                    <a:solidFill>
                      <a:srgbClr val="F1F4F8"/>
                    </a:solidFill>
                  </a:tcPr>
                </a:tc>
                <a:tc>
                  <a:txBody>
                    <a:bodyPr/>
                    <a:lstStyle/>
                    <a:p>
                      <a:r>
                        <a:rPr sz="1200" b="0">
                          <a:solidFill>
                            <a:srgbClr val="1B2430"/>
                          </a:solidFill>
                          <a:latin typeface="Calibri"/>
                        </a:rPr>
                        <a:t>80 GB</a:t>
                      </a:r>
                    </a:p>
                  </a:txBody>
                  <a:tcPr>
                    <a:solidFill>
                      <a:srgbClr val="F1F4F8"/>
                    </a:solidFill>
                  </a:tcPr>
                </a:tc>
                <a:tc>
                  <a:txBody>
                    <a:bodyPr/>
                    <a:lstStyle/>
                    <a:p>
                      <a:r>
                        <a:rPr sz="1200" b="0">
                          <a:solidFill>
                            <a:srgbClr val="1B2430"/>
                          </a:solidFill>
                          <a:latin typeface="Calibri"/>
                        </a:rPr>
                        <a:t>~500–700 ns</a:t>
                      </a:r>
                    </a:p>
                  </a:txBody>
                  <a:tcPr>
                    <a:solidFill>
                      <a:srgbClr val="F1F4F8"/>
                    </a:solidFill>
                  </a:tcPr>
                </a:tc>
                <a:tc>
                  <a:txBody>
                    <a:bodyPr/>
                    <a:lstStyle/>
                    <a:p>
                      <a:r>
                        <a:rPr sz="1200" b="0">
                          <a:solidFill>
                            <a:srgbClr val="1B2430"/>
                          </a:solidFill>
                          <a:latin typeface="Calibri"/>
                        </a:rPr>
                        <a:t>~3,35 TB/s</a:t>
                      </a:r>
                    </a:p>
                  </a:txBody>
                  <a:tcPr>
                    <a:solidFill>
                      <a:srgbClr val="F1F4F8"/>
                    </a:solidFill>
                  </a:tcPr>
                </a:tc>
              </a:tr>
              <a:tr h="520000">
                <a:tc>
                  <a:txBody>
                    <a:bodyPr/>
                    <a:lstStyle/>
                    <a:p>
                      <a:r>
                        <a:rPr sz="1200" b="0">
                          <a:solidFill>
                            <a:srgbClr val="1B2430"/>
                          </a:solidFill>
                          <a:latin typeface="Calibri"/>
                        </a:rPr>
                        <a:t>PCIe 5.0 x16 (CPU–GPU)</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mikrosekundlar</a:t>
                      </a:r>
                    </a:p>
                  </a:txBody>
                  <a:tcPr>
                    <a:solidFill>
                      <a:srgbClr val="FFFFFF"/>
                    </a:solidFill>
                  </a:tcPr>
                </a:tc>
                <a:tc>
                  <a:txBody>
                    <a:bodyPr/>
                    <a:lstStyle/>
                    <a:p>
                      <a:r>
                        <a:rPr sz="1200" b="0">
                          <a:solidFill>
                            <a:srgbClr val="1B2430"/>
                          </a:solidFill>
                          <a:latin typeface="Calibri"/>
                        </a:rPr>
                        <a:t>~64 GB/s (bir yo'nalish)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NVMe SSD</a:t>
                      </a:r>
                    </a:p>
                  </a:txBody>
                  <a:tcPr>
                    <a:solidFill>
                      <a:srgbClr val="F1F4F8"/>
                    </a:solidFill>
                  </a:tcPr>
                </a:tc>
                <a:tc>
                  <a:txBody>
                    <a:bodyPr/>
                    <a:lstStyle/>
                    <a:p>
                      <a:r>
                        <a:rPr sz="1200" b="0">
                          <a:solidFill>
                            <a:srgbClr val="1B2430"/>
                          </a:solidFill>
                          <a:latin typeface="Calibri"/>
                        </a:rPr>
                        <a:t>TB'lar</a:t>
                      </a:r>
                    </a:p>
                  </a:txBody>
                  <a:tcPr>
                    <a:solidFill>
                      <a:srgbClr val="F1F4F8"/>
                    </a:solidFill>
                  </a:tcPr>
                </a:tc>
                <a:tc>
                  <a:txBody>
                    <a:bodyPr/>
                    <a:lstStyle/>
                    <a:p>
                      <a:r>
                        <a:rPr sz="1200" b="0">
                          <a:solidFill>
                            <a:srgbClr val="1B2430"/>
                          </a:solidFill>
                          <a:latin typeface="Calibri"/>
                        </a:rPr>
                        <a:t>~10–100 mks</a:t>
                      </a:r>
                    </a:p>
                  </a:txBody>
                  <a:tcPr>
                    <a:solidFill>
                      <a:srgbClr val="F1F4F8"/>
                    </a:solidFill>
                  </a:tcPr>
                </a:tc>
                <a:tc>
                  <a:txBody>
                    <a:bodyPr/>
                    <a:lstStyle/>
                    <a:p>
                      <a:r>
                        <a:rPr sz="1200" b="0">
                          <a:solidFill>
                            <a:srgbClr val="1B2430"/>
                          </a:solidFill>
                          <a:latin typeface="Calibri"/>
                        </a:rPr>
                        <a:t>5–14 GB/s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7780c0a50920136.jpg"/>
          <p:cNvPicPr>
            <a:picLocks noChangeAspect="1"/>
          </p:cNvPicPr>
          <p:nvPr/>
        </p:nvPicPr>
        <p:blipFill>
          <a:blip r:embed="rId2"/>
          <a:srcRect l="5309" r="530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David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Lokallik: vaqt va fazoviy</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Lokallik: vaqt va fazoviy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Ma'lumotlar lokalizatsiyasi (data locality) ikki shaklda namoyon bo'ladi. Vaqt lokalligi (temporal locality) — yaqinda ishlatilgan ma'lumot yaqin orada yana ishlatilishi ehtimoli yuqori; shuning uchun uni keshda ushlab turish foydali.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Ko'p o'lchovli massivlarda lokallik xotirada joylashish tartibiga bog'liq. NumPy va PyTorch'da standart tartib — satr-ustuvor (row-major, C-order): A[i, j] elementidan keyin xotirada A[i, j+1] yotadi.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Chuqur o'rganish freymvorklarida bu masala tensor tartibi (memory format) ko'rinishida uchraydi: PyTorch'da konvolyutsion tarmoqlar uchun NCHW (kanal birinchi) va NHWC (channels_last) formatlari mavjud. Tensor Core va cuDNN kernellari ko'pincha NHWC tartibida…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a2bdfa5d53b65a5.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极客湾Geekerwan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NUMA arxitekturasi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NUMA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Ko'p soketli serverlarda (masalan, ikki protsessorli Intel Xeon yoki AMD EPYC tizimlari) har bir protsessorning o'z xotira kontrollerlari va unga ulangan DRAM modullari bor.</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AMD EPYC protsessorlarida vaziyat yanada murakkabroq: bitta soket ichida ham bir nechta chiplet (CCD) va I/O kristali bor, shuning uchun BIOS sozlamalariga qarab bitta soket 1, 2 yoki 4…</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Linux yadrosi standart holatda «first-touch» siyosatini qo'llaydi: xotira sahifasi uni birinchi marta yozgan (ishga tushirgan) yadro joylashgan tugunda ajratiladi.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Sun'iy intellekt tizimlarida NUMA'ga e'tibor berish uchta joyda muhim: (1) dataloader iplarini GPU'ga yaqin soketga bog'lash; (2) CPU'da inferens qiluvchi xizmatlarni (masalan, ONNX Runtime…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c37973e01be8cf9.jpg"/>
          <p:cNvPicPr>
            <a:picLocks noChangeAspect="1"/>
          </p:cNvPicPr>
          <p:nvPr/>
        </p:nvPicPr>
        <p:blipFill>
          <a:blip r:embed="rId2"/>
          <a:srcRect l="31273" r="312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Giu.natale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Arifmetik intensivlik va roofline modeli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Qaysi ish yuki xotira bilan chegaralanganini miqdoriy baholash uchun arifmetik intensivlik (arithmetic intensity) tushunchasi ishlatiladi: I = FLOP / bayt — bajarilgan suzuvchi nuqtali…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P_erishiladigan = min(P_cho'qqi, B_xotira × 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bu yerda P_cho'qqi — qurilmaning maksimal hisoblash quvvati (FLOP/s), B_xotira — xotira o'tkazuvchanligi (bayt/s).</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Bir necha tipik operatsiyaning intensivligi: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Jadval LLM inferensining mashhur muammosini tushuntiradi: batch hajmi 1 bo'lganda har bir yangi token uchun modelning barcha og'irliklari (70 mlrd parametrli model uchun FP16'da 140 GB)…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Operatsiya</a:t>
                      </a:r>
                    </a:p>
                  </a:txBody>
                  <a:tcPr>
                    <a:solidFill>
                      <a:srgbClr val="2D5C8F"/>
                    </a:solidFill>
                  </a:tcPr>
                </a:tc>
                <a:tc>
                  <a:txBody>
                    <a:bodyPr/>
                    <a:lstStyle/>
                    <a:p>
                      <a:r>
                        <a:rPr sz="1200" b="1">
                          <a:solidFill>
                            <a:srgbClr val="FFFFFF"/>
                          </a:solidFill>
                          <a:latin typeface="Calibri"/>
                        </a:rPr>
                        <a:t>Taxminiy intensivlik (FP16)</a:t>
                      </a:r>
                    </a:p>
                  </a:txBody>
                  <a:tcPr>
                    <a:solidFill>
                      <a:srgbClr val="2D5C8F"/>
                    </a:solidFill>
                  </a:tcPr>
                </a:tc>
                <a:tc>
                  <a:txBody>
                    <a:bodyPr/>
                    <a:lstStyle/>
                    <a:p>
                      <a:r>
                        <a:rPr sz="1200" b="1">
                          <a:solidFill>
                            <a:srgbClr val="FFFFFF"/>
                          </a:solidFill>
                          <a:latin typeface="Calibri"/>
                        </a:rPr>
                        <a:t>H100'da holat</a:t>
                      </a:r>
                    </a:p>
                  </a:txBody>
                  <a:tcPr>
                    <a:solidFill>
                      <a:srgbClr val="2D5C8F"/>
                    </a:solidFill>
                  </a:tcPr>
                </a:tc>
              </a:tr>
              <a:tr h="520000">
                <a:tc>
                  <a:txBody>
                    <a:bodyPr/>
                    <a:lstStyle/>
                    <a:p>
                      <a:r>
                        <a:rPr sz="1200" b="0">
                          <a:solidFill>
                            <a:srgbClr val="1B2430"/>
                          </a:solidFill>
                          <a:latin typeface="Calibri"/>
                        </a:rPr>
                        <a:t>Vektorlarni qo'shish z = x + y</a:t>
                      </a:r>
                    </a:p>
                  </a:txBody>
                  <a:tcPr>
                    <a:solidFill>
                      <a:srgbClr val="F1F4F8"/>
                    </a:solidFill>
                  </a:tcPr>
                </a:tc>
                <a:tc>
                  <a:txBody>
                    <a:bodyPr/>
                    <a:lstStyle/>
                    <a:p>
                      <a:r>
                        <a:rPr sz="1200" b="0">
                          <a:solidFill>
                            <a:srgbClr val="1B2430"/>
                          </a:solidFill>
                          <a:latin typeface="Calibri"/>
                        </a:rPr>
                        <a:t>~0,17 FLOP/bayt</a:t>
                      </a:r>
                    </a:p>
                  </a:txBody>
                  <a:tcPr>
                    <a:solidFill>
                      <a:srgbClr val="F1F4F8"/>
                    </a:solidFill>
                  </a:tcPr>
                </a:tc>
                <a:tc>
                  <a:txBody>
                    <a:bodyPr/>
                    <a:lstStyle/>
                    <a:p>
                      <a:r>
                        <a:rPr sz="1200" b="0">
                          <a:solidFill>
                            <a:srgbClr val="1B2430"/>
                          </a:solidFill>
                          <a:latin typeface="Calibri"/>
                        </a:rPr>
                        <a:t>qat'iy xotira bilan chegaralangan</a:t>
                      </a:r>
                    </a:p>
                  </a:txBody>
                  <a:tcPr>
                    <a:solidFill>
                      <a:srgbClr val="F1F4F8"/>
                    </a:solidFill>
                  </a:tcPr>
                </a:tc>
              </a:tr>
              <a:tr h="520000">
                <a:tc>
                  <a:txBody>
                    <a:bodyPr/>
                    <a:lstStyle/>
                    <a:p>
                      <a:r>
                        <a:rPr sz="1200" b="0">
                          <a:solidFill>
                            <a:srgbClr val="1B2430"/>
                          </a:solidFill>
                          <a:latin typeface="Calibri"/>
                        </a:rPr>
                        <a:t>ReLU, LayerNorm, Softmax</a:t>
                      </a:r>
                    </a:p>
                  </a:txBody>
                  <a:tcPr>
                    <a:solidFill>
                      <a:srgbClr val="FFFFFF"/>
                    </a:solidFill>
                  </a:tcPr>
                </a:tc>
                <a:tc>
                  <a:txBody>
                    <a:bodyPr/>
                    <a:lstStyle/>
                    <a:p>
                      <a:r>
                        <a:rPr sz="1200" b="0">
                          <a:solidFill>
                            <a:srgbClr val="1B2430"/>
                          </a:solidFill>
                          <a:latin typeface="Calibri"/>
                        </a:rPr>
                        <a:t>0,3–2 FLOP/bayt</a:t>
                      </a:r>
                    </a:p>
                  </a:txBody>
                  <a:tcPr>
                    <a:solidFill>
                      <a:srgbClr val="FFFFFF"/>
                    </a:solidFill>
                  </a:tcPr>
                </a:tc>
                <a:tc>
                  <a:txBody>
                    <a:bodyPr/>
                    <a:lstStyle/>
                    <a:p>
                      <a:r>
                        <a:rPr sz="1200" b="0">
                          <a:solidFill>
                            <a:srgbClr val="1B2430"/>
                          </a:solidFill>
                          <a:latin typeface="Calibri"/>
                        </a:rPr>
                        <a:t>xotira bilan chegaralangan</a:t>
                      </a:r>
                    </a:p>
                  </a:txBody>
                  <a:tcPr>
                    <a:solidFill>
                      <a:srgbClr val="FFFFFF"/>
                    </a:solidFill>
                  </a:tcPr>
                </a:tc>
              </a:tr>
              <a:tr h="520000">
                <a:tc>
                  <a:txBody>
                    <a:bodyPr/>
                    <a:lstStyle/>
                    <a:p>
                      <a:r>
                        <a:rPr sz="1200" b="0">
                          <a:solidFill>
                            <a:srgbClr val="1B2430"/>
                          </a:solidFill>
                          <a:latin typeface="Calibri"/>
                        </a:rPr>
                        <a:t>Matritsa–vektor (LLM dekodlash, batch=1)</a:t>
                      </a:r>
                    </a:p>
                  </a:txBody>
                  <a:tcPr>
                    <a:solidFill>
                      <a:srgbClr val="F1F4F8"/>
                    </a:solidFill>
                  </a:tcPr>
                </a:tc>
                <a:tc>
                  <a:txBody>
                    <a:bodyPr/>
                    <a:lstStyle/>
                    <a:p>
                      <a:r>
                        <a:rPr sz="1200" b="0">
                          <a:solidFill>
                            <a:srgbClr val="1B2430"/>
                          </a:solidFill>
                          <a:latin typeface="Calibri"/>
                        </a:rPr>
                        <a:t>~1 FLOP/bayt</a:t>
                      </a:r>
                    </a:p>
                  </a:txBody>
                  <a:tcPr>
                    <a:solidFill>
                      <a:srgbClr val="F1F4F8"/>
                    </a:solidFill>
                  </a:tcPr>
                </a:tc>
                <a:tc>
                  <a:txBody>
                    <a:bodyPr/>
                    <a:lstStyle/>
                    <a:p>
                      <a:r>
                        <a:rPr sz="1200" b="0">
                          <a:solidFill>
                            <a:srgbClr val="1B2430"/>
                          </a:solidFill>
                          <a:latin typeface="Calibri"/>
                        </a:rPr>
                        <a:t>xotira bilan chegaralangan</a:t>
                      </a:r>
                    </a:p>
                  </a:txBody>
                  <a:tcPr>
                    <a:solidFill>
                      <a:srgbClr val="F1F4F8"/>
                    </a:solidFill>
                  </a:tcPr>
                </a:tc>
              </a:tr>
              <a:tr h="520000">
                <a:tc>
                  <a:txBody>
                    <a:bodyPr/>
                    <a:lstStyle/>
                    <a:p>
                      <a:r>
                        <a:rPr sz="1200" b="0">
                          <a:solidFill>
                            <a:srgbClr val="1B2430"/>
                          </a:solidFill>
                          <a:latin typeface="Calibri"/>
                        </a:rPr>
                        <a:t>GEMM 1024×1024×1024</a:t>
                      </a:r>
                    </a:p>
                  </a:txBody>
                  <a:tcPr>
                    <a:solidFill>
                      <a:srgbClr val="FFFFFF"/>
                    </a:solidFill>
                  </a:tcPr>
                </a:tc>
                <a:tc>
                  <a:txBody>
                    <a:bodyPr/>
                    <a:lstStyle/>
                    <a:p>
                      <a:r>
                        <a:rPr sz="1200" b="0">
                          <a:solidFill>
                            <a:srgbClr val="1B2430"/>
                          </a:solidFill>
                          <a:latin typeface="Calibri"/>
                        </a:rPr>
                        <a:t>~170 FLOP/bayt</a:t>
                      </a:r>
                    </a:p>
                  </a:txBody>
                  <a:tcPr>
                    <a:solidFill>
                      <a:srgbClr val="FFFFFF"/>
                    </a:solidFill>
                  </a:tcPr>
                </a:tc>
                <a:tc>
                  <a:txBody>
                    <a:bodyPr/>
                    <a:lstStyle/>
                    <a:p>
                      <a:r>
                        <a:rPr sz="1200" b="0">
                          <a:solidFill>
                            <a:srgbClr val="1B2430"/>
                          </a:solidFill>
                          <a:latin typeface="Calibri"/>
                        </a:rPr>
                        <a:t>o'tish zonasi</a:t>
                      </a:r>
                    </a:p>
                  </a:txBody>
                  <a:tcPr>
                    <a:solidFill>
                      <a:srgbClr val="FFFFFF"/>
                    </a:solidFill>
                  </a:tcPr>
                </a:tc>
              </a:tr>
              <a:tr h="520000">
                <a:tc>
                  <a:txBody>
                    <a:bodyPr/>
                    <a:lstStyle/>
                    <a:p>
                      <a:r>
                        <a:rPr sz="1200" b="0">
                          <a:solidFill>
                            <a:srgbClr val="1B2430"/>
                          </a:solidFill>
                          <a:latin typeface="Calibri"/>
                        </a:rPr>
                        <a:t>GEMM 8192×8192×8192</a:t>
                      </a:r>
                    </a:p>
                  </a:txBody>
                  <a:tcPr>
                    <a:solidFill>
                      <a:srgbClr val="F1F4F8"/>
                    </a:solidFill>
                  </a:tcPr>
                </a:tc>
                <a:tc>
                  <a:txBody>
                    <a:bodyPr/>
                    <a:lstStyle/>
                    <a:p>
                      <a:r>
                        <a:rPr sz="1200" b="0">
                          <a:solidFill>
                            <a:srgbClr val="1B2430"/>
                          </a:solidFill>
                          <a:latin typeface="Calibri"/>
                        </a:rPr>
                        <a:t>~1365 FLOP/bayt</a:t>
                      </a:r>
                    </a:p>
                  </a:txBody>
                  <a:tcPr>
                    <a:solidFill>
                      <a:srgbClr val="F1F4F8"/>
                    </a:solidFill>
                  </a:tcPr>
                </a:tc>
                <a:tc>
                  <a:txBody>
                    <a:bodyPr/>
                    <a:lstStyle/>
                    <a:p>
                      <a:r>
                        <a:rPr sz="1200" b="0">
                          <a:solidFill>
                            <a:srgbClr val="1B2430"/>
                          </a:solidFill>
                          <a:latin typeface="Calibri"/>
                        </a:rPr>
                        <a:t>hisoblash bilan chegaralangan</a:t>
                      </a:r>
                    </a:p>
                  </a:txBody>
                  <a:tcPr>
                    <a:solidFill>
                      <a:srgbClr val="F1F4F8"/>
                    </a:solidFill>
                  </a:tcPr>
                </a:tc>
              </a:tr>
              <a:tr h="520000">
                <a:tc>
                  <a:txBody>
                    <a:bodyPr/>
                    <a:lstStyle/>
                    <a:p>
                      <a:r>
                        <a:rPr sz="1200" b="0">
                          <a:solidFill>
                            <a:srgbClr val="1B2430"/>
                          </a:solidFill>
                          <a:latin typeface="Calibri"/>
                        </a:rPr>
                        <a:t>Konvolyutsiya 3×3, 256 kanal</a:t>
                      </a:r>
                    </a:p>
                  </a:txBody>
                  <a:tcPr>
                    <a:solidFill>
                      <a:srgbClr val="FFFFFF"/>
                    </a:solidFill>
                  </a:tcPr>
                </a:tc>
                <a:tc>
                  <a:txBody>
                    <a:bodyPr/>
                    <a:lstStyle/>
                    <a:p>
                      <a:r>
                        <a:rPr sz="1200" b="0">
                          <a:solidFill>
                            <a:srgbClr val="1B2430"/>
                          </a:solidFill>
                          <a:latin typeface="Calibri"/>
                        </a:rPr>
                        <a:t>yuzlab FLOP/bayt</a:t>
                      </a:r>
                    </a:p>
                  </a:txBody>
                  <a:tcPr>
                    <a:solidFill>
                      <a:srgbClr val="FFFFFF"/>
                    </a:solidFill>
                  </a:tcPr>
                </a:tc>
                <a:tc>
                  <a:txBody>
                    <a:bodyPr/>
                    <a:lstStyle/>
                    <a:p>
                      <a:r>
                        <a:rPr sz="1200" b="0">
                          <a:solidFill>
                            <a:srgbClr val="1B2430"/>
                          </a:solidFill>
                          <a:latin typeface="Calibri"/>
                        </a:rPr>
                        <a:t>hisoblash bilan chegaralangan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4346d70ad9af82.jpg"/>
          <p:cNvPicPr>
            <a:picLocks noChangeAspect="1"/>
          </p:cNvPicPr>
          <p:nvPr/>
        </p:nvPicPr>
        <p:blipFill>
          <a:blip r:embed="rId2"/>
          <a:srcRect l="26575" r="2657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WikiEwout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Xotira o'tkazuvchanligini oshirish va ma'lumot almashinuvini kamaytirish usullari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Xotira o'tkazuvchanligini oshirish va ma'lumot almashinuvini kamaytirish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Muhandislik amaliyotida quyidagi usullar guruhi ajralib turadi.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Apparat darajasida: HBM (High Bandwidth Memory) — DRAM kristallarini vertikal stakalab, GPU bilan keng (1024+ bit) interfeys orqali ulash; H100'da HBM3, B200'da HBM3e ishlatiladi.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Algoritm darajasida: tiling (bloklash) — katta matritsani keshga sig'adigan bloklarga bo'lib, har bir blok ustida maksimal ishni bajarish; bu GEMM kutubxonalarining (cuBLAS, oneDNN) asosiy…</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Tizim darajasida: pinned (sahifalanmaydigan, page-locked) xotira — cudaHostAlloc yoki PyTorch'da pin_memory=True — CPU→GPU nusxalashni DMA orqali to'g'ridan-to'g'ri va asinxron bajarish…</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usullarning barchasini birlashtiruvchi tamoyil bitta: hisoblashni ma'lumot yoniga olib borish, ma'lumotni hisoblash yoniga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
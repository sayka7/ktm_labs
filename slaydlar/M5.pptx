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Xotira iyerarxiyasi — bu tezlik, hajm va narx o'rtasidagi murosaning muhandislik yechimi. Juda tez xotira (SRAM asosidagi registrlar va kesh) qimmat va kichik hajmli, katta hajmli xotira (DRAM, flesh) esa sekin. Iyerarxiya g'oyasi shundan iboratki, dastur hozir ishlatayotgan kichik ma'lumotlar to'plami tez pog'onada, qolgani esa katta va sekin pog'onalarda saqlanadi. Hennessy va Patterson [1] ta'kidlaganidek, bu yechim faqat dasturlar lokallik xususiyatiga ega bo'lgani uchungina ishlaydi.</a:t>
            </a:r>
          </a:p>
          <a:p/>
          <a:p>
            <a:r>
              <a:t>Zamonaviy server protsessori va tezlatkich uchun tipik ko'rsatkichlar quyidagi jadvalda keltirilgan (raqamlar taxminiy, avlod va modelga qarab farq qiladi):</a:t>
            </a:r>
          </a:p>
          <a:p/>
          <a:p>
            <a:r>
              <a:t>Jadvaldan ikki xulosa kelib chiqadi. 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a:p/>
          <a:p>
            <a:r>
              <a:t>Kesh satr (cache line) birligi odatda 64 bayt. 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Ma'lumotlar lokalizatsiyasi (data locality) ikki shaklda namoyon bo'ladi. Vaqt lokalligi (temporal locality) — yaqinda ishlatilgan ma'lumot yaqin orada yana ishlatilishi ehtimoli yuqori; shuning uchun uni keshda ushlab turish foydali. Fazoviy lokallik (spatial locality) — ishlatilgan ma'lumotning qo'shnilari ham tez orada ishlatilishi ehtimoli yuqori; shuning uchun xotira satrlab yuklanadi va apparat oldindan yuklovchi (hardware prefetcher) ketma-ket namunani sezib, keyingi satrlarni oldindan tortib keladi.</a:t>
            </a:r>
          </a:p>
          <a:p/>
          <a:p>
            <a:r>
              <a:t>Ko'p o'lchovli massivlarda lokallik xotirada joylashish tartibiga bog'liq. NumPy va PyTorch'da standart tartib — satr-ustuvor (row-major, C-order): A[i, j] elementidan keyin xotirada A[i, j+1] yotadi. Demak, ichki sikl j bo'yicha yursa, kirish ketma-ket va kesh-do'stona bo'ladi; ichki sikl i bo'yicha yursa, har qadamda butun satr uzunligiga (masalan, 8192 × 4 bayt = 32 KB) sakrash yuz beradi va deyarli har bir murojaat keshni o'tkazib yuboradi (cache miss). Matematik jihatdan ikkala variant bir xil natija beradi, lekin ish vaqti o'nlab marta farq qilishi mumkin.</a:t>
            </a:r>
          </a:p>
          <a:p/>
          <a:p>
            <a:r>
              <a:t>Chuqur o'rganish freymvorklarida bu masala tensor tartibi (memory format) ko'rinishida uchraydi: PyTorch'da konvolyutsion tarmoqlar uchun NCHW (kanal birinchi) va NHWC (channels_last) formatlari mavjud. Tensor Core va cuDNN kernellari ko'pincha NHWC tartibida tezroq ishlaydi, chunki bitta piksel uchun barcha kanallar xotirada yonma-yon turadi va vektorli yuklash samarali bo'ladi. Shuning uchun model.to(memory_format=torch.channels_last) chaqiruvi ba'zi tarmoqlarda 10–30 foiz tezlashish beradi — kod mantig'i o'zgarmagan holda.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Ko'p soketli serverlarda (masalan, ikki protsessorli Intel Xeon yoki AMD EPYC tizimlari) har bir protsessorning o'z xotira kontrollerlari va unga ulangan DRAM modullari bor. Bitta soketdagi yadro o'z DRAM'iga («mahalliy tugun») to'g'ridan-to'g'ri murojaat qiladi; boshqa soketning DRAM'iga («uzoq tugun») esa protsessorlararo havola (Intel UPI yoki AMD Infinity Fabric) orqali murojaat qiladi. Natijada xotiraga kirish vaqti bir xil emas — bu Non-Uniform Memory Access, qisqacha NUMA. Odatda uzoq murojaat mahalliysidan 1,3–2 marta sekin va havola o'tkazuvchanligi mahalliy DRAM kanallaridan kichik.</a:t>
            </a:r>
          </a:p>
          <a:p/>
          <a:p>
            <a:r>
              <a:t>AMD EPYC protsessorlarida vaziyat yanada murakkabroq: bitta soket ichida ham bir nechta chiplet (CCD) va I/O kristali bor, shuning uchun BIOS sozlamalariga qarab bitta soket 1, 2 yoki 4 NUMA tuguni sifatida ko'rinishi mumkin (NPS1/NPS2/NPS4 rejimlari). GPU serverlarida esa PCIe kommutatorlari ham NUMA tugunlariga bog'langan: 8 GPU'li DGX-uslubidagi serverda 4 ta GPU birinchi soketga, 4 tasi ikkinchisiga «yaqin». Agar ma'lumot yuklovchi jarayon (dataloader) birinchi soketda ishlab, ikkinchi soketga yaqin GPU'ga ma'lumot yuborsa, har bir partiya (batch) protsessorlararo havoladan o'tadi.</a:t>
            </a:r>
          </a:p>
          <a:p/>
          <a:p>
            <a:r>
              <a:t>Linux yadrosi standart holatda «first-touch» siyosatini qo'llaydi: xotira sahifasi uni birinchi marta yozgan (ishga tushirgan) yadro joylashgan tugunda ajratiladi. Bu ko'pincha to'g'ri ishlaydi, lekin pitfall ham bor: agar bosh ip (thread) katta massivni nol bilan to'ldirib, keyin uni barcha soketlardagi iplarga tarqatsa, butun massiv bitta tugunda yotadi va qolgan soketlar uzoq murojaatga majbur bo'ladi. numactl utilitasi bu siyosatni boshqarish imkonini beradi: --cpunodebind=0 --membind=0 jarayonni faqat 0-tugun yadrolari va xotirasiga bog'laydi, --interleave=all esa sahifalarni tugunlar bo'ylab navbatma-navbat taqsimlaydi — bu o'tkazuvchanlikni yig'adi, lekin o'rtacha kechikishni oshiradi.</a:t>
            </a:r>
          </a:p>
          <a:p/>
          <a:p>
            <a:r>
              <a:t>Sun'iy intellekt tizimlarida NUMA'ga e'tibor berish uchta joyda muhim: (1) dataloader iplarini GPU'ga yaqin soketga bog'lash; (2) CPU'da inferens qiluvchi xizmatlarni (masalan, ONNX Runtime bilan) har bir soketda alohida nusxa sifatida ishga tushirish; (3) katta embedding jadvallari yoki KV-kesh CPU xotirasiga «chiqarilgan» (offload) holatlarda ularni to'g'ri tugunga joylash.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Qaysi ish yuki xotira bilan chegaralanganini miqdoriy baholash uchun arifmetik intensivlik (arithmetic intensity) tushunchasi ishlatiladi: I = FLOP / bayt — bajarilgan suzuvchi nuqtali amallar sonini xotiradan o'qilgan va yozilgan baytlar soniga bo'lish. Roofline modeli (Williams, Waterman, Patterson, 2009) esa erishiladigan unumdorlikni quyidagicha chegaralaydi:</a:t>
            </a:r>
          </a:p>
          <a:p/>
          <a:p>
            <a:r>
              <a:t>P_erishiladigan = min(P_cho'qqi, B_xotira × I)</a:t>
            </a:r>
          </a:p>
          <a:p/>
          <a:p>
            <a:r>
              <a:t>bu yerda P_cho'qqi — qurilmaning maksimal hisoblash quvvati (FLOP/s), B_xotira — xotira o'tkazuvchanligi (bayt/s). Ikki chiziq kesishgan nuqta — «sinish nuqtasi» (ridge point) — I = P_cho'qqi / B_xotira. H100 uchun FP16 rejimda I ≈ 990e12 / 3,35e12 ≈ 295 FLOP/bayt; FP32 (Tensor Core'siz, ~67 TFLOPS) uchun esa I ≈ 20 FLOP/bayt.</a:t>
            </a:r>
          </a:p>
          <a:p/>
          <a:p>
            <a:r>
              <a:t>Bir necha tipik operatsiyaning intensivligi:</a:t>
            </a:r>
          </a:p>
          <a:p/>
          <a:p>
            <a:r>
              <a:t>Jadval LLM inferensining mashhur muammosini tushuntiradi: batch hajmi 1 bo'lganda har bir yangi token uchun modelning barcha og'irliklari (70 mlrd parametrli model uchun FP16'da 140 GB) xotiradan o'qiladi, lekin har bir og'irlik faqat bitta ko'paytirish-qo'shish uchun ishlatiladi. Intensivlik ~1 FLOP/bayt, demak H100 o'z quvvatining 1 foizidan kamini ishlatadi va token tezligi faqat HBM o'tkazuvchanligi bilan belgilanadi: 3,35 TB/s ÷ 140 GB ≈ sekundiga 24 token (nazariy chegara). Batch hajmini oshirish intensivlikni deyarli proporsional oshiradi — shuning uchun inferens serverlari so'rovlarni to'playdi (batching).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Muhandislik amaliyotida quyidagi usullar guruhi ajralib turadi.</a:t>
            </a:r>
          </a:p>
          <a:p/>
          <a:p>
            <a:r>
              <a:t>Apparat darajasida: HBM (High Bandwidth Memory) — DRAM kristallarini vertikal stakalab, GPU bilan keng (1024+ bit) interfeys orqali ulash; H100'da HBM3, B200'da HBM3e ishlatiladi. Keng L2/L3 keshlar (AMD EPYC Genoa-X'da 1 GB gacha 3D V-Cache). NVLink — GPU'lar orasida PCIe'dan bir necha marta tezroq havola (H100'da 900 GB/s). CXL (Compute Express Link) — CPU xotirasini kengaytirish va keshni izchil ulashish uchun yangi standart.</a:t>
            </a:r>
          </a:p>
          <a:p/>
          <a:p>
            <a:r>
              <a:t>Algoritm darajasida: tiling (bloklash) — katta matritsani keshga sig'adigan bloklarga bo'lib, har bir blok ustida maksimal ishni bajarish; bu GEMM kutubxonalarining (cuBLAS, oneDNN) asosiy tamoyili. Operator fusion — ketma-ket kelgan xotira bilan chegaralangan operatsiyalarni (masalan, matritsa ko'paytmasi + bias + GELU) bitta kernelga birlashtirish, shunda oraliq natija HBM'ga yozilmaydi va qayta o'qilmaydi; torch.compile va TensorRT aynan shu ishni avtomatlashtiradi. FlashAttention — attention mexanizmini N×N matritsani hech qachon HBM'ga yozmasdan, SRAM'da bloklab hisoblash; bu xotira trafigini kvadratikdan chiziqli darajaga tushiradi va uzun kontekstlarni amalda mumkin qiladi.</a:t>
            </a:r>
          </a:p>
          <a:p/>
          <a:p>
            <a:r>
              <a:t>Tizim darajasida: pinned (sahifalanmaydigan, page-locked) xotira — cudaHostAlloc yoki PyTorch'da pin_memory=True — CPU→GPU nusxalashni DMA orqali to'g'ridan-to'g'ri va asinxron bajarish imkonini beradi; dataloader'da num_workers va prefetch_factor orqali keyingi partiyani oldindan tayyorlash; GPUDirect Storage — NVMe'dan GPU xotirasiga CPU'ni chetlab o'tib o'qish; past aniqlikdagi formatlar (FP16, BF16, FP8, INT8) — bir xil o'tkazuvchanlikda ikki-to'rt barobar ko'p element uzatish (bu M8 mavzusida batafsil ko'riladi).</a:t>
            </a:r>
          </a:p>
          <a:p/>
          <a:p>
            <a:r>
              <a:t>Ushbu usullarning barchasini birlashtiruvchi tamoyil bitta: hisoblashni ma'lumot yoniga olib borish, ma'lumotni hisoblash yoniga emas.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M5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Arxitektura va dizayn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caeb3fe5fdc3fe1.jpg"/>
          <p:cNvPicPr>
            <a:picLocks noChangeAspect="1"/>
          </p:cNvPicPr>
          <p:nvPr/>
        </p:nvPicPr>
        <p:blipFill>
          <a:blip r:embed="rId2"/>
          <a:srcRect l="28189" r="28189"/>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Matt Kieffer · Wikimedia Commons · CC BY-SA 2.0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225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255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325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295000"/>
            <a:ext cx="10150000" cy="440000"/>
          </a:xfrm>
          <a:prstGeom prst="rect">
            <a:avLst/>
          </a:prstGeom>
          <a:noFill/>
        </p:spPr>
        <p:txBody>
          <a:bodyPr wrap="square" anchor="ctr">
            <a:spAutoFit/>
          </a:bodyPr>
          <a:lstStyle/>
          <a:p>
            <a:r>
              <a:rPr sz="1600" b="0">
                <a:solidFill>
                  <a:srgbClr val="1B2430"/>
                </a:solidFill>
                <a:latin typeface="Calibri"/>
              </a:rPr>
              <a:t>Xotira iyerarxiyasi va uning raqamlari</a:t>
            </a:r>
          </a:p>
        </p:txBody>
      </p:sp>
      <p:sp>
        <p:nvSpPr>
          <p:cNvPr id="14" name="Rounded Rectangle 13"/>
          <p:cNvSpPr/>
          <p:nvPr/>
        </p:nvSpPr>
        <p:spPr>
          <a:xfrm>
            <a:off x="550000" y="288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885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55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925000"/>
            <a:ext cx="10150000" cy="440000"/>
          </a:xfrm>
          <a:prstGeom prst="rect">
            <a:avLst/>
          </a:prstGeom>
          <a:noFill/>
        </p:spPr>
        <p:txBody>
          <a:bodyPr wrap="square" anchor="ctr">
            <a:spAutoFit/>
          </a:bodyPr>
          <a:lstStyle/>
          <a:p>
            <a:r>
              <a:rPr sz="1600" b="0">
                <a:solidFill>
                  <a:srgbClr val="1B2430"/>
                </a:solidFill>
                <a:latin typeface="Calibri"/>
              </a:rPr>
              <a:t>Lokallik: vaqt va fazoviy</a:t>
            </a:r>
          </a:p>
        </p:txBody>
      </p:sp>
      <p:sp>
        <p:nvSpPr>
          <p:cNvPr id="18" name="Rounded Rectangle 17"/>
          <p:cNvSpPr/>
          <p:nvPr/>
        </p:nvSpPr>
        <p:spPr>
          <a:xfrm>
            <a:off x="550000" y="351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515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3585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555000"/>
            <a:ext cx="10150000" cy="440000"/>
          </a:xfrm>
          <a:prstGeom prst="rect">
            <a:avLst/>
          </a:prstGeom>
          <a:noFill/>
        </p:spPr>
        <p:txBody>
          <a:bodyPr wrap="square" anchor="ctr">
            <a:spAutoFit/>
          </a:bodyPr>
          <a:lstStyle/>
          <a:p>
            <a:r>
              <a:rPr sz="1600" b="0">
                <a:solidFill>
                  <a:srgbClr val="1B2430"/>
                </a:solidFill>
                <a:latin typeface="Calibri"/>
              </a:rPr>
              <a:t>NUMA arxitekturasi</a:t>
            </a:r>
          </a:p>
        </p:txBody>
      </p:sp>
      <p:sp>
        <p:nvSpPr>
          <p:cNvPr id="22" name="Rounded Rectangle 21"/>
          <p:cNvSpPr/>
          <p:nvPr/>
        </p:nvSpPr>
        <p:spPr>
          <a:xfrm>
            <a:off x="550000" y="414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145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4215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4185000"/>
            <a:ext cx="10150000" cy="440000"/>
          </a:xfrm>
          <a:prstGeom prst="rect">
            <a:avLst/>
          </a:prstGeom>
          <a:noFill/>
        </p:spPr>
        <p:txBody>
          <a:bodyPr wrap="square" anchor="ctr">
            <a:spAutoFit/>
          </a:bodyPr>
          <a:lstStyle/>
          <a:p>
            <a:r>
              <a:rPr sz="1600" b="0">
                <a:solidFill>
                  <a:srgbClr val="1B2430"/>
                </a:solidFill>
                <a:latin typeface="Calibri"/>
              </a:rPr>
              <a:t>Arifmetik intensivlik va roofline modeli</a:t>
            </a:r>
          </a:p>
        </p:txBody>
      </p:sp>
      <p:sp>
        <p:nvSpPr>
          <p:cNvPr id="26" name="Rounded Rectangle 25"/>
          <p:cNvSpPr/>
          <p:nvPr/>
        </p:nvSpPr>
        <p:spPr>
          <a:xfrm>
            <a:off x="550000" y="4775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4775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4845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4815000"/>
            <a:ext cx="10150000" cy="440000"/>
          </a:xfrm>
          <a:prstGeom prst="rect">
            <a:avLst/>
          </a:prstGeom>
          <a:noFill/>
        </p:spPr>
        <p:txBody>
          <a:bodyPr wrap="square" anchor="ctr">
            <a:spAutoFit/>
          </a:bodyPr>
          <a:lstStyle/>
          <a:p>
            <a:r>
              <a:rPr sz="1600" b="0">
                <a:solidFill>
                  <a:srgbClr val="1B2430"/>
                </a:solidFill>
                <a:latin typeface="Calibri"/>
              </a:rPr>
              <a:t>Xotira o'tkazuvchanligini oshirish va ma'lumot almashinuvini kamaytirish usullari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1eb192181681b00.jpg"/>
          <p:cNvPicPr>
            <a:picLocks noChangeAspect="1"/>
          </p:cNvPicPr>
          <p:nvPr/>
        </p:nvPicPr>
        <p:blipFill>
          <a:blip r:embed="rId2"/>
          <a:srcRect l="7345" r="734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Mister rf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Xotira iyerarxiyasi va uning raqamlari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Xotira iyerarxiyasi — bu tezlik, hajm va narx o'rtasidagi murosaning muhandislik yechimi.</a:t>
            </a:r>
          </a:p>
          <a:p>
            <a:pPr>
              <a:spcBef>
                <a:spcPts val="400"/>
              </a:spcBef>
            </a:pPr>
            <a:r>
              <a:rPr sz="1400">
                <a:solidFill>
                  <a:srgbClr val="334055"/>
                </a:solidFill>
                <a:latin typeface="Calibri"/>
              </a:rPr>
              <a:t>Juda tez xotira (SRAM asosidagi registrlar va kesh) qimmat va kichik hajmli, katta hajmli xotira (DRAM, flesh) esa sekin. Iyerarxiya g'oyasi shundan iboratki, dastur hozir ishlatayotgan kichik ma'lumotlar to'plami tez pog'onada, qolgani esa katta va sekin pog'onalarda saqlanadi.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400" b="0">
                <a:solidFill>
                  <a:srgbClr val="1B2430"/>
                </a:solidFill>
                <a:latin typeface="Calibri"/>
              </a:rPr>
              <a:t>Zamonaviy server protsessori va tezlatkich uchun tipik ko'rsatkichlar quyidagi jadvalda keltirilgan (raqamlar taxminiy, avlod va modelga qarab farq qiladi):</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Jadvaldan ikki xulosa kelib chiqadi.</a:t>
            </a:r>
          </a:p>
          <a:p>
            <a:pPr>
              <a:spcBef>
                <a:spcPts val="400"/>
              </a:spcBef>
            </a:pPr>
            <a:r>
              <a:rPr sz="1400">
                <a:solidFill>
                  <a:srgbClr val="334055"/>
                </a:solidFill>
                <a:latin typeface="Calibri"/>
              </a:rPr>
              <a:t>Birinchidan, pog'onalar orasida kechikish farqi o'nlab va yuzlab martani tashkil etadi: L1 keshdan o'qish DRAM'dan o'qishdan qariyb yuz marta tez. Ikkinchidan, CPU va GPU orasidagi PCIe havolasi GPU'ning o'z xotirasidan qariyb 50 marta sekin — demak, har bir iteratsiyada ma'lumotni CPU'dan GPU'ga ko'chiradigan kod hech qachon GPU imkoniyatini to'liq ishlata olmaydi.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Kesh satr (cache line) birligi odatda 64 bayt.</a:t>
            </a:r>
          </a:p>
          <a:p>
            <a:pPr>
              <a:spcBef>
                <a:spcPts val="400"/>
              </a:spcBef>
            </a:pPr>
            <a:r>
              <a:rPr sz="1700">
                <a:solidFill>
                  <a:srgbClr val="334055"/>
                </a:solidFill>
                <a:latin typeface="Calibri"/>
              </a:rPr>
              <a:t>Protsessor xotiradan bitta float32 qiymatni so'raganda ham butun 64 baytlik satr (16 ta float32) keshga yuklanadi. Agar dastur keyingi qadamda qo'shni elementga murojaat qilsa — u allaqachon keshda; agar 4096 bayt naridagi elementga murojaat qilsa — yangi satr yuklanadi, eskisi esa bekor sarflangan bo'ladi. Shu oddiy mexanizm quyida ko'riladigan o'n baravar farqning asosiy sababidir.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Registrlar</a:t>
                      </a:r>
                    </a:p>
                  </a:txBody>
                  <a:tcPr>
                    <a:solidFill>
                      <a:srgbClr val="F1F4F8"/>
                    </a:solidFill>
                  </a:tcPr>
                </a:tc>
                <a:tc>
                  <a:txBody>
                    <a:bodyPr/>
                    <a:lstStyle/>
                    <a:p>
                      <a:r>
                        <a:rPr sz="1200" b="0">
                          <a:solidFill>
                            <a:srgbClr val="1B2430"/>
                          </a:solidFill>
                          <a:latin typeface="Calibri"/>
                        </a:rPr>
                        <a:t>bir necha KB</a:t>
                      </a:r>
                    </a:p>
                  </a:txBody>
                  <a:tcPr>
                    <a:solidFill>
                      <a:srgbClr val="F1F4F8"/>
                    </a:solidFill>
                  </a:tcPr>
                </a:tc>
                <a:tc>
                  <a:txBody>
                    <a:bodyPr/>
                    <a:lstStyle/>
                    <a:p>
                      <a:r>
                        <a:rPr sz="1200" b="0">
                          <a:solidFill>
                            <a:srgbClr val="1B2430"/>
                          </a:solidFill>
                          <a:latin typeface="Calibri"/>
                        </a:rPr>
                        <a:t>1 sikl (~0,3 ns)</a:t>
                      </a:r>
                    </a:p>
                  </a:txBody>
                  <a:tcPr>
                    <a:solidFill>
                      <a:srgbClr val="F1F4F8"/>
                    </a:solidFill>
                  </a:tcPr>
                </a:tc>
                <a:tc>
                  <a:txBody>
                    <a:bodyPr/>
                    <a:lstStyle/>
                    <a:p>
                      <a:r>
                        <a:rPr sz="1200" b="0">
                          <a:solidFill>
                            <a:srgbClr val="1B2430"/>
                          </a:solidFill>
                          <a:latin typeface="Calibri"/>
                        </a:rPr>
                        <a:t>juda yuqori</a:t>
                      </a:r>
                    </a:p>
                  </a:txBody>
                  <a:tcPr>
                    <a:solidFill>
                      <a:srgbClr val="F1F4F8"/>
                    </a:solidFill>
                  </a:tcPr>
                </a:tc>
              </a:tr>
              <a:tr h="520000">
                <a:tc>
                  <a:txBody>
                    <a:bodyPr/>
                    <a:lstStyle/>
                    <a:p>
                      <a:r>
                        <a:rPr sz="1200" b="0">
                          <a:solidFill>
                            <a:srgbClr val="1B2430"/>
                          </a:solidFill>
                          <a:latin typeface="Calibri"/>
                        </a:rPr>
                        <a:t>L1 kesh (ma'lumot)</a:t>
                      </a:r>
                    </a:p>
                  </a:txBody>
                  <a:tcPr>
                    <a:solidFill>
                      <a:srgbClr val="FFFFFF"/>
                    </a:solidFill>
                  </a:tcPr>
                </a:tc>
                <a:tc>
                  <a:txBody>
                    <a:bodyPr/>
                    <a:lstStyle/>
                    <a:p>
                      <a:r>
                        <a:rPr sz="1200" b="0">
                          <a:solidFill>
                            <a:srgbClr val="1B2430"/>
                          </a:solidFill>
                          <a:latin typeface="Calibri"/>
                        </a:rPr>
                        <a:t>32–48 KB / yadro</a:t>
                      </a:r>
                    </a:p>
                  </a:txBody>
                  <a:tcPr>
                    <a:solidFill>
                      <a:srgbClr val="FFFFFF"/>
                    </a:solidFill>
                  </a:tcPr>
                </a:tc>
                <a:tc>
                  <a:txBody>
                    <a:bodyPr/>
                    <a:lstStyle/>
                    <a:p>
                      <a:r>
                        <a:rPr sz="1200" b="0">
                          <a:solidFill>
                            <a:srgbClr val="1B2430"/>
                          </a:solidFill>
                          <a:latin typeface="Calibri"/>
                        </a:rPr>
                        <a:t>4–5 sikl (~1 ns)</a:t>
                      </a:r>
                    </a:p>
                  </a:txBody>
                  <a:tcPr>
                    <a:solidFill>
                      <a:srgbClr val="FFFFFF"/>
                    </a:solidFill>
                  </a:tcPr>
                </a:tc>
                <a:tc>
                  <a:txBody>
                    <a:bodyPr/>
                    <a:lstStyle/>
                    <a:p>
                      <a:r>
                        <a:rPr sz="1200" b="0">
                          <a:solidFill>
                            <a:srgbClr val="1B2430"/>
                          </a:solidFill>
                          <a:latin typeface="Calibri"/>
                        </a:rPr>
                        <a:t>~100–200 GB/s / yadro</a:t>
                      </a:r>
                    </a:p>
                  </a:txBody>
                  <a:tcPr>
                    <a:solidFill>
                      <a:srgbClr val="FFFFFF"/>
                    </a:solidFill>
                  </a:tcPr>
                </a:tc>
              </a:tr>
              <a:tr h="520000">
                <a:tc>
                  <a:txBody>
                    <a:bodyPr/>
                    <a:lstStyle/>
                    <a:p>
                      <a:r>
                        <a:rPr sz="1200" b="0">
                          <a:solidFill>
                            <a:srgbClr val="1B2430"/>
                          </a:solidFill>
                          <a:latin typeface="Calibri"/>
                        </a:rPr>
                        <a:t>L2 kesh</a:t>
                      </a:r>
                    </a:p>
                  </a:txBody>
                  <a:tcPr>
                    <a:solidFill>
                      <a:srgbClr val="F1F4F8"/>
                    </a:solidFill>
                  </a:tcPr>
                </a:tc>
                <a:tc>
                  <a:txBody>
                    <a:bodyPr/>
                    <a:lstStyle/>
                    <a:p>
                      <a:r>
                        <a:rPr sz="1200" b="0">
                          <a:solidFill>
                            <a:srgbClr val="1B2430"/>
                          </a:solidFill>
                          <a:latin typeface="Calibri"/>
                        </a:rPr>
                        <a:t>1–2 MB / yadro</a:t>
                      </a:r>
                    </a:p>
                  </a:txBody>
                  <a:tcPr>
                    <a:solidFill>
                      <a:srgbClr val="F1F4F8"/>
                    </a:solidFill>
                  </a:tcPr>
                </a:tc>
                <a:tc>
                  <a:txBody>
                    <a:bodyPr/>
                    <a:lstStyle/>
                    <a:p>
                      <a:r>
                        <a:rPr sz="1200" b="0">
                          <a:solidFill>
                            <a:srgbClr val="1B2430"/>
                          </a:solidFill>
                          <a:latin typeface="Calibri"/>
                        </a:rPr>
                        <a:t>12–16 sikl (~4 ns)</a:t>
                      </a:r>
                    </a:p>
                  </a:txBody>
                  <a:tcPr>
                    <a:solidFill>
                      <a:srgbClr val="F1F4F8"/>
                    </a:solidFill>
                  </a:tcPr>
                </a:tc>
                <a:tc>
                  <a:txBody>
                    <a:bodyPr/>
                    <a:lstStyle/>
                    <a:p>
                      <a:r>
                        <a:rPr sz="1200" b="0">
                          <a:solidFill>
                            <a:srgbClr val="1B2430"/>
                          </a:solidFill>
                          <a:latin typeface="Calibri"/>
                        </a:rPr>
                        <a:t>~50–100 GB/s / yadro</a:t>
                      </a:r>
                    </a:p>
                  </a:txBody>
                  <a:tcPr>
                    <a:solidFill>
                      <a:srgbClr val="F1F4F8"/>
                    </a:solidFill>
                  </a:tcPr>
                </a:tc>
              </a:tr>
              <a:tr h="520000">
                <a:tc>
                  <a:txBody>
                    <a:bodyPr/>
                    <a:lstStyle/>
                    <a:p>
                      <a:r>
                        <a:rPr sz="1200" b="0">
                          <a:solidFill>
                            <a:srgbClr val="1B2430"/>
                          </a:solidFill>
                          <a:latin typeface="Calibri"/>
                        </a:rPr>
                        <a:t>L3 kesh (umumiy)</a:t>
                      </a:r>
                    </a:p>
                  </a:txBody>
                  <a:tcPr>
                    <a:solidFill>
                      <a:srgbClr val="FFFFFF"/>
                    </a:solidFill>
                  </a:tcPr>
                </a:tc>
                <a:tc>
                  <a:txBody>
                    <a:bodyPr/>
                    <a:lstStyle/>
                    <a:p>
                      <a:r>
                        <a:rPr sz="1200" b="0">
                          <a:solidFill>
                            <a:srgbClr val="1B2430"/>
                          </a:solidFill>
                          <a:latin typeface="Calibri"/>
                        </a:rPr>
                        <a:t>32–384 MB / soket</a:t>
                      </a:r>
                    </a:p>
                  </a:txBody>
                  <a:tcPr>
                    <a:solidFill>
                      <a:srgbClr val="FFFFFF"/>
                    </a:solidFill>
                  </a:tcPr>
                </a:tc>
                <a:tc>
                  <a:txBody>
                    <a:bodyPr/>
                    <a:lstStyle/>
                    <a:p>
                      <a:r>
                        <a:rPr sz="1200" b="0">
                          <a:solidFill>
                            <a:srgbClr val="1B2430"/>
                          </a:solidFill>
                          <a:latin typeface="Calibri"/>
                        </a:rPr>
                        <a:t>40–80 sikl (~15–40 ns)</a:t>
                      </a:r>
                    </a:p>
                  </a:txBody>
                  <a:tcPr>
                    <a:solidFill>
                      <a:srgbClr val="FFFFFF"/>
                    </a:solidFill>
                  </a:tcPr>
                </a:tc>
                <a:tc>
                  <a:txBody>
                    <a:bodyPr/>
                    <a:lstStyle/>
                    <a:p>
                      <a:r>
                        <a:rPr sz="1200" b="0">
                          <a:solidFill>
                            <a:srgbClr val="1B2430"/>
                          </a:solidFill>
                          <a:latin typeface="Calibri"/>
                        </a:rPr>
                        <a:t>bir necha yuz GB/s / soket</a:t>
                      </a:r>
                    </a:p>
                  </a:txBody>
                  <a:tcPr>
                    <a:solidFill>
                      <a:srgbClr val="FFFFFF"/>
                    </a:solidFill>
                  </a:tcPr>
                </a:tc>
              </a:tr>
              <a:tr h="520000">
                <a:tc>
                  <a:txBody>
                    <a:bodyPr/>
                    <a:lstStyle/>
                    <a:p>
                      <a:r>
                        <a:rPr sz="1200" b="0">
                          <a:solidFill>
                            <a:srgbClr val="1B2430"/>
                          </a:solidFill>
                          <a:latin typeface="Calibri"/>
                        </a:rPr>
                        <a:t>DRAM (DDR5, 8 kanal)</a:t>
                      </a:r>
                    </a:p>
                  </a:txBody>
                  <a:tcPr>
                    <a:solidFill>
                      <a:srgbClr val="F1F4F8"/>
                    </a:solidFill>
                  </a:tcPr>
                </a:tc>
                <a:tc>
                  <a:txBody>
                    <a:bodyPr/>
                    <a:lstStyle/>
                    <a:p>
                      <a:r>
                        <a:rPr sz="1200" b="0">
                          <a:solidFill>
                            <a:srgbClr val="1B2430"/>
                          </a:solidFill>
                          <a:latin typeface="Calibri"/>
                        </a:rPr>
                        <a:t>256 GB – 2 TB</a:t>
                      </a:r>
                    </a:p>
                  </a:txBody>
                  <a:tcPr>
                    <a:solidFill>
                      <a:srgbClr val="F1F4F8"/>
                    </a:solidFill>
                  </a:tcPr>
                </a:tc>
                <a:tc>
                  <a:txBody>
                    <a:bodyPr/>
                    <a:lstStyle/>
                    <a:p>
                      <a:r>
                        <a:rPr sz="1200" b="0">
                          <a:solidFill>
                            <a:srgbClr val="1B2430"/>
                          </a:solidFill>
                          <a:latin typeface="Calibri"/>
                        </a:rPr>
                        <a:t>~80–120 ns</a:t>
                      </a:r>
                    </a:p>
                  </a:txBody>
                  <a:tcPr>
                    <a:solidFill>
                      <a:srgbClr val="F1F4F8"/>
                    </a:solidFill>
                  </a:tcPr>
                </a:tc>
                <a:tc>
                  <a:txBody>
                    <a:bodyPr/>
                    <a:lstStyle/>
                    <a:p>
                      <a:r>
                        <a:rPr sz="1200" b="0">
                          <a:solidFill>
                            <a:srgbClr val="1B2430"/>
                          </a:solidFill>
                          <a:latin typeface="Calibri"/>
                        </a:rPr>
                        <a:t>~300–400 GB/s / soket</a:t>
                      </a:r>
                    </a:p>
                  </a:txBody>
                  <a:tcPr>
                    <a:solidFill>
                      <a:srgbClr val="F1F4F8"/>
                    </a:solidFill>
                  </a:tcPr>
                </a:tc>
              </a:tr>
              <a:tr h="520000">
                <a:tc>
                  <a:txBody>
                    <a:bodyPr/>
                    <a:lstStyle/>
                    <a:p>
                      <a:r>
                        <a:rPr sz="1200" b="0">
                          <a:solidFill>
                            <a:srgbClr val="1B2430"/>
                          </a:solidFill>
                          <a:latin typeface="Calibri"/>
                        </a:rPr>
                        <a:t>Uzoq NUMA tugun DRAM'i</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~130–200 ns</a:t>
                      </a:r>
                    </a:p>
                  </a:txBody>
                  <a:tcPr>
                    <a:solidFill>
                      <a:srgbClr val="FFFFFF"/>
                    </a:solidFill>
                  </a:tcPr>
                </a:tc>
                <a:tc>
                  <a:txBody>
                    <a:bodyPr/>
                    <a:lstStyle/>
                    <a:p>
                      <a:r>
                        <a:rPr sz="1200" b="0">
                          <a:solidFill>
                            <a:srgbClr val="1B2430"/>
                          </a:solidFill>
                          <a:latin typeface="Calibri"/>
                        </a:rPr>
                        <a:t>tugunlararo havola bilan cheklangan</a:t>
                      </a:r>
                    </a:p>
                  </a:txBody>
                  <a:tcPr>
                    <a:solidFill>
                      <a:srgbClr val="FFFFFF"/>
                    </a:solidFill>
                  </a:tcPr>
                </a:tc>
              </a:tr>
              <a:tr h="520000">
                <a:tc>
                  <a:txBody>
                    <a:bodyPr/>
                    <a:lstStyle/>
                    <a:p>
                      <a:r>
                        <a:rPr sz="1200" b="0">
                          <a:solidFill>
                            <a:srgbClr val="1B2430"/>
                          </a:solidFill>
                          <a:latin typeface="Calibri"/>
                        </a:rPr>
                        <a:t>GPU HBM3 (H100)</a:t>
                      </a:r>
                    </a:p>
                  </a:txBody>
                  <a:tcPr>
                    <a:solidFill>
                      <a:srgbClr val="F1F4F8"/>
                    </a:solidFill>
                  </a:tcPr>
                </a:tc>
                <a:tc>
                  <a:txBody>
                    <a:bodyPr/>
                    <a:lstStyle/>
                    <a:p>
                      <a:r>
                        <a:rPr sz="1200" b="0">
                          <a:solidFill>
                            <a:srgbClr val="1B2430"/>
                          </a:solidFill>
                          <a:latin typeface="Calibri"/>
                        </a:rPr>
                        <a:t>80 GB</a:t>
                      </a:r>
                    </a:p>
                  </a:txBody>
                  <a:tcPr>
                    <a:solidFill>
                      <a:srgbClr val="F1F4F8"/>
                    </a:solidFill>
                  </a:tcPr>
                </a:tc>
                <a:tc>
                  <a:txBody>
                    <a:bodyPr/>
                    <a:lstStyle/>
                    <a:p>
                      <a:r>
                        <a:rPr sz="1200" b="0">
                          <a:solidFill>
                            <a:srgbClr val="1B2430"/>
                          </a:solidFill>
                          <a:latin typeface="Calibri"/>
                        </a:rPr>
                        <a:t>~500–700 ns</a:t>
                      </a:r>
                    </a:p>
                  </a:txBody>
                  <a:tcPr>
                    <a:solidFill>
                      <a:srgbClr val="F1F4F8"/>
                    </a:solidFill>
                  </a:tcPr>
                </a:tc>
                <a:tc>
                  <a:txBody>
                    <a:bodyPr/>
                    <a:lstStyle/>
                    <a:p>
                      <a:r>
                        <a:rPr sz="1200" b="0">
                          <a:solidFill>
                            <a:srgbClr val="1B2430"/>
                          </a:solidFill>
                          <a:latin typeface="Calibri"/>
                        </a:rPr>
                        <a:t>~3,35 TB/s</a:t>
                      </a:r>
                    </a:p>
                  </a:txBody>
                  <a:tcPr>
                    <a:solidFill>
                      <a:srgbClr val="F1F4F8"/>
                    </a:solidFill>
                  </a:tcPr>
                </a:tc>
              </a:tr>
              <a:tr h="520000">
                <a:tc>
                  <a:txBody>
                    <a:bodyPr/>
                    <a:lstStyle/>
                    <a:p>
                      <a:r>
                        <a:rPr sz="1200" b="0">
                          <a:solidFill>
                            <a:srgbClr val="1B2430"/>
                          </a:solidFill>
                          <a:latin typeface="Calibri"/>
                        </a:rPr>
                        <a:t>PCIe 5.0 x16 (CPU–GPU)</a:t>
                      </a:r>
                    </a:p>
                  </a:txBody>
                  <a:tcPr>
                    <a:solidFill>
                      <a:srgbClr val="FFFFFF"/>
                    </a:solidFill>
                  </a:tcPr>
                </a:tc>
                <a:tc>
                  <a:txBody>
                    <a:bodyPr/>
                    <a:lstStyle/>
                    <a:p>
                      <a:r>
                        <a:rPr sz="1200" b="0">
                          <a:solidFill>
                            <a:srgbClr val="1B2430"/>
                          </a:solidFill>
                          <a:latin typeface="Calibri"/>
                        </a:rPr>
                        <a:t>–</a:t>
                      </a:r>
                    </a:p>
                  </a:txBody>
                  <a:tcPr>
                    <a:solidFill>
                      <a:srgbClr val="FFFFFF"/>
                    </a:solidFill>
                  </a:tcPr>
                </a:tc>
                <a:tc>
                  <a:txBody>
                    <a:bodyPr/>
                    <a:lstStyle/>
                    <a:p>
                      <a:r>
                        <a:rPr sz="1200" b="0">
                          <a:solidFill>
                            <a:srgbClr val="1B2430"/>
                          </a:solidFill>
                          <a:latin typeface="Calibri"/>
                        </a:rPr>
                        <a:t>mikrosekundlar</a:t>
                      </a:r>
                    </a:p>
                  </a:txBody>
                  <a:tcPr>
                    <a:solidFill>
                      <a:srgbClr val="FFFFFF"/>
                    </a:solidFill>
                  </a:tcPr>
                </a:tc>
                <a:tc>
                  <a:txBody>
                    <a:bodyPr/>
                    <a:lstStyle/>
                    <a:p>
                      <a:r>
                        <a:rPr sz="1200" b="0">
                          <a:solidFill>
                            <a:srgbClr val="1B2430"/>
                          </a:solidFill>
                          <a:latin typeface="Calibri"/>
                        </a:rPr>
                        <a:t>~64 GB/s (bir yo'nalish)</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Xotira iyerarxiyasi va uning raqamlari (davomi)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graphicFrame>
        <p:nvGraphicFramePr>
          <p:cNvPr id="10" name="Table 9"/>
          <p:cNvGraphicFramePr>
            <a:graphicFrameLocks noGrp="1"/>
          </p:cNvGraphicFramePr>
          <p:nvPr/>
        </p:nvGraphicFramePr>
        <p:xfrm>
          <a:off x="500000" y="1350000"/>
          <a:ext cx="11200000" cy="104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Pog'ona</a:t>
                      </a:r>
                    </a:p>
                  </a:txBody>
                  <a:tcPr>
                    <a:solidFill>
                      <a:srgbClr val="2D5C8F"/>
                    </a:solidFill>
                  </a:tcPr>
                </a:tc>
                <a:tc>
                  <a:txBody>
                    <a:bodyPr/>
                    <a:lstStyle/>
                    <a:p>
                      <a:r>
                        <a:rPr sz="1200" b="1">
                          <a:solidFill>
                            <a:srgbClr val="FFFFFF"/>
                          </a:solidFill>
                          <a:latin typeface="Calibri"/>
                        </a:rPr>
                        <a:t>Tipik hajm</a:t>
                      </a:r>
                    </a:p>
                  </a:txBody>
                  <a:tcPr>
                    <a:solidFill>
                      <a:srgbClr val="2D5C8F"/>
                    </a:solidFill>
                  </a:tcPr>
                </a:tc>
                <a:tc>
                  <a:txBody>
                    <a:bodyPr/>
                    <a:lstStyle/>
                    <a:p>
                      <a:r>
                        <a:rPr sz="1200" b="1">
                          <a:solidFill>
                            <a:srgbClr val="FFFFFF"/>
                          </a:solidFill>
                          <a:latin typeface="Calibri"/>
                        </a:rPr>
                        <a:t>Kechikish</a:t>
                      </a:r>
                    </a:p>
                  </a:txBody>
                  <a:tcPr>
                    <a:solidFill>
                      <a:srgbClr val="2D5C8F"/>
                    </a:solidFill>
                  </a:tcPr>
                </a:tc>
                <a:tc>
                  <a:txBody>
                    <a:bodyPr/>
                    <a:lstStyle/>
                    <a:p>
                      <a:r>
                        <a:rPr sz="1200" b="1">
                          <a:solidFill>
                            <a:srgbClr val="FFFFFF"/>
                          </a:solidFill>
                          <a:latin typeface="Calibri"/>
                        </a:rPr>
                        <a:t>O'tkazuvchanlik (bir yadro yoki qurilma)</a:t>
                      </a:r>
                    </a:p>
                  </a:txBody>
                  <a:tcPr>
                    <a:solidFill>
                      <a:srgbClr val="2D5C8F"/>
                    </a:solidFill>
                  </a:tcPr>
                </a:tc>
              </a:tr>
              <a:tr h="520000">
                <a:tc>
                  <a:txBody>
                    <a:bodyPr/>
                    <a:lstStyle/>
                    <a:p>
                      <a:r>
                        <a:rPr sz="1200" b="0">
                          <a:solidFill>
                            <a:srgbClr val="1B2430"/>
                          </a:solidFill>
                          <a:latin typeface="Calibri"/>
                        </a:rPr>
                        <a:t>NVMe SSD</a:t>
                      </a:r>
                    </a:p>
                  </a:txBody>
                  <a:tcPr>
                    <a:solidFill>
                      <a:srgbClr val="F1F4F8"/>
                    </a:solidFill>
                  </a:tcPr>
                </a:tc>
                <a:tc>
                  <a:txBody>
                    <a:bodyPr/>
                    <a:lstStyle/>
                    <a:p>
                      <a:r>
                        <a:rPr sz="1200" b="0">
                          <a:solidFill>
                            <a:srgbClr val="1B2430"/>
                          </a:solidFill>
                          <a:latin typeface="Calibri"/>
                        </a:rPr>
                        <a:t>TB'lar</a:t>
                      </a:r>
                    </a:p>
                  </a:txBody>
                  <a:tcPr>
                    <a:solidFill>
                      <a:srgbClr val="F1F4F8"/>
                    </a:solidFill>
                  </a:tcPr>
                </a:tc>
                <a:tc>
                  <a:txBody>
                    <a:bodyPr/>
                    <a:lstStyle/>
                    <a:p>
                      <a:r>
                        <a:rPr sz="1200" b="0">
                          <a:solidFill>
                            <a:srgbClr val="1B2430"/>
                          </a:solidFill>
                          <a:latin typeface="Calibri"/>
                        </a:rPr>
                        <a:t>~10–100 mks</a:t>
                      </a:r>
                    </a:p>
                  </a:txBody>
                  <a:tcPr>
                    <a:solidFill>
                      <a:srgbClr val="F1F4F8"/>
                    </a:solidFill>
                  </a:tcPr>
                </a:tc>
                <a:tc>
                  <a:txBody>
                    <a:bodyPr/>
                    <a:lstStyle/>
                    <a:p>
                      <a:r>
                        <a:rPr sz="1200" b="0">
                          <a:solidFill>
                            <a:srgbClr val="1B2430"/>
                          </a:solidFill>
                          <a:latin typeface="Calibri"/>
                        </a:rPr>
                        <a:t>5–14 GB/s</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7780c0a50920136.jpg"/>
          <p:cNvPicPr>
            <a:picLocks noChangeAspect="1"/>
          </p:cNvPicPr>
          <p:nvPr/>
        </p:nvPicPr>
        <p:blipFill>
          <a:blip r:embed="rId2"/>
          <a:srcRect l="5309" r="530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David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Lokallik: vaqt va fazoviy</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Lokallik: vaqt va fazoviy</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600" b="1">
                <a:solidFill>
                  <a:srgbClr val="1F3A5F"/>
                </a:solidFill>
                <a:latin typeface="Calibri"/>
              </a:rPr>
              <a:t>Ma'lumotlar lokalizatsiyasi (data locality) ikki shaklda namoyon bo'ladi.</a:t>
            </a:r>
          </a:p>
          <a:p>
            <a:pPr>
              <a:spcBef>
                <a:spcPts val="400"/>
              </a:spcBef>
            </a:pPr>
            <a:r>
              <a:rPr sz="1500">
                <a:solidFill>
                  <a:srgbClr val="334055"/>
                </a:solidFill>
                <a:latin typeface="Calibri"/>
              </a:rPr>
              <a:t>Vaqt lokalligi (temporal locality) — yaqinda ishlatilgan ma'lumot yaqin orada yana ishlatilishi ehtimoli yuqori; shuning uchun uni keshda ushlab turish foydali.</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Ko'p o'lchovli massivlarda lokallik xotirada joylashish tartibiga bog'liq.</a:t>
            </a:r>
          </a:p>
          <a:p>
            <a:pPr>
              <a:spcBef>
                <a:spcPts val="400"/>
              </a:spcBef>
            </a:pPr>
            <a:r>
              <a:rPr sz="1500">
                <a:solidFill>
                  <a:srgbClr val="334055"/>
                </a:solidFill>
                <a:latin typeface="Calibri"/>
              </a:rPr>
              <a:t>NumPy va PyTorch'da standart tartib — satr-ustuvor (row-major, C-order): A[i, j] elementidan keyin xotirada A[i, j+1] yotadi.</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600" b="1">
                <a:solidFill>
                  <a:srgbClr val="1F3A5F"/>
                </a:solidFill>
                <a:latin typeface="Calibri"/>
              </a:rPr>
              <a:t>Chuqur o'rganish freymvorklarida bu masala tensor tartibi (memory format) ko'rinishida uchraydi: PyTorch'da konvolyutsion tarmoqlar uchun NCHW (kanal birinchi) va NHWC (channels_last) formatlari mavjud.</a:t>
            </a:r>
          </a:p>
          <a:p>
            <a:pPr>
              <a:spcBef>
                <a:spcPts val="400"/>
              </a:spcBef>
            </a:pPr>
            <a:r>
              <a:rPr sz="1500">
                <a:solidFill>
                  <a:srgbClr val="334055"/>
                </a:solidFill>
                <a:latin typeface="Calibri"/>
              </a:rPr>
              <a:t>Tensor Core va cuDNN kernellari ko'pincha NHWC tartibida tezroq ishlaydi, chunki bitta piksel uchun barcha kanallar xotirada yonma-yon turadi va vektorli yuklash samarali bo'ladi.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a2bdfa5d53b65a5.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极客湾Geekerwan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NUMA arxitekturasi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NUMA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Ko'p soketli serverlarda (masalan, ikki protsessorli Intel Xeon yoki AMD EPYC tizimlari) har bir protsessorning o'z xotira kontrollerlari va unga ulangan DRAM modullari bor.</a:t>
            </a:r>
          </a:p>
          <a:p>
            <a:pPr>
              <a:spcBef>
                <a:spcPts val="400"/>
              </a:spcBef>
            </a:pPr>
            <a:r>
              <a:rPr sz="1400">
                <a:solidFill>
                  <a:srgbClr val="334055"/>
                </a:solidFill>
                <a:latin typeface="Calibri"/>
              </a:rPr>
              <a:t>Bitta soketdagi yadro o'z DRAM'iga («mahalliy tugun») to'g'ridan-to'g'ri murojaat qiladi; boshqa soketning DRAM'iga («uzoq tugun») esa protsessorlararo havola (Intel UPI yoki AMD Infinity Fabric) orqali murojaat qiladi.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AMD EPYC protsessorlarida vaziyat yanada murakkabroq: bitta soket ichida ham bir nechta chiplet (CCD) va I/O kristali bor, shuning uchun BIOS sozlamalariga qarab bitta soket 1, 2 yoki 4 NUMA tuguni sifatida ko'rinishi mumkin (NPS1/NPS2/NPS4 rejimlari).</a:t>
            </a:r>
          </a:p>
          <a:p>
            <a:pPr>
              <a:spcBef>
                <a:spcPts val="400"/>
              </a:spcBef>
            </a:pPr>
            <a:r>
              <a:rPr sz="1400">
                <a:solidFill>
                  <a:srgbClr val="334055"/>
                </a:solidFill>
                <a:latin typeface="Calibri"/>
              </a:rPr>
              <a:t>GPU serverlarida esa PCIe kommutatorlari ham NUMA tugunlariga bog'langan: 8 GPU'li DGX-uslubidagi serverda 4 ta GPU birinchi soketga, 4 tasi ikkinchisiga «yaqin».</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400" b="0">
                <a:solidFill>
                  <a:srgbClr val="1B2430"/>
                </a:solidFill>
                <a:latin typeface="Calibri"/>
              </a:rPr>
              <a:t>Linux yadrosi standart holatda «first-touch» siyosatini qo'llaydi: xotira sahifasi uni birinchi marta yozgan (ishga tushirgan) yadro joylashgan tugunda ajratiladi.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NUMA arxitekturasi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182518"/>
            <a:ext cx="70000" cy="11849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Sun'iy intellekt tizimlarida NUMA'ga e'tibor berish uchta joyda muhim: (1) dataloader iplarini GPU'ga yaqin soketga bog'lash; (2) CPU'da inferens qiluvchi xizmatlarni (masalan, ONNX Runtime bilan) har bir soketda alohida nusxa sifatida ishga tushirish; (3)…</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c37973e01be8cf9.jpg"/>
          <p:cNvPicPr>
            <a:picLocks noChangeAspect="1"/>
          </p:cNvPicPr>
          <p:nvPr/>
        </p:nvPicPr>
        <p:blipFill>
          <a:blip r:embed="rId2"/>
          <a:srcRect l="31273" r="312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Giu.natale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Arifmetik intensivlik va roofline modeli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600" b="1">
                <a:solidFill>
                  <a:srgbClr val="1F3A5F"/>
                </a:solidFill>
                <a:latin typeface="Calibri"/>
              </a:rPr>
              <a:t>Qaysi ish yuki xotira bilan chegaralanganini miqdoriy baholash uchun arifmetik intensivlik (arithmetic intensity) tushunchasi ishlatiladi: I = FLOP / bayt — bajarilgan suzuvchi nuqtali amallar sonini xotiradan o'qilgan va yozilgan baytlar soniga bo'lish.</a:t>
            </a:r>
          </a:p>
          <a:p>
            <a:pPr>
              <a:spcBef>
                <a:spcPts val="400"/>
              </a:spcBef>
            </a:pPr>
            <a:r>
              <a:rPr sz="1500">
                <a:solidFill>
                  <a:srgbClr val="334055"/>
                </a:solidFill>
                <a:latin typeface="Calibri"/>
              </a:rPr>
              <a:t>Roofline modeli (Williams, Waterman, Patterson, 2009) esa erishiladigan unumdorlikni quyidagicha chegaralaydi: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0">
                <a:solidFill>
                  <a:srgbClr val="1B2430"/>
                </a:solidFill>
                <a:latin typeface="Calibri"/>
              </a:rPr>
              <a:t>P_erishiladigan = min(P_cho'qqi, B_xotira × I)</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600" b="1">
                <a:solidFill>
                  <a:srgbClr val="1F3A5F"/>
                </a:solidFill>
                <a:latin typeface="Calibri"/>
              </a:rPr>
              <a:t>bu yerda P_cho'qqi — qurilmaning maksimal hisoblash quvvati (FLOP/s), B_xotira — xotira o'tkazuvchanligi (bayt/s).</a:t>
            </a:r>
          </a:p>
          <a:p>
            <a:pPr>
              <a:spcBef>
                <a:spcPts val="400"/>
              </a:spcBef>
            </a:pPr>
            <a:r>
              <a:rPr sz="1500">
                <a:solidFill>
                  <a:srgbClr val="334055"/>
                </a:solidFill>
                <a:latin typeface="Calibri"/>
              </a:rPr>
              <a:t>Ikki chiziq kesishgan nuqta — «sinish nuqtasi» (ridge point) — I = P_cho'qqi / B_xotira. H100 uchun FP16 rejimda I ≈ 990e12 / 3,35e12 ≈ 295 FLOP/bayt; FP32 (Tensor Core'siz, ~67 TFLOPS) uchun esa I ≈ 20 FLOP/bayt.</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500" b="0">
                <a:solidFill>
                  <a:srgbClr val="1B2430"/>
                </a:solidFill>
                <a:latin typeface="Calibri"/>
              </a:rPr>
              <a:t>Bir necha tipik operatsiyaning intensivligi: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3182518"/>
            <a:ext cx="11100000" cy="118496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182518"/>
            <a:ext cx="70000" cy="11849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3222518"/>
            <a:ext cx="10150000" cy="1104964"/>
          </a:xfrm>
          <a:prstGeom prst="rect">
            <a:avLst/>
          </a:prstGeom>
          <a:noFill/>
        </p:spPr>
        <p:txBody>
          <a:bodyPr wrap="square" anchor="ctr">
            <a:spAutoFit/>
          </a:bodyPr>
          <a:lstStyle/>
          <a:p>
            <a:r>
              <a:rPr sz="1700" b="0">
                <a:solidFill>
                  <a:srgbClr val="1B2430"/>
                </a:solidFill>
                <a:latin typeface="Calibri"/>
              </a:rPr>
              <a:t>Jadval LLM inferensining mashhur muammosini tushuntiradi: batch hajmi 1 bo'lganda har bir yangi token uchun modelning barcha og'irliklari (70 mlrd parametrli model uchun FP16'da 140 GB) xotiradan o'qiladi, lekin har bir og'irlik faqat bitta…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Arifmetik intensivlik va roofline modeli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graphicFrame>
        <p:nvGraphicFramePr>
          <p:cNvPr id="10" name="Table 9"/>
          <p:cNvGraphicFramePr>
            <a:graphicFrameLocks noGrp="1"/>
          </p:cNvGraphicFramePr>
          <p:nvPr/>
        </p:nvGraphicFramePr>
        <p:xfrm>
          <a:off x="500000" y="1350000"/>
          <a:ext cx="11200000" cy="3640000"/>
        </p:xfrm>
        <a:graphic>
          <a:graphicData uri="http://schemas.openxmlformats.org/drawingml/2006/table">
            <a:tbl>
              <a:tblPr firstRow="1" bandRow="1">
                <a:tableStyleId>{5C22544A-7EE6-4342-B048-85BDC9FD1C3A}</a:tableStyleId>
              </a:tblPr>
              <a:tblGrid>
                <a:gridCol w="3733333"/>
                <a:gridCol w="3733333"/>
                <a:gridCol w="3733334"/>
              </a:tblGrid>
              <a:tr h="520000">
                <a:tc>
                  <a:txBody>
                    <a:bodyPr/>
                    <a:lstStyle/>
                    <a:p>
                      <a:r>
                        <a:rPr sz="1200" b="1">
                          <a:solidFill>
                            <a:srgbClr val="FFFFFF"/>
                          </a:solidFill>
                          <a:latin typeface="Calibri"/>
                        </a:rPr>
                        <a:t>Operatsiya</a:t>
                      </a:r>
                    </a:p>
                  </a:txBody>
                  <a:tcPr>
                    <a:solidFill>
                      <a:srgbClr val="2D5C8F"/>
                    </a:solidFill>
                  </a:tcPr>
                </a:tc>
                <a:tc>
                  <a:txBody>
                    <a:bodyPr/>
                    <a:lstStyle/>
                    <a:p>
                      <a:r>
                        <a:rPr sz="1200" b="1">
                          <a:solidFill>
                            <a:srgbClr val="FFFFFF"/>
                          </a:solidFill>
                          <a:latin typeface="Calibri"/>
                        </a:rPr>
                        <a:t>Taxminiy intensivlik (FP16)</a:t>
                      </a:r>
                    </a:p>
                  </a:txBody>
                  <a:tcPr>
                    <a:solidFill>
                      <a:srgbClr val="2D5C8F"/>
                    </a:solidFill>
                  </a:tcPr>
                </a:tc>
                <a:tc>
                  <a:txBody>
                    <a:bodyPr/>
                    <a:lstStyle/>
                    <a:p>
                      <a:r>
                        <a:rPr sz="1200" b="1">
                          <a:solidFill>
                            <a:srgbClr val="FFFFFF"/>
                          </a:solidFill>
                          <a:latin typeface="Calibri"/>
                        </a:rPr>
                        <a:t>H100'da holat</a:t>
                      </a:r>
                    </a:p>
                  </a:txBody>
                  <a:tcPr>
                    <a:solidFill>
                      <a:srgbClr val="2D5C8F"/>
                    </a:solidFill>
                  </a:tcPr>
                </a:tc>
              </a:tr>
              <a:tr h="520000">
                <a:tc>
                  <a:txBody>
                    <a:bodyPr/>
                    <a:lstStyle/>
                    <a:p>
                      <a:r>
                        <a:rPr sz="1200" b="0">
                          <a:solidFill>
                            <a:srgbClr val="1B2430"/>
                          </a:solidFill>
                          <a:latin typeface="Calibri"/>
                        </a:rPr>
                        <a:t>Vektorlarni qo'shish z = x + y</a:t>
                      </a:r>
                    </a:p>
                  </a:txBody>
                  <a:tcPr>
                    <a:solidFill>
                      <a:srgbClr val="F1F4F8"/>
                    </a:solidFill>
                  </a:tcPr>
                </a:tc>
                <a:tc>
                  <a:txBody>
                    <a:bodyPr/>
                    <a:lstStyle/>
                    <a:p>
                      <a:r>
                        <a:rPr sz="1200" b="0">
                          <a:solidFill>
                            <a:srgbClr val="1B2430"/>
                          </a:solidFill>
                          <a:latin typeface="Calibri"/>
                        </a:rPr>
                        <a:t>~0,17 FLOP/bayt</a:t>
                      </a:r>
                    </a:p>
                  </a:txBody>
                  <a:tcPr>
                    <a:solidFill>
                      <a:srgbClr val="F1F4F8"/>
                    </a:solidFill>
                  </a:tcPr>
                </a:tc>
                <a:tc>
                  <a:txBody>
                    <a:bodyPr/>
                    <a:lstStyle/>
                    <a:p>
                      <a:r>
                        <a:rPr sz="1200" b="0">
                          <a:solidFill>
                            <a:srgbClr val="1B2430"/>
                          </a:solidFill>
                          <a:latin typeface="Calibri"/>
                        </a:rPr>
                        <a:t>qat'iy xotira bilan chegaralangan</a:t>
                      </a:r>
                    </a:p>
                  </a:txBody>
                  <a:tcPr>
                    <a:solidFill>
                      <a:srgbClr val="F1F4F8"/>
                    </a:solidFill>
                  </a:tcPr>
                </a:tc>
              </a:tr>
              <a:tr h="520000">
                <a:tc>
                  <a:txBody>
                    <a:bodyPr/>
                    <a:lstStyle/>
                    <a:p>
                      <a:r>
                        <a:rPr sz="1200" b="0">
                          <a:solidFill>
                            <a:srgbClr val="1B2430"/>
                          </a:solidFill>
                          <a:latin typeface="Calibri"/>
                        </a:rPr>
                        <a:t>ReLU, LayerNorm, Softmax</a:t>
                      </a:r>
                    </a:p>
                  </a:txBody>
                  <a:tcPr>
                    <a:solidFill>
                      <a:srgbClr val="FFFFFF"/>
                    </a:solidFill>
                  </a:tcPr>
                </a:tc>
                <a:tc>
                  <a:txBody>
                    <a:bodyPr/>
                    <a:lstStyle/>
                    <a:p>
                      <a:r>
                        <a:rPr sz="1200" b="0">
                          <a:solidFill>
                            <a:srgbClr val="1B2430"/>
                          </a:solidFill>
                          <a:latin typeface="Calibri"/>
                        </a:rPr>
                        <a:t>0,3–2 FLOP/bayt</a:t>
                      </a:r>
                    </a:p>
                  </a:txBody>
                  <a:tcPr>
                    <a:solidFill>
                      <a:srgbClr val="FFFFFF"/>
                    </a:solidFill>
                  </a:tcPr>
                </a:tc>
                <a:tc>
                  <a:txBody>
                    <a:bodyPr/>
                    <a:lstStyle/>
                    <a:p>
                      <a:r>
                        <a:rPr sz="1200" b="0">
                          <a:solidFill>
                            <a:srgbClr val="1B2430"/>
                          </a:solidFill>
                          <a:latin typeface="Calibri"/>
                        </a:rPr>
                        <a:t>xotira bilan chegaralangan</a:t>
                      </a:r>
                    </a:p>
                  </a:txBody>
                  <a:tcPr>
                    <a:solidFill>
                      <a:srgbClr val="FFFFFF"/>
                    </a:solidFill>
                  </a:tcPr>
                </a:tc>
              </a:tr>
              <a:tr h="520000">
                <a:tc>
                  <a:txBody>
                    <a:bodyPr/>
                    <a:lstStyle/>
                    <a:p>
                      <a:r>
                        <a:rPr sz="1200" b="0">
                          <a:solidFill>
                            <a:srgbClr val="1B2430"/>
                          </a:solidFill>
                          <a:latin typeface="Calibri"/>
                        </a:rPr>
                        <a:t>Matritsa–vektor (LLM dekodlash, batch=1)</a:t>
                      </a:r>
                    </a:p>
                  </a:txBody>
                  <a:tcPr>
                    <a:solidFill>
                      <a:srgbClr val="F1F4F8"/>
                    </a:solidFill>
                  </a:tcPr>
                </a:tc>
                <a:tc>
                  <a:txBody>
                    <a:bodyPr/>
                    <a:lstStyle/>
                    <a:p>
                      <a:r>
                        <a:rPr sz="1200" b="0">
                          <a:solidFill>
                            <a:srgbClr val="1B2430"/>
                          </a:solidFill>
                          <a:latin typeface="Calibri"/>
                        </a:rPr>
                        <a:t>~1 FLOP/bayt</a:t>
                      </a:r>
                    </a:p>
                  </a:txBody>
                  <a:tcPr>
                    <a:solidFill>
                      <a:srgbClr val="F1F4F8"/>
                    </a:solidFill>
                  </a:tcPr>
                </a:tc>
                <a:tc>
                  <a:txBody>
                    <a:bodyPr/>
                    <a:lstStyle/>
                    <a:p>
                      <a:r>
                        <a:rPr sz="1200" b="0">
                          <a:solidFill>
                            <a:srgbClr val="1B2430"/>
                          </a:solidFill>
                          <a:latin typeface="Calibri"/>
                        </a:rPr>
                        <a:t>xotira bilan chegaralangan</a:t>
                      </a:r>
                    </a:p>
                  </a:txBody>
                  <a:tcPr>
                    <a:solidFill>
                      <a:srgbClr val="F1F4F8"/>
                    </a:solidFill>
                  </a:tcPr>
                </a:tc>
              </a:tr>
              <a:tr h="520000">
                <a:tc>
                  <a:txBody>
                    <a:bodyPr/>
                    <a:lstStyle/>
                    <a:p>
                      <a:r>
                        <a:rPr sz="1200" b="0">
                          <a:solidFill>
                            <a:srgbClr val="1B2430"/>
                          </a:solidFill>
                          <a:latin typeface="Calibri"/>
                        </a:rPr>
                        <a:t>GEMM 1024×1024×1024</a:t>
                      </a:r>
                    </a:p>
                  </a:txBody>
                  <a:tcPr>
                    <a:solidFill>
                      <a:srgbClr val="FFFFFF"/>
                    </a:solidFill>
                  </a:tcPr>
                </a:tc>
                <a:tc>
                  <a:txBody>
                    <a:bodyPr/>
                    <a:lstStyle/>
                    <a:p>
                      <a:r>
                        <a:rPr sz="1200" b="0">
                          <a:solidFill>
                            <a:srgbClr val="1B2430"/>
                          </a:solidFill>
                          <a:latin typeface="Calibri"/>
                        </a:rPr>
                        <a:t>~170 FLOP/bayt</a:t>
                      </a:r>
                    </a:p>
                  </a:txBody>
                  <a:tcPr>
                    <a:solidFill>
                      <a:srgbClr val="FFFFFF"/>
                    </a:solidFill>
                  </a:tcPr>
                </a:tc>
                <a:tc>
                  <a:txBody>
                    <a:bodyPr/>
                    <a:lstStyle/>
                    <a:p>
                      <a:r>
                        <a:rPr sz="1200" b="0">
                          <a:solidFill>
                            <a:srgbClr val="1B2430"/>
                          </a:solidFill>
                          <a:latin typeface="Calibri"/>
                        </a:rPr>
                        <a:t>o'tish zonasi</a:t>
                      </a:r>
                    </a:p>
                  </a:txBody>
                  <a:tcPr>
                    <a:solidFill>
                      <a:srgbClr val="FFFFFF"/>
                    </a:solidFill>
                  </a:tcPr>
                </a:tc>
              </a:tr>
              <a:tr h="520000">
                <a:tc>
                  <a:txBody>
                    <a:bodyPr/>
                    <a:lstStyle/>
                    <a:p>
                      <a:r>
                        <a:rPr sz="1200" b="0">
                          <a:solidFill>
                            <a:srgbClr val="1B2430"/>
                          </a:solidFill>
                          <a:latin typeface="Calibri"/>
                        </a:rPr>
                        <a:t>GEMM 8192×8192×8192</a:t>
                      </a:r>
                    </a:p>
                  </a:txBody>
                  <a:tcPr>
                    <a:solidFill>
                      <a:srgbClr val="F1F4F8"/>
                    </a:solidFill>
                  </a:tcPr>
                </a:tc>
                <a:tc>
                  <a:txBody>
                    <a:bodyPr/>
                    <a:lstStyle/>
                    <a:p>
                      <a:r>
                        <a:rPr sz="1200" b="0">
                          <a:solidFill>
                            <a:srgbClr val="1B2430"/>
                          </a:solidFill>
                          <a:latin typeface="Calibri"/>
                        </a:rPr>
                        <a:t>~1365 FLOP/bayt</a:t>
                      </a:r>
                    </a:p>
                  </a:txBody>
                  <a:tcPr>
                    <a:solidFill>
                      <a:srgbClr val="F1F4F8"/>
                    </a:solidFill>
                  </a:tcPr>
                </a:tc>
                <a:tc>
                  <a:txBody>
                    <a:bodyPr/>
                    <a:lstStyle/>
                    <a:p>
                      <a:r>
                        <a:rPr sz="1200" b="0">
                          <a:solidFill>
                            <a:srgbClr val="1B2430"/>
                          </a:solidFill>
                          <a:latin typeface="Calibri"/>
                        </a:rPr>
                        <a:t>hisoblash bilan chegaralangan</a:t>
                      </a:r>
                    </a:p>
                  </a:txBody>
                  <a:tcPr>
                    <a:solidFill>
                      <a:srgbClr val="F1F4F8"/>
                    </a:solidFill>
                  </a:tcPr>
                </a:tc>
              </a:tr>
              <a:tr h="520000">
                <a:tc>
                  <a:txBody>
                    <a:bodyPr/>
                    <a:lstStyle/>
                    <a:p>
                      <a:r>
                        <a:rPr sz="1200" b="0">
                          <a:solidFill>
                            <a:srgbClr val="1B2430"/>
                          </a:solidFill>
                          <a:latin typeface="Calibri"/>
                        </a:rPr>
                        <a:t>Konvolyutsiya 3×3, 256 kanal</a:t>
                      </a:r>
                    </a:p>
                  </a:txBody>
                  <a:tcPr>
                    <a:solidFill>
                      <a:srgbClr val="FFFFFF"/>
                    </a:solidFill>
                  </a:tcPr>
                </a:tc>
                <a:tc>
                  <a:txBody>
                    <a:bodyPr/>
                    <a:lstStyle/>
                    <a:p>
                      <a:r>
                        <a:rPr sz="1200" b="0">
                          <a:solidFill>
                            <a:srgbClr val="1B2430"/>
                          </a:solidFill>
                          <a:latin typeface="Calibri"/>
                        </a:rPr>
                        <a:t>yuzlab FLOP/bayt</a:t>
                      </a:r>
                    </a:p>
                  </a:txBody>
                  <a:tcPr>
                    <a:solidFill>
                      <a:srgbClr val="FFFFFF"/>
                    </a:solidFill>
                  </a:tcPr>
                </a:tc>
                <a:tc>
                  <a:txBody>
                    <a:bodyPr/>
                    <a:lstStyle/>
                    <a:p>
                      <a:r>
                        <a:rPr sz="1200" b="0">
                          <a:solidFill>
                            <a:srgbClr val="1B2430"/>
                          </a:solidFill>
                          <a:latin typeface="Calibri"/>
                        </a:rPr>
                        <a:t>hisoblash bilan chegaralangan</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994346d70ad9af82.jpg"/>
          <p:cNvPicPr>
            <a:picLocks noChangeAspect="1"/>
          </p:cNvPicPr>
          <p:nvPr/>
        </p:nvPicPr>
        <p:blipFill>
          <a:blip r:embed="rId2"/>
          <a:srcRect l="26575" r="26575"/>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WikiEwout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Xotira o'tkazuvchanligini oshirish va ma'lumot almashinuvini kamaytirish usullari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Xotira o'tkazuvchanligini oshirish va ma'lumot almashinuvini kamaytirish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125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250000"/>
            <a:ext cx="70000" cy="118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630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290000"/>
            <a:ext cx="10150000" cy="1100000"/>
          </a:xfrm>
          <a:prstGeom prst="rect">
            <a:avLst/>
          </a:prstGeom>
          <a:noFill/>
        </p:spPr>
        <p:txBody>
          <a:bodyPr wrap="square" anchor="ctr">
            <a:spAutoFit/>
          </a:bodyPr>
          <a:lstStyle/>
          <a:p>
            <a:r>
              <a:rPr sz="1400" b="0">
                <a:solidFill>
                  <a:srgbClr val="1B2430"/>
                </a:solidFill>
                <a:latin typeface="Calibri"/>
              </a:rPr>
              <a:t>Muhandislik amaliyotida quyidagi usullar guruhi ajralib turadi.</a:t>
            </a:r>
          </a:p>
        </p:txBody>
      </p:sp>
      <p:sp>
        <p:nvSpPr>
          <p:cNvPr id="14" name="Rounded Rectangle 13"/>
          <p:cNvSpPr/>
          <p:nvPr/>
        </p:nvSpPr>
        <p:spPr>
          <a:xfrm>
            <a:off x="550000" y="254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40000"/>
            <a:ext cx="70000" cy="118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92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2580000"/>
            <a:ext cx="10150000" cy="1100000"/>
          </a:xfrm>
          <a:prstGeom prst="rect">
            <a:avLst/>
          </a:prstGeom>
          <a:noFill/>
        </p:spPr>
        <p:txBody>
          <a:bodyPr wrap="square" anchor="ctr">
            <a:spAutoFit/>
          </a:bodyPr>
          <a:lstStyle/>
          <a:p>
            <a:r>
              <a:rPr sz="1500" b="1">
                <a:solidFill>
                  <a:srgbClr val="1F3A5F"/>
                </a:solidFill>
                <a:latin typeface="Calibri"/>
              </a:rPr>
              <a:t>Apparat darajasida: HBM (High Bandwidth Memory) — DRAM kristallarini vertikal stakalab, GPU bilan keng (1024+ bit) interfeys orqali ulash; H100'da HBM3, B200'da HBM3e ishlatiladi.</a:t>
            </a:r>
          </a:p>
          <a:p>
            <a:pPr>
              <a:spcBef>
                <a:spcPts val="400"/>
              </a:spcBef>
            </a:pPr>
            <a:r>
              <a:rPr sz="1400">
                <a:solidFill>
                  <a:srgbClr val="334055"/>
                </a:solidFill>
                <a:latin typeface="Calibri"/>
              </a:rPr>
              <a:t>Keng L2/L3 keshlar (AMD EPYC Genoa-X'da 1 GB gacha 3D V-Cache). NVLink — GPU'lar orasida PCIe'dan bir necha marta tezroq havola (H100'da 900 GB/s). CXL (Compute Express Link) — CPU xotirasini kengaytirish va keshni izchil ulashish uchun yangi standart.</a:t>
            </a:r>
          </a:p>
        </p:txBody>
      </p:sp>
      <p:sp>
        <p:nvSpPr>
          <p:cNvPr id="18" name="Rounded Rectangle 17"/>
          <p:cNvSpPr/>
          <p:nvPr/>
        </p:nvSpPr>
        <p:spPr>
          <a:xfrm>
            <a:off x="550000" y="383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0000"/>
            <a:ext cx="70000" cy="118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210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3870000"/>
            <a:ext cx="10150000" cy="1100000"/>
          </a:xfrm>
          <a:prstGeom prst="rect">
            <a:avLst/>
          </a:prstGeom>
          <a:noFill/>
        </p:spPr>
        <p:txBody>
          <a:bodyPr wrap="square" anchor="ctr">
            <a:spAutoFit/>
          </a:bodyPr>
          <a:lstStyle/>
          <a:p>
            <a:r>
              <a:rPr sz="1400" b="0">
                <a:solidFill>
                  <a:srgbClr val="1B2430"/>
                </a:solidFill>
                <a:latin typeface="Calibri"/>
              </a:rPr>
              <a:t>Algoritm darajasida: tiling (bloklash) — katta matritsani keshga sig'adigan bloklarga bo'lib, har bir blok ustida maksimal ishni bajarish; bu GEMM kutubxonalarining (cuBLAS, oneDNN) asosiy tamoyili.</a:t>
            </a:r>
          </a:p>
        </p:txBody>
      </p:sp>
      <p:sp>
        <p:nvSpPr>
          <p:cNvPr id="22" name="Rounded Rectangle 21"/>
          <p:cNvSpPr/>
          <p:nvPr/>
        </p:nvSpPr>
        <p:spPr>
          <a:xfrm>
            <a:off x="550000" y="5120000"/>
            <a:ext cx="11100000" cy="11800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20000"/>
            <a:ext cx="70000" cy="118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5500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5160000"/>
            <a:ext cx="10150000" cy="1100000"/>
          </a:xfrm>
          <a:prstGeom prst="rect">
            <a:avLst/>
          </a:prstGeom>
          <a:noFill/>
        </p:spPr>
        <p:txBody>
          <a:bodyPr wrap="square" anchor="ctr">
            <a:spAutoFit/>
          </a:bodyPr>
          <a:lstStyle/>
          <a:p>
            <a:r>
              <a:rPr sz="1400" b="0">
                <a:solidFill>
                  <a:srgbClr val="1B2430"/>
                </a:solidFill>
                <a:latin typeface="Calibri"/>
              </a:rPr>
              <a:t>Tizim darajasida: pinned (sahifalanmaydigan, page-locked) xotira — cudaHostAlloc yoki PyTorch'da pin_memory=True — CPU→GPU nusxalashni DMA orqali to'g'ridan-to'g'ri va asinxron bajarish imkonini beradi; dataloader'da num_workers va prefetch_factor orqali…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100" b="1">
                <a:solidFill>
                  <a:srgbClr val="FFFFFF"/>
                </a:solidFill>
                <a:latin typeface="Calibri"/>
              </a:rPr>
              <a:t>Xotira o'tkazuvchanligini oshirish va ma'lumot almashinuvini kamaytirish usullari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M5 · Arxitektura va dizayn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10" name="Rounded Rectangle 9"/>
          <p:cNvSpPr/>
          <p:nvPr/>
        </p:nvSpPr>
        <p:spPr>
          <a:xfrm>
            <a:off x="550000" y="3325012"/>
            <a:ext cx="11100000" cy="899976"/>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3325012"/>
            <a:ext cx="70000" cy="89997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13" name="TextBox 12"/>
          <p:cNvSpPr txBox="1"/>
          <p:nvPr/>
        </p:nvSpPr>
        <p:spPr>
          <a:xfrm>
            <a:off x="1380000" y="3365012"/>
            <a:ext cx="10150000" cy="819976"/>
          </a:xfrm>
          <a:prstGeom prst="rect">
            <a:avLst/>
          </a:prstGeom>
          <a:noFill/>
        </p:spPr>
        <p:txBody>
          <a:bodyPr wrap="square" anchor="ctr">
            <a:spAutoFit/>
          </a:bodyPr>
          <a:lstStyle/>
          <a:p>
            <a:r>
              <a:rPr sz="1700" b="0">
                <a:solidFill>
                  <a:srgbClr val="1B2430"/>
                </a:solidFill>
                <a:latin typeface="Calibri"/>
              </a:rPr>
              <a:t>Ushbu usullarning barchasini birlashtiruvchi tamoyil bitta: hisoblashni ma'lumot yoniga olib borish, ma'lumotni hisoblash yoniga emas.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
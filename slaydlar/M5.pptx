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Xotira iyerarxiyasi — bu tezlik, hajm va narx o'rtasidagi murosaning muhandislik yechimi. Juda tez xotira (SRAM asosidagi registrlar va kesh) qimmat va kichik hajmli, katta hajmli xotira (DRAM, flesh) esa sekin. Iyerarxiya g'oyasi shundan iboratki, dastur hozir ishlatayotgan kichik ma'lumotlar to'plami tez pog'onada, qolgani esa katta va sekin pog'onalarda saqlanadi. Hennessy va Patterson [1] ta'kidlaganidek, bu yechim faqat dasturlar lokallik xususiyatiga ega bo'lgani uchungina ishlaydi.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Xotira iyerarxiyasi — bu tezlik, hajm va narx o'rtasidagi murosaning muhandislik yechimi. Juda tez xotira (SRAM asosidagi registrlar va kesh) qimmat va kichik hajmli, katta hajmli xotira (DRAM, flesh) esa sekin. Iyerarxiya g'oyasi shundan iboratki, dastur hozir ishlatayotgan kichik ma'lumotlar to'plami tez pog'onada, qolgani esa katta va sekin pog'onalarda saqlanadi. Hennessy va Patterson [1] ta'kidlaganidek, bu yechim faqat dasturlar lokallik xususiyatiga ega bo'lgani uchungina ishlaydi.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Jadvaldan ikki xulosa kelib chiqadi. Birinchidan, pog'onalar orasida kechikish farqi o'nlab va yuzlab martani tashkil etadi: L1 keshdan o'qish DRAM'dan o'qishdan qariyb yuz marta tez. Ikkinchidan, CPU va GPU orasidagi PCIe havolasi GPU'ning o'z xotirasidan qariyb 50 marta sekin — demak, har bir iteratsiyada ma'lumotni CPU'dan GPU'ga ko'chiradigan kod hech qachon GPU imkoniyatini to'liq ishlata olmaydi.</a:t>
            </a:r>
          </a:p>
          <a:p/>
          <a:p>
            <a:r>
              <a:t>Kesh satr (cache line) birligi odatda 64 bayt. Protsessor xotiradan bitta float32 qiymatni so'raganda ham butun 64 baytlik satr (16 ta float32) keshga yuklanadi. Agar dastur keyingi qadamda qo'shni elementga murojaat qilsa — u allaqachon keshda; agar 4096 bayt naridagi elementga murojaat qilsa — yangi satr yuklanadi, eskisi esa bekor sarflangan bo'ladi. Shu oddiy mexanizm quyida ko'riladigan o'n baravar farqning asosiy sababidir.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server protsessori va tezlatkich uchun tipik ko'rsatkichlar quyidagi jadvalda keltirilgan (raqamlar taxminiy, avlod va modelga qarab farq qiladi):</a:t>
            </a:r>
          </a:p>
          <a:p/>
          <a:p>
            <a:r>
              <a:t>Jadvaldan ikki xulosa kelib chiqadi. Birinchidan, pog'onalar orasida kechikish farqi o'nlab va yuzlab martani tashkil etadi: L1 keshdan o'qish DRAM'dan o'qishdan qariyb yuz marta tez. Ikkinchidan, CPU va GPU orasidagi PCIe havolasi GPU'ning o'z xotirasidan qariyb 50 marta sekin — demak, har bir iteratsiyada ma'lumotni CPU'dan GPU'ga ko'chiradigan kod hech qachon GPU imkoniyatini to'liq ishlata olmaydi.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Zamonaviy server protsessori va tezlatkich uchun tipik ko'rsatkichlar quyidagi jadvalda keltirilgan (raqamlar taxminiy, avlod va modelga qarab farq qiladi):</a:t>
            </a:r>
          </a:p>
          <a:p/>
          <a:p>
            <a:r>
              <a:t>Jadvaldan ikki xulosa kelib chiqadi. Birinchidan, pog'onalar orasida kechikish farqi o'nlab va yuzlab martani tashkil etadi: L1 keshdan o'qish DRAM'dan o'qishdan qariyb yuz marta tez. Ikkinchidan, CPU va GPU orasidagi PCIe havolasi GPU'ning o'z xotirasidan qariyb 50 marta sekin — demak, har bir iteratsiyada ma'lumotni CPU'dan GPU'ga ko'chiradigan kod hech qachon GPU imkoniyatini to'liq ishlata olmaydi.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Ma'lumotlar lokalizatsiyasi (data locality) ikki shaklda namoyon bo'ladi. Vaqt lokalligi (temporal locality) — yaqinda ishlatilgan ma'lumot yaqin orada yana ishlatilishi ehtimoli yuqori; shuning uchun uni keshda ushlab turish foydali. Fazoviy lokallik (spatial locality) — ishlatilgan ma'lumotning qo'shnilari ham tez orada ishlatilishi ehtimoli yuqori; shuning uchun xotira satrlab yuklanadi va apparat oldindan yuklovchi (hardware prefetcher) ketma-ket namunani sezib, keyingi satrlarni oldindan tortib keladi.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Ma'lumotlar lokalizatsiyasi (data locality) ikki shaklda namoyon bo'ladi. Vaqt lokalligi (temporal locality) — yaqinda ishlatilgan ma'lumot yaqin orada yana ishlatilishi ehtimoli yuqori; shuning uchun uni keshda ushlab turish foydali. Fazoviy lokallik (spatial locality) — ishlatilgan ma'lumotning qo'shnilari ham tez orada ishlatilishi ehtimoli yuqori; shuning uchun xotira satrlab yuklanadi va apparat oldindan yuklovchi (hardware prefetcher) ketma-ket namunani sezib, keyingi satrlarni oldindan tortib keladi.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Ko'p o'lchovli massivlarda lokallik xotirada joylashish tartibiga bog'liq. NumPy va PyTorch'da standart tartib — satr-ustuvor (row-major, C-order): A[i, j] elementidan keyin xotirada A[i, j+1] yotadi. Demak, ichki sikl j bo'yicha yursa, kirish ketma-ket va kesh-do'stona bo'ladi; ichki sikl i bo'yicha yursa, har qadamda butun satr uzunligiga (masalan, 8192 × 4 bayt = 32 KB) sakrash yuz beradi va deyarli har bir murojaat keshni o'tkazib yuboradi (cache miss). Matematik jihatdan ikkala variant bir xil natija beradi, lekin ish vaqti o'nlab marta farq qilishi mumkin.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Chuqur o'rganish freymvorklarida bu masala tensor tartibi (memory format) ko'rinishida uchraydi: PyTorch'da konvolyutsion tarmoqlar uchun NCHW (kanal birinchi) va NHWC (channels_last) formatlari mavjud. Tensor Core va cuDNN kernellari ko'pincha NHWC tartibida tezroq ishlaydi, chunki bitta piksel uchun barcha kanallar xotirada yonma-yon turadi va vektorli yuklash samarali bo'ladi. Shuning uchun model.to(memory_format=torch.channels_last) chaqiruvi ba'zi tarmoqlarda 10–30 foiz tezlashish beradi — kod mantig'i o'zgarmagan holda.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Ko'p soketli serverlarda (masalan, ikki protsessorli Intel Xeon yoki AMD EPYC tizimlari) har bir protsessorning o'z xotira kontrollerlari va unga ulangan DRAM modullari bor. Bitta soketdagi yadro o'z DRAM'iga («mahalliy tugun») to'g'ridan-to'g'ri murojaat qiladi; boshqa soketning DRAM'iga («uzoq tugun») esa protsessorlararo havola (Intel UPI yoki AMD Infinity Fabric) orqali murojaat qiladi. Natijada xotiraga kirish vaqti bir xil emas — bu Non-Uniform Memory Access, qisqacha NUMA. Odatda uzoq murojaat mahalliysidan 1,3–2 marta sekin va havola o'tkazuvchanligi mahalliy DRAM kanallaridan kichik.</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Ko'p soketli serverlarda (masalan, ikki protsessorli Intel Xeon yoki AMD EPYC tizimlari) har bir protsessorning o'z xotira kontrollerlari va unga ulangan DRAM modullari bor. Bitta soketdagi yadro o'z DRAM'iga («mahalliy tugun») to'g'ridan-to'g'ri murojaat qiladi; boshqa soketning DRAM'iga («uzoq tugun») esa protsessorlararo havola (Intel UPI yoki AMD Infinity Fabric) orqali murojaat qiladi. Natijada xotiraga kirish vaqti bir xil emas — bu Non-Uniform Memory Access, qisqacha NUMA. Odatda uzoq murojaat mahalliysidan 1,3–2 marta sekin va havola o'tkazuvchanligi mahalliy DRAM kanallaridan kichik.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AMD EPYC protsessorlarida vaziyat yanada murakkabroq: bitta soket ichida ham bir nechta chiplet (CCD) va I/O kristali bor, shuning uchun BIOS sozlamalariga qarab bitta soket 1, 2 yoki 4 NUMA tuguni sifatida ko'rinishi mumkin (NPS1/NPS2/NPS4 rejimlari). GPU serverlarida esa PCIe kommutatorlari ham NUMA tugunlariga bog'langan: 8 GPU'li DGX-uslubidagi serverda 4 ta GPU birinchi soketga, 4 tasi ikkinchisiga «yaqin». Agar ma'lumot yuklovchi jarayon (dataloader) birinchi soketda ishlab, ikkinchi soketga yaqin GPU'ga ma'lumot yuborsa, har bir partiya (batch) protsessorlararo havoladan o'tadi.</a:t>
            </a:r>
          </a:p>
          <a:p/>
          <a:p>
            <a:r>
              <a:t>Linux yadrosi standart holatda «first-touch» siyosatini qo'llaydi: xotira sahifasi uni birinchi marta yozgan (ishga tushirgan) yadro joylashgan tugunda ajratiladi. Bu ko'pincha to'g'ri ishlaydi, lekin pitfall ham bor: agar bosh ip (thread) katta massivni nol bilan to'ldirib, keyin uni barcha soketlardagi iplarga tarqatsa, butun massiv bitta tugunda yotadi va qolgan soketlar uzoq murojaatga majbur bo'ladi. numactl utilitasi bu siyosatni boshqarish imkonini beradi: --cpunodebind=0 --membind=0 jarayonni faqat 0-tugun yadrolari va xotirasiga bog'laydi, --interleave=all esa sahifalarni tugunlar bo'ylab navbatma-navbat taqsimlaydi — bu o'tkazuvchanlikni yig'adi, lekin o'rtacha kechikishni oshiradi.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Sun'iy intellekt tizimlarida NUMA'ga e'tibor berish uchta joyda muhim: (1) dataloader iplarini GPU'ga yaqin soketga bog'lash; (2) CPU'da inferens qiluvchi xizmatlarni (masalan, ONNX Runtime bilan) har bir soketda alohida nusxa sifatida ishga tushirish; (3) katta embedding jadvallari yoki KV-kesh CPU xotirasiga «chiqarilgan» (offload) holatlarda ularni to'g'ri tugunga joylash.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Qaysi ish yuki xotira bilan chegaralanganini miqdoriy baholash uchun arifmetik intensivlik (arithmetic intensity) tushunchasi ishlatiladi: I = FLOP / bayt — bajarilgan suzuvchi nuqtali amallar sonini xotiradan o'qilgan va yozilgan baytlar soniga bo'lish. Roofline modeli (Williams, Waterman, Patterson, 2009) esa erishiladigan unumdorlikni quyidagicha chegaralaydi:</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Qaysi ish yuki xotira bilan chegaralanganini miqdoriy baholash uchun arifmetik intensivlik (arithmetic intensity) tushunchasi ishlatiladi: I = FLOP / bayt — bajarilgan suzuvchi nuqtali amallar sonini xotiradan o'qilgan va yozilgan baytlar soniga bo'lish. Roofline modeli (Williams, Waterman, Patterson, 2009) esa erishiladigan unumdorlikni quyidagicha chegaralaydi:</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P_erishiladigan = min(P_cho'qqi, B_xotira × I)</a:t>
            </a:r>
          </a:p>
          <a:p/>
          <a:p>
            <a:r>
              <a:t>bu yerda P_cho'qqi — qurilmaning maksimal hisoblash quvvati (FLOP/s), B_xotira — xotira o'tkazuvchanligi (bayt/s). Ikki chiziq kesishgan nuqta — «sinish nuqtasi» (ridge point) — I = P_cho'qqi / B_xotira. H100 uchun FP16 rejimda I ≈ 990e12 / 3,35e12 ≈ 295 FLOP/bayt; FP32 (Tensor Core'siz, ~67 TFLOPS) uchun esa I ≈ 20 FLOP/bayt.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Jadval LLM inferensining mashhur muammosini tushuntiradi: batch hajmi 1 bo'lganda har bir yangi token uchun modelning barcha og'irliklari (70 mlrd parametrli model uchun FP16'da 140 GB) xotiradan o'qiladi, lekin har bir og'irlik faqat bitta ko'paytirish-qo'shish uchun ishlatiladi. Intensivlik ~1 FLOP/bayt, demak H100 o'z quvvatining 1 foizidan kamini ishlatadi va token tezligi faqat HBM o'tkazuvchanligi bilan belgilanadi: 3,35 TB/s ÷ 140 GB ≈ sekundiga 24 token (nazariy chegara). Batch hajmini oshirish intensivlikni deyarli proporsional oshiradi — shuning uchun inferens serverlari so'rovlarni to'playdi (batching).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Bir necha tipik operatsiyaning intensivligi:</a:t>
            </a:r>
          </a:p>
          <a:p/>
          <a:p>
            <a:r>
              <a:t>Jadval LLM inferensining mashhur muammosini tushuntiradi: batch hajmi 1 bo'lganda har bir yangi token uchun modelning barcha og'irliklari (70 mlrd parametrli model uchun FP16'da 140 GB) xotiradan o'qiladi, lekin har bir og'irlik faqat bitta ko'paytirish-qo'shish uchun ishlatiladi. Intensivlik ~1 FLOP/bayt, demak H100 o'z quvvatining 1 foizidan kamini ishlatadi va token tezligi faqat HBM o'tkazuvchanligi bilan belgilanadi: 3,35 TB/s ÷ 140 GB ≈ sekundiga 24 token (nazariy chegara). Batch hajmini oshirish intensivlikni deyarli proporsional oshiradi — shuning uchun inferens serverlari so'rovlarni to'playdi (batching).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Muhandislik amaliyotida quyidagi usullar guruhi ajralib turadi.</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Muhandislik amaliyotida quyidagi usullar guruhi ajralib turadi.</a:t>
            </a:r>
          </a:p>
          <a:p/>
          <a:p>
            <a:r>
              <a:t>Apparat darajasida: HBM (High Bandwidth Memory) — DRAM kristallarini vertikal stakalab, GPU bilan keng (1024+ bit) interfeys orqali ulash; H100'da HBM3, B200'da HBM3e ishlatiladi. Keng L2/L3 keshlar (AMD EPYC Genoa-X'da 1 GB gacha 3D V-Cache). NVLink — GPU'lar orasida PCIe'dan bir necha marta tezroq havola (H100'da 900 GB/s). CXL (Compute Express Link) — CPU xotirasini kengaytirish va keshni izchil ulashish uchun yangi standart.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Algoritm darajasida: tiling (bloklash) — katta matritsani keshga sig'adigan bloklarga bo'lib, har bir blok ustida maksimal ishni bajarish; bu GEMM kutubxonalarining (cuBLAS, oneDNN) asosiy tamoyili. Operator fusion — ketma-ket kelgan xotira bilan chegaralangan operatsiyalarni (masalan, matritsa ko'paytmasi + bias + GELU) bitta kernelga birlashtirish, shunda oraliq natija HBM'ga yozilmaydi va qayta o'qilmaydi; torch.compile va TensorRT aynan shu ishni avtomatlashtiradi. FlashAttention — attention mexanizmini N×N matritsani hech qachon HBM'ga yozmasdan, SRAM'da bloklab hisoblash; bu xotira trafigini kvadratikdan chiziqli darajaga tushiradi va uzun kontekstlarni amalda mumkin qiladi.</a:t>
            </a:r>
          </a:p>
          <a:p/>
          <a:p>
            <a:r>
              <a:t>Tizim darajasida: pinned (sahifalanmaydigan, page-locked) xotira — cudaHostAlloc yoki PyTorch'da pin_memory=True — CPU→GPU nusxalashni DMA orqali to'g'ridan-to'g'ri va asinxron bajarish imkonini beradi; dataloader'da num_workers va prefetch_factor orqali keyingi partiyani oldindan tayyorlash; GPUDirect Storage — NVMe'dan GPU xotirasiga CPU'ni chetlab o'tib o'qish; past aniqlikdagi formatlar (FP16, BF16, FP8, INT8) — bir xil o'tkazuvchanlikda ikki-to'rt barobar ko'p element uzatish (bu M8 mavzusida batafsil ko'riladi).</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Ushbu usullarning barchasini birlashtiruvchi tamoyil bitta: hisoblashni ma'lumot yoniga olib borish, ma'lumotni hisoblash yoniga emas.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44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6900000" y="1466666"/>
            <a:ext cx="1633333"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6900000" y="1950000"/>
            <a:ext cx="1633333"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6900000" y="1950000"/>
            <a:ext cx="1633333"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6900000" y="1950000"/>
            <a:ext cx="1633333" cy="33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6900000" y="1466666"/>
            <a:ext cx="1633333"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6900000" y="2433333"/>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6900000" y="3400000"/>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900000"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900000" y="1466666"/>
            <a:ext cx="1633333" cy="33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6900000" y="2433333"/>
            <a:ext cx="1633333" cy="241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6900000" y="3400000"/>
            <a:ext cx="1633333"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6900000" y="4366666"/>
            <a:ext cx="1633333"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900000" y="4850000"/>
            <a:ext cx="1633333"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533333" y="1466666"/>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33333" y="14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8533333" y="1466666"/>
            <a:ext cx="1633333"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533333" y="1466666"/>
            <a:ext cx="1633333" cy="38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8533333" y="14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533333" y="2433333"/>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533333" y="2433333"/>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533333" y="2433333"/>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533333" y="3400000"/>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33333" y="3400000"/>
            <a:ext cx="1633333" cy="96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533333"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8533333" y="1466666"/>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533333" y="43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8533333" y="2433333"/>
            <a:ext cx="1633333" cy="290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533333" y="3400000"/>
            <a:ext cx="1633333"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8533333" y="4366666"/>
            <a:ext cx="1633333"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533333" y="5333333"/>
            <a:ext cx="1633333"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166666" y="1466666"/>
            <a:ext cx="1633334"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166666" y="1466666"/>
            <a:ext cx="1633334" cy="193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0166666" y="1466666"/>
            <a:ext cx="1633334" cy="33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10166666" y="2433333"/>
            <a:ext cx="1633334" cy="96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166666" y="2433333"/>
            <a:ext cx="1633334" cy="2416667"/>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166666" y="3400000"/>
            <a:ext cx="1633334" cy="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10166666" y="3400000"/>
            <a:ext cx="1633334" cy="1450000"/>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10166666" y="1950000"/>
            <a:ext cx="1633334" cy="241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10166666" y="3400000"/>
            <a:ext cx="1633334" cy="966666"/>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166666" y="4366666"/>
            <a:ext cx="1633334" cy="483334"/>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10166666" y="3400000"/>
            <a:ext cx="1633334" cy="193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166666" y="4850000"/>
            <a:ext cx="1633334" cy="483333"/>
          </a:xfrm>
          <a:prstGeom prst="line">
            <a:avLst/>
          </a:prstGeom>
          <a:ln w="9525">
            <a:solidFill>
              <a:srgbClr val="2E4A8A"/>
            </a:solidFill>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6805000" y="185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6805000" y="330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6805000" y="475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8438333" y="1371666"/>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8438333" y="2338333"/>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8438333" y="3305000"/>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8438333" y="4271666"/>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8438333" y="5238333"/>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071666" y="1371666"/>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Oval 53"/>
          <p:cNvSpPr/>
          <p:nvPr/>
        </p:nvSpPr>
        <p:spPr>
          <a:xfrm>
            <a:off x="10071666" y="2338333"/>
            <a:ext cx="190000" cy="190000"/>
          </a:xfrm>
          <a:prstGeom prst="ellipse">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10071666" y="330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10071666" y="4271666"/>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0071666" y="5238333"/>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1705000" y="185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1705000" y="3305000"/>
            <a:ext cx="190000" cy="190000"/>
          </a:xfrm>
          <a:prstGeom prst="ellipse">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1705000" y="4755000"/>
            <a:ext cx="190000" cy="190000"/>
          </a:xfrm>
          <a:prstGeom prst="ellipse">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700000" y="1350000"/>
            <a:ext cx="3600000" cy="3600000"/>
          </a:xfrm>
          <a:prstGeom prst="ellipse">
            <a:avLst/>
          </a:prstGeom>
          <a:noFill/>
          <a:ln w="381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7550000" y="1200000"/>
            <a:ext cx="3900000" cy="3900000"/>
          </a:xfrm>
          <a:prstGeom prst="ellipse">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3" name="Picture 62" descr="ccaeb3fe5fdc3fe1.jpg"/>
          <p:cNvPicPr>
            <a:picLocks noChangeAspect="1"/>
          </p:cNvPicPr>
          <p:nvPr/>
        </p:nvPicPr>
        <p:blipFill>
          <a:blip r:embed="rId2"/>
          <a:srcRect l="21758" r="21758"/>
          <a:stretch>
            <a:fillRect/>
          </a:stretch>
        </p:blipFill>
        <p:spPr>
          <a:xfrm>
            <a:off x="7850000" y="1500000"/>
            <a:ext cx="3300000" cy="3300000"/>
          </a:xfrm>
          <a:prstGeom prst="ellipse">
            <a:avLst/>
          </a:prstGeom>
          <a:ln w="19050">
            <a:solidFill>
              <a:srgbClr val="22D3EE"/>
            </a:solidFill>
          </a:ln>
        </p:spPr>
      </p:pic>
      <p:sp>
        <p:nvSpPr>
          <p:cNvPr id="64" name="TextBox 63"/>
          <p:cNvSpPr txBox="1"/>
          <p:nvPr/>
        </p:nvSpPr>
        <p:spPr>
          <a:xfrm>
            <a:off x="6900000" y="6350000"/>
            <a:ext cx="5000000" cy="260000"/>
          </a:xfrm>
          <a:prstGeom prst="rect">
            <a:avLst/>
          </a:prstGeom>
          <a:noFill/>
        </p:spPr>
        <p:txBody>
          <a:bodyPr wrap="square" anchor="t" lIns="50800" rIns="50800">
            <a:spAutoFit/>
          </a:bodyPr>
          <a:lstStyle/>
          <a:p>
            <a:pPr algn="r"/>
            <a:r>
              <a:rPr sz="800" b="0">
                <a:solidFill>
                  <a:srgbClr val="707EAA"/>
                </a:solidFill>
                <a:latin typeface="Segoe UI"/>
              </a:rPr>
              <a:t>Rasm: Matt Kieffer · Wikimedia Commons · CC BY-SA 2.0</a:t>
            </a:r>
          </a:p>
        </p:txBody>
      </p:sp>
      <p:sp>
        <p:nvSpPr>
          <p:cNvPr id="65" name="Rounded Rectangle 64"/>
          <p:cNvSpPr/>
          <p:nvPr/>
        </p:nvSpPr>
        <p:spPr>
          <a:xfrm>
            <a:off x="700000" y="1250000"/>
            <a:ext cx="3400000" cy="400000"/>
          </a:xfrm>
          <a:prstGeom prst="roundRect">
            <a:avLst/>
          </a:prstGeom>
          <a:no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300" b="1">
                <a:solidFill>
                  <a:srgbClr val="22D3EE"/>
                </a:solidFill>
                <a:latin typeface="Segoe UI"/>
              </a:rPr>
              <a:t>MA'RUZA · M5 · 2 soat</a:t>
            </a:r>
          </a:p>
        </p:txBody>
      </p:sp>
      <p:sp>
        <p:nvSpPr>
          <p:cNvPr id="66" name="TextBox 65"/>
          <p:cNvSpPr txBox="1"/>
          <p:nvPr/>
        </p:nvSpPr>
        <p:spPr>
          <a:xfrm>
            <a:off x="700000" y="650000"/>
            <a:ext cx="6400000" cy="500000"/>
          </a:xfrm>
          <a:prstGeom prst="rect">
            <a:avLst/>
          </a:prstGeom>
          <a:noFill/>
        </p:spPr>
        <p:txBody>
          <a:bodyPr wrap="square" anchor="t" lIns="50800" rIns="50800">
            <a:spAutoFit/>
          </a:bodyPr>
          <a:lstStyle/>
          <a:p>
            <a:pPr algn="l"/>
            <a:r>
              <a:rPr sz="1400" b="0">
                <a:solidFill>
                  <a:srgbClr val="AEBBD9"/>
                </a:solidFill>
                <a:latin typeface="Segoe UI"/>
              </a:rPr>
              <a:t>Sun'iy intellektga asoslangan kompyuter tizimlari muhandisligi</a:t>
            </a:r>
          </a:p>
        </p:txBody>
      </p:sp>
      <p:sp>
        <p:nvSpPr>
          <p:cNvPr id="67" name="TextBox 66"/>
          <p:cNvSpPr txBox="1"/>
          <p:nvPr/>
        </p:nvSpPr>
        <p:spPr>
          <a:xfrm>
            <a:off x="700000" y="1850000"/>
            <a:ext cx="6400000" cy="2700000"/>
          </a:xfrm>
          <a:prstGeom prst="rect">
            <a:avLst/>
          </a:prstGeom>
          <a:noFill/>
        </p:spPr>
        <p:txBody>
          <a:bodyPr wrap="square" anchor="t" lIns="50800" rIns="50800">
            <a:spAutoFit/>
          </a:bodyPr>
          <a:lstStyle/>
          <a:p>
            <a:pPr algn="l"/>
            <a:r>
              <a:rPr sz="3600" b="1">
                <a:solidFill>
                  <a:srgbClr val="E8EEFA"/>
                </a:solidFill>
                <a:latin typeface="Segoe UI"/>
              </a:rPr>
              <a:t>Arxitektura va dizayn tamoyillari</a:t>
            </a:r>
          </a:p>
        </p:txBody>
      </p:sp>
      <p:sp>
        <p:nvSpPr>
          <p:cNvPr id="68" name="Rectangle 67"/>
          <p:cNvSpPr/>
          <p:nvPr/>
        </p:nvSpPr>
        <p:spPr>
          <a:xfrm>
            <a:off x="760000" y="4650000"/>
            <a:ext cx="26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00000" y="4850000"/>
            <a:ext cx="6400000" cy="1200000"/>
          </a:xfrm>
          <a:prstGeom prst="rect">
            <a:avLst/>
          </a:prstGeom>
          <a:noFill/>
        </p:spPr>
        <p:txBody>
          <a:bodyPr wrap="square" anchor="t" lIns="50800" rIns="50800">
            <a:spAutoFit/>
          </a:bodyPr>
          <a:lstStyle/>
          <a:p>
            <a:pPr algn="l"/>
            <a:r>
              <a:rPr sz="1400" b="0">
                <a:solidFill>
                  <a:srgbClr val="AEBBD9"/>
                </a:solidFill>
                <a:latin typeface="Segoe UI"/>
              </a:rPr>
              <a:t>O‘qituvchi: S.Iskandarova, t.f.f.d. (PhD), dotsent</a:t>
            </a:r>
          </a:p>
          <a:p>
            <a:pPr algn="l"/>
            <a:r>
              <a:rPr sz="1400" b="0">
                <a:solidFill>
                  <a:srgbClr val="AEBBD9"/>
                </a:solidFill>
                <a:latin typeface="Segoe UI"/>
              </a:rPr>
              <a:t>2026-2027 o‘quv yili</a:t>
            </a:r>
          </a:p>
          <a:p>
            <a:pPr algn="l"/>
            <a:r>
              <a:rPr sz="1400" b="0">
                <a:solidFill>
                  <a:srgbClr val="AEBBD9"/>
                </a:solidFill>
                <a:latin typeface="Segoe UI"/>
              </a:rPr>
              <a:t>https://aiscan.airi.uz/ktm/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8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0"/>
                            </p:stCondLst>
                            <p:childTnLst>
                              <p:par>
                                <p:cTn id="168" presetID="10" presetClass="entr" presetSubtype="0"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childTnLst>
                                </p:cTn>
                              </p:par>
                            </p:childTnLst>
                          </p:cTn>
                        </p:par>
                        <p:par>
                          <p:cTn id="171" fill="hold">
                            <p:stCondLst>
                              <p:cond delay="0"/>
                            </p:stCondLst>
                            <p:childTnLst>
                              <p:par>
                                <p:cTn id="172" presetID="10" presetClass="entr" presetSubtype="0" fill="hold" grpId="0" nodeType="after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fade">
                                      <p:cBhvr>
                                        <p:cTn id="174" dur="550"/>
                                        <p:tgtEl>
                                          <p:spTgt spid="45"/>
                                        </p:tgtEl>
                                      </p:cBhvr>
                                    </p:animEffect>
                                  </p:childTnLst>
                                </p:cTn>
                              </p:par>
                            </p:childTnLst>
                          </p:cTn>
                        </p:par>
                        <p:par>
                          <p:cTn id="175" fill="hold">
                            <p:stCondLst>
                              <p:cond delay="0"/>
                            </p:stCondLst>
                            <p:childTnLst>
                              <p:par>
                                <p:cTn id="176" presetID="10" presetClass="entr" presetSubtype="0" fill="hold" grpId="0" nodeType="after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fade">
                                      <p:cBhvr>
                                        <p:cTn id="178" dur="550"/>
                                        <p:tgtEl>
                                          <p:spTgt spid="46"/>
                                        </p:tgtEl>
                                      </p:cBhvr>
                                    </p:animEffect>
                                  </p:childTnLst>
                                </p:cTn>
                              </p:par>
                            </p:childTnLst>
                          </p:cTn>
                        </p:par>
                        <p:par>
                          <p:cTn id="179" fill="hold">
                            <p:stCondLst>
                              <p:cond delay="0"/>
                            </p:stCondLst>
                            <p:childTnLst>
                              <p:par>
                                <p:cTn id="180" presetID="10" presetClass="entr" presetSubtype="0" fill="hold" grpId="0" nodeType="after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fade">
                                      <p:cBhvr>
                                        <p:cTn id="182" dur="550"/>
                                        <p:tgtEl>
                                          <p:spTgt spid="47"/>
                                        </p:tgtEl>
                                      </p:cBhvr>
                                    </p:animEffect>
                                  </p:childTnLst>
                                </p:cTn>
                              </p:par>
                            </p:childTnLst>
                          </p:cTn>
                        </p:par>
                        <p:par>
                          <p:cTn id="183" fill="hold">
                            <p:stCondLst>
                              <p:cond delay="0"/>
                            </p:stCondLst>
                            <p:childTnLst>
                              <p:par>
                                <p:cTn id="184" presetID="10" presetClass="entr" presetSubtype="0" fill="hold" grpId="0"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fade">
                                      <p:cBhvr>
                                        <p:cTn id="186" dur="550"/>
                                        <p:tgtEl>
                                          <p:spTgt spid="48"/>
                                        </p:tgtEl>
                                      </p:cBhvr>
                                    </p:animEffect>
                                  </p:childTnLst>
                                </p:cTn>
                              </p:par>
                            </p:childTnLst>
                          </p:cTn>
                        </p:par>
                        <p:par>
                          <p:cTn id="187" fill="hold">
                            <p:stCondLst>
                              <p:cond delay="0"/>
                            </p:stCondLst>
                            <p:childTnLst>
                              <p:par>
                                <p:cTn id="188" presetID="10" presetClass="entr" presetSubtype="0" fill="hold" grpId="0" nodeType="after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fade">
                                      <p:cBhvr>
                                        <p:cTn id="190" dur="550"/>
                                        <p:tgtEl>
                                          <p:spTgt spid="49"/>
                                        </p:tgtEl>
                                      </p:cBhvr>
                                    </p:animEffect>
                                  </p:childTnLst>
                                </p:cTn>
                              </p:par>
                            </p:childTnLst>
                          </p:cTn>
                        </p:par>
                        <p:par>
                          <p:cTn id="191" fill="hold">
                            <p:stCondLst>
                              <p:cond delay="0"/>
                            </p:stCondLst>
                            <p:childTnLst>
                              <p:par>
                                <p:cTn id="192" presetID="10" presetClass="entr" presetSubtype="0" fill="hold" grpId="0" nodeType="afterEffect">
                                  <p:stCondLst>
                                    <p:cond delay="0"/>
                                  </p:stCondLst>
                                  <p:childTnLst>
                                    <p:set>
                                      <p:cBhvr>
                                        <p:cTn id="193" dur="1" fill="hold">
                                          <p:stCondLst>
                                            <p:cond delay="0"/>
                                          </p:stCondLst>
                                        </p:cTn>
                                        <p:tgtEl>
                                          <p:spTgt spid="50"/>
                                        </p:tgtEl>
                                        <p:attrNameLst>
                                          <p:attrName>style.visibility</p:attrName>
                                        </p:attrNameLst>
                                      </p:cBhvr>
                                      <p:to>
                                        <p:strVal val="visible"/>
                                      </p:to>
                                    </p:set>
                                    <p:animEffect transition="in" filter="fade">
                                      <p:cBhvr>
                                        <p:cTn id="194" dur="550"/>
                                        <p:tgtEl>
                                          <p:spTgt spid="50"/>
                                        </p:tgtEl>
                                      </p:cBhvr>
                                    </p:animEffect>
                                  </p:childTnLst>
                                </p:cTn>
                              </p:par>
                            </p:childTnLst>
                          </p:cTn>
                        </p:par>
                        <p:par>
                          <p:cTn id="195" fill="hold">
                            <p:stCondLst>
                              <p:cond delay="0"/>
                            </p:stCondLst>
                            <p:childTnLst>
                              <p:par>
                                <p:cTn id="196" presetID="10" presetClass="entr" presetSubtype="0" fill="hold" grpId="0" nodeType="afterEffect">
                                  <p:stCondLst>
                                    <p:cond delay="0"/>
                                  </p:stCondLst>
                                  <p:childTnLst>
                                    <p:set>
                                      <p:cBhvr>
                                        <p:cTn id="197" dur="1" fill="hold">
                                          <p:stCondLst>
                                            <p:cond delay="0"/>
                                          </p:stCondLst>
                                        </p:cTn>
                                        <p:tgtEl>
                                          <p:spTgt spid="51"/>
                                        </p:tgtEl>
                                        <p:attrNameLst>
                                          <p:attrName>style.visibility</p:attrName>
                                        </p:attrNameLst>
                                      </p:cBhvr>
                                      <p:to>
                                        <p:strVal val="visible"/>
                                      </p:to>
                                    </p:set>
                                    <p:animEffect transition="in" filter="fade">
                                      <p:cBhvr>
                                        <p:cTn id="198" dur="550"/>
                                        <p:tgtEl>
                                          <p:spTgt spid="51"/>
                                        </p:tgtEl>
                                      </p:cBhvr>
                                    </p:animEffect>
                                  </p:childTnLst>
                                </p:cTn>
                              </p:par>
                            </p:childTnLst>
                          </p:cTn>
                        </p:par>
                        <p:par>
                          <p:cTn id="199" fill="hold">
                            <p:stCondLst>
                              <p:cond delay="0"/>
                            </p:stCondLst>
                            <p:childTnLst>
                              <p:par>
                                <p:cTn id="200" presetID="10" presetClass="entr" presetSubtype="0" fill="hold" grpId="0" nodeType="after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fade">
                                      <p:cBhvr>
                                        <p:cTn id="202" dur="550"/>
                                        <p:tgtEl>
                                          <p:spTgt spid="52"/>
                                        </p:tgtEl>
                                      </p:cBhvr>
                                    </p:animEffect>
                                  </p:childTnLst>
                                </p:cTn>
                              </p:par>
                            </p:childTnLst>
                          </p:cTn>
                        </p:par>
                        <p:par>
                          <p:cTn id="203" fill="hold">
                            <p:stCondLst>
                              <p:cond delay="0"/>
                            </p:stCondLst>
                            <p:childTnLst>
                              <p:par>
                                <p:cTn id="204" presetID="10" presetClass="entr" presetSubtype="0" fill="hold" grpId="0" nodeType="afterEffect">
                                  <p:stCondLst>
                                    <p:cond delay="0"/>
                                  </p:stCondLst>
                                  <p:childTnLst>
                                    <p:set>
                                      <p:cBhvr>
                                        <p:cTn id="205" dur="1" fill="hold">
                                          <p:stCondLst>
                                            <p:cond delay="0"/>
                                          </p:stCondLst>
                                        </p:cTn>
                                        <p:tgtEl>
                                          <p:spTgt spid="53"/>
                                        </p:tgtEl>
                                        <p:attrNameLst>
                                          <p:attrName>style.visibility</p:attrName>
                                        </p:attrNameLst>
                                      </p:cBhvr>
                                      <p:to>
                                        <p:strVal val="visible"/>
                                      </p:to>
                                    </p:set>
                                    <p:animEffect transition="in" filter="fade">
                                      <p:cBhvr>
                                        <p:cTn id="206" dur="550"/>
                                        <p:tgtEl>
                                          <p:spTgt spid="53"/>
                                        </p:tgtEl>
                                      </p:cBhvr>
                                    </p:animEffect>
                                  </p:childTnLst>
                                </p:cTn>
                              </p:par>
                            </p:childTnLst>
                          </p:cTn>
                        </p:par>
                        <p:par>
                          <p:cTn id="207" fill="hold">
                            <p:stCondLst>
                              <p:cond delay="0"/>
                            </p:stCondLst>
                            <p:childTnLst>
                              <p:par>
                                <p:cTn id="208" presetID="10" presetClass="entr" presetSubtype="0" fill="hold" grpId="0" nodeType="afterEffect">
                                  <p:stCondLst>
                                    <p:cond delay="0"/>
                                  </p:stCondLst>
                                  <p:childTnLst>
                                    <p:set>
                                      <p:cBhvr>
                                        <p:cTn id="209" dur="1" fill="hold">
                                          <p:stCondLst>
                                            <p:cond delay="0"/>
                                          </p:stCondLst>
                                        </p:cTn>
                                        <p:tgtEl>
                                          <p:spTgt spid="54"/>
                                        </p:tgtEl>
                                        <p:attrNameLst>
                                          <p:attrName>style.visibility</p:attrName>
                                        </p:attrNameLst>
                                      </p:cBhvr>
                                      <p:to>
                                        <p:strVal val="visible"/>
                                      </p:to>
                                    </p:set>
                                    <p:animEffect transition="in" filter="fade">
                                      <p:cBhvr>
                                        <p:cTn id="210" dur="550"/>
                                        <p:tgtEl>
                                          <p:spTgt spid="54"/>
                                        </p:tgtEl>
                                      </p:cBhvr>
                                    </p:animEffect>
                                  </p:childTnLst>
                                </p:cTn>
                              </p:par>
                            </p:childTnLst>
                          </p:cTn>
                        </p:par>
                        <p:par>
                          <p:cTn id="211" fill="hold">
                            <p:stCondLst>
                              <p:cond delay="0"/>
                            </p:stCondLst>
                            <p:childTnLst>
                              <p:par>
                                <p:cTn id="212" presetID="10" presetClass="entr" presetSubtype="0" fill="hold" grpId="0" nodeType="afterEffect">
                                  <p:stCondLst>
                                    <p:cond delay="0"/>
                                  </p:stCondLst>
                                  <p:childTnLst>
                                    <p:set>
                                      <p:cBhvr>
                                        <p:cTn id="213" dur="1" fill="hold">
                                          <p:stCondLst>
                                            <p:cond delay="0"/>
                                          </p:stCondLst>
                                        </p:cTn>
                                        <p:tgtEl>
                                          <p:spTgt spid="55"/>
                                        </p:tgtEl>
                                        <p:attrNameLst>
                                          <p:attrName>style.visibility</p:attrName>
                                        </p:attrNameLst>
                                      </p:cBhvr>
                                      <p:to>
                                        <p:strVal val="visible"/>
                                      </p:to>
                                    </p:set>
                                    <p:animEffect transition="in" filter="fade">
                                      <p:cBhvr>
                                        <p:cTn id="214" dur="550"/>
                                        <p:tgtEl>
                                          <p:spTgt spid="55"/>
                                        </p:tgtEl>
                                      </p:cBhvr>
                                    </p:animEffect>
                                  </p:childTnLst>
                                </p:cTn>
                              </p:par>
                            </p:childTnLst>
                          </p:cTn>
                        </p:par>
                        <p:par>
                          <p:cTn id="215" fill="hold">
                            <p:stCondLst>
                              <p:cond delay="0"/>
                            </p:stCondLst>
                            <p:childTnLst>
                              <p:par>
                                <p:cTn id="216" presetID="10" presetClass="entr" presetSubtype="0" fill="hold" grpId="0" nodeType="afterEffect">
                                  <p:stCondLst>
                                    <p:cond delay="0"/>
                                  </p:stCondLst>
                                  <p:childTnLst>
                                    <p:set>
                                      <p:cBhvr>
                                        <p:cTn id="217" dur="1" fill="hold">
                                          <p:stCondLst>
                                            <p:cond delay="0"/>
                                          </p:stCondLst>
                                        </p:cTn>
                                        <p:tgtEl>
                                          <p:spTgt spid="56"/>
                                        </p:tgtEl>
                                        <p:attrNameLst>
                                          <p:attrName>style.visibility</p:attrName>
                                        </p:attrNameLst>
                                      </p:cBhvr>
                                      <p:to>
                                        <p:strVal val="visible"/>
                                      </p:to>
                                    </p:set>
                                    <p:animEffect transition="in" filter="fade">
                                      <p:cBhvr>
                                        <p:cTn id="218" dur="550"/>
                                        <p:tgtEl>
                                          <p:spTgt spid="56"/>
                                        </p:tgtEl>
                                      </p:cBhvr>
                                    </p:animEffect>
                                  </p:childTnLst>
                                </p:cTn>
                              </p:par>
                            </p:childTnLst>
                          </p:cTn>
                        </p:par>
                        <p:par>
                          <p:cTn id="219" fill="hold">
                            <p:stCondLst>
                              <p:cond delay="0"/>
                            </p:stCondLst>
                            <p:childTnLst>
                              <p:par>
                                <p:cTn id="220" presetID="10" presetClass="entr" presetSubtype="0" fill="hold" grpId="0" nodeType="afterEffect">
                                  <p:stCondLst>
                                    <p:cond delay="0"/>
                                  </p:stCondLst>
                                  <p:childTnLst>
                                    <p:set>
                                      <p:cBhvr>
                                        <p:cTn id="221" dur="1" fill="hold">
                                          <p:stCondLst>
                                            <p:cond delay="0"/>
                                          </p:stCondLst>
                                        </p:cTn>
                                        <p:tgtEl>
                                          <p:spTgt spid="57"/>
                                        </p:tgtEl>
                                        <p:attrNameLst>
                                          <p:attrName>style.visibility</p:attrName>
                                        </p:attrNameLst>
                                      </p:cBhvr>
                                      <p:to>
                                        <p:strVal val="visible"/>
                                      </p:to>
                                    </p:set>
                                    <p:animEffect transition="in" filter="fade">
                                      <p:cBhvr>
                                        <p:cTn id="222" dur="550"/>
                                        <p:tgtEl>
                                          <p:spTgt spid="57"/>
                                        </p:tgtEl>
                                      </p:cBhvr>
                                    </p:animEffect>
                                  </p:childTnLst>
                                </p:cTn>
                              </p:par>
                            </p:childTnLst>
                          </p:cTn>
                        </p:par>
                        <p:par>
                          <p:cTn id="223" fill="hold">
                            <p:stCondLst>
                              <p:cond delay="0"/>
                            </p:stCondLst>
                            <p:childTnLst>
                              <p:par>
                                <p:cTn id="224" presetID="10" presetClass="entr" presetSubtype="0" fill="hold" grpId="0" nodeType="afterEffect">
                                  <p:stCondLst>
                                    <p:cond delay="0"/>
                                  </p:stCondLst>
                                  <p:childTnLst>
                                    <p:set>
                                      <p:cBhvr>
                                        <p:cTn id="225" dur="1" fill="hold">
                                          <p:stCondLst>
                                            <p:cond delay="0"/>
                                          </p:stCondLst>
                                        </p:cTn>
                                        <p:tgtEl>
                                          <p:spTgt spid="58"/>
                                        </p:tgtEl>
                                        <p:attrNameLst>
                                          <p:attrName>style.visibility</p:attrName>
                                        </p:attrNameLst>
                                      </p:cBhvr>
                                      <p:to>
                                        <p:strVal val="visible"/>
                                      </p:to>
                                    </p:set>
                                    <p:animEffect transition="in" filter="fade">
                                      <p:cBhvr>
                                        <p:cTn id="226" dur="550"/>
                                        <p:tgtEl>
                                          <p:spTgt spid="58"/>
                                        </p:tgtEl>
                                      </p:cBhvr>
                                    </p:animEffect>
                                  </p:childTnLst>
                                </p:cTn>
                              </p:par>
                            </p:childTnLst>
                          </p:cTn>
                        </p:par>
                        <p:par>
                          <p:cTn id="227" fill="hold">
                            <p:stCondLst>
                              <p:cond delay="0"/>
                            </p:stCondLst>
                            <p:childTnLst>
                              <p:par>
                                <p:cTn id="228" presetID="10" presetClass="entr" presetSubtype="0" fill="hold" grpId="0" nodeType="afterEffect">
                                  <p:stCondLst>
                                    <p:cond delay="0"/>
                                  </p:stCondLst>
                                  <p:childTnLst>
                                    <p:set>
                                      <p:cBhvr>
                                        <p:cTn id="229" dur="1" fill="hold">
                                          <p:stCondLst>
                                            <p:cond delay="0"/>
                                          </p:stCondLst>
                                        </p:cTn>
                                        <p:tgtEl>
                                          <p:spTgt spid="59"/>
                                        </p:tgtEl>
                                        <p:attrNameLst>
                                          <p:attrName>style.visibility</p:attrName>
                                        </p:attrNameLst>
                                      </p:cBhvr>
                                      <p:to>
                                        <p:strVal val="visible"/>
                                      </p:to>
                                    </p:set>
                                    <p:animEffect transition="in" filter="fade">
                                      <p:cBhvr>
                                        <p:cTn id="230" dur="550"/>
                                        <p:tgtEl>
                                          <p:spTgt spid="59"/>
                                        </p:tgtEl>
                                      </p:cBhvr>
                                    </p:animEffect>
                                  </p:childTnLst>
                                </p:cTn>
                              </p:par>
                            </p:childTnLst>
                          </p:cTn>
                        </p:par>
                        <p:par>
                          <p:cTn id="231" fill="hold">
                            <p:stCondLst>
                              <p:cond delay="0"/>
                            </p:stCondLst>
                            <p:childTnLst>
                              <p:par>
                                <p:cTn id="232" presetID="10" presetClass="entr" presetSubtype="0" fill="hold" grpId="0" nodeType="afterEffect">
                                  <p:stCondLst>
                                    <p:cond delay="0"/>
                                  </p:stCondLst>
                                  <p:childTnLst>
                                    <p:set>
                                      <p:cBhvr>
                                        <p:cTn id="233" dur="1" fill="hold">
                                          <p:stCondLst>
                                            <p:cond delay="0"/>
                                          </p:stCondLst>
                                        </p:cTn>
                                        <p:tgtEl>
                                          <p:spTgt spid="60"/>
                                        </p:tgtEl>
                                        <p:attrNameLst>
                                          <p:attrName>style.visibility</p:attrName>
                                        </p:attrNameLst>
                                      </p:cBhvr>
                                      <p:to>
                                        <p:strVal val="visible"/>
                                      </p:to>
                                    </p:set>
                                    <p:animEffect transition="in" filter="fade">
                                      <p:cBhvr>
                                        <p:cTn id="234" dur="550"/>
                                        <p:tgtEl>
                                          <p:spTgt spid="60"/>
                                        </p:tgtEl>
                                      </p:cBhvr>
                                    </p:animEffect>
                                  </p:childTnLst>
                                </p:cTn>
                              </p:par>
                            </p:childTnLst>
                          </p:cTn>
                        </p:par>
                        <p:par>
                          <p:cTn id="235" fill="hold">
                            <p:stCondLst>
                              <p:cond delay="200"/>
                            </p:stCondLst>
                            <p:childTnLst>
                              <p:par>
                                <p:cTn id="236" presetID="53" presetClass="entr" presetSubtype="16" fill="hold" grpId="0" nodeType="afterEffect">
                                  <p:stCondLst>
                                    <p:cond delay="0"/>
                                  </p:stCondLst>
                                  <p:childTnLst>
                                    <p:set>
                                      <p:cBhvr>
                                        <p:cTn id="237" dur="1" fill="hold">
                                          <p:stCondLst>
                                            <p:cond delay="0"/>
                                          </p:stCondLst>
                                        </p:cTn>
                                        <p:tgtEl>
                                          <p:spTgt spid="62"/>
                                        </p:tgtEl>
                                        <p:attrNameLst>
                                          <p:attrName>style.visibility</p:attrName>
                                        </p:attrNameLst>
                                      </p:cBhvr>
                                      <p:to>
                                        <p:strVal val="visible"/>
                                      </p:to>
                                    </p:set>
                                    <p:animEffect transition="in" filter="fade">
                                      <p:cBhvr>
                                        <p:cTn id="238" dur="550"/>
                                        <p:tgtEl>
                                          <p:spTgt spid="62"/>
                                        </p:tgtEl>
                                      </p:cBhvr>
                                    </p:animEffect>
                                    <p:anim calcmode="lin" valueType="num">
                                      <p:cBhvr additive="base">
                                        <p:cTn id="239" dur="550" fill="hold"/>
                                        <p:tgtEl>
                                          <p:spTgt spid="62"/>
                                        </p:tgtEl>
                                        <p:attrNameLst>
                                          <p:attrName>ppt_w</p:attrName>
                                        </p:attrNameLst>
                                      </p:cBhvr>
                                      <p:tavLst>
                                        <p:tav tm="0">
                                          <p:val>
                                            <p:strVal val="0"/>
                                          </p:val>
                                        </p:tav>
                                        <p:tav tm="100000">
                                          <p:val>
                                            <p:strVal val="#ppt_w"/>
                                          </p:val>
                                        </p:tav>
                                      </p:tavLst>
                                    </p:anim>
                                    <p:anim calcmode="lin" valueType="num">
                                      <p:cBhvr additive="base">
                                        <p:cTn id="240" dur="550" fill="hold"/>
                                        <p:tgtEl>
                                          <p:spTgt spid="62"/>
                                        </p:tgtEl>
                                        <p:attrNameLst>
                                          <p:attrName>ppt_h</p:attrName>
                                        </p:attrNameLst>
                                      </p:cBhvr>
                                      <p:tavLst>
                                        <p:tav tm="0">
                                          <p:val>
                                            <p:strVal val="0"/>
                                          </p:val>
                                        </p:tav>
                                        <p:tav tm="100000">
                                          <p:val>
                                            <p:strVal val="#ppt_h"/>
                                          </p:val>
                                        </p:tav>
                                      </p:tavLst>
                                    </p:anim>
                                  </p:childTnLst>
                                </p:cTn>
                              </p:par>
                            </p:childTnLst>
                          </p:cTn>
                        </p:par>
                        <p:par>
                          <p:cTn id="241" fill="hold">
                            <p:stCondLst>
                              <p:cond delay="200"/>
                            </p:stCondLst>
                            <p:childTnLst>
                              <p:par>
                                <p:cTn id="242" presetID="53" presetClass="entr" presetSubtype="16" fill="hold" grpId="0" nodeType="afterEffect">
                                  <p:stCondLst>
                                    <p:cond delay="0"/>
                                  </p:stCondLst>
                                  <p:childTnLst>
                                    <p:set>
                                      <p:cBhvr>
                                        <p:cTn id="243" dur="1" fill="hold">
                                          <p:stCondLst>
                                            <p:cond delay="0"/>
                                          </p:stCondLst>
                                        </p:cTn>
                                        <p:tgtEl>
                                          <p:spTgt spid="61"/>
                                        </p:tgtEl>
                                        <p:attrNameLst>
                                          <p:attrName>style.visibility</p:attrName>
                                        </p:attrNameLst>
                                      </p:cBhvr>
                                      <p:to>
                                        <p:strVal val="visible"/>
                                      </p:to>
                                    </p:set>
                                    <p:animEffect transition="in" filter="fade">
                                      <p:cBhvr>
                                        <p:cTn id="244" dur="550"/>
                                        <p:tgtEl>
                                          <p:spTgt spid="61"/>
                                        </p:tgtEl>
                                      </p:cBhvr>
                                    </p:animEffect>
                                    <p:anim calcmode="lin" valueType="num">
                                      <p:cBhvr additive="base">
                                        <p:cTn id="245" dur="550" fill="hold"/>
                                        <p:tgtEl>
                                          <p:spTgt spid="61"/>
                                        </p:tgtEl>
                                        <p:attrNameLst>
                                          <p:attrName>ppt_w</p:attrName>
                                        </p:attrNameLst>
                                      </p:cBhvr>
                                      <p:tavLst>
                                        <p:tav tm="0">
                                          <p:val>
                                            <p:strVal val="0"/>
                                          </p:val>
                                        </p:tav>
                                        <p:tav tm="100000">
                                          <p:val>
                                            <p:strVal val="#ppt_w"/>
                                          </p:val>
                                        </p:tav>
                                      </p:tavLst>
                                    </p:anim>
                                    <p:anim calcmode="lin" valueType="num">
                                      <p:cBhvr additive="base">
                                        <p:cTn id="246" dur="550" fill="hold"/>
                                        <p:tgtEl>
                                          <p:spTgt spid="61"/>
                                        </p:tgtEl>
                                        <p:attrNameLst>
                                          <p:attrName>ppt_h</p:attrName>
                                        </p:attrNameLst>
                                      </p:cBhvr>
                                      <p:tavLst>
                                        <p:tav tm="0">
                                          <p:val>
                                            <p:strVal val="0"/>
                                          </p:val>
                                        </p:tav>
                                        <p:tav tm="100000">
                                          <p:val>
                                            <p:strVal val="#ppt_h"/>
                                          </p:val>
                                        </p:tav>
                                      </p:tavLst>
                                    </p:anim>
                                  </p:childTnLst>
                                </p:cTn>
                              </p:par>
                            </p:childTnLst>
                          </p:cTn>
                        </p:par>
                        <p:par>
                          <p:cTn id="247" fill="hold">
                            <p:stCondLst>
                              <p:cond delay="200"/>
                            </p:stCondLst>
                            <p:childTnLst>
                              <p:par>
                                <p:cTn id="248" presetID="53" presetClass="entr" presetSubtype="16" fill="hold" grpId="0" nodeType="afterEffect">
                                  <p:stCondLst>
                                    <p:cond delay="0"/>
                                  </p:stCondLst>
                                  <p:childTnLst>
                                    <p:set>
                                      <p:cBhvr>
                                        <p:cTn id="249" dur="1" fill="hold">
                                          <p:stCondLst>
                                            <p:cond delay="0"/>
                                          </p:stCondLst>
                                        </p:cTn>
                                        <p:tgtEl>
                                          <p:spTgt spid="63"/>
                                        </p:tgtEl>
                                        <p:attrNameLst>
                                          <p:attrName>style.visibility</p:attrName>
                                        </p:attrNameLst>
                                      </p:cBhvr>
                                      <p:to>
                                        <p:strVal val="visible"/>
                                      </p:to>
                                    </p:set>
                                    <p:animEffect transition="in" filter="fade">
                                      <p:cBhvr>
                                        <p:cTn id="250" dur="550"/>
                                        <p:tgtEl>
                                          <p:spTgt spid="63"/>
                                        </p:tgtEl>
                                      </p:cBhvr>
                                    </p:animEffect>
                                    <p:anim calcmode="lin" valueType="num">
                                      <p:cBhvr additive="base">
                                        <p:cTn id="251" dur="550" fill="hold"/>
                                        <p:tgtEl>
                                          <p:spTgt spid="63"/>
                                        </p:tgtEl>
                                        <p:attrNameLst>
                                          <p:attrName>ppt_w</p:attrName>
                                        </p:attrNameLst>
                                      </p:cBhvr>
                                      <p:tavLst>
                                        <p:tav tm="0">
                                          <p:val>
                                            <p:strVal val="0"/>
                                          </p:val>
                                        </p:tav>
                                        <p:tav tm="100000">
                                          <p:val>
                                            <p:strVal val="#ppt_w"/>
                                          </p:val>
                                        </p:tav>
                                      </p:tavLst>
                                    </p:anim>
                                    <p:anim calcmode="lin" valueType="num">
                                      <p:cBhvr additive="base">
                                        <p:cTn id="252" dur="550" fill="hold"/>
                                        <p:tgtEl>
                                          <p:spTgt spid="63"/>
                                        </p:tgtEl>
                                        <p:attrNameLst>
                                          <p:attrName>ppt_h</p:attrName>
                                        </p:attrNameLst>
                                      </p:cBhvr>
                                      <p:tavLst>
                                        <p:tav tm="0">
                                          <p:val>
                                            <p:strVal val="0"/>
                                          </p:val>
                                        </p:tav>
                                        <p:tav tm="100000">
                                          <p:val>
                                            <p:strVal val="#ppt_h"/>
                                          </p:val>
                                        </p:tav>
                                      </p:tavLst>
                                    </p:anim>
                                  </p:childTnLst>
                                </p:cTn>
                              </p:par>
                            </p:childTnLst>
                          </p:cTn>
                        </p:par>
                        <p:par>
                          <p:cTn id="253" fill="hold">
                            <p:stCondLst>
                              <p:cond delay="200"/>
                            </p:stCondLst>
                            <p:childTnLst>
                              <p:par>
                                <p:cTn id="254" presetID="10" presetClass="entr" presetSubtype="0" fill="hold" grpId="0" nodeType="afterEffect">
                                  <p:stCondLst>
                                    <p:cond delay="0"/>
                                  </p:stCondLst>
                                  <p:childTnLst>
                                    <p:set>
                                      <p:cBhvr>
                                        <p:cTn id="255" dur="1" fill="hold">
                                          <p:stCondLst>
                                            <p:cond delay="0"/>
                                          </p:stCondLst>
                                        </p:cTn>
                                        <p:tgtEl>
                                          <p:spTgt spid="64"/>
                                        </p:tgtEl>
                                        <p:attrNameLst>
                                          <p:attrName>style.visibility</p:attrName>
                                        </p:attrNameLst>
                                      </p:cBhvr>
                                      <p:to>
                                        <p:strVal val="visible"/>
                                      </p:to>
                                    </p:set>
                                    <p:animEffect transition="in" filter="fade">
                                      <p:cBhvr>
                                        <p:cTn id="256" dur="550"/>
                                        <p:tgtEl>
                                          <p:spTgt spid="64"/>
                                        </p:tgtEl>
                                      </p:cBhvr>
                                    </p:animEffect>
                                  </p:childTnLst>
                                </p:cTn>
                              </p:par>
                            </p:childTnLst>
                          </p:cTn>
                        </p:par>
                        <p:par>
                          <p:cTn id="257" fill="hold">
                            <p:stCondLst>
                              <p:cond delay="350"/>
                            </p:stCondLst>
                            <p:childTnLst>
                              <p:par>
                                <p:cTn id="258" presetID="10" presetClass="entr" presetSubtype="0" fill="hold" grpId="0" nodeType="afterEffect">
                                  <p:stCondLst>
                                    <p:cond delay="0"/>
                                  </p:stCondLst>
                                  <p:childTnLst>
                                    <p:set>
                                      <p:cBhvr>
                                        <p:cTn id="259" dur="1" fill="hold">
                                          <p:stCondLst>
                                            <p:cond delay="0"/>
                                          </p:stCondLst>
                                        </p:cTn>
                                        <p:tgtEl>
                                          <p:spTgt spid="66"/>
                                        </p:tgtEl>
                                        <p:attrNameLst>
                                          <p:attrName>style.visibility</p:attrName>
                                        </p:attrNameLst>
                                      </p:cBhvr>
                                      <p:to>
                                        <p:strVal val="visible"/>
                                      </p:to>
                                    </p:set>
                                    <p:animEffect transition="in" filter="fade">
                                      <p:cBhvr>
                                        <p:cTn id="260" dur="550"/>
                                        <p:tgtEl>
                                          <p:spTgt spid="66"/>
                                        </p:tgtEl>
                                      </p:cBhvr>
                                    </p:animEffect>
                                  </p:childTnLst>
                                </p:cTn>
                              </p:par>
                            </p:childTnLst>
                          </p:cTn>
                        </p:par>
                        <p:par>
                          <p:cTn id="261" fill="hold">
                            <p:stCondLst>
                              <p:cond delay="500"/>
                            </p:stCondLst>
                            <p:childTnLst>
                              <p:par>
                                <p:cTn id="262" presetID="2" presetClass="entr" presetSubtype="8" fill="hold" grpId="0" nodeType="afterEffect">
                                  <p:stCondLst>
                                    <p:cond delay="0"/>
                                  </p:stCondLst>
                                  <p:childTnLst>
                                    <p:set>
                                      <p:cBhvr>
                                        <p:cTn id="263" dur="1" fill="hold">
                                          <p:stCondLst>
                                            <p:cond delay="0"/>
                                          </p:stCondLst>
                                        </p:cTn>
                                        <p:tgtEl>
                                          <p:spTgt spid="65"/>
                                        </p:tgtEl>
                                        <p:attrNameLst>
                                          <p:attrName>style.visibility</p:attrName>
                                        </p:attrNameLst>
                                      </p:cBhvr>
                                      <p:to>
                                        <p:strVal val="visible"/>
                                      </p:to>
                                    </p:set>
                                    <p:anim calcmode="lin" valueType="num">
                                      <p:cBhvr additive="base">
                                        <p:cTn id="265" dur="550" fill="hold"/>
                                        <p:tgtEl>
                                          <p:spTgt spid="65"/>
                                        </p:tgtEl>
                                        <p:attrNameLst>
                                          <p:attrName>ppt_x</p:attrName>
                                        </p:attrNameLst>
                                      </p:cBhvr>
                                      <p:tavLst>
                                        <p:tav tm="0">
                                          <p:val>
                                            <p:strVal val="0-#ppt_w/2"/>
                                          </p:val>
                                        </p:tav>
                                        <p:tav tm="100000">
                                          <p:val>
                                            <p:strVal val="#ppt_x"/>
                                          </p:val>
                                        </p:tav>
                                      </p:tavLst>
                                    </p:anim>
                                    <p:anim calcmode="lin" valueType="num">
                                      <p:cBhvr additive="base">
                                        <p:cTn id="266" dur="550" fill="hold"/>
                                        <p:tgtEl>
                                          <p:spTgt spid="65"/>
                                        </p:tgtEl>
                                        <p:attrNameLst>
                                          <p:attrName>ppt_y</p:attrName>
                                        </p:attrNameLst>
                                      </p:cBhvr>
                                      <p:tavLst>
                                        <p:tav tm="0">
                                          <p:val>
                                            <p:strVal val="#ppt_y"/>
                                          </p:val>
                                        </p:tav>
                                        <p:tav tm="100000">
                                          <p:val>
                                            <p:strVal val="#ppt_y"/>
                                          </p:val>
                                        </p:tav>
                                      </p:tavLst>
                                    </p:anim>
                                  </p:childTnLst>
                                </p:cTn>
                              </p:par>
                            </p:childTnLst>
                          </p:cTn>
                        </p:par>
                        <p:par>
                          <p:cTn id="267" fill="hold">
                            <p:stCondLst>
                              <p:cond delay="650"/>
                            </p:stCondLst>
                            <p:childTnLst>
                              <p:par>
                                <p:cTn id="268" presetID="42" presetClass="entr" presetSubtype="0" fill="hold" grpId="0" nodeType="afterEffect">
                                  <p:stCondLst>
                                    <p:cond delay="0"/>
                                  </p:stCondLst>
                                  <p:childTnLst>
                                    <p:set>
                                      <p:cBhvr>
                                        <p:cTn id="269" dur="1" fill="hold">
                                          <p:stCondLst>
                                            <p:cond delay="0"/>
                                          </p:stCondLst>
                                        </p:cTn>
                                        <p:tgtEl>
                                          <p:spTgt spid="67"/>
                                        </p:tgtEl>
                                        <p:attrNameLst>
                                          <p:attrName>style.visibility</p:attrName>
                                        </p:attrNameLst>
                                      </p:cBhvr>
                                      <p:to>
                                        <p:strVal val="visible"/>
                                      </p:to>
                                    </p:set>
                                    <p:animEffect transition="in" filter="fade">
                                      <p:cBhvr>
                                        <p:cTn id="270" dur="550"/>
                                        <p:tgtEl>
                                          <p:spTgt spid="67"/>
                                        </p:tgtEl>
                                      </p:cBhvr>
                                    </p:animEffect>
                                    <p:anim calcmode="lin" valueType="num">
                                      <p:cBhvr additive="base">
                                        <p:cTn id="271" dur="550" fill="hold"/>
                                        <p:tgtEl>
                                          <p:spTgt spid="67"/>
                                        </p:tgtEl>
                                        <p:attrNameLst>
                                          <p:attrName>ppt_x</p:attrName>
                                        </p:attrNameLst>
                                      </p:cBhvr>
                                      <p:tavLst>
                                        <p:tav tm="0">
                                          <p:val>
                                            <p:strVal val="#ppt_x"/>
                                          </p:val>
                                        </p:tav>
                                        <p:tav tm="100000">
                                          <p:val>
                                            <p:strVal val="#ppt_x"/>
                                          </p:val>
                                        </p:tav>
                                      </p:tavLst>
                                    </p:anim>
                                    <p:anim calcmode="lin" valueType="num">
                                      <p:cBhvr additive="base">
                                        <p:cTn id="272" dur="550" fill="hold"/>
                                        <p:tgtEl>
                                          <p:spTgt spid="67"/>
                                        </p:tgtEl>
                                        <p:attrNameLst>
                                          <p:attrName>ppt_y</p:attrName>
                                        </p:attrNameLst>
                                      </p:cBhvr>
                                      <p:tavLst>
                                        <p:tav tm="0">
                                          <p:val>
                                            <p:strVal val="#ppt_y+.08"/>
                                          </p:val>
                                        </p:tav>
                                        <p:tav tm="100000">
                                          <p:val>
                                            <p:strVal val="#ppt_y"/>
                                          </p:val>
                                        </p:tav>
                                      </p:tavLst>
                                    </p:anim>
                                  </p:childTnLst>
                                </p:cTn>
                              </p:par>
                            </p:childTnLst>
                          </p:cTn>
                        </p:par>
                        <p:par>
                          <p:cTn id="273" fill="hold">
                            <p:stCondLst>
                              <p:cond delay="800"/>
                            </p:stCondLst>
                            <p:childTnLst>
                              <p:par>
                                <p:cTn id="274" presetID="22" presetClass="entr" presetSubtype="8" fill="hold" grpId="0" nodeType="afterEffect">
                                  <p:stCondLst>
                                    <p:cond delay="0"/>
                                  </p:stCondLst>
                                  <p:childTnLst>
                                    <p:set>
                                      <p:cBhvr>
                                        <p:cTn id="275" dur="1" fill="hold">
                                          <p:stCondLst>
                                            <p:cond delay="0"/>
                                          </p:stCondLst>
                                        </p:cTn>
                                        <p:tgtEl>
                                          <p:spTgt spid="68"/>
                                        </p:tgtEl>
                                        <p:attrNameLst>
                                          <p:attrName>style.visibility</p:attrName>
                                        </p:attrNameLst>
                                      </p:cBhvr>
                                      <p:to>
                                        <p:strVal val="visible"/>
                                      </p:to>
                                    </p:set>
                                    <p:animEffect transition="in" filter="wipe(left)">
                                      <p:cBhvr>
                                        <p:cTn id="277" dur="800"/>
                                        <p:tgtEl>
                                          <p:spTgt spid="68"/>
                                        </p:tgtEl>
                                      </p:cBhvr>
                                    </p:animEffect>
                                  </p:childTnLst>
                                </p:cTn>
                              </p:par>
                            </p:childTnLst>
                          </p:cTn>
                        </p:par>
                        <p:par>
                          <p:cTn id="278" fill="hold">
                            <p:stCondLst>
                              <p:cond delay="950"/>
                            </p:stCondLst>
                            <p:childTnLst>
                              <p:par>
                                <p:cTn id="279" presetID="10" presetClass="entr" presetSubtype="0" fill="hold" grpId="0" nodeType="afterEffect">
                                  <p:stCondLst>
                                    <p:cond delay="0"/>
                                  </p:stCondLst>
                                  <p:childTnLst>
                                    <p:set>
                                      <p:cBhvr>
                                        <p:cTn id="280" dur="1" fill="hold">
                                          <p:stCondLst>
                                            <p:cond delay="0"/>
                                          </p:stCondLst>
                                        </p:cTn>
                                        <p:tgtEl>
                                          <p:spTgt spid="69"/>
                                        </p:tgtEl>
                                        <p:attrNameLst>
                                          <p:attrName>style.visibility</p:attrName>
                                        </p:attrNameLst>
                                      </p:cBhvr>
                                      <p:to>
                                        <p:strVal val="visible"/>
                                      </p:to>
                                    </p:set>
                                    <p:animEffect transition="in" filter="fade">
                                      <p:cBhvr>
                                        <p:cTn id="281" dur="55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P spid="49" grpId="0" animBg="1"/>
      <p:bldP spid="50" grpId="0" animBg="1"/>
      <p:bldP spid="51" grpId="0" animBg="1"/>
      <p:bldP spid="52" grpId="0" animBg="1"/>
      <p:bldP spid="53" grpId="0" animBg="1"/>
      <p:bldP spid="54" grpId="0" animBg="1"/>
      <p:bldP spid="55" grpId="0" animBg="1"/>
      <p:bldP spid="56" grpId="0" animBg="1"/>
      <p:bldP spid="57" grpId="0" animBg="1"/>
      <p:bldP spid="58" grpId="0" animBg="1"/>
      <p:bldP spid="59" grpId="0" animBg="1"/>
      <p:bldP spid="60" grpId="0" animBg="1"/>
      <p:bldP spid="62" grpId="0" animBg="1"/>
      <p:bldP spid="61" grpId="0" animBg="1"/>
      <p:bldP spid="64" grpId="0" animBg="1"/>
      <p:bldP spid="66" grpId="0" animBg="1"/>
      <p:bldP spid="65" grpId="0" animBg="1"/>
      <p:bldP spid="67" grpId="0" animBg="1"/>
      <p:bldP spid="68" grpId="0" animBg="1"/>
      <p:bldP spid="69"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MA’RUZA REJASI</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Reja</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a:t>
            </a:r>
          </a:p>
        </p:txBody>
      </p:sp>
      <p:sp>
        <p:nvSpPr>
          <p:cNvPr id="26" name="Rounded Rectangle 25"/>
          <p:cNvSpPr/>
          <p:nvPr/>
        </p:nvSpPr>
        <p:spPr>
          <a:xfrm>
            <a:off x="550000" y="227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2350000"/>
            <a:ext cx="50000" cy="36000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000" y="2350000"/>
            <a:ext cx="360000" cy="36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9" name="TextBox 28"/>
          <p:cNvSpPr txBox="1"/>
          <p:nvPr/>
        </p:nvSpPr>
        <p:spPr>
          <a:xfrm>
            <a:off x="1300000" y="2310000"/>
            <a:ext cx="10250000" cy="440000"/>
          </a:xfrm>
          <a:prstGeom prst="rect">
            <a:avLst/>
          </a:prstGeom>
          <a:noFill/>
        </p:spPr>
        <p:txBody>
          <a:bodyPr wrap="square" anchor="ctr">
            <a:spAutoFit/>
          </a:bodyPr>
          <a:lstStyle/>
          <a:p>
            <a:r>
              <a:rPr sz="1600" b="0">
                <a:solidFill>
                  <a:srgbClr val="E8EEFA"/>
                </a:solidFill>
                <a:latin typeface="Segoe UI"/>
              </a:rPr>
              <a:t>Xotira iyerarxiyasi va uning raqamlari</a:t>
            </a:r>
          </a:p>
        </p:txBody>
      </p:sp>
      <p:sp>
        <p:nvSpPr>
          <p:cNvPr id="30" name="Rounded Rectangle 29"/>
          <p:cNvSpPr/>
          <p:nvPr/>
        </p:nvSpPr>
        <p:spPr>
          <a:xfrm>
            <a:off x="550000" y="290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2980000"/>
            <a:ext cx="50000" cy="360000"/>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2980000"/>
            <a:ext cx="360000" cy="36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3" name="TextBox 32"/>
          <p:cNvSpPr txBox="1"/>
          <p:nvPr/>
        </p:nvSpPr>
        <p:spPr>
          <a:xfrm>
            <a:off x="1300000" y="2940000"/>
            <a:ext cx="10250000" cy="440000"/>
          </a:xfrm>
          <a:prstGeom prst="rect">
            <a:avLst/>
          </a:prstGeom>
          <a:noFill/>
        </p:spPr>
        <p:txBody>
          <a:bodyPr wrap="square" anchor="ctr">
            <a:spAutoFit/>
          </a:bodyPr>
          <a:lstStyle/>
          <a:p>
            <a:r>
              <a:rPr sz="1600" b="0">
                <a:solidFill>
                  <a:srgbClr val="E8EEFA"/>
                </a:solidFill>
                <a:latin typeface="Segoe UI"/>
              </a:rPr>
              <a:t>Lokallik: vaqt va fazoviy</a:t>
            </a:r>
          </a:p>
        </p:txBody>
      </p:sp>
      <p:sp>
        <p:nvSpPr>
          <p:cNvPr id="34" name="Rounded Rectangle 33"/>
          <p:cNvSpPr/>
          <p:nvPr/>
        </p:nvSpPr>
        <p:spPr>
          <a:xfrm>
            <a:off x="550000" y="353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3610000"/>
            <a:ext cx="50000" cy="360000"/>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0000" y="3610000"/>
            <a:ext cx="360000" cy="36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7" name="TextBox 36"/>
          <p:cNvSpPr txBox="1"/>
          <p:nvPr/>
        </p:nvSpPr>
        <p:spPr>
          <a:xfrm>
            <a:off x="1300000" y="3570000"/>
            <a:ext cx="10250000" cy="440000"/>
          </a:xfrm>
          <a:prstGeom prst="rect">
            <a:avLst/>
          </a:prstGeom>
          <a:noFill/>
        </p:spPr>
        <p:txBody>
          <a:bodyPr wrap="square" anchor="ctr">
            <a:spAutoFit/>
          </a:bodyPr>
          <a:lstStyle/>
          <a:p>
            <a:r>
              <a:rPr sz="1600" b="0">
                <a:solidFill>
                  <a:srgbClr val="E8EEFA"/>
                </a:solidFill>
                <a:latin typeface="Segoe UI"/>
              </a:rPr>
              <a:t>NUMA arxitekturasi</a:t>
            </a:r>
          </a:p>
        </p:txBody>
      </p:sp>
      <p:sp>
        <p:nvSpPr>
          <p:cNvPr id="38" name="Rounded Rectangle 37"/>
          <p:cNvSpPr/>
          <p:nvPr/>
        </p:nvSpPr>
        <p:spPr>
          <a:xfrm>
            <a:off x="550000" y="416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50000" y="4240000"/>
            <a:ext cx="50000" cy="36000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60000" y="4240000"/>
            <a:ext cx="360000" cy="36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41" name="TextBox 40"/>
          <p:cNvSpPr txBox="1"/>
          <p:nvPr/>
        </p:nvSpPr>
        <p:spPr>
          <a:xfrm>
            <a:off x="1300000" y="4200000"/>
            <a:ext cx="10250000" cy="440000"/>
          </a:xfrm>
          <a:prstGeom prst="rect">
            <a:avLst/>
          </a:prstGeom>
          <a:noFill/>
        </p:spPr>
        <p:txBody>
          <a:bodyPr wrap="square" anchor="ctr">
            <a:spAutoFit/>
          </a:bodyPr>
          <a:lstStyle/>
          <a:p>
            <a:r>
              <a:rPr sz="1600" b="0">
                <a:solidFill>
                  <a:srgbClr val="E8EEFA"/>
                </a:solidFill>
                <a:latin typeface="Segoe UI"/>
              </a:rPr>
              <a:t>Arifmetik intensivlik va roofline modeli</a:t>
            </a:r>
          </a:p>
        </p:txBody>
      </p:sp>
      <p:sp>
        <p:nvSpPr>
          <p:cNvPr id="42" name="Rounded Rectangle 41"/>
          <p:cNvSpPr/>
          <p:nvPr/>
        </p:nvSpPr>
        <p:spPr>
          <a:xfrm>
            <a:off x="550000" y="4790000"/>
            <a:ext cx="11100000" cy="520000"/>
          </a:xfrm>
          <a:prstGeom prst="roundRect">
            <a:avLst>
              <a:gd name="adj" fmla="val 25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50000" y="4870000"/>
            <a:ext cx="50000" cy="360000"/>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60000" y="4870000"/>
            <a:ext cx="360000" cy="36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45" name="TextBox 44"/>
          <p:cNvSpPr txBox="1"/>
          <p:nvPr/>
        </p:nvSpPr>
        <p:spPr>
          <a:xfrm>
            <a:off x="1300000" y="4830000"/>
            <a:ext cx="10250000" cy="440000"/>
          </a:xfrm>
          <a:prstGeom prst="rect">
            <a:avLst/>
          </a:prstGeom>
          <a:noFill/>
        </p:spPr>
        <p:txBody>
          <a:bodyPr wrap="square" anchor="ctr">
            <a:spAutoFit/>
          </a:bodyPr>
          <a:lstStyle/>
          <a:p>
            <a:r>
              <a:rPr sz="1600" b="0">
                <a:solidFill>
                  <a:srgbClr val="E8EEFA"/>
                </a:solidFill>
                <a:latin typeface="Segoe UI"/>
              </a:rPr>
              <a:t>Xotira o'tkazuvchanligini oshirish va ma'lumot almashinuvini kamaytirish usullari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2"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200"/>
                            </p:stCondLst>
                            <p:childTnLst>
                              <p:par>
                                <p:cTn id="13" presetID="42" presetClass="entr" presetSubtype="0"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ppt_x</p:attrName>
                                        </p:attrNameLst>
                                      </p:cBhvr>
                                      <p:tavLst>
                                        <p:tav tm="0">
                                          <p:val>
                                            <p:strVal val="#ppt_x"/>
                                          </p:val>
                                        </p:tav>
                                        <p:tav tm="100000">
                                          <p:val>
                                            <p:strVal val="#ppt_x"/>
                                          </p:val>
                                        </p:tav>
                                      </p:tavLst>
                                    </p:anim>
                                    <p:anim calcmode="lin" valueType="num">
                                      <p:cBhvr additive="base">
                                        <p:cTn id="17" dur="550" fill="hold"/>
                                        <p:tgtEl>
                                          <p:spTgt spid="26"/>
                                        </p:tgtEl>
                                        <p:attrNameLst>
                                          <p:attrName>ppt_y</p:attrName>
                                        </p:attrNameLst>
                                      </p:cBhvr>
                                      <p:tavLst>
                                        <p:tav tm="0">
                                          <p:val>
                                            <p:strVal val="#ppt_y+.08"/>
                                          </p:val>
                                        </p:tav>
                                        <p:tav tm="100000">
                                          <p:val>
                                            <p:strVal val="#ppt_y"/>
                                          </p:val>
                                        </p:tav>
                                      </p:tavLst>
                                    </p:anim>
                                  </p:childTnLst>
                                </p:cTn>
                              </p:par>
                            </p:childTnLst>
                          </p:cTn>
                        </p:par>
                        <p:par>
                          <p:cTn id="18" fill="hold">
                            <p:stCondLst>
                              <p:cond delay="200"/>
                            </p:stCondLst>
                            <p:childTnLst>
                              <p:par>
                                <p:cTn id="19" presetID="42" presetClass="entr" presetSubtype="0"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ppt_x</p:attrName>
                                        </p:attrNameLst>
                                      </p:cBhvr>
                                      <p:tavLst>
                                        <p:tav tm="0">
                                          <p:val>
                                            <p:strVal val="#ppt_x"/>
                                          </p:val>
                                        </p:tav>
                                        <p:tav tm="100000">
                                          <p:val>
                                            <p:strVal val="#ppt_x"/>
                                          </p:val>
                                        </p:tav>
                                      </p:tavLst>
                                    </p:anim>
                                    <p:anim calcmode="lin" valueType="num">
                                      <p:cBhvr additive="base">
                                        <p:cTn id="23" dur="550" fill="hold"/>
                                        <p:tgtEl>
                                          <p:spTgt spid="27"/>
                                        </p:tgtEl>
                                        <p:attrNameLst>
                                          <p:attrName>ppt_y</p:attrName>
                                        </p:attrNameLst>
                                      </p:cBhvr>
                                      <p:tavLst>
                                        <p:tav tm="0">
                                          <p:val>
                                            <p:strVal val="#ppt_y+.08"/>
                                          </p:val>
                                        </p:tav>
                                        <p:tav tm="100000">
                                          <p:val>
                                            <p:strVal val="#ppt_y"/>
                                          </p:val>
                                        </p:tav>
                                      </p:tavLst>
                                    </p:anim>
                                  </p:childTnLst>
                                </p:cTn>
                              </p:par>
                            </p:childTnLst>
                          </p:cTn>
                        </p:par>
                        <p:par>
                          <p:cTn id="24" fill="hold">
                            <p:stCondLst>
                              <p:cond delay="200"/>
                            </p:stCondLst>
                            <p:childTnLst>
                              <p:par>
                                <p:cTn id="25" presetID="53" presetClass="entr" presetSubtype="16"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anim calcmode="lin" valueType="num">
                                      <p:cBhvr additive="base">
                                        <p:cTn id="28" dur="550" fill="hold"/>
                                        <p:tgtEl>
                                          <p:spTgt spid="28"/>
                                        </p:tgtEl>
                                        <p:attrNameLst>
                                          <p:attrName>ppt_w</p:attrName>
                                        </p:attrNameLst>
                                      </p:cBhvr>
                                      <p:tavLst>
                                        <p:tav tm="0">
                                          <p:val>
                                            <p:strVal val="0"/>
                                          </p:val>
                                        </p:tav>
                                        <p:tav tm="100000">
                                          <p:val>
                                            <p:strVal val="#ppt_w"/>
                                          </p:val>
                                        </p:tav>
                                      </p:tavLst>
                                    </p:anim>
                                    <p:anim calcmode="lin" valueType="num">
                                      <p:cBhvr additive="base">
                                        <p:cTn id="29" dur="550" fill="hold"/>
                                        <p:tgtEl>
                                          <p:spTgt spid="28"/>
                                        </p:tgtEl>
                                        <p:attrNameLst>
                                          <p:attrName>ppt_h</p:attrName>
                                        </p:attrNameLst>
                                      </p:cBhvr>
                                      <p:tavLst>
                                        <p:tav tm="0">
                                          <p:val>
                                            <p:strVal val="0"/>
                                          </p:val>
                                        </p:tav>
                                        <p:tav tm="100000">
                                          <p:val>
                                            <p:strVal val="#ppt_h"/>
                                          </p:val>
                                        </p:tav>
                                      </p:tavLst>
                                    </p:anim>
                                  </p:childTnLst>
                                </p:cTn>
                              </p:par>
                            </p:childTnLst>
                          </p:cTn>
                        </p:par>
                        <p:par>
                          <p:cTn id="30" fill="hold">
                            <p:stCondLst>
                              <p:cond delay="200"/>
                            </p:stCondLst>
                            <p:childTnLst>
                              <p:par>
                                <p:cTn id="31" presetID="42" presetClass="entr" presetSubtype="0" fill="hold" grpId="0" nodeType="after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50"/>
                                        <p:tgtEl>
                                          <p:spTgt spid="29"/>
                                        </p:tgtEl>
                                      </p:cBhvr>
                                    </p:animEffect>
                                    <p:anim calcmode="lin" valueType="num">
                                      <p:cBhvr additive="base">
                                        <p:cTn id="34" dur="550" fill="hold"/>
                                        <p:tgtEl>
                                          <p:spTgt spid="29"/>
                                        </p:tgtEl>
                                        <p:attrNameLst>
                                          <p:attrName>ppt_x</p:attrName>
                                        </p:attrNameLst>
                                      </p:cBhvr>
                                      <p:tavLst>
                                        <p:tav tm="0">
                                          <p:val>
                                            <p:strVal val="#ppt_x"/>
                                          </p:val>
                                        </p:tav>
                                        <p:tav tm="100000">
                                          <p:val>
                                            <p:strVal val="#ppt_x"/>
                                          </p:val>
                                        </p:tav>
                                      </p:tavLst>
                                    </p:anim>
                                    <p:anim calcmode="lin" valueType="num">
                                      <p:cBhvr additive="base">
                                        <p:cTn id="35" dur="550" fill="hold"/>
                                        <p:tgtEl>
                                          <p:spTgt spid="29"/>
                                        </p:tgtEl>
                                        <p:attrNameLst>
                                          <p:attrName>ppt_y</p:attrName>
                                        </p:attrNameLst>
                                      </p:cBhvr>
                                      <p:tavLst>
                                        <p:tav tm="0">
                                          <p:val>
                                            <p:strVal val="#ppt_y+.08"/>
                                          </p:val>
                                        </p:tav>
                                        <p:tav tm="100000">
                                          <p:val>
                                            <p:strVal val="#ppt_y"/>
                                          </p:val>
                                        </p:tav>
                                      </p:tavLst>
                                    </p:anim>
                                  </p:childTnLst>
                                </p:cTn>
                              </p:par>
                            </p:childTnLst>
                          </p:cTn>
                        </p:par>
                        <p:par>
                          <p:cTn id="36" fill="hold">
                            <p:stCondLst>
                              <p:cond delay="400"/>
                            </p:stCondLst>
                            <p:childTnLst>
                              <p:par>
                                <p:cTn id="37" presetID="42" presetClass="entr" presetSubtype="0" fill="hold" grpId="0" nodeType="after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550"/>
                                        <p:tgtEl>
                                          <p:spTgt spid="30"/>
                                        </p:tgtEl>
                                      </p:cBhvr>
                                    </p:animEffect>
                                    <p:anim calcmode="lin" valueType="num">
                                      <p:cBhvr additive="base">
                                        <p:cTn id="40" dur="550" fill="hold"/>
                                        <p:tgtEl>
                                          <p:spTgt spid="30"/>
                                        </p:tgtEl>
                                        <p:attrNameLst>
                                          <p:attrName>ppt_x</p:attrName>
                                        </p:attrNameLst>
                                      </p:cBhvr>
                                      <p:tavLst>
                                        <p:tav tm="0">
                                          <p:val>
                                            <p:strVal val="#ppt_x"/>
                                          </p:val>
                                        </p:tav>
                                        <p:tav tm="100000">
                                          <p:val>
                                            <p:strVal val="#ppt_x"/>
                                          </p:val>
                                        </p:tav>
                                      </p:tavLst>
                                    </p:anim>
                                    <p:anim calcmode="lin" valueType="num">
                                      <p:cBhvr additive="base">
                                        <p:cTn id="41" dur="550" fill="hold"/>
                                        <p:tgtEl>
                                          <p:spTgt spid="30"/>
                                        </p:tgtEl>
                                        <p:attrNameLst>
                                          <p:attrName>ppt_y</p:attrName>
                                        </p:attrNameLst>
                                      </p:cBhvr>
                                      <p:tavLst>
                                        <p:tav tm="0">
                                          <p:val>
                                            <p:strVal val="#ppt_y+.08"/>
                                          </p:val>
                                        </p:tav>
                                        <p:tav tm="100000">
                                          <p:val>
                                            <p:strVal val="#ppt_y"/>
                                          </p:val>
                                        </p:tav>
                                      </p:tavLst>
                                    </p:anim>
                                  </p:childTnLst>
                                </p:cTn>
                              </p:par>
                            </p:childTnLst>
                          </p:cTn>
                        </p:par>
                        <p:par>
                          <p:cTn id="42" fill="hold">
                            <p:stCondLst>
                              <p:cond delay="400"/>
                            </p:stCondLst>
                            <p:childTnLst>
                              <p:par>
                                <p:cTn id="43" presetID="42" presetClass="entr" presetSubtype="0" fill="hold" grpId="0" nodeType="afterEffect">
                                  <p:stCondLst>
                                    <p:cond delay="0"/>
                                  </p:stCondLst>
                                  <p:childTnLst>
                                    <p:set>
                                      <p:cBhvr>
                                        <p:cTn id="44" dur="1" fill="hold">
                                          <p:stCondLst>
                                            <p:cond delay="0"/>
                                          </p:stCondLst>
                                        </p:cTn>
                                        <p:tgtEl>
                                          <p:spTgt spid="31"/>
                                        </p:tgtEl>
                                        <p:attrNameLst>
                                          <p:attrName>style.visibility</p:attrName>
                                        </p:attrNameLst>
                                      </p:cBhvr>
                                      <p:to>
                                        <p:strVal val="visible"/>
                                      </p:to>
                                    </p:set>
                                    <p:animEffect transition="in" filter="fade">
                                      <p:cBhvr>
                                        <p:cTn id="45" dur="550"/>
                                        <p:tgtEl>
                                          <p:spTgt spid="31"/>
                                        </p:tgtEl>
                                      </p:cBhvr>
                                    </p:animEffect>
                                    <p:anim calcmode="lin" valueType="num">
                                      <p:cBhvr additive="base">
                                        <p:cTn id="46" dur="550" fill="hold"/>
                                        <p:tgtEl>
                                          <p:spTgt spid="31"/>
                                        </p:tgtEl>
                                        <p:attrNameLst>
                                          <p:attrName>ppt_x</p:attrName>
                                        </p:attrNameLst>
                                      </p:cBhvr>
                                      <p:tavLst>
                                        <p:tav tm="0">
                                          <p:val>
                                            <p:strVal val="#ppt_x"/>
                                          </p:val>
                                        </p:tav>
                                        <p:tav tm="100000">
                                          <p:val>
                                            <p:strVal val="#ppt_x"/>
                                          </p:val>
                                        </p:tav>
                                      </p:tavLst>
                                    </p:anim>
                                    <p:anim calcmode="lin" valueType="num">
                                      <p:cBhvr additive="base">
                                        <p:cTn id="47" dur="550" fill="hold"/>
                                        <p:tgtEl>
                                          <p:spTgt spid="31"/>
                                        </p:tgtEl>
                                        <p:attrNameLst>
                                          <p:attrName>ppt_y</p:attrName>
                                        </p:attrNameLst>
                                      </p:cBhvr>
                                      <p:tavLst>
                                        <p:tav tm="0">
                                          <p:val>
                                            <p:strVal val="#ppt_y+.08"/>
                                          </p:val>
                                        </p:tav>
                                        <p:tav tm="100000">
                                          <p:val>
                                            <p:strVal val="#ppt_y"/>
                                          </p:val>
                                        </p:tav>
                                      </p:tavLst>
                                    </p:anim>
                                  </p:childTnLst>
                                </p:cTn>
                              </p:par>
                            </p:childTnLst>
                          </p:cTn>
                        </p:par>
                        <p:par>
                          <p:cTn id="48" fill="hold">
                            <p:stCondLst>
                              <p:cond delay="400"/>
                            </p:stCondLst>
                            <p:childTnLst>
                              <p:par>
                                <p:cTn id="49" presetID="53" presetClass="entr" presetSubtype="16" fill="hold" grpId="0" nodeType="afterEffect">
                                  <p:stCondLst>
                                    <p:cond delay="0"/>
                                  </p:stCondLst>
                                  <p:childTnLst>
                                    <p:set>
                                      <p:cBhvr>
                                        <p:cTn id="50" dur="1" fill="hold">
                                          <p:stCondLst>
                                            <p:cond delay="0"/>
                                          </p:stCondLst>
                                        </p:cTn>
                                        <p:tgtEl>
                                          <p:spTgt spid="32"/>
                                        </p:tgtEl>
                                        <p:attrNameLst>
                                          <p:attrName>style.visibility</p:attrName>
                                        </p:attrNameLst>
                                      </p:cBhvr>
                                      <p:to>
                                        <p:strVal val="visible"/>
                                      </p:to>
                                    </p:set>
                                    <p:animEffect transition="in" filter="fade">
                                      <p:cBhvr>
                                        <p:cTn id="51" dur="550"/>
                                        <p:tgtEl>
                                          <p:spTgt spid="32"/>
                                        </p:tgtEl>
                                      </p:cBhvr>
                                    </p:animEffect>
                                    <p:anim calcmode="lin" valueType="num">
                                      <p:cBhvr additive="base">
                                        <p:cTn id="52" dur="550" fill="hold"/>
                                        <p:tgtEl>
                                          <p:spTgt spid="32"/>
                                        </p:tgtEl>
                                        <p:attrNameLst>
                                          <p:attrName>ppt_w</p:attrName>
                                        </p:attrNameLst>
                                      </p:cBhvr>
                                      <p:tavLst>
                                        <p:tav tm="0">
                                          <p:val>
                                            <p:strVal val="0"/>
                                          </p:val>
                                        </p:tav>
                                        <p:tav tm="100000">
                                          <p:val>
                                            <p:strVal val="#ppt_w"/>
                                          </p:val>
                                        </p:tav>
                                      </p:tavLst>
                                    </p:anim>
                                    <p:anim calcmode="lin" valueType="num">
                                      <p:cBhvr additive="base">
                                        <p:cTn id="53" dur="550" fill="hold"/>
                                        <p:tgtEl>
                                          <p:spTgt spid="32"/>
                                        </p:tgtEl>
                                        <p:attrNameLst>
                                          <p:attrName>ppt_h</p:attrName>
                                        </p:attrNameLst>
                                      </p:cBhvr>
                                      <p:tavLst>
                                        <p:tav tm="0">
                                          <p:val>
                                            <p:strVal val="0"/>
                                          </p:val>
                                        </p:tav>
                                        <p:tav tm="100000">
                                          <p:val>
                                            <p:strVal val="#ppt_h"/>
                                          </p:val>
                                        </p:tav>
                                      </p:tavLst>
                                    </p:anim>
                                  </p:childTnLst>
                                </p:cTn>
                              </p:par>
                            </p:childTnLst>
                          </p:cTn>
                        </p:par>
                        <p:par>
                          <p:cTn id="54" fill="hold">
                            <p:stCondLst>
                              <p:cond delay="400"/>
                            </p:stCondLst>
                            <p:childTnLst>
                              <p:par>
                                <p:cTn id="55" presetID="42" presetClass="entr" presetSubtype="0" fill="hold" grpId="0" nodeType="afterEffect">
                                  <p:stCondLst>
                                    <p:cond delay="0"/>
                                  </p:stCondLst>
                                  <p:childTnLst>
                                    <p:set>
                                      <p:cBhvr>
                                        <p:cTn id="56" dur="1" fill="hold">
                                          <p:stCondLst>
                                            <p:cond delay="0"/>
                                          </p:stCondLst>
                                        </p:cTn>
                                        <p:tgtEl>
                                          <p:spTgt spid="33"/>
                                        </p:tgtEl>
                                        <p:attrNameLst>
                                          <p:attrName>style.visibility</p:attrName>
                                        </p:attrNameLst>
                                      </p:cBhvr>
                                      <p:to>
                                        <p:strVal val="visible"/>
                                      </p:to>
                                    </p:set>
                                    <p:animEffect transition="in" filter="fade">
                                      <p:cBhvr>
                                        <p:cTn id="57" dur="550"/>
                                        <p:tgtEl>
                                          <p:spTgt spid="33"/>
                                        </p:tgtEl>
                                      </p:cBhvr>
                                    </p:animEffect>
                                    <p:anim calcmode="lin" valueType="num">
                                      <p:cBhvr additive="base">
                                        <p:cTn id="58" dur="550" fill="hold"/>
                                        <p:tgtEl>
                                          <p:spTgt spid="33"/>
                                        </p:tgtEl>
                                        <p:attrNameLst>
                                          <p:attrName>ppt_x</p:attrName>
                                        </p:attrNameLst>
                                      </p:cBhvr>
                                      <p:tavLst>
                                        <p:tav tm="0">
                                          <p:val>
                                            <p:strVal val="#ppt_x"/>
                                          </p:val>
                                        </p:tav>
                                        <p:tav tm="100000">
                                          <p:val>
                                            <p:strVal val="#ppt_x"/>
                                          </p:val>
                                        </p:tav>
                                      </p:tavLst>
                                    </p:anim>
                                    <p:anim calcmode="lin" valueType="num">
                                      <p:cBhvr additive="base">
                                        <p:cTn id="59" dur="550" fill="hold"/>
                                        <p:tgtEl>
                                          <p:spTgt spid="33"/>
                                        </p:tgtEl>
                                        <p:attrNameLst>
                                          <p:attrName>ppt_y</p:attrName>
                                        </p:attrNameLst>
                                      </p:cBhvr>
                                      <p:tavLst>
                                        <p:tav tm="0">
                                          <p:val>
                                            <p:strVal val="#ppt_y+.08"/>
                                          </p:val>
                                        </p:tav>
                                        <p:tav tm="100000">
                                          <p:val>
                                            <p:strVal val="#ppt_y"/>
                                          </p:val>
                                        </p:tav>
                                      </p:tavLst>
                                    </p:anim>
                                  </p:childTnLst>
                                </p:cTn>
                              </p:par>
                            </p:childTnLst>
                          </p:cTn>
                        </p:par>
                        <p:par>
                          <p:cTn id="60" fill="hold">
                            <p:stCondLst>
                              <p:cond delay="600"/>
                            </p:stCondLst>
                            <p:childTnLst>
                              <p:par>
                                <p:cTn id="61" presetID="42" presetClass="entr" presetSubtype="0" fill="hold" grpId="0" nodeType="after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50"/>
                                        <p:tgtEl>
                                          <p:spTgt spid="34"/>
                                        </p:tgtEl>
                                      </p:cBhvr>
                                    </p:animEffect>
                                    <p:anim calcmode="lin" valueType="num">
                                      <p:cBhvr additive="base">
                                        <p:cTn id="64" dur="550" fill="hold"/>
                                        <p:tgtEl>
                                          <p:spTgt spid="34"/>
                                        </p:tgtEl>
                                        <p:attrNameLst>
                                          <p:attrName>ppt_x</p:attrName>
                                        </p:attrNameLst>
                                      </p:cBhvr>
                                      <p:tavLst>
                                        <p:tav tm="0">
                                          <p:val>
                                            <p:strVal val="#ppt_x"/>
                                          </p:val>
                                        </p:tav>
                                        <p:tav tm="100000">
                                          <p:val>
                                            <p:strVal val="#ppt_x"/>
                                          </p:val>
                                        </p:tav>
                                      </p:tavLst>
                                    </p:anim>
                                    <p:anim calcmode="lin" valueType="num">
                                      <p:cBhvr additive="base">
                                        <p:cTn id="65" dur="550" fill="hold"/>
                                        <p:tgtEl>
                                          <p:spTgt spid="34"/>
                                        </p:tgtEl>
                                        <p:attrNameLst>
                                          <p:attrName>ppt_y</p:attrName>
                                        </p:attrNameLst>
                                      </p:cBhvr>
                                      <p:tavLst>
                                        <p:tav tm="0">
                                          <p:val>
                                            <p:strVal val="#ppt_y+.08"/>
                                          </p:val>
                                        </p:tav>
                                        <p:tav tm="100000">
                                          <p:val>
                                            <p:strVal val="#ppt_y"/>
                                          </p:val>
                                        </p:tav>
                                      </p:tavLst>
                                    </p:anim>
                                  </p:childTnLst>
                                </p:cTn>
                              </p:par>
                            </p:childTnLst>
                          </p:cTn>
                        </p:par>
                        <p:par>
                          <p:cTn id="66" fill="hold">
                            <p:stCondLst>
                              <p:cond delay="600"/>
                            </p:stCondLst>
                            <p:childTnLst>
                              <p:par>
                                <p:cTn id="67" presetID="42" presetClass="entr" presetSubtype="0" fill="hold" grpId="0" nodeType="afterEffect">
                                  <p:stCondLst>
                                    <p:cond delay="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550"/>
                                        <p:tgtEl>
                                          <p:spTgt spid="35"/>
                                        </p:tgtEl>
                                      </p:cBhvr>
                                    </p:animEffect>
                                    <p:anim calcmode="lin" valueType="num">
                                      <p:cBhvr additive="base">
                                        <p:cTn id="70" dur="550" fill="hold"/>
                                        <p:tgtEl>
                                          <p:spTgt spid="35"/>
                                        </p:tgtEl>
                                        <p:attrNameLst>
                                          <p:attrName>ppt_x</p:attrName>
                                        </p:attrNameLst>
                                      </p:cBhvr>
                                      <p:tavLst>
                                        <p:tav tm="0">
                                          <p:val>
                                            <p:strVal val="#ppt_x"/>
                                          </p:val>
                                        </p:tav>
                                        <p:tav tm="100000">
                                          <p:val>
                                            <p:strVal val="#ppt_x"/>
                                          </p:val>
                                        </p:tav>
                                      </p:tavLst>
                                    </p:anim>
                                    <p:anim calcmode="lin" valueType="num">
                                      <p:cBhvr additive="base">
                                        <p:cTn id="71" dur="550" fill="hold"/>
                                        <p:tgtEl>
                                          <p:spTgt spid="35"/>
                                        </p:tgtEl>
                                        <p:attrNameLst>
                                          <p:attrName>ppt_y</p:attrName>
                                        </p:attrNameLst>
                                      </p:cBhvr>
                                      <p:tavLst>
                                        <p:tav tm="0">
                                          <p:val>
                                            <p:strVal val="#ppt_y+.08"/>
                                          </p:val>
                                        </p:tav>
                                        <p:tav tm="100000">
                                          <p:val>
                                            <p:strVal val="#ppt_y"/>
                                          </p:val>
                                        </p:tav>
                                      </p:tavLst>
                                    </p:anim>
                                  </p:childTnLst>
                                </p:cTn>
                              </p:par>
                            </p:childTnLst>
                          </p:cTn>
                        </p:par>
                        <p:par>
                          <p:cTn id="72" fill="hold">
                            <p:stCondLst>
                              <p:cond delay="600"/>
                            </p:stCondLst>
                            <p:childTnLst>
                              <p:par>
                                <p:cTn id="73" presetID="53" presetClass="entr" presetSubtype="16" fill="hold" grpId="0" nodeType="after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550"/>
                                        <p:tgtEl>
                                          <p:spTgt spid="36"/>
                                        </p:tgtEl>
                                      </p:cBhvr>
                                    </p:animEffect>
                                    <p:anim calcmode="lin" valueType="num">
                                      <p:cBhvr additive="base">
                                        <p:cTn id="76" dur="550" fill="hold"/>
                                        <p:tgtEl>
                                          <p:spTgt spid="36"/>
                                        </p:tgtEl>
                                        <p:attrNameLst>
                                          <p:attrName>ppt_w</p:attrName>
                                        </p:attrNameLst>
                                      </p:cBhvr>
                                      <p:tavLst>
                                        <p:tav tm="0">
                                          <p:val>
                                            <p:strVal val="0"/>
                                          </p:val>
                                        </p:tav>
                                        <p:tav tm="100000">
                                          <p:val>
                                            <p:strVal val="#ppt_w"/>
                                          </p:val>
                                        </p:tav>
                                      </p:tavLst>
                                    </p:anim>
                                    <p:anim calcmode="lin" valueType="num">
                                      <p:cBhvr additive="base">
                                        <p:cTn id="77" dur="550" fill="hold"/>
                                        <p:tgtEl>
                                          <p:spTgt spid="36"/>
                                        </p:tgtEl>
                                        <p:attrNameLst>
                                          <p:attrName>ppt_h</p:attrName>
                                        </p:attrNameLst>
                                      </p:cBhvr>
                                      <p:tavLst>
                                        <p:tav tm="0">
                                          <p:val>
                                            <p:strVal val="0"/>
                                          </p:val>
                                        </p:tav>
                                        <p:tav tm="100000">
                                          <p:val>
                                            <p:strVal val="#ppt_h"/>
                                          </p:val>
                                        </p:tav>
                                      </p:tavLst>
                                    </p:anim>
                                  </p:childTnLst>
                                </p:cTn>
                              </p:par>
                            </p:childTnLst>
                          </p:cTn>
                        </p:par>
                        <p:par>
                          <p:cTn id="78" fill="hold">
                            <p:stCondLst>
                              <p:cond delay="600"/>
                            </p:stCondLst>
                            <p:childTnLst>
                              <p:par>
                                <p:cTn id="79" presetID="42" presetClass="entr" presetSubtype="0" fill="hold" grpId="0" nodeType="afterEffect">
                                  <p:stCondLst>
                                    <p:cond delay="0"/>
                                  </p:stCondLst>
                                  <p:childTnLst>
                                    <p:set>
                                      <p:cBhvr>
                                        <p:cTn id="80" dur="1" fill="hold">
                                          <p:stCondLst>
                                            <p:cond delay="0"/>
                                          </p:stCondLst>
                                        </p:cTn>
                                        <p:tgtEl>
                                          <p:spTgt spid="37"/>
                                        </p:tgtEl>
                                        <p:attrNameLst>
                                          <p:attrName>style.visibility</p:attrName>
                                        </p:attrNameLst>
                                      </p:cBhvr>
                                      <p:to>
                                        <p:strVal val="visible"/>
                                      </p:to>
                                    </p:set>
                                    <p:animEffect transition="in" filter="fade">
                                      <p:cBhvr>
                                        <p:cTn id="81" dur="550"/>
                                        <p:tgtEl>
                                          <p:spTgt spid="37"/>
                                        </p:tgtEl>
                                      </p:cBhvr>
                                    </p:animEffect>
                                    <p:anim calcmode="lin" valueType="num">
                                      <p:cBhvr additive="base">
                                        <p:cTn id="82" dur="550" fill="hold"/>
                                        <p:tgtEl>
                                          <p:spTgt spid="37"/>
                                        </p:tgtEl>
                                        <p:attrNameLst>
                                          <p:attrName>ppt_x</p:attrName>
                                        </p:attrNameLst>
                                      </p:cBhvr>
                                      <p:tavLst>
                                        <p:tav tm="0">
                                          <p:val>
                                            <p:strVal val="#ppt_x"/>
                                          </p:val>
                                        </p:tav>
                                        <p:tav tm="100000">
                                          <p:val>
                                            <p:strVal val="#ppt_x"/>
                                          </p:val>
                                        </p:tav>
                                      </p:tavLst>
                                    </p:anim>
                                    <p:anim calcmode="lin" valueType="num">
                                      <p:cBhvr additive="base">
                                        <p:cTn id="83" dur="550" fill="hold"/>
                                        <p:tgtEl>
                                          <p:spTgt spid="37"/>
                                        </p:tgtEl>
                                        <p:attrNameLst>
                                          <p:attrName>ppt_y</p:attrName>
                                        </p:attrNameLst>
                                      </p:cBhvr>
                                      <p:tavLst>
                                        <p:tav tm="0">
                                          <p:val>
                                            <p:strVal val="#ppt_y+.08"/>
                                          </p:val>
                                        </p:tav>
                                        <p:tav tm="100000">
                                          <p:val>
                                            <p:strVal val="#ppt_y"/>
                                          </p:val>
                                        </p:tav>
                                      </p:tavLst>
                                    </p:anim>
                                  </p:childTnLst>
                                </p:cTn>
                              </p:par>
                            </p:childTnLst>
                          </p:cTn>
                        </p:par>
                        <p:par>
                          <p:cTn id="84" fill="hold">
                            <p:stCondLst>
                              <p:cond delay="800"/>
                            </p:stCondLst>
                            <p:childTnLst>
                              <p:par>
                                <p:cTn id="85" presetID="42" presetClass="entr" presetSubtype="0" fill="hold" grpId="0" nodeType="afterEffect">
                                  <p:stCondLst>
                                    <p:cond delay="0"/>
                                  </p:stCondLst>
                                  <p:childTnLst>
                                    <p:set>
                                      <p:cBhvr>
                                        <p:cTn id="86" dur="1" fill="hold">
                                          <p:stCondLst>
                                            <p:cond delay="0"/>
                                          </p:stCondLst>
                                        </p:cTn>
                                        <p:tgtEl>
                                          <p:spTgt spid="38"/>
                                        </p:tgtEl>
                                        <p:attrNameLst>
                                          <p:attrName>style.visibility</p:attrName>
                                        </p:attrNameLst>
                                      </p:cBhvr>
                                      <p:to>
                                        <p:strVal val="visible"/>
                                      </p:to>
                                    </p:set>
                                    <p:animEffect transition="in" filter="fade">
                                      <p:cBhvr>
                                        <p:cTn id="87" dur="550"/>
                                        <p:tgtEl>
                                          <p:spTgt spid="38"/>
                                        </p:tgtEl>
                                      </p:cBhvr>
                                    </p:animEffect>
                                    <p:anim calcmode="lin" valueType="num">
                                      <p:cBhvr additive="base">
                                        <p:cTn id="88" dur="550" fill="hold"/>
                                        <p:tgtEl>
                                          <p:spTgt spid="38"/>
                                        </p:tgtEl>
                                        <p:attrNameLst>
                                          <p:attrName>ppt_x</p:attrName>
                                        </p:attrNameLst>
                                      </p:cBhvr>
                                      <p:tavLst>
                                        <p:tav tm="0">
                                          <p:val>
                                            <p:strVal val="#ppt_x"/>
                                          </p:val>
                                        </p:tav>
                                        <p:tav tm="100000">
                                          <p:val>
                                            <p:strVal val="#ppt_x"/>
                                          </p:val>
                                        </p:tav>
                                      </p:tavLst>
                                    </p:anim>
                                    <p:anim calcmode="lin" valueType="num">
                                      <p:cBhvr additive="base">
                                        <p:cTn id="89" dur="550" fill="hold"/>
                                        <p:tgtEl>
                                          <p:spTgt spid="38"/>
                                        </p:tgtEl>
                                        <p:attrNameLst>
                                          <p:attrName>ppt_y</p:attrName>
                                        </p:attrNameLst>
                                      </p:cBhvr>
                                      <p:tavLst>
                                        <p:tav tm="0">
                                          <p:val>
                                            <p:strVal val="#ppt_y+.08"/>
                                          </p:val>
                                        </p:tav>
                                        <p:tav tm="100000">
                                          <p:val>
                                            <p:strVal val="#ppt_y"/>
                                          </p:val>
                                        </p:tav>
                                      </p:tavLst>
                                    </p:anim>
                                  </p:childTnLst>
                                </p:cTn>
                              </p:par>
                            </p:childTnLst>
                          </p:cTn>
                        </p:par>
                        <p:par>
                          <p:cTn id="90" fill="hold">
                            <p:stCondLst>
                              <p:cond delay="800"/>
                            </p:stCondLst>
                            <p:childTnLst>
                              <p:par>
                                <p:cTn id="91" presetID="42" presetClass="entr" presetSubtype="0" fill="hold" grpId="0" nodeType="after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fade">
                                      <p:cBhvr>
                                        <p:cTn id="93" dur="550"/>
                                        <p:tgtEl>
                                          <p:spTgt spid="39"/>
                                        </p:tgtEl>
                                      </p:cBhvr>
                                    </p:animEffect>
                                    <p:anim calcmode="lin" valueType="num">
                                      <p:cBhvr additive="base">
                                        <p:cTn id="94" dur="550" fill="hold"/>
                                        <p:tgtEl>
                                          <p:spTgt spid="39"/>
                                        </p:tgtEl>
                                        <p:attrNameLst>
                                          <p:attrName>ppt_x</p:attrName>
                                        </p:attrNameLst>
                                      </p:cBhvr>
                                      <p:tavLst>
                                        <p:tav tm="0">
                                          <p:val>
                                            <p:strVal val="#ppt_x"/>
                                          </p:val>
                                        </p:tav>
                                        <p:tav tm="100000">
                                          <p:val>
                                            <p:strVal val="#ppt_x"/>
                                          </p:val>
                                        </p:tav>
                                      </p:tavLst>
                                    </p:anim>
                                    <p:anim calcmode="lin" valueType="num">
                                      <p:cBhvr additive="base">
                                        <p:cTn id="95" dur="550" fill="hold"/>
                                        <p:tgtEl>
                                          <p:spTgt spid="39"/>
                                        </p:tgtEl>
                                        <p:attrNameLst>
                                          <p:attrName>ppt_y</p:attrName>
                                        </p:attrNameLst>
                                      </p:cBhvr>
                                      <p:tavLst>
                                        <p:tav tm="0">
                                          <p:val>
                                            <p:strVal val="#ppt_y+.08"/>
                                          </p:val>
                                        </p:tav>
                                        <p:tav tm="100000">
                                          <p:val>
                                            <p:strVal val="#ppt_y"/>
                                          </p:val>
                                        </p:tav>
                                      </p:tavLst>
                                    </p:anim>
                                  </p:childTnLst>
                                </p:cTn>
                              </p:par>
                            </p:childTnLst>
                          </p:cTn>
                        </p:par>
                        <p:par>
                          <p:cTn id="96" fill="hold">
                            <p:stCondLst>
                              <p:cond delay="800"/>
                            </p:stCondLst>
                            <p:childTnLst>
                              <p:par>
                                <p:cTn id="97" presetID="53" presetClass="entr" presetSubtype="16" fill="hold" grpId="0" nodeType="afterEffect">
                                  <p:stCondLst>
                                    <p:cond delay="0"/>
                                  </p:stCondLst>
                                  <p:childTnLst>
                                    <p:set>
                                      <p:cBhvr>
                                        <p:cTn id="98" dur="1" fill="hold">
                                          <p:stCondLst>
                                            <p:cond delay="0"/>
                                          </p:stCondLst>
                                        </p:cTn>
                                        <p:tgtEl>
                                          <p:spTgt spid="40"/>
                                        </p:tgtEl>
                                        <p:attrNameLst>
                                          <p:attrName>style.visibility</p:attrName>
                                        </p:attrNameLst>
                                      </p:cBhvr>
                                      <p:to>
                                        <p:strVal val="visible"/>
                                      </p:to>
                                    </p:set>
                                    <p:animEffect transition="in" filter="fade">
                                      <p:cBhvr>
                                        <p:cTn id="99" dur="550"/>
                                        <p:tgtEl>
                                          <p:spTgt spid="40"/>
                                        </p:tgtEl>
                                      </p:cBhvr>
                                    </p:animEffect>
                                    <p:anim calcmode="lin" valueType="num">
                                      <p:cBhvr additive="base">
                                        <p:cTn id="100" dur="550" fill="hold"/>
                                        <p:tgtEl>
                                          <p:spTgt spid="40"/>
                                        </p:tgtEl>
                                        <p:attrNameLst>
                                          <p:attrName>ppt_w</p:attrName>
                                        </p:attrNameLst>
                                      </p:cBhvr>
                                      <p:tavLst>
                                        <p:tav tm="0">
                                          <p:val>
                                            <p:strVal val="0"/>
                                          </p:val>
                                        </p:tav>
                                        <p:tav tm="100000">
                                          <p:val>
                                            <p:strVal val="#ppt_w"/>
                                          </p:val>
                                        </p:tav>
                                      </p:tavLst>
                                    </p:anim>
                                    <p:anim calcmode="lin" valueType="num">
                                      <p:cBhvr additive="base">
                                        <p:cTn id="101" dur="550" fill="hold"/>
                                        <p:tgtEl>
                                          <p:spTgt spid="40"/>
                                        </p:tgtEl>
                                        <p:attrNameLst>
                                          <p:attrName>ppt_h</p:attrName>
                                        </p:attrNameLst>
                                      </p:cBhvr>
                                      <p:tavLst>
                                        <p:tav tm="0">
                                          <p:val>
                                            <p:strVal val="0"/>
                                          </p:val>
                                        </p:tav>
                                        <p:tav tm="100000">
                                          <p:val>
                                            <p:strVal val="#ppt_h"/>
                                          </p:val>
                                        </p:tav>
                                      </p:tavLst>
                                    </p:anim>
                                  </p:childTnLst>
                                </p:cTn>
                              </p:par>
                            </p:childTnLst>
                          </p:cTn>
                        </p:par>
                        <p:par>
                          <p:cTn id="102" fill="hold">
                            <p:stCondLst>
                              <p:cond delay="800"/>
                            </p:stCondLst>
                            <p:childTnLst>
                              <p:par>
                                <p:cTn id="103" presetID="42" presetClass="entr" presetSubtype="0" fill="hold" grpId="0" nodeType="afterEffect">
                                  <p:stCondLst>
                                    <p:cond delay="0"/>
                                  </p:stCondLst>
                                  <p:childTnLst>
                                    <p:set>
                                      <p:cBhvr>
                                        <p:cTn id="104" dur="1" fill="hold">
                                          <p:stCondLst>
                                            <p:cond delay="0"/>
                                          </p:stCondLst>
                                        </p:cTn>
                                        <p:tgtEl>
                                          <p:spTgt spid="41"/>
                                        </p:tgtEl>
                                        <p:attrNameLst>
                                          <p:attrName>style.visibility</p:attrName>
                                        </p:attrNameLst>
                                      </p:cBhvr>
                                      <p:to>
                                        <p:strVal val="visible"/>
                                      </p:to>
                                    </p:set>
                                    <p:animEffect transition="in" filter="fade">
                                      <p:cBhvr>
                                        <p:cTn id="105" dur="550"/>
                                        <p:tgtEl>
                                          <p:spTgt spid="41"/>
                                        </p:tgtEl>
                                      </p:cBhvr>
                                    </p:animEffect>
                                    <p:anim calcmode="lin" valueType="num">
                                      <p:cBhvr additive="base">
                                        <p:cTn id="106" dur="550" fill="hold"/>
                                        <p:tgtEl>
                                          <p:spTgt spid="41"/>
                                        </p:tgtEl>
                                        <p:attrNameLst>
                                          <p:attrName>ppt_x</p:attrName>
                                        </p:attrNameLst>
                                      </p:cBhvr>
                                      <p:tavLst>
                                        <p:tav tm="0">
                                          <p:val>
                                            <p:strVal val="#ppt_x"/>
                                          </p:val>
                                        </p:tav>
                                        <p:tav tm="100000">
                                          <p:val>
                                            <p:strVal val="#ppt_x"/>
                                          </p:val>
                                        </p:tav>
                                      </p:tavLst>
                                    </p:anim>
                                    <p:anim calcmode="lin" valueType="num">
                                      <p:cBhvr additive="base">
                                        <p:cTn id="107" dur="550" fill="hold"/>
                                        <p:tgtEl>
                                          <p:spTgt spid="41"/>
                                        </p:tgtEl>
                                        <p:attrNameLst>
                                          <p:attrName>ppt_y</p:attrName>
                                        </p:attrNameLst>
                                      </p:cBhvr>
                                      <p:tavLst>
                                        <p:tav tm="0">
                                          <p:val>
                                            <p:strVal val="#ppt_y+.08"/>
                                          </p:val>
                                        </p:tav>
                                        <p:tav tm="100000">
                                          <p:val>
                                            <p:strVal val="#ppt_y"/>
                                          </p:val>
                                        </p:tav>
                                      </p:tavLst>
                                    </p:anim>
                                  </p:childTnLst>
                                </p:cTn>
                              </p:par>
                            </p:childTnLst>
                          </p:cTn>
                        </p:par>
                        <p:par>
                          <p:cTn id="108" fill="hold">
                            <p:stCondLst>
                              <p:cond delay="1000"/>
                            </p:stCondLst>
                            <p:childTnLst>
                              <p:par>
                                <p:cTn id="109" presetID="42" presetClass="entr" presetSubtype="0" fill="hold" grpId="0" nodeType="afterEffect">
                                  <p:stCondLst>
                                    <p:cond delay="0"/>
                                  </p:stCondLst>
                                  <p:childTnLst>
                                    <p:set>
                                      <p:cBhvr>
                                        <p:cTn id="110" dur="1" fill="hold">
                                          <p:stCondLst>
                                            <p:cond delay="0"/>
                                          </p:stCondLst>
                                        </p:cTn>
                                        <p:tgtEl>
                                          <p:spTgt spid="42"/>
                                        </p:tgtEl>
                                        <p:attrNameLst>
                                          <p:attrName>style.visibility</p:attrName>
                                        </p:attrNameLst>
                                      </p:cBhvr>
                                      <p:to>
                                        <p:strVal val="visible"/>
                                      </p:to>
                                    </p:set>
                                    <p:animEffect transition="in" filter="fade">
                                      <p:cBhvr>
                                        <p:cTn id="111" dur="550"/>
                                        <p:tgtEl>
                                          <p:spTgt spid="42"/>
                                        </p:tgtEl>
                                      </p:cBhvr>
                                    </p:animEffect>
                                    <p:anim calcmode="lin" valueType="num">
                                      <p:cBhvr additive="base">
                                        <p:cTn id="112" dur="550" fill="hold"/>
                                        <p:tgtEl>
                                          <p:spTgt spid="42"/>
                                        </p:tgtEl>
                                        <p:attrNameLst>
                                          <p:attrName>ppt_x</p:attrName>
                                        </p:attrNameLst>
                                      </p:cBhvr>
                                      <p:tavLst>
                                        <p:tav tm="0">
                                          <p:val>
                                            <p:strVal val="#ppt_x"/>
                                          </p:val>
                                        </p:tav>
                                        <p:tav tm="100000">
                                          <p:val>
                                            <p:strVal val="#ppt_x"/>
                                          </p:val>
                                        </p:tav>
                                      </p:tavLst>
                                    </p:anim>
                                    <p:anim calcmode="lin" valueType="num">
                                      <p:cBhvr additive="base">
                                        <p:cTn id="113" dur="550" fill="hold"/>
                                        <p:tgtEl>
                                          <p:spTgt spid="42"/>
                                        </p:tgtEl>
                                        <p:attrNameLst>
                                          <p:attrName>ppt_y</p:attrName>
                                        </p:attrNameLst>
                                      </p:cBhvr>
                                      <p:tavLst>
                                        <p:tav tm="0">
                                          <p:val>
                                            <p:strVal val="#ppt_y+.08"/>
                                          </p:val>
                                        </p:tav>
                                        <p:tav tm="100000">
                                          <p:val>
                                            <p:strVal val="#ppt_y"/>
                                          </p:val>
                                        </p:tav>
                                      </p:tavLst>
                                    </p:anim>
                                  </p:childTnLst>
                                </p:cTn>
                              </p:par>
                            </p:childTnLst>
                          </p:cTn>
                        </p:par>
                        <p:par>
                          <p:cTn id="114" fill="hold">
                            <p:stCondLst>
                              <p:cond delay="1000"/>
                            </p:stCondLst>
                            <p:childTnLst>
                              <p:par>
                                <p:cTn id="115" presetID="42" presetClass="entr" presetSubtype="0" fill="hold" grpId="0" nodeType="afterEffect">
                                  <p:stCondLst>
                                    <p:cond delay="0"/>
                                  </p:stCondLst>
                                  <p:childTnLst>
                                    <p:set>
                                      <p:cBhvr>
                                        <p:cTn id="116" dur="1" fill="hold">
                                          <p:stCondLst>
                                            <p:cond delay="0"/>
                                          </p:stCondLst>
                                        </p:cTn>
                                        <p:tgtEl>
                                          <p:spTgt spid="43"/>
                                        </p:tgtEl>
                                        <p:attrNameLst>
                                          <p:attrName>style.visibility</p:attrName>
                                        </p:attrNameLst>
                                      </p:cBhvr>
                                      <p:to>
                                        <p:strVal val="visible"/>
                                      </p:to>
                                    </p:set>
                                    <p:animEffect transition="in" filter="fade">
                                      <p:cBhvr>
                                        <p:cTn id="117" dur="550"/>
                                        <p:tgtEl>
                                          <p:spTgt spid="43"/>
                                        </p:tgtEl>
                                      </p:cBhvr>
                                    </p:animEffect>
                                    <p:anim calcmode="lin" valueType="num">
                                      <p:cBhvr additive="base">
                                        <p:cTn id="118" dur="550" fill="hold"/>
                                        <p:tgtEl>
                                          <p:spTgt spid="43"/>
                                        </p:tgtEl>
                                        <p:attrNameLst>
                                          <p:attrName>ppt_x</p:attrName>
                                        </p:attrNameLst>
                                      </p:cBhvr>
                                      <p:tavLst>
                                        <p:tav tm="0">
                                          <p:val>
                                            <p:strVal val="#ppt_x"/>
                                          </p:val>
                                        </p:tav>
                                        <p:tav tm="100000">
                                          <p:val>
                                            <p:strVal val="#ppt_x"/>
                                          </p:val>
                                        </p:tav>
                                      </p:tavLst>
                                    </p:anim>
                                    <p:anim calcmode="lin" valueType="num">
                                      <p:cBhvr additive="base">
                                        <p:cTn id="119" dur="550" fill="hold"/>
                                        <p:tgtEl>
                                          <p:spTgt spid="43"/>
                                        </p:tgtEl>
                                        <p:attrNameLst>
                                          <p:attrName>ppt_y</p:attrName>
                                        </p:attrNameLst>
                                      </p:cBhvr>
                                      <p:tavLst>
                                        <p:tav tm="0">
                                          <p:val>
                                            <p:strVal val="#ppt_y+.08"/>
                                          </p:val>
                                        </p:tav>
                                        <p:tav tm="100000">
                                          <p:val>
                                            <p:strVal val="#ppt_y"/>
                                          </p:val>
                                        </p:tav>
                                      </p:tavLst>
                                    </p:anim>
                                  </p:childTnLst>
                                </p:cTn>
                              </p:par>
                            </p:childTnLst>
                          </p:cTn>
                        </p:par>
                        <p:par>
                          <p:cTn id="120" fill="hold">
                            <p:stCondLst>
                              <p:cond delay="1000"/>
                            </p:stCondLst>
                            <p:childTnLst>
                              <p:par>
                                <p:cTn id="121" presetID="53" presetClass="entr" presetSubtype="16" fill="hold" grpId="0" nodeType="afterEffect">
                                  <p:stCondLst>
                                    <p:cond delay="0"/>
                                  </p:stCondLst>
                                  <p:childTnLst>
                                    <p:set>
                                      <p:cBhvr>
                                        <p:cTn id="122" dur="1" fill="hold">
                                          <p:stCondLst>
                                            <p:cond delay="0"/>
                                          </p:stCondLst>
                                        </p:cTn>
                                        <p:tgtEl>
                                          <p:spTgt spid="44"/>
                                        </p:tgtEl>
                                        <p:attrNameLst>
                                          <p:attrName>style.visibility</p:attrName>
                                        </p:attrNameLst>
                                      </p:cBhvr>
                                      <p:to>
                                        <p:strVal val="visible"/>
                                      </p:to>
                                    </p:set>
                                    <p:animEffect transition="in" filter="fade">
                                      <p:cBhvr>
                                        <p:cTn id="123" dur="550"/>
                                        <p:tgtEl>
                                          <p:spTgt spid="44"/>
                                        </p:tgtEl>
                                      </p:cBhvr>
                                    </p:animEffect>
                                    <p:anim calcmode="lin" valueType="num">
                                      <p:cBhvr additive="base">
                                        <p:cTn id="124" dur="550" fill="hold"/>
                                        <p:tgtEl>
                                          <p:spTgt spid="44"/>
                                        </p:tgtEl>
                                        <p:attrNameLst>
                                          <p:attrName>ppt_w</p:attrName>
                                        </p:attrNameLst>
                                      </p:cBhvr>
                                      <p:tavLst>
                                        <p:tav tm="0">
                                          <p:val>
                                            <p:strVal val="0"/>
                                          </p:val>
                                        </p:tav>
                                        <p:tav tm="100000">
                                          <p:val>
                                            <p:strVal val="#ppt_w"/>
                                          </p:val>
                                        </p:tav>
                                      </p:tavLst>
                                    </p:anim>
                                    <p:anim calcmode="lin" valueType="num">
                                      <p:cBhvr additive="base">
                                        <p:cTn id="125" dur="550" fill="hold"/>
                                        <p:tgtEl>
                                          <p:spTgt spid="44"/>
                                        </p:tgtEl>
                                        <p:attrNameLst>
                                          <p:attrName>ppt_h</p:attrName>
                                        </p:attrNameLst>
                                      </p:cBhvr>
                                      <p:tavLst>
                                        <p:tav tm="0">
                                          <p:val>
                                            <p:strVal val="0"/>
                                          </p:val>
                                        </p:tav>
                                        <p:tav tm="100000">
                                          <p:val>
                                            <p:strVal val="#ppt_h"/>
                                          </p:val>
                                        </p:tav>
                                      </p:tavLst>
                                    </p:anim>
                                  </p:childTnLst>
                                </p:cTn>
                              </p:par>
                            </p:childTnLst>
                          </p:cTn>
                        </p:par>
                        <p:par>
                          <p:cTn id="126" fill="hold">
                            <p:stCondLst>
                              <p:cond delay="1000"/>
                            </p:stCondLst>
                            <p:childTnLst>
                              <p:par>
                                <p:cTn id="127" presetID="42" presetClass="entr" presetSubtype="0" fill="hold" grpId="0" nodeType="afterEffect">
                                  <p:stCondLst>
                                    <p:cond delay="0"/>
                                  </p:stCondLst>
                                  <p:childTnLst>
                                    <p:set>
                                      <p:cBhvr>
                                        <p:cTn id="128" dur="1" fill="hold">
                                          <p:stCondLst>
                                            <p:cond delay="0"/>
                                          </p:stCondLst>
                                        </p:cTn>
                                        <p:tgtEl>
                                          <p:spTgt spid="45"/>
                                        </p:tgtEl>
                                        <p:attrNameLst>
                                          <p:attrName>style.visibility</p:attrName>
                                        </p:attrNameLst>
                                      </p:cBhvr>
                                      <p:to>
                                        <p:strVal val="visible"/>
                                      </p:to>
                                    </p:set>
                                    <p:animEffect transition="in" filter="fade">
                                      <p:cBhvr>
                                        <p:cTn id="129" dur="550"/>
                                        <p:tgtEl>
                                          <p:spTgt spid="45"/>
                                        </p:tgtEl>
                                      </p:cBhvr>
                                    </p:animEffect>
                                    <p:anim calcmode="lin" valueType="num">
                                      <p:cBhvr additive="base">
                                        <p:cTn id="130" dur="550" fill="hold"/>
                                        <p:tgtEl>
                                          <p:spTgt spid="45"/>
                                        </p:tgtEl>
                                        <p:attrNameLst>
                                          <p:attrName>ppt_x</p:attrName>
                                        </p:attrNameLst>
                                      </p:cBhvr>
                                      <p:tavLst>
                                        <p:tav tm="0">
                                          <p:val>
                                            <p:strVal val="#ppt_x"/>
                                          </p:val>
                                        </p:tav>
                                        <p:tav tm="100000">
                                          <p:val>
                                            <p:strVal val="#ppt_x"/>
                                          </p:val>
                                        </p:tav>
                                      </p:tavLst>
                                    </p:anim>
                                    <p:anim calcmode="lin" valueType="num">
                                      <p:cBhvr additive="base">
                                        <p:cTn id="131" dur="550" fill="hold"/>
                                        <p:tgtEl>
                                          <p:spTgt spid="45"/>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4" name="Picture 43" descr="a1eb192181681b00.jpg"/>
          <p:cNvPicPr>
            <a:picLocks noChangeAspect="1"/>
          </p:cNvPicPr>
          <p:nvPr/>
        </p:nvPicPr>
        <p:blipFill>
          <a:blip r:embed="rId2"/>
          <a:srcRect t="2971" b="2971"/>
          <a:stretch>
            <a:fillRect/>
          </a:stretch>
        </p:blipFill>
        <p:spPr>
          <a:xfrm>
            <a:off x="6300000" y="800000"/>
            <a:ext cx="5300000" cy="4950000"/>
          </a:xfrm>
          <a:prstGeom prst="roundRect">
            <a:avLst/>
          </a:prstGeom>
          <a:ln w="19050">
            <a:solidFill>
              <a:srgbClr val="22D3EE"/>
            </a:solidFill>
          </a:ln>
        </p:spPr>
      </p:pic>
      <p:sp>
        <p:nvSpPr>
          <p:cNvPr id="45" name="TextBox 44"/>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Mister rf · Wikimedia Commons · CC BY-SA 4.0</a:t>
            </a:r>
          </a:p>
        </p:txBody>
      </p:sp>
      <p:sp>
        <p:nvSpPr>
          <p:cNvPr id="46" name="TextBox 45"/>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01</a:t>
            </a:r>
          </a:p>
        </p:txBody>
      </p:sp>
      <p:sp>
        <p:nvSpPr>
          <p:cNvPr id="47" name="TextBox 46"/>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8" name="TextBox 47"/>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Xotira iyerarxiyasi va uning raqamlari</a:t>
            </a:r>
          </a:p>
        </p:txBody>
      </p:sp>
      <p:sp>
        <p:nvSpPr>
          <p:cNvPr id="49" name="Rectangle 48"/>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0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150"/>
                            </p:stCondLst>
                            <p:childTnLst>
                              <p:par>
                                <p:cTn id="164" presetID="53" presetClass="entr" presetSubtype="16"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anim calcmode="lin" valueType="num">
                                      <p:cBhvr additive="base">
                                        <p:cTn id="167" dur="550" fill="hold"/>
                                        <p:tgtEl>
                                          <p:spTgt spid="43"/>
                                        </p:tgtEl>
                                        <p:attrNameLst>
                                          <p:attrName>ppt_w</p:attrName>
                                        </p:attrNameLst>
                                      </p:cBhvr>
                                      <p:tavLst>
                                        <p:tav tm="0">
                                          <p:val>
                                            <p:strVal val="0"/>
                                          </p:val>
                                        </p:tav>
                                        <p:tav tm="100000">
                                          <p:val>
                                            <p:strVal val="#ppt_w"/>
                                          </p:val>
                                        </p:tav>
                                      </p:tavLst>
                                    </p:anim>
                                    <p:anim calcmode="lin" valueType="num">
                                      <p:cBhvr additive="base">
                                        <p:cTn id="168" dur="550" fill="hold"/>
                                        <p:tgtEl>
                                          <p:spTgt spid="43"/>
                                        </p:tgtEl>
                                        <p:attrNameLst>
                                          <p:attrName>ppt_h</p:attrName>
                                        </p:attrNameLst>
                                      </p:cBhvr>
                                      <p:tavLst>
                                        <p:tav tm="0">
                                          <p:val>
                                            <p:strVal val="0"/>
                                          </p:val>
                                        </p:tav>
                                        <p:tav tm="100000">
                                          <p:val>
                                            <p:strVal val="#ppt_h"/>
                                          </p:val>
                                        </p:tav>
                                      </p:tavLst>
                                    </p:anim>
                                  </p:childTnLst>
                                </p:cTn>
                              </p:par>
                            </p:childTnLst>
                          </p:cTn>
                        </p:par>
                        <p:par>
                          <p:cTn id="169" fill="hold">
                            <p:stCondLst>
                              <p:cond delay="150"/>
                            </p:stCondLst>
                            <p:childTnLst>
                              <p:par>
                                <p:cTn id="170" presetID="53" presetClass="entr" presetSubtype="16" fill="hold" grpId="0" nodeType="afterEffect">
                                  <p:stCondLst>
                                    <p:cond delay="0"/>
                                  </p:stCondLst>
                                  <p:childTnLst>
                                    <p:set>
                                      <p:cBhvr>
                                        <p:cTn id="171" dur="1" fill="hold">
                                          <p:stCondLst>
                                            <p:cond delay="0"/>
                                          </p:stCondLst>
                                        </p:cTn>
                                        <p:tgtEl>
                                          <p:spTgt spid="44"/>
                                        </p:tgtEl>
                                        <p:attrNameLst>
                                          <p:attrName>style.visibility</p:attrName>
                                        </p:attrNameLst>
                                      </p:cBhvr>
                                      <p:to>
                                        <p:strVal val="visible"/>
                                      </p:to>
                                    </p:set>
                                    <p:animEffect transition="in" filter="fade">
                                      <p:cBhvr>
                                        <p:cTn id="172" dur="550"/>
                                        <p:tgtEl>
                                          <p:spTgt spid="44"/>
                                        </p:tgtEl>
                                      </p:cBhvr>
                                    </p:animEffect>
                                    <p:anim calcmode="lin" valueType="num">
                                      <p:cBhvr additive="base">
                                        <p:cTn id="173" dur="550" fill="hold"/>
                                        <p:tgtEl>
                                          <p:spTgt spid="44"/>
                                        </p:tgtEl>
                                        <p:attrNameLst>
                                          <p:attrName>ppt_w</p:attrName>
                                        </p:attrNameLst>
                                      </p:cBhvr>
                                      <p:tavLst>
                                        <p:tav tm="0">
                                          <p:val>
                                            <p:strVal val="0"/>
                                          </p:val>
                                        </p:tav>
                                        <p:tav tm="100000">
                                          <p:val>
                                            <p:strVal val="#ppt_w"/>
                                          </p:val>
                                        </p:tav>
                                      </p:tavLst>
                                    </p:anim>
                                    <p:anim calcmode="lin" valueType="num">
                                      <p:cBhvr additive="base">
                                        <p:cTn id="174" dur="550" fill="hold"/>
                                        <p:tgtEl>
                                          <p:spTgt spid="44"/>
                                        </p:tgtEl>
                                        <p:attrNameLst>
                                          <p:attrName>ppt_h</p:attrName>
                                        </p:attrNameLst>
                                      </p:cBhvr>
                                      <p:tavLst>
                                        <p:tav tm="0">
                                          <p:val>
                                            <p:strVal val="0"/>
                                          </p:val>
                                        </p:tav>
                                        <p:tav tm="100000">
                                          <p:val>
                                            <p:strVal val="#ppt_h"/>
                                          </p:val>
                                        </p:tav>
                                      </p:tavLst>
                                    </p:anim>
                                  </p:childTnLst>
                                </p:cTn>
                              </p:par>
                            </p:childTnLst>
                          </p:cTn>
                        </p:par>
                        <p:par>
                          <p:cTn id="175" fill="hold">
                            <p:stCondLst>
                              <p:cond delay="150"/>
                            </p:stCondLst>
                            <p:childTnLst>
                              <p:par>
                                <p:cTn id="176" presetID="10" presetClass="entr" presetSubtype="0" fill="hold" grpId="0" nodeType="afterEffect">
                                  <p:stCondLst>
                                    <p:cond delay="0"/>
                                  </p:stCondLst>
                                  <p:childTnLst>
                                    <p:set>
                                      <p:cBhvr>
                                        <p:cTn id="177" dur="1" fill="hold">
                                          <p:stCondLst>
                                            <p:cond delay="0"/>
                                          </p:stCondLst>
                                        </p:cTn>
                                        <p:tgtEl>
                                          <p:spTgt spid="45"/>
                                        </p:tgtEl>
                                        <p:attrNameLst>
                                          <p:attrName>style.visibility</p:attrName>
                                        </p:attrNameLst>
                                      </p:cBhvr>
                                      <p:to>
                                        <p:strVal val="visible"/>
                                      </p:to>
                                    </p:set>
                                    <p:animEffect transition="in" filter="fade">
                                      <p:cBhvr>
                                        <p:cTn id="178" dur="550"/>
                                        <p:tgtEl>
                                          <p:spTgt spid="45"/>
                                        </p:tgtEl>
                                      </p:cBhvr>
                                    </p:animEffect>
                                  </p:childTnLst>
                                </p:cTn>
                              </p:par>
                            </p:childTnLst>
                          </p:cTn>
                        </p:par>
                        <p:par>
                          <p:cTn id="179" fill="hold">
                            <p:stCondLst>
                              <p:cond delay="350"/>
                            </p:stCondLst>
                            <p:childTnLst>
                              <p:par>
                                <p:cTn id="180" presetID="53" presetClass="entr" presetSubtype="16" fill="hold" grpId="0" nodeType="afterEffect">
                                  <p:stCondLst>
                                    <p:cond delay="0"/>
                                  </p:stCondLst>
                                  <p:childTnLst>
                                    <p:set>
                                      <p:cBhvr>
                                        <p:cTn id="181" dur="1" fill="hold">
                                          <p:stCondLst>
                                            <p:cond delay="0"/>
                                          </p:stCondLst>
                                        </p:cTn>
                                        <p:tgtEl>
                                          <p:spTgt spid="46"/>
                                        </p:tgtEl>
                                        <p:attrNameLst>
                                          <p:attrName>style.visibility</p:attrName>
                                        </p:attrNameLst>
                                      </p:cBhvr>
                                      <p:to>
                                        <p:strVal val="visible"/>
                                      </p:to>
                                    </p:set>
                                    <p:animEffect transition="in" filter="fade">
                                      <p:cBhvr>
                                        <p:cTn id="182" dur="550"/>
                                        <p:tgtEl>
                                          <p:spTgt spid="46"/>
                                        </p:tgtEl>
                                      </p:cBhvr>
                                    </p:animEffect>
                                    <p:anim calcmode="lin" valueType="num">
                                      <p:cBhvr additive="base">
                                        <p:cTn id="183" dur="550" fill="hold"/>
                                        <p:tgtEl>
                                          <p:spTgt spid="46"/>
                                        </p:tgtEl>
                                        <p:attrNameLst>
                                          <p:attrName>ppt_w</p:attrName>
                                        </p:attrNameLst>
                                      </p:cBhvr>
                                      <p:tavLst>
                                        <p:tav tm="0">
                                          <p:val>
                                            <p:strVal val="0"/>
                                          </p:val>
                                        </p:tav>
                                        <p:tav tm="100000">
                                          <p:val>
                                            <p:strVal val="#ppt_w"/>
                                          </p:val>
                                        </p:tav>
                                      </p:tavLst>
                                    </p:anim>
                                    <p:anim calcmode="lin" valueType="num">
                                      <p:cBhvr additive="base">
                                        <p:cTn id="184" dur="550" fill="hold"/>
                                        <p:tgtEl>
                                          <p:spTgt spid="46"/>
                                        </p:tgtEl>
                                        <p:attrNameLst>
                                          <p:attrName>ppt_h</p:attrName>
                                        </p:attrNameLst>
                                      </p:cBhvr>
                                      <p:tavLst>
                                        <p:tav tm="0">
                                          <p:val>
                                            <p:strVal val="0"/>
                                          </p:val>
                                        </p:tav>
                                        <p:tav tm="100000">
                                          <p:val>
                                            <p:strVal val="#ppt_h"/>
                                          </p:val>
                                        </p:tav>
                                      </p:tavLst>
                                    </p:anim>
                                  </p:childTnLst>
                                </p:cTn>
                              </p:par>
                            </p:childTnLst>
                          </p:cTn>
                        </p:par>
                        <p:par>
                          <p:cTn id="185" fill="hold">
                            <p:stCondLst>
                              <p:cond delay="450"/>
                            </p:stCondLst>
                            <p:childTnLst>
                              <p:par>
                                <p:cTn id="186" presetID="10" presetClass="entr" presetSubtype="0" fill="hold" grpId="0" nodeType="afterEffect">
                                  <p:stCondLst>
                                    <p:cond delay="0"/>
                                  </p:stCondLst>
                                  <p:childTnLst>
                                    <p:set>
                                      <p:cBhvr>
                                        <p:cTn id="187" dur="1" fill="hold">
                                          <p:stCondLst>
                                            <p:cond delay="0"/>
                                          </p:stCondLst>
                                        </p:cTn>
                                        <p:tgtEl>
                                          <p:spTgt spid="47"/>
                                        </p:tgtEl>
                                        <p:attrNameLst>
                                          <p:attrName>style.visibility</p:attrName>
                                        </p:attrNameLst>
                                      </p:cBhvr>
                                      <p:to>
                                        <p:strVal val="visible"/>
                                      </p:to>
                                    </p:set>
                                    <p:animEffect transition="in" filter="fade">
                                      <p:cBhvr>
                                        <p:cTn id="188" dur="550"/>
                                        <p:tgtEl>
                                          <p:spTgt spid="47"/>
                                        </p:tgtEl>
                                      </p:cBhvr>
                                    </p:animEffect>
                                  </p:childTnLst>
                                </p:cTn>
                              </p:par>
                            </p:childTnLst>
                          </p:cTn>
                        </p:par>
                        <p:par>
                          <p:cTn id="189" fill="hold">
                            <p:stCondLst>
                              <p:cond delay="550"/>
                            </p:stCondLst>
                            <p:childTnLst>
                              <p:par>
                                <p:cTn id="190" presetID="2" presetClass="entr" presetSubtype="8" fill="hold" grpId="0" nodeType="afterEffect">
                                  <p:stCondLst>
                                    <p:cond delay="0"/>
                                  </p:stCondLst>
                                  <p:childTnLst>
                                    <p:set>
                                      <p:cBhvr>
                                        <p:cTn id="191" dur="1" fill="hold">
                                          <p:stCondLst>
                                            <p:cond delay="0"/>
                                          </p:stCondLst>
                                        </p:cTn>
                                        <p:tgtEl>
                                          <p:spTgt spid="48"/>
                                        </p:tgtEl>
                                        <p:attrNameLst>
                                          <p:attrName>style.visibility</p:attrName>
                                        </p:attrNameLst>
                                      </p:cBhvr>
                                      <p:to>
                                        <p:strVal val="visible"/>
                                      </p:to>
                                    </p:set>
                                    <p:anim calcmode="lin" valueType="num">
                                      <p:cBhvr additive="base">
                                        <p:cTn id="193" dur="550" fill="hold"/>
                                        <p:tgtEl>
                                          <p:spTgt spid="48"/>
                                        </p:tgtEl>
                                        <p:attrNameLst>
                                          <p:attrName>ppt_x</p:attrName>
                                        </p:attrNameLst>
                                      </p:cBhvr>
                                      <p:tavLst>
                                        <p:tav tm="0">
                                          <p:val>
                                            <p:strVal val="0-#ppt_w/2"/>
                                          </p:val>
                                        </p:tav>
                                        <p:tav tm="100000">
                                          <p:val>
                                            <p:strVal val="#ppt_x"/>
                                          </p:val>
                                        </p:tav>
                                      </p:tavLst>
                                    </p:anim>
                                    <p:anim calcmode="lin" valueType="num">
                                      <p:cBhvr additive="base">
                                        <p:cTn id="194" dur="550" fill="hold"/>
                                        <p:tgtEl>
                                          <p:spTgt spid="48"/>
                                        </p:tgtEl>
                                        <p:attrNameLst>
                                          <p:attrName>ppt_y</p:attrName>
                                        </p:attrNameLst>
                                      </p:cBhvr>
                                      <p:tavLst>
                                        <p:tav tm="0">
                                          <p:val>
                                            <p:strVal val="#ppt_y"/>
                                          </p:val>
                                        </p:tav>
                                        <p:tav tm="100000">
                                          <p:val>
                                            <p:strVal val="#ppt_y"/>
                                          </p:val>
                                        </p:tav>
                                      </p:tavLst>
                                    </p:anim>
                                  </p:childTnLst>
                                </p:cTn>
                              </p:par>
                            </p:childTnLst>
                          </p:cTn>
                        </p:par>
                        <p:par>
                          <p:cTn id="195" fill="hold">
                            <p:stCondLst>
                              <p:cond delay="650"/>
                            </p:stCondLst>
                            <p:childTnLst>
                              <p:par>
                                <p:cTn id="196" presetID="22" presetClass="entr" presetSubtype="8" fill="hold" grpId="0" nodeType="afterEffect">
                                  <p:stCondLst>
                                    <p:cond delay="0"/>
                                  </p:stCondLst>
                                  <p:childTnLst>
                                    <p:set>
                                      <p:cBhvr>
                                        <p:cTn id="197" dur="1" fill="hold">
                                          <p:stCondLst>
                                            <p:cond delay="0"/>
                                          </p:stCondLst>
                                        </p:cTn>
                                        <p:tgtEl>
                                          <p:spTgt spid="49"/>
                                        </p:tgtEl>
                                        <p:attrNameLst>
                                          <p:attrName>style.visibility</p:attrName>
                                        </p:attrNameLst>
                                      </p:cBhvr>
                                      <p:to>
                                        <p:strVal val="visible"/>
                                      </p:to>
                                    </p:set>
                                    <p:animEffect transition="in" filter="wipe(left)">
                                      <p:cBhvr>
                                        <p:cTn id="199" dur="8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5" grpId="0" animBg="1"/>
      <p:bldP spid="46" grpId="0" animBg="1"/>
      <p:bldP spid="47" grpId="0" animBg="1"/>
      <p:bldP spid="48" grpId="0" animBg="1"/>
      <p:bldP spid="49"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1-REJA</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Xotira iyerarxiyasi va uning raqamlari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4</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131e6480132f7464.jpg"/>
          <p:cNvPicPr>
            <a:picLocks noChangeAspect="1"/>
          </p:cNvPicPr>
          <p:nvPr/>
        </p:nvPicPr>
        <p:blipFill>
          <a:blip r:embed="rId2"/>
          <a:srcRect l="18285" r="18285"/>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Adam Greig from Cambridge, UK · Wikimedia Commons · CC BY-SA 2.0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2568868"/>
            <a:ext cx="6750000" cy="244226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648868"/>
            <a:ext cx="50000" cy="22822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0" name="TextBox 29"/>
          <p:cNvSpPr txBox="1"/>
          <p:nvPr/>
        </p:nvSpPr>
        <p:spPr>
          <a:xfrm>
            <a:off x="1300000" y="2608868"/>
            <a:ext cx="5900000" cy="2362264"/>
          </a:xfrm>
          <a:prstGeom prst="rect">
            <a:avLst/>
          </a:prstGeom>
          <a:noFill/>
        </p:spPr>
        <p:txBody>
          <a:bodyPr wrap="square" anchor="ctr">
            <a:spAutoFit/>
          </a:bodyPr>
          <a:lstStyle/>
          <a:p>
            <a:r>
              <a:rPr sz="1500" b="1">
                <a:solidFill>
                  <a:srgbClr val="E8EEFA"/>
                </a:solidFill>
                <a:latin typeface="Segoe UI"/>
              </a:rPr>
              <a:t>Xotira iyerarxiyasi — bu tezlik, hajm va narx o'rtasidagi murosaning muhandislik yechimi.</a:t>
            </a:r>
          </a:p>
          <a:p>
            <a:pPr>
              <a:spcBef>
                <a:spcPts val="400"/>
              </a:spcBef>
            </a:pPr>
            <a:r>
              <a:rPr sz="1400">
                <a:solidFill>
                  <a:srgbClr val="AEBBD9"/>
                </a:solidFill>
                <a:latin typeface="Segoe UI"/>
              </a:rPr>
              <a:t>Juda tez xotira (SRAM asosidagi registrlar va kesh) qimmat va kichik hajmli, katta hajmli xotira (DRAM, flesh) esa sekin. Iyerarxiya g'oyasi shundan iboratki, dastur hozir ishlatayotgan kichik ma'lumotlar to'plami tez pog'onada, qolgani esa katta va sekin pog'onalarda saqlanadi. Hennessy va Patterson [1] ta'kidlaganidek, bu yechim faqat dasturlar lokallik xususiyatiga ega bo'lgani uchungina ishlaydi.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1-REJA</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Xotira iyerarxiyasi va uning raqamlari</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5</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eb3731d874c22f7a.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Raimond Spekking · Wikimedia Commons · CC BY-SA 4.0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1879476"/>
            <a:ext cx="6750000" cy="185552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1959476"/>
            <a:ext cx="50000" cy="169552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2607238"/>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2" name="TextBox 31"/>
          <p:cNvSpPr txBox="1"/>
          <p:nvPr/>
        </p:nvSpPr>
        <p:spPr>
          <a:xfrm>
            <a:off x="1300000" y="1919476"/>
            <a:ext cx="5900000" cy="1775524"/>
          </a:xfrm>
          <a:prstGeom prst="rect">
            <a:avLst/>
          </a:prstGeom>
          <a:noFill/>
        </p:spPr>
        <p:txBody>
          <a:bodyPr wrap="square" anchor="ctr">
            <a:spAutoFit/>
          </a:bodyPr>
          <a:lstStyle/>
          <a:p>
            <a:r>
              <a:rPr sz="1400" b="1">
                <a:solidFill>
                  <a:srgbClr val="E8EEFA"/>
                </a:solidFill>
                <a:latin typeface="Segoe UI"/>
              </a:rPr>
              <a:t>Jadvaldan ikki xulosa kelib chiqadi.</a:t>
            </a:r>
          </a:p>
          <a:p>
            <a:pPr>
              <a:spcBef>
                <a:spcPts val="400"/>
              </a:spcBef>
            </a:pPr>
            <a:r>
              <a:rPr sz="1300">
                <a:solidFill>
                  <a:srgbClr val="AEBBD9"/>
                </a:solidFill>
                <a:latin typeface="Segoe UI"/>
              </a:rPr>
              <a:t>Birinchidan, pog'onalar orasida kechikish farqi o'nlab va yuzlab martani tashkil etadi: L1 keshdan o'qish DRAM'dan o'qishdan qariyb yuz marta tez. Ikkinchidan, CPU va GPU orasidagi PCIe havolasi GPU'ning o'z xotirasidan qariyb 50 marta sekin — demak, har bir iteratsiyada ma'lumotni CPU'dan GPU'ga ko'chiradigan kod hech qachon GPU imkoniyatini to'liq ishlata olmaydi.</a:t>
            </a:r>
          </a:p>
        </p:txBody>
      </p:sp>
      <p:sp>
        <p:nvSpPr>
          <p:cNvPr id="33" name="Rounded Rectangle 32"/>
          <p:cNvSpPr/>
          <p:nvPr/>
        </p:nvSpPr>
        <p:spPr>
          <a:xfrm>
            <a:off x="550000" y="3845000"/>
            <a:ext cx="6750000" cy="185552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50000" y="3925000"/>
            <a:ext cx="50000" cy="1695524"/>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760000" y="4572762"/>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6" name="TextBox 35"/>
          <p:cNvSpPr txBox="1"/>
          <p:nvPr/>
        </p:nvSpPr>
        <p:spPr>
          <a:xfrm>
            <a:off x="1300000" y="3885000"/>
            <a:ext cx="5900000" cy="1775524"/>
          </a:xfrm>
          <a:prstGeom prst="rect">
            <a:avLst/>
          </a:prstGeom>
          <a:noFill/>
        </p:spPr>
        <p:txBody>
          <a:bodyPr wrap="square" anchor="ctr">
            <a:spAutoFit/>
          </a:bodyPr>
          <a:lstStyle/>
          <a:p>
            <a:r>
              <a:rPr sz="1400" b="1">
                <a:solidFill>
                  <a:srgbClr val="E8EEFA"/>
                </a:solidFill>
                <a:latin typeface="Segoe UI"/>
              </a:rPr>
              <a:t>Kesh satr (cache line) birligi odatda 64 bayt.</a:t>
            </a:r>
          </a:p>
          <a:p>
            <a:pPr>
              <a:spcBef>
                <a:spcPts val="400"/>
              </a:spcBef>
            </a:pPr>
            <a:r>
              <a:rPr sz="1300">
                <a:solidFill>
                  <a:srgbClr val="AEBBD9"/>
                </a:solidFill>
                <a:latin typeface="Segoe UI"/>
              </a:rPr>
              <a:t>Protsessor xotiradan bitta float32 qiymatni so'raganda ham butun 64 baytlik satr (16 ta float32) keshga yuklanadi. Agar dastur keyingi qadamda qo'shni elementga murojaat qilsa — u allaqachon keshda; agar 4096 bayt naridagi elementga murojaat qilsa — yangi satr yuklanadi, eskisi esa bekor sarflangan bo'ladi. Shu oddiy mexanizm quyida ko'riladigan o'n baravar farqning asosiy sababidir.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3"/>
                                        </p:tgtEl>
                                        <p:attrNameLst>
                                          <p:attrName>style.visibility</p:attrName>
                                        </p:attrNameLst>
                                      </p:cBhvr>
                                      <p:to>
                                        <p:strVal val="visible"/>
                                      </p:to>
                                    </p:set>
                                    <p:animEffect transition="in" filter="fade">
                                      <p:cBhvr>
                                        <p:cTn id="59" dur="550"/>
                                        <p:tgtEl>
                                          <p:spTgt spid="33"/>
                                        </p:tgtEl>
                                      </p:cBhvr>
                                    </p:animEffect>
                                    <p:anim calcmode="lin" valueType="num">
                                      <p:cBhvr additive="base">
                                        <p:cTn id="60" dur="550" fill="hold"/>
                                        <p:tgtEl>
                                          <p:spTgt spid="33"/>
                                        </p:tgtEl>
                                        <p:attrNameLst>
                                          <p:attrName>ppt_x</p:attrName>
                                        </p:attrNameLst>
                                      </p:cBhvr>
                                      <p:tavLst>
                                        <p:tav tm="0">
                                          <p:val>
                                            <p:strVal val="#ppt_x"/>
                                          </p:val>
                                        </p:tav>
                                        <p:tav tm="100000">
                                          <p:val>
                                            <p:strVal val="#ppt_x"/>
                                          </p:val>
                                        </p:tav>
                                      </p:tavLst>
                                    </p:anim>
                                    <p:anim calcmode="lin" valueType="num">
                                      <p:cBhvr additive="base">
                                        <p:cTn id="61" dur="550" fill="hold"/>
                                        <p:tgtEl>
                                          <p:spTgt spid="33"/>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4"/>
                                        </p:tgtEl>
                                        <p:attrNameLst>
                                          <p:attrName>style.visibility</p:attrName>
                                        </p:attrNameLst>
                                      </p:cBhvr>
                                      <p:to>
                                        <p:strVal val="visible"/>
                                      </p:to>
                                    </p:set>
                                    <p:animEffect transition="in" filter="fade">
                                      <p:cBhvr>
                                        <p:cTn id="65" dur="550"/>
                                        <p:tgtEl>
                                          <p:spTgt spid="34"/>
                                        </p:tgtEl>
                                      </p:cBhvr>
                                    </p:animEffect>
                                    <p:anim calcmode="lin" valueType="num">
                                      <p:cBhvr additive="base">
                                        <p:cTn id="66" dur="550" fill="hold"/>
                                        <p:tgtEl>
                                          <p:spTgt spid="34"/>
                                        </p:tgtEl>
                                        <p:attrNameLst>
                                          <p:attrName>ppt_x</p:attrName>
                                        </p:attrNameLst>
                                      </p:cBhvr>
                                      <p:tavLst>
                                        <p:tav tm="0">
                                          <p:val>
                                            <p:strVal val="#ppt_x"/>
                                          </p:val>
                                        </p:tav>
                                        <p:tav tm="100000">
                                          <p:val>
                                            <p:strVal val="#ppt_x"/>
                                          </p:val>
                                        </p:tav>
                                      </p:tavLst>
                                    </p:anim>
                                    <p:anim calcmode="lin" valueType="num">
                                      <p:cBhvr additive="base">
                                        <p:cTn id="67" dur="550" fill="hold"/>
                                        <p:tgtEl>
                                          <p:spTgt spid="34"/>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5"/>
                                        </p:tgtEl>
                                        <p:attrNameLst>
                                          <p:attrName>style.visibility</p:attrName>
                                        </p:attrNameLst>
                                      </p:cBhvr>
                                      <p:to>
                                        <p:strVal val="visible"/>
                                      </p:to>
                                    </p:set>
                                    <p:animEffect transition="in" filter="fade">
                                      <p:cBhvr>
                                        <p:cTn id="71" dur="550"/>
                                        <p:tgtEl>
                                          <p:spTgt spid="35"/>
                                        </p:tgtEl>
                                      </p:cBhvr>
                                    </p:animEffect>
                                    <p:anim calcmode="lin" valueType="num">
                                      <p:cBhvr additive="base">
                                        <p:cTn id="72" dur="550" fill="hold"/>
                                        <p:tgtEl>
                                          <p:spTgt spid="35"/>
                                        </p:tgtEl>
                                        <p:attrNameLst>
                                          <p:attrName>ppt_w</p:attrName>
                                        </p:attrNameLst>
                                      </p:cBhvr>
                                      <p:tavLst>
                                        <p:tav tm="0">
                                          <p:val>
                                            <p:strVal val="0"/>
                                          </p:val>
                                        </p:tav>
                                        <p:tav tm="100000">
                                          <p:val>
                                            <p:strVal val="#ppt_w"/>
                                          </p:val>
                                        </p:tav>
                                      </p:tavLst>
                                    </p:anim>
                                    <p:anim calcmode="lin" valueType="num">
                                      <p:cBhvr additive="base">
                                        <p:cTn id="73" dur="550" fill="hold"/>
                                        <p:tgtEl>
                                          <p:spTgt spid="35"/>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6"/>
                                        </p:tgtEl>
                                        <p:attrNameLst>
                                          <p:attrName>style.visibility</p:attrName>
                                        </p:attrNameLst>
                                      </p:cBhvr>
                                      <p:to>
                                        <p:strVal val="visible"/>
                                      </p:to>
                                    </p:set>
                                    <p:animEffect transition="in" filter="fade">
                                      <p:cBhvr>
                                        <p:cTn id="77" dur="550"/>
                                        <p:tgtEl>
                                          <p:spTgt spid="36"/>
                                        </p:tgtEl>
                                      </p:cBhvr>
                                    </p:animEffect>
                                    <p:anim calcmode="lin" valueType="num">
                                      <p:cBhvr additive="base">
                                        <p:cTn id="78" dur="550" fill="hold"/>
                                        <p:tgtEl>
                                          <p:spTgt spid="36"/>
                                        </p:tgtEl>
                                        <p:attrNameLst>
                                          <p:attrName>ppt_x</p:attrName>
                                        </p:attrNameLst>
                                      </p:cBhvr>
                                      <p:tavLst>
                                        <p:tav tm="0">
                                          <p:val>
                                            <p:strVal val="#ppt_x"/>
                                          </p:val>
                                        </p:tav>
                                        <p:tav tm="100000">
                                          <p:val>
                                            <p:strVal val="#ppt_x"/>
                                          </p:val>
                                        </p:tav>
                                      </p:tavLst>
                                    </p:anim>
                                    <p:anim calcmode="lin" valueType="num">
                                      <p:cBhvr additive="base">
                                        <p:cTn id="79" dur="550" fill="hold"/>
                                        <p:tgtEl>
                                          <p:spTgt spid="36"/>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P spid="33" grpId="0" animBg="1"/>
      <p:bldP spid="34" grpId="0" animBg="1"/>
      <p:bldP spid="35" grpId="0" animBg="1"/>
      <p:bldP spid="36"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1-REJA</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Xotira iyerarxiyasi va uning raqamlari</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6</a:t>
            </a:r>
          </a:p>
        </p:txBody>
      </p:sp>
      <p:graphicFrame>
        <p:nvGraphicFramePr>
          <p:cNvPr id="26" name="Table 25"/>
          <p:cNvGraphicFramePr>
            <a:graphicFrameLocks noGrp="1"/>
          </p:cNvGraphicFramePr>
          <p:nvPr/>
        </p:nvGraphicFramePr>
        <p:xfrm>
          <a:off x="550000" y="1400000"/>
          <a:ext cx="11100000" cy="4680000"/>
        </p:xfrm>
        <a:graphic>
          <a:graphicData uri="http://schemas.openxmlformats.org/drawingml/2006/table">
            <a:tbl>
              <a:tblPr firstRow="1" bandRow="1">
                <a:tableStyleId>{5C22544A-7EE6-4342-B048-85BDC9FD1C3A}</a:tableStyleId>
              </a:tblPr>
              <a:tblGrid>
                <a:gridCol w="2775000"/>
                <a:gridCol w="2775000"/>
                <a:gridCol w="2775000"/>
                <a:gridCol w="2775000"/>
              </a:tblGrid>
              <a:tr h="520000">
                <a:tc>
                  <a:txBody>
                    <a:bodyPr/>
                    <a:lstStyle/>
                    <a:p>
                      <a:r>
                        <a:rPr sz="1200" b="1">
                          <a:solidFill>
                            <a:srgbClr val="22D3EE"/>
                          </a:solidFill>
                          <a:latin typeface="Segoe UI"/>
                        </a:rPr>
                        <a:t>Pog'ona</a:t>
                      </a:r>
                    </a:p>
                  </a:txBody>
                  <a:tcPr>
                    <a:solidFill>
                      <a:srgbClr val="1C2755"/>
                    </a:solidFill>
                  </a:tcPr>
                </a:tc>
                <a:tc>
                  <a:txBody>
                    <a:bodyPr/>
                    <a:lstStyle/>
                    <a:p>
                      <a:r>
                        <a:rPr sz="1200" b="1">
                          <a:solidFill>
                            <a:srgbClr val="22D3EE"/>
                          </a:solidFill>
                          <a:latin typeface="Segoe UI"/>
                        </a:rPr>
                        <a:t>Tipik hajm</a:t>
                      </a:r>
                    </a:p>
                  </a:txBody>
                  <a:tcPr>
                    <a:solidFill>
                      <a:srgbClr val="1C2755"/>
                    </a:solidFill>
                  </a:tcPr>
                </a:tc>
                <a:tc>
                  <a:txBody>
                    <a:bodyPr/>
                    <a:lstStyle/>
                    <a:p>
                      <a:r>
                        <a:rPr sz="1200" b="1">
                          <a:solidFill>
                            <a:srgbClr val="22D3EE"/>
                          </a:solidFill>
                          <a:latin typeface="Segoe UI"/>
                        </a:rPr>
                        <a:t>Kechikish</a:t>
                      </a:r>
                    </a:p>
                  </a:txBody>
                  <a:tcPr>
                    <a:solidFill>
                      <a:srgbClr val="1C2755"/>
                    </a:solidFill>
                  </a:tcPr>
                </a:tc>
                <a:tc>
                  <a:txBody>
                    <a:bodyPr/>
                    <a:lstStyle/>
                    <a:p>
                      <a:r>
                        <a:rPr sz="1200" b="1">
                          <a:solidFill>
                            <a:srgbClr val="22D3EE"/>
                          </a:solidFill>
                          <a:latin typeface="Segoe UI"/>
                        </a:rPr>
                        <a:t>O'tkazuvchanlik (bir yadro yoki qurilma)</a:t>
                      </a:r>
                    </a:p>
                  </a:txBody>
                  <a:tcPr>
                    <a:solidFill>
                      <a:srgbClr val="1C2755"/>
                    </a:solidFill>
                  </a:tcPr>
                </a:tc>
              </a:tr>
              <a:tr h="520000">
                <a:tc>
                  <a:txBody>
                    <a:bodyPr/>
                    <a:lstStyle/>
                    <a:p>
                      <a:r>
                        <a:rPr sz="1200" b="0">
                          <a:solidFill>
                            <a:srgbClr val="E8EEFA"/>
                          </a:solidFill>
                          <a:latin typeface="Segoe UI"/>
                        </a:rPr>
                        <a:t>Registrlar</a:t>
                      </a:r>
                    </a:p>
                  </a:txBody>
                  <a:tcPr>
                    <a:solidFill>
                      <a:srgbClr val="111834"/>
                    </a:solidFill>
                  </a:tcPr>
                </a:tc>
                <a:tc>
                  <a:txBody>
                    <a:bodyPr/>
                    <a:lstStyle/>
                    <a:p>
                      <a:r>
                        <a:rPr sz="1200" b="0">
                          <a:solidFill>
                            <a:srgbClr val="E8EEFA"/>
                          </a:solidFill>
                          <a:latin typeface="Segoe UI"/>
                        </a:rPr>
                        <a:t>bir necha KB</a:t>
                      </a:r>
                    </a:p>
                  </a:txBody>
                  <a:tcPr>
                    <a:solidFill>
                      <a:srgbClr val="111834"/>
                    </a:solidFill>
                  </a:tcPr>
                </a:tc>
                <a:tc>
                  <a:txBody>
                    <a:bodyPr/>
                    <a:lstStyle/>
                    <a:p>
                      <a:r>
                        <a:rPr sz="1200" b="0">
                          <a:solidFill>
                            <a:srgbClr val="E8EEFA"/>
                          </a:solidFill>
                          <a:latin typeface="Segoe UI"/>
                        </a:rPr>
                        <a:t>1 sikl (~0,3 ns)</a:t>
                      </a:r>
                    </a:p>
                  </a:txBody>
                  <a:tcPr>
                    <a:solidFill>
                      <a:srgbClr val="111834"/>
                    </a:solidFill>
                  </a:tcPr>
                </a:tc>
                <a:tc>
                  <a:txBody>
                    <a:bodyPr/>
                    <a:lstStyle/>
                    <a:p>
                      <a:r>
                        <a:rPr sz="1200" b="0">
                          <a:solidFill>
                            <a:srgbClr val="E8EEFA"/>
                          </a:solidFill>
                          <a:latin typeface="Segoe UI"/>
                        </a:rPr>
                        <a:t>juda yuqori</a:t>
                      </a:r>
                    </a:p>
                  </a:txBody>
                  <a:tcPr>
                    <a:solidFill>
                      <a:srgbClr val="111834"/>
                    </a:solidFill>
                  </a:tcPr>
                </a:tc>
              </a:tr>
              <a:tr h="520000">
                <a:tc>
                  <a:txBody>
                    <a:bodyPr/>
                    <a:lstStyle/>
                    <a:p>
                      <a:r>
                        <a:rPr sz="1200" b="0">
                          <a:solidFill>
                            <a:srgbClr val="E8EEFA"/>
                          </a:solidFill>
                          <a:latin typeface="Segoe UI"/>
                        </a:rPr>
                        <a:t>L1 kesh (ma'lumot)</a:t>
                      </a:r>
                    </a:p>
                  </a:txBody>
                  <a:tcPr>
                    <a:solidFill>
                      <a:srgbClr val="161F40"/>
                    </a:solidFill>
                  </a:tcPr>
                </a:tc>
                <a:tc>
                  <a:txBody>
                    <a:bodyPr/>
                    <a:lstStyle/>
                    <a:p>
                      <a:r>
                        <a:rPr sz="1200" b="0">
                          <a:solidFill>
                            <a:srgbClr val="E8EEFA"/>
                          </a:solidFill>
                          <a:latin typeface="Segoe UI"/>
                        </a:rPr>
                        <a:t>32–48 KB / yadro</a:t>
                      </a:r>
                    </a:p>
                  </a:txBody>
                  <a:tcPr>
                    <a:solidFill>
                      <a:srgbClr val="161F40"/>
                    </a:solidFill>
                  </a:tcPr>
                </a:tc>
                <a:tc>
                  <a:txBody>
                    <a:bodyPr/>
                    <a:lstStyle/>
                    <a:p>
                      <a:r>
                        <a:rPr sz="1200" b="0">
                          <a:solidFill>
                            <a:srgbClr val="E8EEFA"/>
                          </a:solidFill>
                          <a:latin typeface="Segoe UI"/>
                        </a:rPr>
                        <a:t>4–5 sikl (~1 ns)</a:t>
                      </a:r>
                    </a:p>
                  </a:txBody>
                  <a:tcPr>
                    <a:solidFill>
                      <a:srgbClr val="161F40"/>
                    </a:solidFill>
                  </a:tcPr>
                </a:tc>
                <a:tc>
                  <a:txBody>
                    <a:bodyPr/>
                    <a:lstStyle/>
                    <a:p>
                      <a:r>
                        <a:rPr sz="1200" b="0">
                          <a:solidFill>
                            <a:srgbClr val="E8EEFA"/>
                          </a:solidFill>
                          <a:latin typeface="Segoe UI"/>
                        </a:rPr>
                        <a:t>~100–200 GB/s / yadro</a:t>
                      </a:r>
                    </a:p>
                  </a:txBody>
                  <a:tcPr>
                    <a:solidFill>
                      <a:srgbClr val="161F40"/>
                    </a:solidFill>
                  </a:tcPr>
                </a:tc>
              </a:tr>
              <a:tr h="520000">
                <a:tc>
                  <a:txBody>
                    <a:bodyPr/>
                    <a:lstStyle/>
                    <a:p>
                      <a:r>
                        <a:rPr sz="1200" b="0">
                          <a:solidFill>
                            <a:srgbClr val="E8EEFA"/>
                          </a:solidFill>
                          <a:latin typeface="Segoe UI"/>
                        </a:rPr>
                        <a:t>L2 kesh</a:t>
                      </a:r>
                    </a:p>
                  </a:txBody>
                  <a:tcPr>
                    <a:solidFill>
                      <a:srgbClr val="111834"/>
                    </a:solidFill>
                  </a:tcPr>
                </a:tc>
                <a:tc>
                  <a:txBody>
                    <a:bodyPr/>
                    <a:lstStyle/>
                    <a:p>
                      <a:r>
                        <a:rPr sz="1200" b="0">
                          <a:solidFill>
                            <a:srgbClr val="E8EEFA"/>
                          </a:solidFill>
                          <a:latin typeface="Segoe UI"/>
                        </a:rPr>
                        <a:t>1–2 MB / yadro</a:t>
                      </a:r>
                    </a:p>
                  </a:txBody>
                  <a:tcPr>
                    <a:solidFill>
                      <a:srgbClr val="111834"/>
                    </a:solidFill>
                  </a:tcPr>
                </a:tc>
                <a:tc>
                  <a:txBody>
                    <a:bodyPr/>
                    <a:lstStyle/>
                    <a:p>
                      <a:r>
                        <a:rPr sz="1200" b="0">
                          <a:solidFill>
                            <a:srgbClr val="E8EEFA"/>
                          </a:solidFill>
                          <a:latin typeface="Segoe UI"/>
                        </a:rPr>
                        <a:t>12–16 sikl (~4 ns)</a:t>
                      </a:r>
                    </a:p>
                  </a:txBody>
                  <a:tcPr>
                    <a:solidFill>
                      <a:srgbClr val="111834"/>
                    </a:solidFill>
                  </a:tcPr>
                </a:tc>
                <a:tc>
                  <a:txBody>
                    <a:bodyPr/>
                    <a:lstStyle/>
                    <a:p>
                      <a:r>
                        <a:rPr sz="1200" b="0">
                          <a:solidFill>
                            <a:srgbClr val="E8EEFA"/>
                          </a:solidFill>
                          <a:latin typeface="Segoe UI"/>
                        </a:rPr>
                        <a:t>~50–100 GB/s / yadro</a:t>
                      </a:r>
                    </a:p>
                  </a:txBody>
                  <a:tcPr>
                    <a:solidFill>
                      <a:srgbClr val="111834"/>
                    </a:solidFill>
                  </a:tcPr>
                </a:tc>
              </a:tr>
              <a:tr h="520000">
                <a:tc>
                  <a:txBody>
                    <a:bodyPr/>
                    <a:lstStyle/>
                    <a:p>
                      <a:r>
                        <a:rPr sz="1200" b="0">
                          <a:solidFill>
                            <a:srgbClr val="E8EEFA"/>
                          </a:solidFill>
                          <a:latin typeface="Segoe UI"/>
                        </a:rPr>
                        <a:t>L3 kesh (umumiy)</a:t>
                      </a:r>
                    </a:p>
                  </a:txBody>
                  <a:tcPr>
                    <a:solidFill>
                      <a:srgbClr val="161F40"/>
                    </a:solidFill>
                  </a:tcPr>
                </a:tc>
                <a:tc>
                  <a:txBody>
                    <a:bodyPr/>
                    <a:lstStyle/>
                    <a:p>
                      <a:r>
                        <a:rPr sz="1200" b="0">
                          <a:solidFill>
                            <a:srgbClr val="E8EEFA"/>
                          </a:solidFill>
                          <a:latin typeface="Segoe UI"/>
                        </a:rPr>
                        <a:t>32–384 MB / soket</a:t>
                      </a:r>
                    </a:p>
                  </a:txBody>
                  <a:tcPr>
                    <a:solidFill>
                      <a:srgbClr val="161F40"/>
                    </a:solidFill>
                  </a:tcPr>
                </a:tc>
                <a:tc>
                  <a:txBody>
                    <a:bodyPr/>
                    <a:lstStyle/>
                    <a:p>
                      <a:r>
                        <a:rPr sz="1200" b="0">
                          <a:solidFill>
                            <a:srgbClr val="E8EEFA"/>
                          </a:solidFill>
                          <a:latin typeface="Segoe UI"/>
                        </a:rPr>
                        <a:t>40–80 sikl (~15–40 ns)</a:t>
                      </a:r>
                    </a:p>
                  </a:txBody>
                  <a:tcPr>
                    <a:solidFill>
                      <a:srgbClr val="161F40"/>
                    </a:solidFill>
                  </a:tcPr>
                </a:tc>
                <a:tc>
                  <a:txBody>
                    <a:bodyPr/>
                    <a:lstStyle/>
                    <a:p>
                      <a:r>
                        <a:rPr sz="1200" b="0">
                          <a:solidFill>
                            <a:srgbClr val="E8EEFA"/>
                          </a:solidFill>
                          <a:latin typeface="Segoe UI"/>
                        </a:rPr>
                        <a:t>bir necha yuz GB/s / soket</a:t>
                      </a:r>
                    </a:p>
                  </a:txBody>
                  <a:tcPr>
                    <a:solidFill>
                      <a:srgbClr val="161F40"/>
                    </a:solidFill>
                  </a:tcPr>
                </a:tc>
              </a:tr>
              <a:tr h="520000">
                <a:tc>
                  <a:txBody>
                    <a:bodyPr/>
                    <a:lstStyle/>
                    <a:p>
                      <a:r>
                        <a:rPr sz="1200" b="0">
                          <a:solidFill>
                            <a:srgbClr val="E8EEFA"/>
                          </a:solidFill>
                          <a:latin typeface="Segoe UI"/>
                        </a:rPr>
                        <a:t>DRAM (DDR5, 8 kanal)</a:t>
                      </a:r>
                    </a:p>
                  </a:txBody>
                  <a:tcPr>
                    <a:solidFill>
                      <a:srgbClr val="111834"/>
                    </a:solidFill>
                  </a:tcPr>
                </a:tc>
                <a:tc>
                  <a:txBody>
                    <a:bodyPr/>
                    <a:lstStyle/>
                    <a:p>
                      <a:r>
                        <a:rPr sz="1200" b="0">
                          <a:solidFill>
                            <a:srgbClr val="E8EEFA"/>
                          </a:solidFill>
                          <a:latin typeface="Segoe UI"/>
                        </a:rPr>
                        <a:t>256 GB – 2 TB</a:t>
                      </a:r>
                    </a:p>
                  </a:txBody>
                  <a:tcPr>
                    <a:solidFill>
                      <a:srgbClr val="111834"/>
                    </a:solidFill>
                  </a:tcPr>
                </a:tc>
                <a:tc>
                  <a:txBody>
                    <a:bodyPr/>
                    <a:lstStyle/>
                    <a:p>
                      <a:r>
                        <a:rPr sz="1200" b="0">
                          <a:solidFill>
                            <a:srgbClr val="E8EEFA"/>
                          </a:solidFill>
                          <a:latin typeface="Segoe UI"/>
                        </a:rPr>
                        <a:t>~80–120 ns</a:t>
                      </a:r>
                    </a:p>
                  </a:txBody>
                  <a:tcPr>
                    <a:solidFill>
                      <a:srgbClr val="111834"/>
                    </a:solidFill>
                  </a:tcPr>
                </a:tc>
                <a:tc>
                  <a:txBody>
                    <a:bodyPr/>
                    <a:lstStyle/>
                    <a:p>
                      <a:r>
                        <a:rPr sz="1200" b="0">
                          <a:solidFill>
                            <a:srgbClr val="E8EEFA"/>
                          </a:solidFill>
                          <a:latin typeface="Segoe UI"/>
                        </a:rPr>
                        <a:t>~300–400 GB/s / soket</a:t>
                      </a:r>
                    </a:p>
                  </a:txBody>
                  <a:tcPr>
                    <a:solidFill>
                      <a:srgbClr val="111834"/>
                    </a:solidFill>
                  </a:tcPr>
                </a:tc>
              </a:tr>
              <a:tr h="520000">
                <a:tc>
                  <a:txBody>
                    <a:bodyPr/>
                    <a:lstStyle/>
                    <a:p>
                      <a:r>
                        <a:rPr sz="1200" b="0">
                          <a:solidFill>
                            <a:srgbClr val="E8EEFA"/>
                          </a:solidFill>
                          <a:latin typeface="Segoe UI"/>
                        </a:rPr>
                        <a:t>Uzoq NUMA tugun DRAM'i</a:t>
                      </a:r>
                    </a:p>
                  </a:txBody>
                  <a:tcPr>
                    <a:solidFill>
                      <a:srgbClr val="161F40"/>
                    </a:solidFill>
                  </a:tcPr>
                </a:tc>
                <a:tc>
                  <a:txBody>
                    <a:bodyPr/>
                    <a:lstStyle/>
                    <a:p>
                      <a:r>
                        <a:rPr sz="1200" b="0">
                          <a:solidFill>
                            <a:srgbClr val="E8EEFA"/>
                          </a:solidFill>
                          <a:latin typeface="Segoe UI"/>
                        </a:rPr>
                        <a:t>–</a:t>
                      </a:r>
                    </a:p>
                  </a:txBody>
                  <a:tcPr>
                    <a:solidFill>
                      <a:srgbClr val="161F40"/>
                    </a:solidFill>
                  </a:tcPr>
                </a:tc>
                <a:tc>
                  <a:txBody>
                    <a:bodyPr/>
                    <a:lstStyle/>
                    <a:p>
                      <a:r>
                        <a:rPr sz="1200" b="0">
                          <a:solidFill>
                            <a:srgbClr val="E8EEFA"/>
                          </a:solidFill>
                          <a:latin typeface="Segoe UI"/>
                        </a:rPr>
                        <a:t>~130–200 ns</a:t>
                      </a:r>
                    </a:p>
                  </a:txBody>
                  <a:tcPr>
                    <a:solidFill>
                      <a:srgbClr val="161F40"/>
                    </a:solidFill>
                  </a:tcPr>
                </a:tc>
                <a:tc>
                  <a:txBody>
                    <a:bodyPr/>
                    <a:lstStyle/>
                    <a:p>
                      <a:r>
                        <a:rPr sz="1200" b="0">
                          <a:solidFill>
                            <a:srgbClr val="E8EEFA"/>
                          </a:solidFill>
                          <a:latin typeface="Segoe UI"/>
                        </a:rPr>
                        <a:t>tugunlararo havola bilan cheklangan</a:t>
                      </a:r>
                    </a:p>
                  </a:txBody>
                  <a:tcPr>
                    <a:solidFill>
                      <a:srgbClr val="161F40"/>
                    </a:solidFill>
                  </a:tcPr>
                </a:tc>
              </a:tr>
              <a:tr h="520000">
                <a:tc>
                  <a:txBody>
                    <a:bodyPr/>
                    <a:lstStyle/>
                    <a:p>
                      <a:r>
                        <a:rPr sz="1200" b="0">
                          <a:solidFill>
                            <a:srgbClr val="E8EEFA"/>
                          </a:solidFill>
                          <a:latin typeface="Segoe UI"/>
                        </a:rPr>
                        <a:t>GPU HBM3 (H100)</a:t>
                      </a:r>
                    </a:p>
                  </a:txBody>
                  <a:tcPr>
                    <a:solidFill>
                      <a:srgbClr val="111834"/>
                    </a:solidFill>
                  </a:tcPr>
                </a:tc>
                <a:tc>
                  <a:txBody>
                    <a:bodyPr/>
                    <a:lstStyle/>
                    <a:p>
                      <a:r>
                        <a:rPr sz="1200" b="0">
                          <a:solidFill>
                            <a:srgbClr val="E8EEFA"/>
                          </a:solidFill>
                          <a:latin typeface="Segoe UI"/>
                        </a:rPr>
                        <a:t>80 GB</a:t>
                      </a:r>
                    </a:p>
                  </a:txBody>
                  <a:tcPr>
                    <a:solidFill>
                      <a:srgbClr val="111834"/>
                    </a:solidFill>
                  </a:tcPr>
                </a:tc>
                <a:tc>
                  <a:txBody>
                    <a:bodyPr/>
                    <a:lstStyle/>
                    <a:p>
                      <a:r>
                        <a:rPr sz="1200" b="0">
                          <a:solidFill>
                            <a:srgbClr val="E8EEFA"/>
                          </a:solidFill>
                          <a:latin typeface="Segoe UI"/>
                        </a:rPr>
                        <a:t>~500–700 ns</a:t>
                      </a:r>
                    </a:p>
                  </a:txBody>
                  <a:tcPr>
                    <a:solidFill>
                      <a:srgbClr val="111834"/>
                    </a:solidFill>
                  </a:tcPr>
                </a:tc>
                <a:tc>
                  <a:txBody>
                    <a:bodyPr/>
                    <a:lstStyle/>
                    <a:p>
                      <a:r>
                        <a:rPr sz="1200" b="0">
                          <a:solidFill>
                            <a:srgbClr val="E8EEFA"/>
                          </a:solidFill>
                          <a:latin typeface="Segoe UI"/>
                        </a:rPr>
                        <a:t>~3,35 TB/s</a:t>
                      </a:r>
                    </a:p>
                  </a:txBody>
                  <a:tcPr>
                    <a:solidFill>
                      <a:srgbClr val="111834"/>
                    </a:solidFill>
                  </a:tcPr>
                </a:tc>
              </a:tr>
              <a:tr h="520000">
                <a:tc>
                  <a:txBody>
                    <a:bodyPr/>
                    <a:lstStyle/>
                    <a:p>
                      <a:r>
                        <a:rPr sz="1200" b="0">
                          <a:solidFill>
                            <a:srgbClr val="E8EEFA"/>
                          </a:solidFill>
                          <a:latin typeface="Segoe UI"/>
                        </a:rPr>
                        <a:t>PCIe 5.0 x16 (CPU–GPU)</a:t>
                      </a:r>
                    </a:p>
                  </a:txBody>
                  <a:tcPr>
                    <a:solidFill>
                      <a:srgbClr val="161F40"/>
                    </a:solidFill>
                  </a:tcPr>
                </a:tc>
                <a:tc>
                  <a:txBody>
                    <a:bodyPr/>
                    <a:lstStyle/>
                    <a:p>
                      <a:r>
                        <a:rPr sz="1200" b="0">
                          <a:solidFill>
                            <a:srgbClr val="E8EEFA"/>
                          </a:solidFill>
                          <a:latin typeface="Segoe UI"/>
                        </a:rPr>
                        <a:t>–</a:t>
                      </a:r>
                    </a:p>
                  </a:txBody>
                  <a:tcPr>
                    <a:solidFill>
                      <a:srgbClr val="161F40"/>
                    </a:solidFill>
                  </a:tcPr>
                </a:tc>
                <a:tc>
                  <a:txBody>
                    <a:bodyPr/>
                    <a:lstStyle/>
                    <a:p>
                      <a:r>
                        <a:rPr sz="1200" b="0">
                          <a:solidFill>
                            <a:srgbClr val="E8EEFA"/>
                          </a:solidFill>
                          <a:latin typeface="Segoe UI"/>
                        </a:rPr>
                        <a:t>mikrosekundlar</a:t>
                      </a:r>
                    </a:p>
                  </a:txBody>
                  <a:tcPr>
                    <a:solidFill>
                      <a:srgbClr val="161F40"/>
                    </a:solidFill>
                  </a:tcPr>
                </a:tc>
                <a:tc>
                  <a:txBody>
                    <a:bodyPr/>
                    <a:lstStyle/>
                    <a:p>
                      <a:r>
                        <a:rPr sz="1200" b="0">
                          <a:solidFill>
                            <a:srgbClr val="E8EEFA"/>
                          </a:solidFill>
                          <a:latin typeface="Segoe UI"/>
                        </a:rPr>
                        <a:t>~64 GB/s (bir yo'nalish)</a:t>
                      </a:r>
                    </a:p>
                  </a:txBody>
                  <a:tcPr>
                    <a:solidFill>
                      <a:srgbClr val="161F40"/>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6" dur="8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1-REJA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Xotira iyerarxiyasi va uning raqamlari (davomi)</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7</a:t>
            </a:r>
          </a:p>
        </p:txBody>
      </p:sp>
      <p:graphicFrame>
        <p:nvGraphicFramePr>
          <p:cNvPr id="24" name="Table 23"/>
          <p:cNvGraphicFramePr>
            <a:graphicFrameLocks noGrp="1"/>
          </p:cNvGraphicFramePr>
          <p:nvPr/>
        </p:nvGraphicFramePr>
        <p:xfrm>
          <a:off x="550000" y="1400000"/>
          <a:ext cx="11100000" cy="1040000"/>
        </p:xfrm>
        <a:graphic>
          <a:graphicData uri="http://schemas.openxmlformats.org/drawingml/2006/table">
            <a:tbl>
              <a:tblPr firstRow="1" bandRow="1">
                <a:tableStyleId>{5C22544A-7EE6-4342-B048-85BDC9FD1C3A}</a:tableStyleId>
              </a:tblPr>
              <a:tblGrid>
                <a:gridCol w="2775000"/>
                <a:gridCol w="2775000"/>
                <a:gridCol w="2775000"/>
                <a:gridCol w="2775000"/>
              </a:tblGrid>
              <a:tr h="520000">
                <a:tc>
                  <a:txBody>
                    <a:bodyPr/>
                    <a:lstStyle/>
                    <a:p>
                      <a:r>
                        <a:rPr sz="1200" b="1">
                          <a:solidFill>
                            <a:srgbClr val="22D3EE"/>
                          </a:solidFill>
                          <a:latin typeface="Segoe UI"/>
                        </a:rPr>
                        <a:t>Pog'ona</a:t>
                      </a:r>
                    </a:p>
                  </a:txBody>
                  <a:tcPr>
                    <a:solidFill>
                      <a:srgbClr val="1C2755"/>
                    </a:solidFill>
                  </a:tcPr>
                </a:tc>
                <a:tc>
                  <a:txBody>
                    <a:bodyPr/>
                    <a:lstStyle/>
                    <a:p>
                      <a:r>
                        <a:rPr sz="1200" b="1">
                          <a:solidFill>
                            <a:srgbClr val="22D3EE"/>
                          </a:solidFill>
                          <a:latin typeface="Segoe UI"/>
                        </a:rPr>
                        <a:t>Tipik hajm</a:t>
                      </a:r>
                    </a:p>
                  </a:txBody>
                  <a:tcPr>
                    <a:solidFill>
                      <a:srgbClr val="1C2755"/>
                    </a:solidFill>
                  </a:tcPr>
                </a:tc>
                <a:tc>
                  <a:txBody>
                    <a:bodyPr/>
                    <a:lstStyle/>
                    <a:p>
                      <a:r>
                        <a:rPr sz="1200" b="1">
                          <a:solidFill>
                            <a:srgbClr val="22D3EE"/>
                          </a:solidFill>
                          <a:latin typeface="Segoe UI"/>
                        </a:rPr>
                        <a:t>Kechikish</a:t>
                      </a:r>
                    </a:p>
                  </a:txBody>
                  <a:tcPr>
                    <a:solidFill>
                      <a:srgbClr val="1C2755"/>
                    </a:solidFill>
                  </a:tcPr>
                </a:tc>
                <a:tc>
                  <a:txBody>
                    <a:bodyPr/>
                    <a:lstStyle/>
                    <a:p>
                      <a:r>
                        <a:rPr sz="1200" b="1">
                          <a:solidFill>
                            <a:srgbClr val="22D3EE"/>
                          </a:solidFill>
                          <a:latin typeface="Segoe UI"/>
                        </a:rPr>
                        <a:t>O'tkazuvchanlik (bir yadro yoki qurilma)</a:t>
                      </a:r>
                    </a:p>
                  </a:txBody>
                  <a:tcPr>
                    <a:solidFill>
                      <a:srgbClr val="1C2755"/>
                    </a:solidFill>
                  </a:tcPr>
                </a:tc>
              </a:tr>
              <a:tr h="520000">
                <a:tc>
                  <a:txBody>
                    <a:bodyPr/>
                    <a:lstStyle/>
                    <a:p>
                      <a:r>
                        <a:rPr sz="1200" b="0">
                          <a:solidFill>
                            <a:srgbClr val="E8EEFA"/>
                          </a:solidFill>
                          <a:latin typeface="Segoe UI"/>
                        </a:rPr>
                        <a:t>NVMe SSD</a:t>
                      </a:r>
                    </a:p>
                  </a:txBody>
                  <a:tcPr>
                    <a:solidFill>
                      <a:srgbClr val="111834"/>
                    </a:solidFill>
                  </a:tcPr>
                </a:tc>
                <a:tc>
                  <a:txBody>
                    <a:bodyPr/>
                    <a:lstStyle/>
                    <a:p>
                      <a:r>
                        <a:rPr sz="1200" b="0">
                          <a:solidFill>
                            <a:srgbClr val="E8EEFA"/>
                          </a:solidFill>
                          <a:latin typeface="Segoe UI"/>
                        </a:rPr>
                        <a:t>TB'lar</a:t>
                      </a:r>
                    </a:p>
                  </a:txBody>
                  <a:tcPr>
                    <a:solidFill>
                      <a:srgbClr val="111834"/>
                    </a:solidFill>
                  </a:tcPr>
                </a:tc>
                <a:tc>
                  <a:txBody>
                    <a:bodyPr/>
                    <a:lstStyle/>
                    <a:p>
                      <a:r>
                        <a:rPr sz="1200" b="0">
                          <a:solidFill>
                            <a:srgbClr val="E8EEFA"/>
                          </a:solidFill>
                          <a:latin typeface="Segoe UI"/>
                        </a:rPr>
                        <a:t>~10–100 mks</a:t>
                      </a:r>
                    </a:p>
                  </a:txBody>
                  <a:tcPr>
                    <a:solidFill>
                      <a:srgbClr val="111834"/>
                    </a:solidFill>
                  </a:tcPr>
                </a:tc>
                <a:tc>
                  <a:txBody>
                    <a:bodyPr/>
                    <a:lstStyle/>
                    <a:p>
                      <a:r>
                        <a:rPr sz="1200" b="0">
                          <a:solidFill>
                            <a:srgbClr val="E8EEFA"/>
                          </a:solidFill>
                          <a:latin typeface="Segoe UI"/>
                        </a:rPr>
                        <a:t>5–14 GB/s</a:t>
                      </a:r>
                    </a:p>
                  </a:txBody>
                  <a:tcPr>
                    <a:solidFill>
                      <a:srgbClr val="111834"/>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wipe(left)">
                                      <p:cBhvr>
                                        <p:cTn id="16" dur="8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d7780c0a50920136.jpg"/>
          <p:cNvPicPr>
            <a:picLocks noChangeAspect="1"/>
          </p:cNvPicPr>
          <p:nvPr/>
        </p:nvPicPr>
        <p:blipFill>
          <a:blip r:embed="rId2"/>
          <a:srcRect t="5114" b="5114"/>
          <a:stretch>
            <a:fillRect/>
          </a:stretch>
        </p:blipFill>
        <p:spPr>
          <a:xfrm>
            <a:off x="6300000" y="800000"/>
            <a:ext cx="5300000" cy="4950000"/>
          </a:xfrm>
          <a:prstGeom prst="roundRect">
            <a:avLst/>
          </a:prstGeom>
          <a:ln w="19050">
            <a:solidFill>
              <a:srgbClr val="22D3EE"/>
            </a:solidFill>
          </a:ln>
        </p:spPr>
      </p:pic>
      <p:sp>
        <p:nvSpPr>
          <p:cNvPr id="42" name="TextBox 41"/>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David · Wikimedia Commons · CC BY 2.0</a:t>
            </a:r>
          </a:p>
        </p:txBody>
      </p:sp>
      <p:sp>
        <p:nvSpPr>
          <p:cNvPr id="43" name="TextBox 42"/>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02</a:t>
            </a:r>
          </a:p>
        </p:txBody>
      </p:sp>
      <p:sp>
        <p:nvSpPr>
          <p:cNvPr id="44" name="TextBox 43"/>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5" name="TextBox 44"/>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Lokallik: vaqt va fazoviy</a:t>
            </a:r>
          </a:p>
        </p:txBody>
      </p:sp>
      <p:sp>
        <p:nvSpPr>
          <p:cNvPr id="46" name="Rectangle 45"/>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8"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150"/>
                            </p:stCondLst>
                            <p:childTnLst>
                              <p:par>
                                <p:cTn id="152" presetID="53" presetClass="entr" presetSubtype="16"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anim calcmode="lin" valueType="num">
                                      <p:cBhvr additive="base">
                                        <p:cTn id="155" dur="550" fill="hold"/>
                                        <p:tgtEl>
                                          <p:spTgt spid="40"/>
                                        </p:tgtEl>
                                        <p:attrNameLst>
                                          <p:attrName>ppt_w</p:attrName>
                                        </p:attrNameLst>
                                      </p:cBhvr>
                                      <p:tavLst>
                                        <p:tav tm="0">
                                          <p:val>
                                            <p:strVal val="0"/>
                                          </p:val>
                                        </p:tav>
                                        <p:tav tm="100000">
                                          <p:val>
                                            <p:strVal val="#ppt_w"/>
                                          </p:val>
                                        </p:tav>
                                      </p:tavLst>
                                    </p:anim>
                                    <p:anim calcmode="lin" valueType="num">
                                      <p:cBhvr additive="base">
                                        <p:cTn id="156" dur="550" fill="hold"/>
                                        <p:tgtEl>
                                          <p:spTgt spid="40"/>
                                        </p:tgtEl>
                                        <p:attrNameLst>
                                          <p:attrName>ppt_h</p:attrName>
                                        </p:attrNameLst>
                                      </p:cBhvr>
                                      <p:tavLst>
                                        <p:tav tm="0">
                                          <p:val>
                                            <p:strVal val="0"/>
                                          </p:val>
                                        </p:tav>
                                        <p:tav tm="100000">
                                          <p:val>
                                            <p:strVal val="#ppt_h"/>
                                          </p:val>
                                        </p:tav>
                                      </p:tavLst>
                                    </p:anim>
                                  </p:childTnLst>
                                </p:cTn>
                              </p:par>
                            </p:childTnLst>
                          </p:cTn>
                        </p:par>
                        <p:par>
                          <p:cTn id="157" fill="hold">
                            <p:stCondLst>
                              <p:cond delay="150"/>
                            </p:stCondLst>
                            <p:childTnLst>
                              <p:par>
                                <p:cTn id="158" presetID="53" presetClass="entr" presetSubtype="16" fill="hold" grpId="0" nodeType="afterEffect">
                                  <p:stCondLst>
                                    <p:cond delay="0"/>
                                  </p:stCondLst>
                                  <p:childTnLst>
                                    <p:set>
                                      <p:cBhvr>
                                        <p:cTn id="159" dur="1" fill="hold">
                                          <p:stCondLst>
                                            <p:cond delay="0"/>
                                          </p:stCondLst>
                                        </p:cTn>
                                        <p:tgtEl>
                                          <p:spTgt spid="41"/>
                                        </p:tgtEl>
                                        <p:attrNameLst>
                                          <p:attrName>style.visibility</p:attrName>
                                        </p:attrNameLst>
                                      </p:cBhvr>
                                      <p:to>
                                        <p:strVal val="visible"/>
                                      </p:to>
                                    </p:set>
                                    <p:animEffect transition="in" filter="fade">
                                      <p:cBhvr>
                                        <p:cTn id="160" dur="550"/>
                                        <p:tgtEl>
                                          <p:spTgt spid="41"/>
                                        </p:tgtEl>
                                      </p:cBhvr>
                                    </p:animEffect>
                                    <p:anim calcmode="lin" valueType="num">
                                      <p:cBhvr additive="base">
                                        <p:cTn id="161" dur="550" fill="hold"/>
                                        <p:tgtEl>
                                          <p:spTgt spid="41"/>
                                        </p:tgtEl>
                                        <p:attrNameLst>
                                          <p:attrName>ppt_w</p:attrName>
                                        </p:attrNameLst>
                                      </p:cBhvr>
                                      <p:tavLst>
                                        <p:tav tm="0">
                                          <p:val>
                                            <p:strVal val="0"/>
                                          </p:val>
                                        </p:tav>
                                        <p:tav tm="100000">
                                          <p:val>
                                            <p:strVal val="#ppt_w"/>
                                          </p:val>
                                        </p:tav>
                                      </p:tavLst>
                                    </p:anim>
                                    <p:anim calcmode="lin" valueType="num">
                                      <p:cBhvr additive="base">
                                        <p:cTn id="162" dur="550" fill="hold"/>
                                        <p:tgtEl>
                                          <p:spTgt spid="41"/>
                                        </p:tgtEl>
                                        <p:attrNameLst>
                                          <p:attrName>ppt_h</p:attrName>
                                        </p:attrNameLst>
                                      </p:cBhvr>
                                      <p:tavLst>
                                        <p:tav tm="0">
                                          <p:val>
                                            <p:strVal val="0"/>
                                          </p:val>
                                        </p:tav>
                                        <p:tav tm="100000">
                                          <p:val>
                                            <p:strVal val="#ppt_h"/>
                                          </p:val>
                                        </p:tav>
                                      </p:tavLst>
                                    </p:anim>
                                  </p:childTnLst>
                                </p:cTn>
                              </p:par>
                            </p:childTnLst>
                          </p:cTn>
                        </p:par>
                        <p:par>
                          <p:cTn id="163" fill="hold">
                            <p:stCondLst>
                              <p:cond delay="150"/>
                            </p:stCondLst>
                            <p:childTnLst>
                              <p:par>
                                <p:cTn id="164" presetID="10" presetClass="entr" presetSubtype="0" fill="hold" grpId="0" nodeType="after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fade">
                                      <p:cBhvr>
                                        <p:cTn id="166" dur="550"/>
                                        <p:tgtEl>
                                          <p:spTgt spid="42"/>
                                        </p:tgtEl>
                                      </p:cBhvr>
                                    </p:animEffect>
                                  </p:childTnLst>
                                </p:cTn>
                              </p:par>
                            </p:childTnLst>
                          </p:cTn>
                        </p:par>
                        <p:par>
                          <p:cTn id="167" fill="hold">
                            <p:stCondLst>
                              <p:cond delay="350"/>
                            </p:stCondLst>
                            <p:childTnLst>
                              <p:par>
                                <p:cTn id="168" presetID="53" presetClass="entr" presetSubtype="16" fill="hold" grpId="0" nodeType="afterEffect">
                                  <p:stCondLst>
                                    <p:cond delay="0"/>
                                  </p:stCondLst>
                                  <p:childTnLst>
                                    <p:set>
                                      <p:cBhvr>
                                        <p:cTn id="169" dur="1" fill="hold">
                                          <p:stCondLst>
                                            <p:cond delay="0"/>
                                          </p:stCondLst>
                                        </p:cTn>
                                        <p:tgtEl>
                                          <p:spTgt spid="43"/>
                                        </p:tgtEl>
                                        <p:attrNameLst>
                                          <p:attrName>style.visibility</p:attrName>
                                        </p:attrNameLst>
                                      </p:cBhvr>
                                      <p:to>
                                        <p:strVal val="visible"/>
                                      </p:to>
                                    </p:set>
                                    <p:animEffect transition="in" filter="fade">
                                      <p:cBhvr>
                                        <p:cTn id="170" dur="550"/>
                                        <p:tgtEl>
                                          <p:spTgt spid="43"/>
                                        </p:tgtEl>
                                      </p:cBhvr>
                                    </p:animEffect>
                                    <p:anim calcmode="lin" valueType="num">
                                      <p:cBhvr additive="base">
                                        <p:cTn id="171" dur="550" fill="hold"/>
                                        <p:tgtEl>
                                          <p:spTgt spid="43"/>
                                        </p:tgtEl>
                                        <p:attrNameLst>
                                          <p:attrName>ppt_w</p:attrName>
                                        </p:attrNameLst>
                                      </p:cBhvr>
                                      <p:tavLst>
                                        <p:tav tm="0">
                                          <p:val>
                                            <p:strVal val="0"/>
                                          </p:val>
                                        </p:tav>
                                        <p:tav tm="100000">
                                          <p:val>
                                            <p:strVal val="#ppt_w"/>
                                          </p:val>
                                        </p:tav>
                                      </p:tavLst>
                                    </p:anim>
                                    <p:anim calcmode="lin" valueType="num">
                                      <p:cBhvr additive="base">
                                        <p:cTn id="172" dur="550" fill="hold"/>
                                        <p:tgtEl>
                                          <p:spTgt spid="43"/>
                                        </p:tgtEl>
                                        <p:attrNameLst>
                                          <p:attrName>ppt_h</p:attrName>
                                        </p:attrNameLst>
                                      </p:cBhvr>
                                      <p:tavLst>
                                        <p:tav tm="0">
                                          <p:val>
                                            <p:strVal val="0"/>
                                          </p:val>
                                        </p:tav>
                                        <p:tav tm="100000">
                                          <p:val>
                                            <p:strVal val="#ppt_h"/>
                                          </p:val>
                                        </p:tav>
                                      </p:tavLst>
                                    </p:anim>
                                  </p:childTnLst>
                                </p:cTn>
                              </p:par>
                            </p:childTnLst>
                          </p:cTn>
                        </p:par>
                        <p:par>
                          <p:cTn id="173" fill="hold">
                            <p:stCondLst>
                              <p:cond delay="450"/>
                            </p:stCondLst>
                            <p:childTnLst>
                              <p:par>
                                <p:cTn id="174" presetID="10" presetClass="entr" presetSubtype="0" fill="hold" grpId="0" nodeType="afterEffect">
                                  <p:stCondLst>
                                    <p:cond delay="0"/>
                                  </p:stCondLst>
                                  <p:childTnLst>
                                    <p:set>
                                      <p:cBhvr>
                                        <p:cTn id="175" dur="1" fill="hold">
                                          <p:stCondLst>
                                            <p:cond delay="0"/>
                                          </p:stCondLst>
                                        </p:cTn>
                                        <p:tgtEl>
                                          <p:spTgt spid="44"/>
                                        </p:tgtEl>
                                        <p:attrNameLst>
                                          <p:attrName>style.visibility</p:attrName>
                                        </p:attrNameLst>
                                      </p:cBhvr>
                                      <p:to>
                                        <p:strVal val="visible"/>
                                      </p:to>
                                    </p:set>
                                    <p:animEffect transition="in" filter="fade">
                                      <p:cBhvr>
                                        <p:cTn id="176" dur="550"/>
                                        <p:tgtEl>
                                          <p:spTgt spid="44"/>
                                        </p:tgtEl>
                                      </p:cBhvr>
                                    </p:animEffect>
                                  </p:childTnLst>
                                </p:cTn>
                              </p:par>
                            </p:childTnLst>
                          </p:cTn>
                        </p:par>
                        <p:par>
                          <p:cTn id="177" fill="hold">
                            <p:stCondLst>
                              <p:cond delay="550"/>
                            </p:stCondLst>
                            <p:childTnLst>
                              <p:par>
                                <p:cTn id="178" presetID="2" presetClass="entr" presetSubtype="8" fill="hold" grpId="0" nodeType="afterEffect">
                                  <p:stCondLst>
                                    <p:cond delay="0"/>
                                  </p:stCondLst>
                                  <p:childTnLst>
                                    <p:set>
                                      <p:cBhvr>
                                        <p:cTn id="179" dur="1" fill="hold">
                                          <p:stCondLst>
                                            <p:cond delay="0"/>
                                          </p:stCondLst>
                                        </p:cTn>
                                        <p:tgtEl>
                                          <p:spTgt spid="45"/>
                                        </p:tgtEl>
                                        <p:attrNameLst>
                                          <p:attrName>style.visibility</p:attrName>
                                        </p:attrNameLst>
                                      </p:cBhvr>
                                      <p:to>
                                        <p:strVal val="visible"/>
                                      </p:to>
                                    </p:set>
                                    <p:anim calcmode="lin" valueType="num">
                                      <p:cBhvr additive="base">
                                        <p:cTn id="181" dur="550" fill="hold"/>
                                        <p:tgtEl>
                                          <p:spTgt spid="45"/>
                                        </p:tgtEl>
                                        <p:attrNameLst>
                                          <p:attrName>ppt_x</p:attrName>
                                        </p:attrNameLst>
                                      </p:cBhvr>
                                      <p:tavLst>
                                        <p:tav tm="0">
                                          <p:val>
                                            <p:strVal val="0-#ppt_w/2"/>
                                          </p:val>
                                        </p:tav>
                                        <p:tav tm="100000">
                                          <p:val>
                                            <p:strVal val="#ppt_x"/>
                                          </p:val>
                                        </p:tav>
                                      </p:tavLst>
                                    </p:anim>
                                    <p:anim calcmode="lin" valueType="num">
                                      <p:cBhvr additive="base">
                                        <p:cTn id="182" dur="550" fill="hold"/>
                                        <p:tgtEl>
                                          <p:spTgt spid="45"/>
                                        </p:tgtEl>
                                        <p:attrNameLst>
                                          <p:attrName>ppt_y</p:attrName>
                                        </p:attrNameLst>
                                      </p:cBhvr>
                                      <p:tavLst>
                                        <p:tav tm="0">
                                          <p:val>
                                            <p:strVal val="#ppt_y"/>
                                          </p:val>
                                        </p:tav>
                                        <p:tav tm="100000">
                                          <p:val>
                                            <p:strVal val="#ppt_y"/>
                                          </p:val>
                                        </p:tav>
                                      </p:tavLst>
                                    </p:anim>
                                  </p:childTnLst>
                                </p:cTn>
                              </p:par>
                            </p:childTnLst>
                          </p:cTn>
                        </p:par>
                        <p:par>
                          <p:cTn id="183" fill="hold">
                            <p:stCondLst>
                              <p:cond delay="650"/>
                            </p:stCondLst>
                            <p:childTnLst>
                              <p:par>
                                <p:cTn id="184" presetID="22" presetClass="entr" presetSubtype="8" fill="hold" grpId="0" nodeType="afterEffect">
                                  <p:stCondLst>
                                    <p:cond delay="0"/>
                                  </p:stCondLst>
                                  <p:childTnLst>
                                    <p:set>
                                      <p:cBhvr>
                                        <p:cTn id="185" dur="1" fill="hold">
                                          <p:stCondLst>
                                            <p:cond delay="0"/>
                                          </p:stCondLst>
                                        </p:cTn>
                                        <p:tgtEl>
                                          <p:spTgt spid="46"/>
                                        </p:tgtEl>
                                        <p:attrNameLst>
                                          <p:attrName>style.visibility</p:attrName>
                                        </p:attrNameLst>
                                      </p:cBhvr>
                                      <p:to>
                                        <p:strVal val="visible"/>
                                      </p:to>
                                    </p:set>
                                    <p:animEffect transition="in" filter="wipe(left)">
                                      <p:cBhvr>
                                        <p:cTn id="187" dur="8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2" grpId="0" animBg="1"/>
      <p:bldP spid="43" grpId="0" animBg="1"/>
      <p:bldP spid="44" grpId="0" animBg="1"/>
      <p:bldP spid="45" grpId="0" animBg="1"/>
      <p:bldP spid="46"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2-REJA</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Lokallik: vaqt va fazoviy</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9</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4fe9c9f67315d3e8.jpg"/>
          <p:cNvPicPr>
            <a:picLocks noChangeAspect="1"/>
          </p:cNvPicPr>
          <p:nvPr/>
        </p:nvPicPr>
        <p:blipFill>
          <a:blip r:embed="rId2"/>
          <a:srcRect l="16126" r="16126"/>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Amada44 · Wikimedia Commons · CC BY-SA 3.0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2568868"/>
            <a:ext cx="6750000" cy="244226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2648868"/>
            <a:ext cx="50000" cy="22822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2" name="TextBox 31"/>
          <p:cNvSpPr txBox="1"/>
          <p:nvPr/>
        </p:nvSpPr>
        <p:spPr>
          <a:xfrm>
            <a:off x="1300000" y="2608868"/>
            <a:ext cx="5900000" cy="2362264"/>
          </a:xfrm>
          <a:prstGeom prst="rect">
            <a:avLst/>
          </a:prstGeom>
          <a:noFill/>
        </p:spPr>
        <p:txBody>
          <a:bodyPr wrap="square" anchor="ctr">
            <a:spAutoFit/>
          </a:bodyPr>
          <a:lstStyle/>
          <a:p>
            <a:r>
              <a:rPr sz="1500" b="1">
                <a:solidFill>
                  <a:srgbClr val="E8EEFA"/>
                </a:solidFill>
                <a:latin typeface="Segoe UI"/>
              </a:rPr>
              <a:t>Ma'lumotlar lokalizatsiyasi (data locality) ikki shaklda namoyon bo'ladi.</a:t>
            </a:r>
          </a:p>
          <a:p>
            <a:pPr>
              <a:spcBef>
                <a:spcPts val="400"/>
              </a:spcBef>
            </a:pPr>
            <a:r>
              <a:rPr sz="1400">
                <a:solidFill>
                  <a:srgbClr val="AEBBD9"/>
                </a:solidFill>
                <a:latin typeface="Segoe UI"/>
              </a:rPr>
              <a:t>Vaqt lokalligi (temporal locality) — yaqinda ishlatilgan ma'lumot yaqin orada yana ishlatilishi ehtimoli yuqori; shuning uchun uni keshda ushlab turish foydali. Fazoviy lokallik (spatial locality) — ishlatilgan ma'lumotning qo'shnilari ham tez orada ishlatilishi ehtimoli yuqori; shuning uchun xotira satrlab yuklanadi va apparat oldindan yuklovchi (hardware prefetcher) ketma-ket namunani sezib, keyingi satrlarni oldindan tortib keladi.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2-REJA</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Lokallik: vaqt va fazoviy</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10</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f06ad7a4ba9f471b.jpg"/>
          <p:cNvPicPr>
            <a:picLocks noChangeAspect="1"/>
          </p:cNvPicPr>
          <p:nvPr/>
        </p:nvPicPr>
        <p:blipFill>
          <a:blip r:embed="rId2"/>
          <a:srcRect l="26288" r="26288"/>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Eric Gaba (Sting - fr:Sting)
 This  image was created with CombineZP by 11  ( I · Wikimedia Commons · CC BY-SA 3.</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2568868"/>
            <a:ext cx="6750000" cy="244226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2648868"/>
            <a:ext cx="50000" cy="2282264"/>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3590000"/>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3" name="TextBox 32"/>
          <p:cNvSpPr txBox="1"/>
          <p:nvPr/>
        </p:nvSpPr>
        <p:spPr>
          <a:xfrm>
            <a:off x="1300000" y="2608868"/>
            <a:ext cx="5900000" cy="2362264"/>
          </a:xfrm>
          <a:prstGeom prst="rect">
            <a:avLst/>
          </a:prstGeom>
          <a:noFill/>
        </p:spPr>
        <p:txBody>
          <a:bodyPr wrap="square" anchor="ctr">
            <a:spAutoFit/>
          </a:bodyPr>
          <a:lstStyle/>
          <a:p>
            <a:r>
              <a:rPr sz="1500" b="1">
                <a:solidFill>
                  <a:srgbClr val="E8EEFA"/>
                </a:solidFill>
                <a:latin typeface="Segoe UI"/>
              </a:rPr>
              <a:t>Ko'p o'lchovli massivlarda lokallik xotirada joylashish tartibiga bog'liq.</a:t>
            </a:r>
          </a:p>
          <a:p>
            <a:pPr>
              <a:spcBef>
                <a:spcPts val="400"/>
              </a:spcBef>
            </a:pPr>
            <a:r>
              <a:rPr sz="1400">
                <a:solidFill>
                  <a:srgbClr val="AEBBD9"/>
                </a:solidFill>
                <a:latin typeface="Segoe UI"/>
              </a:rPr>
              <a:t>NumPy va PyTorch'da standart tartib — satr-ustuvor (row-major, C-order): A[i, j] elementidan keyin xotirada A[i, j+1] yotadi. Demak, ichki sikl j bo'yicha yursa, kirish ketma-ket va kesh-do'stona bo'ladi; ichki sikl i bo'yicha yursa, har qadamda butun satr uzunligiga (masalan, 8192 × 4 bayt = 32 KB) sakrash yuz beradi va deyarli har bir murojaat keshni o'tkazib yuboradi (cache miss).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2-REJA</a:t>
            </a:r>
          </a:p>
        </p:txBody>
      </p:sp>
      <p:sp>
        <p:nvSpPr>
          <p:cNvPr id="18" name="TextBox 17"/>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Lokallik: vaqt va fazoviy</a:t>
            </a:r>
          </a:p>
        </p:txBody>
      </p:sp>
      <p:sp>
        <p:nvSpPr>
          <p:cNvPr id="19" name="Rectangle 18"/>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1" name="Rounded Rectangle 20"/>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11</a:t>
            </a:r>
          </a:p>
        </p:txBody>
      </p:sp>
      <p:sp>
        <p:nvSpPr>
          <p:cNvPr id="22" name="Rounded Rectangle 21"/>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fccdf8c0a9ea0f98.jpg"/>
          <p:cNvPicPr>
            <a:picLocks noChangeAspect="1"/>
          </p:cNvPicPr>
          <p:nvPr/>
        </p:nvPicPr>
        <p:blipFill>
          <a:blip r:embed="rId2"/>
          <a:srcRect l="2353" r="2353"/>
          <a:stretch>
            <a:fillRect/>
          </a:stretch>
        </p:blipFill>
        <p:spPr>
          <a:xfrm>
            <a:off x="7620000" y="1430000"/>
            <a:ext cx="4050000" cy="4250000"/>
          </a:xfrm>
          <a:prstGeom prst="roundRect">
            <a:avLst/>
          </a:prstGeom>
          <a:ln w="19050">
            <a:solidFill>
              <a:srgbClr val="22D3EE"/>
            </a:solidFill>
          </a:ln>
        </p:spPr>
      </p:pic>
      <p:sp>
        <p:nvSpPr>
          <p:cNvPr id="24" name="TextBox 23"/>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Blake Patterson from Alexandria, VA, USA · Wikimedia Commons · CC BY 2.0</a:t>
            </a:r>
          </a:p>
        </p:txBody>
      </p:sp>
      <p:sp>
        <p:nvSpPr>
          <p:cNvPr id="25" name="Rounded Rectangle 24"/>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6" name="Rounded Rectangle 25"/>
          <p:cNvSpPr/>
          <p:nvPr/>
        </p:nvSpPr>
        <p:spPr>
          <a:xfrm>
            <a:off x="550000" y="2417992"/>
            <a:ext cx="6750000" cy="2744016"/>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50000" y="2497992"/>
            <a:ext cx="50000" cy="2584016"/>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0000" y="3590000"/>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29" name="TextBox 28"/>
          <p:cNvSpPr txBox="1"/>
          <p:nvPr/>
        </p:nvSpPr>
        <p:spPr>
          <a:xfrm>
            <a:off x="1300000" y="2457992"/>
            <a:ext cx="5900000" cy="2664016"/>
          </a:xfrm>
          <a:prstGeom prst="rect">
            <a:avLst/>
          </a:prstGeom>
          <a:noFill/>
        </p:spPr>
        <p:txBody>
          <a:bodyPr wrap="square" anchor="ctr">
            <a:spAutoFit/>
          </a:bodyPr>
          <a:lstStyle/>
          <a:p>
            <a:r>
              <a:rPr sz="1700" b="1">
                <a:solidFill>
                  <a:srgbClr val="E8EEFA"/>
                </a:solidFill>
                <a:latin typeface="Segoe UI"/>
              </a:rPr>
              <a:t>Chuqur o'rganish freymvorklarida bu masala tensor tartibi (memory format) ko'rinishida uchraydi: PyTorch'da konvolyutsion tarmoqlar uchun NCHW (kanal birinchi) va NHWC (channels_last) formatlari mavjud.</a:t>
            </a:r>
          </a:p>
          <a:p>
            <a:pPr>
              <a:spcBef>
                <a:spcPts val="400"/>
              </a:spcBef>
            </a:pPr>
            <a:r>
              <a:rPr sz="1600">
                <a:solidFill>
                  <a:srgbClr val="AEBBD9"/>
                </a:solidFill>
                <a:latin typeface="Segoe UI"/>
              </a:rPr>
              <a:t>Tensor Core va cuDNN kernellari ko'pincha NHWC tartibida tezroq ishlaydi, chunki bitta piksel uchun barcha kanallar xotirada yonma-yon turadi va vektorli yuklash samarali bo'ladi.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8"/>
                                        </p:tgtEl>
                                        <p:attrNameLst>
                                          <p:attrName>style.visibility</p:attrName>
                                        </p:attrNameLst>
                                      </p:cBhvr>
                                      <p:to>
                                        <p:strVal val="visible"/>
                                      </p:to>
                                    </p:set>
                                    <p:animEffect transition="in" filter="fade">
                                      <p:cBhvr>
                                        <p:cTn id="6" dur="550"/>
                                        <p:tgtEl>
                                          <p:spTgt spid="18"/>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left)">
                                      <p:cBhvr>
                                        <p:cTn id="11" dur="800"/>
                                        <p:tgtEl>
                                          <p:spTgt spid="19"/>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550"/>
                                        <p:tgtEl>
                                          <p:spTgt spid="22"/>
                                        </p:tgtEl>
                                      </p:cBhvr>
                                    </p:animEffect>
                                    <p:anim calcmode="lin" valueType="num">
                                      <p:cBhvr additive="base">
                                        <p:cTn id="16" dur="550" fill="hold"/>
                                        <p:tgtEl>
                                          <p:spTgt spid="22"/>
                                        </p:tgtEl>
                                        <p:attrNameLst>
                                          <p:attrName>ppt_w</p:attrName>
                                        </p:attrNameLst>
                                      </p:cBhvr>
                                      <p:tavLst>
                                        <p:tav tm="0">
                                          <p:val>
                                            <p:strVal val="0"/>
                                          </p:val>
                                        </p:tav>
                                        <p:tav tm="100000">
                                          <p:val>
                                            <p:strVal val="#ppt_w"/>
                                          </p:val>
                                        </p:tav>
                                      </p:tavLst>
                                    </p:anim>
                                    <p:anim calcmode="lin" valueType="num">
                                      <p:cBhvr additive="base">
                                        <p:cTn id="17" dur="550" fill="hold"/>
                                        <p:tgtEl>
                                          <p:spTgt spid="22"/>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50"/>
                                        <p:tgtEl>
                                          <p:spTgt spid="23"/>
                                        </p:tgtEl>
                                      </p:cBhvr>
                                    </p:animEffect>
                                    <p:anim calcmode="lin" valueType="num">
                                      <p:cBhvr additive="base">
                                        <p:cTn id="22" dur="550" fill="hold"/>
                                        <p:tgtEl>
                                          <p:spTgt spid="23"/>
                                        </p:tgtEl>
                                        <p:attrNameLst>
                                          <p:attrName>ppt_w</p:attrName>
                                        </p:attrNameLst>
                                      </p:cBhvr>
                                      <p:tavLst>
                                        <p:tav tm="0">
                                          <p:val>
                                            <p:strVal val="0"/>
                                          </p:val>
                                        </p:tav>
                                        <p:tav tm="100000">
                                          <p:val>
                                            <p:strVal val="#ppt_w"/>
                                          </p:val>
                                        </p:tav>
                                      </p:tavLst>
                                    </p:anim>
                                    <p:anim calcmode="lin" valueType="num">
                                      <p:cBhvr additive="base">
                                        <p:cTn id="23" dur="550" fill="hold"/>
                                        <p:tgtEl>
                                          <p:spTgt spid="23"/>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5"/>
                                        </p:tgtEl>
                                        <p:attrNameLst>
                                          <p:attrName>style.visibility</p:attrName>
                                        </p:attrNameLst>
                                      </p:cBhvr>
                                      <p:to>
                                        <p:strVal val="visible"/>
                                      </p:to>
                                    </p:set>
                                    <p:animEffect transition="in" filter="fade">
                                      <p:cBhvr>
                                        <p:cTn id="27" dur="550"/>
                                        <p:tgtEl>
                                          <p:spTgt spid="25"/>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50"/>
                                        <p:tgtEl>
                                          <p:spTgt spid="24"/>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fade">
                                      <p:cBhvr>
                                        <p:cTn id="35" dur="550"/>
                                        <p:tgtEl>
                                          <p:spTgt spid="26"/>
                                        </p:tgtEl>
                                      </p:cBhvr>
                                    </p:animEffect>
                                    <p:anim calcmode="lin" valueType="num">
                                      <p:cBhvr additive="base">
                                        <p:cTn id="36" dur="550" fill="hold"/>
                                        <p:tgtEl>
                                          <p:spTgt spid="26"/>
                                        </p:tgtEl>
                                        <p:attrNameLst>
                                          <p:attrName>ppt_x</p:attrName>
                                        </p:attrNameLst>
                                      </p:cBhvr>
                                      <p:tavLst>
                                        <p:tav tm="0">
                                          <p:val>
                                            <p:strVal val="#ppt_x"/>
                                          </p:val>
                                        </p:tav>
                                        <p:tav tm="100000">
                                          <p:val>
                                            <p:strVal val="#ppt_x"/>
                                          </p:val>
                                        </p:tav>
                                      </p:tavLst>
                                    </p:anim>
                                    <p:anim calcmode="lin" valueType="num">
                                      <p:cBhvr additive="base">
                                        <p:cTn id="37" dur="550" fill="hold"/>
                                        <p:tgtEl>
                                          <p:spTgt spid="26"/>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fade">
                                      <p:cBhvr>
                                        <p:cTn id="41" dur="550"/>
                                        <p:tgtEl>
                                          <p:spTgt spid="27"/>
                                        </p:tgtEl>
                                      </p:cBhvr>
                                    </p:animEffect>
                                    <p:anim calcmode="lin" valueType="num">
                                      <p:cBhvr additive="base">
                                        <p:cTn id="42" dur="550" fill="hold"/>
                                        <p:tgtEl>
                                          <p:spTgt spid="27"/>
                                        </p:tgtEl>
                                        <p:attrNameLst>
                                          <p:attrName>ppt_x</p:attrName>
                                        </p:attrNameLst>
                                      </p:cBhvr>
                                      <p:tavLst>
                                        <p:tav tm="0">
                                          <p:val>
                                            <p:strVal val="#ppt_x"/>
                                          </p:val>
                                        </p:tav>
                                        <p:tav tm="100000">
                                          <p:val>
                                            <p:strVal val="#ppt_x"/>
                                          </p:val>
                                        </p:tav>
                                      </p:tavLst>
                                    </p:anim>
                                    <p:anim calcmode="lin" valueType="num">
                                      <p:cBhvr additive="base">
                                        <p:cTn id="43" dur="550" fill="hold"/>
                                        <p:tgtEl>
                                          <p:spTgt spid="27"/>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8"/>
                                        </p:tgtEl>
                                        <p:attrNameLst>
                                          <p:attrName>style.visibility</p:attrName>
                                        </p:attrNameLst>
                                      </p:cBhvr>
                                      <p:to>
                                        <p:strVal val="visible"/>
                                      </p:to>
                                    </p:set>
                                    <p:animEffect transition="in" filter="fade">
                                      <p:cBhvr>
                                        <p:cTn id="47" dur="550"/>
                                        <p:tgtEl>
                                          <p:spTgt spid="28"/>
                                        </p:tgtEl>
                                      </p:cBhvr>
                                    </p:animEffect>
                                    <p:anim calcmode="lin" valueType="num">
                                      <p:cBhvr additive="base">
                                        <p:cTn id="48" dur="550" fill="hold"/>
                                        <p:tgtEl>
                                          <p:spTgt spid="28"/>
                                        </p:tgtEl>
                                        <p:attrNameLst>
                                          <p:attrName>ppt_w</p:attrName>
                                        </p:attrNameLst>
                                      </p:cBhvr>
                                      <p:tavLst>
                                        <p:tav tm="0">
                                          <p:val>
                                            <p:strVal val="0"/>
                                          </p:val>
                                        </p:tav>
                                        <p:tav tm="100000">
                                          <p:val>
                                            <p:strVal val="#ppt_w"/>
                                          </p:val>
                                        </p:tav>
                                      </p:tavLst>
                                    </p:anim>
                                    <p:anim calcmode="lin" valueType="num">
                                      <p:cBhvr additive="base">
                                        <p:cTn id="49" dur="550" fill="hold"/>
                                        <p:tgtEl>
                                          <p:spTgt spid="28"/>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29"/>
                                        </p:tgtEl>
                                        <p:attrNameLst>
                                          <p:attrName>style.visibility</p:attrName>
                                        </p:attrNameLst>
                                      </p:cBhvr>
                                      <p:to>
                                        <p:strVal val="visible"/>
                                      </p:to>
                                    </p:set>
                                    <p:animEffect transition="in" filter="fade">
                                      <p:cBhvr>
                                        <p:cTn id="53" dur="550"/>
                                        <p:tgtEl>
                                          <p:spTgt spid="29"/>
                                        </p:tgtEl>
                                      </p:cBhvr>
                                    </p:animEffect>
                                    <p:anim calcmode="lin" valueType="num">
                                      <p:cBhvr additive="base">
                                        <p:cTn id="54" dur="550" fill="hold"/>
                                        <p:tgtEl>
                                          <p:spTgt spid="29"/>
                                        </p:tgtEl>
                                        <p:attrNameLst>
                                          <p:attrName>ppt_x</p:attrName>
                                        </p:attrNameLst>
                                      </p:cBhvr>
                                      <p:tavLst>
                                        <p:tav tm="0">
                                          <p:val>
                                            <p:strVal val="#ppt_x"/>
                                          </p:val>
                                        </p:tav>
                                        <p:tav tm="100000">
                                          <p:val>
                                            <p:strVal val="#ppt_x"/>
                                          </p:val>
                                        </p:tav>
                                      </p:tavLst>
                                    </p:anim>
                                    <p:anim calcmode="lin" valueType="num">
                                      <p:cBhvr additive="base">
                                        <p:cTn id="55" dur="550" fill="hold"/>
                                        <p:tgtEl>
                                          <p:spTgt spid="29"/>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22" grpId="0" animBg="1"/>
      <p:bldP spid="25" grpId="0" animBg="1"/>
      <p:bldP spid="24" grpId="0" animBg="1"/>
      <p:bldP spid="26" grpId="0" animBg="1"/>
      <p:bldP spid="27" grpId="0" animBg="1"/>
      <p:bldP spid="28" grpId="0" animBg="1"/>
      <p:bldP spid="29"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28" name="Oval 27"/>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ea2bdfa5d53b65a5.jpg"/>
          <p:cNvPicPr>
            <a:picLocks noChangeAspect="1"/>
          </p:cNvPicPr>
          <p:nvPr/>
        </p:nvPicPr>
        <p:blipFill>
          <a:blip r:embed="rId2"/>
          <a:srcRect l="19886" r="19886"/>
          <a:stretch>
            <a:fillRect/>
          </a:stretch>
        </p:blipFill>
        <p:spPr>
          <a:xfrm>
            <a:off x="6300000" y="800000"/>
            <a:ext cx="5300000" cy="4950000"/>
          </a:xfrm>
          <a:prstGeom prst="roundRect">
            <a:avLst/>
          </a:prstGeom>
          <a:ln w="19050">
            <a:solidFill>
              <a:srgbClr val="22D3EE"/>
            </a:solidFill>
          </a:ln>
        </p:spPr>
      </p:pic>
      <p:sp>
        <p:nvSpPr>
          <p:cNvPr id="42" name="TextBox 41"/>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极客湾Geekerwan · Wikimedia Commons · CC BY 3.0</a:t>
            </a:r>
          </a:p>
        </p:txBody>
      </p:sp>
      <p:sp>
        <p:nvSpPr>
          <p:cNvPr id="43" name="TextBox 42"/>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03</a:t>
            </a:r>
          </a:p>
        </p:txBody>
      </p:sp>
      <p:sp>
        <p:nvSpPr>
          <p:cNvPr id="44" name="TextBox 43"/>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5" name="TextBox 44"/>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NUMA arxitekturasi</a:t>
            </a:r>
          </a:p>
        </p:txBody>
      </p:sp>
      <p:sp>
        <p:nvSpPr>
          <p:cNvPr id="46" name="Rectangle 45"/>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88"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150"/>
                            </p:stCondLst>
                            <p:childTnLst>
                              <p:par>
                                <p:cTn id="152" presetID="53" presetClass="entr" presetSubtype="16"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anim calcmode="lin" valueType="num">
                                      <p:cBhvr additive="base">
                                        <p:cTn id="155" dur="550" fill="hold"/>
                                        <p:tgtEl>
                                          <p:spTgt spid="40"/>
                                        </p:tgtEl>
                                        <p:attrNameLst>
                                          <p:attrName>ppt_w</p:attrName>
                                        </p:attrNameLst>
                                      </p:cBhvr>
                                      <p:tavLst>
                                        <p:tav tm="0">
                                          <p:val>
                                            <p:strVal val="0"/>
                                          </p:val>
                                        </p:tav>
                                        <p:tav tm="100000">
                                          <p:val>
                                            <p:strVal val="#ppt_w"/>
                                          </p:val>
                                        </p:tav>
                                      </p:tavLst>
                                    </p:anim>
                                    <p:anim calcmode="lin" valueType="num">
                                      <p:cBhvr additive="base">
                                        <p:cTn id="156" dur="550" fill="hold"/>
                                        <p:tgtEl>
                                          <p:spTgt spid="40"/>
                                        </p:tgtEl>
                                        <p:attrNameLst>
                                          <p:attrName>ppt_h</p:attrName>
                                        </p:attrNameLst>
                                      </p:cBhvr>
                                      <p:tavLst>
                                        <p:tav tm="0">
                                          <p:val>
                                            <p:strVal val="0"/>
                                          </p:val>
                                        </p:tav>
                                        <p:tav tm="100000">
                                          <p:val>
                                            <p:strVal val="#ppt_h"/>
                                          </p:val>
                                        </p:tav>
                                      </p:tavLst>
                                    </p:anim>
                                  </p:childTnLst>
                                </p:cTn>
                              </p:par>
                            </p:childTnLst>
                          </p:cTn>
                        </p:par>
                        <p:par>
                          <p:cTn id="157" fill="hold">
                            <p:stCondLst>
                              <p:cond delay="150"/>
                            </p:stCondLst>
                            <p:childTnLst>
                              <p:par>
                                <p:cTn id="158" presetID="53" presetClass="entr" presetSubtype="16" fill="hold" grpId="0" nodeType="afterEffect">
                                  <p:stCondLst>
                                    <p:cond delay="0"/>
                                  </p:stCondLst>
                                  <p:childTnLst>
                                    <p:set>
                                      <p:cBhvr>
                                        <p:cTn id="159" dur="1" fill="hold">
                                          <p:stCondLst>
                                            <p:cond delay="0"/>
                                          </p:stCondLst>
                                        </p:cTn>
                                        <p:tgtEl>
                                          <p:spTgt spid="41"/>
                                        </p:tgtEl>
                                        <p:attrNameLst>
                                          <p:attrName>style.visibility</p:attrName>
                                        </p:attrNameLst>
                                      </p:cBhvr>
                                      <p:to>
                                        <p:strVal val="visible"/>
                                      </p:to>
                                    </p:set>
                                    <p:animEffect transition="in" filter="fade">
                                      <p:cBhvr>
                                        <p:cTn id="160" dur="550"/>
                                        <p:tgtEl>
                                          <p:spTgt spid="41"/>
                                        </p:tgtEl>
                                      </p:cBhvr>
                                    </p:animEffect>
                                    <p:anim calcmode="lin" valueType="num">
                                      <p:cBhvr additive="base">
                                        <p:cTn id="161" dur="550" fill="hold"/>
                                        <p:tgtEl>
                                          <p:spTgt spid="41"/>
                                        </p:tgtEl>
                                        <p:attrNameLst>
                                          <p:attrName>ppt_w</p:attrName>
                                        </p:attrNameLst>
                                      </p:cBhvr>
                                      <p:tavLst>
                                        <p:tav tm="0">
                                          <p:val>
                                            <p:strVal val="0"/>
                                          </p:val>
                                        </p:tav>
                                        <p:tav tm="100000">
                                          <p:val>
                                            <p:strVal val="#ppt_w"/>
                                          </p:val>
                                        </p:tav>
                                      </p:tavLst>
                                    </p:anim>
                                    <p:anim calcmode="lin" valueType="num">
                                      <p:cBhvr additive="base">
                                        <p:cTn id="162" dur="550" fill="hold"/>
                                        <p:tgtEl>
                                          <p:spTgt spid="41"/>
                                        </p:tgtEl>
                                        <p:attrNameLst>
                                          <p:attrName>ppt_h</p:attrName>
                                        </p:attrNameLst>
                                      </p:cBhvr>
                                      <p:tavLst>
                                        <p:tav tm="0">
                                          <p:val>
                                            <p:strVal val="0"/>
                                          </p:val>
                                        </p:tav>
                                        <p:tav tm="100000">
                                          <p:val>
                                            <p:strVal val="#ppt_h"/>
                                          </p:val>
                                        </p:tav>
                                      </p:tavLst>
                                    </p:anim>
                                  </p:childTnLst>
                                </p:cTn>
                              </p:par>
                            </p:childTnLst>
                          </p:cTn>
                        </p:par>
                        <p:par>
                          <p:cTn id="163" fill="hold">
                            <p:stCondLst>
                              <p:cond delay="150"/>
                            </p:stCondLst>
                            <p:childTnLst>
                              <p:par>
                                <p:cTn id="164" presetID="10" presetClass="entr" presetSubtype="0" fill="hold" grpId="0" nodeType="afterEffect">
                                  <p:stCondLst>
                                    <p:cond delay="0"/>
                                  </p:stCondLst>
                                  <p:childTnLst>
                                    <p:set>
                                      <p:cBhvr>
                                        <p:cTn id="165" dur="1" fill="hold">
                                          <p:stCondLst>
                                            <p:cond delay="0"/>
                                          </p:stCondLst>
                                        </p:cTn>
                                        <p:tgtEl>
                                          <p:spTgt spid="42"/>
                                        </p:tgtEl>
                                        <p:attrNameLst>
                                          <p:attrName>style.visibility</p:attrName>
                                        </p:attrNameLst>
                                      </p:cBhvr>
                                      <p:to>
                                        <p:strVal val="visible"/>
                                      </p:to>
                                    </p:set>
                                    <p:animEffect transition="in" filter="fade">
                                      <p:cBhvr>
                                        <p:cTn id="166" dur="550"/>
                                        <p:tgtEl>
                                          <p:spTgt spid="42"/>
                                        </p:tgtEl>
                                      </p:cBhvr>
                                    </p:animEffect>
                                  </p:childTnLst>
                                </p:cTn>
                              </p:par>
                            </p:childTnLst>
                          </p:cTn>
                        </p:par>
                        <p:par>
                          <p:cTn id="167" fill="hold">
                            <p:stCondLst>
                              <p:cond delay="350"/>
                            </p:stCondLst>
                            <p:childTnLst>
                              <p:par>
                                <p:cTn id="168" presetID="53" presetClass="entr" presetSubtype="16" fill="hold" grpId="0" nodeType="afterEffect">
                                  <p:stCondLst>
                                    <p:cond delay="0"/>
                                  </p:stCondLst>
                                  <p:childTnLst>
                                    <p:set>
                                      <p:cBhvr>
                                        <p:cTn id="169" dur="1" fill="hold">
                                          <p:stCondLst>
                                            <p:cond delay="0"/>
                                          </p:stCondLst>
                                        </p:cTn>
                                        <p:tgtEl>
                                          <p:spTgt spid="43"/>
                                        </p:tgtEl>
                                        <p:attrNameLst>
                                          <p:attrName>style.visibility</p:attrName>
                                        </p:attrNameLst>
                                      </p:cBhvr>
                                      <p:to>
                                        <p:strVal val="visible"/>
                                      </p:to>
                                    </p:set>
                                    <p:animEffect transition="in" filter="fade">
                                      <p:cBhvr>
                                        <p:cTn id="170" dur="550"/>
                                        <p:tgtEl>
                                          <p:spTgt spid="43"/>
                                        </p:tgtEl>
                                      </p:cBhvr>
                                    </p:animEffect>
                                    <p:anim calcmode="lin" valueType="num">
                                      <p:cBhvr additive="base">
                                        <p:cTn id="171" dur="550" fill="hold"/>
                                        <p:tgtEl>
                                          <p:spTgt spid="43"/>
                                        </p:tgtEl>
                                        <p:attrNameLst>
                                          <p:attrName>ppt_w</p:attrName>
                                        </p:attrNameLst>
                                      </p:cBhvr>
                                      <p:tavLst>
                                        <p:tav tm="0">
                                          <p:val>
                                            <p:strVal val="0"/>
                                          </p:val>
                                        </p:tav>
                                        <p:tav tm="100000">
                                          <p:val>
                                            <p:strVal val="#ppt_w"/>
                                          </p:val>
                                        </p:tav>
                                      </p:tavLst>
                                    </p:anim>
                                    <p:anim calcmode="lin" valueType="num">
                                      <p:cBhvr additive="base">
                                        <p:cTn id="172" dur="550" fill="hold"/>
                                        <p:tgtEl>
                                          <p:spTgt spid="43"/>
                                        </p:tgtEl>
                                        <p:attrNameLst>
                                          <p:attrName>ppt_h</p:attrName>
                                        </p:attrNameLst>
                                      </p:cBhvr>
                                      <p:tavLst>
                                        <p:tav tm="0">
                                          <p:val>
                                            <p:strVal val="0"/>
                                          </p:val>
                                        </p:tav>
                                        <p:tav tm="100000">
                                          <p:val>
                                            <p:strVal val="#ppt_h"/>
                                          </p:val>
                                        </p:tav>
                                      </p:tavLst>
                                    </p:anim>
                                  </p:childTnLst>
                                </p:cTn>
                              </p:par>
                            </p:childTnLst>
                          </p:cTn>
                        </p:par>
                        <p:par>
                          <p:cTn id="173" fill="hold">
                            <p:stCondLst>
                              <p:cond delay="450"/>
                            </p:stCondLst>
                            <p:childTnLst>
                              <p:par>
                                <p:cTn id="174" presetID="10" presetClass="entr" presetSubtype="0" fill="hold" grpId="0" nodeType="afterEffect">
                                  <p:stCondLst>
                                    <p:cond delay="0"/>
                                  </p:stCondLst>
                                  <p:childTnLst>
                                    <p:set>
                                      <p:cBhvr>
                                        <p:cTn id="175" dur="1" fill="hold">
                                          <p:stCondLst>
                                            <p:cond delay="0"/>
                                          </p:stCondLst>
                                        </p:cTn>
                                        <p:tgtEl>
                                          <p:spTgt spid="44"/>
                                        </p:tgtEl>
                                        <p:attrNameLst>
                                          <p:attrName>style.visibility</p:attrName>
                                        </p:attrNameLst>
                                      </p:cBhvr>
                                      <p:to>
                                        <p:strVal val="visible"/>
                                      </p:to>
                                    </p:set>
                                    <p:animEffect transition="in" filter="fade">
                                      <p:cBhvr>
                                        <p:cTn id="176" dur="550"/>
                                        <p:tgtEl>
                                          <p:spTgt spid="44"/>
                                        </p:tgtEl>
                                      </p:cBhvr>
                                    </p:animEffect>
                                  </p:childTnLst>
                                </p:cTn>
                              </p:par>
                            </p:childTnLst>
                          </p:cTn>
                        </p:par>
                        <p:par>
                          <p:cTn id="177" fill="hold">
                            <p:stCondLst>
                              <p:cond delay="550"/>
                            </p:stCondLst>
                            <p:childTnLst>
                              <p:par>
                                <p:cTn id="178" presetID="2" presetClass="entr" presetSubtype="8" fill="hold" grpId="0" nodeType="afterEffect">
                                  <p:stCondLst>
                                    <p:cond delay="0"/>
                                  </p:stCondLst>
                                  <p:childTnLst>
                                    <p:set>
                                      <p:cBhvr>
                                        <p:cTn id="179" dur="1" fill="hold">
                                          <p:stCondLst>
                                            <p:cond delay="0"/>
                                          </p:stCondLst>
                                        </p:cTn>
                                        <p:tgtEl>
                                          <p:spTgt spid="45"/>
                                        </p:tgtEl>
                                        <p:attrNameLst>
                                          <p:attrName>style.visibility</p:attrName>
                                        </p:attrNameLst>
                                      </p:cBhvr>
                                      <p:to>
                                        <p:strVal val="visible"/>
                                      </p:to>
                                    </p:set>
                                    <p:anim calcmode="lin" valueType="num">
                                      <p:cBhvr additive="base">
                                        <p:cTn id="181" dur="550" fill="hold"/>
                                        <p:tgtEl>
                                          <p:spTgt spid="45"/>
                                        </p:tgtEl>
                                        <p:attrNameLst>
                                          <p:attrName>ppt_x</p:attrName>
                                        </p:attrNameLst>
                                      </p:cBhvr>
                                      <p:tavLst>
                                        <p:tav tm="0">
                                          <p:val>
                                            <p:strVal val="0-#ppt_w/2"/>
                                          </p:val>
                                        </p:tav>
                                        <p:tav tm="100000">
                                          <p:val>
                                            <p:strVal val="#ppt_x"/>
                                          </p:val>
                                        </p:tav>
                                      </p:tavLst>
                                    </p:anim>
                                    <p:anim calcmode="lin" valueType="num">
                                      <p:cBhvr additive="base">
                                        <p:cTn id="182" dur="550" fill="hold"/>
                                        <p:tgtEl>
                                          <p:spTgt spid="45"/>
                                        </p:tgtEl>
                                        <p:attrNameLst>
                                          <p:attrName>ppt_y</p:attrName>
                                        </p:attrNameLst>
                                      </p:cBhvr>
                                      <p:tavLst>
                                        <p:tav tm="0">
                                          <p:val>
                                            <p:strVal val="#ppt_y"/>
                                          </p:val>
                                        </p:tav>
                                        <p:tav tm="100000">
                                          <p:val>
                                            <p:strVal val="#ppt_y"/>
                                          </p:val>
                                        </p:tav>
                                      </p:tavLst>
                                    </p:anim>
                                  </p:childTnLst>
                                </p:cTn>
                              </p:par>
                            </p:childTnLst>
                          </p:cTn>
                        </p:par>
                        <p:par>
                          <p:cTn id="183" fill="hold">
                            <p:stCondLst>
                              <p:cond delay="650"/>
                            </p:stCondLst>
                            <p:childTnLst>
                              <p:par>
                                <p:cTn id="184" presetID="22" presetClass="entr" presetSubtype="8" fill="hold" grpId="0" nodeType="afterEffect">
                                  <p:stCondLst>
                                    <p:cond delay="0"/>
                                  </p:stCondLst>
                                  <p:childTnLst>
                                    <p:set>
                                      <p:cBhvr>
                                        <p:cTn id="185" dur="1" fill="hold">
                                          <p:stCondLst>
                                            <p:cond delay="0"/>
                                          </p:stCondLst>
                                        </p:cTn>
                                        <p:tgtEl>
                                          <p:spTgt spid="46"/>
                                        </p:tgtEl>
                                        <p:attrNameLst>
                                          <p:attrName>style.visibility</p:attrName>
                                        </p:attrNameLst>
                                      </p:cBhvr>
                                      <p:to>
                                        <p:strVal val="visible"/>
                                      </p:to>
                                    </p:set>
                                    <p:animEffect transition="in" filter="wipe(left)">
                                      <p:cBhvr>
                                        <p:cTn id="187" dur="8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2" grpId="0" animBg="1"/>
      <p:bldP spid="43" grpId="0" animBg="1"/>
      <p:bldP spid="44" grpId="0" animBg="1"/>
      <p:bldP spid="45" grpId="0" animBg="1"/>
      <p:bldP spid="46"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3-REJA</a:t>
            </a:r>
          </a:p>
        </p:txBody>
      </p:sp>
      <p:sp>
        <p:nvSpPr>
          <p:cNvPr id="20" name="TextBox 19"/>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NUMA arxitekturasi</a:t>
            </a:r>
          </a:p>
        </p:txBody>
      </p:sp>
      <p:sp>
        <p:nvSpPr>
          <p:cNvPr id="21" name="Rectangle 20"/>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3" name="Rounded Rectangle 22"/>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13</a:t>
            </a:r>
          </a:p>
        </p:txBody>
      </p:sp>
      <p:sp>
        <p:nvSpPr>
          <p:cNvPr id="24" name="Rounded Rectangle 23"/>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5" name="Picture 24" descr="5efb5ddfc765993b.jpg"/>
          <p:cNvPicPr>
            <a:picLocks noChangeAspect="1"/>
          </p:cNvPicPr>
          <p:nvPr/>
        </p:nvPicPr>
        <p:blipFill>
          <a:blip r:embed="rId2"/>
          <a:srcRect l="18434" r="18434"/>
          <a:stretch>
            <a:fillRect/>
          </a:stretch>
        </p:blipFill>
        <p:spPr>
          <a:xfrm>
            <a:off x="7620000" y="1430000"/>
            <a:ext cx="4050000" cy="4250000"/>
          </a:xfrm>
          <a:prstGeom prst="roundRect">
            <a:avLst/>
          </a:prstGeom>
          <a:ln w="19050">
            <a:solidFill>
              <a:srgbClr val="22D3EE"/>
            </a:solidFill>
          </a:ln>
        </p:spPr>
      </p:pic>
      <p:sp>
        <p:nvSpPr>
          <p:cNvPr id="26" name="TextBox 25"/>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Vintechcomputerservices · Wikimedia Commons · CC BY-SA 4.0</a:t>
            </a:r>
          </a:p>
        </p:txBody>
      </p:sp>
      <p:sp>
        <p:nvSpPr>
          <p:cNvPr id="27" name="Rounded Rectangle 26"/>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8" name="Rounded Rectangle 27"/>
          <p:cNvSpPr/>
          <p:nvPr/>
        </p:nvSpPr>
        <p:spPr>
          <a:xfrm>
            <a:off x="550000" y="2568868"/>
            <a:ext cx="6750000" cy="244226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50000" y="2648868"/>
            <a:ext cx="50000" cy="228226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1" name="TextBox 30"/>
          <p:cNvSpPr txBox="1"/>
          <p:nvPr/>
        </p:nvSpPr>
        <p:spPr>
          <a:xfrm>
            <a:off x="1300000" y="2608868"/>
            <a:ext cx="5900000" cy="2362264"/>
          </a:xfrm>
          <a:prstGeom prst="rect">
            <a:avLst/>
          </a:prstGeom>
          <a:noFill/>
        </p:spPr>
        <p:txBody>
          <a:bodyPr wrap="square" anchor="ctr">
            <a:spAutoFit/>
          </a:bodyPr>
          <a:lstStyle/>
          <a:p>
            <a:r>
              <a:rPr sz="1500" b="1">
                <a:solidFill>
                  <a:srgbClr val="E8EEFA"/>
                </a:solidFill>
                <a:latin typeface="Segoe UI"/>
              </a:rPr>
              <a:t>Ko'p soketli serverlarda (masalan, ikki protsessorli Intel Xeon yoki AMD EPYC tizimlari) har bir protsessorning o'z xotira kontrollerlari va unga ulangan DRAM modullari bor.</a:t>
            </a:r>
          </a:p>
          <a:p>
            <a:pPr>
              <a:spcBef>
                <a:spcPts val="400"/>
              </a:spcBef>
            </a:pPr>
            <a:r>
              <a:rPr sz="1400">
                <a:solidFill>
                  <a:srgbClr val="AEBBD9"/>
                </a:solidFill>
                <a:latin typeface="Segoe UI"/>
              </a:rPr>
              <a:t>Bitta soketdagi yadro o'z DRAM'iga («mahalliy tugun») to'g'ridan-to'g'ri murojaat qiladi; boshqa soketning DRAM'iga («uzoq tugun») esa protsessorlararo havola (Intel UPI yoki AMD Infinity Fabric) orqali murojaat qiladi. Natijada xotiraga kirish vaqti bir xil emas — bu Non-Uniform Memory Access, qisqacha NUMA.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0"/>
                                        </p:tgtEl>
                                        <p:attrNameLst>
                                          <p:attrName>style.visibility</p:attrName>
                                        </p:attrNameLst>
                                      </p:cBhvr>
                                      <p:to>
                                        <p:strVal val="visible"/>
                                      </p:to>
                                    </p:set>
                                    <p:animEffect transition="in" filter="fade">
                                      <p:cBhvr>
                                        <p:cTn id="6" dur="550"/>
                                        <p:tgtEl>
                                          <p:spTgt spid="20"/>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wipe(left)">
                                      <p:cBhvr>
                                        <p:cTn id="11" dur="800"/>
                                        <p:tgtEl>
                                          <p:spTgt spid="21"/>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fade">
                                      <p:cBhvr>
                                        <p:cTn id="15" dur="550"/>
                                        <p:tgtEl>
                                          <p:spTgt spid="24"/>
                                        </p:tgtEl>
                                      </p:cBhvr>
                                    </p:animEffect>
                                    <p:anim calcmode="lin" valueType="num">
                                      <p:cBhvr additive="base">
                                        <p:cTn id="16" dur="550" fill="hold"/>
                                        <p:tgtEl>
                                          <p:spTgt spid="24"/>
                                        </p:tgtEl>
                                        <p:attrNameLst>
                                          <p:attrName>ppt_w</p:attrName>
                                        </p:attrNameLst>
                                      </p:cBhvr>
                                      <p:tavLst>
                                        <p:tav tm="0">
                                          <p:val>
                                            <p:strVal val="0"/>
                                          </p:val>
                                        </p:tav>
                                        <p:tav tm="100000">
                                          <p:val>
                                            <p:strVal val="#ppt_w"/>
                                          </p:val>
                                        </p:tav>
                                      </p:tavLst>
                                    </p:anim>
                                    <p:anim calcmode="lin" valueType="num">
                                      <p:cBhvr additive="base">
                                        <p:cTn id="17" dur="550" fill="hold"/>
                                        <p:tgtEl>
                                          <p:spTgt spid="24"/>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5"/>
                                        </p:tgtEl>
                                        <p:attrNameLst>
                                          <p:attrName>style.visibility</p:attrName>
                                        </p:attrNameLst>
                                      </p:cBhvr>
                                      <p:to>
                                        <p:strVal val="visible"/>
                                      </p:to>
                                    </p:set>
                                    <p:animEffect transition="in" filter="fade">
                                      <p:cBhvr>
                                        <p:cTn id="21" dur="550"/>
                                        <p:tgtEl>
                                          <p:spTgt spid="25"/>
                                        </p:tgtEl>
                                      </p:cBhvr>
                                    </p:animEffect>
                                    <p:anim calcmode="lin" valueType="num">
                                      <p:cBhvr additive="base">
                                        <p:cTn id="22" dur="550" fill="hold"/>
                                        <p:tgtEl>
                                          <p:spTgt spid="25"/>
                                        </p:tgtEl>
                                        <p:attrNameLst>
                                          <p:attrName>ppt_w</p:attrName>
                                        </p:attrNameLst>
                                      </p:cBhvr>
                                      <p:tavLst>
                                        <p:tav tm="0">
                                          <p:val>
                                            <p:strVal val="0"/>
                                          </p:val>
                                        </p:tav>
                                        <p:tav tm="100000">
                                          <p:val>
                                            <p:strVal val="#ppt_w"/>
                                          </p:val>
                                        </p:tav>
                                      </p:tavLst>
                                    </p:anim>
                                    <p:anim calcmode="lin" valueType="num">
                                      <p:cBhvr additive="base">
                                        <p:cTn id="23" dur="550" fill="hold"/>
                                        <p:tgtEl>
                                          <p:spTgt spid="25"/>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550"/>
                                        <p:tgtEl>
                                          <p:spTgt spid="27"/>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50"/>
                                        <p:tgtEl>
                                          <p:spTgt spid="26"/>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8"/>
                                        </p:tgtEl>
                                        <p:attrNameLst>
                                          <p:attrName>style.visibility</p:attrName>
                                        </p:attrNameLst>
                                      </p:cBhvr>
                                      <p:to>
                                        <p:strVal val="visible"/>
                                      </p:to>
                                    </p:set>
                                    <p:animEffect transition="in" filter="fade">
                                      <p:cBhvr>
                                        <p:cTn id="35" dur="550"/>
                                        <p:tgtEl>
                                          <p:spTgt spid="28"/>
                                        </p:tgtEl>
                                      </p:cBhvr>
                                    </p:animEffect>
                                    <p:anim calcmode="lin" valueType="num">
                                      <p:cBhvr additive="base">
                                        <p:cTn id="36" dur="550" fill="hold"/>
                                        <p:tgtEl>
                                          <p:spTgt spid="28"/>
                                        </p:tgtEl>
                                        <p:attrNameLst>
                                          <p:attrName>ppt_x</p:attrName>
                                        </p:attrNameLst>
                                      </p:cBhvr>
                                      <p:tavLst>
                                        <p:tav tm="0">
                                          <p:val>
                                            <p:strVal val="#ppt_x"/>
                                          </p:val>
                                        </p:tav>
                                        <p:tav tm="100000">
                                          <p:val>
                                            <p:strVal val="#ppt_x"/>
                                          </p:val>
                                        </p:tav>
                                      </p:tavLst>
                                    </p:anim>
                                    <p:anim calcmode="lin" valueType="num">
                                      <p:cBhvr additive="base">
                                        <p:cTn id="37" dur="550" fill="hold"/>
                                        <p:tgtEl>
                                          <p:spTgt spid="28"/>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9"/>
                                        </p:tgtEl>
                                        <p:attrNameLst>
                                          <p:attrName>style.visibility</p:attrName>
                                        </p:attrNameLst>
                                      </p:cBhvr>
                                      <p:to>
                                        <p:strVal val="visible"/>
                                      </p:to>
                                    </p:set>
                                    <p:animEffect transition="in" filter="fade">
                                      <p:cBhvr>
                                        <p:cTn id="41" dur="550"/>
                                        <p:tgtEl>
                                          <p:spTgt spid="29"/>
                                        </p:tgtEl>
                                      </p:cBhvr>
                                    </p:animEffect>
                                    <p:anim calcmode="lin" valueType="num">
                                      <p:cBhvr additive="base">
                                        <p:cTn id="42" dur="550" fill="hold"/>
                                        <p:tgtEl>
                                          <p:spTgt spid="29"/>
                                        </p:tgtEl>
                                        <p:attrNameLst>
                                          <p:attrName>ppt_x</p:attrName>
                                        </p:attrNameLst>
                                      </p:cBhvr>
                                      <p:tavLst>
                                        <p:tav tm="0">
                                          <p:val>
                                            <p:strVal val="#ppt_x"/>
                                          </p:val>
                                        </p:tav>
                                        <p:tav tm="100000">
                                          <p:val>
                                            <p:strVal val="#ppt_x"/>
                                          </p:val>
                                        </p:tav>
                                      </p:tavLst>
                                    </p:anim>
                                    <p:anim calcmode="lin" valueType="num">
                                      <p:cBhvr additive="base">
                                        <p:cTn id="43" dur="550" fill="hold"/>
                                        <p:tgtEl>
                                          <p:spTgt spid="29"/>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0"/>
                                        </p:tgtEl>
                                        <p:attrNameLst>
                                          <p:attrName>style.visibility</p:attrName>
                                        </p:attrNameLst>
                                      </p:cBhvr>
                                      <p:to>
                                        <p:strVal val="visible"/>
                                      </p:to>
                                    </p:set>
                                    <p:animEffect transition="in" filter="fade">
                                      <p:cBhvr>
                                        <p:cTn id="47" dur="550"/>
                                        <p:tgtEl>
                                          <p:spTgt spid="30"/>
                                        </p:tgtEl>
                                      </p:cBhvr>
                                    </p:animEffect>
                                    <p:anim calcmode="lin" valueType="num">
                                      <p:cBhvr additive="base">
                                        <p:cTn id="48" dur="550" fill="hold"/>
                                        <p:tgtEl>
                                          <p:spTgt spid="30"/>
                                        </p:tgtEl>
                                        <p:attrNameLst>
                                          <p:attrName>ppt_w</p:attrName>
                                        </p:attrNameLst>
                                      </p:cBhvr>
                                      <p:tavLst>
                                        <p:tav tm="0">
                                          <p:val>
                                            <p:strVal val="0"/>
                                          </p:val>
                                        </p:tav>
                                        <p:tav tm="100000">
                                          <p:val>
                                            <p:strVal val="#ppt_w"/>
                                          </p:val>
                                        </p:tav>
                                      </p:tavLst>
                                    </p:anim>
                                    <p:anim calcmode="lin" valueType="num">
                                      <p:cBhvr additive="base">
                                        <p:cTn id="49" dur="550" fill="hold"/>
                                        <p:tgtEl>
                                          <p:spTgt spid="30"/>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fade">
                                      <p:cBhvr>
                                        <p:cTn id="53" dur="550"/>
                                        <p:tgtEl>
                                          <p:spTgt spid="31"/>
                                        </p:tgtEl>
                                      </p:cBhvr>
                                    </p:animEffect>
                                    <p:anim calcmode="lin" valueType="num">
                                      <p:cBhvr additive="base">
                                        <p:cTn id="54" dur="550" fill="hold"/>
                                        <p:tgtEl>
                                          <p:spTgt spid="31"/>
                                        </p:tgtEl>
                                        <p:attrNameLst>
                                          <p:attrName>ppt_x</p:attrName>
                                        </p:attrNameLst>
                                      </p:cBhvr>
                                      <p:tavLst>
                                        <p:tav tm="0">
                                          <p:val>
                                            <p:strVal val="#ppt_x"/>
                                          </p:val>
                                        </p:tav>
                                        <p:tav tm="100000">
                                          <p:val>
                                            <p:strVal val="#ppt_x"/>
                                          </p:val>
                                        </p:tav>
                                      </p:tavLst>
                                    </p:anim>
                                    <p:anim calcmode="lin" valueType="num">
                                      <p:cBhvr additive="base">
                                        <p:cTn id="55" dur="550" fill="hold"/>
                                        <p:tgtEl>
                                          <p:spTgt spid="31"/>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4" grpId="0" animBg="1"/>
      <p:bldP spid="27" grpId="0" animBg="1"/>
      <p:bldP spid="26" grpId="0" animBg="1"/>
      <p:bldP spid="28" grpId="0" animBg="1"/>
      <p:bldP spid="29" grpId="0" animBg="1"/>
      <p:bldP spid="30" grpId="0" animBg="1"/>
      <p:bldP spid="31"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3-REJA</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NUMA arxitekturasi</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14</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131e6480132f7464.jpg"/>
          <p:cNvPicPr>
            <a:picLocks noChangeAspect="1"/>
          </p:cNvPicPr>
          <p:nvPr/>
        </p:nvPicPr>
        <p:blipFill>
          <a:blip r:embed="rId2"/>
          <a:srcRect l="18285" r="18285"/>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Adam Greig from Cambridge, UK · Wikimedia Commons · CC BY-SA 2.0</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1527432"/>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1607432"/>
            <a:ext cx="50000" cy="20475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2431216"/>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3" name="TextBox 32"/>
          <p:cNvSpPr txBox="1"/>
          <p:nvPr/>
        </p:nvSpPr>
        <p:spPr>
          <a:xfrm>
            <a:off x="1300000" y="1567432"/>
            <a:ext cx="5900000" cy="2127568"/>
          </a:xfrm>
          <a:prstGeom prst="rect">
            <a:avLst/>
          </a:prstGeom>
          <a:noFill/>
        </p:spPr>
        <p:txBody>
          <a:bodyPr wrap="square" anchor="ctr">
            <a:spAutoFit/>
          </a:bodyPr>
          <a:lstStyle/>
          <a:p>
            <a:r>
              <a:rPr sz="1500" b="1">
                <a:solidFill>
                  <a:srgbClr val="E8EEFA"/>
                </a:solidFill>
                <a:latin typeface="Segoe UI"/>
              </a:rPr>
              <a:t>AMD EPYC protsessorlarida vaziyat yanada murakkabroq: bitta soket ichida ham bir nechta chiplet (CCD) va I/O kristali bor, shuning uchun BIOS sozlamalariga qarab bitta soket 1, 2 yoki 4 NUMA tuguni sifatida ko'rinishi mumkin (NPS1/NPS2/NPS4 rejimlari).</a:t>
            </a:r>
          </a:p>
          <a:p>
            <a:pPr>
              <a:spcBef>
                <a:spcPts val="400"/>
              </a:spcBef>
            </a:pPr>
            <a:r>
              <a:rPr sz="1400">
                <a:solidFill>
                  <a:srgbClr val="AEBBD9"/>
                </a:solidFill>
                <a:latin typeface="Segoe UI"/>
              </a:rPr>
              <a:t>GPU serverlarida esa PCIe kommutatorlari ham NUMA tugunlariga bog'langan: 8 GPU'li DGX-uslubidagi serverda 4 ta GPU birinchi soketga, 4 tasi ikkinchisiga «yaqin».</a:t>
            </a:r>
          </a:p>
        </p:txBody>
      </p:sp>
      <p:sp>
        <p:nvSpPr>
          <p:cNvPr id="34" name="Rounded Rectangle 33"/>
          <p:cNvSpPr/>
          <p:nvPr/>
        </p:nvSpPr>
        <p:spPr>
          <a:xfrm>
            <a:off x="550000" y="3845000"/>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3925000"/>
            <a:ext cx="50000" cy="20475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0000" y="4748784"/>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7" name="TextBox 36"/>
          <p:cNvSpPr txBox="1"/>
          <p:nvPr/>
        </p:nvSpPr>
        <p:spPr>
          <a:xfrm>
            <a:off x="1300000" y="3885000"/>
            <a:ext cx="5900000" cy="2127568"/>
          </a:xfrm>
          <a:prstGeom prst="rect">
            <a:avLst/>
          </a:prstGeom>
          <a:noFill/>
        </p:spPr>
        <p:txBody>
          <a:bodyPr wrap="square" anchor="ctr">
            <a:spAutoFit/>
          </a:bodyPr>
          <a:lstStyle/>
          <a:p>
            <a:r>
              <a:rPr sz="1400" b="0">
                <a:solidFill>
                  <a:srgbClr val="E8EEFA"/>
                </a:solidFill>
                <a:latin typeface="Segoe UI"/>
              </a:rPr>
              <a:t>Linux yadrosi standart holatda «first-touch» siyosatini qo'llaydi: xotira sahifasi uni birinchi marta yozgan (ishga tushirgan) yadro joylashgan tugunda ajratiladi.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50"/>
                                        <p:tgtEl>
                                          <p:spTgt spid="34"/>
                                        </p:tgtEl>
                                      </p:cBhvr>
                                    </p:animEffect>
                                    <p:anim calcmode="lin" valueType="num">
                                      <p:cBhvr additive="base">
                                        <p:cTn id="60" dur="550" fill="hold"/>
                                        <p:tgtEl>
                                          <p:spTgt spid="34"/>
                                        </p:tgtEl>
                                        <p:attrNameLst>
                                          <p:attrName>ppt_x</p:attrName>
                                        </p:attrNameLst>
                                      </p:cBhvr>
                                      <p:tavLst>
                                        <p:tav tm="0">
                                          <p:val>
                                            <p:strVal val="#ppt_x"/>
                                          </p:val>
                                        </p:tav>
                                        <p:tav tm="100000">
                                          <p:val>
                                            <p:strVal val="#ppt_x"/>
                                          </p:val>
                                        </p:tav>
                                      </p:tavLst>
                                    </p:anim>
                                    <p:anim calcmode="lin" valueType="num">
                                      <p:cBhvr additive="base">
                                        <p:cTn id="61" dur="550" fill="hold"/>
                                        <p:tgtEl>
                                          <p:spTgt spid="34"/>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550"/>
                                        <p:tgtEl>
                                          <p:spTgt spid="35"/>
                                        </p:tgtEl>
                                      </p:cBhvr>
                                    </p:animEffect>
                                    <p:anim calcmode="lin" valueType="num">
                                      <p:cBhvr additive="base">
                                        <p:cTn id="66" dur="550" fill="hold"/>
                                        <p:tgtEl>
                                          <p:spTgt spid="35"/>
                                        </p:tgtEl>
                                        <p:attrNameLst>
                                          <p:attrName>ppt_x</p:attrName>
                                        </p:attrNameLst>
                                      </p:cBhvr>
                                      <p:tavLst>
                                        <p:tav tm="0">
                                          <p:val>
                                            <p:strVal val="#ppt_x"/>
                                          </p:val>
                                        </p:tav>
                                        <p:tav tm="100000">
                                          <p:val>
                                            <p:strVal val="#ppt_x"/>
                                          </p:val>
                                        </p:tav>
                                      </p:tavLst>
                                    </p:anim>
                                    <p:anim calcmode="lin" valueType="num">
                                      <p:cBhvr additive="base">
                                        <p:cTn id="67" dur="550" fill="hold"/>
                                        <p:tgtEl>
                                          <p:spTgt spid="35"/>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50"/>
                                        <p:tgtEl>
                                          <p:spTgt spid="36"/>
                                        </p:tgtEl>
                                      </p:cBhvr>
                                    </p:animEffect>
                                    <p:anim calcmode="lin" valueType="num">
                                      <p:cBhvr additive="base">
                                        <p:cTn id="72" dur="550" fill="hold"/>
                                        <p:tgtEl>
                                          <p:spTgt spid="36"/>
                                        </p:tgtEl>
                                        <p:attrNameLst>
                                          <p:attrName>ppt_w</p:attrName>
                                        </p:attrNameLst>
                                      </p:cBhvr>
                                      <p:tavLst>
                                        <p:tav tm="0">
                                          <p:val>
                                            <p:strVal val="0"/>
                                          </p:val>
                                        </p:tav>
                                        <p:tav tm="100000">
                                          <p:val>
                                            <p:strVal val="#ppt_w"/>
                                          </p:val>
                                        </p:tav>
                                      </p:tavLst>
                                    </p:anim>
                                    <p:anim calcmode="lin" valueType="num">
                                      <p:cBhvr additive="base">
                                        <p:cTn id="73" dur="550" fill="hold"/>
                                        <p:tgtEl>
                                          <p:spTgt spid="36"/>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50"/>
                                        <p:tgtEl>
                                          <p:spTgt spid="37"/>
                                        </p:tgtEl>
                                      </p:cBhvr>
                                    </p:animEffect>
                                    <p:anim calcmode="lin" valueType="num">
                                      <p:cBhvr additive="base">
                                        <p:cTn id="78" dur="550" fill="hold"/>
                                        <p:tgtEl>
                                          <p:spTgt spid="37"/>
                                        </p:tgtEl>
                                        <p:attrNameLst>
                                          <p:attrName>ppt_x</p:attrName>
                                        </p:attrNameLst>
                                      </p:cBhvr>
                                      <p:tavLst>
                                        <p:tav tm="0">
                                          <p:val>
                                            <p:strVal val="#ppt_x"/>
                                          </p:val>
                                        </p:tav>
                                        <p:tav tm="100000">
                                          <p:val>
                                            <p:strVal val="#ppt_x"/>
                                          </p:val>
                                        </p:tav>
                                      </p:tavLst>
                                    </p:anim>
                                    <p:anim calcmode="lin" valueType="num">
                                      <p:cBhvr additive="base">
                                        <p:cTn id="79" dur="550" fill="hold"/>
                                        <p:tgtEl>
                                          <p:spTgt spid="3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3-REJA</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NUMA arxitekturasi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15</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eb3731d874c22f7a.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Raimond Spekking · Wikimedia Commons · CC BY-SA 4.0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2820328"/>
            <a:ext cx="6750000" cy="1939344"/>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2900328"/>
            <a:ext cx="50000" cy="177934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3590000"/>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0" name="TextBox 29"/>
          <p:cNvSpPr txBox="1"/>
          <p:nvPr/>
        </p:nvSpPr>
        <p:spPr>
          <a:xfrm>
            <a:off x="1300000" y="2860328"/>
            <a:ext cx="5900000" cy="1859344"/>
          </a:xfrm>
          <a:prstGeom prst="rect">
            <a:avLst/>
          </a:prstGeom>
          <a:noFill/>
        </p:spPr>
        <p:txBody>
          <a:bodyPr wrap="square" anchor="ctr">
            <a:spAutoFit/>
          </a:bodyPr>
          <a:lstStyle/>
          <a:p>
            <a:r>
              <a:rPr sz="1600" b="0">
                <a:solidFill>
                  <a:srgbClr val="E8EEFA"/>
                </a:solidFill>
                <a:latin typeface="Segoe UI"/>
              </a:rPr>
              <a:t>Sun'iy intellekt tizimlarida NUMA'ga e'tibor berish uchta joyda muhim: (1) dataloader iplarini GPU'ga yaqin soketga bog'lash; (2) CPU'da inferens qiluvchi xizmatlarni (masalan, ONNX Runtime bilan) har bir soketda alohida nusxa sifatida ishga tushirish; (3)…</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400000" y="5720000"/>
            <a:ext cx="1666666"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33333" y="5040000"/>
            <a:ext cx="1666667"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733333" y="5266666"/>
            <a:ext cx="1666667"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733333" y="5720000"/>
            <a:ext cx="1666667" cy="11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5" name="Picture 44" descr="5c37973e01be8cf9.jpg"/>
          <p:cNvPicPr>
            <a:picLocks noChangeAspect="1"/>
          </p:cNvPicPr>
          <p:nvPr/>
        </p:nvPicPr>
        <p:blipFill>
          <a:blip r:embed="rId2"/>
          <a:srcRect l="26662" r="26662"/>
          <a:stretch>
            <a:fillRect/>
          </a:stretch>
        </p:blipFill>
        <p:spPr>
          <a:xfrm>
            <a:off x="6300000" y="800000"/>
            <a:ext cx="5300000" cy="4950000"/>
          </a:xfrm>
          <a:prstGeom prst="roundRect">
            <a:avLst/>
          </a:prstGeom>
          <a:ln w="19050">
            <a:solidFill>
              <a:srgbClr val="22D3EE"/>
            </a:solidFill>
          </a:ln>
        </p:spPr>
      </p:pic>
      <p:sp>
        <p:nvSpPr>
          <p:cNvPr id="46" name="TextBox 45"/>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Giu.natale · Wikimedia Commons · CC BY-SA 4.0</a:t>
            </a:r>
          </a:p>
        </p:txBody>
      </p:sp>
      <p:sp>
        <p:nvSpPr>
          <p:cNvPr id="47" name="TextBox 46"/>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04</a:t>
            </a:r>
          </a:p>
        </p:txBody>
      </p:sp>
      <p:sp>
        <p:nvSpPr>
          <p:cNvPr id="48" name="TextBox 47"/>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9" name="TextBox 48"/>
          <p:cNvSpPr txBox="1"/>
          <p:nvPr/>
        </p:nvSpPr>
        <p:spPr>
          <a:xfrm>
            <a:off x="600000" y="2650000"/>
            <a:ext cx="5400000" cy="1800000"/>
          </a:xfrm>
          <a:prstGeom prst="rect">
            <a:avLst/>
          </a:prstGeom>
          <a:noFill/>
        </p:spPr>
        <p:txBody>
          <a:bodyPr wrap="square" anchor="t" lIns="50800" rIns="50800">
            <a:spAutoFit/>
          </a:bodyPr>
          <a:lstStyle/>
          <a:p>
            <a:pPr algn="l"/>
            <a:r>
              <a:rPr sz="3200" b="1">
                <a:solidFill>
                  <a:srgbClr val="E8EEFA"/>
                </a:solidFill>
                <a:latin typeface="Segoe UI"/>
              </a:rPr>
              <a:t>Arifmetik intensivlik va roofline modeli</a:t>
            </a:r>
          </a:p>
        </p:txBody>
      </p:sp>
      <p:sp>
        <p:nvSpPr>
          <p:cNvPr id="50" name="Rectangle 49"/>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204"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150"/>
                            </p:stCondLst>
                            <p:childTnLst>
                              <p:par>
                                <p:cTn id="168" presetID="53" presetClass="entr" presetSubtype="16"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anim calcmode="lin" valueType="num">
                                      <p:cBhvr additive="base">
                                        <p:cTn id="171" dur="550" fill="hold"/>
                                        <p:tgtEl>
                                          <p:spTgt spid="44"/>
                                        </p:tgtEl>
                                        <p:attrNameLst>
                                          <p:attrName>ppt_w</p:attrName>
                                        </p:attrNameLst>
                                      </p:cBhvr>
                                      <p:tavLst>
                                        <p:tav tm="0">
                                          <p:val>
                                            <p:strVal val="0"/>
                                          </p:val>
                                        </p:tav>
                                        <p:tav tm="100000">
                                          <p:val>
                                            <p:strVal val="#ppt_w"/>
                                          </p:val>
                                        </p:tav>
                                      </p:tavLst>
                                    </p:anim>
                                    <p:anim calcmode="lin" valueType="num">
                                      <p:cBhvr additive="base">
                                        <p:cTn id="172" dur="550" fill="hold"/>
                                        <p:tgtEl>
                                          <p:spTgt spid="44"/>
                                        </p:tgtEl>
                                        <p:attrNameLst>
                                          <p:attrName>ppt_h</p:attrName>
                                        </p:attrNameLst>
                                      </p:cBhvr>
                                      <p:tavLst>
                                        <p:tav tm="0">
                                          <p:val>
                                            <p:strVal val="0"/>
                                          </p:val>
                                        </p:tav>
                                        <p:tav tm="100000">
                                          <p:val>
                                            <p:strVal val="#ppt_h"/>
                                          </p:val>
                                        </p:tav>
                                      </p:tavLst>
                                    </p:anim>
                                  </p:childTnLst>
                                </p:cTn>
                              </p:par>
                            </p:childTnLst>
                          </p:cTn>
                        </p:par>
                        <p:par>
                          <p:cTn id="173" fill="hold">
                            <p:stCondLst>
                              <p:cond delay="150"/>
                            </p:stCondLst>
                            <p:childTnLst>
                              <p:par>
                                <p:cTn id="174" presetID="53" presetClass="entr" presetSubtype="16" fill="hold" grpId="0" nodeType="afterEffect">
                                  <p:stCondLst>
                                    <p:cond delay="0"/>
                                  </p:stCondLst>
                                  <p:childTnLst>
                                    <p:set>
                                      <p:cBhvr>
                                        <p:cTn id="175" dur="1" fill="hold">
                                          <p:stCondLst>
                                            <p:cond delay="0"/>
                                          </p:stCondLst>
                                        </p:cTn>
                                        <p:tgtEl>
                                          <p:spTgt spid="45"/>
                                        </p:tgtEl>
                                        <p:attrNameLst>
                                          <p:attrName>style.visibility</p:attrName>
                                        </p:attrNameLst>
                                      </p:cBhvr>
                                      <p:to>
                                        <p:strVal val="visible"/>
                                      </p:to>
                                    </p:set>
                                    <p:animEffect transition="in" filter="fade">
                                      <p:cBhvr>
                                        <p:cTn id="176" dur="550"/>
                                        <p:tgtEl>
                                          <p:spTgt spid="45"/>
                                        </p:tgtEl>
                                      </p:cBhvr>
                                    </p:animEffect>
                                    <p:anim calcmode="lin" valueType="num">
                                      <p:cBhvr additive="base">
                                        <p:cTn id="177" dur="550" fill="hold"/>
                                        <p:tgtEl>
                                          <p:spTgt spid="45"/>
                                        </p:tgtEl>
                                        <p:attrNameLst>
                                          <p:attrName>ppt_w</p:attrName>
                                        </p:attrNameLst>
                                      </p:cBhvr>
                                      <p:tavLst>
                                        <p:tav tm="0">
                                          <p:val>
                                            <p:strVal val="0"/>
                                          </p:val>
                                        </p:tav>
                                        <p:tav tm="100000">
                                          <p:val>
                                            <p:strVal val="#ppt_w"/>
                                          </p:val>
                                        </p:tav>
                                      </p:tavLst>
                                    </p:anim>
                                    <p:anim calcmode="lin" valueType="num">
                                      <p:cBhvr additive="base">
                                        <p:cTn id="178" dur="550" fill="hold"/>
                                        <p:tgtEl>
                                          <p:spTgt spid="45"/>
                                        </p:tgtEl>
                                        <p:attrNameLst>
                                          <p:attrName>ppt_h</p:attrName>
                                        </p:attrNameLst>
                                      </p:cBhvr>
                                      <p:tavLst>
                                        <p:tav tm="0">
                                          <p:val>
                                            <p:strVal val="0"/>
                                          </p:val>
                                        </p:tav>
                                        <p:tav tm="100000">
                                          <p:val>
                                            <p:strVal val="#ppt_h"/>
                                          </p:val>
                                        </p:tav>
                                      </p:tavLst>
                                    </p:anim>
                                  </p:childTnLst>
                                </p:cTn>
                              </p:par>
                            </p:childTnLst>
                          </p:cTn>
                        </p:par>
                        <p:par>
                          <p:cTn id="179" fill="hold">
                            <p:stCondLst>
                              <p:cond delay="150"/>
                            </p:stCondLst>
                            <p:childTnLst>
                              <p:par>
                                <p:cTn id="180" presetID="10" presetClass="entr" presetSubtype="0" fill="hold" grpId="0" nodeType="afterEffect">
                                  <p:stCondLst>
                                    <p:cond delay="0"/>
                                  </p:stCondLst>
                                  <p:childTnLst>
                                    <p:set>
                                      <p:cBhvr>
                                        <p:cTn id="181" dur="1" fill="hold">
                                          <p:stCondLst>
                                            <p:cond delay="0"/>
                                          </p:stCondLst>
                                        </p:cTn>
                                        <p:tgtEl>
                                          <p:spTgt spid="46"/>
                                        </p:tgtEl>
                                        <p:attrNameLst>
                                          <p:attrName>style.visibility</p:attrName>
                                        </p:attrNameLst>
                                      </p:cBhvr>
                                      <p:to>
                                        <p:strVal val="visible"/>
                                      </p:to>
                                    </p:set>
                                    <p:animEffect transition="in" filter="fade">
                                      <p:cBhvr>
                                        <p:cTn id="182" dur="550"/>
                                        <p:tgtEl>
                                          <p:spTgt spid="46"/>
                                        </p:tgtEl>
                                      </p:cBhvr>
                                    </p:animEffect>
                                  </p:childTnLst>
                                </p:cTn>
                              </p:par>
                            </p:childTnLst>
                          </p:cTn>
                        </p:par>
                        <p:par>
                          <p:cTn id="183" fill="hold">
                            <p:stCondLst>
                              <p:cond delay="350"/>
                            </p:stCondLst>
                            <p:childTnLst>
                              <p:par>
                                <p:cTn id="184" presetID="53" presetClass="entr" presetSubtype="16" fill="hold" grpId="0" nodeType="afterEffect">
                                  <p:stCondLst>
                                    <p:cond delay="0"/>
                                  </p:stCondLst>
                                  <p:childTnLst>
                                    <p:set>
                                      <p:cBhvr>
                                        <p:cTn id="185" dur="1" fill="hold">
                                          <p:stCondLst>
                                            <p:cond delay="0"/>
                                          </p:stCondLst>
                                        </p:cTn>
                                        <p:tgtEl>
                                          <p:spTgt spid="47"/>
                                        </p:tgtEl>
                                        <p:attrNameLst>
                                          <p:attrName>style.visibility</p:attrName>
                                        </p:attrNameLst>
                                      </p:cBhvr>
                                      <p:to>
                                        <p:strVal val="visible"/>
                                      </p:to>
                                    </p:set>
                                    <p:animEffect transition="in" filter="fade">
                                      <p:cBhvr>
                                        <p:cTn id="186" dur="550"/>
                                        <p:tgtEl>
                                          <p:spTgt spid="47"/>
                                        </p:tgtEl>
                                      </p:cBhvr>
                                    </p:animEffect>
                                    <p:anim calcmode="lin" valueType="num">
                                      <p:cBhvr additive="base">
                                        <p:cTn id="187" dur="550" fill="hold"/>
                                        <p:tgtEl>
                                          <p:spTgt spid="47"/>
                                        </p:tgtEl>
                                        <p:attrNameLst>
                                          <p:attrName>ppt_w</p:attrName>
                                        </p:attrNameLst>
                                      </p:cBhvr>
                                      <p:tavLst>
                                        <p:tav tm="0">
                                          <p:val>
                                            <p:strVal val="0"/>
                                          </p:val>
                                        </p:tav>
                                        <p:tav tm="100000">
                                          <p:val>
                                            <p:strVal val="#ppt_w"/>
                                          </p:val>
                                        </p:tav>
                                      </p:tavLst>
                                    </p:anim>
                                    <p:anim calcmode="lin" valueType="num">
                                      <p:cBhvr additive="base">
                                        <p:cTn id="188" dur="550" fill="hold"/>
                                        <p:tgtEl>
                                          <p:spTgt spid="47"/>
                                        </p:tgtEl>
                                        <p:attrNameLst>
                                          <p:attrName>ppt_h</p:attrName>
                                        </p:attrNameLst>
                                      </p:cBhvr>
                                      <p:tavLst>
                                        <p:tav tm="0">
                                          <p:val>
                                            <p:strVal val="0"/>
                                          </p:val>
                                        </p:tav>
                                        <p:tav tm="100000">
                                          <p:val>
                                            <p:strVal val="#ppt_h"/>
                                          </p:val>
                                        </p:tav>
                                      </p:tavLst>
                                    </p:anim>
                                  </p:childTnLst>
                                </p:cTn>
                              </p:par>
                            </p:childTnLst>
                          </p:cTn>
                        </p:par>
                        <p:par>
                          <p:cTn id="189" fill="hold">
                            <p:stCondLst>
                              <p:cond delay="450"/>
                            </p:stCondLst>
                            <p:childTnLst>
                              <p:par>
                                <p:cTn id="190" presetID="10" presetClass="entr" presetSubtype="0" fill="hold" grpId="0" nodeType="afterEffect">
                                  <p:stCondLst>
                                    <p:cond delay="0"/>
                                  </p:stCondLst>
                                  <p:childTnLst>
                                    <p:set>
                                      <p:cBhvr>
                                        <p:cTn id="191" dur="1" fill="hold">
                                          <p:stCondLst>
                                            <p:cond delay="0"/>
                                          </p:stCondLst>
                                        </p:cTn>
                                        <p:tgtEl>
                                          <p:spTgt spid="48"/>
                                        </p:tgtEl>
                                        <p:attrNameLst>
                                          <p:attrName>style.visibility</p:attrName>
                                        </p:attrNameLst>
                                      </p:cBhvr>
                                      <p:to>
                                        <p:strVal val="visible"/>
                                      </p:to>
                                    </p:set>
                                    <p:animEffect transition="in" filter="fade">
                                      <p:cBhvr>
                                        <p:cTn id="192" dur="550"/>
                                        <p:tgtEl>
                                          <p:spTgt spid="48"/>
                                        </p:tgtEl>
                                      </p:cBhvr>
                                    </p:animEffect>
                                  </p:childTnLst>
                                </p:cTn>
                              </p:par>
                            </p:childTnLst>
                          </p:cTn>
                        </p:par>
                        <p:par>
                          <p:cTn id="193" fill="hold">
                            <p:stCondLst>
                              <p:cond delay="550"/>
                            </p:stCondLst>
                            <p:childTnLst>
                              <p:par>
                                <p:cTn id="194" presetID="2" presetClass="entr" presetSubtype="8" fill="hold" grpId="0" nodeType="afterEffect">
                                  <p:stCondLst>
                                    <p:cond delay="0"/>
                                  </p:stCondLst>
                                  <p:childTnLst>
                                    <p:set>
                                      <p:cBhvr>
                                        <p:cTn id="195" dur="1" fill="hold">
                                          <p:stCondLst>
                                            <p:cond delay="0"/>
                                          </p:stCondLst>
                                        </p:cTn>
                                        <p:tgtEl>
                                          <p:spTgt spid="49"/>
                                        </p:tgtEl>
                                        <p:attrNameLst>
                                          <p:attrName>style.visibility</p:attrName>
                                        </p:attrNameLst>
                                      </p:cBhvr>
                                      <p:to>
                                        <p:strVal val="visible"/>
                                      </p:to>
                                    </p:set>
                                    <p:anim calcmode="lin" valueType="num">
                                      <p:cBhvr additive="base">
                                        <p:cTn id="197" dur="550" fill="hold"/>
                                        <p:tgtEl>
                                          <p:spTgt spid="49"/>
                                        </p:tgtEl>
                                        <p:attrNameLst>
                                          <p:attrName>ppt_x</p:attrName>
                                        </p:attrNameLst>
                                      </p:cBhvr>
                                      <p:tavLst>
                                        <p:tav tm="0">
                                          <p:val>
                                            <p:strVal val="0-#ppt_w/2"/>
                                          </p:val>
                                        </p:tav>
                                        <p:tav tm="100000">
                                          <p:val>
                                            <p:strVal val="#ppt_x"/>
                                          </p:val>
                                        </p:tav>
                                      </p:tavLst>
                                    </p:anim>
                                    <p:anim calcmode="lin" valueType="num">
                                      <p:cBhvr additive="base">
                                        <p:cTn id="198" dur="550" fill="hold"/>
                                        <p:tgtEl>
                                          <p:spTgt spid="49"/>
                                        </p:tgtEl>
                                        <p:attrNameLst>
                                          <p:attrName>ppt_y</p:attrName>
                                        </p:attrNameLst>
                                      </p:cBhvr>
                                      <p:tavLst>
                                        <p:tav tm="0">
                                          <p:val>
                                            <p:strVal val="#ppt_y"/>
                                          </p:val>
                                        </p:tav>
                                        <p:tav tm="100000">
                                          <p:val>
                                            <p:strVal val="#ppt_y"/>
                                          </p:val>
                                        </p:tav>
                                      </p:tavLst>
                                    </p:anim>
                                  </p:childTnLst>
                                </p:cTn>
                              </p:par>
                            </p:childTnLst>
                          </p:cTn>
                        </p:par>
                        <p:par>
                          <p:cTn id="199" fill="hold">
                            <p:stCondLst>
                              <p:cond delay="650"/>
                            </p:stCondLst>
                            <p:childTnLst>
                              <p:par>
                                <p:cTn id="200" presetID="22" presetClass="entr" presetSubtype="8" fill="hold" grpId="0" nodeType="afterEffect">
                                  <p:stCondLst>
                                    <p:cond delay="0"/>
                                  </p:stCondLst>
                                  <p:childTnLst>
                                    <p:set>
                                      <p:cBhvr>
                                        <p:cTn id="201" dur="1" fill="hold">
                                          <p:stCondLst>
                                            <p:cond delay="0"/>
                                          </p:stCondLst>
                                        </p:cTn>
                                        <p:tgtEl>
                                          <p:spTgt spid="50"/>
                                        </p:tgtEl>
                                        <p:attrNameLst>
                                          <p:attrName>style.visibility</p:attrName>
                                        </p:attrNameLst>
                                      </p:cBhvr>
                                      <p:to>
                                        <p:strVal val="visible"/>
                                      </p:to>
                                    </p:set>
                                    <p:animEffect transition="in" filter="wipe(left)">
                                      <p:cBhvr>
                                        <p:cTn id="203" dur="8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6" grpId="0" animBg="1"/>
      <p:bldP spid="47" grpId="0" animBg="1"/>
      <p:bldP spid="48" grpId="0" animBg="1"/>
      <p:bldP spid="49" grpId="0" animBg="1"/>
      <p:bldP spid="50"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4-REJA</a:t>
            </a:r>
          </a:p>
        </p:txBody>
      </p:sp>
      <p:sp>
        <p:nvSpPr>
          <p:cNvPr id="21" name="TextBox 20"/>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Arifmetik intensivlik va roofline modeli</a:t>
            </a:r>
          </a:p>
        </p:txBody>
      </p:sp>
      <p:sp>
        <p:nvSpPr>
          <p:cNvPr id="22" name="Rectangle 21"/>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4" name="Rounded Rectangle 23"/>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17</a:t>
            </a:r>
          </a:p>
        </p:txBody>
      </p:sp>
      <p:sp>
        <p:nvSpPr>
          <p:cNvPr id="25" name="Rounded Rectangle 24"/>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4fe9c9f67315d3e8.jpg"/>
          <p:cNvPicPr>
            <a:picLocks noChangeAspect="1"/>
          </p:cNvPicPr>
          <p:nvPr/>
        </p:nvPicPr>
        <p:blipFill>
          <a:blip r:embed="rId2"/>
          <a:srcRect l="16126" r="16126"/>
          <a:stretch>
            <a:fillRect/>
          </a:stretch>
        </p:blipFill>
        <p:spPr>
          <a:xfrm>
            <a:off x="7620000" y="1430000"/>
            <a:ext cx="4050000" cy="4250000"/>
          </a:xfrm>
          <a:prstGeom prst="roundRect">
            <a:avLst/>
          </a:prstGeom>
          <a:ln w="19050">
            <a:solidFill>
              <a:srgbClr val="22D3EE"/>
            </a:solidFill>
          </a:ln>
        </p:spPr>
      </p:pic>
      <p:sp>
        <p:nvSpPr>
          <p:cNvPr id="27" name="TextBox 26"/>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Amada44 · Wikimedia Commons · CC BY-SA 3.0</a:t>
            </a:r>
          </a:p>
        </p:txBody>
      </p:sp>
      <p:sp>
        <p:nvSpPr>
          <p:cNvPr id="28" name="Rounded Rectangle 27"/>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9" name="Rounded Rectangle 28"/>
          <p:cNvSpPr/>
          <p:nvPr/>
        </p:nvSpPr>
        <p:spPr>
          <a:xfrm>
            <a:off x="550000" y="2552104"/>
            <a:ext cx="6750000" cy="247579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2632104"/>
            <a:ext cx="50000" cy="231579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3590000"/>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32" name="TextBox 31"/>
          <p:cNvSpPr txBox="1"/>
          <p:nvPr/>
        </p:nvSpPr>
        <p:spPr>
          <a:xfrm>
            <a:off x="1300000" y="2592104"/>
            <a:ext cx="5900000" cy="2395792"/>
          </a:xfrm>
          <a:prstGeom prst="rect">
            <a:avLst/>
          </a:prstGeom>
          <a:noFill/>
        </p:spPr>
        <p:txBody>
          <a:bodyPr wrap="square" anchor="ctr">
            <a:spAutoFit/>
          </a:bodyPr>
          <a:lstStyle/>
          <a:p>
            <a:r>
              <a:rPr sz="1700" b="1">
                <a:solidFill>
                  <a:srgbClr val="E8EEFA"/>
                </a:solidFill>
                <a:latin typeface="Segoe UI"/>
              </a:rPr>
              <a:t>Qaysi ish yuki xotira bilan chegaralanganini miqdoriy baholash uchun arifmetik intensivlik (arithmetic intensity) tushunchasi ishlatiladi: I = FLOP / bayt — bajarilgan suzuvchi nuqtali amallar sonini xotiradan o'qilgan va yozilgan baytlar soniga bo'lish.</a:t>
            </a:r>
          </a:p>
          <a:p>
            <a:pPr>
              <a:spcBef>
                <a:spcPts val="400"/>
              </a:spcBef>
            </a:pPr>
            <a:r>
              <a:rPr sz="1600">
                <a:solidFill>
                  <a:srgbClr val="AEBBD9"/>
                </a:solidFill>
                <a:latin typeface="Segoe UI"/>
              </a:rPr>
              <a:t>Roofline modeli (Williams, Waterman, Patterson, 2009) esa erishiladigan unumdorlikni quyidagicha chegaralaydi: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1"/>
                                        </p:tgtEl>
                                        <p:attrNameLst>
                                          <p:attrName>style.visibility</p:attrName>
                                        </p:attrNameLst>
                                      </p:cBhvr>
                                      <p:to>
                                        <p:strVal val="visible"/>
                                      </p:to>
                                    </p:set>
                                    <p:animEffect transition="in" filter="fade">
                                      <p:cBhvr>
                                        <p:cTn id="6" dur="550"/>
                                        <p:tgtEl>
                                          <p:spTgt spid="21"/>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wipe(left)">
                                      <p:cBhvr>
                                        <p:cTn id="11" dur="800"/>
                                        <p:tgtEl>
                                          <p:spTgt spid="22"/>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fade">
                                      <p:cBhvr>
                                        <p:cTn id="15" dur="550"/>
                                        <p:tgtEl>
                                          <p:spTgt spid="25"/>
                                        </p:tgtEl>
                                      </p:cBhvr>
                                    </p:animEffect>
                                    <p:anim calcmode="lin" valueType="num">
                                      <p:cBhvr additive="base">
                                        <p:cTn id="16" dur="550" fill="hold"/>
                                        <p:tgtEl>
                                          <p:spTgt spid="25"/>
                                        </p:tgtEl>
                                        <p:attrNameLst>
                                          <p:attrName>ppt_w</p:attrName>
                                        </p:attrNameLst>
                                      </p:cBhvr>
                                      <p:tavLst>
                                        <p:tav tm="0">
                                          <p:val>
                                            <p:strVal val="0"/>
                                          </p:val>
                                        </p:tav>
                                        <p:tav tm="100000">
                                          <p:val>
                                            <p:strVal val="#ppt_w"/>
                                          </p:val>
                                        </p:tav>
                                      </p:tavLst>
                                    </p:anim>
                                    <p:anim calcmode="lin" valueType="num">
                                      <p:cBhvr additive="base">
                                        <p:cTn id="17" dur="550" fill="hold"/>
                                        <p:tgtEl>
                                          <p:spTgt spid="25"/>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50"/>
                                        <p:tgtEl>
                                          <p:spTgt spid="26"/>
                                        </p:tgtEl>
                                      </p:cBhvr>
                                    </p:animEffect>
                                    <p:anim calcmode="lin" valueType="num">
                                      <p:cBhvr additive="base">
                                        <p:cTn id="22" dur="550" fill="hold"/>
                                        <p:tgtEl>
                                          <p:spTgt spid="26"/>
                                        </p:tgtEl>
                                        <p:attrNameLst>
                                          <p:attrName>ppt_w</p:attrName>
                                        </p:attrNameLst>
                                      </p:cBhvr>
                                      <p:tavLst>
                                        <p:tav tm="0">
                                          <p:val>
                                            <p:strVal val="0"/>
                                          </p:val>
                                        </p:tav>
                                        <p:tav tm="100000">
                                          <p:val>
                                            <p:strVal val="#ppt_w"/>
                                          </p:val>
                                        </p:tav>
                                      </p:tavLst>
                                    </p:anim>
                                    <p:anim calcmode="lin" valueType="num">
                                      <p:cBhvr additive="base">
                                        <p:cTn id="23" dur="550" fill="hold"/>
                                        <p:tgtEl>
                                          <p:spTgt spid="26"/>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8"/>
                                        </p:tgtEl>
                                        <p:attrNameLst>
                                          <p:attrName>style.visibility</p:attrName>
                                        </p:attrNameLst>
                                      </p:cBhvr>
                                      <p:to>
                                        <p:strVal val="visible"/>
                                      </p:to>
                                    </p:set>
                                    <p:animEffect transition="in" filter="fade">
                                      <p:cBhvr>
                                        <p:cTn id="27" dur="550"/>
                                        <p:tgtEl>
                                          <p:spTgt spid="28"/>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550"/>
                                        <p:tgtEl>
                                          <p:spTgt spid="27"/>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fade">
                                      <p:cBhvr>
                                        <p:cTn id="35" dur="550"/>
                                        <p:tgtEl>
                                          <p:spTgt spid="29"/>
                                        </p:tgtEl>
                                      </p:cBhvr>
                                    </p:animEffect>
                                    <p:anim calcmode="lin" valueType="num">
                                      <p:cBhvr additive="base">
                                        <p:cTn id="36" dur="550" fill="hold"/>
                                        <p:tgtEl>
                                          <p:spTgt spid="29"/>
                                        </p:tgtEl>
                                        <p:attrNameLst>
                                          <p:attrName>ppt_x</p:attrName>
                                        </p:attrNameLst>
                                      </p:cBhvr>
                                      <p:tavLst>
                                        <p:tav tm="0">
                                          <p:val>
                                            <p:strVal val="#ppt_x"/>
                                          </p:val>
                                        </p:tav>
                                        <p:tav tm="100000">
                                          <p:val>
                                            <p:strVal val="#ppt_x"/>
                                          </p:val>
                                        </p:tav>
                                      </p:tavLst>
                                    </p:anim>
                                    <p:anim calcmode="lin" valueType="num">
                                      <p:cBhvr additive="base">
                                        <p:cTn id="37" dur="550" fill="hold"/>
                                        <p:tgtEl>
                                          <p:spTgt spid="29"/>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0"/>
                                        </p:tgtEl>
                                        <p:attrNameLst>
                                          <p:attrName>style.visibility</p:attrName>
                                        </p:attrNameLst>
                                      </p:cBhvr>
                                      <p:to>
                                        <p:strVal val="visible"/>
                                      </p:to>
                                    </p:set>
                                    <p:animEffect transition="in" filter="fade">
                                      <p:cBhvr>
                                        <p:cTn id="41" dur="550"/>
                                        <p:tgtEl>
                                          <p:spTgt spid="30"/>
                                        </p:tgtEl>
                                      </p:cBhvr>
                                    </p:animEffect>
                                    <p:anim calcmode="lin" valueType="num">
                                      <p:cBhvr additive="base">
                                        <p:cTn id="42" dur="550" fill="hold"/>
                                        <p:tgtEl>
                                          <p:spTgt spid="30"/>
                                        </p:tgtEl>
                                        <p:attrNameLst>
                                          <p:attrName>ppt_x</p:attrName>
                                        </p:attrNameLst>
                                      </p:cBhvr>
                                      <p:tavLst>
                                        <p:tav tm="0">
                                          <p:val>
                                            <p:strVal val="#ppt_x"/>
                                          </p:val>
                                        </p:tav>
                                        <p:tav tm="100000">
                                          <p:val>
                                            <p:strVal val="#ppt_x"/>
                                          </p:val>
                                        </p:tav>
                                      </p:tavLst>
                                    </p:anim>
                                    <p:anim calcmode="lin" valueType="num">
                                      <p:cBhvr additive="base">
                                        <p:cTn id="43" dur="550" fill="hold"/>
                                        <p:tgtEl>
                                          <p:spTgt spid="30"/>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1"/>
                                        </p:tgtEl>
                                        <p:attrNameLst>
                                          <p:attrName>style.visibility</p:attrName>
                                        </p:attrNameLst>
                                      </p:cBhvr>
                                      <p:to>
                                        <p:strVal val="visible"/>
                                      </p:to>
                                    </p:set>
                                    <p:animEffect transition="in" filter="fade">
                                      <p:cBhvr>
                                        <p:cTn id="47" dur="550"/>
                                        <p:tgtEl>
                                          <p:spTgt spid="31"/>
                                        </p:tgtEl>
                                      </p:cBhvr>
                                    </p:animEffect>
                                    <p:anim calcmode="lin" valueType="num">
                                      <p:cBhvr additive="base">
                                        <p:cTn id="48" dur="550" fill="hold"/>
                                        <p:tgtEl>
                                          <p:spTgt spid="31"/>
                                        </p:tgtEl>
                                        <p:attrNameLst>
                                          <p:attrName>ppt_w</p:attrName>
                                        </p:attrNameLst>
                                      </p:cBhvr>
                                      <p:tavLst>
                                        <p:tav tm="0">
                                          <p:val>
                                            <p:strVal val="0"/>
                                          </p:val>
                                        </p:tav>
                                        <p:tav tm="100000">
                                          <p:val>
                                            <p:strVal val="#ppt_w"/>
                                          </p:val>
                                        </p:tav>
                                      </p:tavLst>
                                    </p:anim>
                                    <p:anim calcmode="lin" valueType="num">
                                      <p:cBhvr additive="base">
                                        <p:cTn id="49" dur="550" fill="hold"/>
                                        <p:tgtEl>
                                          <p:spTgt spid="31"/>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2"/>
                                        </p:tgtEl>
                                        <p:attrNameLst>
                                          <p:attrName>style.visibility</p:attrName>
                                        </p:attrNameLst>
                                      </p:cBhvr>
                                      <p:to>
                                        <p:strVal val="visible"/>
                                      </p:to>
                                    </p:set>
                                    <p:animEffect transition="in" filter="fade">
                                      <p:cBhvr>
                                        <p:cTn id="53" dur="550"/>
                                        <p:tgtEl>
                                          <p:spTgt spid="32"/>
                                        </p:tgtEl>
                                      </p:cBhvr>
                                    </p:animEffect>
                                    <p:anim calcmode="lin" valueType="num">
                                      <p:cBhvr additive="base">
                                        <p:cTn id="54" dur="550" fill="hold"/>
                                        <p:tgtEl>
                                          <p:spTgt spid="32"/>
                                        </p:tgtEl>
                                        <p:attrNameLst>
                                          <p:attrName>ppt_x</p:attrName>
                                        </p:attrNameLst>
                                      </p:cBhvr>
                                      <p:tavLst>
                                        <p:tav tm="0">
                                          <p:val>
                                            <p:strVal val="#ppt_x"/>
                                          </p:val>
                                        </p:tav>
                                        <p:tav tm="100000">
                                          <p:val>
                                            <p:strVal val="#ppt_x"/>
                                          </p:val>
                                        </p:tav>
                                      </p:tavLst>
                                    </p:anim>
                                    <p:anim calcmode="lin" valueType="num">
                                      <p:cBhvr additive="base">
                                        <p:cTn id="55" dur="5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25" grpId="0" animBg="1"/>
      <p:bldP spid="28" grpId="0" animBg="1"/>
      <p:bldP spid="27" grpId="0" animBg="1"/>
      <p:bldP spid="29" grpId="0" animBg="1"/>
      <p:bldP spid="30" grpId="0" animBg="1"/>
      <p:bldP spid="31" grpId="0" animBg="1"/>
      <p:bldP spid="32"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4-REJA</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Arifmetik intensivlik va roofline modeli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18</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f06ad7a4ba9f471b.jpg"/>
          <p:cNvPicPr>
            <a:picLocks noChangeAspect="1"/>
          </p:cNvPicPr>
          <p:nvPr/>
        </p:nvPicPr>
        <p:blipFill>
          <a:blip r:embed="rId2"/>
          <a:srcRect l="26288" r="26288"/>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Eric Gaba (Sting - fr:Sting)
 This  image was created with CombineZP by 11  ( I · Wikimedia Commons · CC BY-SA 3.</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1527432"/>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1607432"/>
            <a:ext cx="50000" cy="20475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2431216"/>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0" name="TextBox 29"/>
          <p:cNvSpPr txBox="1"/>
          <p:nvPr/>
        </p:nvSpPr>
        <p:spPr>
          <a:xfrm>
            <a:off x="1300000" y="1567432"/>
            <a:ext cx="5900000" cy="2127568"/>
          </a:xfrm>
          <a:prstGeom prst="rect">
            <a:avLst/>
          </a:prstGeom>
          <a:noFill/>
        </p:spPr>
        <p:txBody>
          <a:bodyPr wrap="square" anchor="ctr">
            <a:spAutoFit/>
          </a:bodyPr>
          <a:lstStyle/>
          <a:p>
            <a:r>
              <a:rPr sz="1600" b="0">
                <a:solidFill>
                  <a:srgbClr val="E8EEFA"/>
                </a:solidFill>
                <a:latin typeface="Segoe UI"/>
              </a:rPr>
              <a:t>P_erishiladigan = min(P_cho'qqi, B_xotira × I)</a:t>
            </a:r>
          </a:p>
        </p:txBody>
      </p:sp>
      <p:sp>
        <p:nvSpPr>
          <p:cNvPr id="31" name="Rounded Rectangle 30"/>
          <p:cNvSpPr/>
          <p:nvPr/>
        </p:nvSpPr>
        <p:spPr>
          <a:xfrm>
            <a:off x="550000" y="3845000"/>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3925000"/>
            <a:ext cx="50000" cy="204756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4748784"/>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4" name="TextBox 33"/>
          <p:cNvSpPr txBox="1"/>
          <p:nvPr/>
        </p:nvSpPr>
        <p:spPr>
          <a:xfrm>
            <a:off x="1300000" y="3885000"/>
            <a:ext cx="5900000" cy="2127568"/>
          </a:xfrm>
          <a:prstGeom prst="rect">
            <a:avLst/>
          </a:prstGeom>
          <a:noFill/>
        </p:spPr>
        <p:txBody>
          <a:bodyPr wrap="square" anchor="ctr">
            <a:spAutoFit/>
          </a:bodyPr>
          <a:lstStyle/>
          <a:p>
            <a:r>
              <a:rPr sz="1700" b="1">
                <a:solidFill>
                  <a:srgbClr val="E8EEFA"/>
                </a:solidFill>
                <a:latin typeface="Segoe UI"/>
              </a:rPr>
              <a:t>bu yerda P_cho'qqi — qurilmaning maksimal hisoblash quvvati (FLOP/s), B_xotira — xotira o'tkazuvchanligi (bayt/s).</a:t>
            </a:r>
          </a:p>
          <a:p>
            <a:pPr>
              <a:spcBef>
                <a:spcPts val="400"/>
              </a:spcBef>
            </a:pPr>
            <a:r>
              <a:rPr sz="1600">
                <a:solidFill>
                  <a:srgbClr val="AEBBD9"/>
                </a:solidFill>
                <a:latin typeface="Segoe UI"/>
              </a:rPr>
              <a:t>Ikki chiziq kesishgan nuqta — «sinish nuqtasi» (ridge point) — I = P_cho'qqi / B_xotira. H100 uchun FP16 rejimda I ≈ 990e12 / 3,35e12 ≈ 295 FLOP/bayt; FP32 (Tensor Core'siz, ~67 TFLOPS) uchun esa I ≈ 20 FLOP/bayt.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fade">
                                      <p:cBhvr>
                                        <p:cTn id="59" dur="550"/>
                                        <p:tgtEl>
                                          <p:spTgt spid="31"/>
                                        </p:tgtEl>
                                      </p:cBhvr>
                                    </p:animEffect>
                                    <p:anim calcmode="lin" valueType="num">
                                      <p:cBhvr additive="base">
                                        <p:cTn id="60" dur="550" fill="hold"/>
                                        <p:tgtEl>
                                          <p:spTgt spid="31"/>
                                        </p:tgtEl>
                                        <p:attrNameLst>
                                          <p:attrName>ppt_x</p:attrName>
                                        </p:attrNameLst>
                                      </p:cBhvr>
                                      <p:tavLst>
                                        <p:tav tm="0">
                                          <p:val>
                                            <p:strVal val="#ppt_x"/>
                                          </p:val>
                                        </p:tav>
                                        <p:tav tm="100000">
                                          <p:val>
                                            <p:strVal val="#ppt_x"/>
                                          </p:val>
                                        </p:tav>
                                      </p:tavLst>
                                    </p:anim>
                                    <p:anim calcmode="lin" valueType="num">
                                      <p:cBhvr additive="base">
                                        <p:cTn id="61" dur="550" fill="hold"/>
                                        <p:tgtEl>
                                          <p:spTgt spid="31"/>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2"/>
                                        </p:tgtEl>
                                        <p:attrNameLst>
                                          <p:attrName>style.visibility</p:attrName>
                                        </p:attrNameLst>
                                      </p:cBhvr>
                                      <p:to>
                                        <p:strVal val="visible"/>
                                      </p:to>
                                    </p:set>
                                    <p:animEffect transition="in" filter="fade">
                                      <p:cBhvr>
                                        <p:cTn id="65" dur="550"/>
                                        <p:tgtEl>
                                          <p:spTgt spid="32"/>
                                        </p:tgtEl>
                                      </p:cBhvr>
                                    </p:animEffect>
                                    <p:anim calcmode="lin" valueType="num">
                                      <p:cBhvr additive="base">
                                        <p:cTn id="66" dur="550" fill="hold"/>
                                        <p:tgtEl>
                                          <p:spTgt spid="32"/>
                                        </p:tgtEl>
                                        <p:attrNameLst>
                                          <p:attrName>ppt_x</p:attrName>
                                        </p:attrNameLst>
                                      </p:cBhvr>
                                      <p:tavLst>
                                        <p:tav tm="0">
                                          <p:val>
                                            <p:strVal val="#ppt_x"/>
                                          </p:val>
                                        </p:tav>
                                        <p:tav tm="100000">
                                          <p:val>
                                            <p:strVal val="#ppt_x"/>
                                          </p:val>
                                        </p:tav>
                                      </p:tavLst>
                                    </p:anim>
                                    <p:anim calcmode="lin" valueType="num">
                                      <p:cBhvr additive="base">
                                        <p:cTn id="67" dur="550" fill="hold"/>
                                        <p:tgtEl>
                                          <p:spTgt spid="32"/>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3"/>
                                        </p:tgtEl>
                                        <p:attrNameLst>
                                          <p:attrName>style.visibility</p:attrName>
                                        </p:attrNameLst>
                                      </p:cBhvr>
                                      <p:to>
                                        <p:strVal val="visible"/>
                                      </p:to>
                                    </p:set>
                                    <p:animEffect transition="in" filter="fade">
                                      <p:cBhvr>
                                        <p:cTn id="71" dur="550"/>
                                        <p:tgtEl>
                                          <p:spTgt spid="33"/>
                                        </p:tgtEl>
                                      </p:cBhvr>
                                    </p:animEffect>
                                    <p:anim calcmode="lin" valueType="num">
                                      <p:cBhvr additive="base">
                                        <p:cTn id="72" dur="550" fill="hold"/>
                                        <p:tgtEl>
                                          <p:spTgt spid="33"/>
                                        </p:tgtEl>
                                        <p:attrNameLst>
                                          <p:attrName>ppt_w</p:attrName>
                                        </p:attrNameLst>
                                      </p:cBhvr>
                                      <p:tavLst>
                                        <p:tav tm="0">
                                          <p:val>
                                            <p:strVal val="0"/>
                                          </p:val>
                                        </p:tav>
                                        <p:tav tm="100000">
                                          <p:val>
                                            <p:strVal val="#ppt_w"/>
                                          </p:val>
                                        </p:tav>
                                      </p:tavLst>
                                    </p:anim>
                                    <p:anim calcmode="lin" valueType="num">
                                      <p:cBhvr additive="base">
                                        <p:cTn id="73" dur="550" fill="hold"/>
                                        <p:tgtEl>
                                          <p:spTgt spid="33"/>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50"/>
                                        <p:tgtEl>
                                          <p:spTgt spid="34"/>
                                        </p:tgtEl>
                                      </p:cBhvr>
                                    </p:animEffect>
                                    <p:anim calcmode="lin" valueType="num">
                                      <p:cBhvr additive="base">
                                        <p:cTn id="78" dur="550" fill="hold"/>
                                        <p:tgtEl>
                                          <p:spTgt spid="34"/>
                                        </p:tgtEl>
                                        <p:attrNameLst>
                                          <p:attrName>ppt_x</p:attrName>
                                        </p:attrNameLst>
                                      </p:cBhvr>
                                      <p:tavLst>
                                        <p:tav tm="0">
                                          <p:val>
                                            <p:strVal val="#ppt_x"/>
                                          </p:val>
                                        </p:tav>
                                        <p:tav tm="100000">
                                          <p:val>
                                            <p:strVal val="#ppt_x"/>
                                          </p:val>
                                        </p:tav>
                                      </p:tavLst>
                                    </p:anim>
                                    <p:anim calcmode="lin" valueType="num">
                                      <p:cBhvr additive="base">
                                        <p:cTn id="79"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P spid="31" grpId="0" animBg="1"/>
      <p:bldP spid="32" grpId="0" animBg="1"/>
      <p:bldP spid="33" grpId="0" animBg="1"/>
      <p:bldP spid="34"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4-REJA</a:t>
            </a:r>
          </a:p>
        </p:txBody>
      </p:sp>
      <p:sp>
        <p:nvSpPr>
          <p:cNvPr id="23" name="TextBox 22"/>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Arifmetik intensivlik va roofline modeli</a:t>
            </a:r>
          </a:p>
        </p:txBody>
      </p:sp>
      <p:sp>
        <p:nvSpPr>
          <p:cNvPr id="24" name="Rectangle 23"/>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6" name="Rounded Rectangle 25"/>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19</a:t>
            </a:r>
          </a:p>
        </p:txBody>
      </p:sp>
      <p:sp>
        <p:nvSpPr>
          <p:cNvPr id="27" name="Rounded Rectangle 26"/>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fccdf8c0a9ea0f98.jpg"/>
          <p:cNvPicPr>
            <a:picLocks noChangeAspect="1"/>
          </p:cNvPicPr>
          <p:nvPr/>
        </p:nvPicPr>
        <p:blipFill>
          <a:blip r:embed="rId2"/>
          <a:srcRect l="2353" r="2353"/>
          <a:stretch>
            <a:fillRect/>
          </a:stretch>
        </p:blipFill>
        <p:spPr>
          <a:xfrm>
            <a:off x="7620000" y="1430000"/>
            <a:ext cx="4050000" cy="4250000"/>
          </a:xfrm>
          <a:prstGeom prst="roundRect">
            <a:avLst/>
          </a:prstGeom>
          <a:ln w="19050">
            <a:solidFill>
              <a:srgbClr val="22D3EE"/>
            </a:solidFill>
          </a:ln>
        </p:spPr>
      </p:pic>
      <p:sp>
        <p:nvSpPr>
          <p:cNvPr id="29" name="TextBox 28"/>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Blake Patterson from Alexandria, VA, USA · Wikimedia Commons · CC BY 2.0</a:t>
            </a:r>
          </a:p>
        </p:txBody>
      </p:sp>
      <p:sp>
        <p:nvSpPr>
          <p:cNvPr id="30" name="Rounded Rectangle 29"/>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1" name="Rounded Rectangle 30"/>
          <p:cNvSpPr/>
          <p:nvPr/>
        </p:nvSpPr>
        <p:spPr>
          <a:xfrm>
            <a:off x="550000" y="2283880"/>
            <a:ext cx="6750000" cy="3012240"/>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50000" y="2363880"/>
            <a:ext cx="50000" cy="285224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60000" y="3590000"/>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4" name="TextBox 33"/>
          <p:cNvSpPr txBox="1"/>
          <p:nvPr/>
        </p:nvSpPr>
        <p:spPr>
          <a:xfrm>
            <a:off x="1300000" y="2323880"/>
            <a:ext cx="5900000" cy="2932240"/>
          </a:xfrm>
          <a:prstGeom prst="rect">
            <a:avLst/>
          </a:prstGeom>
          <a:noFill/>
        </p:spPr>
        <p:txBody>
          <a:bodyPr wrap="square" anchor="ctr">
            <a:spAutoFit/>
          </a:bodyPr>
          <a:lstStyle/>
          <a:p>
            <a:r>
              <a:rPr sz="1700" b="1">
                <a:solidFill>
                  <a:srgbClr val="E8EEFA"/>
                </a:solidFill>
                <a:latin typeface="Segoe UI"/>
              </a:rPr>
              <a:t>Jadval LLM inferensining mashhur muammosini tushuntiradi: batch hajmi 1 bo'lganda har bir yangi token uchun modelning barcha og'irliklari (70 mlrd parametrli model uchun FP16'da 140 GB) xotiradan o'qiladi, lekin har bir og'irlik faqat bitta…</a:t>
            </a:r>
          </a:p>
          <a:p>
            <a:pPr>
              <a:spcBef>
                <a:spcPts val="400"/>
              </a:spcBef>
            </a:pPr>
            <a:r>
              <a:rPr sz="1600">
                <a:solidFill>
                  <a:srgbClr val="AEBBD9"/>
                </a:solidFill>
                <a:latin typeface="Segoe UI"/>
              </a:rPr>
              <a:t>Intensivlik ~1 FLOP/bayt, demak H100 o'z quvvatining 1 foizidan kamini ishlatadi va token tezligi faqat HBM o'tkazuvchanligi bilan belgilanadi: 3,35 TB/s ÷ 140 GB ≈ sekundiga 24 token (nazariy chegara).</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3"/>
                                        </p:tgtEl>
                                        <p:attrNameLst>
                                          <p:attrName>style.visibility</p:attrName>
                                        </p:attrNameLst>
                                      </p:cBhvr>
                                      <p:to>
                                        <p:strVal val="visible"/>
                                      </p:to>
                                    </p:set>
                                    <p:animEffect transition="in" filter="fade">
                                      <p:cBhvr>
                                        <p:cTn id="6" dur="550"/>
                                        <p:tgtEl>
                                          <p:spTgt spid="23"/>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wipe(left)">
                                      <p:cBhvr>
                                        <p:cTn id="11" dur="800"/>
                                        <p:tgtEl>
                                          <p:spTgt spid="24"/>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fade">
                                      <p:cBhvr>
                                        <p:cTn id="15" dur="550"/>
                                        <p:tgtEl>
                                          <p:spTgt spid="27"/>
                                        </p:tgtEl>
                                      </p:cBhvr>
                                    </p:animEffect>
                                    <p:anim calcmode="lin" valueType="num">
                                      <p:cBhvr additive="base">
                                        <p:cTn id="16" dur="550" fill="hold"/>
                                        <p:tgtEl>
                                          <p:spTgt spid="27"/>
                                        </p:tgtEl>
                                        <p:attrNameLst>
                                          <p:attrName>ppt_w</p:attrName>
                                        </p:attrNameLst>
                                      </p:cBhvr>
                                      <p:tavLst>
                                        <p:tav tm="0">
                                          <p:val>
                                            <p:strVal val="0"/>
                                          </p:val>
                                        </p:tav>
                                        <p:tav tm="100000">
                                          <p:val>
                                            <p:strVal val="#ppt_w"/>
                                          </p:val>
                                        </p:tav>
                                      </p:tavLst>
                                    </p:anim>
                                    <p:anim calcmode="lin" valueType="num">
                                      <p:cBhvr additive="base">
                                        <p:cTn id="17" dur="550" fill="hold"/>
                                        <p:tgtEl>
                                          <p:spTgt spid="27"/>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550"/>
                                        <p:tgtEl>
                                          <p:spTgt spid="28"/>
                                        </p:tgtEl>
                                      </p:cBhvr>
                                    </p:animEffect>
                                    <p:anim calcmode="lin" valueType="num">
                                      <p:cBhvr additive="base">
                                        <p:cTn id="22" dur="550" fill="hold"/>
                                        <p:tgtEl>
                                          <p:spTgt spid="28"/>
                                        </p:tgtEl>
                                        <p:attrNameLst>
                                          <p:attrName>ppt_w</p:attrName>
                                        </p:attrNameLst>
                                      </p:cBhvr>
                                      <p:tavLst>
                                        <p:tav tm="0">
                                          <p:val>
                                            <p:strVal val="0"/>
                                          </p:val>
                                        </p:tav>
                                        <p:tav tm="100000">
                                          <p:val>
                                            <p:strVal val="#ppt_w"/>
                                          </p:val>
                                        </p:tav>
                                      </p:tavLst>
                                    </p:anim>
                                    <p:anim calcmode="lin" valueType="num">
                                      <p:cBhvr additive="base">
                                        <p:cTn id="23" dur="550" fill="hold"/>
                                        <p:tgtEl>
                                          <p:spTgt spid="28"/>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50"/>
                                        <p:tgtEl>
                                          <p:spTgt spid="30"/>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50"/>
                                        <p:tgtEl>
                                          <p:spTgt spid="29"/>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1"/>
                                        </p:tgtEl>
                                        <p:attrNameLst>
                                          <p:attrName>style.visibility</p:attrName>
                                        </p:attrNameLst>
                                      </p:cBhvr>
                                      <p:to>
                                        <p:strVal val="visible"/>
                                      </p:to>
                                    </p:set>
                                    <p:animEffect transition="in" filter="fade">
                                      <p:cBhvr>
                                        <p:cTn id="35" dur="550"/>
                                        <p:tgtEl>
                                          <p:spTgt spid="31"/>
                                        </p:tgtEl>
                                      </p:cBhvr>
                                    </p:animEffect>
                                    <p:anim calcmode="lin" valueType="num">
                                      <p:cBhvr additive="base">
                                        <p:cTn id="36" dur="550" fill="hold"/>
                                        <p:tgtEl>
                                          <p:spTgt spid="31"/>
                                        </p:tgtEl>
                                        <p:attrNameLst>
                                          <p:attrName>ppt_x</p:attrName>
                                        </p:attrNameLst>
                                      </p:cBhvr>
                                      <p:tavLst>
                                        <p:tav tm="0">
                                          <p:val>
                                            <p:strVal val="#ppt_x"/>
                                          </p:val>
                                        </p:tav>
                                        <p:tav tm="100000">
                                          <p:val>
                                            <p:strVal val="#ppt_x"/>
                                          </p:val>
                                        </p:tav>
                                      </p:tavLst>
                                    </p:anim>
                                    <p:anim calcmode="lin" valueType="num">
                                      <p:cBhvr additive="base">
                                        <p:cTn id="37" dur="550" fill="hold"/>
                                        <p:tgtEl>
                                          <p:spTgt spid="31"/>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2"/>
                                        </p:tgtEl>
                                        <p:attrNameLst>
                                          <p:attrName>style.visibility</p:attrName>
                                        </p:attrNameLst>
                                      </p:cBhvr>
                                      <p:to>
                                        <p:strVal val="visible"/>
                                      </p:to>
                                    </p:set>
                                    <p:animEffect transition="in" filter="fade">
                                      <p:cBhvr>
                                        <p:cTn id="41" dur="550"/>
                                        <p:tgtEl>
                                          <p:spTgt spid="32"/>
                                        </p:tgtEl>
                                      </p:cBhvr>
                                    </p:animEffect>
                                    <p:anim calcmode="lin" valueType="num">
                                      <p:cBhvr additive="base">
                                        <p:cTn id="42" dur="550" fill="hold"/>
                                        <p:tgtEl>
                                          <p:spTgt spid="32"/>
                                        </p:tgtEl>
                                        <p:attrNameLst>
                                          <p:attrName>ppt_x</p:attrName>
                                        </p:attrNameLst>
                                      </p:cBhvr>
                                      <p:tavLst>
                                        <p:tav tm="0">
                                          <p:val>
                                            <p:strVal val="#ppt_x"/>
                                          </p:val>
                                        </p:tav>
                                        <p:tav tm="100000">
                                          <p:val>
                                            <p:strVal val="#ppt_x"/>
                                          </p:val>
                                        </p:tav>
                                      </p:tavLst>
                                    </p:anim>
                                    <p:anim calcmode="lin" valueType="num">
                                      <p:cBhvr additive="base">
                                        <p:cTn id="43" dur="550" fill="hold"/>
                                        <p:tgtEl>
                                          <p:spTgt spid="32"/>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3"/>
                                        </p:tgtEl>
                                        <p:attrNameLst>
                                          <p:attrName>style.visibility</p:attrName>
                                        </p:attrNameLst>
                                      </p:cBhvr>
                                      <p:to>
                                        <p:strVal val="visible"/>
                                      </p:to>
                                    </p:set>
                                    <p:animEffect transition="in" filter="fade">
                                      <p:cBhvr>
                                        <p:cTn id="47" dur="550"/>
                                        <p:tgtEl>
                                          <p:spTgt spid="33"/>
                                        </p:tgtEl>
                                      </p:cBhvr>
                                    </p:animEffect>
                                    <p:anim calcmode="lin" valueType="num">
                                      <p:cBhvr additive="base">
                                        <p:cTn id="48" dur="550" fill="hold"/>
                                        <p:tgtEl>
                                          <p:spTgt spid="33"/>
                                        </p:tgtEl>
                                        <p:attrNameLst>
                                          <p:attrName>ppt_w</p:attrName>
                                        </p:attrNameLst>
                                      </p:cBhvr>
                                      <p:tavLst>
                                        <p:tav tm="0">
                                          <p:val>
                                            <p:strVal val="0"/>
                                          </p:val>
                                        </p:tav>
                                        <p:tav tm="100000">
                                          <p:val>
                                            <p:strVal val="#ppt_w"/>
                                          </p:val>
                                        </p:tav>
                                      </p:tavLst>
                                    </p:anim>
                                    <p:anim calcmode="lin" valueType="num">
                                      <p:cBhvr additive="base">
                                        <p:cTn id="49" dur="550" fill="hold"/>
                                        <p:tgtEl>
                                          <p:spTgt spid="33"/>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4"/>
                                        </p:tgtEl>
                                        <p:attrNameLst>
                                          <p:attrName>style.visibility</p:attrName>
                                        </p:attrNameLst>
                                      </p:cBhvr>
                                      <p:to>
                                        <p:strVal val="visible"/>
                                      </p:to>
                                    </p:set>
                                    <p:animEffect transition="in" filter="fade">
                                      <p:cBhvr>
                                        <p:cTn id="53" dur="550"/>
                                        <p:tgtEl>
                                          <p:spTgt spid="34"/>
                                        </p:tgtEl>
                                      </p:cBhvr>
                                    </p:animEffect>
                                    <p:anim calcmode="lin" valueType="num">
                                      <p:cBhvr additive="base">
                                        <p:cTn id="54" dur="550" fill="hold"/>
                                        <p:tgtEl>
                                          <p:spTgt spid="34"/>
                                        </p:tgtEl>
                                        <p:attrNameLst>
                                          <p:attrName>ppt_x</p:attrName>
                                        </p:attrNameLst>
                                      </p:cBhvr>
                                      <p:tavLst>
                                        <p:tav tm="0">
                                          <p:val>
                                            <p:strVal val="#ppt_x"/>
                                          </p:val>
                                        </p:tav>
                                        <p:tav tm="100000">
                                          <p:val>
                                            <p:strVal val="#ppt_x"/>
                                          </p:val>
                                        </p:tav>
                                      </p:tavLst>
                                    </p:anim>
                                    <p:anim calcmode="lin" valueType="num">
                                      <p:cBhvr additive="base">
                                        <p:cTn id="55" dur="550" fill="hold"/>
                                        <p:tgtEl>
                                          <p:spTgt spid="34"/>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4" grpId="0" animBg="1"/>
      <p:bldP spid="27" grpId="0" animBg="1"/>
      <p:bldP spid="30" grpId="0" animBg="1"/>
      <p:bldP spid="29" grpId="0" animBg="1"/>
      <p:bldP spid="31" grpId="0" animBg="1"/>
      <p:bldP spid="32" grpId="0" animBg="1"/>
      <p:bldP spid="33" grpId="0" animBg="1"/>
      <p:bldP spid="34"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4-REJA</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600" b="1">
                <a:solidFill>
                  <a:srgbClr val="E8EEFA"/>
                </a:solidFill>
                <a:latin typeface="Segoe UI"/>
              </a:rPr>
              <a:t>Arifmetik intensivlik va roofline modeli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20</a:t>
            </a:r>
          </a:p>
        </p:txBody>
      </p:sp>
      <p:graphicFrame>
        <p:nvGraphicFramePr>
          <p:cNvPr id="23" name="Table 22"/>
          <p:cNvGraphicFramePr>
            <a:graphicFrameLocks noGrp="1"/>
          </p:cNvGraphicFramePr>
          <p:nvPr/>
        </p:nvGraphicFramePr>
        <p:xfrm>
          <a:off x="550000" y="1400000"/>
          <a:ext cx="11100000" cy="3640000"/>
        </p:xfrm>
        <a:graphic>
          <a:graphicData uri="http://schemas.openxmlformats.org/drawingml/2006/table">
            <a:tbl>
              <a:tblPr firstRow="1" bandRow="1">
                <a:tableStyleId>{5C22544A-7EE6-4342-B048-85BDC9FD1C3A}</a:tableStyleId>
              </a:tblPr>
              <a:tblGrid>
                <a:gridCol w="3700000"/>
                <a:gridCol w="3700000"/>
                <a:gridCol w="3700000"/>
              </a:tblGrid>
              <a:tr h="520000">
                <a:tc>
                  <a:txBody>
                    <a:bodyPr/>
                    <a:lstStyle/>
                    <a:p>
                      <a:r>
                        <a:rPr sz="1200" b="1">
                          <a:solidFill>
                            <a:srgbClr val="22D3EE"/>
                          </a:solidFill>
                          <a:latin typeface="Segoe UI"/>
                        </a:rPr>
                        <a:t>Operatsiya</a:t>
                      </a:r>
                    </a:p>
                  </a:txBody>
                  <a:tcPr>
                    <a:solidFill>
                      <a:srgbClr val="1C2755"/>
                    </a:solidFill>
                  </a:tcPr>
                </a:tc>
                <a:tc>
                  <a:txBody>
                    <a:bodyPr/>
                    <a:lstStyle/>
                    <a:p>
                      <a:r>
                        <a:rPr sz="1200" b="1">
                          <a:solidFill>
                            <a:srgbClr val="22D3EE"/>
                          </a:solidFill>
                          <a:latin typeface="Segoe UI"/>
                        </a:rPr>
                        <a:t>Taxminiy intensivlik (FP16)</a:t>
                      </a:r>
                    </a:p>
                  </a:txBody>
                  <a:tcPr>
                    <a:solidFill>
                      <a:srgbClr val="1C2755"/>
                    </a:solidFill>
                  </a:tcPr>
                </a:tc>
                <a:tc>
                  <a:txBody>
                    <a:bodyPr/>
                    <a:lstStyle/>
                    <a:p>
                      <a:r>
                        <a:rPr sz="1200" b="1">
                          <a:solidFill>
                            <a:srgbClr val="22D3EE"/>
                          </a:solidFill>
                          <a:latin typeface="Segoe UI"/>
                        </a:rPr>
                        <a:t>H100'da holat</a:t>
                      </a:r>
                    </a:p>
                  </a:txBody>
                  <a:tcPr>
                    <a:solidFill>
                      <a:srgbClr val="1C2755"/>
                    </a:solidFill>
                  </a:tcPr>
                </a:tc>
              </a:tr>
              <a:tr h="520000">
                <a:tc>
                  <a:txBody>
                    <a:bodyPr/>
                    <a:lstStyle/>
                    <a:p>
                      <a:r>
                        <a:rPr sz="1200" b="0">
                          <a:solidFill>
                            <a:srgbClr val="E8EEFA"/>
                          </a:solidFill>
                          <a:latin typeface="Segoe UI"/>
                        </a:rPr>
                        <a:t>Vektorlarni qo'shish z = x + y</a:t>
                      </a:r>
                    </a:p>
                  </a:txBody>
                  <a:tcPr>
                    <a:solidFill>
                      <a:srgbClr val="111834"/>
                    </a:solidFill>
                  </a:tcPr>
                </a:tc>
                <a:tc>
                  <a:txBody>
                    <a:bodyPr/>
                    <a:lstStyle/>
                    <a:p>
                      <a:r>
                        <a:rPr sz="1200" b="0">
                          <a:solidFill>
                            <a:srgbClr val="E8EEFA"/>
                          </a:solidFill>
                          <a:latin typeface="Segoe UI"/>
                        </a:rPr>
                        <a:t>~0,17 FLOP/bayt</a:t>
                      </a:r>
                    </a:p>
                  </a:txBody>
                  <a:tcPr>
                    <a:solidFill>
                      <a:srgbClr val="111834"/>
                    </a:solidFill>
                  </a:tcPr>
                </a:tc>
                <a:tc>
                  <a:txBody>
                    <a:bodyPr/>
                    <a:lstStyle/>
                    <a:p>
                      <a:r>
                        <a:rPr sz="1200" b="0">
                          <a:solidFill>
                            <a:srgbClr val="E8EEFA"/>
                          </a:solidFill>
                          <a:latin typeface="Segoe UI"/>
                        </a:rPr>
                        <a:t>qat'iy xotira bilan chegaralangan</a:t>
                      </a:r>
                    </a:p>
                  </a:txBody>
                  <a:tcPr>
                    <a:solidFill>
                      <a:srgbClr val="111834"/>
                    </a:solidFill>
                  </a:tcPr>
                </a:tc>
              </a:tr>
              <a:tr h="520000">
                <a:tc>
                  <a:txBody>
                    <a:bodyPr/>
                    <a:lstStyle/>
                    <a:p>
                      <a:r>
                        <a:rPr sz="1200" b="0">
                          <a:solidFill>
                            <a:srgbClr val="E8EEFA"/>
                          </a:solidFill>
                          <a:latin typeface="Segoe UI"/>
                        </a:rPr>
                        <a:t>ReLU, LayerNorm, Softmax</a:t>
                      </a:r>
                    </a:p>
                  </a:txBody>
                  <a:tcPr>
                    <a:solidFill>
                      <a:srgbClr val="161F40"/>
                    </a:solidFill>
                  </a:tcPr>
                </a:tc>
                <a:tc>
                  <a:txBody>
                    <a:bodyPr/>
                    <a:lstStyle/>
                    <a:p>
                      <a:r>
                        <a:rPr sz="1200" b="0">
                          <a:solidFill>
                            <a:srgbClr val="E8EEFA"/>
                          </a:solidFill>
                          <a:latin typeface="Segoe UI"/>
                        </a:rPr>
                        <a:t>0,3–2 FLOP/bayt</a:t>
                      </a:r>
                    </a:p>
                  </a:txBody>
                  <a:tcPr>
                    <a:solidFill>
                      <a:srgbClr val="161F40"/>
                    </a:solidFill>
                  </a:tcPr>
                </a:tc>
                <a:tc>
                  <a:txBody>
                    <a:bodyPr/>
                    <a:lstStyle/>
                    <a:p>
                      <a:r>
                        <a:rPr sz="1200" b="0">
                          <a:solidFill>
                            <a:srgbClr val="E8EEFA"/>
                          </a:solidFill>
                          <a:latin typeface="Segoe UI"/>
                        </a:rPr>
                        <a:t>xotira bilan chegaralangan</a:t>
                      </a:r>
                    </a:p>
                  </a:txBody>
                  <a:tcPr>
                    <a:solidFill>
                      <a:srgbClr val="161F40"/>
                    </a:solidFill>
                  </a:tcPr>
                </a:tc>
              </a:tr>
              <a:tr h="520000">
                <a:tc>
                  <a:txBody>
                    <a:bodyPr/>
                    <a:lstStyle/>
                    <a:p>
                      <a:r>
                        <a:rPr sz="1200" b="0">
                          <a:solidFill>
                            <a:srgbClr val="E8EEFA"/>
                          </a:solidFill>
                          <a:latin typeface="Segoe UI"/>
                        </a:rPr>
                        <a:t>Matritsa–vektor (LLM dekodlash, batch=1)</a:t>
                      </a:r>
                    </a:p>
                  </a:txBody>
                  <a:tcPr>
                    <a:solidFill>
                      <a:srgbClr val="111834"/>
                    </a:solidFill>
                  </a:tcPr>
                </a:tc>
                <a:tc>
                  <a:txBody>
                    <a:bodyPr/>
                    <a:lstStyle/>
                    <a:p>
                      <a:r>
                        <a:rPr sz="1200" b="0">
                          <a:solidFill>
                            <a:srgbClr val="E8EEFA"/>
                          </a:solidFill>
                          <a:latin typeface="Segoe UI"/>
                        </a:rPr>
                        <a:t>~1 FLOP/bayt</a:t>
                      </a:r>
                    </a:p>
                  </a:txBody>
                  <a:tcPr>
                    <a:solidFill>
                      <a:srgbClr val="111834"/>
                    </a:solidFill>
                  </a:tcPr>
                </a:tc>
                <a:tc>
                  <a:txBody>
                    <a:bodyPr/>
                    <a:lstStyle/>
                    <a:p>
                      <a:r>
                        <a:rPr sz="1200" b="0">
                          <a:solidFill>
                            <a:srgbClr val="E8EEFA"/>
                          </a:solidFill>
                          <a:latin typeface="Segoe UI"/>
                        </a:rPr>
                        <a:t>xotira bilan chegaralangan</a:t>
                      </a:r>
                    </a:p>
                  </a:txBody>
                  <a:tcPr>
                    <a:solidFill>
                      <a:srgbClr val="111834"/>
                    </a:solidFill>
                  </a:tcPr>
                </a:tc>
              </a:tr>
              <a:tr h="520000">
                <a:tc>
                  <a:txBody>
                    <a:bodyPr/>
                    <a:lstStyle/>
                    <a:p>
                      <a:r>
                        <a:rPr sz="1200" b="0">
                          <a:solidFill>
                            <a:srgbClr val="E8EEFA"/>
                          </a:solidFill>
                          <a:latin typeface="Segoe UI"/>
                        </a:rPr>
                        <a:t>GEMM 1024×1024×1024</a:t>
                      </a:r>
                    </a:p>
                  </a:txBody>
                  <a:tcPr>
                    <a:solidFill>
                      <a:srgbClr val="161F40"/>
                    </a:solidFill>
                  </a:tcPr>
                </a:tc>
                <a:tc>
                  <a:txBody>
                    <a:bodyPr/>
                    <a:lstStyle/>
                    <a:p>
                      <a:r>
                        <a:rPr sz="1200" b="0">
                          <a:solidFill>
                            <a:srgbClr val="E8EEFA"/>
                          </a:solidFill>
                          <a:latin typeface="Segoe UI"/>
                        </a:rPr>
                        <a:t>~170 FLOP/bayt</a:t>
                      </a:r>
                    </a:p>
                  </a:txBody>
                  <a:tcPr>
                    <a:solidFill>
                      <a:srgbClr val="161F40"/>
                    </a:solidFill>
                  </a:tcPr>
                </a:tc>
                <a:tc>
                  <a:txBody>
                    <a:bodyPr/>
                    <a:lstStyle/>
                    <a:p>
                      <a:r>
                        <a:rPr sz="1200" b="0">
                          <a:solidFill>
                            <a:srgbClr val="E8EEFA"/>
                          </a:solidFill>
                          <a:latin typeface="Segoe UI"/>
                        </a:rPr>
                        <a:t>o'tish zonasi</a:t>
                      </a:r>
                    </a:p>
                  </a:txBody>
                  <a:tcPr>
                    <a:solidFill>
                      <a:srgbClr val="161F40"/>
                    </a:solidFill>
                  </a:tcPr>
                </a:tc>
              </a:tr>
              <a:tr h="520000">
                <a:tc>
                  <a:txBody>
                    <a:bodyPr/>
                    <a:lstStyle/>
                    <a:p>
                      <a:r>
                        <a:rPr sz="1200" b="0">
                          <a:solidFill>
                            <a:srgbClr val="E8EEFA"/>
                          </a:solidFill>
                          <a:latin typeface="Segoe UI"/>
                        </a:rPr>
                        <a:t>GEMM 8192×8192×8192</a:t>
                      </a:r>
                    </a:p>
                  </a:txBody>
                  <a:tcPr>
                    <a:solidFill>
                      <a:srgbClr val="111834"/>
                    </a:solidFill>
                  </a:tcPr>
                </a:tc>
                <a:tc>
                  <a:txBody>
                    <a:bodyPr/>
                    <a:lstStyle/>
                    <a:p>
                      <a:r>
                        <a:rPr sz="1200" b="0">
                          <a:solidFill>
                            <a:srgbClr val="E8EEFA"/>
                          </a:solidFill>
                          <a:latin typeface="Segoe UI"/>
                        </a:rPr>
                        <a:t>~1365 FLOP/bayt</a:t>
                      </a:r>
                    </a:p>
                  </a:txBody>
                  <a:tcPr>
                    <a:solidFill>
                      <a:srgbClr val="111834"/>
                    </a:solidFill>
                  </a:tcPr>
                </a:tc>
                <a:tc>
                  <a:txBody>
                    <a:bodyPr/>
                    <a:lstStyle/>
                    <a:p>
                      <a:r>
                        <a:rPr sz="1200" b="0">
                          <a:solidFill>
                            <a:srgbClr val="E8EEFA"/>
                          </a:solidFill>
                          <a:latin typeface="Segoe UI"/>
                        </a:rPr>
                        <a:t>hisoblash bilan chegaralangan</a:t>
                      </a:r>
                    </a:p>
                  </a:txBody>
                  <a:tcPr>
                    <a:solidFill>
                      <a:srgbClr val="111834"/>
                    </a:solidFill>
                  </a:tcPr>
                </a:tc>
              </a:tr>
              <a:tr h="520000">
                <a:tc>
                  <a:txBody>
                    <a:bodyPr/>
                    <a:lstStyle/>
                    <a:p>
                      <a:r>
                        <a:rPr sz="1200" b="0">
                          <a:solidFill>
                            <a:srgbClr val="E8EEFA"/>
                          </a:solidFill>
                          <a:latin typeface="Segoe UI"/>
                        </a:rPr>
                        <a:t>Konvolyutsiya 3×3, 256 kanal</a:t>
                      </a:r>
                    </a:p>
                  </a:txBody>
                  <a:tcPr>
                    <a:solidFill>
                      <a:srgbClr val="161F40"/>
                    </a:solidFill>
                  </a:tcPr>
                </a:tc>
                <a:tc>
                  <a:txBody>
                    <a:bodyPr/>
                    <a:lstStyle/>
                    <a:p>
                      <a:r>
                        <a:rPr sz="1200" b="0">
                          <a:solidFill>
                            <a:srgbClr val="E8EEFA"/>
                          </a:solidFill>
                          <a:latin typeface="Segoe UI"/>
                        </a:rPr>
                        <a:t>yuzlab FLOP/bayt</a:t>
                      </a:r>
                    </a:p>
                  </a:txBody>
                  <a:tcPr>
                    <a:solidFill>
                      <a:srgbClr val="161F40"/>
                    </a:solidFill>
                  </a:tcPr>
                </a:tc>
                <a:tc>
                  <a:txBody>
                    <a:bodyPr/>
                    <a:lstStyle/>
                    <a:p>
                      <a:r>
                        <a:rPr sz="1200" b="0">
                          <a:solidFill>
                            <a:srgbClr val="E8EEFA"/>
                          </a:solidFill>
                          <a:latin typeface="Segoe UI"/>
                        </a:rPr>
                        <a:t>hisoblash bilan chegaralangan</a:t>
                      </a:r>
                    </a:p>
                  </a:txBody>
                  <a:tcPr>
                    <a:solidFill>
                      <a:srgbClr val="161F40"/>
                    </a:solidFill>
                  </a:tcPr>
                </a:tc>
              </a:tr>
            </a:tbl>
          </a:graphicData>
        </a:graphic>
      </p:graphicFrame>
    </p:spTree>
  </p:cSld>
  <p:clrMapOvr>
    <a:masterClrMapping/>
  </p:clrMapOvr>
  <p:transition spd="med">
    <p:fade/>
  </p:transition>
  <p:timing>
    <p:tnLst>
      <p:par>
        <p:cTn id="1" dur="indefinite" restart="never" nodeType="tmRoot">
          <p:childTnLst>
            <p:seq concurrent="1" nextAc="seek">
              <p:cTn id="2" dur="indefinite" nodeType="mainSeq">
                <p:childTnLst>
                  <p:par>
                    <p:cTn id="17"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200"/>
                            </p:stCondLst>
                            <p:childTnLst>
                              <p:par>
                                <p:cTn id="13" presetID="22" presetClass="entr" presetSubtype="8"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wipe(left)">
                                      <p:cBhvr>
                                        <p:cTn id="16" dur="8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89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400000" y="5040000"/>
            <a:ext cx="1666666" cy="22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400000" y="5266666"/>
            <a:ext cx="1666666"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400000" y="5266666"/>
            <a:ext cx="1666666" cy="45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00000" y="5266666"/>
            <a:ext cx="1666666"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400000" y="5040000"/>
            <a:ext cx="1666666"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400000" y="5380000"/>
            <a:ext cx="1666666"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400000" y="5833333"/>
            <a:ext cx="1666666"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2066666" y="504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2066666" y="504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066666" y="538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2066666" y="504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2066666" y="538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066666" y="572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2066666" y="5040000"/>
            <a:ext cx="1666667" cy="102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066666" y="5380000"/>
            <a:ext cx="1666667" cy="68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2066666" y="5720000"/>
            <a:ext cx="1666667" cy="34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066666" y="6060000"/>
            <a:ext cx="1666667"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3733333" y="5040000"/>
            <a:ext cx="1666667" cy="79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733333" y="5266666"/>
            <a:ext cx="1666667" cy="11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3733333" y="5380000"/>
            <a:ext cx="1666667" cy="45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3733333" y="5266666"/>
            <a:ext cx="1666667" cy="79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3733333" y="5833333"/>
            <a:ext cx="1666667" cy="22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996666"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996666"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996666"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996666"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3663333" y="497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3663333" y="5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3663333" y="565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3663333" y="599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330000" y="51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330000" y="5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150000" y="650000"/>
            <a:ext cx="5600000" cy="5250000"/>
          </a:xfrm>
          <a:prstGeom prst="roundRect">
            <a:avLst>
              <a:gd name="adj" fmla="val 6000"/>
            </a:avLst>
          </a:prstGeom>
          <a:noFill/>
          <a:ln w="1905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994346d70ad9af82.jpg"/>
          <p:cNvPicPr>
            <a:picLocks noChangeAspect="1"/>
          </p:cNvPicPr>
          <p:nvPr/>
        </p:nvPicPr>
        <p:blipFill>
          <a:blip r:embed="rId2"/>
          <a:srcRect l="20807" r="20807"/>
          <a:stretch>
            <a:fillRect/>
          </a:stretch>
        </p:blipFill>
        <p:spPr>
          <a:xfrm>
            <a:off x="6300000" y="800000"/>
            <a:ext cx="5300000" cy="4950000"/>
          </a:xfrm>
          <a:prstGeom prst="roundRect">
            <a:avLst/>
          </a:prstGeom>
          <a:ln w="19050">
            <a:solidFill>
              <a:srgbClr val="22D3EE"/>
            </a:solidFill>
          </a:ln>
        </p:spPr>
      </p:pic>
      <p:sp>
        <p:nvSpPr>
          <p:cNvPr id="44" name="TextBox 43"/>
          <p:cNvSpPr txBox="1"/>
          <p:nvPr/>
        </p:nvSpPr>
        <p:spPr>
          <a:xfrm>
            <a:off x="6300000" y="5780000"/>
            <a:ext cx="5300000" cy="260000"/>
          </a:xfrm>
          <a:prstGeom prst="rect">
            <a:avLst/>
          </a:prstGeom>
          <a:noFill/>
        </p:spPr>
        <p:txBody>
          <a:bodyPr wrap="square" anchor="t" lIns="50800" rIns="50800">
            <a:spAutoFit/>
          </a:bodyPr>
          <a:lstStyle/>
          <a:p>
            <a:pPr algn="l"/>
            <a:r>
              <a:rPr sz="800" b="0">
                <a:solidFill>
                  <a:srgbClr val="707EAA"/>
                </a:solidFill>
                <a:latin typeface="Segoe UI"/>
              </a:rPr>
              <a:t>Rasm: WikiEwout · Wikimedia Commons · CC BY-SA 4.0</a:t>
            </a:r>
          </a:p>
        </p:txBody>
      </p:sp>
      <p:sp>
        <p:nvSpPr>
          <p:cNvPr id="45" name="TextBox 44"/>
          <p:cNvSpPr txBox="1"/>
          <p:nvPr/>
        </p:nvSpPr>
        <p:spPr>
          <a:xfrm>
            <a:off x="600000" y="700000"/>
            <a:ext cx="3500000" cy="1600000"/>
          </a:xfrm>
          <a:prstGeom prst="rect">
            <a:avLst/>
          </a:prstGeom>
          <a:noFill/>
        </p:spPr>
        <p:txBody>
          <a:bodyPr wrap="square" anchor="t" lIns="50800" rIns="50800">
            <a:spAutoFit/>
          </a:bodyPr>
          <a:lstStyle/>
          <a:p>
            <a:pPr algn="l"/>
            <a:r>
              <a:rPr sz="8800" b="1">
                <a:solidFill>
                  <a:srgbClr val="22D3EE"/>
                </a:solidFill>
                <a:latin typeface="Segoe UI"/>
              </a:rPr>
              <a:t>05</a:t>
            </a:r>
          </a:p>
        </p:txBody>
      </p:sp>
      <p:sp>
        <p:nvSpPr>
          <p:cNvPr id="46" name="TextBox 45"/>
          <p:cNvSpPr txBox="1"/>
          <p:nvPr/>
        </p:nvSpPr>
        <p:spPr>
          <a:xfrm>
            <a:off x="650000" y="2250000"/>
            <a:ext cx="5200000" cy="350000"/>
          </a:xfrm>
          <a:prstGeom prst="rect">
            <a:avLst/>
          </a:prstGeom>
          <a:noFill/>
        </p:spPr>
        <p:txBody>
          <a:bodyPr wrap="square" anchor="t" lIns="50800" rIns="50800">
            <a:spAutoFit/>
          </a:bodyPr>
          <a:lstStyle/>
          <a:p>
            <a:pPr algn="l"/>
            <a:r>
              <a:rPr sz="1200" b="1">
                <a:solidFill>
                  <a:srgbClr val="8B5CF6"/>
                </a:solidFill>
                <a:latin typeface="Segoe UI"/>
              </a:rPr>
              <a:t>REJA BANDI</a:t>
            </a:r>
          </a:p>
        </p:txBody>
      </p:sp>
      <p:sp>
        <p:nvSpPr>
          <p:cNvPr id="47" name="TextBox 46"/>
          <p:cNvSpPr txBox="1"/>
          <p:nvPr/>
        </p:nvSpPr>
        <p:spPr>
          <a:xfrm>
            <a:off x="600000" y="2650000"/>
            <a:ext cx="5400000" cy="1800000"/>
          </a:xfrm>
          <a:prstGeom prst="rect">
            <a:avLst/>
          </a:prstGeom>
          <a:noFill/>
        </p:spPr>
        <p:txBody>
          <a:bodyPr wrap="square" anchor="t" lIns="50800" rIns="50800">
            <a:spAutoFit/>
          </a:bodyPr>
          <a:lstStyle/>
          <a:p>
            <a:pPr algn="l"/>
            <a:r>
              <a:rPr sz="2600" b="1">
                <a:solidFill>
                  <a:srgbClr val="E8EEFA"/>
                </a:solidFill>
                <a:latin typeface="Segoe UI"/>
              </a:rPr>
              <a:t>Xotira o'tkazuvchanligini oshirish va ma'lumot almashinuvini kamaytirish usullari</a:t>
            </a:r>
          </a:p>
        </p:txBody>
      </p:sp>
      <p:sp>
        <p:nvSpPr>
          <p:cNvPr id="48" name="Rectangle 47"/>
          <p:cNvSpPr/>
          <p:nvPr/>
        </p:nvSpPr>
        <p:spPr>
          <a:xfrm>
            <a:off x="660000" y="4450000"/>
            <a:ext cx="22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ransition spd="med">
    <p:push dir="u"/>
  </p:transition>
  <p:timing>
    <p:tnLst>
      <p:par>
        <p:cTn id="1" dur="indefinite" restart="never" nodeType="tmRoot">
          <p:childTnLst>
            <p:seq concurrent="1" nextAc="seek">
              <p:cTn id="2" dur="indefinite" nodeType="mainSeq">
                <p:childTnLst>
                  <p:par>
                    <p:cTn id="19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150"/>
                            </p:stCondLst>
                            <p:childTnLst>
                              <p:par>
                                <p:cTn id="160" presetID="53" presetClass="entr" presetSubtype="16"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anim calcmode="lin" valueType="num">
                                      <p:cBhvr additive="base">
                                        <p:cTn id="163" dur="550" fill="hold"/>
                                        <p:tgtEl>
                                          <p:spTgt spid="42"/>
                                        </p:tgtEl>
                                        <p:attrNameLst>
                                          <p:attrName>ppt_w</p:attrName>
                                        </p:attrNameLst>
                                      </p:cBhvr>
                                      <p:tavLst>
                                        <p:tav tm="0">
                                          <p:val>
                                            <p:strVal val="0"/>
                                          </p:val>
                                        </p:tav>
                                        <p:tav tm="100000">
                                          <p:val>
                                            <p:strVal val="#ppt_w"/>
                                          </p:val>
                                        </p:tav>
                                      </p:tavLst>
                                    </p:anim>
                                    <p:anim calcmode="lin" valueType="num">
                                      <p:cBhvr additive="base">
                                        <p:cTn id="164" dur="550" fill="hold"/>
                                        <p:tgtEl>
                                          <p:spTgt spid="42"/>
                                        </p:tgtEl>
                                        <p:attrNameLst>
                                          <p:attrName>ppt_h</p:attrName>
                                        </p:attrNameLst>
                                      </p:cBhvr>
                                      <p:tavLst>
                                        <p:tav tm="0">
                                          <p:val>
                                            <p:strVal val="0"/>
                                          </p:val>
                                        </p:tav>
                                        <p:tav tm="100000">
                                          <p:val>
                                            <p:strVal val="#ppt_h"/>
                                          </p:val>
                                        </p:tav>
                                      </p:tavLst>
                                    </p:anim>
                                  </p:childTnLst>
                                </p:cTn>
                              </p:par>
                            </p:childTnLst>
                          </p:cTn>
                        </p:par>
                        <p:par>
                          <p:cTn id="165" fill="hold">
                            <p:stCondLst>
                              <p:cond delay="150"/>
                            </p:stCondLst>
                            <p:childTnLst>
                              <p:par>
                                <p:cTn id="166" presetID="53" presetClass="entr" presetSubtype="16" fill="hold" grpId="0" nodeType="afterEffect">
                                  <p:stCondLst>
                                    <p:cond delay="0"/>
                                  </p:stCondLst>
                                  <p:childTnLst>
                                    <p:set>
                                      <p:cBhvr>
                                        <p:cTn id="167" dur="1" fill="hold">
                                          <p:stCondLst>
                                            <p:cond delay="0"/>
                                          </p:stCondLst>
                                        </p:cTn>
                                        <p:tgtEl>
                                          <p:spTgt spid="43"/>
                                        </p:tgtEl>
                                        <p:attrNameLst>
                                          <p:attrName>style.visibility</p:attrName>
                                        </p:attrNameLst>
                                      </p:cBhvr>
                                      <p:to>
                                        <p:strVal val="visible"/>
                                      </p:to>
                                    </p:set>
                                    <p:animEffect transition="in" filter="fade">
                                      <p:cBhvr>
                                        <p:cTn id="168" dur="550"/>
                                        <p:tgtEl>
                                          <p:spTgt spid="43"/>
                                        </p:tgtEl>
                                      </p:cBhvr>
                                    </p:animEffect>
                                    <p:anim calcmode="lin" valueType="num">
                                      <p:cBhvr additive="base">
                                        <p:cTn id="169" dur="550" fill="hold"/>
                                        <p:tgtEl>
                                          <p:spTgt spid="43"/>
                                        </p:tgtEl>
                                        <p:attrNameLst>
                                          <p:attrName>ppt_w</p:attrName>
                                        </p:attrNameLst>
                                      </p:cBhvr>
                                      <p:tavLst>
                                        <p:tav tm="0">
                                          <p:val>
                                            <p:strVal val="0"/>
                                          </p:val>
                                        </p:tav>
                                        <p:tav tm="100000">
                                          <p:val>
                                            <p:strVal val="#ppt_w"/>
                                          </p:val>
                                        </p:tav>
                                      </p:tavLst>
                                    </p:anim>
                                    <p:anim calcmode="lin" valueType="num">
                                      <p:cBhvr additive="base">
                                        <p:cTn id="170" dur="550" fill="hold"/>
                                        <p:tgtEl>
                                          <p:spTgt spid="43"/>
                                        </p:tgtEl>
                                        <p:attrNameLst>
                                          <p:attrName>ppt_h</p:attrName>
                                        </p:attrNameLst>
                                      </p:cBhvr>
                                      <p:tavLst>
                                        <p:tav tm="0">
                                          <p:val>
                                            <p:strVal val="0"/>
                                          </p:val>
                                        </p:tav>
                                        <p:tav tm="100000">
                                          <p:val>
                                            <p:strVal val="#ppt_h"/>
                                          </p:val>
                                        </p:tav>
                                      </p:tavLst>
                                    </p:anim>
                                  </p:childTnLst>
                                </p:cTn>
                              </p:par>
                            </p:childTnLst>
                          </p:cTn>
                        </p:par>
                        <p:par>
                          <p:cTn id="171" fill="hold">
                            <p:stCondLst>
                              <p:cond delay="150"/>
                            </p:stCondLst>
                            <p:childTnLst>
                              <p:par>
                                <p:cTn id="172" presetID="10" presetClass="entr" presetSubtype="0" fill="hold" grpId="0" nodeType="afterEffect">
                                  <p:stCondLst>
                                    <p:cond delay="0"/>
                                  </p:stCondLst>
                                  <p:childTnLst>
                                    <p:set>
                                      <p:cBhvr>
                                        <p:cTn id="173" dur="1" fill="hold">
                                          <p:stCondLst>
                                            <p:cond delay="0"/>
                                          </p:stCondLst>
                                        </p:cTn>
                                        <p:tgtEl>
                                          <p:spTgt spid="44"/>
                                        </p:tgtEl>
                                        <p:attrNameLst>
                                          <p:attrName>style.visibility</p:attrName>
                                        </p:attrNameLst>
                                      </p:cBhvr>
                                      <p:to>
                                        <p:strVal val="visible"/>
                                      </p:to>
                                    </p:set>
                                    <p:animEffect transition="in" filter="fade">
                                      <p:cBhvr>
                                        <p:cTn id="174" dur="550"/>
                                        <p:tgtEl>
                                          <p:spTgt spid="44"/>
                                        </p:tgtEl>
                                      </p:cBhvr>
                                    </p:animEffect>
                                  </p:childTnLst>
                                </p:cTn>
                              </p:par>
                            </p:childTnLst>
                          </p:cTn>
                        </p:par>
                        <p:par>
                          <p:cTn id="175" fill="hold">
                            <p:stCondLst>
                              <p:cond delay="350"/>
                            </p:stCondLst>
                            <p:childTnLst>
                              <p:par>
                                <p:cTn id="176" presetID="53" presetClass="entr" presetSubtype="16" fill="hold" grpId="0" nodeType="afterEffect">
                                  <p:stCondLst>
                                    <p:cond delay="0"/>
                                  </p:stCondLst>
                                  <p:childTnLst>
                                    <p:set>
                                      <p:cBhvr>
                                        <p:cTn id="177" dur="1" fill="hold">
                                          <p:stCondLst>
                                            <p:cond delay="0"/>
                                          </p:stCondLst>
                                        </p:cTn>
                                        <p:tgtEl>
                                          <p:spTgt spid="45"/>
                                        </p:tgtEl>
                                        <p:attrNameLst>
                                          <p:attrName>style.visibility</p:attrName>
                                        </p:attrNameLst>
                                      </p:cBhvr>
                                      <p:to>
                                        <p:strVal val="visible"/>
                                      </p:to>
                                    </p:set>
                                    <p:animEffect transition="in" filter="fade">
                                      <p:cBhvr>
                                        <p:cTn id="178" dur="550"/>
                                        <p:tgtEl>
                                          <p:spTgt spid="45"/>
                                        </p:tgtEl>
                                      </p:cBhvr>
                                    </p:animEffect>
                                    <p:anim calcmode="lin" valueType="num">
                                      <p:cBhvr additive="base">
                                        <p:cTn id="179" dur="550" fill="hold"/>
                                        <p:tgtEl>
                                          <p:spTgt spid="45"/>
                                        </p:tgtEl>
                                        <p:attrNameLst>
                                          <p:attrName>ppt_w</p:attrName>
                                        </p:attrNameLst>
                                      </p:cBhvr>
                                      <p:tavLst>
                                        <p:tav tm="0">
                                          <p:val>
                                            <p:strVal val="0"/>
                                          </p:val>
                                        </p:tav>
                                        <p:tav tm="100000">
                                          <p:val>
                                            <p:strVal val="#ppt_w"/>
                                          </p:val>
                                        </p:tav>
                                      </p:tavLst>
                                    </p:anim>
                                    <p:anim calcmode="lin" valueType="num">
                                      <p:cBhvr additive="base">
                                        <p:cTn id="180" dur="550" fill="hold"/>
                                        <p:tgtEl>
                                          <p:spTgt spid="45"/>
                                        </p:tgtEl>
                                        <p:attrNameLst>
                                          <p:attrName>ppt_h</p:attrName>
                                        </p:attrNameLst>
                                      </p:cBhvr>
                                      <p:tavLst>
                                        <p:tav tm="0">
                                          <p:val>
                                            <p:strVal val="0"/>
                                          </p:val>
                                        </p:tav>
                                        <p:tav tm="100000">
                                          <p:val>
                                            <p:strVal val="#ppt_h"/>
                                          </p:val>
                                        </p:tav>
                                      </p:tavLst>
                                    </p:anim>
                                  </p:childTnLst>
                                </p:cTn>
                              </p:par>
                            </p:childTnLst>
                          </p:cTn>
                        </p:par>
                        <p:par>
                          <p:cTn id="181" fill="hold">
                            <p:stCondLst>
                              <p:cond delay="450"/>
                            </p:stCondLst>
                            <p:childTnLst>
                              <p:par>
                                <p:cTn id="182" presetID="10" presetClass="entr" presetSubtype="0" fill="hold" grpId="0" nodeType="afterEffect">
                                  <p:stCondLst>
                                    <p:cond delay="0"/>
                                  </p:stCondLst>
                                  <p:childTnLst>
                                    <p:set>
                                      <p:cBhvr>
                                        <p:cTn id="183" dur="1" fill="hold">
                                          <p:stCondLst>
                                            <p:cond delay="0"/>
                                          </p:stCondLst>
                                        </p:cTn>
                                        <p:tgtEl>
                                          <p:spTgt spid="46"/>
                                        </p:tgtEl>
                                        <p:attrNameLst>
                                          <p:attrName>style.visibility</p:attrName>
                                        </p:attrNameLst>
                                      </p:cBhvr>
                                      <p:to>
                                        <p:strVal val="visible"/>
                                      </p:to>
                                    </p:set>
                                    <p:animEffect transition="in" filter="fade">
                                      <p:cBhvr>
                                        <p:cTn id="184" dur="550"/>
                                        <p:tgtEl>
                                          <p:spTgt spid="46"/>
                                        </p:tgtEl>
                                      </p:cBhvr>
                                    </p:animEffect>
                                  </p:childTnLst>
                                </p:cTn>
                              </p:par>
                            </p:childTnLst>
                          </p:cTn>
                        </p:par>
                        <p:par>
                          <p:cTn id="185" fill="hold">
                            <p:stCondLst>
                              <p:cond delay="550"/>
                            </p:stCondLst>
                            <p:childTnLst>
                              <p:par>
                                <p:cTn id="186" presetID="2" presetClass="entr" presetSubtype="8" fill="hold" grpId="0" nodeType="afterEffect">
                                  <p:stCondLst>
                                    <p:cond delay="0"/>
                                  </p:stCondLst>
                                  <p:childTnLst>
                                    <p:set>
                                      <p:cBhvr>
                                        <p:cTn id="187" dur="1" fill="hold">
                                          <p:stCondLst>
                                            <p:cond delay="0"/>
                                          </p:stCondLst>
                                        </p:cTn>
                                        <p:tgtEl>
                                          <p:spTgt spid="47"/>
                                        </p:tgtEl>
                                        <p:attrNameLst>
                                          <p:attrName>style.visibility</p:attrName>
                                        </p:attrNameLst>
                                      </p:cBhvr>
                                      <p:to>
                                        <p:strVal val="visible"/>
                                      </p:to>
                                    </p:set>
                                    <p:anim calcmode="lin" valueType="num">
                                      <p:cBhvr additive="base">
                                        <p:cTn id="189" dur="550" fill="hold"/>
                                        <p:tgtEl>
                                          <p:spTgt spid="47"/>
                                        </p:tgtEl>
                                        <p:attrNameLst>
                                          <p:attrName>ppt_x</p:attrName>
                                        </p:attrNameLst>
                                      </p:cBhvr>
                                      <p:tavLst>
                                        <p:tav tm="0">
                                          <p:val>
                                            <p:strVal val="0-#ppt_w/2"/>
                                          </p:val>
                                        </p:tav>
                                        <p:tav tm="100000">
                                          <p:val>
                                            <p:strVal val="#ppt_x"/>
                                          </p:val>
                                        </p:tav>
                                      </p:tavLst>
                                    </p:anim>
                                    <p:anim calcmode="lin" valueType="num">
                                      <p:cBhvr additive="base">
                                        <p:cTn id="190" dur="550" fill="hold"/>
                                        <p:tgtEl>
                                          <p:spTgt spid="47"/>
                                        </p:tgtEl>
                                        <p:attrNameLst>
                                          <p:attrName>ppt_y</p:attrName>
                                        </p:attrNameLst>
                                      </p:cBhvr>
                                      <p:tavLst>
                                        <p:tav tm="0">
                                          <p:val>
                                            <p:strVal val="#ppt_y"/>
                                          </p:val>
                                        </p:tav>
                                        <p:tav tm="100000">
                                          <p:val>
                                            <p:strVal val="#ppt_y"/>
                                          </p:val>
                                        </p:tav>
                                      </p:tavLst>
                                    </p:anim>
                                  </p:childTnLst>
                                </p:cTn>
                              </p:par>
                            </p:childTnLst>
                          </p:cTn>
                        </p:par>
                        <p:par>
                          <p:cTn id="191" fill="hold">
                            <p:stCondLst>
                              <p:cond delay="650"/>
                            </p:stCondLst>
                            <p:childTnLst>
                              <p:par>
                                <p:cTn id="192" presetID="22" presetClass="entr" presetSubtype="8" fill="hold" grpId="0" nodeType="afterEffect">
                                  <p:stCondLst>
                                    <p:cond delay="0"/>
                                  </p:stCondLst>
                                  <p:childTnLst>
                                    <p:set>
                                      <p:cBhvr>
                                        <p:cTn id="193" dur="1" fill="hold">
                                          <p:stCondLst>
                                            <p:cond delay="0"/>
                                          </p:stCondLst>
                                        </p:cTn>
                                        <p:tgtEl>
                                          <p:spTgt spid="48"/>
                                        </p:tgtEl>
                                        <p:attrNameLst>
                                          <p:attrName>style.visibility</p:attrName>
                                        </p:attrNameLst>
                                      </p:cBhvr>
                                      <p:to>
                                        <p:strVal val="visible"/>
                                      </p:to>
                                    </p:set>
                                    <p:animEffect transition="in" filter="wipe(left)">
                                      <p:cBhvr>
                                        <p:cTn id="195" dur="8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4" grpId="0" animBg="1"/>
      <p:bldP spid="45" grpId="0" animBg="1"/>
      <p:bldP spid="46" grpId="0" animBg="1"/>
      <p:bldP spid="47" grpId="0" animBg="1"/>
      <p:bldP spid="48"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5-REJA</a:t>
            </a:r>
          </a:p>
        </p:txBody>
      </p:sp>
      <p:sp>
        <p:nvSpPr>
          <p:cNvPr id="17" name="TextBox 16"/>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Xotira o'tkazuvchanligini oshirish va ma'lumot almashinuvini kamaytirish usullari</a:t>
            </a:r>
          </a:p>
        </p:txBody>
      </p:sp>
      <p:sp>
        <p:nvSpPr>
          <p:cNvPr id="18" name="Rectangle 17"/>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0" name="Rounded Rectangle 19"/>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22</a:t>
            </a:r>
          </a:p>
        </p:txBody>
      </p:sp>
      <p:sp>
        <p:nvSpPr>
          <p:cNvPr id="21" name="Rounded Rectangle 20"/>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5efb5ddfc765993b.jpg"/>
          <p:cNvPicPr>
            <a:picLocks noChangeAspect="1"/>
          </p:cNvPicPr>
          <p:nvPr/>
        </p:nvPicPr>
        <p:blipFill>
          <a:blip r:embed="rId2"/>
          <a:srcRect l="18434" r="18434"/>
          <a:stretch>
            <a:fillRect/>
          </a:stretch>
        </p:blipFill>
        <p:spPr>
          <a:xfrm>
            <a:off x="7620000" y="1430000"/>
            <a:ext cx="4050000" cy="4250000"/>
          </a:xfrm>
          <a:prstGeom prst="roundRect">
            <a:avLst/>
          </a:prstGeom>
          <a:ln w="19050">
            <a:solidFill>
              <a:srgbClr val="22D3EE"/>
            </a:solidFill>
          </a:ln>
        </p:spPr>
      </p:pic>
      <p:sp>
        <p:nvSpPr>
          <p:cNvPr id="23" name="TextBox 22"/>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Vintechcomputerservices · Wikimedia Commons · CC BY-SA 4.0</a:t>
            </a:r>
          </a:p>
        </p:txBody>
      </p:sp>
      <p:sp>
        <p:nvSpPr>
          <p:cNvPr id="24" name="Rounded Rectangle 23"/>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5" name="Rounded Rectangle 24"/>
          <p:cNvSpPr/>
          <p:nvPr/>
        </p:nvSpPr>
        <p:spPr>
          <a:xfrm>
            <a:off x="550000" y="1527432"/>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50000" y="1607432"/>
            <a:ext cx="50000" cy="20475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60000" y="2431216"/>
            <a:ext cx="400000" cy="400000"/>
          </a:xfrm>
          <a:prstGeom prst="ellipse">
            <a:avLst/>
          </a:prstGeom>
          <a:noFill/>
          <a:ln w="254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22D3EE"/>
                </a:solidFill>
                <a:latin typeface="Segoe UI"/>
              </a:rPr>
              <a:t>01</a:t>
            </a:r>
          </a:p>
        </p:txBody>
      </p:sp>
      <p:sp>
        <p:nvSpPr>
          <p:cNvPr id="28" name="TextBox 27"/>
          <p:cNvSpPr txBox="1"/>
          <p:nvPr/>
        </p:nvSpPr>
        <p:spPr>
          <a:xfrm>
            <a:off x="1300000" y="1567432"/>
            <a:ext cx="5900000" cy="2127568"/>
          </a:xfrm>
          <a:prstGeom prst="rect">
            <a:avLst/>
          </a:prstGeom>
          <a:noFill/>
        </p:spPr>
        <p:txBody>
          <a:bodyPr wrap="square" anchor="ctr">
            <a:spAutoFit/>
          </a:bodyPr>
          <a:lstStyle/>
          <a:p>
            <a:r>
              <a:rPr sz="1400" b="0">
                <a:solidFill>
                  <a:srgbClr val="E8EEFA"/>
                </a:solidFill>
                <a:latin typeface="Segoe UI"/>
              </a:rPr>
              <a:t>Muhandislik amaliyotida quyidagi usullar guruhi ajralib turadi.</a:t>
            </a:r>
          </a:p>
        </p:txBody>
      </p:sp>
      <p:sp>
        <p:nvSpPr>
          <p:cNvPr id="29" name="Rounded Rectangle 28"/>
          <p:cNvSpPr/>
          <p:nvPr/>
        </p:nvSpPr>
        <p:spPr>
          <a:xfrm>
            <a:off x="550000" y="3845000"/>
            <a:ext cx="6750000" cy="220756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0000" y="3925000"/>
            <a:ext cx="50000" cy="2047568"/>
          </a:xfrm>
          <a:prstGeom prst="rect">
            <a:avLst/>
          </a:prstGeom>
          <a:solidFill>
            <a:srgbClr val="8B5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60000" y="4748784"/>
            <a:ext cx="400000" cy="400000"/>
          </a:xfrm>
          <a:prstGeom prst="ellipse">
            <a:avLst/>
          </a:prstGeom>
          <a:noFill/>
          <a:ln w="25400">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8B5CF6"/>
                </a:solidFill>
                <a:latin typeface="Segoe UI"/>
              </a:rPr>
              <a:t>02</a:t>
            </a:r>
          </a:p>
        </p:txBody>
      </p:sp>
      <p:sp>
        <p:nvSpPr>
          <p:cNvPr id="32" name="TextBox 31"/>
          <p:cNvSpPr txBox="1"/>
          <p:nvPr/>
        </p:nvSpPr>
        <p:spPr>
          <a:xfrm>
            <a:off x="1300000" y="3885000"/>
            <a:ext cx="5900000" cy="2127568"/>
          </a:xfrm>
          <a:prstGeom prst="rect">
            <a:avLst/>
          </a:prstGeom>
          <a:noFill/>
        </p:spPr>
        <p:txBody>
          <a:bodyPr wrap="square" anchor="ctr">
            <a:spAutoFit/>
          </a:bodyPr>
          <a:lstStyle/>
          <a:p>
            <a:r>
              <a:rPr sz="1500" b="1">
                <a:solidFill>
                  <a:srgbClr val="E8EEFA"/>
                </a:solidFill>
                <a:latin typeface="Segoe UI"/>
              </a:rPr>
              <a:t>Apparat darajasida: HBM (High Bandwidth Memory) — DRAM kristallarini vertikal stakalab, GPU bilan keng (1024+ bit) interfeys orqali ulash; H100'da HBM3, B200'da HBM3e ishlatiladi.</a:t>
            </a:r>
          </a:p>
          <a:p>
            <a:pPr>
              <a:spcBef>
                <a:spcPts val="400"/>
              </a:spcBef>
            </a:pPr>
            <a:r>
              <a:rPr sz="1400">
                <a:solidFill>
                  <a:srgbClr val="AEBBD9"/>
                </a:solidFill>
                <a:latin typeface="Segoe UI"/>
              </a:rPr>
              <a:t>Keng L2/L3 keshlar (AMD EPYC Genoa-X'da 1 GB gacha 3D V-Cache). NVLink — GPU'lar orasida PCIe'dan bir necha marta tezroq havola (H100'da 900 GB/s). CXL (Compute Express Link) — CPU xotirasini kengaytirish va keshni izchil ulashish uchun yangi standart.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7"/>
                                        </p:tgtEl>
                                        <p:attrNameLst>
                                          <p:attrName>style.visibility</p:attrName>
                                        </p:attrNameLst>
                                      </p:cBhvr>
                                      <p:to>
                                        <p:strVal val="visible"/>
                                      </p:to>
                                    </p:set>
                                    <p:animEffect transition="in" filter="fade">
                                      <p:cBhvr>
                                        <p:cTn id="6" dur="550"/>
                                        <p:tgtEl>
                                          <p:spTgt spid="17"/>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18"/>
                                        </p:tgtEl>
                                        <p:attrNameLst>
                                          <p:attrName>style.visibility</p:attrName>
                                        </p:attrNameLst>
                                      </p:cBhvr>
                                      <p:to>
                                        <p:strVal val="visible"/>
                                      </p:to>
                                    </p:set>
                                    <p:animEffect transition="in" filter="wipe(left)">
                                      <p:cBhvr>
                                        <p:cTn id="11" dur="800"/>
                                        <p:tgtEl>
                                          <p:spTgt spid="18"/>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fade">
                                      <p:cBhvr>
                                        <p:cTn id="15" dur="550"/>
                                        <p:tgtEl>
                                          <p:spTgt spid="21"/>
                                        </p:tgtEl>
                                      </p:cBhvr>
                                    </p:animEffect>
                                    <p:anim calcmode="lin" valueType="num">
                                      <p:cBhvr additive="base">
                                        <p:cTn id="16" dur="550" fill="hold"/>
                                        <p:tgtEl>
                                          <p:spTgt spid="21"/>
                                        </p:tgtEl>
                                        <p:attrNameLst>
                                          <p:attrName>ppt_w</p:attrName>
                                        </p:attrNameLst>
                                      </p:cBhvr>
                                      <p:tavLst>
                                        <p:tav tm="0">
                                          <p:val>
                                            <p:strVal val="0"/>
                                          </p:val>
                                        </p:tav>
                                        <p:tav tm="100000">
                                          <p:val>
                                            <p:strVal val="#ppt_w"/>
                                          </p:val>
                                        </p:tav>
                                      </p:tavLst>
                                    </p:anim>
                                    <p:anim calcmode="lin" valueType="num">
                                      <p:cBhvr additive="base">
                                        <p:cTn id="17" dur="550" fill="hold"/>
                                        <p:tgtEl>
                                          <p:spTgt spid="21"/>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2"/>
                                        </p:tgtEl>
                                        <p:attrNameLst>
                                          <p:attrName>style.visibility</p:attrName>
                                        </p:attrNameLst>
                                      </p:cBhvr>
                                      <p:to>
                                        <p:strVal val="visible"/>
                                      </p:to>
                                    </p:set>
                                    <p:animEffect transition="in" filter="fade">
                                      <p:cBhvr>
                                        <p:cTn id="21" dur="550"/>
                                        <p:tgtEl>
                                          <p:spTgt spid="22"/>
                                        </p:tgtEl>
                                      </p:cBhvr>
                                    </p:animEffect>
                                    <p:anim calcmode="lin" valueType="num">
                                      <p:cBhvr additive="base">
                                        <p:cTn id="22" dur="550" fill="hold"/>
                                        <p:tgtEl>
                                          <p:spTgt spid="22"/>
                                        </p:tgtEl>
                                        <p:attrNameLst>
                                          <p:attrName>ppt_w</p:attrName>
                                        </p:attrNameLst>
                                      </p:cBhvr>
                                      <p:tavLst>
                                        <p:tav tm="0">
                                          <p:val>
                                            <p:strVal val="0"/>
                                          </p:val>
                                        </p:tav>
                                        <p:tav tm="100000">
                                          <p:val>
                                            <p:strVal val="#ppt_w"/>
                                          </p:val>
                                        </p:tav>
                                      </p:tavLst>
                                    </p:anim>
                                    <p:anim calcmode="lin" valueType="num">
                                      <p:cBhvr additive="base">
                                        <p:cTn id="23" dur="550" fill="hold"/>
                                        <p:tgtEl>
                                          <p:spTgt spid="22"/>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fade">
                                      <p:cBhvr>
                                        <p:cTn id="27" dur="550"/>
                                        <p:tgtEl>
                                          <p:spTgt spid="24"/>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550"/>
                                        <p:tgtEl>
                                          <p:spTgt spid="23"/>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fade">
                                      <p:cBhvr>
                                        <p:cTn id="35" dur="550"/>
                                        <p:tgtEl>
                                          <p:spTgt spid="25"/>
                                        </p:tgtEl>
                                      </p:cBhvr>
                                    </p:animEffect>
                                    <p:anim calcmode="lin" valueType="num">
                                      <p:cBhvr additive="base">
                                        <p:cTn id="36" dur="550" fill="hold"/>
                                        <p:tgtEl>
                                          <p:spTgt spid="25"/>
                                        </p:tgtEl>
                                        <p:attrNameLst>
                                          <p:attrName>ppt_x</p:attrName>
                                        </p:attrNameLst>
                                      </p:cBhvr>
                                      <p:tavLst>
                                        <p:tav tm="0">
                                          <p:val>
                                            <p:strVal val="#ppt_x"/>
                                          </p:val>
                                        </p:tav>
                                        <p:tav tm="100000">
                                          <p:val>
                                            <p:strVal val="#ppt_x"/>
                                          </p:val>
                                        </p:tav>
                                      </p:tavLst>
                                    </p:anim>
                                    <p:anim calcmode="lin" valueType="num">
                                      <p:cBhvr additive="base">
                                        <p:cTn id="37" dur="550" fill="hold"/>
                                        <p:tgtEl>
                                          <p:spTgt spid="25"/>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6"/>
                                        </p:tgtEl>
                                        <p:attrNameLst>
                                          <p:attrName>style.visibility</p:attrName>
                                        </p:attrNameLst>
                                      </p:cBhvr>
                                      <p:to>
                                        <p:strVal val="visible"/>
                                      </p:to>
                                    </p:set>
                                    <p:animEffect transition="in" filter="fade">
                                      <p:cBhvr>
                                        <p:cTn id="41" dur="550"/>
                                        <p:tgtEl>
                                          <p:spTgt spid="26"/>
                                        </p:tgtEl>
                                      </p:cBhvr>
                                    </p:animEffect>
                                    <p:anim calcmode="lin" valueType="num">
                                      <p:cBhvr additive="base">
                                        <p:cTn id="42" dur="550" fill="hold"/>
                                        <p:tgtEl>
                                          <p:spTgt spid="26"/>
                                        </p:tgtEl>
                                        <p:attrNameLst>
                                          <p:attrName>ppt_x</p:attrName>
                                        </p:attrNameLst>
                                      </p:cBhvr>
                                      <p:tavLst>
                                        <p:tav tm="0">
                                          <p:val>
                                            <p:strVal val="#ppt_x"/>
                                          </p:val>
                                        </p:tav>
                                        <p:tav tm="100000">
                                          <p:val>
                                            <p:strVal val="#ppt_x"/>
                                          </p:val>
                                        </p:tav>
                                      </p:tavLst>
                                    </p:anim>
                                    <p:anim calcmode="lin" valueType="num">
                                      <p:cBhvr additive="base">
                                        <p:cTn id="43" dur="550" fill="hold"/>
                                        <p:tgtEl>
                                          <p:spTgt spid="26"/>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fade">
                                      <p:cBhvr>
                                        <p:cTn id="47" dur="550"/>
                                        <p:tgtEl>
                                          <p:spTgt spid="27"/>
                                        </p:tgtEl>
                                      </p:cBhvr>
                                    </p:animEffect>
                                    <p:anim calcmode="lin" valueType="num">
                                      <p:cBhvr additive="base">
                                        <p:cTn id="48" dur="550" fill="hold"/>
                                        <p:tgtEl>
                                          <p:spTgt spid="27"/>
                                        </p:tgtEl>
                                        <p:attrNameLst>
                                          <p:attrName>ppt_w</p:attrName>
                                        </p:attrNameLst>
                                      </p:cBhvr>
                                      <p:tavLst>
                                        <p:tav tm="0">
                                          <p:val>
                                            <p:strVal val="0"/>
                                          </p:val>
                                        </p:tav>
                                        <p:tav tm="100000">
                                          <p:val>
                                            <p:strVal val="#ppt_w"/>
                                          </p:val>
                                        </p:tav>
                                      </p:tavLst>
                                    </p:anim>
                                    <p:anim calcmode="lin" valueType="num">
                                      <p:cBhvr additive="base">
                                        <p:cTn id="49" dur="550" fill="hold"/>
                                        <p:tgtEl>
                                          <p:spTgt spid="27"/>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fade">
                                      <p:cBhvr>
                                        <p:cTn id="53" dur="550"/>
                                        <p:tgtEl>
                                          <p:spTgt spid="28"/>
                                        </p:tgtEl>
                                      </p:cBhvr>
                                    </p:animEffect>
                                    <p:anim calcmode="lin" valueType="num">
                                      <p:cBhvr additive="base">
                                        <p:cTn id="54" dur="550" fill="hold"/>
                                        <p:tgtEl>
                                          <p:spTgt spid="28"/>
                                        </p:tgtEl>
                                        <p:attrNameLst>
                                          <p:attrName>ppt_x</p:attrName>
                                        </p:attrNameLst>
                                      </p:cBhvr>
                                      <p:tavLst>
                                        <p:tav tm="0">
                                          <p:val>
                                            <p:strVal val="#ppt_x"/>
                                          </p:val>
                                        </p:tav>
                                        <p:tav tm="100000">
                                          <p:val>
                                            <p:strVal val="#ppt_x"/>
                                          </p:val>
                                        </p:tav>
                                      </p:tavLst>
                                    </p:anim>
                                    <p:anim calcmode="lin" valueType="num">
                                      <p:cBhvr additive="base">
                                        <p:cTn id="55" dur="550" fill="hold"/>
                                        <p:tgtEl>
                                          <p:spTgt spid="28"/>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29"/>
                                        </p:tgtEl>
                                        <p:attrNameLst>
                                          <p:attrName>style.visibility</p:attrName>
                                        </p:attrNameLst>
                                      </p:cBhvr>
                                      <p:to>
                                        <p:strVal val="visible"/>
                                      </p:to>
                                    </p:set>
                                    <p:animEffect transition="in" filter="fade">
                                      <p:cBhvr>
                                        <p:cTn id="59" dur="550"/>
                                        <p:tgtEl>
                                          <p:spTgt spid="29"/>
                                        </p:tgtEl>
                                      </p:cBhvr>
                                    </p:animEffect>
                                    <p:anim calcmode="lin" valueType="num">
                                      <p:cBhvr additive="base">
                                        <p:cTn id="60" dur="550" fill="hold"/>
                                        <p:tgtEl>
                                          <p:spTgt spid="29"/>
                                        </p:tgtEl>
                                        <p:attrNameLst>
                                          <p:attrName>ppt_x</p:attrName>
                                        </p:attrNameLst>
                                      </p:cBhvr>
                                      <p:tavLst>
                                        <p:tav tm="0">
                                          <p:val>
                                            <p:strVal val="#ppt_x"/>
                                          </p:val>
                                        </p:tav>
                                        <p:tav tm="100000">
                                          <p:val>
                                            <p:strVal val="#ppt_x"/>
                                          </p:val>
                                        </p:tav>
                                      </p:tavLst>
                                    </p:anim>
                                    <p:anim calcmode="lin" valueType="num">
                                      <p:cBhvr additive="base">
                                        <p:cTn id="61" dur="550" fill="hold"/>
                                        <p:tgtEl>
                                          <p:spTgt spid="29"/>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550"/>
                                        <p:tgtEl>
                                          <p:spTgt spid="30"/>
                                        </p:tgtEl>
                                      </p:cBhvr>
                                    </p:animEffect>
                                    <p:anim calcmode="lin" valueType="num">
                                      <p:cBhvr additive="base">
                                        <p:cTn id="66" dur="550" fill="hold"/>
                                        <p:tgtEl>
                                          <p:spTgt spid="30"/>
                                        </p:tgtEl>
                                        <p:attrNameLst>
                                          <p:attrName>ppt_x</p:attrName>
                                        </p:attrNameLst>
                                      </p:cBhvr>
                                      <p:tavLst>
                                        <p:tav tm="0">
                                          <p:val>
                                            <p:strVal val="#ppt_x"/>
                                          </p:val>
                                        </p:tav>
                                        <p:tav tm="100000">
                                          <p:val>
                                            <p:strVal val="#ppt_x"/>
                                          </p:val>
                                        </p:tav>
                                      </p:tavLst>
                                    </p:anim>
                                    <p:anim calcmode="lin" valueType="num">
                                      <p:cBhvr additive="base">
                                        <p:cTn id="67" dur="550" fill="hold"/>
                                        <p:tgtEl>
                                          <p:spTgt spid="30"/>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1"/>
                                        </p:tgtEl>
                                        <p:attrNameLst>
                                          <p:attrName>style.visibility</p:attrName>
                                        </p:attrNameLst>
                                      </p:cBhvr>
                                      <p:to>
                                        <p:strVal val="visible"/>
                                      </p:to>
                                    </p:set>
                                    <p:animEffect transition="in" filter="fade">
                                      <p:cBhvr>
                                        <p:cTn id="71" dur="550"/>
                                        <p:tgtEl>
                                          <p:spTgt spid="31"/>
                                        </p:tgtEl>
                                      </p:cBhvr>
                                    </p:animEffect>
                                    <p:anim calcmode="lin" valueType="num">
                                      <p:cBhvr additive="base">
                                        <p:cTn id="72" dur="550" fill="hold"/>
                                        <p:tgtEl>
                                          <p:spTgt spid="31"/>
                                        </p:tgtEl>
                                        <p:attrNameLst>
                                          <p:attrName>ppt_w</p:attrName>
                                        </p:attrNameLst>
                                      </p:cBhvr>
                                      <p:tavLst>
                                        <p:tav tm="0">
                                          <p:val>
                                            <p:strVal val="0"/>
                                          </p:val>
                                        </p:tav>
                                        <p:tav tm="100000">
                                          <p:val>
                                            <p:strVal val="#ppt_w"/>
                                          </p:val>
                                        </p:tav>
                                      </p:tavLst>
                                    </p:anim>
                                    <p:anim calcmode="lin" valueType="num">
                                      <p:cBhvr additive="base">
                                        <p:cTn id="73" dur="550" fill="hold"/>
                                        <p:tgtEl>
                                          <p:spTgt spid="31"/>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fade">
                                      <p:cBhvr>
                                        <p:cTn id="77" dur="550"/>
                                        <p:tgtEl>
                                          <p:spTgt spid="32"/>
                                        </p:tgtEl>
                                      </p:cBhvr>
                                    </p:animEffect>
                                    <p:anim calcmode="lin" valueType="num">
                                      <p:cBhvr additive="base">
                                        <p:cTn id="78" dur="550" fill="hold"/>
                                        <p:tgtEl>
                                          <p:spTgt spid="32"/>
                                        </p:tgtEl>
                                        <p:attrNameLst>
                                          <p:attrName>ppt_x</p:attrName>
                                        </p:attrNameLst>
                                      </p:cBhvr>
                                      <p:tavLst>
                                        <p:tav tm="0">
                                          <p:val>
                                            <p:strVal val="#ppt_x"/>
                                          </p:val>
                                        </p:tav>
                                        <p:tav tm="100000">
                                          <p:val>
                                            <p:strVal val="#ppt_x"/>
                                          </p:val>
                                        </p:tav>
                                      </p:tavLst>
                                    </p:anim>
                                    <p:anim calcmode="lin" valueType="num">
                                      <p:cBhvr additive="base">
                                        <p:cTn id="79" dur="550" fill="hold"/>
                                        <p:tgtEl>
                                          <p:spTgt spid="32"/>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1" grpId="0" animBg="1"/>
      <p:bldP spid="24" grpId="0" animBg="1"/>
      <p:bldP spid="23" grpId="0" animBg="1"/>
      <p:bldP spid="25" grpId="0" animBg="1"/>
      <p:bldP spid="26" grpId="0" animBg="1"/>
      <p:bldP spid="27" grpId="0" animBg="1"/>
      <p:bldP spid="28" grpId="0" animBg="1"/>
      <p:bldP spid="29" grpId="0" animBg="1"/>
      <p:bldP spid="30" grpId="0" animBg="1"/>
      <p:bldP spid="31" grpId="0" animBg="1"/>
      <p:bldP spid="32"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1035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1035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110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38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5-REJA</a:t>
            </a:r>
          </a:p>
        </p:txBody>
      </p:sp>
      <p:sp>
        <p:nvSpPr>
          <p:cNvPr id="22" name="TextBox 21"/>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Xotira o'tkazuvchanligini oshirish va ma'lumot almashinuvini kamaytirish usullari</a:t>
            </a:r>
          </a:p>
        </p:txBody>
      </p:sp>
      <p:sp>
        <p:nvSpPr>
          <p:cNvPr id="23" name="Rectangle 22"/>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5" name="Rounded Rectangle 24"/>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23</a:t>
            </a:r>
          </a:p>
        </p:txBody>
      </p:sp>
      <p:sp>
        <p:nvSpPr>
          <p:cNvPr id="26" name="Rounded Rectangle 25"/>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131e6480132f7464.jpg"/>
          <p:cNvPicPr>
            <a:picLocks noChangeAspect="1"/>
          </p:cNvPicPr>
          <p:nvPr/>
        </p:nvPicPr>
        <p:blipFill>
          <a:blip r:embed="rId2"/>
          <a:srcRect l="18285" r="18285"/>
          <a:stretch>
            <a:fillRect/>
          </a:stretch>
        </p:blipFill>
        <p:spPr>
          <a:xfrm>
            <a:off x="7620000" y="1430000"/>
            <a:ext cx="4050000" cy="4250000"/>
          </a:xfrm>
          <a:prstGeom prst="roundRect">
            <a:avLst/>
          </a:prstGeom>
          <a:ln w="19050">
            <a:solidFill>
              <a:srgbClr val="22D3EE"/>
            </a:solidFill>
          </a:ln>
        </p:spPr>
      </p:pic>
      <p:sp>
        <p:nvSpPr>
          <p:cNvPr id="28" name="TextBox 27"/>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Adam Greig from Cambridge, UK · Wikimedia Commons · CC BY-SA 2.0</a:t>
            </a:r>
          </a:p>
        </p:txBody>
      </p:sp>
      <p:sp>
        <p:nvSpPr>
          <p:cNvPr id="29" name="Rounded Rectangle 28"/>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30" name="Rounded Rectangle 29"/>
          <p:cNvSpPr/>
          <p:nvPr/>
        </p:nvSpPr>
        <p:spPr>
          <a:xfrm>
            <a:off x="550000" y="1443612"/>
            <a:ext cx="6750000" cy="229138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50000" y="1523612"/>
            <a:ext cx="50000" cy="2131388"/>
          </a:xfrm>
          <a:prstGeom prst="rect">
            <a:avLst/>
          </a:prstGeom>
          <a:solidFill>
            <a:srgbClr val="EC48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0000" y="2389306"/>
            <a:ext cx="400000" cy="400000"/>
          </a:xfrm>
          <a:prstGeom prst="ellipse">
            <a:avLst/>
          </a:prstGeom>
          <a:noFill/>
          <a:ln w="25400">
            <a:solidFill>
              <a:srgbClr val="EC48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EC4899"/>
                </a:solidFill>
                <a:latin typeface="Segoe UI"/>
              </a:rPr>
              <a:t>03</a:t>
            </a:r>
          </a:p>
        </p:txBody>
      </p:sp>
      <p:sp>
        <p:nvSpPr>
          <p:cNvPr id="33" name="TextBox 32"/>
          <p:cNvSpPr txBox="1"/>
          <p:nvPr/>
        </p:nvSpPr>
        <p:spPr>
          <a:xfrm>
            <a:off x="1300000" y="1483612"/>
            <a:ext cx="5900000" cy="2211388"/>
          </a:xfrm>
          <a:prstGeom prst="rect">
            <a:avLst/>
          </a:prstGeom>
          <a:noFill/>
        </p:spPr>
        <p:txBody>
          <a:bodyPr wrap="square" anchor="ctr">
            <a:spAutoFit/>
          </a:bodyPr>
          <a:lstStyle/>
          <a:p>
            <a:r>
              <a:rPr sz="1400" b="1">
                <a:solidFill>
                  <a:srgbClr val="E8EEFA"/>
                </a:solidFill>
                <a:latin typeface="Segoe UI"/>
              </a:rPr>
              <a:t>Algoritm darajasida: tiling (bloklash) — katta matritsani keshga sig'adigan bloklarga bo'lib, har bir blok ustida maksimal ishni bajarish; bu GEMM kutubxonalarining (cuBLAS, oneDNN) asosiy tamoyili.</a:t>
            </a:r>
          </a:p>
          <a:p>
            <a:pPr>
              <a:spcBef>
                <a:spcPts val="400"/>
              </a:spcBef>
            </a:pPr>
            <a:r>
              <a:rPr sz="1300">
                <a:solidFill>
                  <a:srgbClr val="AEBBD9"/>
                </a:solidFill>
                <a:latin typeface="Segoe UI"/>
              </a:rPr>
              <a:t>Operator fusion — ketma-ket kelgan xotira bilan chegaralangan operatsiyalarni (masalan, matritsa ko'paytmasi + bias + GELU) bitta kernelga birlashtirish, shunda oraliq natija HBM'ga yozilmaydi va qayta o'qilmaydi; torch.compile va TensorRT aynan shu ishni avtomatlashtiradi.</a:t>
            </a:r>
          </a:p>
        </p:txBody>
      </p:sp>
      <p:sp>
        <p:nvSpPr>
          <p:cNvPr id="34" name="Rounded Rectangle 33"/>
          <p:cNvSpPr/>
          <p:nvPr/>
        </p:nvSpPr>
        <p:spPr>
          <a:xfrm>
            <a:off x="550000" y="3845000"/>
            <a:ext cx="6750000" cy="2291388"/>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50000" y="3925000"/>
            <a:ext cx="50000" cy="213138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0000" y="4790694"/>
            <a:ext cx="400000" cy="400000"/>
          </a:xfrm>
          <a:prstGeom prst="ellipse">
            <a:avLst/>
          </a:prstGeom>
          <a:noFill/>
          <a:ln w="254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34D399"/>
                </a:solidFill>
                <a:latin typeface="Segoe UI"/>
              </a:rPr>
              <a:t>04</a:t>
            </a:r>
          </a:p>
        </p:txBody>
      </p:sp>
      <p:sp>
        <p:nvSpPr>
          <p:cNvPr id="37" name="TextBox 36"/>
          <p:cNvSpPr txBox="1"/>
          <p:nvPr/>
        </p:nvSpPr>
        <p:spPr>
          <a:xfrm>
            <a:off x="1300000" y="3885000"/>
            <a:ext cx="5900000" cy="2211388"/>
          </a:xfrm>
          <a:prstGeom prst="rect">
            <a:avLst/>
          </a:prstGeom>
          <a:noFill/>
        </p:spPr>
        <p:txBody>
          <a:bodyPr wrap="square" anchor="ctr">
            <a:spAutoFit/>
          </a:bodyPr>
          <a:lstStyle/>
          <a:p>
            <a:r>
              <a:rPr sz="1300" b="0">
                <a:solidFill>
                  <a:srgbClr val="E8EEFA"/>
                </a:solidFill>
                <a:latin typeface="Segoe UI"/>
              </a:rPr>
              <a:t>Tizim darajasida: pinned (sahifalanmaydigan, page-locked) xotira — cudaHostAlloc yoki PyTorch'da pin_memory=True — CPU→GPU nusxalashni DMA orqali to'g'ridan-to'g'ri va asinxron bajarish imkonini beradi; dataloader'da num_workers va prefetch_factor orqali…</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0"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22"/>
                                        </p:tgtEl>
                                        <p:attrNameLst>
                                          <p:attrName>style.visibility</p:attrName>
                                        </p:attrNameLst>
                                      </p:cBhvr>
                                      <p:to>
                                        <p:strVal val="visible"/>
                                      </p:to>
                                    </p:set>
                                    <p:animEffect transition="in" filter="fade">
                                      <p:cBhvr>
                                        <p:cTn id="6" dur="550"/>
                                        <p:tgtEl>
                                          <p:spTgt spid="22"/>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3"/>
                                        </p:tgtEl>
                                        <p:attrNameLst>
                                          <p:attrName>style.visibility</p:attrName>
                                        </p:attrNameLst>
                                      </p:cBhvr>
                                      <p:to>
                                        <p:strVal val="visible"/>
                                      </p:to>
                                    </p:set>
                                    <p:animEffect transition="in" filter="wipe(left)">
                                      <p:cBhvr>
                                        <p:cTn id="11" dur="800"/>
                                        <p:tgtEl>
                                          <p:spTgt spid="23"/>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550"/>
                                        <p:tgtEl>
                                          <p:spTgt spid="26"/>
                                        </p:tgtEl>
                                      </p:cBhvr>
                                    </p:animEffect>
                                    <p:anim calcmode="lin" valueType="num">
                                      <p:cBhvr additive="base">
                                        <p:cTn id="16" dur="550" fill="hold"/>
                                        <p:tgtEl>
                                          <p:spTgt spid="26"/>
                                        </p:tgtEl>
                                        <p:attrNameLst>
                                          <p:attrName>ppt_w</p:attrName>
                                        </p:attrNameLst>
                                      </p:cBhvr>
                                      <p:tavLst>
                                        <p:tav tm="0">
                                          <p:val>
                                            <p:strVal val="0"/>
                                          </p:val>
                                        </p:tav>
                                        <p:tav tm="100000">
                                          <p:val>
                                            <p:strVal val="#ppt_w"/>
                                          </p:val>
                                        </p:tav>
                                      </p:tavLst>
                                    </p:anim>
                                    <p:anim calcmode="lin" valueType="num">
                                      <p:cBhvr additive="base">
                                        <p:cTn id="17" dur="550" fill="hold"/>
                                        <p:tgtEl>
                                          <p:spTgt spid="26"/>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7"/>
                                        </p:tgtEl>
                                        <p:attrNameLst>
                                          <p:attrName>style.visibility</p:attrName>
                                        </p:attrNameLst>
                                      </p:cBhvr>
                                      <p:to>
                                        <p:strVal val="visible"/>
                                      </p:to>
                                    </p:set>
                                    <p:animEffect transition="in" filter="fade">
                                      <p:cBhvr>
                                        <p:cTn id="21" dur="550"/>
                                        <p:tgtEl>
                                          <p:spTgt spid="27"/>
                                        </p:tgtEl>
                                      </p:cBhvr>
                                    </p:animEffect>
                                    <p:anim calcmode="lin" valueType="num">
                                      <p:cBhvr additive="base">
                                        <p:cTn id="22" dur="550" fill="hold"/>
                                        <p:tgtEl>
                                          <p:spTgt spid="27"/>
                                        </p:tgtEl>
                                        <p:attrNameLst>
                                          <p:attrName>ppt_w</p:attrName>
                                        </p:attrNameLst>
                                      </p:cBhvr>
                                      <p:tavLst>
                                        <p:tav tm="0">
                                          <p:val>
                                            <p:strVal val="0"/>
                                          </p:val>
                                        </p:tav>
                                        <p:tav tm="100000">
                                          <p:val>
                                            <p:strVal val="#ppt_w"/>
                                          </p:val>
                                        </p:tav>
                                      </p:tavLst>
                                    </p:anim>
                                    <p:anim calcmode="lin" valueType="num">
                                      <p:cBhvr additive="base">
                                        <p:cTn id="23" dur="550" fill="hold"/>
                                        <p:tgtEl>
                                          <p:spTgt spid="27"/>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fade">
                                      <p:cBhvr>
                                        <p:cTn id="27" dur="550"/>
                                        <p:tgtEl>
                                          <p:spTgt spid="29"/>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8"/>
                                        </p:tgtEl>
                                        <p:attrNameLst>
                                          <p:attrName>style.visibility</p:attrName>
                                        </p:attrNameLst>
                                      </p:cBhvr>
                                      <p:to>
                                        <p:strVal val="visible"/>
                                      </p:to>
                                    </p:set>
                                    <p:animEffect transition="in" filter="fade">
                                      <p:cBhvr>
                                        <p:cTn id="31" dur="550"/>
                                        <p:tgtEl>
                                          <p:spTgt spid="28"/>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30"/>
                                        </p:tgtEl>
                                        <p:attrNameLst>
                                          <p:attrName>style.visibility</p:attrName>
                                        </p:attrNameLst>
                                      </p:cBhvr>
                                      <p:to>
                                        <p:strVal val="visible"/>
                                      </p:to>
                                    </p:set>
                                    <p:animEffect transition="in" filter="fade">
                                      <p:cBhvr>
                                        <p:cTn id="35" dur="550"/>
                                        <p:tgtEl>
                                          <p:spTgt spid="30"/>
                                        </p:tgtEl>
                                      </p:cBhvr>
                                    </p:animEffect>
                                    <p:anim calcmode="lin" valueType="num">
                                      <p:cBhvr additive="base">
                                        <p:cTn id="36" dur="550" fill="hold"/>
                                        <p:tgtEl>
                                          <p:spTgt spid="30"/>
                                        </p:tgtEl>
                                        <p:attrNameLst>
                                          <p:attrName>ppt_x</p:attrName>
                                        </p:attrNameLst>
                                      </p:cBhvr>
                                      <p:tavLst>
                                        <p:tav tm="0">
                                          <p:val>
                                            <p:strVal val="#ppt_x"/>
                                          </p:val>
                                        </p:tav>
                                        <p:tav tm="100000">
                                          <p:val>
                                            <p:strVal val="#ppt_x"/>
                                          </p:val>
                                        </p:tav>
                                      </p:tavLst>
                                    </p:anim>
                                    <p:anim calcmode="lin" valueType="num">
                                      <p:cBhvr additive="base">
                                        <p:cTn id="37" dur="550" fill="hold"/>
                                        <p:tgtEl>
                                          <p:spTgt spid="30"/>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50"/>
                                        <p:tgtEl>
                                          <p:spTgt spid="31"/>
                                        </p:tgtEl>
                                      </p:cBhvr>
                                    </p:animEffect>
                                    <p:anim calcmode="lin" valueType="num">
                                      <p:cBhvr additive="base">
                                        <p:cTn id="42" dur="550" fill="hold"/>
                                        <p:tgtEl>
                                          <p:spTgt spid="31"/>
                                        </p:tgtEl>
                                        <p:attrNameLst>
                                          <p:attrName>ppt_x</p:attrName>
                                        </p:attrNameLst>
                                      </p:cBhvr>
                                      <p:tavLst>
                                        <p:tav tm="0">
                                          <p:val>
                                            <p:strVal val="#ppt_x"/>
                                          </p:val>
                                        </p:tav>
                                        <p:tav tm="100000">
                                          <p:val>
                                            <p:strVal val="#ppt_x"/>
                                          </p:val>
                                        </p:tav>
                                      </p:tavLst>
                                    </p:anim>
                                    <p:anim calcmode="lin" valueType="num">
                                      <p:cBhvr additive="base">
                                        <p:cTn id="43" dur="550" fill="hold"/>
                                        <p:tgtEl>
                                          <p:spTgt spid="31"/>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32"/>
                                        </p:tgtEl>
                                        <p:attrNameLst>
                                          <p:attrName>style.visibility</p:attrName>
                                        </p:attrNameLst>
                                      </p:cBhvr>
                                      <p:to>
                                        <p:strVal val="visible"/>
                                      </p:to>
                                    </p:set>
                                    <p:animEffect transition="in" filter="fade">
                                      <p:cBhvr>
                                        <p:cTn id="47" dur="550"/>
                                        <p:tgtEl>
                                          <p:spTgt spid="32"/>
                                        </p:tgtEl>
                                      </p:cBhvr>
                                    </p:animEffect>
                                    <p:anim calcmode="lin" valueType="num">
                                      <p:cBhvr additive="base">
                                        <p:cTn id="48" dur="550" fill="hold"/>
                                        <p:tgtEl>
                                          <p:spTgt spid="32"/>
                                        </p:tgtEl>
                                        <p:attrNameLst>
                                          <p:attrName>ppt_w</p:attrName>
                                        </p:attrNameLst>
                                      </p:cBhvr>
                                      <p:tavLst>
                                        <p:tav tm="0">
                                          <p:val>
                                            <p:strVal val="0"/>
                                          </p:val>
                                        </p:tav>
                                        <p:tav tm="100000">
                                          <p:val>
                                            <p:strVal val="#ppt_w"/>
                                          </p:val>
                                        </p:tav>
                                      </p:tavLst>
                                    </p:anim>
                                    <p:anim calcmode="lin" valueType="num">
                                      <p:cBhvr additive="base">
                                        <p:cTn id="49" dur="550" fill="hold"/>
                                        <p:tgtEl>
                                          <p:spTgt spid="32"/>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3"/>
                                        </p:tgtEl>
                                        <p:attrNameLst>
                                          <p:attrName>style.visibility</p:attrName>
                                        </p:attrNameLst>
                                      </p:cBhvr>
                                      <p:to>
                                        <p:strVal val="visible"/>
                                      </p:to>
                                    </p:set>
                                    <p:animEffect transition="in" filter="fade">
                                      <p:cBhvr>
                                        <p:cTn id="53" dur="550"/>
                                        <p:tgtEl>
                                          <p:spTgt spid="33"/>
                                        </p:tgtEl>
                                      </p:cBhvr>
                                    </p:animEffect>
                                    <p:anim calcmode="lin" valueType="num">
                                      <p:cBhvr additive="base">
                                        <p:cTn id="54" dur="550" fill="hold"/>
                                        <p:tgtEl>
                                          <p:spTgt spid="33"/>
                                        </p:tgtEl>
                                        <p:attrNameLst>
                                          <p:attrName>ppt_x</p:attrName>
                                        </p:attrNameLst>
                                      </p:cBhvr>
                                      <p:tavLst>
                                        <p:tav tm="0">
                                          <p:val>
                                            <p:strVal val="#ppt_x"/>
                                          </p:val>
                                        </p:tav>
                                        <p:tav tm="100000">
                                          <p:val>
                                            <p:strVal val="#ppt_x"/>
                                          </p:val>
                                        </p:tav>
                                      </p:tavLst>
                                    </p:anim>
                                    <p:anim calcmode="lin" valueType="num">
                                      <p:cBhvr additive="base">
                                        <p:cTn id="55" dur="550" fill="hold"/>
                                        <p:tgtEl>
                                          <p:spTgt spid="33"/>
                                        </p:tgtEl>
                                        <p:attrNameLst>
                                          <p:attrName>ppt_y</p:attrName>
                                        </p:attrNameLst>
                                      </p:cBhvr>
                                      <p:tavLst>
                                        <p:tav tm="0">
                                          <p:val>
                                            <p:strVal val="#ppt_y+.08"/>
                                          </p:val>
                                        </p:tav>
                                        <p:tav tm="100000">
                                          <p:val>
                                            <p:strVal val="#ppt_y"/>
                                          </p:val>
                                        </p:tav>
                                      </p:tavLst>
                                    </p:anim>
                                  </p:childTnLst>
                                </p:cTn>
                              </p:par>
                            </p:childTnLst>
                          </p:cTn>
                        </p:par>
                        <p:par>
                          <p:cTn id="56" fill="hold">
                            <p:stCondLst>
                              <p:cond delay="550"/>
                            </p:stCondLst>
                            <p:childTnLst>
                              <p:par>
                                <p:cTn id="57" presetID="42" presetClass="entr" presetSubtype="0" fill="hold" grpId="0" nodeType="afterEffect">
                                  <p:stCondLst>
                                    <p:cond delay="0"/>
                                  </p:stCondLst>
                                  <p:childTnLst>
                                    <p:set>
                                      <p:cBhvr>
                                        <p:cTn id="58" dur="1" fill="hold">
                                          <p:stCondLst>
                                            <p:cond delay="0"/>
                                          </p:stCondLst>
                                        </p:cTn>
                                        <p:tgtEl>
                                          <p:spTgt spid="34"/>
                                        </p:tgtEl>
                                        <p:attrNameLst>
                                          <p:attrName>style.visibility</p:attrName>
                                        </p:attrNameLst>
                                      </p:cBhvr>
                                      <p:to>
                                        <p:strVal val="visible"/>
                                      </p:to>
                                    </p:set>
                                    <p:animEffect transition="in" filter="fade">
                                      <p:cBhvr>
                                        <p:cTn id="59" dur="550"/>
                                        <p:tgtEl>
                                          <p:spTgt spid="34"/>
                                        </p:tgtEl>
                                      </p:cBhvr>
                                    </p:animEffect>
                                    <p:anim calcmode="lin" valueType="num">
                                      <p:cBhvr additive="base">
                                        <p:cTn id="60" dur="550" fill="hold"/>
                                        <p:tgtEl>
                                          <p:spTgt spid="34"/>
                                        </p:tgtEl>
                                        <p:attrNameLst>
                                          <p:attrName>ppt_x</p:attrName>
                                        </p:attrNameLst>
                                      </p:cBhvr>
                                      <p:tavLst>
                                        <p:tav tm="0">
                                          <p:val>
                                            <p:strVal val="#ppt_x"/>
                                          </p:val>
                                        </p:tav>
                                        <p:tav tm="100000">
                                          <p:val>
                                            <p:strVal val="#ppt_x"/>
                                          </p:val>
                                        </p:tav>
                                      </p:tavLst>
                                    </p:anim>
                                    <p:anim calcmode="lin" valueType="num">
                                      <p:cBhvr additive="base">
                                        <p:cTn id="61" dur="550" fill="hold"/>
                                        <p:tgtEl>
                                          <p:spTgt spid="34"/>
                                        </p:tgtEl>
                                        <p:attrNameLst>
                                          <p:attrName>ppt_y</p:attrName>
                                        </p:attrNameLst>
                                      </p:cBhvr>
                                      <p:tavLst>
                                        <p:tav tm="0">
                                          <p:val>
                                            <p:strVal val="#ppt_y+.08"/>
                                          </p:val>
                                        </p:tav>
                                        <p:tav tm="100000">
                                          <p:val>
                                            <p:strVal val="#ppt_y"/>
                                          </p:val>
                                        </p:tav>
                                      </p:tavLst>
                                    </p:anim>
                                  </p:childTnLst>
                                </p:cTn>
                              </p:par>
                            </p:childTnLst>
                          </p:cTn>
                        </p:par>
                        <p:par>
                          <p:cTn id="62" fill="hold">
                            <p:stCondLst>
                              <p:cond delay="550"/>
                            </p:stCondLst>
                            <p:childTnLst>
                              <p:par>
                                <p:cTn id="63" presetID="42" presetClass="entr" presetSubtype="0" fill="hold" grpId="0" nodeType="afterEffect">
                                  <p:stCondLst>
                                    <p:cond delay="0"/>
                                  </p:stCondLst>
                                  <p:childTnLst>
                                    <p:set>
                                      <p:cBhvr>
                                        <p:cTn id="64" dur="1" fill="hold">
                                          <p:stCondLst>
                                            <p:cond delay="0"/>
                                          </p:stCondLst>
                                        </p:cTn>
                                        <p:tgtEl>
                                          <p:spTgt spid="35"/>
                                        </p:tgtEl>
                                        <p:attrNameLst>
                                          <p:attrName>style.visibility</p:attrName>
                                        </p:attrNameLst>
                                      </p:cBhvr>
                                      <p:to>
                                        <p:strVal val="visible"/>
                                      </p:to>
                                    </p:set>
                                    <p:animEffect transition="in" filter="fade">
                                      <p:cBhvr>
                                        <p:cTn id="65" dur="550"/>
                                        <p:tgtEl>
                                          <p:spTgt spid="35"/>
                                        </p:tgtEl>
                                      </p:cBhvr>
                                    </p:animEffect>
                                    <p:anim calcmode="lin" valueType="num">
                                      <p:cBhvr additive="base">
                                        <p:cTn id="66" dur="550" fill="hold"/>
                                        <p:tgtEl>
                                          <p:spTgt spid="35"/>
                                        </p:tgtEl>
                                        <p:attrNameLst>
                                          <p:attrName>ppt_x</p:attrName>
                                        </p:attrNameLst>
                                      </p:cBhvr>
                                      <p:tavLst>
                                        <p:tav tm="0">
                                          <p:val>
                                            <p:strVal val="#ppt_x"/>
                                          </p:val>
                                        </p:tav>
                                        <p:tav tm="100000">
                                          <p:val>
                                            <p:strVal val="#ppt_x"/>
                                          </p:val>
                                        </p:tav>
                                      </p:tavLst>
                                    </p:anim>
                                    <p:anim calcmode="lin" valueType="num">
                                      <p:cBhvr additive="base">
                                        <p:cTn id="67" dur="550" fill="hold"/>
                                        <p:tgtEl>
                                          <p:spTgt spid="35"/>
                                        </p:tgtEl>
                                        <p:attrNameLst>
                                          <p:attrName>ppt_y</p:attrName>
                                        </p:attrNameLst>
                                      </p:cBhvr>
                                      <p:tavLst>
                                        <p:tav tm="0">
                                          <p:val>
                                            <p:strVal val="#ppt_y+.08"/>
                                          </p:val>
                                        </p:tav>
                                        <p:tav tm="100000">
                                          <p:val>
                                            <p:strVal val="#ppt_y"/>
                                          </p:val>
                                        </p:tav>
                                      </p:tavLst>
                                    </p:anim>
                                  </p:childTnLst>
                                </p:cTn>
                              </p:par>
                            </p:childTnLst>
                          </p:cTn>
                        </p:par>
                        <p:par>
                          <p:cTn id="68" fill="hold">
                            <p:stCondLst>
                              <p:cond delay="550"/>
                            </p:stCondLst>
                            <p:childTnLst>
                              <p:par>
                                <p:cTn id="69" presetID="53" presetClass="entr" presetSubtype="16" fill="hold" grpId="0" nodeType="afterEffect">
                                  <p:stCondLst>
                                    <p:cond delay="0"/>
                                  </p:stCondLst>
                                  <p:childTnLst>
                                    <p:set>
                                      <p:cBhvr>
                                        <p:cTn id="70" dur="1" fill="hold">
                                          <p:stCondLst>
                                            <p:cond delay="0"/>
                                          </p:stCondLst>
                                        </p:cTn>
                                        <p:tgtEl>
                                          <p:spTgt spid="36"/>
                                        </p:tgtEl>
                                        <p:attrNameLst>
                                          <p:attrName>style.visibility</p:attrName>
                                        </p:attrNameLst>
                                      </p:cBhvr>
                                      <p:to>
                                        <p:strVal val="visible"/>
                                      </p:to>
                                    </p:set>
                                    <p:animEffect transition="in" filter="fade">
                                      <p:cBhvr>
                                        <p:cTn id="71" dur="550"/>
                                        <p:tgtEl>
                                          <p:spTgt spid="36"/>
                                        </p:tgtEl>
                                      </p:cBhvr>
                                    </p:animEffect>
                                    <p:anim calcmode="lin" valueType="num">
                                      <p:cBhvr additive="base">
                                        <p:cTn id="72" dur="550" fill="hold"/>
                                        <p:tgtEl>
                                          <p:spTgt spid="36"/>
                                        </p:tgtEl>
                                        <p:attrNameLst>
                                          <p:attrName>ppt_w</p:attrName>
                                        </p:attrNameLst>
                                      </p:cBhvr>
                                      <p:tavLst>
                                        <p:tav tm="0">
                                          <p:val>
                                            <p:strVal val="0"/>
                                          </p:val>
                                        </p:tav>
                                        <p:tav tm="100000">
                                          <p:val>
                                            <p:strVal val="#ppt_w"/>
                                          </p:val>
                                        </p:tav>
                                      </p:tavLst>
                                    </p:anim>
                                    <p:anim calcmode="lin" valueType="num">
                                      <p:cBhvr additive="base">
                                        <p:cTn id="73" dur="550" fill="hold"/>
                                        <p:tgtEl>
                                          <p:spTgt spid="36"/>
                                        </p:tgtEl>
                                        <p:attrNameLst>
                                          <p:attrName>ppt_h</p:attrName>
                                        </p:attrNameLst>
                                      </p:cBhvr>
                                      <p:tavLst>
                                        <p:tav tm="0">
                                          <p:val>
                                            <p:strVal val="0"/>
                                          </p:val>
                                        </p:tav>
                                        <p:tav tm="100000">
                                          <p:val>
                                            <p:strVal val="#ppt_h"/>
                                          </p:val>
                                        </p:tav>
                                      </p:tavLst>
                                    </p:anim>
                                  </p:childTnLst>
                                </p:cTn>
                              </p:par>
                            </p:childTnLst>
                          </p:cTn>
                        </p:par>
                        <p:par>
                          <p:cTn id="74" fill="hold">
                            <p:stCondLst>
                              <p:cond delay="550"/>
                            </p:stCondLst>
                            <p:childTnLst>
                              <p:par>
                                <p:cTn id="75" presetID="42" presetClass="entr" presetSubtype="0" fill="hold" grpId="0" nodeType="afterEffect">
                                  <p:stCondLst>
                                    <p:cond delay="0"/>
                                  </p:stCondLst>
                                  <p:childTnLst>
                                    <p:set>
                                      <p:cBhvr>
                                        <p:cTn id="76" dur="1" fill="hold">
                                          <p:stCondLst>
                                            <p:cond delay="0"/>
                                          </p:stCondLst>
                                        </p:cTn>
                                        <p:tgtEl>
                                          <p:spTgt spid="37"/>
                                        </p:tgtEl>
                                        <p:attrNameLst>
                                          <p:attrName>style.visibility</p:attrName>
                                        </p:attrNameLst>
                                      </p:cBhvr>
                                      <p:to>
                                        <p:strVal val="visible"/>
                                      </p:to>
                                    </p:set>
                                    <p:animEffect transition="in" filter="fade">
                                      <p:cBhvr>
                                        <p:cTn id="77" dur="550"/>
                                        <p:tgtEl>
                                          <p:spTgt spid="37"/>
                                        </p:tgtEl>
                                      </p:cBhvr>
                                    </p:animEffect>
                                    <p:anim calcmode="lin" valueType="num">
                                      <p:cBhvr additive="base">
                                        <p:cTn id="78" dur="550" fill="hold"/>
                                        <p:tgtEl>
                                          <p:spTgt spid="37"/>
                                        </p:tgtEl>
                                        <p:attrNameLst>
                                          <p:attrName>ppt_x</p:attrName>
                                        </p:attrNameLst>
                                      </p:cBhvr>
                                      <p:tavLst>
                                        <p:tav tm="0">
                                          <p:val>
                                            <p:strVal val="#ppt_x"/>
                                          </p:val>
                                        </p:tav>
                                        <p:tav tm="100000">
                                          <p:val>
                                            <p:strVal val="#ppt_x"/>
                                          </p:val>
                                        </p:tav>
                                      </p:tavLst>
                                    </p:anim>
                                    <p:anim calcmode="lin" valueType="num">
                                      <p:cBhvr additive="base">
                                        <p:cTn id="79" dur="550" fill="hold"/>
                                        <p:tgtEl>
                                          <p:spTgt spid="37"/>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6" grpId="0" animBg="1"/>
      <p:bldP spid="29" grpId="0" animBg="1"/>
      <p:bldP spid="28" grpId="0" animBg="1"/>
      <p:bldP spid="30" grpId="0" animBg="1"/>
      <p:bldP spid="31" grpId="0" animBg="1"/>
      <p:bldP spid="32" grpId="0" animBg="1"/>
      <p:bldP spid="33" grpId="0" animBg="1"/>
      <p:bldP spid="34" grpId="0" animBg="1"/>
      <p:bldP spid="35" grpId="0" animBg="1"/>
      <p:bldP spid="36" grpId="0" animBg="1"/>
      <p:bldP spid="37"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135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1035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V="1">
            <a:off x="10350000" y="305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V="1">
            <a:off x="1035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1035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1100000" y="305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1100000" y="530000"/>
            <a:ext cx="750000" cy="15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11100000" y="380000"/>
            <a:ext cx="750000" cy="3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11100000" y="680000"/>
            <a:ext cx="750000" cy="75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2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2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030000" y="23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30000" y="46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030000" y="685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780000" y="3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780000" y="61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0000" y="160000"/>
            <a:ext cx="9600000" cy="300000"/>
          </a:xfrm>
          <a:prstGeom prst="rect">
            <a:avLst/>
          </a:prstGeom>
          <a:noFill/>
        </p:spPr>
        <p:txBody>
          <a:bodyPr wrap="square" anchor="t" lIns="50800" rIns="50800">
            <a:spAutoFit/>
          </a:bodyPr>
          <a:lstStyle/>
          <a:p>
            <a:pPr algn="l"/>
            <a:r>
              <a:rPr sz="1100" b="1">
                <a:solidFill>
                  <a:srgbClr val="22D3EE"/>
                </a:solidFill>
                <a:latin typeface="Segoe UI"/>
              </a:rPr>
              <a:t>◆ 5-REJA</a:t>
            </a:r>
          </a:p>
        </p:txBody>
      </p:sp>
      <p:sp>
        <p:nvSpPr>
          <p:cNvPr id="19" name="TextBox 18"/>
          <p:cNvSpPr txBox="1"/>
          <p:nvPr/>
        </p:nvSpPr>
        <p:spPr>
          <a:xfrm>
            <a:off x="500000" y="400000"/>
            <a:ext cx="9800000" cy="650000"/>
          </a:xfrm>
          <a:prstGeom prst="rect">
            <a:avLst/>
          </a:prstGeom>
          <a:noFill/>
        </p:spPr>
        <p:txBody>
          <a:bodyPr wrap="square" anchor="ctr" lIns="50800" rIns="50800">
            <a:spAutoFit/>
          </a:bodyPr>
          <a:lstStyle/>
          <a:p>
            <a:pPr algn="l"/>
            <a:r>
              <a:rPr sz="2100" b="1">
                <a:solidFill>
                  <a:srgbClr val="E8EEFA"/>
                </a:solidFill>
                <a:latin typeface="Segoe UI"/>
              </a:rPr>
              <a:t>Xotira o'tkazuvchanligini oshirish va ma'lumot almashinuvini kamaytirish usullari</a:t>
            </a:r>
          </a:p>
        </p:txBody>
      </p:sp>
      <p:sp>
        <p:nvSpPr>
          <p:cNvPr id="20" name="Rectangle 19"/>
          <p:cNvSpPr/>
          <p:nvPr/>
        </p:nvSpPr>
        <p:spPr>
          <a:xfrm>
            <a:off x="560000" y="1080000"/>
            <a:ext cx="1700000" cy="45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0000" y="6450000"/>
            <a:ext cx="9500000" cy="280000"/>
          </a:xfrm>
          <a:prstGeom prst="rect">
            <a:avLst/>
          </a:prstGeom>
          <a:noFill/>
        </p:spPr>
        <p:txBody>
          <a:bodyPr wrap="square" anchor="t" lIns="50800" rIns="50800">
            <a:spAutoFit/>
          </a:bodyPr>
          <a:lstStyle/>
          <a:p>
            <a:pPr algn="l"/>
            <a:r>
              <a:rPr sz="900" b="0">
                <a:solidFill>
                  <a:srgbClr val="707EAA"/>
                </a:solidFill>
                <a:latin typeface="Segoe UI"/>
              </a:rPr>
              <a:t>M5 · Arxitektura va dizayn tamoyillari</a:t>
            </a:r>
          </a:p>
        </p:txBody>
      </p:sp>
      <p:sp>
        <p:nvSpPr>
          <p:cNvPr id="22" name="Rounded Rectangle 21"/>
          <p:cNvSpPr/>
          <p:nvPr/>
        </p:nvSpPr>
        <p:spPr>
          <a:xfrm>
            <a:off x="11000000" y="6430000"/>
            <a:ext cx="700000" cy="270000"/>
          </a:xfrm>
          <a:prstGeom prst="roundRect">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1000" b="1">
                <a:solidFill>
                  <a:srgbClr val="22D3EE"/>
                </a:solidFill>
                <a:latin typeface="Segoe UI"/>
              </a:rPr>
              <a:t>24</a:t>
            </a:r>
          </a:p>
        </p:txBody>
      </p:sp>
      <p:sp>
        <p:nvSpPr>
          <p:cNvPr id="23" name="Rounded Rectangle 22"/>
          <p:cNvSpPr/>
          <p:nvPr/>
        </p:nvSpPr>
        <p:spPr>
          <a:xfrm>
            <a:off x="7520000" y="1330000"/>
            <a:ext cx="4250000" cy="4650000"/>
          </a:xfrm>
          <a:prstGeom prst="roundRect">
            <a:avLst>
              <a:gd name="adj" fmla="val 5000"/>
            </a:avLst>
          </a:prstGeom>
          <a:noFill/>
          <a:ln w="15875">
            <a:solidFill>
              <a:srgbClr val="8B5CF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eb3731d874c22f7a.jpg"/>
          <p:cNvPicPr>
            <a:picLocks noChangeAspect="1"/>
          </p:cNvPicPr>
          <p:nvPr/>
        </p:nvPicPr>
        <p:blipFill>
          <a:blip r:embed="rId2"/>
          <a:srcRect l="14265" r="14265"/>
          <a:stretch>
            <a:fillRect/>
          </a:stretch>
        </p:blipFill>
        <p:spPr>
          <a:xfrm>
            <a:off x="7620000" y="1430000"/>
            <a:ext cx="4050000" cy="4250000"/>
          </a:xfrm>
          <a:prstGeom prst="roundRect">
            <a:avLst/>
          </a:prstGeom>
          <a:ln w="19050">
            <a:solidFill>
              <a:srgbClr val="22D3EE"/>
            </a:solidFill>
          </a:ln>
        </p:spPr>
      </p:pic>
      <p:sp>
        <p:nvSpPr>
          <p:cNvPr id="25" name="TextBox 24"/>
          <p:cNvSpPr txBox="1"/>
          <p:nvPr/>
        </p:nvSpPr>
        <p:spPr>
          <a:xfrm>
            <a:off x="7620000" y="5710000"/>
            <a:ext cx="4050000" cy="260000"/>
          </a:xfrm>
          <a:prstGeom prst="rect">
            <a:avLst/>
          </a:prstGeom>
          <a:noFill/>
        </p:spPr>
        <p:txBody>
          <a:bodyPr wrap="square" anchor="t" lIns="50800" rIns="50800">
            <a:spAutoFit/>
          </a:bodyPr>
          <a:lstStyle/>
          <a:p>
            <a:pPr algn="l"/>
            <a:r>
              <a:rPr sz="800" b="0">
                <a:solidFill>
                  <a:srgbClr val="707EAA"/>
                </a:solidFill>
                <a:latin typeface="Segoe UI"/>
              </a:rPr>
              <a:t>Rasm: Raimond Spekking · Wikimedia Commons · CC BY-SA 4.0</a:t>
            </a:r>
          </a:p>
        </p:txBody>
      </p:sp>
      <p:sp>
        <p:nvSpPr>
          <p:cNvPr id="26" name="Rounded Rectangle 25"/>
          <p:cNvSpPr/>
          <p:nvPr/>
        </p:nvSpPr>
        <p:spPr>
          <a:xfrm>
            <a:off x="7750000" y="1560000"/>
            <a:ext cx="1700000" cy="300000"/>
          </a:xfrm>
          <a:prstGeom prst="roundRect">
            <a:avLst/>
          </a:prstGeom>
          <a:solidFill>
            <a:srgbClr val="070B1A"/>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r>
              <a:rPr sz="900" b="1">
                <a:solidFill>
                  <a:srgbClr val="22D3EE"/>
                </a:solidFill>
                <a:latin typeface="Segoe UI"/>
              </a:rPr>
              <a:t>⚙ AMALIYOTDA</a:t>
            </a:r>
          </a:p>
        </p:txBody>
      </p:sp>
      <p:sp>
        <p:nvSpPr>
          <p:cNvPr id="27" name="Rounded Rectangle 26"/>
          <p:cNvSpPr/>
          <p:nvPr/>
        </p:nvSpPr>
        <p:spPr>
          <a:xfrm>
            <a:off x="550000" y="3222664"/>
            <a:ext cx="6750000" cy="1134672"/>
          </a:xfrm>
          <a:prstGeom prst="roundRect">
            <a:avLst>
              <a:gd name="adj" fmla="val 12000"/>
            </a:avLst>
          </a:prstGeom>
          <a:solidFill>
            <a:srgbClr val="121936"/>
          </a:solidFill>
          <a:ln w="12700">
            <a:solidFill>
              <a:srgbClr val="2A35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50000" y="3302664"/>
            <a:ext cx="50000" cy="974672"/>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000" y="3590000"/>
            <a:ext cx="400000" cy="400000"/>
          </a:xfrm>
          <a:prstGeom prst="ellipse">
            <a:avLst/>
          </a:prstGeom>
          <a:no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200" b="1">
                <a:solidFill>
                  <a:srgbClr val="F59E0B"/>
                </a:solidFill>
                <a:latin typeface="Segoe UI"/>
              </a:rPr>
              <a:t>05</a:t>
            </a:r>
          </a:p>
        </p:txBody>
      </p:sp>
      <p:sp>
        <p:nvSpPr>
          <p:cNvPr id="30" name="TextBox 29"/>
          <p:cNvSpPr txBox="1"/>
          <p:nvPr/>
        </p:nvSpPr>
        <p:spPr>
          <a:xfrm>
            <a:off x="1300000" y="3262664"/>
            <a:ext cx="5900000" cy="1054672"/>
          </a:xfrm>
          <a:prstGeom prst="rect">
            <a:avLst/>
          </a:prstGeom>
          <a:noFill/>
        </p:spPr>
        <p:txBody>
          <a:bodyPr wrap="square" anchor="ctr">
            <a:spAutoFit/>
          </a:bodyPr>
          <a:lstStyle/>
          <a:p>
            <a:r>
              <a:rPr sz="1600" b="0">
                <a:solidFill>
                  <a:srgbClr val="E8EEFA"/>
                </a:solidFill>
                <a:latin typeface="Segoe UI"/>
              </a:rPr>
              <a:t>Ushbu usullarning barchasini birlashtiruvchi tamoyil bitta: hisoblashni ma'lumot yoniga olib borish, ma'lumotni hisoblash yoniga emas.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56"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19"/>
                                        </p:tgtEl>
                                        <p:attrNameLst>
                                          <p:attrName>style.visibility</p:attrName>
                                        </p:attrNameLst>
                                      </p:cBhvr>
                                      <p:to>
                                        <p:strVal val="visible"/>
                                      </p:to>
                                    </p:set>
                                    <p:animEffect transition="in" filter="fade">
                                      <p:cBhvr>
                                        <p:cTn id="6" dur="550"/>
                                        <p:tgtEl>
                                          <p:spTgt spid="19"/>
                                        </p:tgtEl>
                                      </p:cBhvr>
                                    </p:animEffect>
                                  </p:childTnLst>
                                </p:cTn>
                              </p:par>
                            </p:childTnLst>
                          </p:cTn>
                        </p:par>
                        <p:par>
                          <p:cTn id="7" fill="hold">
                            <p:stCondLst>
                              <p:cond delay="0"/>
                            </p:stCondLst>
                            <p:childTnLst>
                              <p:par>
                                <p:cTn id="8" presetID="22" presetClass="entr" presetSubtype="8" fill="hold" grpId="0" nodeType="after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wipe(left)">
                                      <p:cBhvr>
                                        <p:cTn id="11" dur="800"/>
                                        <p:tgtEl>
                                          <p:spTgt spid="20"/>
                                        </p:tgtEl>
                                      </p:cBhvr>
                                    </p:animEffect>
                                  </p:childTnLst>
                                </p:cTn>
                              </p:par>
                            </p:childTnLst>
                          </p:cTn>
                        </p:par>
                        <p:par>
                          <p:cTn id="12" fill="hold">
                            <p:stCondLst>
                              <p:cond delay="150"/>
                            </p:stCondLst>
                            <p:childTnLst>
                              <p:par>
                                <p:cTn id="13" presetID="53" presetClass="entr" presetSubtype="16" fill="hold" grpId="0" nodeType="after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fade">
                                      <p:cBhvr>
                                        <p:cTn id="15" dur="550"/>
                                        <p:tgtEl>
                                          <p:spTgt spid="23"/>
                                        </p:tgtEl>
                                      </p:cBhvr>
                                    </p:animEffect>
                                    <p:anim calcmode="lin" valueType="num">
                                      <p:cBhvr additive="base">
                                        <p:cTn id="16" dur="550" fill="hold"/>
                                        <p:tgtEl>
                                          <p:spTgt spid="23"/>
                                        </p:tgtEl>
                                        <p:attrNameLst>
                                          <p:attrName>ppt_w</p:attrName>
                                        </p:attrNameLst>
                                      </p:cBhvr>
                                      <p:tavLst>
                                        <p:tav tm="0">
                                          <p:val>
                                            <p:strVal val="0"/>
                                          </p:val>
                                        </p:tav>
                                        <p:tav tm="100000">
                                          <p:val>
                                            <p:strVal val="#ppt_w"/>
                                          </p:val>
                                        </p:tav>
                                      </p:tavLst>
                                    </p:anim>
                                    <p:anim calcmode="lin" valueType="num">
                                      <p:cBhvr additive="base">
                                        <p:cTn id="17" dur="550" fill="hold"/>
                                        <p:tgtEl>
                                          <p:spTgt spid="23"/>
                                        </p:tgtEl>
                                        <p:attrNameLst>
                                          <p:attrName>ppt_h</p:attrName>
                                        </p:attrNameLst>
                                      </p:cBhvr>
                                      <p:tavLst>
                                        <p:tav tm="0">
                                          <p:val>
                                            <p:strVal val="0"/>
                                          </p:val>
                                        </p:tav>
                                        <p:tav tm="100000">
                                          <p:val>
                                            <p:strVal val="#ppt_h"/>
                                          </p:val>
                                        </p:tav>
                                      </p:tavLst>
                                    </p:anim>
                                  </p:childTnLst>
                                </p:cTn>
                              </p:par>
                            </p:childTnLst>
                          </p:cTn>
                        </p:par>
                        <p:par>
                          <p:cTn id="18" fill="hold">
                            <p:stCondLst>
                              <p:cond delay="150"/>
                            </p:stCondLst>
                            <p:childTnLst>
                              <p:par>
                                <p:cTn id="19" presetID="5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Effect transition="in" filter="fade">
                                      <p:cBhvr>
                                        <p:cTn id="21" dur="550"/>
                                        <p:tgtEl>
                                          <p:spTgt spid="24"/>
                                        </p:tgtEl>
                                      </p:cBhvr>
                                    </p:animEffect>
                                    <p:anim calcmode="lin" valueType="num">
                                      <p:cBhvr additive="base">
                                        <p:cTn id="22" dur="550" fill="hold"/>
                                        <p:tgtEl>
                                          <p:spTgt spid="24"/>
                                        </p:tgtEl>
                                        <p:attrNameLst>
                                          <p:attrName>ppt_w</p:attrName>
                                        </p:attrNameLst>
                                      </p:cBhvr>
                                      <p:tavLst>
                                        <p:tav tm="0">
                                          <p:val>
                                            <p:strVal val="0"/>
                                          </p:val>
                                        </p:tav>
                                        <p:tav tm="100000">
                                          <p:val>
                                            <p:strVal val="#ppt_w"/>
                                          </p:val>
                                        </p:tav>
                                      </p:tavLst>
                                    </p:anim>
                                    <p:anim calcmode="lin" valueType="num">
                                      <p:cBhvr additive="base">
                                        <p:cTn id="23" dur="550" fill="hold"/>
                                        <p:tgtEl>
                                          <p:spTgt spid="24"/>
                                        </p:tgtEl>
                                        <p:attrNameLst>
                                          <p:attrName>ppt_h</p:attrName>
                                        </p:attrNameLst>
                                      </p:cBhvr>
                                      <p:tavLst>
                                        <p:tav tm="0">
                                          <p:val>
                                            <p:strVal val="0"/>
                                          </p:val>
                                        </p:tav>
                                        <p:tav tm="100000">
                                          <p:val>
                                            <p:strVal val="#ppt_h"/>
                                          </p:val>
                                        </p:tav>
                                      </p:tavLst>
                                    </p:anim>
                                  </p:childTnLst>
                                </p:cTn>
                              </p:par>
                            </p:childTnLst>
                          </p:cTn>
                        </p:par>
                        <p:par>
                          <p:cTn id="24" fill="hold">
                            <p:stCondLst>
                              <p:cond delay="150"/>
                            </p:stCondLst>
                            <p:childTnLst>
                              <p:par>
                                <p:cTn id="25" presetID="10" presetClass="entr" presetSubtype="0" fill="hold" grpId="0" nodeType="afterEffect">
                                  <p:stCondLst>
                                    <p:cond delay="0"/>
                                  </p:stCondLst>
                                  <p:childTnLst>
                                    <p:set>
                                      <p:cBhvr>
                                        <p:cTn id="26" dur="1" fill="hold">
                                          <p:stCondLst>
                                            <p:cond delay="0"/>
                                          </p:stCondLst>
                                        </p:cTn>
                                        <p:tgtEl>
                                          <p:spTgt spid="26"/>
                                        </p:tgtEl>
                                        <p:attrNameLst>
                                          <p:attrName>style.visibility</p:attrName>
                                        </p:attrNameLst>
                                      </p:cBhvr>
                                      <p:to>
                                        <p:strVal val="visible"/>
                                      </p:to>
                                    </p:set>
                                    <p:animEffect transition="in" filter="fade">
                                      <p:cBhvr>
                                        <p:cTn id="27" dur="550"/>
                                        <p:tgtEl>
                                          <p:spTgt spid="26"/>
                                        </p:tgtEl>
                                      </p:cBhvr>
                                    </p:animEffect>
                                  </p:childTnLst>
                                </p:cTn>
                              </p:par>
                            </p:childTnLst>
                          </p:cTn>
                        </p:par>
                        <p:par>
                          <p:cTn id="28" fill="hold">
                            <p:stCondLst>
                              <p:cond delay="150"/>
                            </p:stCondLst>
                            <p:childTnLst>
                              <p:par>
                                <p:cTn id="29" presetID="10" presetClass="entr" presetSubtype="0" fill="hold" grpId="0" nodeType="afterEffect">
                                  <p:stCondLst>
                                    <p:cond delay="0"/>
                                  </p:stCondLst>
                                  <p:childTnLst>
                                    <p:set>
                                      <p:cBhvr>
                                        <p:cTn id="30" dur="1" fill="hold">
                                          <p:stCondLst>
                                            <p:cond delay="0"/>
                                          </p:stCondLst>
                                        </p:cTn>
                                        <p:tgtEl>
                                          <p:spTgt spid="25"/>
                                        </p:tgtEl>
                                        <p:attrNameLst>
                                          <p:attrName>style.visibility</p:attrName>
                                        </p:attrNameLst>
                                      </p:cBhvr>
                                      <p:to>
                                        <p:strVal val="visible"/>
                                      </p:to>
                                    </p:set>
                                    <p:animEffect transition="in" filter="fade">
                                      <p:cBhvr>
                                        <p:cTn id="31" dur="550"/>
                                        <p:tgtEl>
                                          <p:spTgt spid="25"/>
                                        </p:tgtEl>
                                      </p:cBhvr>
                                    </p:animEffect>
                                  </p:childTnLst>
                                </p:cTn>
                              </p:par>
                            </p:childTnLst>
                          </p:cTn>
                        </p:par>
                        <p:par>
                          <p:cTn id="32" fill="hold">
                            <p:stCondLst>
                              <p:cond delay="350"/>
                            </p:stCondLst>
                            <p:childTnLst>
                              <p:par>
                                <p:cTn id="33" presetID="42" presetClass="entr" presetSubtype="0" fill="hold" grpId="0" nodeType="afterEffect">
                                  <p:stCondLst>
                                    <p:cond delay="0"/>
                                  </p:stCondLst>
                                  <p:childTnLst>
                                    <p:set>
                                      <p:cBhvr>
                                        <p:cTn id="34" dur="1" fill="hold">
                                          <p:stCondLst>
                                            <p:cond delay="0"/>
                                          </p:stCondLst>
                                        </p:cTn>
                                        <p:tgtEl>
                                          <p:spTgt spid="27"/>
                                        </p:tgtEl>
                                        <p:attrNameLst>
                                          <p:attrName>style.visibility</p:attrName>
                                        </p:attrNameLst>
                                      </p:cBhvr>
                                      <p:to>
                                        <p:strVal val="visible"/>
                                      </p:to>
                                    </p:set>
                                    <p:animEffect transition="in" filter="fade">
                                      <p:cBhvr>
                                        <p:cTn id="35" dur="550"/>
                                        <p:tgtEl>
                                          <p:spTgt spid="27"/>
                                        </p:tgtEl>
                                      </p:cBhvr>
                                    </p:animEffect>
                                    <p:anim calcmode="lin" valueType="num">
                                      <p:cBhvr additive="base">
                                        <p:cTn id="36" dur="550" fill="hold"/>
                                        <p:tgtEl>
                                          <p:spTgt spid="27"/>
                                        </p:tgtEl>
                                        <p:attrNameLst>
                                          <p:attrName>ppt_x</p:attrName>
                                        </p:attrNameLst>
                                      </p:cBhvr>
                                      <p:tavLst>
                                        <p:tav tm="0">
                                          <p:val>
                                            <p:strVal val="#ppt_x"/>
                                          </p:val>
                                        </p:tav>
                                        <p:tav tm="100000">
                                          <p:val>
                                            <p:strVal val="#ppt_x"/>
                                          </p:val>
                                        </p:tav>
                                      </p:tavLst>
                                    </p:anim>
                                    <p:anim calcmode="lin" valueType="num">
                                      <p:cBhvr additive="base">
                                        <p:cTn id="37" dur="550" fill="hold"/>
                                        <p:tgtEl>
                                          <p:spTgt spid="27"/>
                                        </p:tgtEl>
                                        <p:attrNameLst>
                                          <p:attrName>ppt_y</p:attrName>
                                        </p:attrNameLst>
                                      </p:cBhvr>
                                      <p:tavLst>
                                        <p:tav tm="0">
                                          <p:val>
                                            <p:strVal val="#ppt_y+.08"/>
                                          </p:val>
                                        </p:tav>
                                        <p:tav tm="100000">
                                          <p:val>
                                            <p:strVal val="#ppt_y"/>
                                          </p:val>
                                        </p:tav>
                                      </p:tavLst>
                                    </p:anim>
                                  </p:childTnLst>
                                </p:cTn>
                              </p:par>
                            </p:childTnLst>
                          </p:cTn>
                        </p:par>
                        <p:par>
                          <p:cTn id="38" fill="hold">
                            <p:stCondLst>
                              <p:cond delay="350"/>
                            </p:stCondLst>
                            <p:childTnLst>
                              <p:par>
                                <p:cTn id="39" presetID="42" presetClass="entr" presetSubtype="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fade">
                                      <p:cBhvr>
                                        <p:cTn id="41" dur="550"/>
                                        <p:tgtEl>
                                          <p:spTgt spid="28"/>
                                        </p:tgtEl>
                                      </p:cBhvr>
                                    </p:animEffect>
                                    <p:anim calcmode="lin" valueType="num">
                                      <p:cBhvr additive="base">
                                        <p:cTn id="42" dur="550" fill="hold"/>
                                        <p:tgtEl>
                                          <p:spTgt spid="28"/>
                                        </p:tgtEl>
                                        <p:attrNameLst>
                                          <p:attrName>ppt_x</p:attrName>
                                        </p:attrNameLst>
                                      </p:cBhvr>
                                      <p:tavLst>
                                        <p:tav tm="0">
                                          <p:val>
                                            <p:strVal val="#ppt_x"/>
                                          </p:val>
                                        </p:tav>
                                        <p:tav tm="100000">
                                          <p:val>
                                            <p:strVal val="#ppt_x"/>
                                          </p:val>
                                        </p:tav>
                                      </p:tavLst>
                                    </p:anim>
                                    <p:anim calcmode="lin" valueType="num">
                                      <p:cBhvr additive="base">
                                        <p:cTn id="43" dur="550" fill="hold"/>
                                        <p:tgtEl>
                                          <p:spTgt spid="28"/>
                                        </p:tgtEl>
                                        <p:attrNameLst>
                                          <p:attrName>ppt_y</p:attrName>
                                        </p:attrNameLst>
                                      </p:cBhvr>
                                      <p:tavLst>
                                        <p:tav tm="0">
                                          <p:val>
                                            <p:strVal val="#ppt_y+.08"/>
                                          </p:val>
                                        </p:tav>
                                        <p:tav tm="100000">
                                          <p:val>
                                            <p:strVal val="#ppt_y"/>
                                          </p:val>
                                        </p:tav>
                                      </p:tavLst>
                                    </p:anim>
                                  </p:childTnLst>
                                </p:cTn>
                              </p:par>
                            </p:childTnLst>
                          </p:cTn>
                        </p:par>
                        <p:par>
                          <p:cTn id="44" fill="hold">
                            <p:stCondLst>
                              <p:cond delay="350"/>
                            </p:stCondLst>
                            <p:childTnLst>
                              <p:par>
                                <p:cTn id="45" presetID="53" presetClass="entr" presetSubtype="16" fill="hold" grpId="0" nodeType="afterEffect">
                                  <p:stCondLst>
                                    <p:cond delay="0"/>
                                  </p:stCondLst>
                                  <p:childTnLst>
                                    <p:set>
                                      <p:cBhvr>
                                        <p:cTn id="46" dur="1" fill="hold">
                                          <p:stCondLst>
                                            <p:cond delay="0"/>
                                          </p:stCondLst>
                                        </p:cTn>
                                        <p:tgtEl>
                                          <p:spTgt spid="29"/>
                                        </p:tgtEl>
                                        <p:attrNameLst>
                                          <p:attrName>style.visibility</p:attrName>
                                        </p:attrNameLst>
                                      </p:cBhvr>
                                      <p:to>
                                        <p:strVal val="visible"/>
                                      </p:to>
                                    </p:set>
                                    <p:animEffect transition="in" filter="fade">
                                      <p:cBhvr>
                                        <p:cTn id="47" dur="550"/>
                                        <p:tgtEl>
                                          <p:spTgt spid="29"/>
                                        </p:tgtEl>
                                      </p:cBhvr>
                                    </p:animEffect>
                                    <p:anim calcmode="lin" valueType="num">
                                      <p:cBhvr additive="base">
                                        <p:cTn id="48" dur="550" fill="hold"/>
                                        <p:tgtEl>
                                          <p:spTgt spid="29"/>
                                        </p:tgtEl>
                                        <p:attrNameLst>
                                          <p:attrName>ppt_w</p:attrName>
                                        </p:attrNameLst>
                                      </p:cBhvr>
                                      <p:tavLst>
                                        <p:tav tm="0">
                                          <p:val>
                                            <p:strVal val="0"/>
                                          </p:val>
                                        </p:tav>
                                        <p:tav tm="100000">
                                          <p:val>
                                            <p:strVal val="#ppt_w"/>
                                          </p:val>
                                        </p:tav>
                                      </p:tavLst>
                                    </p:anim>
                                    <p:anim calcmode="lin" valueType="num">
                                      <p:cBhvr additive="base">
                                        <p:cTn id="49" dur="550" fill="hold"/>
                                        <p:tgtEl>
                                          <p:spTgt spid="29"/>
                                        </p:tgtEl>
                                        <p:attrNameLst>
                                          <p:attrName>ppt_h</p:attrName>
                                        </p:attrNameLst>
                                      </p:cBhvr>
                                      <p:tavLst>
                                        <p:tav tm="0">
                                          <p:val>
                                            <p:strVal val="0"/>
                                          </p:val>
                                        </p:tav>
                                        <p:tav tm="100000">
                                          <p:val>
                                            <p:strVal val="#ppt_h"/>
                                          </p:val>
                                        </p:tav>
                                      </p:tavLst>
                                    </p:anim>
                                  </p:childTnLst>
                                </p:cTn>
                              </p:par>
                            </p:childTnLst>
                          </p:cTn>
                        </p:par>
                        <p:par>
                          <p:cTn id="50" fill="hold">
                            <p:stCondLst>
                              <p:cond delay="350"/>
                            </p:stCondLst>
                            <p:childTnLst>
                              <p:par>
                                <p:cTn id="51" presetID="42" presetClass="entr" presetSubtype="0" fill="hold" grpId="0" nodeType="afterEffect">
                                  <p:stCondLst>
                                    <p:cond delay="0"/>
                                  </p:stCondLst>
                                  <p:childTnLst>
                                    <p:set>
                                      <p:cBhvr>
                                        <p:cTn id="52" dur="1" fill="hold">
                                          <p:stCondLst>
                                            <p:cond delay="0"/>
                                          </p:stCondLst>
                                        </p:cTn>
                                        <p:tgtEl>
                                          <p:spTgt spid="30"/>
                                        </p:tgtEl>
                                        <p:attrNameLst>
                                          <p:attrName>style.visibility</p:attrName>
                                        </p:attrNameLst>
                                      </p:cBhvr>
                                      <p:to>
                                        <p:strVal val="visible"/>
                                      </p:to>
                                    </p:set>
                                    <p:animEffect transition="in" filter="fade">
                                      <p:cBhvr>
                                        <p:cTn id="53" dur="550"/>
                                        <p:tgtEl>
                                          <p:spTgt spid="30"/>
                                        </p:tgtEl>
                                      </p:cBhvr>
                                    </p:animEffect>
                                    <p:anim calcmode="lin" valueType="num">
                                      <p:cBhvr additive="base">
                                        <p:cTn id="54" dur="550" fill="hold"/>
                                        <p:tgtEl>
                                          <p:spTgt spid="30"/>
                                        </p:tgtEl>
                                        <p:attrNameLst>
                                          <p:attrName>ppt_x</p:attrName>
                                        </p:attrNameLst>
                                      </p:cBhvr>
                                      <p:tavLst>
                                        <p:tav tm="0">
                                          <p:val>
                                            <p:strVal val="#ppt_x"/>
                                          </p:val>
                                        </p:tav>
                                        <p:tav tm="100000">
                                          <p:val>
                                            <p:strVal val="#ppt_x"/>
                                          </p:val>
                                        </p:tav>
                                      </p:tavLst>
                                    </p:anim>
                                    <p:anim calcmode="lin" valueType="num">
                                      <p:cBhvr additive="base">
                                        <p:cTn id="55" dur="550" fill="hold"/>
                                        <p:tgtEl>
                                          <p:spTgt spid="30"/>
                                        </p:tgtEl>
                                        <p:attrNameLst>
                                          <p:attrName>ppt_y</p:attrName>
                                        </p:attrNameLst>
                                      </p:cBhvr>
                                      <p:tavLst>
                                        <p:tav tm="0">
                                          <p:val>
                                            <p:strVal val="#ppt_y+.08"/>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3" grpId="0" animBg="1"/>
      <p:bldP spid="26" grpId="0" animBg="1"/>
      <p:bldP spid="25" grpId="0" animBg="1"/>
      <p:bldP spid="27" grpId="0" animBg="1"/>
      <p:bldP spid="28" grpId="0" animBg="1"/>
      <p:bldP spid="29" grpId="0" animBg="1"/>
      <p:bldP spid="30"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gradFill rotWithShape="1">
            <a:gsLst>
              <a:gs pos="0">
                <a:srgbClr val="070B1A"/>
              </a:gs>
              <a:gs pos="100000">
                <a:srgbClr val="141C44"/>
              </a:gs>
            </a:gsLst>
            <a:lin scaled="0" ang="360000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 name="Connector 2"/>
          <p:cNvCxnSpPr/>
          <p:nvPr/>
        </p:nvCxnSpPr>
        <p:spPr>
          <a:xfrm flipV="1">
            <a:off x="800000" y="7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a:off x="800000" y="9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a:off x="800000" y="900000"/>
            <a:ext cx="2650000" cy="6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800000" y="900000"/>
            <a:ext cx="2650000" cy="9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V="1">
            <a:off x="800000" y="766666"/>
            <a:ext cx="2650000" cy="5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800000" y="1033333"/>
            <a:ext cx="2650000" cy="2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800000" y="1300000"/>
            <a:ext cx="2650000"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800000" y="1300000"/>
            <a:ext cx="2650000" cy="2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800000" y="1300000"/>
            <a:ext cx="2650000" cy="5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V="1">
            <a:off x="800000" y="13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800000" y="15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800000" y="17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3450000" y="728571"/>
            <a:ext cx="2650000" cy="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3450000" y="766666"/>
            <a:ext cx="2650000" cy="19047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450000" y="766666"/>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3450000" y="766666"/>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450000" y="766666"/>
            <a:ext cx="2650000" cy="11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3450000" y="957142"/>
            <a:ext cx="2650000" cy="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3450000" y="1033333"/>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3450000" y="1033333"/>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450000" y="1033333"/>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3450000" y="1033333"/>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V="1">
            <a:off x="3450000" y="728571"/>
            <a:ext cx="2650000" cy="57142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3450000" y="957142"/>
            <a:ext cx="2650000" cy="34285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V="1">
            <a:off x="3450000" y="1185714"/>
            <a:ext cx="2650000" cy="11428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3450000" y="1300000"/>
            <a:ext cx="2650000" cy="11428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450000" y="1300000"/>
            <a:ext cx="2650000" cy="34285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450000" y="1300000"/>
            <a:ext cx="2650000" cy="57142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3450000" y="728571"/>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V="1">
            <a:off x="3450000" y="957142"/>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3450000" y="1185714"/>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3450000" y="1414285"/>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450000" y="1566666"/>
            <a:ext cx="2650000" cy="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3450000" y="728571"/>
            <a:ext cx="2650000" cy="11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V="1">
            <a:off x="3450000" y="957142"/>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3450000" y="1185714"/>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450000" y="1642857"/>
            <a:ext cx="2650000" cy="19047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3450000" y="1833333"/>
            <a:ext cx="2650000" cy="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6100000" y="728571"/>
            <a:ext cx="2650000" cy="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6100000" y="728571"/>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6100000" y="728571"/>
            <a:ext cx="2650000" cy="57142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100000" y="728571"/>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100000" y="957142"/>
            <a:ext cx="2650000" cy="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00000" y="957142"/>
            <a:ext cx="2650000" cy="60952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6100000" y="957142"/>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6100000" y="766666"/>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6100000" y="1033333"/>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6100000" y="1185714"/>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6100000" y="766666"/>
            <a:ext cx="2650000" cy="647619"/>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V="1">
            <a:off x="6100000" y="1033333"/>
            <a:ext cx="2650000" cy="38095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6100000" y="1414285"/>
            <a:ext cx="2650000" cy="15238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6100000" y="1414285"/>
            <a:ext cx="2650000" cy="41904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V="1">
            <a:off x="6100000" y="766666"/>
            <a:ext cx="2650000" cy="8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V="1">
            <a:off x="6100000" y="1566666"/>
            <a:ext cx="2650000" cy="76191"/>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6100000" y="1033333"/>
            <a:ext cx="2650000" cy="8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V="1">
            <a:off x="6100000" y="1300000"/>
            <a:ext cx="2650000" cy="571428"/>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V="1">
            <a:off x="6100000" y="1566666"/>
            <a:ext cx="2650000" cy="304762"/>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V="1">
            <a:off x="6100000" y="1833333"/>
            <a:ext cx="2650000" cy="38095"/>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V="1">
            <a:off x="8750000" y="9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8750000" y="1033333"/>
            <a:ext cx="2650000" cy="2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a:off x="8750000" y="1033333"/>
            <a:ext cx="2650000" cy="666667"/>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V="1">
            <a:off x="8750000" y="9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a:off x="8750000" y="1300000"/>
            <a:ext cx="2650000" cy="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a:off x="8750000" y="1300000"/>
            <a:ext cx="2650000" cy="400000"/>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V="1">
            <a:off x="8750000" y="900000"/>
            <a:ext cx="2650000" cy="666666"/>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750000" y="1566666"/>
            <a:ext cx="2650000" cy="133334"/>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V="1">
            <a:off x="8750000" y="900000"/>
            <a:ext cx="2650000" cy="9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V="1">
            <a:off x="8750000" y="1300000"/>
            <a:ext cx="2650000" cy="5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V="1">
            <a:off x="8750000" y="1700000"/>
            <a:ext cx="2650000" cy="133333"/>
          </a:xfrm>
          <a:prstGeom prst="line">
            <a:avLst/>
          </a:prstGeom>
          <a:ln w="9525">
            <a:solidFill>
              <a:srgbClr val="263366"/>
            </a:solidFill>
          </a:ln>
        </p:spPr>
        <p:style>
          <a:lnRef idx="2">
            <a:schemeClr val="accent1"/>
          </a:lnRef>
          <a:fillRef idx="0">
            <a:schemeClr val="accent1"/>
          </a:fillRef>
          <a:effectRef idx="1">
            <a:schemeClr val="accent1"/>
          </a:effectRef>
          <a:fontRef idx="minor">
            <a:schemeClr val="tx1"/>
          </a:fontRef>
        </p:style>
      </p:cxnSp>
      <p:sp>
        <p:nvSpPr>
          <p:cNvPr id="72" name="Oval 71"/>
          <p:cNvSpPr/>
          <p:nvPr/>
        </p:nvSpPr>
        <p:spPr>
          <a:xfrm>
            <a:off x="730000" y="8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73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730000" y="16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3380000" y="6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3380000" y="9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338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3380000" y="14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3380000" y="1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6030000" y="658571"/>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6030000" y="887142"/>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6030000" y="1115714"/>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6030000" y="1344285"/>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6030000" y="1572857"/>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Oval 84"/>
          <p:cNvSpPr/>
          <p:nvPr/>
        </p:nvSpPr>
        <p:spPr>
          <a:xfrm>
            <a:off x="6030000" y="1801428"/>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Oval 85"/>
          <p:cNvSpPr/>
          <p:nvPr/>
        </p:nvSpPr>
        <p:spPr>
          <a:xfrm>
            <a:off x="8680000" y="6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8680000" y="9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868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8680000" y="1496666"/>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8680000" y="1763333"/>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11330000" y="8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11330000" y="12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11330000" y="1630000"/>
            <a:ext cx="140000" cy="140000"/>
          </a:xfrm>
          <a:prstGeom prst="ellipse">
            <a:avLst/>
          </a:prstGeom>
          <a:solidFill>
            <a:srgbClr val="3B4C8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700000" y="2500000"/>
            <a:ext cx="10800000" cy="1100000"/>
          </a:xfrm>
          <a:prstGeom prst="rect">
            <a:avLst/>
          </a:prstGeom>
          <a:noFill/>
        </p:spPr>
        <p:txBody>
          <a:bodyPr wrap="square" anchor="t" lIns="50800" rIns="50800">
            <a:spAutoFit/>
          </a:bodyPr>
          <a:lstStyle/>
          <a:p>
            <a:pPr algn="ctr"/>
            <a:r>
              <a:rPr sz="4400" b="1">
                <a:solidFill>
                  <a:srgbClr val="E8EEFA"/>
                </a:solidFill>
                <a:latin typeface="Segoe UI"/>
              </a:rPr>
              <a:t>E’tiboringiz uchun rahmat!</a:t>
            </a:r>
          </a:p>
        </p:txBody>
      </p:sp>
      <p:sp>
        <p:nvSpPr>
          <p:cNvPr id="95" name="Rectangle 94"/>
          <p:cNvSpPr/>
          <p:nvPr/>
        </p:nvSpPr>
        <p:spPr>
          <a:xfrm>
            <a:off x="4800000" y="3650000"/>
            <a:ext cx="2600000" cy="60000"/>
          </a:xfrm>
          <a:prstGeom prst="rect">
            <a:avLst/>
          </a:prstGeom>
          <a:gradFill rotWithShape="1">
            <a:gsLst>
              <a:gs pos="0">
                <a:srgbClr val="22D3EE"/>
              </a:gs>
              <a:gs pos="100000">
                <a:srgbClr val="8B5CF6"/>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700000" y="3850000"/>
            <a:ext cx="10800000" cy="500000"/>
          </a:xfrm>
          <a:prstGeom prst="rect">
            <a:avLst/>
          </a:prstGeom>
          <a:noFill/>
        </p:spPr>
        <p:txBody>
          <a:bodyPr wrap="square" anchor="t" lIns="50800" rIns="50800">
            <a:spAutoFit/>
          </a:bodyPr>
          <a:lstStyle/>
          <a:p>
            <a:pPr algn="ctr"/>
            <a:r>
              <a:rPr sz="2600" b="1">
                <a:solidFill>
                  <a:srgbClr val="22D3EE"/>
                </a:solidFill>
                <a:latin typeface="Segoe UI"/>
              </a:rPr>
              <a:t>Savollar?</a:t>
            </a:r>
          </a:p>
        </p:txBody>
      </p:sp>
      <p:sp>
        <p:nvSpPr>
          <p:cNvPr id="97" name="TextBox 96"/>
          <p:cNvSpPr txBox="1"/>
          <p:nvPr/>
        </p:nvSpPr>
        <p:spPr>
          <a:xfrm>
            <a:off x="1200000" y="4800000"/>
            <a:ext cx="9800000" cy="800000"/>
          </a:xfrm>
          <a:prstGeom prst="rect">
            <a:avLst/>
          </a:prstGeom>
          <a:noFill/>
        </p:spPr>
        <p:txBody>
          <a:bodyPr wrap="square" anchor="t" lIns="50800" rIns="50800">
            <a:spAutoFit/>
          </a:bodyPr>
          <a:lstStyle/>
          <a:p>
            <a:pPr algn="ctr"/>
            <a:r>
              <a:rPr sz="1400" b="0">
                <a:solidFill>
                  <a:srgbClr val="AEBBD9"/>
                </a:solidFill>
                <a:latin typeface="Segoe UI"/>
              </a:rPr>
              <a:t>Mavzu matni va materiallar: https://aiscan.airi.uz/ktm/#/c/mis2104/mavzu/M5</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88" fill="hold">
                      <p:stCondLst>
                        <p:cond delay="indefinite"/>
                        <p:cond evt="onBegin" delay="0">
                          <p:tn val="2"/>
                        </p:cond>
                      </p:stCondLst>
                      <p:childTnLst>
                        <p:par>
                          <p:cTn id="3" fill="hold">
                            <p:stCondLst>
                              <p:cond delay="0"/>
                            </p:stCondLst>
                            <p:childTnLst>
                              <p:par>
                                <p:cTn id="4" presetID="10" presetClass="entr" presetSubtype="0" fill="hold" grpId="0" nodeType="with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550"/>
                                        <p:tgtEl>
                                          <p:spTgt spid="3"/>
                                        </p:tgtEl>
                                      </p:cBhvr>
                                    </p:animEffect>
                                  </p:childTnLst>
                                </p:cTn>
                              </p:par>
                            </p:childTnLst>
                          </p:cTn>
                        </p:par>
                        <p:par>
                          <p:cTn id="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50"/>
                                        <p:tgtEl>
                                          <p:spTgt spid="4"/>
                                        </p:tgtEl>
                                      </p:cBhvr>
                                    </p:animEffect>
                                  </p:childTnLst>
                                </p:cTn>
                              </p:par>
                            </p:childTnLst>
                          </p:cTn>
                        </p:par>
                        <p:par>
                          <p:cTn id="11" fill="hold">
                            <p:stCondLst>
                              <p:cond delay="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550"/>
                                        <p:tgtEl>
                                          <p:spTgt spid="5"/>
                                        </p:tgtEl>
                                      </p:cBhvr>
                                    </p:animEffect>
                                  </p:childTnLst>
                                </p:cTn>
                              </p:par>
                            </p:childTnLst>
                          </p:cTn>
                        </p:par>
                        <p:par>
                          <p:cTn id="15" fill="hold">
                            <p:stCondLst>
                              <p:cond delay="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50"/>
                                        <p:tgtEl>
                                          <p:spTgt spid="6"/>
                                        </p:tgtEl>
                                      </p:cBhvr>
                                    </p:animEffect>
                                  </p:childTnLst>
                                </p:cTn>
                              </p:par>
                            </p:childTnLst>
                          </p:cTn>
                        </p:par>
                        <p:par>
                          <p:cTn id="19" fill="hold">
                            <p:stCondLst>
                              <p:cond delay="0"/>
                            </p:stCondLst>
                            <p:childTnLst>
                              <p:par>
                                <p:cTn id="20" presetID="10" presetClass="entr" presetSubtype="0" fill="hold" grpId="0" nodeType="after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50"/>
                                        <p:tgtEl>
                                          <p:spTgt spid="7"/>
                                        </p:tgtEl>
                                      </p:cBhvr>
                                    </p:animEffect>
                                  </p:childTnLst>
                                </p:cTn>
                              </p:par>
                            </p:childTnLst>
                          </p:cTn>
                        </p:par>
                        <p:par>
                          <p:cTn id="23" fill="hold">
                            <p:stCondLst>
                              <p:cond delay="0"/>
                            </p:stCondLst>
                            <p:childTnLst>
                              <p:par>
                                <p:cTn id="24" presetID="10" presetClass="entr" presetSubtype="0" fill="hold" grpId="0"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50"/>
                                        <p:tgtEl>
                                          <p:spTgt spid="8"/>
                                        </p:tgtEl>
                                      </p:cBhvr>
                                    </p:animEffect>
                                  </p:childTnLst>
                                </p:cTn>
                              </p:par>
                            </p:childTnLst>
                          </p:cTn>
                        </p:par>
                        <p:par>
                          <p:cTn id="27" fill="hold">
                            <p:stCondLst>
                              <p:cond delay="0"/>
                            </p:stCondLst>
                            <p:childTnLst>
                              <p:par>
                                <p:cTn id="28" presetID="10"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550"/>
                                        <p:tgtEl>
                                          <p:spTgt spid="9"/>
                                        </p:tgtEl>
                                      </p:cBhvr>
                                    </p:animEffect>
                                  </p:childTnLst>
                                </p:cTn>
                              </p:par>
                            </p:childTnLst>
                          </p:cTn>
                        </p:par>
                        <p:par>
                          <p:cTn id="31" fill="hold">
                            <p:stCondLst>
                              <p:cond delay="0"/>
                            </p:stCondLst>
                            <p:childTnLst>
                              <p:par>
                                <p:cTn id="32" presetID="10" presetClass="entr" presetSubtype="0"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fade">
                                      <p:cBhvr>
                                        <p:cTn id="34" dur="550"/>
                                        <p:tgtEl>
                                          <p:spTgt spid="10"/>
                                        </p:tgtEl>
                                      </p:cBhvr>
                                    </p:animEffect>
                                  </p:childTnLst>
                                </p:cTn>
                              </p:par>
                            </p:childTnLst>
                          </p:cTn>
                        </p:par>
                        <p:par>
                          <p:cTn id="35" fill="hold">
                            <p:stCondLst>
                              <p:cond delay="0"/>
                            </p:stCondLst>
                            <p:childTnLst>
                              <p:par>
                                <p:cTn id="36" presetID="10" presetClass="entr" presetSubtype="0"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550"/>
                                        <p:tgtEl>
                                          <p:spTgt spid="11"/>
                                        </p:tgtEl>
                                      </p:cBhvr>
                                    </p:animEffect>
                                  </p:childTnLst>
                                </p:cTn>
                              </p:par>
                            </p:childTnLst>
                          </p:cTn>
                        </p:par>
                        <p:par>
                          <p:cTn id="39" fill="hold">
                            <p:stCondLst>
                              <p:cond delay="0"/>
                            </p:stCondLst>
                            <p:childTnLst>
                              <p:par>
                                <p:cTn id="40" presetID="10" presetClass="entr" presetSubtype="0"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fade">
                                      <p:cBhvr>
                                        <p:cTn id="42" dur="550"/>
                                        <p:tgtEl>
                                          <p:spTgt spid="12"/>
                                        </p:tgtEl>
                                      </p:cBhvr>
                                    </p:animEffect>
                                  </p:childTnLst>
                                </p:cTn>
                              </p:par>
                            </p:childTnLst>
                          </p:cTn>
                        </p:par>
                        <p:par>
                          <p:cTn id="43" fill="hold">
                            <p:stCondLst>
                              <p:cond delay="0"/>
                            </p:stCondLst>
                            <p:childTnLst>
                              <p:par>
                                <p:cTn id="44" presetID="10" presetClass="entr" presetSubtype="0" fill="hold" grpId="0" nodeType="after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50"/>
                                        <p:tgtEl>
                                          <p:spTgt spid="13"/>
                                        </p:tgtEl>
                                      </p:cBhvr>
                                    </p:animEffect>
                                  </p:childTnLst>
                                </p:cTn>
                              </p:par>
                            </p:childTnLst>
                          </p:cTn>
                        </p:par>
                        <p:par>
                          <p:cTn id="47" fill="hold">
                            <p:stCondLst>
                              <p:cond delay="0"/>
                            </p:stCondLst>
                            <p:childTnLst>
                              <p:par>
                                <p:cTn id="48" presetID="10" presetClass="entr" presetSubtype="0" fill="hold" grpId="0" nodeType="after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50"/>
                                        <p:tgtEl>
                                          <p:spTgt spid="14"/>
                                        </p:tgtEl>
                                      </p:cBhvr>
                                    </p:animEffect>
                                  </p:childTnLst>
                                </p:cTn>
                              </p:par>
                            </p:childTnLst>
                          </p:cTn>
                        </p:par>
                        <p:par>
                          <p:cTn id="51" fill="hold">
                            <p:stCondLst>
                              <p:cond delay="0"/>
                            </p:stCondLst>
                            <p:childTnLst>
                              <p:par>
                                <p:cTn id="52" presetID="10" presetClass="entr" presetSubtype="0" fill="hold" grpId="0" nodeType="afterEffect">
                                  <p:stCondLst>
                                    <p:cond delay="0"/>
                                  </p:stCondLst>
                                  <p:childTnLst>
                                    <p:set>
                                      <p:cBhvr>
                                        <p:cTn id="53" dur="1" fill="hold">
                                          <p:stCondLst>
                                            <p:cond delay="0"/>
                                          </p:stCondLst>
                                        </p:cTn>
                                        <p:tgtEl>
                                          <p:spTgt spid="15"/>
                                        </p:tgtEl>
                                        <p:attrNameLst>
                                          <p:attrName>style.visibility</p:attrName>
                                        </p:attrNameLst>
                                      </p:cBhvr>
                                      <p:to>
                                        <p:strVal val="visible"/>
                                      </p:to>
                                    </p:set>
                                    <p:animEffect transition="in" filter="fade">
                                      <p:cBhvr>
                                        <p:cTn id="54" dur="550"/>
                                        <p:tgtEl>
                                          <p:spTgt spid="15"/>
                                        </p:tgtEl>
                                      </p:cBhvr>
                                    </p:animEffect>
                                  </p:childTnLst>
                                </p:cTn>
                              </p:par>
                            </p:childTnLst>
                          </p:cTn>
                        </p:par>
                        <p:par>
                          <p:cTn id="55" fill="hold">
                            <p:stCondLst>
                              <p:cond delay="0"/>
                            </p:stCondLst>
                            <p:childTnLst>
                              <p:par>
                                <p:cTn id="56" presetID="10" presetClass="entr" presetSubtype="0"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fade">
                                      <p:cBhvr>
                                        <p:cTn id="58" dur="550"/>
                                        <p:tgtEl>
                                          <p:spTgt spid="16"/>
                                        </p:tgtEl>
                                      </p:cBhvr>
                                    </p:animEffect>
                                  </p:childTnLst>
                                </p:cTn>
                              </p:par>
                            </p:childTnLst>
                          </p:cTn>
                        </p:par>
                        <p:par>
                          <p:cTn id="59" fill="hold">
                            <p:stCondLst>
                              <p:cond delay="0"/>
                            </p:stCondLst>
                            <p:childTnLst>
                              <p:par>
                                <p:cTn id="60" presetID="10" presetClass="entr" presetSubtype="0" fill="hold" grpId="0" nodeType="afterEffect">
                                  <p:stCondLst>
                                    <p:cond delay="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550"/>
                                        <p:tgtEl>
                                          <p:spTgt spid="17"/>
                                        </p:tgtEl>
                                      </p:cBhvr>
                                    </p:animEffect>
                                  </p:childTnLst>
                                </p:cTn>
                              </p:par>
                            </p:childTnLst>
                          </p:cTn>
                        </p:par>
                        <p:par>
                          <p:cTn id="63" fill="hold">
                            <p:stCondLst>
                              <p:cond delay="0"/>
                            </p:stCondLst>
                            <p:childTnLst>
                              <p:par>
                                <p:cTn id="64" presetID="10" presetClass="entr" presetSubtype="0" fill="hold" grpId="0" nodeType="afterEffect">
                                  <p:stCondLst>
                                    <p:cond delay="0"/>
                                  </p:stCondLst>
                                  <p:childTnLst>
                                    <p:set>
                                      <p:cBhvr>
                                        <p:cTn id="65" dur="1" fill="hold">
                                          <p:stCondLst>
                                            <p:cond delay="0"/>
                                          </p:stCondLst>
                                        </p:cTn>
                                        <p:tgtEl>
                                          <p:spTgt spid="18"/>
                                        </p:tgtEl>
                                        <p:attrNameLst>
                                          <p:attrName>style.visibility</p:attrName>
                                        </p:attrNameLst>
                                      </p:cBhvr>
                                      <p:to>
                                        <p:strVal val="visible"/>
                                      </p:to>
                                    </p:set>
                                    <p:animEffect transition="in" filter="fade">
                                      <p:cBhvr>
                                        <p:cTn id="66" dur="550"/>
                                        <p:tgtEl>
                                          <p:spTgt spid="18"/>
                                        </p:tgtEl>
                                      </p:cBhvr>
                                    </p:animEffect>
                                  </p:childTnLst>
                                </p:cTn>
                              </p:par>
                            </p:childTnLst>
                          </p:cTn>
                        </p:par>
                        <p:par>
                          <p:cTn id="67" fill="hold">
                            <p:stCondLst>
                              <p:cond delay="0"/>
                            </p:stCondLst>
                            <p:childTnLst>
                              <p:par>
                                <p:cTn id="68" presetID="10" presetClass="entr" presetSubtype="0" fill="hold" grpId="0" nodeType="afterEffect">
                                  <p:stCondLst>
                                    <p:cond delay="0"/>
                                  </p:stCondLst>
                                  <p:childTnLst>
                                    <p:set>
                                      <p:cBhvr>
                                        <p:cTn id="69" dur="1" fill="hold">
                                          <p:stCondLst>
                                            <p:cond delay="0"/>
                                          </p:stCondLst>
                                        </p:cTn>
                                        <p:tgtEl>
                                          <p:spTgt spid="19"/>
                                        </p:tgtEl>
                                        <p:attrNameLst>
                                          <p:attrName>style.visibility</p:attrName>
                                        </p:attrNameLst>
                                      </p:cBhvr>
                                      <p:to>
                                        <p:strVal val="visible"/>
                                      </p:to>
                                    </p:set>
                                    <p:animEffect transition="in" filter="fade">
                                      <p:cBhvr>
                                        <p:cTn id="70" dur="550"/>
                                        <p:tgtEl>
                                          <p:spTgt spid="19"/>
                                        </p:tgtEl>
                                      </p:cBhvr>
                                    </p:animEffect>
                                  </p:childTnLst>
                                </p:cTn>
                              </p:par>
                            </p:childTnLst>
                          </p:cTn>
                        </p:par>
                        <p:par>
                          <p:cTn id="71" fill="hold">
                            <p:stCondLst>
                              <p:cond delay="0"/>
                            </p:stCondLst>
                            <p:childTnLst>
                              <p:par>
                                <p:cTn id="72" presetID="10" presetClass="entr" presetSubtype="0" fill="hold" grpId="0" nodeType="afterEffect">
                                  <p:stCondLst>
                                    <p:cond delay="0"/>
                                  </p:stCondLst>
                                  <p:childTnLst>
                                    <p:set>
                                      <p:cBhvr>
                                        <p:cTn id="73" dur="1" fill="hold">
                                          <p:stCondLst>
                                            <p:cond delay="0"/>
                                          </p:stCondLst>
                                        </p:cTn>
                                        <p:tgtEl>
                                          <p:spTgt spid="20"/>
                                        </p:tgtEl>
                                        <p:attrNameLst>
                                          <p:attrName>style.visibility</p:attrName>
                                        </p:attrNameLst>
                                      </p:cBhvr>
                                      <p:to>
                                        <p:strVal val="visible"/>
                                      </p:to>
                                    </p:set>
                                    <p:animEffect transition="in" filter="fade">
                                      <p:cBhvr>
                                        <p:cTn id="74" dur="550"/>
                                        <p:tgtEl>
                                          <p:spTgt spid="20"/>
                                        </p:tgtEl>
                                      </p:cBhvr>
                                    </p:animEffect>
                                  </p:childTnLst>
                                </p:cTn>
                              </p:par>
                            </p:childTnLst>
                          </p:cTn>
                        </p:par>
                        <p:par>
                          <p:cTn id="75" fill="hold">
                            <p:stCondLst>
                              <p:cond delay="0"/>
                            </p:stCondLst>
                            <p:childTnLst>
                              <p:par>
                                <p:cTn id="76" presetID="10" presetClass="entr" presetSubtype="0" fill="hold" grpId="0" nodeType="after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fade">
                                      <p:cBhvr>
                                        <p:cTn id="78" dur="550"/>
                                        <p:tgtEl>
                                          <p:spTgt spid="21"/>
                                        </p:tgtEl>
                                      </p:cBhvr>
                                    </p:animEffect>
                                  </p:childTnLst>
                                </p:cTn>
                              </p:par>
                            </p:childTnLst>
                          </p:cTn>
                        </p:par>
                        <p:par>
                          <p:cTn id="79" fill="hold">
                            <p:stCondLst>
                              <p:cond delay="0"/>
                            </p:stCondLst>
                            <p:childTnLst>
                              <p:par>
                                <p:cTn id="80" presetID="10" presetClass="entr" presetSubtype="0" fill="hold" grpId="0" nodeType="afterEffect">
                                  <p:stCondLst>
                                    <p:cond delay="0"/>
                                  </p:stCondLst>
                                  <p:childTnLst>
                                    <p:set>
                                      <p:cBhvr>
                                        <p:cTn id="81" dur="1" fill="hold">
                                          <p:stCondLst>
                                            <p:cond delay="0"/>
                                          </p:stCondLst>
                                        </p:cTn>
                                        <p:tgtEl>
                                          <p:spTgt spid="22"/>
                                        </p:tgtEl>
                                        <p:attrNameLst>
                                          <p:attrName>style.visibility</p:attrName>
                                        </p:attrNameLst>
                                      </p:cBhvr>
                                      <p:to>
                                        <p:strVal val="visible"/>
                                      </p:to>
                                    </p:set>
                                    <p:animEffect transition="in" filter="fade">
                                      <p:cBhvr>
                                        <p:cTn id="82" dur="550"/>
                                        <p:tgtEl>
                                          <p:spTgt spid="22"/>
                                        </p:tgtEl>
                                      </p:cBhvr>
                                    </p:animEffect>
                                  </p:childTnLst>
                                </p:cTn>
                              </p:par>
                            </p:childTnLst>
                          </p:cTn>
                        </p:par>
                        <p:par>
                          <p:cTn id="83" fill="hold">
                            <p:stCondLst>
                              <p:cond delay="0"/>
                            </p:stCondLst>
                            <p:childTnLst>
                              <p:par>
                                <p:cTn id="84" presetID="10" presetClass="entr" presetSubtype="0" fill="hold" grpId="0" nodeType="after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fade">
                                      <p:cBhvr>
                                        <p:cTn id="86" dur="550"/>
                                        <p:tgtEl>
                                          <p:spTgt spid="23"/>
                                        </p:tgtEl>
                                      </p:cBhvr>
                                    </p:animEffect>
                                  </p:childTnLst>
                                </p:cTn>
                              </p:par>
                            </p:childTnLst>
                          </p:cTn>
                        </p:par>
                        <p:par>
                          <p:cTn id="87" fill="hold">
                            <p:stCondLst>
                              <p:cond delay="0"/>
                            </p:stCondLst>
                            <p:childTnLst>
                              <p:par>
                                <p:cTn id="88" presetID="10"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fade">
                                      <p:cBhvr>
                                        <p:cTn id="90" dur="550"/>
                                        <p:tgtEl>
                                          <p:spTgt spid="24"/>
                                        </p:tgtEl>
                                      </p:cBhvr>
                                    </p:animEffect>
                                  </p:childTnLst>
                                </p:cTn>
                              </p:par>
                            </p:childTnLst>
                          </p:cTn>
                        </p:par>
                        <p:par>
                          <p:cTn id="91" fill="hold">
                            <p:stCondLst>
                              <p:cond delay="0"/>
                            </p:stCondLst>
                            <p:childTnLst>
                              <p:par>
                                <p:cTn id="92" presetID="10" presetClass="entr" presetSubtype="0" fill="hold" grpId="0" nodeType="afterEffect">
                                  <p:stCondLst>
                                    <p:cond delay="0"/>
                                  </p:stCondLst>
                                  <p:childTnLst>
                                    <p:set>
                                      <p:cBhvr>
                                        <p:cTn id="93" dur="1" fill="hold">
                                          <p:stCondLst>
                                            <p:cond delay="0"/>
                                          </p:stCondLst>
                                        </p:cTn>
                                        <p:tgtEl>
                                          <p:spTgt spid="25"/>
                                        </p:tgtEl>
                                        <p:attrNameLst>
                                          <p:attrName>style.visibility</p:attrName>
                                        </p:attrNameLst>
                                      </p:cBhvr>
                                      <p:to>
                                        <p:strVal val="visible"/>
                                      </p:to>
                                    </p:set>
                                    <p:animEffect transition="in" filter="fade">
                                      <p:cBhvr>
                                        <p:cTn id="94" dur="550"/>
                                        <p:tgtEl>
                                          <p:spTgt spid="25"/>
                                        </p:tgtEl>
                                      </p:cBhvr>
                                    </p:animEffect>
                                  </p:childTnLst>
                                </p:cTn>
                              </p:par>
                            </p:childTnLst>
                          </p:cTn>
                        </p:par>
                        <p:par>
                          <p:cTn id="95" fill="hold">
                            <p:stCondLst>
                              <p:cond delay="0"/>
                            </p:stCondLst>
                            <p:childTnLst>
                              <p:par>
                                <p:cTn id="96" presetID="10" presetClass="entr" presetSubtype="0" fill="hold" grpId="0" nodeType="afterEffect">
                                  <p:stCondLst>
                                    <p:cond delay="0"/>
                                  </p:stCondLst>
                                  <p:childTnLst>
                                    <p:set>
                                      <p:cBhvr>
                                        <p:cTn id="97" dur="1" fill="hold">
                                          <p:stCondLst>
                                            <p:cond delay="0"/>
                                          </p:stCondLst>
                                        </p:cTn>
                                        <p:tgtEl>
                                          <p:spTgt spid="26"/>
                                        </p:tgtEl>
                                        <p:attrNameLst>
                                          <p:attrName>style.visibility</p:attrName>
                                        </p:attrNameLst>
                                      </p:cBhvr>
                                      <p:to>
                                        <p:strVal val="visible"/>
                                      </p:to>
                                    </p:set>
                                    <p:animEffect transition="in" filter="fade">
                                      <p:cBhvr>
                                        <p:cTn id="98" dur="550"/>
                                        <p:tgtEl>
                                          <p:spTgt spid="26"/>
                                        </p:tgtEl>
                                      </p:cBhvr>
                                    </p:animEffect>
                                  </p:childTnLst>
                                </p:cTn>
                              </p:par>
                            </p:childTnLst>
                          </p:cTn>
                        </p:par>
                        <p:par>
                          <p:cTn id="99" fill="hold">
                            <p:stCondLst>
                              <p:cond delay="0"/>
                            </p:stCondLst>
                            <p:childTnLst>
                              <p:par>
                                <p:cTn id="100" presetID="10" presetClass="entr" presetSubtype="0" fill="hold" grpId="0" nodeType="afterEffect">
                                  <p:stCondLst>
                                    <p:cond delay="0"/>
                                  </p:stCondLst>
                                  <p:childTnLst>
                                    <p:set>
                                      <p:cBhvr>
                                        <p:cTn id="101" dur="1" fill="hold">
                                          <p:stCondLst>
                                            <p:cond delay="0"/>
                                          </p:stCondLst>
                                        </p:cTn>
                                        <p:tgtEl>
                                          <p:spTgt spid="27"/>
                                        </p:tgtEl>
                                        <p:attrNameLst>
                                          <p:attrName>style.visibility</p:attrName>
                                        </p:attrNameLst>
                                      </p:cBhvr>
                                      <p:to>
                                        <p:strVal val="visible"/>
                                      </p:to>
                                    </p:set>
                                    <p:animEffect transition="in" filter="fade">
                                      <p:cBhvr>
                                        <p:cTn id="102" dur="550"/>
                                        <p:tgtEl>
                                          <p:spTgt spid="27"/>
                                        </p:tgtEl>
                                      </p:cBhvr>
                                    </p:animEffect>
                                  </p:childTnLst>
                                </p:cTn>
                              </p:par>
                            </p:childTnLst>
                          </p:cTn>
                        </p:par>
                        <p:par>
                          <p:cTn id="103" fill="hold">
                            <p:stCondLst>
                              <p:cond delay="0"/>
                            </p:stCondLst>
                            <p:childTnLst>
                              <p:par>
                                <p:cTn id="104" presetID="10" presetClass="entr" presetSubtype="0" fill="hold" grpId="0" nodeType="afterEffect">
                                  <p:stCondLst>
                                    <p:cond delay="0"/>
                                  </p:stCondLst>
                                  <p:childTnLst>
                                    <p:set>
                                      <p:cBhvr>
                                        <p:cTn id="105" dur="1" fill="hold">
                                          <p:stCondLst>
                                            <p:cond delay="0"/>
                                          </p:stCondLst>
                                        </p:cTn>
                                        <p:tgtEl>
                                          <p:spTgt spid="28"/>
                                        </p:tgtEl>
                                        <p:attrNameLst>
                                          <p:attrName>style.visibility</p:attrName>
                                        </p:attrNameLst>
                                      </p:cBhvr>
                                      <p:to>
                                        <p:strVal val="visible"/>
                                      </p:to>
                                    </p:set>
                                    <p:animEffect transition="in" filter="fade">
                                      <p:cBhvr>
                                        <p:cTn id="106" dur="550"/>
                                        <p:tgtEl>
                                          <p:spTgt spid="28"/>
                                        </p:tgtEl>
                                      </p:cBhvr>
                                    </p:animEffect>
                                  </p:childTnLst>
                                </p:cTn>
                              </p:par>
                            </p:childTnLst>
                          </p:cTn>
                        </p:par>
                        <p:par>
                          <p:cTn id="107" fill="hold">
                            <p:stCondLst>
                              <p:cond delay="0"/>
                            </p:stCondLst>
                            <p:childTnLst>
                              <p:par>
                                <p:cTn id="108" presetID="10" presetClass="entr" presetSubtype="0" fill="hold" grpId="0" nodeType="afterEffect">
                                  <p:stCondLst>
                                    <p:cond delay="0"/>
                                  </p:stCondLst>
                                  <p:childTnLst>
                                    <p:set>
                                      <p:cBhvr>
                                        <p:cTn id="109" dur="1" fill="hold">
                                          <p:stCondLst>
                                            <p:cond delay="0"/>
                                          </p:stCondLst>
                                        </p:cTn>
                                        <p:tgtEl>
                                          <p:spTgt spid="29"/>
                                        </p:tgtEl>
                                        <p:attrNameLst>
                                          <p:attrName>style.visibility</p:attrName>
                                        </p:attrNameLst>
                                      </p:cBhvr>
                                      <p:to>
                                        <p:strVal val="visible"/>
                                      </p:to>
                                    </p:set>
                                    <p:animEffect transition="in" filter="fade">
                                      <p:cBhvr>
                                        <p:cTn id="110" dur="550"/>
                                        <p:tgtEl>
                                          <p:spTgt spid="29"/>
                                        </p:tgtEl>
                                      </p:cBhvr>
                                    </p:animEffect>
                                  </p:childTnLst>
                                </p:cTn>
                              </p:par>
                            </p:childTnLst>
                          </p:cTn>
                        </p:par>
                        <p:par>
                          <p:cTn id="111" fill="hold">
                            <p:stCondLst>
                              <p:cond delay="0"/>
                            </p:stCondLst>
                            <p:childTnLst>
                              <p:par>
                                <p:cTn id="112" presetID="10" presetClass="entr" presetSubtype="0" fill="hold" grpId="0" nodeType="afterEffect">
                                  <p:stCondLst>
                                    <p:cond delay="0"/>
                                  </p:stCondLst>
                                  <p:childTnLst>
                                    <p:set>
                                      <p:cBhvr>
                                        <p:cTn id="113" dur="1" fill="hold">
                                          <p:stCondLst>
                                            <p:cond delay="0"/>
                                          </p:stCondLst>
                                        </p:cTn>
                                        <p:tgtEl>
                                          <p:spTgt spid="30"/>
                                        </p:tgtEl>
                                        <p:attrNameLst>
                                          <p:attrName>style.visibility</p:attrName>
                                        </p:attrNameLst>
                                      </p:cBhvr>
                                      <p:to>
                                        <p:strVal val="visible"/>
                                      </p:to>
                                    </p:set>
                                    <p:animEffect transition="in" filter="fade">
                                      <p:cBhvr>
                                        <p:cTn id="114" dur="550"/>
                                        <p:tgtEl>
                                          <p:spTgt spid="30"/>
                                        </p:tgtEl>
                                      </p:cBhvr>
                                    </p:animEffect>
                                  </p:childTnLst>
                                </p:cTn>
                              </p:par>
                            </p:childTnLst>
                          </p:cTn>
                        </p:par>
                        <p:par>
                          <p:cTn id="115" fill="hold">
                            <p:stCondLst>
                              <p:cond delay="0"/>
                            </p:stCondLst>
                            <p:childTnLst>
                              <p:par>
                                <p:cTn id="116" presetID="10" presetClass="entr" presetSubtype="0" fill="hold" grpId="0" nodeType="afterEffect">
                                  <p:stCondLst>
                                    <p:cond delay="0"/>
                                  </p:stCondLst>
                                  <p:childTnLst>
                                    <p:set>
                                      <p:cBhvr>
                                        <p:cTn id="117" dur="1" fill="hold">
                                          <p:stCondLst>
                                            <p:cond delay="0"/>
                                          </p:stCondLst>
                                        </p:cTn>
                                        <p:tgtEl>
                                          <p:spTgt spid="31"/>
                                        </p:tgtEl>
                                        <p:attrNameLst>
                                          <p:attrName>style.visibility</p:attrName>
                                        </p:attrNameLst>
                                      </p:cBhvr>
                                      <p:to>
                                        <p:strVal val="visible"/>
                                      </p:to>
                                    </p:set>
                                    <p:animEffect transition="in" filter="fade">
                                      <p:cBhvr>
                                        <p:cTn id="118" dur="550"/>
                                        <p:tgtEl>
                                          <p:spTgt spid="31"/>
                                        </p:tgtEl>
                                      </p:cBhvr>
                                    </p:animEffect>
                                  </p:childTnLst>
                                </p:cTn>
                              </p:par>
                            </p:childTnLst>
                          </p:cTn>
                        </p:par>
                        <p:par>
                          <p:cTn id="119" fill="hold">
                            <p:stCondLst>
                              <p:cond delay="0"/>
                            </p:stCondLst>
                            <p:childTnLst>
                              <p:par>
                                <p:cTn id="120" presetID="10" presetClass="entr" presetSubtype="0" fill="hold" grpId="0" nodeType="afterEffect">
                                  <p:stCondLst>
                                    <p:cond delay="0"/>
                                  </p:stCondLst>
                                  <p:childTnLst>
                                    <p:set>
                                      <p:cBhvr>
                                        <p:cTn id="121" dur="1" fill="hold">
                                          <p:stCondLst>
                                            <p:cond delay="0"/>
                                          </p:stCondLst>
                                        </p:cTn>
                                        <p:tgtEl>
                                          <p:spTgt spid="32"/>
                                        </p:tgtEl>
                                        <p:attrNameLst>
                                          <p:attrName>style.visibility</p:attrName>
                                        </p:attrNameLst>
                                      </p:cBhvr>
                                      <p:to>
                                        <p:strVal val="visible"/>
                                      </p:to>
                                    </p:set>
                                    <p:animEffect transition="in" filter="fade">
                                      <p:cBhvr>
                                        <p:cTn id="122" dur="550"/>
                                        <p:tgtEl>
                                          <p:spTgt spid="32"/>
                                        </p:tgtEl>
                                      </p:cBhvr>
                                    </p:animEffect>
                                  </p:childTnLst>
                                </p:cTn>
                              </p:par>
                            </p:childTnLst>
                          </p:cTn>
                        </p:par>
                        <p:par>
                          <p:cTn id="123" fill="hold">
                            <p:stCondLst>
                              <p:cond delay="0"/>
                            </p:stCondLst>
                            <p:childTnLst>
                              <p:par>
                                <p:cTn id="124" presetID="10" presetClass="entr" presetSubtype="0" fill="hold" grpId="0" nodeType="afterEffect">
                                  <p:stCondLst>
                                    <p:cond delay="0"/>
                                  </p:stCondLst>
                                  <p:childTnLst>
                                    <p:set>
                                      <p:cBhvr>
                                        <p:cTn id="125" dur="1" fill="hold">
                                          <p:stCondLst>
                                            <p:cond delay="0"/>
                                          </p:stCondLst>
                                        </p:cTn>
                                        <p:tgtEl>
                                          <p:spTgt spid="33"/>
                                        </p:tgtEl>
                                        <p:attrNameLst>
                                          <p:attrName>style.visibility</p:attrName>
                                        </p:attrNameLst>
                                      </p:cBhvr>
                                      <p:to>
                                        <p:strVal val="visible"/>
                                      </p:to>
                                    </p:set>
                                    <p:animEffect transition="in" filter="fade">
                                      <p:cBhvr>
                                        <p:cTn id="126" dur="550"/>
                                        <p:tgtEl>
                                          <p:spTgt spid="33"/>
                                        </p:tgtEl>
                                      </p:cBhvr>
                                    </p:animEffect>
                                  </p:childTnLst>
                                </p:cTn>
                              </p:par>
                            </p:childTnLst>
                          </p:cTn>
                        </p:par>
                        <p:par>
                          <p:cTn id="127" fill="hold">
                            <p:stCondLst>
                              <p:cond delay="0"/>
                            </p:stCondLst>
                            <p:childTnLst>
                              <p:par>
                                <p:cTn id="128" presetID="10" presetClass="entr" presetSubtype="0" fill="hold" grpId="0" nodeType="afterEffect">
                                  <p:stCondLst>
                                    <p:cond delay="0"/>
                                  </p:stCondLst>
                                  <p:childTnLst>
                                    <p:set>
                                      <p:cBhvr>
                                        <p:cTn id="129" dur="1" fill="hold">
                                          <p:stCondLst>
                                            <p:cond delay="0"/>
                                          </p:stCondLst>
                                        </p:cTn>
                                        <p:tgtEl>
                                          <p:spTgt spid="34"/>
                                        </p:tgtEl>
                                        <p:attrNameLst>
                                          <p:attrName>style.visibility</p:attrName>
                                        </p:attrNameLst>
                                      </p:cBhvr>
                                      <p:to>
                                        <p:strVal val="visible"/>
                                      </p:to>
                                    </p:set>
                                    <p:animEffect transition="in" filter="fade">
                                      <p:cBhvr>
                                        <p:cTn id="130" dur="550"/>
                                        <p:tgtEl>
                                          <p:spTgt spid="34"/>
                                        </p:tgtEl>
                                      </p:cBhvr>
                                    </p:animEffect>
                                  </p:childTnLst>
                                </p:cTn>
                              </p:par>
                            </p:childTnLst>
                          </p:cTn>
                        </p:par>
                        <p:par>
                          <p:cTn id="131" fill="hold">
                            <p:stCondLst>
                              <p:cond delay="0"/>
                            </p:stCondLst>
                            <p:childTnLst>
                              <p:par>
                                <p:cTn id="132" presetID="10" presetClass="entr" presetSubtype="0" fill="hold" grpId="0" nodeType="afterEffect">
                                  <p:stCondLst>
                                    <p:cond delay="0"/>
                                  </p:stCondLst>
                                  <p:childTnLst>
                                    <p:set>
                                      <p:cBhvr>
                                        <p:cTn id="133" dur="1" fill="hold">
                                          <p:stCondLst>
                                            <p:cond delay="0"/>
                                          </p:stCondLst>
                                        </p:cTn>
                                        <p:tgtEl>
                                          <p:spTgt spid="35"/>
                                        </p:tgtEl>
                                        <p:attrNameLst>
                                          <p:attrName>style.visibility</p:attrName>
                                        </p:attrNameLst>
                                      </p:cBhvr>
                                      <p:to>
                                        <p:strVal val="visible"/>
                                      </p:to>
                                    </p:set>
                                    <p:animEffect transition="in" filter="fade">
                                      <p:cBhvr>
                                        <p:cTn id="134" dur="550"/>
                                        <p:tgtEl>
                                          <p:spTgt spid="35"/>
                                        </p:tgtEl>
                                      </p:cBhvr>
                                    </p:animEffect>
                                  </p:childTnLst>
                                </p:cTn>
                              </p:par>
                            </p:childTnLst>
                          </p:cTn>
                        </p:par>
                        <p:par>
                          <p:cTn id="135" fill="hold">
                            <p:stCondLst>
                              <p:cond delay="0"/>
                            </p:stCondLst>
                            <p:childTnLst>
                              <p:par>
                                <p:cTn id="136" presetID="10" presetClass="entr" presetSubtype="0" fill="hold" grpId="0" nodeType="afterEffect">
                                  <p:stCondLst>
                                    <p:cond delay="0"/>
                                  </p:stCondLst>
                                  <p:childTnLst>
                                    <p:set>
                                      <p:cBhvr>
                                        <p:cTn id="137" dur="1" fill="hold">
                                          <p:stCondLst>
                                            <p:cond delay="0"/>
                                          </p:stCondLst>
                                        </p:cTn>
                                        <p:tgtEl>
                                          <p:spTgt spid="36"/>
                                        </p:tgtEl>
                                        <p:attrNameLst>
                                          <p:attrName>style.visibility</p:attrName>
                                        </p:attrNameLst>
                                      </p:cBhvr>
                                      <p:to>
                                        <p:strVal val="visible"/>
                                      </p:to>
                                    </p:set>
                                    <p:animEffect transition="in" filter="fade">
                                      <p:cBhvr>
                                        <p:cTn id="138" dur="550"/>
                                        <p:tgtEl>
                                          <p:spTgt spid="36"/>
                                        </p:tgtEl>
                                      </p:cBhvr>
                                    </p:animEffect>
                                  </p:childTnLst>
                                </p:cTn>
                              </p:par>
                            </p:childTnLst>
                          </p:cTn>
                        </p:par>
                        <p:par>
                          <p:cTn id="139" fill="hold">
                            <p:stCondLst>
                              <p:cond delay="0"/>
                            </p:stCondLst>
                            <p:childTnLst>
                              <p:par>
                                <p:cTn id="140" presetID="10" presetClass="entr" presetSubtype="0" fill="hold" grpId="0" nodeType="afterEffect">
                                  <p:stCondLst>
                                    <p:cond delay="0"/>
                                  </p:stCondLst>
                                  <p:childTnLst>
                                    <p:set>
                                      <p:cBhvr>
                                        <p:cTn id="141" dur="1" fill="hold">
                                          <p:stCondLst>
                                            <p:cond delay="0"/>
                                          </p:stCondLst>
                                        </p:cTn>
                                        <p:tgtEl>
                                          <p:spTgt spid="37"/>
                                        </p:tgtEl>
                                        <p:attrNameLst>
                                          <p:attrName>style.visibility</p:attrName>
                                        </p:attrNameLst>
                                      </p:cBhvr>
                                      <p:to>
                                        <p:strVal val="visible"/>
                                      </p:to>
                                    </p:set>
                                    <p:animEffect transition="in" filter="fade">
                                      <p:cBhvr>
                                        <p:cTn id="142" dur="550"/>
                                        <p:tgtEl>
                                          <p:spTgt spid="37"/>
                                        </p:tgtEl>
                                      </p:cBhvr>
                                    </p:animEffect>
                                  </p:childTnLst>
                                </p:cTn>
                              </p:par>
                            </p:childTnLst>
                          </p:cTn>
                        </p:par>
                        <p:par>
                          <p:cTn id="143" fill="hold">
                            <p:stCondLst>
                              <p:cond delay="0"/>
                            </p:stCondLst>
                            <p:childTnLst>
                              <p:par>
                                <p:cTn id="144" presetID="10" presetClass="entr" presetSubtype="0" fill="hold" grpId="0" nodeType="afterEffect">
                                  <p:stCondLst>
                                    <p:cond delay="0"/>
                                  </p:stCondLst>
                                  <p:childTnLst>
                                    <p:set>
                                      <p:cBhvr>
                                        <p:cTn id="145" dur="1" fill="hold">
                                          <p:stCondLst>
                                            <p:cond delay="0"/>
                                          </p:stCondLst>
                                        </p:cTn>
                                        <p:tgtEl>
                                          <p:spTgt spid="38"/>
                                        </p:tgtEl>
                                        <p:attrNameLst>
                                          <p:attrName>style.visibility</p:attrName>
                                        </p:attrNameLst>
                                      </p:cBhvr>
                                      <p:to>
                                        <p:strVal val="visible"/>
                                      </p:to>
                                    </p:set>
                                    <p:animEffect transition="in" filter="fade">
                                      <p:cBhvr>
                                        <p:cTn id="146" dur="550"/>
                                        <p:tgtEl>
                                          <p:spTgt spid="38"/>
                                        </p:tgtEl>
                                      </p:cBhvr>
                                    </p:animEffect>
                                  </p:childTnLst>
                                </p:cTn>
                              </p:par>
                            </p:childTnLst>
                          </p:cTn>
                        </p:par>
                        <p:par>
                          <p:cTn id="147" fill="hold">
                            <p:stCondLst>
                              <p:cond delay="0"/>
                            </p:stCondLst>
                            <p:childTnLst>
                              <p:par>
                                <p:cTn id="148" presetID="10" presetClass="entr" presetSubtype="0" fill="hold" grpId="0" nodeType="afterEffect">
                                  <p:stCondLst>
                                    <p:cond delay="0"/>
                                  </p:stCondLst>
                                  <p:childTnLst>
                                    <p:set>
                                      <p:cBhvr>
                                        <p:cTn id="149" dur="1" fill="hold">
                                          <p:stCondLst>
                                            <p:cond delay="0"/>
                                          </p:stCondLst>
                                        </p:cTn>
                                        <p:tgtEl>
                                          <p:spTgt spid="39"/>
                                        </p:tgtEl>
                                        <p:attrNameLst>
                                          <p:attrName>style.visibility</p:attrName>
                                        </p:attrNameLst>
                                      </p:cBhvr>
                                      <p:to>
                                        <p:strVal val="visible"/>
                                      </p:to>
                                    </p:set>
                                    <p:animEffect transition="in" filter="fade">
                                      <p:cBhvr>
                                        <p:cTn id="150" dur="550"/>
                                        <p:tgtEl>
                                          <p:spTgt spid="39"/>
                                        </p:tgtEl>
                                      </p:cBhvr>
                                    </p:animEffect>
                                  </p:childTnLst>
                                </p:cTn>
                              </p:par>
                            </p:childTnLst>
                          </p:cTn>
                        </p:par>
                        <p:par>
                          <p:cTn id="151" fill="hold">
                            <p:stCondLst>
                              <p:cond delay="0"/>
                            </p:stCondLst>
                            <p:childTnLst>
                              <p:par>
                                <p:cTn id="152" presetID="10" presetClass="entr" presetSubtype="0" fill="hold" grpId="0" nodeType="afterEffect">
                                  <p:stCondLst>
                                    <p:cond delay="0"/>
                                  </p:stCondLst>
                                  <p:childTnLst>
                                    <p:set>
                                      <p:cBhvr>
                                        <p:cTn id="153" dur="1" fill="hold">
                                          <p:stCondLst>
                                            <p:cond delay="0"/>
                                          </p:stCondLst>
                                        </p:cTn>
                                        <p:tgtEl>
                                          <p:spTgt spid="40"/>
                                        </p:tgtEl>
                                        <p:attrNameLst>
                                          <p:attrName>style.visibility</p:attrName>
                                        </p:attrNameLst>
                                      </p:cBhvr>
                                      <p:to>
                                        <p:strVal val="visible"/>
                                      </p:to>
                                    </p:set>
                                    <p:animEffect transition="in" filter="fade">
                                      <p:cBhvr>
                                        <p:cTn id="154" dur="550"/>
                                        <p:tgtEl>
                                          <p:spTgt spid="40"/>
                                        </p:tgtEl>
                                      </p:cBhvr>
                                    </p:animEffect>
                                  </p:childTnLst>
                                </p:cTn>
                              </p:par>
                            </p:childTnLst>
                          </p:cTn>
                        </p:par>
                        <p:par>
                          <p:cTn id="155" fill="hold">
                            <p:stCondLst>
                              <p:cond delay="0"/>
                            </p:stCondLst>
                            <p:childTnLst>
                              <p:par>
                                <p:cTn id="156" presetID="10" presetClass="entr" presetSubtype="0" fill="hold" grpId="0" nodeType="afterEffect">
                                  <p:stCondLst>
                                    <p:cond delay="0"/>
                                  </p:stCondLst>
                                  <p:childTnLst>
                                    <p:set>
                                      <p:cBhvr>
                                        <p:cTn id="157" dur="1" fill="hold">
                                          <p:stCondLst>
                                            <p:cond delay="0"/>
                                          </p:stCondLst>
                                        </p:cTn>
                                        <p:tgtEl>
                                          <p:spTgt spid="41"/>
                                        </p:tgtEl>
                                        <p:attrNameLst>
                                          <p:attrName>style.visibility</p:attrName>
                                        </p:attrNameLst>
                                      </p:cBhvr>
                                      <p:to>
                                        <p:strVal val="visible"/>
                                      </p:to>
                                    </p:set>
                                    <p:animEffect transition="in" filter="fade">
                                      <p:cBhvr>
                                        <p:cTn id="158" dur="550"/>
                                        <p:tgtEl>
                                          <p:spTgt spid="41"/>
                                        </p:tgtEl>
                                      </p:cBhvr>
                                    </p:animEffect>
                                  </p:childTnLst>
                                </p:cTn>
                              </p:par>
                            </p:childTnLst>
                          </p:cTn>
                        </p:par>
                        <p:par>
                          <p:cTn id="159" fill="hold">
                            <p:stCondLst>
                              <p:cond delay="0"/>
                            </p:stCondLst>
                            <p:childTnLst>
                              <p:par>
                                <p:cTn id="160" presetID="10" presetClass="entr" presetSubtype="0" fill="hold" grpId="0" nodeType="afterEffect">
                                  <p:stCondLst>
                                    <p:cond delay="0"/>
                                  </p:stCondLst>
                                  <p:childTnLst>
                                    <p:set>
                                      <p:cBhvr>
                                        <p:cTn id="161" dur="1" fill="hold">
                                          <p:stCondLst>
                                            <p:cond delay="0"/>
                                          </p:stCondLst>
                                        </p:cTn>
                                        <p:tgtEl>
                                          <p:spTgt spid="42"/>
                                        </p:tgtEl>
                                        <p:attrNameLst>
                                          <p:attrName>style.visibility</p:attrName>
                                        </p:attrNameLst>
                                      </p:cBhvr>
                                      <p:to>
                                        <p:strVal val="visible"/>
                                      </p:to>
                                    </p:set>
                                    <p:animEffect transition="in" filter="fade">
                                      <p:cBhvr>
                                        <p:cTn id="162" dur="550"/>
                                        <p:tgtEl>
                                          <p:spTgt spid="42"/>
                                        </p:tgtEl>
                                      </p:cBhvr>
                                    </p:animEffect>
                                  </p:childTnLst>
                                </p:cTn>
                              </p:par>
                            </p:childTnLst>
                          </p:cTn>
                        </p:par>
                        <p:par>
                          <p:cTn id="163" fill="hold">
                            <p:stCondLst>
                              <p:cond delay="0"/>
                            </p:stCondLst>
                            <p:childTnLst>
                              <p:par>
                                <p:cTn id="164" presetID="10" presetClass="entr" presetSubtype="0" fill="hold" grpId="0" nodeType="afterEffect">
                                  <p:stCondLst>
                                    <p:cond delay="0"/>
                                  </p:stCondLst>
                                  <p:childTnLst>
                                    <p:set>
                                      <p:cBhvr>
                                        <p:cTn id="165" dur="1" fill="hold">
                                          <p:stCondLst>
                                            <p:cond delay="0"/>
                                          </p:stCondLst>
                                        </p:cTn>
                                        <p:tgtEl>
                                          <p:spTgt spid="43"/>
                                        </p:tgtEl>
                                        <p:attrNameLst>
                                          <p:attrName>style.visibility</p:attrName>
                                        </p:attrNameLst>
                                      </p:cBhvr>
                                      <p:to>
                                        <p:strVal val="visible"/>
                                      </p:to>
                                    </p:set>
                                    <p:animEffect transition="in" filter="fade">
                                      <p:cBhvr>
                                        <p:cTn id="166" dur="550"/>
                                        <p:tgtEl>
                                          <p:spTgt spid="43"/>
                                        </p:tgtEl>
                                      </p:cBhvr>
                                    </p:animEffect>
                                  </p:childTnLst>
                                </p:cTn>
                              </p:par>
                            </p:childTnLst>
                          </p:cTn>
                        </p:par>
                        <p:par>
                          <p:cTn id="167" fill="hold">
                            <p:stCondLst>
                              <p:cond delay="0"/>
                            </p:stCondLst>
                            <p:childTnLst>
                              <p:par>
                                <p:cTn id="168" presetID="10" presetClass="entr" presetSubtype="0" fill="hold" grpId="0" nodeType="afterEffect">
                                  <p:stCondLst>
                                    <p:cond delay="0"/>
                                  </p:stCondLst>
                                  <p:childTnLst>
                                    <p:set>
                                      <p:cBhvr>
                                        <p:cTn id="169" dur="1" fill="hold">
                                          <p:stCondLst>
                                            <p:cond delay="0"/>
                                          </p:stCondLst>
                                        </p:cTn>
                                        <p:tgtEl>
                                          <p:spTgt spid="44"/>
                                        </p:tgtEl>
                                        <p:attrNameLst>
                                          <p:attrName>style.visibility</p:attrName>
                                        </p:attrNameLst>
                                      </p:cBhvr>
                                      <p:to>
                                        <p:strVal val="visible"/>
                                      </p:to>
                                    </p:set>
                                    <p:animEffect transition="in" filter="fade">
                                      <p:cBhvr>
                                        <p:cTn id="170" dur="550"/>
                                        <p:tgtEl>
                                          <p:spTgt spid="44"/>
                                        </p:tgtEl>
                                      </p:cBhvr>
                                    </p:animEffect>
                                  </p:childTnLst>
                                </p:cTn>
                              </p:par>
                            </p:childTnLst>
                          </p:cTn>
                        </p:par>
                        <p:par>
                          <p:cTn id="171" fill="hold">
                            <p:stCondLst>
                              <p:cond delay="0"/>
                            </p:stCondLst>
                            <p:childTnLst>
                              <p:par>
                                <p:cTn id="172" presetID="10" presetClass="entr" presetSubtype="0" fill="hold" grpId="0" nodeType="afterEffect">
                                  <p:stCondLst>
                                    <p:cond delay="0"/>
                                  </p:stCondLst>
                                  <p:childTnLst>
                                    <p:set>
                                      <p:cBhvr>
                                        <p:cTn id="173" dur="1" fill="hold">
                                          <p:stCondLst>
                                            <p:cond delay="0"/>
                                          </p:stCondLst>
                                        </p:cTn>
                                        <p:tgtEl>
                                          <p:spTgt spid="45"/>
                                        </p:tgtEl>
                                        <p:attrNameLst>
                                          <p:attrName>style.visibility</p:attrName>
                                        </p:attrNameLst>
                                      </p:cBhvr>
                                      <p:to>
                                        <p:strVal val="visible"/>
                                      </p:to>
                                    </p:set>
                                    <p:animEffect transition="in" filter="fade">
                                      <p:cBhvr>
                                        <p:cTn id="174" dur="550"/>
                                        <p:tgtEl>
                                          <p:spTgt spid="45"/>
                                        </p:tgtEl>
                                      </p:cBhvr>
                                    </p:animEffect>
                                  </p:childTnLst>
                                </p:cTn>
                              </p:par>
                            </p:childTnLst>
                          </p:cTn>
                        </p:par>
                        <p:par>
                          <p:cTn id="175" fill="hold">
                            <p:stCondLst>
                              <p:cond delay="0"/>
                            </p:stCondLst>
                            <p:childTnLst>
                              <p:par>
                                <p:cTn id="176" presetID="10" presetClass="entr" presetSubtype="0" fill="hold" grpId="0" nodeType="afterEffect">
                                  <p:stCondLst>
                                    <p:cond delay="0"/>
                                  </p:stCondLst>
                                  <p:childTnLst>
                                    <p:set>
                                      <p:cBhvr>
                                        <p:cTn id="177" dur="1" fill="hold">
                                          <p:stCondLst>
                                            <p:cond delay="0"/>
                                          </p:stCondLst>
                                        </p:cTn>
                                        <p:tgtEl>
                                          <p:spTgt spid="46"/>
                                        </p:tgtEl>
                                        <p:attrNameLst>
                                          <p:attrName>style.visibility</p:attrName>
                                        </p:attrNameLst>
                                      </p:cBhvr>
                                      <p:to>
                                        <p:strVal val="visible"/>
                                      </p:to>
                                    </p:set>
                                    <p:animEffect transition="in" filter="fade">
                                      <p:cBhvr>
                                        <p:cTn id="178" dur="550"/>
                                        <p:tgtEl>
                                          <p:spTgt spid="46"/>
                                        </p:tgtEl>
                                      </p:cBhvr>
                                    </p:animEffect>
                                  </p:childTnLst>
                                </p:cTn>
                              </p:par>
                            </p:childTnLst>
                          </p:cTn>
                        </p:par>
                        <p:par>
                          <p:cTn id="179" fill="hold">
                            <p:stCondLst>
                              <p:cond delay="0"/>
                            </p:stCondLst>
                            <p:childTnLst>
                              <p:par>
                                <p:cTn id="180" presetID="10" presetClass="entr" presetSubtype="0" fill="hold" grpId="0" nodeType="afterEffect">
                                  <p:stCondLst>
                                    <p:cond delay="0"/>
                                  </p:stCondLst>
                                  <p:childTnLst>
                                    <p:set>
                                      <p:cBhvr>
                                        <p:cTn id="181" dur="1" fill="hold">
                                          <p:stCondLst>
                                            <p:cond delay="0"/>
                                          </p:stCondLst>
                                        </p:cTn>
                                        <p:tgtEl>
                                          <p:spTgt spid="47"/>
                                        </p:tgtEl>
                                        <p:attrNameLst>
                                          <p:attrName>style.visibility</p:attrName>
                                        </p:attrNameLst>
                                      </p:cBhvr>
                                      <p:to>
                                        <p:strVal val="visible"/>
                                      </p:to>
                                    </p:set>
                                    <p:animEffect transition="in" filter="fade">
                                      <p:cBhvr>
                                        <p:cTn id="182" dur="550"/>
                                        <p:tgtEl>
                                          <p:spTgt spid="47"/>
                                        </p:tgtEl>
                                      </p:cBhvr>
                                    </p:animEffect>
                                  </p:childTnLst>
                                </p:cTn>
                              </p:par>
                            </p:childTnLst>
                          </p:cTn>
                        </p:par>
                        <p:par>
                          <p:cTn id="183" fill="hold">
                            <p:stCondLst>
                              <p:cond delay="0"/>
                            </p:stCondLst>
                            <p:childTnLst>
                              <p:par>
                                <p:cTn id="184" presetID="10" presetClass="entr" presetSubtype="0" fill="hold" grpId="0" nodeType="afterEffect">
                                  <p:stCondLst>
                                    <p:cond delay="0"/>
                                  </p:stCondLst>
                                  <p:childTnLst>
                                    <p:set>
                                      <p:cBhvr>
                                        <p:cTn id="185" dur="1" fill="hold">
                                          <p:stCondLst>
                                            <p:cond delay="0"/>
                                          </p:stCondLst>
                                        </p:cTn>
                                        <p:tgtEl>
                                          <p:spTgt spid="48"/>
                                        </p:tgtEl>
                                        <p:attrNameLst>
                                          <p:attrName>style.visibility</p:attrName>
                                        </p:attrNameLst>
                                      </p:cBhvr>
                                      <p:to>
                                        <p:strVal val="visible"/>
                                      </p:to>
                                    </p:set>
                                    <p:animEffect transition="in" filter="fade">
                                      <p:cBhvr>
                                        <p:cTn id="186" dur="550"/>
                                        <p:tgtEl>
                                          <p:spTgt spid="48"/>
                                        </p:tgtEl>
                                      </p:cBhvr>
                                    </p:animEffect>
                                  </p:childTnLst>
                                </p:cTn>
                              </p:par>
                            </p:childTnLst>
                          </p:cTn>
                        </p:par>
                        <p:par>
                          <p:cTn id="187" fill="hold">
                            <p:stCondLst>
                              <p:cond delay="0"/>
                            </p:stCondLst>
                            <p:childTnLst>
                              <p:par>
                                <p:cTn id="188" presetID="10" presetClass="entr" presetSubtype="0" fill="hold" grpId="0" nodeType="afterEffect">
                                  <p:stCondLst>
                                    <p:cond delay="0"/>
                                  </p:stCondLst>
                                  <p:childTnLst>
                                    <p:set>
                                      <p:cBhvr>
                                        <p:cTn id="189" dur="1" fill="hold">
                                          <p:stCondLst>
                                            <p:cond delay="0"/>
                                          </p:stCondLst>
                                        </p:cTn>
                                        <p:tgtEl>
                                          <p:spTgt spid="49"/>
                                        </p:tgtEl>
                                        <p:attrNameLst>
                                          <p:attrName>style.visibility</p:attrName>
                                        </p:attrNameLst>
                                      </p:cBhvr>
                                      <p:to>
                                        <p:strVal val="visible"/>
                                      </p:to>
                                    </p:set>
                                    <p:animEffect transition="in" filter="fade">
                                      <p:cBhvr>
                                        <p:cTn id="190" dur="550"/>
                                        <p:tgtEl>
                                          <p:spTgt spid="49"/>
                                        </p:tgtEl>
                                      </p:cBhvr>
                                    </p:animEffect>
                                  </p:childTnLst>
                                </p:cTn>
                              </p:par>
                            </p:childTnLst>
                          </p:cTn>
                        </p:par>
                        <p:par>
                          <p:cTn id="191" fill="hold">
                            <p:stCondLst>
                              <p:cond delay="0"/>
                            </p:stCondLst>
                            <p:childTnLst>
                              <p:par>
                                <p:cTn id="192" presetID="10" presetClass="entr" presetSubtype="0" fill="hold" grpId="0" nodeType="afterEffect">
                                  <p:stCondLst>
                                    <p:cond delay="0"/>
                                  </p:stCondLst>
                                  <p:childTnLst>
                                    <p:set>
                                      <p:cBhvr>
                                        <p:cTn id="193" dur="1" fill="hold">
                                          <p:stCondLst>
                                            <p:cond delay="0"/>
                                          </p:stCondLst>
                                        </p:cTn>
                                        <p:tgtEl>
                                          <p:spTgt spid="50"/>
                                        </p:tgtEl>
                                        <p:attrNameLst>
                                          <p:attrName>style.visibility</p:attrName>
                                        </p:attrNameLst>
                                      </p:cBhvr>
                                      <p:to>
                                        <p:strVal val="visible"/>
                                      </p:to>
                                    </p:set>
                                    <p:animEffect transition="in" filter="fade">
                                      <p:cBhvr>
                                        <p:cTn id="194" dur="550"/>
                                        <p:tgtEl>
                                          <p:spTgt spid="50"/>
                                        </p:tgtEl>
                                      </p:cBhvr>
                                    </p:animEffect>
                                  </p:childTnLst>
                                </p:cTn>
                              </p:par>
                            </p:childTnLst>
                          </p:cTn>
                        </p:par>
                        <p:par>
                          <p:cTn id="195" fill="hold">
                            <p:stCondLst>
                              <p:cond delay="0"/>
                            </p:stCondLst>
                            <p:childTnLst>
                              <p:par>
                                <p:cTn id="196" presetID="10" presetClass="entr" presetSubtype="0" fill="hold" grpId="0" nodeType="afterEffect">
                                  <p:stCondLst>
                                    <p:cond delay="0"/>
                                  </p:stCondLst>
                                  <p:childTnLst>
                                    <p:set>
                                      <p:cBhvr>
                                        <p:cTn id="197" dur="1" fill="hold">
                                          <p:stCondLst>
                                            <p:cond delay="0"/>
                                          </p:stCondLst>
                                        </p:cTn>
                                        <p:tgtEl>
                                          <p:spTgt spid="51"/>
                                        </p:tgtEl>
                                        <p:attrNameLst>
                                          <p:attrName>style.visibility</p:attrName>
                                        </p:attrNameLst>
                                      </p:cBhvr>
                                      <p:to>
                                        <p:strVal val="visible"/>
                                      </p:to>
                                    </p:set>
                                    <p:animEffect transition="in" filter="fade">
                                      <p:cBhvr>
                                        <p:cTn id="198" dur="550"/>
                                        <p:tgtEl>
                                          <p:spTgt spid="51"/>
                                        </p:tgtEl>
                                      </p:cBhvr>
                                    </p:animEffect>
                                  </p:childTnLst>
                                </p:cTn>
                              </p:par>
                            </p:childTnLst>
                          </p:cTn>
                        </p:par>
                        <p:par>
                          <p:cTn id="199" fill="hold">
                            <p:stCondLst>
                              <p:cond delay="0"/>
                            </p:stCondLst>
                            <p:childTnLst>
                              <p:par>
                                <p:cTn id="200" presetID="10" presetClass="entr" presetSubtype="0" fill="hold" grpId="0" nodeType="afterEffect">
                                  <p:stCondLst>
                                    <p:cond delay="0"/>
                                  </p:stCondLst>
                                  <p:childTnLst>
                                    <p:set>
                                      <p:cBhvr>
                                        <p:cTn id="201" dur="1" fill="hold">
                                          <p:stCondLst>
                                            <p:cond delay="0"/>
                                          </p:stCondLst>
                                        </p:cTn>
                                        <p:tgtEl>
                                          <p:spTgt spid="52"/>
                                        </p:tgtEl>
                                        <p:attrNameLst>
                                          <p:attrName>style.visibility</p:attrName>
                                        </p:attrNameLst>
                                      </p:cBhvr>
                                      <p:to>
                                        <p:strVal val="visible"/>
                                      </p:to>
                                    </p:set>
                                    <p:animEffect transition="in" filter="fade">
                                      <p:cBhvr>
                                        <p:cTn id="202" dur="550"/>
                                        <p:tgtEl>
                                          <p:spTgt spid="52"/>
                                        </p:tgtEl>
                                      </p:cBhvr>
                                    </p:animEffect>
                                  </p:childTnLst>
                                </p:cTn>
                              </p:par>
                            </p:childTnLst>
                          </p:cTn>
                        </p:par>
                        <p:par>
                          <p:cTn id="203" fill="hold">
                            <p:stCondLst>
                              <p:cond delay="0"/>
                            </p:stCondLst>
                            <p:childTnLst>
                              <p:par>
                                <p:cTn id="204" presetID="10" presetClass="entr" presetSubtype="0" fill="hold" grpId="0" nodeType="afterEffect">
                                  <p:stCondLst>
                                    <p:cond delay="0"/>
                                  </p:stCondLst>
                                  <p:childTnLst>
                                    <p:set>
                                      <p:cBhvr>
                                        <p:cTn id="205" dur="1" fill="hold">
                                          <p:stCondLst>
                                            <p:cond delay="0"/>
                                          </p:stCondLst>
                                        </p:cTn>
                                        <p:tgtEl>
                                          <p:spTgt spid="53"/>
                                        </p:tgtEl>
                                        <p:attrNameLst>
                                          <p:attrName>style.visibility</p:attrName>
                                        </p:attrNameLst>
                                      </p:cBhvr>
                                      <p:to>
                                        <p:strVal val="visible"/>
                                      </p:to>
                                    </p:set>
                                    <p:animEffect transition="in" filter="fade">
                                      <p:cBhvr>
                                        <p:cTn id="206" dur="550"/>
                                        <p:tgtEl>
                                          <p:spTgt spid="53"/>
                                        </p:tgtEl>
                                      </p:cBhvr>
                                    </p:animEffect>
                                  </p:childTnLst>
                                </p:cTn>
                              </p:par>
                            </p:childTnLst>
                          </p:cTn>
                        </p:par>
                        <p:par>
                          <p:cTn id="207" fill="hold">
                            <p:stCondLst>
                              <p:cond delay="0"/>
                            </p:stCondLst>
                            <p:childTnLst>
                              <p:par>
                                <p:cTn id="208" presetID="10" presetClass="entr" presetSubtype="0" fill="hold" grpId="0" nodeType="afterEffect">
                                  <p:stCondLst>
                                    <p:cond delay="0"/>
                                  </p:stCondLst>
                                  <p:childTnLst>
                                    <p:set>
                                      <p:cBhvr>
                                        <p:cTn id="209" dur="1" fill="hold">
                                          <p:stCondLst>
                                            <p:cond delay="0"/>
                                          </p:stCondLst>
                                        </p:cTn>
                                        <p:tgtEl>
                                          <p:spTgt spid="54"/>
                                        </p:tgtEl>
                                        <p:attrNameLst>
                                          <p:attrName>style.visibility</p:attrName>
                                        </p:attrNameLst>
                                      </p:cBhvr>
                                      <p:to>
                                        <p:strVal val="visible"/>
                                      </p:to>
                                    </p:set>
                                    <p:animEffect transition="in" filter="fade">
                                      <p:cBhvr>
                                        <p:cTn id="210" dur="550"/>
                                        <p:tgtEl>
                                          <p:spTgt spid="54"/>
                                        </p:tgtEl>
                                      </p:cBhvr>
                                    </p:animEffect>
                                  </p:childTnLst>
                                </p:cTn>
                              </p:par>
                            </p:childTnLst>
                          </p:cTn>
                        </p:par>
                        <p:par>
                          <p:cTn id="211" fill="hold">
                            <p:stCondLst>
                              <p:cond delay="0"/>
                            </p:stCondLst>
                            <p:childTnLst>
                              <p:par>
                                <p:cTn id="212" presetID="10" presetClass="entr" presetSubtype="0" fill="hold" grpId="0" nodeType="afterEffect">
                                  <p:stCondLst>
                                    <p:cond delay="0"/>
                                  </p:stCondLst>
                                  <p:childTnLst>
                                    <p:set>
                                      <p:cBhvr>
                                        <p:cTn id="213" dur="1" fill="hold">
                                          <p:stCondLst>
                                            <p:cond delay="0"/>
                                          </p:stCondLst>
                                        </p:cTn>
                                        <p:tgtEl>
                                          <p:spTgt spid="55"/>
                                        </p:tgtEl>
                                        <p:attrNameLst>
                                          <p:attrName>style.visibility</p:attrName>
                                        </p:attrNameLst>
                                      </p:cBhvr>
                                      <p:to>
                                        <p:strVal val="visible"/>
                                      </p:to>
                                    </p:set>
                                    <p:animEffect transition="in" filter="fade">
                                      <p:cBhvr>
                                        <p:cTn id="214" dur="550"/>
                                        <p:tgtEl>
                                          <p:spTgt spid="55"/>
                                        </p:tgtEl>
                                      </p:cBhvr>
                                    </p:animEffect>
                                  </p:childTnLst>
                                </p:cTn>
                              </p:par>
                            </p:childTnLst>
                          </p:cTn>
                        </p:par>
                        <p:par>
                          <p:cTn id="215" fill="hold">
                            <p:stCondLst>
                              <p:cond delay="0"/>
                            </p:stCondLst>
                            <p:childTnLst>
                              <p:par>
                                <p:cTn id="216" presetID="10" presetClass="entr" presetSubtype="0" fill="hold" grpId="0" nodeType="afterEffect">
                                  <p:stCondLst>
                                    <p:cond delay="0"/>
                                  </p:stCondLst>
                                  <p:childTnLst>
                                    <p:set>
                                      <p:cBhvr>
                                        <p:cTn id="217" dur="1" fill="hold">
                                          <p:stCondLst>
                                            <p:cond delay="0"/>
                                          </p:stCondLst>
                                        </p:cTn>
                                        <p:tgtEl>
                                          <p:spTgt spid="56"/>
                                        </p:tgtEl>
                                        <p:attrNameLst>
                                          <p:attrName>style.visibility</p:attrName>
                                        </p:attrNameLst>
                                      </p:cBhvr>
                                      <p:to>
                                        <p:strVal val="visible"/>
                                      </p:to>
                                    </p:set>
                                    <p:animEffect transition="in" filter="fade">
                                      <p:cBhvr>
                                        <p:cTn id="218" dur="550"/>
                                        <p:tgtEl>
                                          <p:spTgt spid="56"/>
                                        </p:tgtEl>
                                      </p:cBhvr>
                                    </p:animEffect>
                                  </p:childTnLst>
                                </p:cTn>
                              </p:par>
                            </p:childTnLst>
                          </p:cTn>
                        </p:par>
                        <p:par>
                          <p:cTn id="219" fill="hold">
                            <p:stCondLst>
                              <p:cond delay="0"/>
                            </p:stCondLst>
                            <p:childTnLst>
                              <p:par>
                                <p:cTn id="220" presetID="10" presetClass="entr" presetSubtype="0" fill="hold" grpId="0" nodeType="afterEffect">
                                  <p:stCondLst>
                                    <p:cond delay="0"/>
                                  </p:stCondLst>
                                  <p:childTnLst>
                                    <p:set>
                                      <p:cBhvr>
                                        <p:cTn id="221" dur="1" fill="hold">
                                          <p:stCondLst>
                                            <p:cond delay="0"/>
                                          </p:stCondLst>
                                        </p:cTn>
                                        <p:tgtEl>
                                          <p:spTgt spid="57"/>
                                        </p:tgtEl>
                                        <p:attrNameLst>
                                          <p:attrName>style.visibility</p:attrName>
                                        </p:attrNameLst>
                                      </p:cBhvr>
                                      <p:to>
                                        <p:strVal val="visible"/>
                                      </p:to>
                                    </p:set>
                                    <p:animEffect transition="in" filter="fade">
                                      <p:cBhvr>
                                        <p:cTn id="222" dur="550"/>
                                        <p:tgtEl>
                                          <p:spTgt spid="57"/>
                                        </p:tgtEl>
                                      </p:cBhvr>
                                    </p:animEffect>
                                  </p:childTnLst>
                                </p:cTn>
                              </p:par>
                            </p:childTnLst>
                          </p:cTn>
                        </p:par>
                        <p:par>
                          <p:cTn id="223" fill="hold">
                            <p:stCondLst>
                              <p:cond delay="0"/>
                            </p:stCondLst>
                            <p:childTnLst>
                              <p:par>
                                <p:cTn id="224" presetID="10" presetClass="entr" presetSubtype="0" fill="hold" grpId="0" nodeType="afterEffect">
                                  <p:stCondLst>
                                    <p:cond delay="0"/>
                                  </p:stCondLst>
                                  <p:childTnLst>
                                    <p:set>
                                      <p:cBhvr>
                                        <p:cTn id="225" dur="1" fill="hold">
                                          <p:stCondLst>
                                            <p:cond delay="0"/>
                                          </p:stCondLst>
                                        </p:cTn>
                                        <p:tgtEl>
                                          <p:spTgt spid="58"/>
                                        </p:tgtEl>
                                        <p:attrNameLst>
                                          <p:attrName>style.visibility</p:attrName>
                                        </p:attrNameLst>
                                      </p:cBhvr>
                                      <p:to>
                                        <p:strVal val="visible"/>
                                      </p:to>
                                    </p:set>
                                    <p:animEffect transition="in" filter="fade">
                                      <p:cBhvr>
                                        <p:cTn id="226" dur="550"/>
                                        <p:tgtEl>
                                          <p:spTgt spid="58"/>
                                        </p:tgtEl>
                                      </p:cBhvr>
                                    </p:animEffect>
                                  </p:childTnLst>
                                </p:cTn>
                              </p:par>
                            </p:childTnLst>
                          </p:cTn>
                        </p:par>
                        <p:par>
                          <p:cTn id="227" fill="hold">
                            <p:stCondLst>
                              <p:cond delay="0"/>
                            </p:stCondLst>
                            <p:childTnLst>
                              <p:par>
                                <p:cTn id="228" presetID="10" presetClass="entr" presetSubtype="0" fill="hold" grpId="0" nodeType="afterEffect">
                                  <p:stCondLst>
                                    <p:cond delay="0"/>
                                  </p:stCondLst>
                                  <p:childTnLst>
                                    <p:set>
                                      <p:cBhvr>
                                        <p:cTn id="229" dur="1" fill="hold">
                                          <p:stCondLst>
                                            <p:cond delay="0"/>
                                          </p:stCondLst>
                                        </p:cTn>
                                        <p:tgtEl>
                                          <p:spTgt spid="59"/>
                                        </p:tgtEl>
                                        <p:attrNameLst>
                                          <p:attrName>style.visibility</p:attrName>
                                        </p:attrNameLst>
                                      </p:cBhvr>
                                      <p:to>
                                        <p:strVal val="visible"/>
                                      </p:to>
                                    </p:set>
                                    <p:animEffect transition="in" filter="fade">
                                      <p:cBhvr>
                                        <p:cTn id="230" dur="550"/>
                                        <p:tgtEl>
                                          <p:spTgt spid="59"/>
                                        </p:tgtEl>
                                      </p:cBhvr>
                                    </p:animEffect>
                                  </p:childTnLst>
                                </p:cTn>
                              </p:par>
                            </p:childTnLst>
                          </p:cTn>
                        </p:par>
                        <p:par>
                          <p:cTn id="231" fill="hold">
                            <p:stCondLst>
                              <p:cond delay="0"/>
                            </p:stCondLst>
                            <p:childTnLst>
                              <p:par>
                                <p:cTn id="232" presetID="10" presetClass="entr" presetSubtype="0" fill="hold" grpId="0" nodeType="afterEffect">
                                  <p:stCondLst>
                                    <p:cond delay="0"/>
                                  </p:stCondLst>
                                  <p:childTnLst>
                                    <p:set>
                                      <p:cBhvr>
                                        <p:cTn id="233" dur="1" fill="hold">
                                          <p:stCondLst>
                                            <p:cond delay="0"/>
                                          </p:stCondLst>
                                        </p:cTn>
                                        <p:tgtEl>
                                          <p:spTgt spid="60"/>
                                        </p:tgtEl>
                                        <p:attrNameLst>
                                          <p:attrName>style.visibility</p:attrName>
                                        </p:attrNameLst>
                                      </p:cBhvr>
                                      <p:to>
                                        <p:strVal val="visible"/>
                                      </p:to>
                                    </p:set>
                                    <p:animEffect transition="in" filter="fade">
                                      <p:cBhvr>
                                        <p:cTn id="234" dur="550"/>
                                        <p:tgtEl>
                                          <p:spTgt spid="60"/>
                                        </p:tgtEl>
                                      </p:cBhvr>
                                    </p:animEffect>
                                  </p:childTnLst>
                                </p:cTn>
                              </p:par>
                            </p:childTnLst>
                          </p:cTn>
                        </p:par>
                        <p:par>
                          <p:cTn id="235" fill="hold">
                            <p:stCondLst>
                              <p:cond delay="0"/>
                            </p:stCondLst>
                            <p:childTnLst>
                              <p:par>
                                <p:cTn id="236" presetID="10" presetClass="entr" presetSubtype="0" fill="hold" grpId="0" nodeType="afterEffect">
                                  <p:stCondLst>
                                    <p:cond delay="0"/>
                                  </p:stCondLst>
                                  <p:childTnLst>
                                    <p:set>
                                      <p:cBhvr>
                                        <p:cTn id="237" dur="1" fill="hold">
                                          <p:stCondLst>
                                            <p:cond delay="0"/>
                                          </p:stCondLst>
                                        </p:cTn>
                                        <p:tgtEl>
                                          <p:spTgt spid="61"/>
                                        </p:tgtEl>
                                        <p:attrNameLst>
                                          <p:attrName>style.visibility</p:attrName>
                                        </p:attrNameLst>
                                      </p:cBhvr>
                                      <p:to>
                                        <p:strVal val="visible"/>
                                      </p:to>
                                    </p:set>
                                    <p:animEffect transition="in" filter="fade">
                                      <p:cBhvr>
                                        <p:cTn id="238" dur="550"/>
                                        <p:tgtEl>
                                          <p:spTgt spid="61"/>
                                        </p:tgtEl>
                                      </p:cBhvr>
                                    </p:animEffect>
                                  </p:childTnLst>
                                </p:cTn>
                              </p:par>
                            </p:childTnLst>
                          </p:cTn>
                        </p:par>
                        <p:par>
                          <p:cTn id="239" fill="hold">
                            <p:stCondLst>
                              <p:cond delay="0"/>
                            </p:stCondLst>
                            <p:childTnLst>
                              <p:par>
                                <p:cTn id="240" presetID="10" presetClass="entr" presetSubtype="0" fill="hold" grpId="0" nodeType="afterEffect">
                                  <p:stCondLst>
                                    <p:cond delay="0"/>
                                  </p:stCondLst>
                                  <p:childTnLst>
                                    <p:set>
                                      <p:cBhvr>
                                        <p:cTn id="241" dur="1" fill="hold">
                                          <p:stCondLst>
                                            <p:cond delay="0"/>
                                          </p:stCondLst>
                                        </p:cTn>
                                        <p:tgtEl>
                                          <p:spTgt spid="62"/>
                                        </p:tgtEl>
                                        <p:attrNameLst>
                                          <p:attrName>style.visibility</p:attrName>
                                        </p:attrNameLst>
                                      </p:cBhvr>
                                      <p:to>
                                        <p:strVal val="visible"/>
                                      </p:to>
                                    </p:set>
                                    <p:animEffect transition="in" filter="fade">
                                      <p:cBhvr>
                                        <p:cTn id="242" dur="550"/>
                                        <p:tgtEl>
                                          <p:spTgt spid="62"/>
                                        </p:tgtEl>
                                      </p:cBhvr>
                                    </p:animEffect>
                                  </p:childTnLst>
                                </p:cTn>
                              </p:par>
                            </p:childTnLst>
                          </p:cTn>
                        </p:par>
                        <p:par>
                          <p:cTn id="243" fill="hold">
                            <p:stCondLst>
                              <p:cond delay="0"/>
                            </p:stCondLst>
                            <p:childTnLst>
                              <p:par>
                                <p:cTn id="244" presetID="10" presetClass="entr" presetSubtype="0" fill="hold" grpId="0" nodeType="afterEffect">
                                  <p:stCondLst>
                                    <p:cond delay="0"/>
                                  </p:stCondLst>
                                  <p:childTnLst>
                                    <p:set>
                                      <p:cBhvr>
                                        <p:cTn id="245" dur="1" fill="hold">
                                          <p:stCondLst>
                                            <p:cond delay="0"/>
                                          </p:stCondLst>
                                        </p:cTn>
                                        <p:tgtEl>
                                          <p:spTgt spid="63"/>
                                        </p:tgtEl>
                                        <p:attrNameLst>
                                          <p:attrName>style.visibility</p:attrName>
                                        </p:attrNameLst>
                                      </p:cBhvr>
                                      <p:to>
                                        <p:strVal val="visible"/>
                                      </p:to>
                                    </p:set>
                                    <p:animEffect transition="in" filter="fade">
                                      <p:cBhvr>
                                        <p:cTn id="246" dur="550"/>
                                        <p:tgtEl>
                                          <p:spTgt spid="63"/>
                                        </p:tgtEl>
                                      </p:cBhvr>
                                    </p:animEffect>
                                  </p:childTnLst>
                                </p:cTn>
                              </p:par>
                            </p:childTnLst>
                          </p:cTn>
                        </p:par>
                        <p:par>
                          <p:cTn id="247" fill="hold">
                            <p:stCondLst>
                              <p:cond delay="0"/>
                            </p:stCondLst>
                            <p:childTnLst>
                              <p:par>
                                <p:cTn id="248" presetID="10" presetClass="entr" presetSubtype="0" fill="hold" grpId="0" nodeType="afterEffect">
                                  <p:stCondLst>
                                    <p:cond delay="0"/>
                                  </p:stCondLst>
                                  <p:childTnLst>
                                    <p:set>
                                      <p:cBhvr>
                                        <p:cTn id="249" dur="1" fill="hold">
                                          <p:stCondLst>
                                            <p:cond delay="0"/>
                                          </p:stCondLst>
                                        </p:cTn>
                                        <p:tgtEl>
                                          <p:spTgt spid="64"/>
                                        </p:tgtEl>
                                        <p:attrNameLst>
                                          <p:attrName>style.visibility</p:attrName>
                                        </p:attrNameLst>
                                      </p:cBhvr>
                                      <p:to>
                                        <p:strVal val="visible"/>
                                      </p:to>
                                    </p:set>
                                    <p:animEffect transition="in" filter="fade">
                                      <p:cBhvr>
                                        <p:cTn id="250" dur="550"/>
                                        <p:tgtEl>
                                          <p:spTgt spid="64"/>
                                        </p:tgtEl>
                                      </p:cBhvr>
                                    </p:animEffect>
                                  </p:childTnLst>
                                </p:cTn>
                              </p:par>
                            </p:childTnLst>
                          </p:cTn>
                        </p:par>
                        <p:par>
                          <p:cTn id="251" fill="hold">
                            <p:stCondLst>
                              <p:cond delay="0"/>
                            </p:stCondLst>
                            <p:childTnLst>
                              <p:par>
                                <p:cTn id="252" presetID="10" presetClass="entr" presetSubtype="0" fill="hold" grpId="0" nodeType="afterEffect">
                                  <p:stCondLst>
                                    <p:cond delay="0"/>
                                  </p:stCondLst>
                                  <p:childTnLst>
                                    <p:set>
                                      <p:cBhvr>
                                        <p:cTn id="253" dur="1" fill="hold">
                                          <p:stCondLst>
                                            <p:cond delay="0"/>
                                          </p:stCondLst>
                                        </p:cTn>
                                        <p:tgtEl>
                                          <p:spTgt spid="65"/>
                                        </p:tgtEl>
                                        <p:attrNameLst>
                                          <p:attrName>style.visibility</p:attrName>
                                        </p:attrNameLst>
                                      </p:cBhvr>
                                      <p:to>
                                        <p:strVal val="visible"/>
                                      </p:to>
                                    </p:set>
                                    <p:animEffect transition="in" filter="fade">
                                      <p:cBhvr>
                                        <p:cTn id="254" dur="550"/>
                                        <p:tgtEl>
                                          <p:spTgt spid="65"/>
                                        </p:tgtEl>
                                      </p:cBhvr>
                                    </p:animEffect>
                                  </p:childTnLst>
                                </p:cTn>
                              </p:par>
                            </p:childTnLst>
                          </p:cTn>
                        </p:par>
                        <p:par>
                          <p:cTn id="255" fill="hold">
                            <p:stCondLst>
                              <p:cond delay="0"/>
                            </p:stCondLst>
                            <p:childTnLst>
                              <p:par>
                                <p:cTn id="256" presetID="10" presetClass="entr" presetSubtype="0" fill="hold" grpId="0" nodeType="afterEffect">
                                  <p:stCondLst>
                                    <p:cond delay="0"/>
                                  </p:stCondLst>
                                  <p:childTnLst>
                                    <p:set>
                                      <p:cBhvr>
                                        <p:cTn id="257" dur="1" fill="hold">
                                          <p:stCondLst>
                                            <p:cond delay="0"/>
                                          </p:stCondLst>
                                        </p:cTn>
                                        <p:tgtEl>
                                          <p:spTgt spid="66"/>
                                        </p:tgtEl>
                                        <p:attrNameLst>
                                          <p:attrName>style.visibility</p:attrName>
                                        </p:attrNameLst>
                                      </p:cBhvr>
                                      <p:to>
                                        <p:strVal val="visible"/>
                                      </p:to>
                                    </p:set>
                                    <p:animEffect transition="in" filter="fade">
                                      <p:cBhvr>
                                        <p:cTn id="258" dur="550"/>
                                        <p:tgtEl>
                                          <p:spTgt spid="66"/>
                                        </p:tgtEl>
                                      </p:cBhvr>
                                    </p:animEffect>
                                  </p:childTnLst>
                                </p:cTn>
                              </p:par>
                            </p:childTnLst>
                          </p:cTn>
                        </p:par>
                        <p:par>
                          <p:cTn id="259" fill="hold">
                            <p:stCondLst>
                              <p:cond delay="0"/>
                            </p:stCondLst>
                            <p:childTnLst>
                              <p:par>
                                <p:cTn id="260" presetID="10" presetClass="entr" presetSubtype="0" fill="hold" grpId="0" nodeType="afterEffect">
                                  <p:stCondLst>
                                    <p:cond delay="0"/>
                                  </p:stCondLst>
                                  <p:childTnLst>
                                    <p:set>
                                      <p:cBhvr>
                                        <p:cTn id="261" dur="1" fill="hold">
                                          <p:stCondLst>
                                            <p:cond delay="0"/>
                                          </p:stCondLst>
                                        </p:cTn>
                                        <p:tgtEl>
                                          <p:spTgt spid="67"/>
                                        </p:tgtEl>
                                        <p:attrNameLst>
                                          <p:attrName>style.visibility</p:attrName>
                                        </p:attrNameLst>
                                      </p:cBhvr>
                                      <p:to>
                                        <p:strVal val="visible"/>
                                      </p:to>
                                    </p:set>
                                    <p:animEffect transition="in" filter="fade">
                                      <p:cBhvr>
                                        <p:cTn id="262" dur="550"/>
                                        <p:tgtEl>
                                          <p:spTgt spid="67"/>
                                        </p:tgtEl>
                                      </p:cBhvr>
                                    </p:animEffect>
                                  </p:childTnLst>
                                </p:cTn>
                              </p:par>
                            </p:childTnLst>
                          </p:cTn>
                        </p:par>
                        <p:par>
                          <p:cTn id="263" fill="hold">
                            <p:stCondLst>
                              <p:cond delay="0"/>
                            </p:stCondLst>
                            <p:childTnLst>
                              <p:par>
                                <p:cTn id="264" presetID="10" presetClass="entr" presetSubtype="0" fill="hold" grpId="0" nodeType="afterEffect">
                                  <p:stCondLst>
                                    <p:cond delay="0"/>
                                  </p:stCondLst>
                                  <p:childTnLst>
                                    <p:set>
                                      <p:cBhvr>
                                        <p:cTn id="265" dur="1" fill="hold">
                                          <p:stCondLst>
                                            <p:cond delay="0"/>
                                          </p:stCondLst>
                                        </p:cTn>
                                        <p:tgtEl>
                                          <p:spTgt spid="68"/>
                                        </p:tgtEl>
                                        <p:attrNameLst>
                                          <p:attrName>style.visibility</p:attrName>
                                        </p:attrNameLst>
                                      </p:cBhvr>
                                      <p:to>
                                        <p:strVal val="visible"/>
                                      </p:to>
                                    </p:set>
                                    <p:animEffect transition="in" filter="fade">
                                      <p:cBhvr>
                                        <p:cTn id="266" dur="550"/>
                                        <p:tgtEl>
                                          <p:spTgt spid="68"/>
                                        </p:tgtEl>
                                      </p:cBhvr>
                                    </p:animEffect>
                                  </p:childTnLst>
                                </p:cTn>
                              </p:par>
                            </p:childTnLst>
                          </p:cTn>
                        </p:par>
                        <p:par>
                          <p:cTn id="267" fill="hold">
                            <p:stCondLst>
                              <p:cond delay="0"/>
                            </p:stCondLst>
                            <p:childTnLst>
                              <p:par>
                                <p:cTn id="268" presetID="10" presetClass="entr" presetSubtype="0" fill="hold" grpId="0" nodeType="afterEffect">
                                  <p:stCondLst>
                                    <p:cond delay="0"/>
                                  </p:stCondLst>
                                  <p:childTnLst>
                                    <p:set>
                                      <p:cBhvr>
                                        <p:cTn id="269" dur="1" fill="hold">
                                          <p:stCondLst>
                                            <p:cond delay="0"/>
                                          </p:stCondLst>
                                        </p:cTn>
                                        <p:tgtEl>
                                          <p:spTgt spid="69"/>
                                        </p:tgtEl>
                                        <p:attrNameLst>
                                          <p:attrName>style.visibility</p:attrName>
                                        </p:attrNameLst>
                                      </p:cBhvr>
                                      <p:to>
                                        <p:strVal val="visible"/>
                                      </p:to>
                                    </p:set>
                                    <p:animEffect transition="in" filter="fade">
                                      <p:cBhvr>
                                        <p:cTn id="270" dur="550"/>
                                        <p:tgtEl>
                                          <p:spTgt spid="69"/>
                                        </p:tgtEl>
                                      </p:cBhvr>
                                    </p:animEffect>
                                  </p:childTnLst>
                                </p:cTn>
                              </p:par>
                            </p:childTnLst>
                          </p:cTn>
                        </p:par>
                        <p:par>
                          <p:cTn id="271" fill="hold">
                            <p:stCondLst>
                              <p:cond delay="0"/>
                            </p:stCondLst>
                            <p:childTnLst>
                              <p:par>
                                <p:cTn id="272" presetID="10" presetClass="entr" presetSubtype="0" fill="hold" grpId="0" nodeType="afterEffect">
                                  <p:stCondLst>
                                    <p:cond delay="0"/>
                                  </p:stCondLst>
                                  <p:childTnLst>
                                    <p:set>
                                      <p:cBhvr>
                                        <p:cTn id="273" dur="1" fill="hold">
                                          <p:stCondLst>
                                            <p:cond delay="0"/>
                                          </p:stCondLst>
                                        </p:cTn>
                                        <p:tgtEl>
                                          <p:spTgt spid="70"/>
                                        </p:tgtEl>
                                        <p:attrNameLst>
                                          <p:attrName>style.visibility</p:attrName>
                                        </p:attrNameLst>
                                      </p:cBhvr>
                                      <p:to>
                                        <p:strVal val="visible"/>
                                      </p:to>
                                    </p:set>
                                    <p:animEffect transition="in" filter="fade">
                                      <p:cBhvr>
                                        <p:cTn id="274" dur="550"/>
                                        <p:tgtEl>
                                          <p:spTgt spid="70"/>
                                        </p:tgtEl>
                                      </p:cBhvr>
                                    </p:animEffect>
                                  </p:childTnLst>
                                </p:cTn>
                              </p:par>
                            </p:childTnLst>
                          </p:cTn>
                        </p:par>
                        <p:par>
                          <p:cTn id="275" fill="hold">
                            <p:stCondLst>
                              <p:cond delay="0"/>
                            </p:stCondLst>
                            <p:childTnLst>
                              <p:par>
                                <p:cTn id="276" presetID="10" presetClass="entr" presetSubtype="0" fill="hold" grpId="0" nodeType="afterEffect">
                                  <p:stCondLst>
                                    <p:cond delay="0"/>
                                  </p:stCondLst>
                                  <p:childTnLst>
                                    <p:set>
                                      <p:cBhvr>
                                        <p:cTn id="277" dur="1" fill="hold">
                                          <p:stCondLst>
                                            <p:cond delay="0"/>
                                          </p:stCondLst>
                                        </p:cTn>
                                        <p:tgtEl>
                                          <p:spTgt spid="71"/>
                                        </p:tgtEl>
                                        <p:attrNameLst>
                                          <p:attrName>style.visibility</p:attrName>
                                        </p:attrNameLst>
                                      </p:cBhvr>
                                      <p:to>
                                        <p:strVal val="visible"/>
                                      </p:to>
                                    </p:set>
                                    <p:animEffect transition="in" filter="fade">
                                      <p:cBhvr>
                                        <p:cTn id="278" dur="550"/>
                                        <p:tgtEl>
                                          <p:spTgt spid="71"/>
                                        </p:tgtEl>
                                      </p:cBhvr>
                                    </p:animEffect>
                                  </p:childTnLst>
                                </p:cTn>
                              </p:par>
                            </p:childTnLst>
                          </p:cTn>
                        </p:par>
                        <p:par>
                          <p:cTn id="279" fill="hold">
                            <p:stCondLst>
                              <p:cond delay="0"/>
                            </p:stCondLst>
                            <p:childTnLst>
                              <p:par>
                                <p:cTn id="280" presetID="10" presetClass="entr" presetSubtype="0" fill="hold" grpId="0" nodeType="afterEffect">
                                  <p:stCondLst>
                                    <p:cond delay="0"/>
                                  </p:stCondLst>
                                  <p:childTnLst>
                                    <p:set>
                                      <p:cBhvr>
                                        <p:cTn id="281" dur="1" fill="hold">
                                          <p:stCondLst>
                                            <p:cond delay="0"/>
                                          </p:stCondLst>
                                        </p:cTn>
                                        <p:tgtEl>
                                          <p:spTgt spid="72"/>
                                        </p:tgtEl>
                                        <p:attrNameLst>
                                          <p:attrName>style.visibility</p:attrName>
                                        </p:attrNameLst>
                                      </p:cBhvr>
                                      <p:to>
                                        <p:strVal val="visible"/>
                                      </p:to>
                                    </p:set>
                                    <p:animEffect transition="in" filter="fade">
                                      <p:cBhvr>
                                        <p:cTn id="282" dur="550"/>
                                        <p:tgtEl>
                                          <p:spTgt spid="72"/>
                                        </p:tgtEl>
                                      </p:cBhvr>
                                    </p:animEffect>
                                  </p:childTnLst>
                                </p:cTn>
                              </p:par>
                            </p:childTnLst>
                          </p:cTn>
                        </p:par>
                        <p:par>
                          <p:cTn id="283" fill="hold">
                            <p:stCondLst>
                              <p:cond delay="0"/>
                            </p:stCondLst>
                            <p:childTnLst>
                              <p:par>
                                <p:cTn id="284" presetID="10" presetClass="entr" presetSubtype="0" fill="hold" grpId="0" nodeType="afterEffect">
                                  <p:stCondLst>
                                    <p:cond delay="0"/>
                                  </p:stCondLst>
                                  <p:childTnLst>
                                    <p:set>
                                      <p:cBhvr>
                                        <p:cTn id="285" dur="1" fill="hold">
                                          <p:stCondLst>
                                            <p:cond delay="0"/>
                                          </p:stCondLst>
                                        </p:cTn>
                                        <p:tgtEl>
                                          <p:spTgt spid="73"/>
                                        </p:tgtEl>
                                        <p:attrNameLst>
                                          <p:attrName>style.visibility</p:attrName>
                                        </p:attrNameLst>
                                      </p:cBhvr>
                                      <p:to>
                                        <p:strVal val="visible"/>
                                      </p:to>
                                    </p:set>
                                    <p:animEffect transition="in" filter="fade">
                                      <p:cBhvr>
                                        <p:cTn id="286" dur="550"/>
                                        <p:tgtEl>
                                          <p:spTgt spid="73"/>
                                        </p:tgtEl>
                                      </p:cBhvr>
                                    </p:animEffect>
                                  </p:childTnLst>
                                </p:cTn>
                              </p:par>
                            </p:childTnLst>
                          </p:cTn>
                        </p:par>
                        <p:par>
                          <p:cTn id="287" fill="hold">
                            <p:stCondLst>
                              <p:cond delay="0"/>
                            </p:stCondLst>
                            <p:childTnLst>
                              <p:par>
                                <p:cTn id="288" presetID="10" presetClass="entr" presetSubtype="0" fill="hold" grpId="0" nodeType="afterEffect">
                                  <p:stCondLst>
                                    <p:cond delay="0"/>
                                  </p:stCondLst>
                                  <p:childTnLst>
                                    <p:set>
                                      <p:cBhvr>
                                        <p:cTn id="289" dur="1" fill="hold">
                                          <p:stCondLst>
                                            <p:cond delay="0"/>
                                          </p:stCondLst>
                                        </p:cTn>
                                        <p:tgtEl>
                                          <p:spTgt spid="74"/>
                                        </p:tgtEl>
                                        <p:attrNameLst>
                                          <p:attrName>style.visibility</p:attrName>
                                        </p:attrNameLst>
                                      </p:cBhvr>
                                      <p:to>
                                        <p:strVal val="visible"/>
                                      </p:to>
                                    </p:set>
                                    <p:animEffect transition="in" filter="fade">
                                      <p:cBhvr>
                                        <p:cTn id="290" dur="550"/>
                                        <p:tgtEl>
                                          <p:spTgt spid="74"/>
                                        </p:tgtEl>
                                      </p:cBhvr>
                                    </p:animEffect>
                                  </p:childTnLst>
                                </p:cTn>
                              </p:par>
                            </p:childTnLst>
                          </p:cTn>
                        </p:par>
                        <p:par>
                          <p:cTn id="291" fill="hold">
                            <p:stCondLst>
                              <p:cond delay="0"/>
                            </p:stCondLst>
                            <p:childTnLst>
                              <p:par>
                                <p:cTn id="292" presetID="10" presetClass="entr" presetSubtype="0" fill="hold" grpId="0" nodeType="afterEffect">
                                  <p:stCondLst>
                                    <p:cond delay="0"/>
                                  </p:stCondLst>
                                  <p:childTnLst>
                                    <p:set>
                                      <p:cBhvr>
                                        <p:cTn id="293" dur="1" fill="hold">
                                          <p:stCondLst>
                                            <p:cond delay="0"/>
                                          </p:stCondLst>
                                        </p:cTn>
                                        <p:tgtEl>
                                          <p:spTgt spid="75"/>
                                        </p:tgtEl>
                                        <p:attrNameLst>
                                          <p:attrName>style.visibility</p:attrName>
                                        </p:attrNameLst>
                                      </p:cBhvr>
                                      <p:to>
                                        <p:strVal val="visible"/>
                                      </p:to>
                                    </p:set>
                                    <p:animEffect transition="in" filter="fade">
                                      <p:cBhvr>
                                        <p:cTn id="294" dur="550"/>
                                        <p:tgtEl>
                                          <p:spTgt spid="75"/>
                                        </p:tgtEl>
                                      </p:cBhvr>
                                    </p:animEffect>
                                  </p:childTnLst>
                                </p:cTn>
                              </p:par>
                            </p:childTnLst>
                          </p:cTn>
                        </p:par>
                        <p:par>
                          <p:cTn id="295" fill="hold">
                            <p:stCondLst>
                              <p:cond delay="0"/>
                            </p:stCondLst>
                            <p:childTnLst>
                              <p:par>
                                <p:cTn id="296" presetID="10" presetClass="entr" presetSubtype="0" fill="hold" grpId="0" nodeType="afterEffect">
                                  <p:stCondLst>
                                    <p:cond delay="0"/>
                                  </p:stCondLst>
                                  <p:childTnLst>
                                    <p:set>
                                      <p:cBhvr>
                                        <p:cTn id="297" dur="1" fill="hold">
                                          <p:stCondLst>
                                            <p:cond delay="0"/>
                                          </p:stCondLst>
                                        </p:cTn>
                                        <p:tgtEl>
                                          <p:spTgt spid="76"/>
                                        </p:tgtEl>
                                        <p:attrNameLst>
                                          <p:attrName>style.visibility</p:attrName>
                                        </p:attrNameLst>
                                      </p:cBhvr>
                                      <p:to>
                                        <p:strVal val="visible"/>
                                      </p:to>
                                    </p:set>
                                    <p:animEffect transition="in" filter="fade">
                                      <p:cBhvr>
                                        <p:cTn id="298" dur="550"/>
                                        <p:tgtEl>
                                          <p:spTgt spid="76"/>
                                        </p:tgtEl>
                                      </p:cBhvr>
                                    </p:animEffect>
                                  </p:childTnLst>
                                </p:cTn>
                              </p:par>
                            </p:childTnLst>
                          </p:cTn>
                        </p:par>
                        <p:par>
                          <p:cTn id="299" fill="hold">
                            <p:stCondLst>
                              <p:cond delay="0"/>
                            </p:stCondLst>
                            <p:childTnLst>
                              <p:par>
                                <p:cTn id="300" presetID="10" presetClass="entr" presetSubtype="0" fill="hold" grpId="0" nodeType="afterEffect">
                                  <p:stCondLst>
                                    <p:cond delay="0"/>
                                  </p:stCondLst>
                                  <p:childTnLst>
                                    <p:set>
                                      <p:cBhvr>
                                        <p:cTn id="301" dur="1" fill="hold">
                                          <p:stCondLst>
                                            <p:cond delay="0"/>
                                          </p:stCondLst>
                                        </p:cTn>
                                        <p:tgtEl>
                                          <p:spTgt spid="77"/>
                                        </p:tgtEl>
                                        <p:attrNameLst>
                                          <p:attrName>style.visibility</p:attrName>
                                        </p:attrNameLst>
                                      </p:cBhvr>
                                      <p:to>
                                        <p:strVal val="visible"/>
                                      </p:to>
                                    </p:set>
                                    <p:animEffect transition="in" filter="fade">
                                      <p:cBhvr>
                                        <p:cTn id="302" dur="550"/>
                                        <p:tgtEl>
                                          <p:spTgt spid="77"/>
                                        </p:tgtEl>
                                      </p:cBhvr>
                                    </p:animEffect>
                                  </p:childTnLst>
                                </p:cTn>
                              </p:par>
                            </p:childTnLst>
                          </p:cTn>
                        </p:par>
                        <p:par>
                          <p:cTn id="303" fill="hold">
                            <p:stCondLst>
                              <p:cond delay="0"/>
                            </p:stCondLst>
                            <p:childTnLst>
                              <p:par>
                                <p:cTn id="304" presetID="10" presetClass="entr" presetSubtype="0" fill="hold" grpId="0" nodeType="afterEffect">
                                  <p:stCondLst>
                                    <p:cond delay="0"/>
                                  </p:stCondLst>
                                  <p:childTnLst>
                                    <p:set>
                                      <p:cBhvr>
                                        <p:cTn id="305" dur="1" fill="hold">
                                          <p:stCondLst>
                                            <p:cond delay="0"/>
                                          </p:stCondLst>
                                        </p:cTn>
                                        <p:tgtEl>
                                          <p:spTgt spid="78"/>
                                        </p:tgtEl>
                                        <p:attrNameLst>
                                          <p:attrName>style.visibility</p:attrName>
                                        </p:attrNameLst>
                                      </p:cBhvr>
                                      <p:to>
                                        <p:strVal val="visible"/>
                                      </p:to>
                                    </p:set>
                                    <p:animEffect transition="in" filter="fade">
                                      <p:cBhvr>
                                        <p:cTn id="306" dur="550"/>
                                        <p:tgtEl>
                                          <p:spTgt spid="78"/>
                                        </p:tgtEl>
                                      </p:cBhvr>
                                    </p:animEffect>
                                  </p:childTnLst>
                                </p:cTn>
                              </p:par>
                            </p:childTnLst>
                          </p:cTn>
                        </p:par>
                        <p:par>
                          <p:cTn id="307" fill="hold">
                            <p:stCondLst>
                              <p:cond delay="0"/>
                            </p:stCondLst>
                            <p:childTnLst>
                              <p:par>
                                <p:cTn id="308" presetID="10" presetClass="entr" presetSubtype="0" fill="hold" grpId="0" nodeType="afterEffect">
                                  <p:stCondLst>
                                    <p:cond delay="0"/>
                                  </p:stCondLst>
                                  <p:childTnLst>
                                    <p:set>
                                      <p:cBhvr>
                                        <p:cTn id="309" dur="1" fill="hold">
                                          <p:stCondLst>
                                            <p:cond delay="0"/>
                                          </p:stCondLst>
                                        </p:cTn>
                                        <p:tgtEl>
                                          <p:spTgt spid="79"/>
                                        </p:tgtEl>
                                        <p:attrNameLst>
                                          <p:attrName>style.visibility</p:attrName>
                                        </p:attrNameLst>
                                      </p:cBhvr>
                                      <p:to>
                                        <p:strVal val="visible"/>
                                      </p:to>
                                    </p:set>
                                    <p:animEffect transition="in" filter="fade">
                                      <p:cBhvr>
                                        <p:cTn id="310" dur="550"/>
                                        <p:tgtEl>
                                          <p:spTgt spid="79"/>
                                        </p:tgtEl>
                                      </p:cBhvr>
                                    </p:animEffect>
                                  </p:childTnLst>
                                </p:cTn>
                              </p:par>
                            </p:childTnLst>
                          </p:cTn>
                        </p:par>
                        <p:par>
                          <p:cTn id="311" fill="hold">
                            <p:stCondLst>
                              <p:cond delay="0"/>
                            </p:stCondLst>
                            <p:childTnLst>
                              <p:par>
                                <p:cTn id="312" presetID="10" presetClass="entr" presetSubtype="0" fill="hold" grpId="0" nodeType="afterEffect">
                                  <p:stCondLst>
                                    <p:cond delay="0"/>
                                  </p:stCondLst>
                                  <p:childTnLst>
                                    <p:set>
                                      <p:cBhvr>
                                        <p:cTn id="313" dur="1" fill="hold">
                                          <p:stCondLst>
                                            <p:cond delay="0"/>
                                          </p:stCondLst>
                                        </p:cTn>
                                        <p:tgtEl>
                                          <p:spTgt spid="80"/>
                                        </p:tgtEl>
                                        <p:attrNameLst>
                                          <p:attrName>style.visibility</p:attrName>
                                        </p:attrNameLst>
                                      </p:cBhvr>
                                      <p:to>
                                        <p:strVal val="visible"/>
                                      </p:to>
                                    </p:set>
                                    <p:animEffect transition="in" filter="fade">
                                      <p:cBhvr>
                                        <p:cTn id="314" dur="550"/>
                                        <p:tgtEl>
                                          <p:spTgt spid="80"/>
                                        </p:tgtEl>
                                      </p:cBhvr>
                                    </p:animEffect>
                                  </p:childTnLst>
                                </p:cTn>
                              </p:par>
                            </p:childTnLst>
                          </p:cTn>
                        </p:par>
                        <p:par>
                          <p:cTn id="315" fill="hold">
                            <p:stCondLst>
                              <p:cond delay="0"/>
                            </p:stCondLst>
                            <p:childTnLst>
                              <p:par>
                                <p:cTn id="316" presetID="10" presetClass="entr" presetSubtype="0" fill="hold" grpId="0" nodeType="afterEffect">
                                  <p:stCondLst>
                                    <p:cond delay="0"/>
                                  </p:stCondLst>
                                  <p:childTnLst>
                                    <p:set>
                                      <p:cBhvr>
                                        <p:cTn id="317" dur="1" fill="hold">
                                          <p:stCondLst>
                                            <p:cond delay="0"/>
                                          </p:stCondLst>
                                        </p:cTn>
                                        <p:tgtEl>
                                          <p:spTgt spid="81"/>
                                        </p:tgtEl>
                                        <p:attrNameLst>
                                          <p:attrName>style.visibility</p:attrName>
                                        </p:attrNameLst>
                                      </p:cBhvr>
                                      <p:to>
                                        <p:strVal val="visible"/>
                                      </p:to>
                                    </p:set>
                                    <p:animEffect transition="in" filter="fade">
                                      <p:cBhvr>
                                        <p:cTn id="318" dur="550"/>
                                        <p:tgtEl>
                                          <p:spTgt spid="81"/>
                                        </p:tgtEl>
                                      </p:cBhvr>
                                    </p:animEffect>
                                  </p:childTnLst>
                                </p:cTn>
                              </p:par>
                            </p:childTnLst>
                          </p:cTn>
                        </p:par>
                        <p:par>
                          <p:cTn id="319" fill="hold">
                            <p:stCondLst>
                              <p:cond delay="0"/>
                            </p:stCondLst>
                            <p:childTnLst>
                              <p:par>
                                <p:cTn id="320" presetID="10" presetClass="entr" presetSubtype="0" fill="hold" grpId="0" nodeType="afterEffect">
                                  <p:stCondLst>
                                    <p:cond delay="0"/>
                                  </p:stCondLst>
                                  <p:childTnLst>
                                    <p:set>
                                      <p:cBhvr>
                                        <p:cTn id="321" dur="1" fill="hold">
                                          <p:stCondLst>
                                            <p:cond delay="0"/>
                                          </p:stCondLst>
                                        </p:cTn>
                                        <p:tgtEl>
                                          <p:spTgt spid="82"/>
                                        </p:tgtEl>
                                        <p:attrNameLst>
                                          <p:attrName>style.visibility</p:attrName>
                                        </p:attrNameLst>
                                      </p:cBhvr>
                                      <p:to>
                                        <p:strVal val="visible"/>
                                      </p:to>
                                    </p:set>
                                    <p:animEffect transition="in" filter="fade">
                                      <p:cBhvr>
                                        <p:cTn id="322" dur="550"/>
                                        <p:tgtEl>
                                          <p:spTgt spid="82"/>
                                        </p:tgtEl>
                                      </p:cBhvr>
                                    </p:animEffect>
                                  </p:childTnLst>
                                </p:cTn>
                              </p:par>
                            </p:childTnLst>
                          </p:cTn>
                        </p:par>
                        <p:par>
                          <p:cTn id="323" fill="hold">
                            <p:stCondLst>
                              <p:cond delay="0"/>
                            </p:stCondLst>
                            <p:childTnLst>
                              <p:par>
                                <p:cTn id="324" presetID="10" presetClass="entr" presetSubtype="0" fill="hold" grpId="0" nodeType="afterEffect">
                                  <p:stCondLst>
                                    <p:cond delay="0"/>
                                  </p:stCondLst>
                                  <p:childTnLst>
                                    <p:set>
                                      <p:cBhvr>
                                        <p:cTn id="325" dur="1" fill="hold">
                                          <p:stCondLst>
                                            <p:cond delay="0"/>
                                          </p:stCondLst>
                                        </p:cTn>
                                        <p:tgtEl>
                                          <p:spTgt spid="83"/>
                                        </p:tgtEl>
                                        <p:attrNameLst>
                                          <p:attrName>style.visibility</p:attrName>
                                        </p:attrNameLst>
                                      </p:cBhvr>
                                      <p:to>
                                        <p:strVal val="visible"/>
                                      </p:to>
                                    </p:set>
                                    <p:animEffect transition="in" filter="fade">
                                      <p:cBhvr>
                                        <p:cTn id="326" dur="550"/>
                                        <p:tgtEl>
                                          <p:spTgt spid="83"/>
                                        </p:tgtEl>
                                      </p:cBhvr>
                                    </p:animEffect>
                                  </p:childTnLst>
                                </p:cTn>
                              </p:par>
                            </p:childTnLst>
                          </p:cTn>
                        </p:par>
                        <p:par>
                          <p:cTn id="327" fill="hold">
                            <p:stCondLst>
                              <p:cond delay="0"/>
                            </p:stCondLst>
                            <p:childTnLst>
                              <p:par>
                                <p:cTn id="328" presetID="10" presetClass="entr" presetSubtype="0" fill="hold" grpId="0" nodeType="afterEffect">
                                  <p:stCondLst>
                                    <p:cond delay="0"/>
                                  </p:stCondLst>
                                  <p:childTnLst>
                                    <p:set>
                                      <p:cBhvr>
                                        <p:cTn id="329" dur="1" fill="hold">
                                          <p:stCondLst>
                                            <p:cond delay="0"/>
                                          </p:stCondLst>
                                        </p:cTn>
                                        <p:tgtEl>
                                          <p:spTgt spid="84"/>
                                        </p:tgtEl>
                                        <p:attrNameLst>
                                          <p:attrName>style.visibility</p:attrName>
                                        </p:attrNameLst>
                                      </p:cBhvr>
                                      <p:to>
                                        <p:strVal val="visible"/>
                                      </p:to>
                                    </p:set>
                                    <p:animEffect transition="in" filter="fade">
                                      <p:cBhvr>
                                        <p:cTn id="330" dur="550"/>
                                        <p:tgtEl>
                                          <p:spTgt spid="84"/>
                                        </p:tgtEl>
                                      </p:cBhvr>
                                    </p:animEffect>
                                  </p:childTnLst>
                                </p:cTn>
                              </p:par>
                            </p:childTnLst>
                          </p:cTn>
                        </p:par>
                        <p:par>
                          <p:cTn id="331" fill="hold">
                            <p:stCondLst>
                              <p:cond delay="0"/>
                            </p:stCondLst>
                            <p:childTnLst>
                              <p:par>
                                <p:cTn id="332" presetID="10" presetClass="entr" presetSubtype="0" fill="hold" grpId="0" nodeType="afterEffect">
                                  <p:stCondLst>
                                    <p:cond delay="0"/>
                                  </p:stCondLst>
                                  <p:childTnLst>
                                    <p:set>
                                      <p:cBhvr>
                                        <p:cTn id="333" dur="1" fill="hold">
                                          <p:stCondLst>
                                            <p:cond delay="0"/>
                                          </p:stCondLst>
                                        </p:cTn>
                                        <p:tgtEl>
                                          <p:spTgt spid="85"/>
                                        </p:tgtEl>
                                        <p:attrNameLst>
                                          <p:attrName>style.visibility</p:attrName>
                                        </p:attrNameLst>
                                      </p:cBhvr>
                                      <p:to>
                                        <p:strVal val="visible"/>
                                      </p:to>
                                    </p:set>
                                    <p:animEffect transition="in" filter="fade">
                                      <p:cBhvr>
                                        <p:cTn id="334" dur="550"/>
                                        <p:tgtEl>
                                          <p:spTgt spid="85"/>
                                        </p:tgtEl>
                                      </p:cBhvr>
                                    </p:animEffect>
                                  </p:childTnLst>
                                </p:cTn>
                              </p:par>
                            </p:childTnLst>
                          </p:cTn>
                        </p:par>
                        <p:par>
                          <p:cTn id="335" fill="hold">
                            <p:stCondLst>
                              <p:cond delay="0"/>
                            </p:stCondLst>
                            <p:childTnLst>
                              <p:par>
                                <p:cTn id="336" presetID="10" presetClass="entr" presetSubtype="0" fill="hold" grpId="0" nodeType="afterEffect">
                                  <p:stCondLst>
                                    <p:cond delay="0"/>
                                  </p:stCondLst>
                                  <p:childTnLst>
                                    <p:set>
                                      <p:cBhvr>
                                        <p:cTn id="337" dur="1" fill="hold">
                                          <p:stCondLst>
                                            <p:cond delay="0"/>
                                          </p:stCondLst>
                                        </p:cTn>
                                        <p:tgtEl>
                                          <p:spTgt spid="86"/>
                                        </p:tgtEl>
                                        <p:attrNameLst>
                                          <p:attrName>style.visibility</p:attrName>
                                        </p:attrNameLst>
                                      </p:cBhvr>
                                      <p:to>
                                        <p:strVal val="visible"/>
                                      </p:to>
                                    </p:set>
                                    <p:animEffect transition="in" filter="fade">
                                      <p:cBhvr>
                                        <p:cTn id="338" dur="550"/>
                                        <p:tgtEl>
                                          <p:spTgt spid="86"/>
                                        </p:tgtEl>
                                      </p:cBhvr>
                                    </p:animEffect>
                                  </p:childTnLst>
                                </p:cTn>
                              </p:par>
                            </p:childTnLst>
                          </p:cTn>
                        </p:par>
                        <p:par>
                          <p:cTn id="339" fill="hold">
                            <p:stCondLst>
                              <p:cond delay="0"/>
                            </p:stCondLst>
                            <p:childTnLst>
                              <p:par>
                                <p:cTn id="340" presetID="10" presetClass="entr" presetSubtype="0" fill="hold" grpId="0" nodeType="afterEffect">
                                  <p:stCondLst>
                                    <p:cond delay="0"/>
                                  </p:stCondLst>
                                  <p:childTnLst>
                                    <p:set>
                                      <p:cBhvr>
                                        <p:cTn id="341" dur="1" fill="hold">
                                          <p:stCondLst>
                                            <p:cond delay="0"/>
                                          </p:stCondLst>
                                        </p:cTn>
                                        <p:tgtEl>
                                          <p:spTgt spid="87"/>
                                        </p:tgtEl>
                                        <p:attrNameLst>
                                          <p:attrName>style.visibility</p:attrName>
                                        </p:attrNameLst>
                                      </p:cBhvr>
                                      <p:to>
                                        <p:strVal val="visible"/>
                                      </p:to>
                                    </p:set>
                                    <p:animEffect transition="in" filter="fade">
                                      <p:cBhvr>
                                        <p:cTn id="342" dur="550"/>
                                        <p:tgtEl>
                                          <p:spTgt spid="87"/>
                                        </p:tgtEl>
                                      </p:cBhvr>
                                    </p:animEffect>
                                  </p:childTnLst>
                                </p:cTn>
                              </p:par>
                            </p:childTnLst>
                          </p:cTn>
                        </p:par>
                        <p:par>
                          <p:cTn id="343" fill="hold">
                            <p:stCondLst>
                              <p:cond delay="0"/>
                            </p:stCondLst>
                            <p:childTnLst>
                              <p:par>
                                <p:cTn id="344" presetID="10" presetClass="entr" presetSubtype="0" fill="hold" grpId="0" nodeType="afterEffect">
                                  <p:stCondLst>
                                    <p:cond delay="0"/>
                                  </p:stCondLst>
                                  <p:childTnLst>
                                    <p:set>
                                      <p:cBhvr>
                                        <p:cTn id="345" dur="1" fill="hold">
                                          <p:stCondLst>
                                            <p:cond delay="0"/>
                                          </p:stCondLst>
                                        </p:cTn>
                                        <p:tgtEl>
                                          <p:spTgt spid="88"/>
                                        </p:tgtEl>
                                        <p:attrNameLst>
                                          <p:attrName>style.visibility</p:attrName>
                                        </p:attrNameLst>
                                      </p:cBhvr>
                                      <p:to>
                                        <p:strVal val="visible"/>
                                      </p:to>
                                    </p:set>
                                    <p:animEffect transition="in" filter="fade">
                                      <p:cBhvr>
                                        <p:cTn id="346" dur="550"/>
                                        <p:tgtEl>
                                          <p:spTgt spid="88"/>
                                        </p:tgtEl>
                                      </p:cBhvr>
                                    </p:animEffect>
                                  </p:childTnLst>
                                </p:cTn>
                              </p:par>
                            </p:childTnLst>
                          </p:cTn>
                        </p:par>
                        <p:par>
                          <p:cTn id="347" fill="hold">
                            <p:stCondLst>
                              <p:cond delay="0"/>
                            </p:stCondLst>
                            <p:childTnLst>
                              <p:par>
                                <p:cTn id="348" presetID="10" presetClass="entr" presetSubtype="0" fill="hold" grpId="0" nodeType="afterEffect">
                                  <p:stCondLst>
                                    <p:cond delay="0"/>
                                  </p:stCondLst>
                                  <p:childTnLst>
                                    <p:set>
                                      <p:cBhvr>
                                        <p:cTn id="349" dur="1" fill="hold">
                                          <p:stCondLst>
                                            <p:cond delay="0"/>
                                          </p:stCondLst>
                                        </p:cTn>
                                        <p:tgtEl>
                                          <p:spTgt spid="89"/>
                                        </p:tgtEl>
                                        <p:attrNameLst>
                                          <p:attrName>style.visibility</p:attrName>
                                        </p:attrNameLst>
                                      </p:cBhvr>
                                      <p:to>
                                        <p:strVal val="visible"/>
                                      </p:to>
                                    </p:set>
                                    <p:animEffect transition="in" filter="fade">
                                      <p:cBhvr>
                                        <p:cTn id="350" dur="550"/>
                                        <p:tgtEl>
                                          <p:spTgt spid="89"/>
                                        </p:tgtEl>
                                      </p:cBhvr>
                                    </p:animEffect>
                                  </p:childTnLst>
                                </p:cTn>
                              </p:par>
                            </p:childTnLst>
                          </p:cTn>
                        </p:par>
                        <p:par>
                          <p:cTn id="351" fill="hold">
                            <p:stCondLst>
                              <p:cond delay="0"/>
                            </p:stCondLst>
                            <p:childTnLst>
                              <p:par>
                                <p:cTn id="352" presetID="10" presetClass="entr" presetSubtype="0" fill="hold" grpId="0" nodeType="afterEffect">
                                  <p:stCondLst>
                                    <p:cond delay="0"/>
                                  </p:stCondLst>
                                  <p:childTnLst>
                                    <p:set>
                                      <p:cBhvr>
                                        <p:cTn id="353" dur="1" fill="hold">
                                          <p:stCondLst>
                                            <p:cond delay="0"/>
                                          </p:stCondLst>
                                        </p:cTn>
                                        <p:tgtEl>
                                          <p:spTgt spid="90"/>
                                        </p:tgtEl>
                                        <p:attrNameLst>
                                          <p:attrName>style.visibility</p:attrName>
                                        </p:attrNameLst>
                                      </p:cBhvr>
                                      <p:to>
                                        <p:strVal val="visible"/>
                                      </p:to>
                                    </p:set>
                                    <p:animEffect transition="in" filter="fade">
                                      <p:cBhvr>
                                        <p:cTn id="354" dur="550"/>
                                        <p:tgtEl>
                                          <p:spTgt spid="90"/>
                                        </p:tgtEl>
                                      </p:cBhvr>
                                    </p:animEffect>
                                  </p:childTnLst>
                                </p:cTn>
                              </p:par>
                            </p:childTnLst>
                          </p:cTn>
                        </p:par>
                        <p:par>
                          <p:cTn id="355" fill="hold">
                            <p:stCondLst>
                              <p:cond delay="0"/>
                            </p:stCondLst>
                            <p:childTnLst>
                              <p:par>
                                <p:cTn id="356" presetID="10" presetClass="entr" presetSubtype="0" fill="hold" grpId="0" nodeType="afterEffect">
                                  <p:stCondLst>
                                    <p:cond delay="0"/>
                                  </p:stCondLst>
                                  <p:childTnLst>
                                    <p:set>
                                      <p:cBhvr>
                                        <p:cTn id="357" dur="1" fill="hold">
                                          <p:stCondLst>
                                            <p:cond delay="0"/>
                                          </p:stCondLst>
                                        </p:cTn>
                                        <p:tgtEl>
                                          <p:spTgt spid="91"/>
                                        </p:tgtEl>
                                        <p:attrNameLst>
                                          <p:attrName>style.visibility</p:attrName>
                                        </p:attrNameLst>
                                      </p:cBhvr>
                                      <p:to>
                                        <p:strVal val="visible"/>
                                      </p:to>
                                    </p:set>
                                    <p:animEffect transition="in" filter="fade">
                                      <p:cBhvr>
                                        <p:cTn id="358" dur="550"/>
                                        <p:tgtEl>
                                          <p:spTgt spid="91"/>
                                        </p:tgtEl>
                                      </p:cBhvr>
                                    </p:animEffect>
                                  </p:childTnLst>
                                </p:cTn>
                              </p:par>
                            </p:childTnLst>
                          </p:cTn>
                        </p:par>
                        <p:par>
                          <p:cTn id="359" fill="hold">
                            <p:stCondLst>
                              <p:cond delay="0"/>
                            </p:stCondLst>
                            <p:childTnLst>
                              <p:par>
                                <p:cTn id="360" presetID="10" presetClass="entr" presetSubtype="0" fill="hold" grpId="0" nodeType="afterEffect">
                                  <p:stCondLst>
                                    <p:cond delay="0"/>
                                  </p:stCondLst>
                                  <p:childTnLst>
                                    <p:set>
                                      <p:cBhvr>
                                        <p:cTn id="361" dur="1" fill="hold">
                                          <p:stCondLst>
                                            <p:cond delay="0"/>
                                          </p:stCondLst>
                                        </p:cTn>
                                        <p:tgtEl>
                                          <p:spTgt spid="92"/>
                                        </p:tgtEl>
                                        <p:attrNameLst>
                                          <p:attrName>style.visibility</p:attrName>
                                        </p:attrNameLst>
                                      </p:cBhvr>
                                      <p:to>
                                        <p:strVal val="visible"/>
                                      </p:to>
                                    </p:set>
                                    <p:animEffect transition="in" filter="fade">
                                      <p:cBhvr>
                                        <p:cTn id="362" dur="550"/>
                                        <p:tgtEl>
                                          <p:spTgt spid="92"/>
                                        </p:tgtEl>
                                      </p:cBhvr>
                                    </p:animEffect>
                                  </p:childTnLst>
                                </p:cTn>
                              </p:par>
                            </p:childTnLst>
                          </p:cTn>
                        </p:par>
                        <p:par>
                          <p:cTn id="363" fill="hold">
                            <p:stCondLst>
                              <p:cond delay="0"/>
                            </p:stCondLst>
                            <p:childTnLst>
                              <p:par>
                                <p:cTn id="364" presetID="10" presetClass="entr" presetSubtype="0" fill="hold" grpId="0" nodeType="afterEffect">
                                  <p:stCondLst>
                                    <p:cond delay="0"/>
                                  </p:stCondLst>
                                  <p:childTnLst>
                                    <p:set>
                                      <p:cBhvr>
                                        <p:cTn id="365" dur="1" fill="hold">
                                          <p:stCondLst>
                                            <p:cond delay="0"/>
                                          </p:stCondLst>
                                        </p:cTn>
                                        <p:tgtEl>
                                          <p:spTgt spid="93"/>
                                        </p:tgtEl>
                                        <p:attrNameLst>
                                          <p:attrName>style.visibility</p:attrName>
                                        </p:attrNameLst>
                                      </p:cBhvr>
                                      <p:to>
                                        <p:strVal val="visible"/>
                                      </p:to>
                                    </p:set>
                                    <p:animEffect transition="in" filter="fade">
                                      <p:cBhvr>
                                        <p:cTn id="366" dur="550"/>
                                        <p:tgtEl>
                                          <p:spTgt spid="93"/>
                                        </p:tgtEl>
                                      </p:cBhvr>
                                    </p:animEffect>
                                  </p:childTnLst>
                                </p:cTn>
                              </p:par>
                            </p:childTnLst>
                          </p:cTn>
                        </p:par>
                        <p:par>
                          <p:cTn id="367" fill="hold">
                            <p:stCondLst>
                              <p:cond delay="200"/>
                            </p:stCondLst>
                            <p:childTnLst>
                              <p:par>
                                <p:cTn id="368" presetID="53" presetClass="entr" presetSubtype="16" fill="hold" grpId="0" nodeType="afterEffect">
                                  <p:stCondLst>
                                    <p:cond delay="0"/>
                                  </p:stCondLst>
                                  <p:childTnLst>
                                    <p:set>
                                      <p:cBhvr>
                                        <p:cTn id="369" dur="1" fill="hold">
                                          <p:stCondLst>
                                            <p:cond delay="0"/>
                                          </p:stCondLst>
                                        </p:cTn>
                                        <p:tgtEl>
                                          <p:spTgt spid="94"/>
                                        </p:tgtEl>
                                        <p:attrNameLst>
                                          <p:attrName>style.visibility</p:attrName>
                                        </p:attrNameLst>
                                      </p:cBhvr>
                                      <p:to>
                                        <p:strVal val="visible"/>
                                      </p:to>
                                    </p:set>
                                    <p:animEffect transition="in" filter="fade">
                                      <p:cBhvr>
                                        <p:cTn id="370" dur="550"/>
                                        <p:tgtEl>
                                          <p:spTgt spid="94"/>
                                        </p:tgtEl>
                                      </p:cBhvr>
                                    </p:animEffect>
                                    <p:anim calcmode="lin" valueType="num">
                                      <p:cBhvr additive="base">
                                        <p:cTn id="371" dur="550" fill="hold"/>
                                        <p:tgtEl>
                                          <p:spTgt spid="94"/>
                                        </p:tgtEl>
                                        <p:attrNameLst>
                                          <p:attrName>ppt_w</p:attrName>
                                        </p:attrNameLst>
                                      </p:cBhvr>
                                      <p:tavLst>
                                        <p:tav tm="0">
                                          <p:val>
                                            <p:strVal val="0"/>
                                          </p:val>
                                        </p:tav>
                                        <p:tav tm="100000">
                                          <p:val>
                                            <p:strVal val="#ppt_w"/>
                                          </p:val>
                                        </p:tav>
                                      </p:tavLst>
                                    </p:anim>
                                    <p:anim calcmode="lin" valueType="num">
                                      <p:cBhvr additive="base">
                                        <p:cTn id="372" dur="550" fill="hold"/>
                                        <p:tgtEl>
                                          <p:spTgt spid="94"/>
                                        </p:tgtEl>
                                        <p:attrNameLst>
                                          <p:attrName>ppt_h</p:attrName>
                                        </p:attrNameLst>
                                      </p:cBhvr>
                                      <p:tavLst>
                                        <p:tav tm="0">
                                          <p:val>
                                            <p:strVal val="0"/>
                                          </p:val>
                                        </p:tav>
                                        <p:tav tm="100000">
                                          <p:val>
                                            <p:strVal val="#ppt_h"/>
                                          </p:val>
                                        </p:tav>
                                      </p:tavLst>
                                    </p:anim>
                                  </p:childTnLst>
                                </p:cTn>
                              </p:par>
                            </p:childTnLst>
                          </p:cTn>
                        </p:par>
                        <p:par>
                          <p:cTn id="373" fill="hold">
                            <p:stCondLst>
                              <p:cond delay="350"/>
                            </p:stCondLst>
                            <p:childTnLst>
                              <p:par>
                                <p:cTn id="374" presetID="22" presetClass="entr" presetSubtype="8" fill="hold" grpId="0" nodeType="afterEffect">
                                  <p:stCondLst>
                                    <p:cond delay="0"/>
                                  </p:stCondLst>
                                  <p:childTnLst>
                                    <p:set>
                                      <p:cBhvr>
                                        <p:cTn id="375" dur="1" fill="hold">
                                          <p:stCondLst>
                                            <p:cond delay="0"/>
                                          </p:stCondLst>
                                        </p:cTn>
                                        <p:tgtEl>
                                          <p:spTgt spid="95"/>
                                        </p:tgtEl>
                                        <p:attrNameLst>
                                          <p:attrName>style.visibility</p:attrName>
                                        </p:attrNameLst>
                                      </p:cBhvr>
                                      <p:to>
                                        <p:strVal val="visible"/>
                                      </p:to>
                                    </p:set>
                                    <p:animEffect transition="in" filter="wipe(left)">
                                      <p:cBhvr>
                                        <p:cTn id="377" dur="800"/>
                                        <p:tgtEl>
                                          <p:spTgt spid="95"/>
                                        </p:tgtEl>
                                      </p:cBhvr>
                                    </p:animEffect>
                                  </p:childTnLst>
                                </p:cTn>
                              </p:par>
                            </p:childTnLst>
                          </p:cTn>
                        </p:par>
                        <p:par>
                          <p:cTn id="378" fill="hold">
                            <p:stCondLst>
                              <p:cond delay="500"/>
                            </p:stCondLst>
                            <p:childTnLst>
                              <p:par>
                                <p:cTn id="379" presetID="42" presetClass="entr" presetSubtype="0" fill="hold" grpId="0" nodeType="afterEffect">
                                  <p:stCondLst>
                                    <p:cond delay="0"/>
                                  </p:stCondLst>
                                  <p:childTnLst>
                                    <p:set>
                                      <p:cBhvr>
                                        <p:cTn id="380" dur="1" fill="hold">
                                          <p:stCondLst>
                                            <p:cond delay="0"/>
                                          </p:stCondLst>
                                        </p:cTn>
                                        <p:tgtEl>
                                          <p:spTgt spid="96"/>
                                        </p:tgtEl>
                                        <p:attrNameLst>
                                          <p:attrName>style.visibility</p:attrName>
                                        </p:attrNameLst>
                                      </p:cBhvr>
                                      <p:to>
                                        <p:strVal val="visible"/>
                                      </p:to>
                                    </p:set>
                                    <p:animEffect transition="in" filter="fade">
                                      <p:cBhvr>
                                        <p:cTn id="381" dur="550"/>
                                        <p:tgtEl>
                                          <p:spTgt spid="96"/>
                                        </p:tgtEl>
                                      </p:cBhvr>
                                    </p:animEffect>
                                    <p:anim calcmode="lin" valueType="num">
                                      <p:cBhvr additive="base">
                                        <p:cTn id="382" dur="550" fill="hold"/>
                                        <p:tgtEl>
                                          <p:spTgt spid="96"/>
                                        </p:tgtEl>
                                        <p:attrNameLst>
                                          <p:attrName>ppt_x</p:attrName>
                                        </p:attrNameLst>
                                      </p:cBhvr>
                                      <p:tavLst>
                                        <p:tav tm="0">
                                          <p:val>
                                            <p:strVal val="#ppt_x"/>
                                          </p:val>
                                        </p:tav>
                                        <p:tav tm="100000">
                                          <p:val>
                                            <p:strVal val="#ppt_x"/>
                                          </p:val>
                                        </p:tav>
                                      </p:tavLst>
                                    </p:anim>
                                    <p:anim calcmode="lin" valueType="num">
                                      <p:cBhvr additive="base">
                                        <p:cTn id="383" dur="550" fill="hold"/>
                                        <p:tgtEl>
                                          <p:spTgt spid="96"/>
                                        </p:tgtEl>
                                        <p:attrNameLst>
                                          <p:attrName>ppt_y</p:attrName>
                                        </p:attrNameLst>
                                      </p:cBhvr>
                                      <p:tavLst>
                                        <p:tav tm="0">
                                          <p:val>
                                            <p:strVal val="#ppt_y+.08"/>
                                          </p:val>
                                        </p:tav>
                                        <p:tav tm="100000">
                                          <p:val>
                                            <p:strVal val="#ppt_y"/>
                                          </p:val>
                                        </p:tav>
                                      </p:tavLst>
                                    </p:anim>
                                  </p:childTnLst>
                                </p:cTn>
                              </p:par>
                            </p:childTnLst>
                          </p:cTn>
                        </p:par>
                        <p:par>
                          <p:cTn id="384" fill="hold">
                            <p:stCondLst>
                              <p:cond delay="650"/>
                            </p:stCondLst>
                            <p:childTnLst>
                              <p:par>
                                <p:cTn id="385" presetID="10" presetClass="entr" presetSubtype="0" fill="hold" grpId="0" nodeType="afterEffect">
                                  <p:stCondLst>
                                    <p:cond delay="0"/>
                                  </p:stCondLst>
                                  <p:childTnLst>
                                    <p:set>
                                      <p:cBhvr>
                                        <p:cTn id="386" dur="1" fill="hold">
                                          <p:stCondLst>
                                            <p:cond delay="0"/>
                                          </p:stCondLst>
                                        </p:cTn>
                                        <p:tgtEl>
                                          <p:spTgt spid="97"/>
                                        </p:tgtEl>
                                        <p:attrNameLst>
                                          <p:attrName>style.visibility</p:attrName>
                                        </p:attrNameLst>
                                      </p:cBhvr>
                                      <p:to>
                                        <p:strVal val="visible"/>
                                      </p:to>
                                    </p:set>
                                    <p:animEffect transition="in" filter="fade">
                                      <p:cBhvr>
                                        <p:cTn id="387" dur="55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animBg="1"/>
      <p:bldP spid="73" grpId="0" animBg="1"/>
      <p:bldP spid="74" grpId="0" animBg="1"/>
      <p:bldP spid="75" grpId="0" animBg="1"/>
      <p:bldP spid="76" grpId="0" animBg="1"/>
      <p:bldP spid="77" grpId="0" animBg="1"/>
      <p:bldP spid="78" grpId="0" animBg="1"/>
      <p:bldP spid="79" grpId="0" animBg="1"/>
      <p:bldP spid="80" grpId="0" animBg="1"/>
      <p:bldP spid="81" grpId="0" animBg="1"/>
      <p:bldP spid="82" grpId="0" animBg="1"/>
      <p:bldP spid="83" grpId="0" animBg="1"/>
      <p:bldP spid="84" grpId="0" animBg="1"/>
      <p:bldP spid="85" grpId="0" animBg="1"/>
      <p:bldP spid="86" grpId="0" animBg="1"/>
      <p:bldP spid="87" grpId="0" animBg="1"/>
      <p:bldP spid="88" grpId="0" animBg="1"/>
      <p:bldP spid="89" grpId="0" animBg="1"/>
      <p:bldP spid="90" grpId="0" animBg="1"/>
      <p:bldP spid="91" grpId="0" animBg="1"/>
      <p:bldP spid="92" grpId="0" animBg="1"/>
      <p:bldP spid="93" grpId="0" animBg="1"/>
      <p:bldP spid="94" grpId="0" animBg="1"/>
      <p:bldP spid="95" grpId="0" animBg="1"/>
      <p:bldP spid="96" grpId="0" animBg="1"/>
      <p:bldP spid="97"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
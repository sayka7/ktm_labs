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Ushbu ma'ruzaning maqsadi — sun'iy intellekt tizimlarida hisoblash tezligini ko'pincha protsessor emas, balki xotira cheklab qo'yishini tushuntirish va magistrantlarga xotira iyerarxiyasi, NUMA arxitekturasi hamda ma'lumotlar lokalizatsiyasi asosida ish faoliyatini tahlil qilish va yaxshilash ko'nikmasini berish. Mavzuni o'zlashtirgan talaba:</a:t>
            </a:r>
          </a:p>
          <a:p/>
          <a:p>
            <a:r>
              <a:t>Zamonaviy serverdagi xotira iyerarxiyasining (registr, L1/L2/L3 kesh, DRAM, HBM, NVMe) pog'onalarini, ularning kechikish va o'tkazuvchanlik ko'rsatkichlarini va nima uchun bunday pog'onali tuzilma zarurligini tushuntira oladi.</a:t>
            </a:r>
          </a:p>
          <a:p/>
          <a:p>
            <a:r>
              <a:t>NUMA (Non-Uniform Memory Access) arxitekturasini, mahalliy va uzoq xotiraga murojaat farqini hamda numactl yordamida jarayonlarni tugunlarga bog'lashni amalda bajara oladi.</a:t>
            </a:r>
          </a:p>
          <a:p/>
          <a:p>
            <a:r>
              <a:t>Ma'lumotlar lokalizatsiyasi (data locality) — vaqt va fazoviy lokallik — tamoyillarini kodda aniqlay oladi va kesh-do'stona (cache-friendly) hamda kesh-do'stona bo'lmagan kirish namunalarini o'lchab taqqoslay oladi.</a:t>
            </a:r>
          </a:p>
          <a:p/>
          <a:p>
            <a:r>
              <a:t>Arifmetik intensivlik tushunchasi va roofline modeli yordamida berilgan operatsiya xotira bilan chegaralanganmi yoki hisoblash bilan chegaralanganmi, degan savolga asosli javob bera oladi.</a:t>
            </a:r>
          </a:p>
          <a:p/>
          <a:p>
            <a:r>
              <a:t>Sun'iy intellekt ilovalarida xotira o'tkazuvchanligini oshirish va ma'lumotlar almashinuvini kamaytirish usullarini (tiling, operator fusion, pinned memory, asinxron nusxalash, KV-kesh boshqaruvi) tanlab qo'llay oladi.</a:t>
            </a:r>
          </a:p>
          <a:p/>
          <a:p>
            <a:r>
              <a:t>Mavzu fanning TN1 (sun'iy intellekt tizimlari arxitekturasini tahlil qilish), TN2 (apparat va dasturiy ta'minotni birgalikda loyihalash) va TN5 (tizim unumdorligini baholash va optimallashtirish) o'rganish natijalariga bevosita xizmat qiladi, shuningdek M10 (roofline, profiling) va M8 (optimallashtirish) mavzulariga poydevor yaratadi.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Ushbu ma'ruzaning maqsadi — sun'iy intellekt tizimlarida hisoblash tezligini ko'pincha protsessor emas, balki xotira cheklab qo'yishini tushuntirish va magistrantlarga xotira iyerarxiyasi, NUMA arxitekturasi hamda ma'lumotlar lokalizatsiyasi asosida ish faoliyatini tahlil qilish va yaxshilash ko'nikmasini berish. Mavzuni o'zlashtirgan talaba:</a:t>
            </a:r>
          </a:p>
          <a:p/>
          <a:p>
            <a:r>
              <a:t>Zamonaviy serverdagi xotira iyerarxiyasining (registr, L1/L2/L3 kesh, DRAM, HBM, NVMe) pog'onalarini, ularning kechikish va o'tkazuvchanlik ko'rsatkichlarini va nima uchun bunday pog'onali tuzilma zarurligini tushuntira oladi.</a:t>
            </a:r>
          </a:p>
          <a:p/>
          <a:p>
            <a:r>
              <a:t>NUMA (Non-Uniform Memory Access) arxitekturasini, mahalliy va uzoq xotiraga murojaat farqini hamda numactl yordamida jarayonlarni tugunlarga bog'lashni amalda bajara oladi.</a:t>
            </a:r>
          </a:p>
          <a:p/>
          <a:p>
            <a:r>
              <a:t>Ma'lumotlar lokalizatsiyasi (data locality) — vaqt va fazoviy lokallik — tamoyillarini kodda aniqlay oladi va kesh-do'stona (cache-friendly) hamda kesh-do'stona bo'lmagan kirish namunalarini o'lchab taqqoslay oladi.</a:t>
            </a:r>
          </a:p>
          <a:p/>
          <a:p>
            <a:r>
              <a:t>Arifmetik intensivlik tushunchasi va roofline modeli yordamida berilgan operatsiya xotira bilan chegaralanganmi yoki hisoblash bilan chegaralanganmi, degan savolga asosli javob bera oladi.</a:t>
            </a:r>
          </a:p>
          <a:p/>
          <a:p>
            <a:r>
              <a:t>Sun'iy intellekt ilovalarida xotira o'tkazuvchanligini oshirish va ma'lumotlar almashinuvini kamaytirish usullarini (tiling, operator fusion, pinned memory, asinxron nusxalash, KV-kesh boshqaruvi) tanlab qo'llay oladi.</a:t>
            </a:r>
          </a:p>
          <a:p/>
          <a:p>
            <a:r>
              <a:t>Mavzu fanning TN1 (sun'iy intellekt tizimlari arxitekturasini tahlil qilish), TN2 (apparat va dasturiy ta'minotni birgalikda loyihalash) va TN5 (tizim unumdorligini baholash va optimallashtirish) o'rganish natijalariga bevosita xizmat qiladi, shuningdek M10 (roofline, profiling) va M8 (optimallashtirish) mavzulariga poydevor yaratadi.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Oxirgi yigirma yil ichida protsessorlarning cho'qqi hisoblash quvvati xotira o'tkazuvchanligiga qaraganda ancha tez o'sdi. Bu hodisa adabiyotda «xotira devori» (memory wall) deb ataladi. Masalan, NVIDIA H100 SXM tezlatkichi FP16 Tensor Core rejimida taxminan 990 TFLOPS (zich matritsalar uchun) hisoblash quvvatiga ega, uning HBM3 xotirasi esa sekundiga taxminan 3,35 TB ma'lumot uzatadi. Bu nisbat shuni anglatadiki, xotiradan o'qilgan har bir bayt uchun qariyb 300 ta suzuvchi nuqtali amal bajarish imkoni bor. Agar algoritm har baytga 300 dan kam amal bajarsa, tezlatkichning hisoblash bloklari xotira ma'lumot yetkazib berishini kutib bekor turadi. Katta til modellarining (LLM) dekodlash bosqichi, tavsiya tizimlaridagi embedding jadvallariga murojaat, normalizatsiya va aktivatsiya qatlamlari — bularning hammasi aynan shunday, xotira bilan chegaralangan (memory-bound) ish yuklaridir.</a:t>
            </a:r>
          </a:p>
          <a:p/>
          <a:p>
            <a:r>
              <a:t>Shu sababli sun'iy intellektga asoslangan kompyuter tizimlari muhandisi uchun «qancha FLOPS bor?» degan savol ikkinchi darajali; birinchi savol — «ma'lumot qayerda yotibdi va u hisoblash blokigacha qanday yo'l bosib keladi?». Bu savolga javob berish uchun xotira iyerarxiyasini, ko'p soketli serverlardagi NUMA tuzilmasini va dasturiy kodda ma'lumotlar lokalizatsiyasini boshqarishni bilish zarur.</a:t>
            </a:r>
          </a:p>
          <a:p/>
          <a:p>
            <a:r>
              <a:t>Sanoat kontekstida bu bilim bevosita pulga aylanadi. Bulutli provayderlarda GPU-soatning narxi bir necha dollarni tashkil etadi; agar o'qitish ishi xotira kirish namunasi yomonligi tufayli ikki barobar sekin ishlasa, loyiha byudjeti ham ikki barobar oshadi. Ma'lumot markazlarida xotira quyi tizimi energiya iste'molining salmoqli qismini tashkil etadi: DRAM'dan bir bayt o'qish uchun sarflanadigan energiya registrdagi arifmetik amalga qaraganda yuzlab marta ko'p. Shuning uchun ma'lumotlar harakatini kamaytirish — bir vaqtning o'zida tezlik, narx va energiya samaradorligi masalasidir.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Xotira iyerarxiyasi — bu tezlik, hajm va narx o'rtasidagi murosaning muhandislik yechimi. Juda tez xotira (SRAM asosidagi registrlar va kesh) qimmat va kichik hajmli, katta hajmli xotira (DRAM, flesh) esa sekin. Iyerarxiya g'oyasi shundan iboratki, dastur hozir ishlatayotgan kichik ma'lumotlar to'plami tez pog'onada, qolgani esa katta va sekin pog'onalarda saqlanadi. Hennessy va Patterson [1] ta'kidlaganidek, bu yechim faqat dasturlar lokallik xususiyatiga ega bo'lgani uchungina ishlaydi.</a:t>
            </a:r>
          </a:p>
          <a:p/>
          <a:p>
            <a:r>
              <a:t>Zamonaviy server protsessori va tezlatkich uchun tipik ko'rsatkichlar quyidagi jadvalda keltirilgan (raqamlar taxminiy, avlod va modelga qarab farq qiladi):</a:t>
            </a:r>
          </a:p>
          <a:p/>
          <a:p>
            <a:r>
              <a:t>Jadvaldan ikki xulosa kelib chiqadi. Birinchidan, pog'onalar orasida kechikish farqi o'nlab va yuzlab martani tashkil etadi: L1 keshdan o'qish DRAM'dan o'qishdan qariyb yuz marta tez. Ikkinchidan, CPU va GPU orasidagi PCIe havolasi GPU'ning o'z xotirasidan qariyb 50 marta sekin — demak, har bir iteratsiyada ma'lumotni CPU'dan GPU'ga ko'chiradigan kod hech qachon GPU imkoniyatini to'liq ishlata olmaydi.</a:t>
            </a:r>
          </a:p>
          <a:p/>
          <a:p>
            <a:r>
              <a:t>Kesh satr (cache line) birligi odatda 64 bayt. Protsessor xotiradan bitta float32 qiymatni so'raganda ham butun 64 baytlik satr (16 ta float32) keshga yuklanadi. Agar dastur keyingi qadamda qo'shni elementga murojaat qilsa — u allaqachon keshda; agar 4096 bayt naridagi elementga murojaat qilsa — yangi satr yuklanadi, eskisi esa bekor sarflangan bo'ladi. Shu oddiy mexanizm quyida ko'riladigan o'n baravar farqning asosiy sababidir.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Ma'lumotlar lokalizatsiyasi (data locality) ikki shaklda namoyon bo'ladi. Vaqt lokalligi (temporal locality) — yaqinda ishlatilgan ma'lumot yaqin orada yana ishlatilishi ehtimoli yuqori; shuning uchun uni keshda ushlab turish foydali. Fazoviy lokallik (spatial locality) — ishlatilgan ma'lumotning qo'shnilari ham tez orada ishlatilishi ehtimoli yuqori; shuning uchun xotira satrlab yuklanadi va apparat oldindan yuklovchi (hardware prefetcher) ketma-ket namunani sezib, keyingi satrlarni oldindan tortib keladi.</a:t>
            </a:r>
          </a:p>
          <a:p/>
          <a:p>
            <a:r>
              <a:t>Ko'p o'lchovli massivlarda lokallik xotirada joylashish tartibiga bog'liq. NumPy va PyTorch'da standart tartib — satr-ustuvor (row-major, C-order): A[i, j] elementidan keyin xotirada A[i, j+1] yotadi. Demak, ichki sikl j bo'yicha yursa, kirish ketma-ket va kesh-do'stona bo'ladi; ichki sikl i bo'yicha yursa, har qadamda butun satr uzunligiga (masalan, 8192 × 4 bayt = 32 KB) sakrash yuz beradi va deyarli har bir murojaat keshni o'tkazib yuboradi (cache miss). Matematik jihatdan ikkala variant bir xil natija beradi, lekin ish vaqti o'nlab marta farq qilishi mumkin.</a:t>
            </a:r>
          </a:p>
          <a:p/>
          <a:p>
            <a:r>
              <a:t>Chuqur o'rganish freymvorklarida bu masala tensor tartibi (memory format) ko'rinishida uchraydi: PyTorch'da konvolyutsion tarmoqlar uchun NCHW (kanal birinchi) va NHWC (channels_last) formatlari mavjud. Tensor Core va cuDNN kernellari ko'pincha NHWC tartibida tezroq ishlaydi, chunki bitta piksel uchun barcha kanallar xotirada yonma-yon turadi va vektorli yuklash samarali bo'ladi. Shuning uchun model.to(memory_format=torch.channels_last) chaqiruvi ba'zi tarmoqlarda 10–30 foiz tezlashish beradi — kod mantig'i o'zgarmagan holda.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Ko'p soketli serverlarda (masalan, ikki protsessorli Intel Xeon yoki AMD EPYC tizimlari) har bir protsessorning o'z xotira kontrollerlari va unga ulangan DRAM modullari bor. Bitta soketdagi yadro o'z DRAM'iga («mahalliy tugun») to'g'ridan-to'g'ri murojaat qiladi; boshqa soketning DRAM'iga («uzoq tugun») esa protsessorlararo havola (Intel UPI yoki AMD Infinity Fabric) orqali murojaat qiladi. Natijada xotiraga kirish vaqti bir xil emas — bu Non-Uniform Memory Access, qisqacha NUMA. Odatda uzoq murojaat mahalliysidan 1,3–2 marta sekin va havola o'tkazuvchanligi mahalliy DRAM kanallaridan kichik.</a:t>
            </a:r>
          </a:p>
          <a:p/>
          <a:p>
            <a:r>
              <a:t>AMD EPYC protsessorlarida vaziyat yanada murakkabroq: bitta soket ichida ham bir nechta chiplet (CCD) va I/O kristali bor, shuning uchun BIOS sozlamalariga qarab bitta soket 1, 2 yoki 4 NUMA tuguni sifatida ko'rinishi mumkin (NPS1/NPS2/NPS4 rejimlari). GPU serverlarida esa PCIe kommutatorlari ham NUMA tugunlariga bog'langan: 8 GPU'li DGX-uslubidagi serverda 4 ta GPU birinchi soketga, 4 tasi ikkinchisiga «yaqin». Agar ma'lumot yuklovchi jarayon (dataloader) birinchi soketda ishlab, ikkinchi soketga yaqin GPU'ga ma'lumot yuborsa, har bir partiya (batch) protsessorlararo havoladan o'tadi.</a:t>
            </a:r>
          </a:p>
          <a:p/>
          <a:p>
            <a:r>
              <a:t>Linux yadrosi standart holatda «first-touch» siyosatini qo'llaydi: xotira sahifasi uni birinchi marta yozgan (ishga tushirgan) yadro joylashgan tugunda ajratiladi. Bu ko'pincha to'g'ri ishlaydi, lekin pitfall ham bor: agar bosh ip (thread) katta massivni nol bilan to'ldirib, keyin uni barcha soketlardagi iplarga tarqatsa, butun massiv bitta tugunda yotadi va qolgan soketlar uzoq murojaatga majbur bo'ladi. numactl utilitasi bu siyosatni boshqarish imkonini beradi: --cpunodebind=0 --membind=0 jarayonni faqat 0-tugun yadrolari va xotirasiga bog'laydi, --interleave=all esa sahifalarni tugunlar bo'ylab navbatma-navbat taqsimlaydi — bu o'tkazuvchanlikni yig'adi, lekin o'rtacha kechikishni oshiradi.</a:t>
            </a:r>
          </a:p>
          <a:p/>
          <a:p>
            <a:r>
              <a:t>Sun'iy intellekt tizimlarida NUMA'ga e'tibor berish uchta joyda muhim: (1) dataloader iplarini GPU'ga yaqin soketga bog'lash; (2) CPU'da inferens qiluvchi xizmatlarni (masalan, ONNX Runtime bilan) har bir soketda alohida nusxa sifatida ishga tushirish; (3) katta embedding jadvallari yoki KV-kesh CPU xotirasiga «chiqarilgan» (offload) holatlarda ularni to'g'ri tugunga joylash.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Qaysi ish yuki xotira bilan chegaralanganini miqdoriy baholash uchun arifmetik intensivlik (arithmetic intensity) tushunchasi ishlatiladi: I = FLOP / bayt — bajarilgan suzuvchi nuqtali amallar sonini xotiradan o'qilgan va yozilgan baytlar soniga bo'lish. Roofline modeli (Williams, Waterman, Patterson, 2009) esa erishiladigan unumdorlikni quyidagicha chegaralaydi:</a:t>
            </a:r>
          </a:p>
          <a:p/>
          <a:p>
            <a:r>
              <a:t>P_erishiladigan = min(P_cho'qqi, B_xotira × I)</a:t>
            </a:r>
          </a:p>
          <a:p/>
          <a:p>
            <a:r>
              <a:t>bu yerda P_cho'qqi — qurilmaning maksimal hisoblash quvvati (FLOP/s), B_xotira — xotira o'tkazuvchanligi (bayt/s). Ikki chiziq kesishgan nuqta — «sinish nuqtasi» (ridge point) — I = P_cho'qqi / B_xotira. H100 uchun FP16 rejimda I ≈ 990e12 / 3,35e12 ≈ 295 FLOP/bayt; FP32 (Tensor Core'siz, ~67 TFLOPS) uchun esa I ≈ 20 FLOP/bayt.</a:t>
            </a:r>
          </a:p>
          <a:p/>
          <a:p>
            <a:r>
              <a:t>Bir necha tipik operatsiyaning intensivligi:</a:t>
            </a:r>
          </a:p>
          <a:p/>
          <a:p>
            <a:r>
              <a:t>Jadval LLM inferensining mashhur muammosini tushuntiradi: batch hajmi 1 bo'lganda har bir yangi token uchun modelning barcha og'irliklari (70 mlrd parametrli model uchun FP16'da 140 GB) xotiradan o'qiladi, lekin har bir og'irlik faqat bitta ko'paytirish-qo'shish uchun ishlatiladi. Intensivlik ~1 FLOP/bayt, demak H100 o'z quvvatining 1 foizidan kamini ishlatadi va token tezligi faqat HBM o'tkazuvchanligi bilan belgilanadi: 3,35 TB/s ÷ 140 GB ≈ sekundiga 24 token (nazariy chegara). Batch hajmini oshirish intensivlikni deyarli proporsional oshiradi — shuning uchun inferens serverlari so'rovlarni to'playdi (batching).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Muhandislik amaliyotida quyidagi usullar guruhi ajralib turadi.</a:t>
            </a:r>
          </a:p>
          <a:p/>
          <a:p>
            <a:r>
              <a:t>Apparat darajasida: HBM (High Bandwidth Memory) — DRAM kristallarini vertikal stakalab, GPU bilan keng (1024+ bit) interfeys orqali ulash; H100'da HBM3, B200'da HBM3e ishlatiladi. Keng L2/L3 keshlar (AMD EPYC Genoa-X'da 1 GB gacha 3D V-Cache). NVLink — GPU'lar orasida PCIe'dan bir necha marta tezroq havola (H100'da 900 GB/s). CXL (Compute Express Link) — CPU xotirasini kengaytirish va keshni izchil ulashish uchun yangi standart.</a:t>
            </a:r>
          </a:p>
          <a:p/>
          <a:p>
            <a:r>
              <a:t>Algoritm darajasida: tiling (bloklash) — katta matritsani keshga sig'adigan bloklarga bo'lib, har bir blok ustida maksimal ishni bajarish; bu GEMM kutubxonalarining (cuBLAS, oneDNN) asosiy tamoyili. Operator fusion — ketma-ket kelgan xotira bilan chegaralangan operatsiyalarni (masalan, matritsa ko'paytmasi + bias + GELU) bitta kernelga birlashtirish, shunda oraliq natija HBM'ga yozilmaydi va qayta o'qilmaydi; torch.compile va TensorRT aynan shu ishni avtomatlashtiradi. FlashAttention — attention mexanizmini N×N matritsani hech qachon HBM'ga yozmasdan, SRAM'da bloklab hisoblash; bu xotira trafigini kvadratikdan chiziqli darajaga tushiradi va uzun kontekstlarni amalda mumkin qiladi.</a:t>
            </a:r>
          </a:p>
          <a:p/>
          <a:p>
            <a:r>
              <a:t>Tizim darajasida: pinned (sahifalanmaydigan, page-locked) xotira — cudaHostAlloc yoki PyTorch'da pin_memory=True — CPU→GPU nusxalashni DMA orqali to'g'ridan-to'g'ri va asinxron bajarish imkonini beradi; dataloader'da num_workers va prefetch_factor orqali keyingi partiyani oldindan tayyorlash; GPUDirect Storage — NVMe'dan GPU xotirasiga CPU'ni chetlab o'tib o'qish; past aniqlikdagi formatlar (FP16, BF16, FP8, INT8) — bir xil o'tkazuvchanlikda ikki-to'rt barobar ko'p element uzatish (bu M8 mavzusida batafsil ko'riladi).</a:t>
            </a:r>
          </a:p>
          <a:p/>
          <a:p>
            <a:r>
              <a:t>Ushbu usullarning barchasini birlashtiruvchi tamoyil bitta: hisoblashni ma'lumot yoniga olib borish, ma'lumotni hisoblash yoniga emas.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Quyidagi misol ikki qismdan iborat: (a) NumPy va PyTorch'da kesh-do'stona va do'stona bo'lmagan kirishni o'lchash, (b) numactl bilan NUMA ta'sirini ko'rish va roofline nuqtai nazaridan tahlil qilish. Barcha kodlar oddiy Linux serverida (ikki soketli, Python 3.10+, NumPy, PyTorch) ishlaydi; GPU qismi ixtiyoriy.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lscpu yadro soni, soketlar va kesh hajmlarini ko'rsatadi; numactl --hardware NUMA tugunlarini, har biridagi xotira hajmini va tugunlararo «masofa» jadvalini chiqaradi (odatda mahalliy = 10, uzoq = 20–32, bu nisbiy kechikish). Oxirgi buyruq kesh satr uzunligini (64) beradi — keyingi tajribalar uchun asos. Ikki soketli serverda tipik chiqish: available: 2 nodes (0-1), har tugunda 256 GB va masofa jadvali 10 21 / 21 10.</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A.sum(axis=1) xotirani ketma-ket o'qiydi — har kesh satrining barcha 16 elementi ishlatiladi, prefetcher samarali ishlaydi, tezlik bir yadroda ~8–12 GB/s ga yetadi (taxminiy). A.sum(axis=0) ham tez, chunki NumPy ichida ustun yig'indisini satrma-satr akkumulyatsiya qilib bajaradi — bu kutubxona mualliflari lokallikni hisobga olganining namunasi. Lekin col_loop da har A[:, j] kesimi 32 KB qadam bilan yuradi: 8192 ta element uchun 8192 ta turli kesh satri yuklanadi va har biridan faqat 4 bayt ishlatiladi — samaradorlik 1/16. Tipik serverda col_loop row_loop dan 8–15 marta sekin bo'ladi. Bu farq hisoblash miqdori bir xil bo'lgani holda faqat xotira kirish tartibidan kelib chiqadi.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sodda transponirlashda o'qish yoki yozishdan biri doimo katta qadam bilan yuradi. Tiling'da 64×64 blok (16 KB) L1 yoki L2 keshga to'liq sig'adi, shuning uchun blok ichida ham o'qish, ham yozish kesh ichida bajariladi, DRAM'ga esa faqat to'liq satrlar chiqadi. Tipik natija: naive ~2–3 s, tiled ~0,4–0,8 s, NumPy'ning o'z yo'li ~0,3 s (Python sikl yuki yo'qligi uchun). Aynan shu tamoyil cuBLAS va cuDNN ichida GPU'ning umumiy xotirasi (shared memory, 100–228 KB / SM) uchun qo'llaniladi.</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transpose PyTorch'da ma'lumotni ko'chirmaydi, faqat stride'larni o'zgartiradi; natijada y «noncontiguous» bo'ladi va ko'p kernellar unga sekinroq ishlaydi yoki ichki nusxa oladi. channels_last formatida CPU'da oneDNN va GPU'da cuDNN kernellari vektorli yuklashni samaraliroq bajaradi. Taxminiy natija: 16 yadroli CPU'da konvolyutsiya NCHW ~180 ms, channels_last ~130 ms (25–30 foiz yutuq); GPU'da (A100, FP16, AMP bilan) farq 1,2–1,5 martagacha. Agar GPU bo'lsa, x.cuda() qo'shib, torch.cuda.synchronize() bilan o'lchang.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--membind sahifalar ajratiladigan tugunni majburlaydi, --cpunodebind esa iplarning qaysi yadrolarda ishlashini. Birinchi holatda nusxalash mahalliy DRAM kanallari orqali, ikkinchisida UPI/Infinity Fabric orqali ketadi. Taxminiy natija (ikki soketli 32 yadroli server, bitta jarayon): mahalliy ~20–25 GB/s, uzoq ~12–16 GB/s, interleave ~17–20 GB/s. Farq 1,5–2 marta. Ko'p ipli (OMP_NUM_THREADS bilan boshqariladigan) yuklarda yoki PyTorch dataloader'ida nisbat shunga o'xshash saqlanadi. numastat -p buyrug'i jarayon sahifalarining tugunlar bo'yicha taqsimotini ko'rsatadi — bu dataloader iplarini tekshirishda qo'l keladi.</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n=512 da intensivlik ~170 FLOP/bayt bo'lsa-da, matritsa kichik va kernel ishga tushirish yuki (launch overhead, ~5–10 mks) ustun keladi — o'lchangan TFLOPS past. n=8192 da intensivlik ~2700 FLOP/bayt, H100'da ~600–750 TFLOPS kuzatiladi (cho'qqining 60–75 foizi, taxminiy) — hisoblash bilan chegaralangan rejim. GEMV esa intensivligi 1 FLOP/bayt bo'lgani uchun TFLOPS juda past, lekin erishilgan o'tkazuvchanlik ~2,5–3 TB/s — ya'ni HBM3 chegarasiga yaqin. Bu roofline'ning ikkita «tomi»ni amalda ko'rsatadi: GEMV qiya chiziqda, katta GEMM esa gorizontal chiziqda yotadi. Natijalarni bitta grafikka (X — intensivlik, Y — TFLOPS, log-log) joylash tavsiya etiladi; GPU bo'lmasa CPU uchun ham xuddi shu tahlil ishlaydi (cho'qqi va o'tkazuvchanlik qiymatlari boshqa).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Birinchi tajriba eng muhim xulosani beradi: bir xil hisoblash miqdori xotira kirish tartibiga qarab 10 va undan ortiq marta farq qiluvchi vaqtda bajarilishi mumkin. Bu farqni «hisoblash quvvati» bilan izohlab bo'lmaydi — protsessor ikkala holatda ham bir xil. Farq kesh satrlaridan foydalanish samaradorligida (1/1 ga qarshi 1/16) va prefetcher'ning ishlay olishi yoki olmasligidadir. Shundan kelib chiqadigan amaliy qoida: ichki siklni xotirada ketma-ket yotgan o'lchov bo'yicha yuriting yoki ma'lumot tartibini shunga moslang.</a:t>
            </a:r>
          </a:p>
          <a:p/>
          <a:p>
            <a:r>
              <a:t>Tiling tajribasi hisoblash miqdorini o'zgartirmasdan xotira trafigini kamaytirish mumkinligini ko'rsatadi. Bu kutubxona darajasidagi usul, lekin uning tushunchasi amaliy muhandis uchun zarur: torch.compile nima qilayotganini, nega FlashAttention tez ekanini va nega ba'zi «qo'lda yozilgan» kernellar kutubxonadagidan sekin ekanini aynan shu orqali tushunish mumkin.</a:t>
            </a:r>
          </a:p>
          <a:p/>
          <a:p>
            <a:r>
              <a:t>NUMA tajribasi 1,5–2 baravar farq beradi — bu kesh tajribasidagi kabi keskin emas, lekin katta klasterda muhim. Shuni ta'kidlash kerakki, NUMA ta'siri o'tkazuvchanlik bilan chegaralangan yuklarda sezilarli, hisoblash bilan chegaralangan yuklarda esa deyarli ko'rinmaydi. Shuning uchun avval roofline tahlili bilan ish yukining tabiatini aniqlab, keyin NUMA sozlamalariga vaqt sarflash oqilona.</a:t>
            </a:r>
          </a:p>
          <a:p/>
          <a:p>
            <a:r>
              <a:t>Roofline tajribasi esa barcha kuzatuvlarni birlashtiradi: operatsiyaning intensivligini bilgan holda uning maksimal tezligini oldindan bashorat qilish mumkin, va o'lchangan natija bashoratdan ancha past bo'lsa — muammo dasturiy ta'minotda (kernel tanlovi, launch overhead, sinxronizatsiya). LLM dekodlash misolida batch'siz inferensda GPU quvvatining 99 foizi bekor turishini roofline bir qarashda ko'rsatadi; yechim — batching, kvantlash (og'irlik baytlarini kamaytirish) yoki spekulyativ dekodlash.</a:t>
            </a:r>
          </a:p>
          <a:p/>
          <a:p>
            <a:r>
              <a:t>Cheklovlar: Python sikllari o'z yukini qo'shadi, shuning uchun mutlaq raqamlar C yoki CUDA'dagi o'lchovlardan farq qiladi — lekin nisbatlar saqlanadi. time.perf_counter bilan o'lchash GPU'da sinxronizatsiyasiz noto'g'ri natija beradi; aniq o'lchov uchun torch.cuda.Event yoki Nsight Systems profilerlari ishlatiladi (M10). Kesh hajmlari va NUMA topologiyasi mashinaga qarab farq qilgani uchun har bir yangi serverda tajribani takrorlash lozim. Muqobil yondashuvlar sifatida perf stat -e cache-misses,LLC-load-misses bilan apparat hisoblagichlarini o'qish, Intel VTune yoki AMD uProf bilan xotira kirish profilini olish, GPU uchun esa Nsight Compute'ning o'zidagi roofline tahlili tavsiya qilinadi.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Ichki siklni noto'g'ri o'lchov bo'yicha yuritish. C-order massivda oxirgi indeks eng tez o'zgarishi kerak. Fortran-order (MATLAB, Fortran, ba'zi BLAS interfeyslari) bilan ishlaganda aksincha. Shubha bo'lsa, arr.strides ni tekshiring.</a:t>
            </a:r>
          </a:p>
          <a:p/>
          <a:p>
            <a:r>
              <a:t>Noncontiguous tensorni sezmaslik. transpose, permute, narrow, expand natijasi ko'rinish (view). Keyingi og'ir operatsiyadan oldin .contiguous() qo'llang yoki kernel qo'llab-quvvatlasa, channels_last formatidan foydalaning. Ko'p nusxalardan qochish uchun tartibni oldindan tanlang.</a:t>
            </a:r>
          </a:p>
          <a:p/>
          <a:p>
            <a:r>
              <a:t>Har iteratsiyada CPU↔GPU nusxalash. .item(), .cpu(), print(tensor) chaqiruvlari sinxron nusxa va GPU navbatini to'xtatishga sabab bo'ladi. Metrikalarni GPU'da to'plang va faqat davr oxirida o'qing. Dataloader'da pin_memory=True va non_blocking=True dan foydalaning.</a:t>
            </a:r>
          </a:p>
          <a:p/>
          <a:p>
            <a:r>
              <a:t>Dataloader iplarini NUMA'ga bog'lamaslik. 8 GPU'li serverda har GPU jarayonini unga yaqin soketga numactl --cpunodebind yoki torchrun muhitida CUDA_VISIBLE_DEVICES + taskset orqali bog'lang. nvidia-smi topo -m buyrug'i GPU–NUMA moslikni ko'rsatadi.</a:t>
            </a:r>
          </a:p>
          <a:p/>
          <a:p>
            <a:r>
              <a:t>First-touch tuzog'i. Katta bufer bosh ipda nol bilan to'ldirilib, keyin barcha soketlarda ishlatilsa, butun bufer bitta tugunda qoladi. Buferni ishlatadigan iplarning o'zi initsializatsiya qilsin yoki --interleave qo'llang.</a:t>
            </a:r>
          </a:p>
          <a:p/>
          <a:p>
            <a:r>
              <a:t>Roofline'siz optimallashtirish. Xotira bilan chegaralangan kernelni Tensor Core'ga «ko'chirish» foyda bermaydi — avval intensivlikni hisoblang. Agar operatsiya qiya chiziqda bo'lsa, yechim fusion yoki past aniqlikdagi format; gorizontal chiziqda bo'lsa — kernel tanlovi va yuklanish.</a:t>
            </a:r>
          </a:p>
          <a:p/>
          <a:p>
            <a:r>
              <a:t>Kichik matritsalarda launch overhead'ni e'tiborsiz qoldirish. Minglab kichik kernel chaqiruvi o'rniga batched GEMM (torch.bmm), CUDA Graphs yoki torch.compile ishlating.</a:t>
            </a:r>
          </a:p>
          <a:p/>
          <a:p>
            <a:r>
              <a:t>Faqat bir marta o'lchash. Isitish (warm-up) bosqichisiz birinchi chaqiruv kesh va JIT yukini o'z ichiga oladi. Kamida 3–5 takror, median qiymat va standart og'ishni hisobot qiling; GPU'da sinxronizatsiya shart.</a:t>
            </a:r>
          </a:p>
          <a:p/>
          <a:p>
            <a:r>
              <a:t>Swap va huge pages'ni unutish. Katta embedding jadvallari uchun transparent huge pages (2 MB) TLB o'tkazib yuborishlarni kamaytiradi; swap yoqilgan bo'lsa dataloader ba'zan keskin sekinlashadi — vm.swappiness va vm.overcommit sozlamalarini tekshiring.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Ichki siklni noto'g'ri o'lchov bo'yicha yuritish. C-order massivda oxirgi indeks eng tez o'zgarishi kerak. Fortran-order (MATLAB, Fortran, ba'zi BLAS interfeyslari) bilan ishlaganda aksincha. Shubha bo'lsa, arr.strides ni tekshiring.</a:t>
            </a:r>
          </a:p>
          <a:p/>
          <a:p>
            <a:r>
              <a:t>Noncontiguous tensorni sezmaslik. transpose, permute, narrow, expand natijasi ko'rinish (view). Keyingi og'ir operatsiyadan oldin .contiguous() qo'llang yoki kernel qo'llab-quvvatlasa, channels_last formatidan foydalaning. Ko'p nusxalardan qochish uchun tartibni oldindan tanlang.</a:t>
            </a:r>
          </a:p>
          <a:p/>
          <a:p>
            <a:r>
              <a:t>Har iteratsiyada CPU↔GPU nusxalash. .item(), .cpu(), print(tensor) chaqiruvlari sinxron nusxa va GPU navbatini to'xtatishga sabab bo'ladi. Metrikalarni GPU'da to'plang va faqat davr oxirida o'qing. Dataloader'da pin_memory=True va non_blocking=True dan foydalaning.</a:t>
            </a:r>
          </a:p>
          <a:p/>
          <a:p>
            <a:r>
              <a:t>Dataloader iplarini NUMA'ga bog'lamaslik. 8 GPU'li serverda har GPU jarayonini unga yaqin soketga numactl --cpunodebind yoki torchrun muhitida CUDA_VISIBLE_DEVICES + taskset orqali bog'lang. nvidia-smi topo -m buyrug'i GPU–NUMA moslikni ko'rsatadi.</a:t>
            </a:r>
          </a:p>
          <a:p/>
          <a:p>
            <a:r>
              <a:t>First-touch tuzog'i. Katta bufer bosh ipda nol bilan to'ldirilib, keyin barcha soketlarda ishlatilsa, butun bufer bitta tugunda qoladi. Buferni ishlatadigan iplarning o'zi initsializatsiya qilsin yoki --interleave qo'llang.</a:t>
            </a:r>
          </a:p>
          <a:p/>
          <a:p>
            <a:r>
              <a:t>Roofline'siz optimallashtirish. Xotira bilan chegaralangan kernelni Tensor Core'ga «ko'chirish» foyda bermaydi — avval intensivlikni hisoblang. Agar operatsiya qiya chiziqda bo'lsa, yechim fusion yoki past aniqlikdagi format; gorizontal chiziqda bo'lsa — kernel tanlovi va yuklanish.</a:t>
            </a:r>
          </a:p>
          <a:p/>
          <a:p>
            <a:r>
              <a:t>Kichik matritsalarda launch overhead'ni e'tiborsiz qoldirish. Minglab kichik kernel chaqiruvi o'rniga batched GEMM (torch.bmm), CUDA Graphs yoki torch.compile ishlating.</a:t>
            </a:r>
          </a:p>
          <a:p/>
          <a:p>
            <a:r>
              <a:t>Faqat bir marta o'lchash. Isitish (warm-up) bosqichisiz birinchi chaqiruv kesh va JIT yukini o'z ichiga oladi. Kamida 3–5 takror, median qiymat va standart og'ishni hisobot qiling; GPU'da sinxronizatsiya shart.</a:t>
            </a:r>
          </a:p>
          <a:p/>
          <a:p>
            <a:r>
              <a:t>Swap va huge pages'ni unutish. Katta embedding jadvallari uchun transparent huge pages (2 MB) TLB o'tkazib yuborishlarni kamaytiradi; swap yoqilgan bo'lsa dataloader ba'zan keskin sekinlashadi — vm.swappiness va vm.overcommit sozlamalarini tekshiring.</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uchun protsessor ishlab chiqaruvchilari L1 keshni kattalashtirish o'rniga uch pog'onali kesh iyerarxiyasini afzal ko'radi? Hajm, kechikish va energiya nuqtai nazaridan asoslang.</a:t>
            </a:r>
          </a:p>
          <a:p/>
          <a:p>
            <a:r>
              <a:t>70 milliard parametrli modelni FP16'da bitta H100'da batch=1 bilan dekodlashning nazariy token tezligi chegarasini hisoblang. INT4 kvantlash va batch=32 bu chegarani qanday o'zgartiradi? Nega?</a:t>
            </a:r>
          </a:p>
          <a:p/>
          <a:p>
            <a:r>
              <a:t>A.sum(axis=0) NumPy'da nega col_loop dan ancha tez ishlaydi, garchi ikkalasi ham «ustun bo'yicha» yig'indi hisoblasa? Kutubxona qaysi tamoyilni qo'llagan?</a:t>
            </a:r>
          </a:p>
          <a:p/>
          <a:p>
            <a:r>
              <a:t>Ikki soketli serverda 8 ta GPU bor. Dataloader jarayonlari qanday taqsimlanishi kerak va buni qaysi buyruqlar bilan tekshirasiz? First-touch siyosati bunga qanday ta'sir qiladi?</a:t>
            </a:r>
          </a:p>
          <a:p/>
          <a:p>
            <a:r>
              <a:t>Roofline modelida «sinish nuqtasi» nimani anglatadi? H100'da FP8 Tensor Core (~1979 TFLOPS) ishlatilsa, sinish nuqtasi qanday siljiydi va bu dasturchiga nima deydi?</a:t>
            </a:r>
          </a:p>
          <a:p/>
          <a:p>
            <a:r>
              <a:t>Operator fusion xotira trafigini qanday kamaytiradi? LayerNorm + residual qo'shish + dropout zanjiri uchun fusion'siz va fusion'li HBM trafigini taxminan solishtiring.</a:t>
            </a:r>
          </a:p>
          <a:p/>
          <a:p>
            <a:r>
              <a:t>FlashAttention nima uchun «tezroq hisoblash» emas, balki «kamroq xotira trafigi» yondashuvi deb ataladi? U roofline'da attention operatsiyasini qaysi yo'nalishda siljitadi?</a:t>
            </a:r>
          </a:p>
          <a:p/>
          <a:p>
            <a:r>
              <a:t>channels_last formati ba'zi modellarda tezlashish bermaydi, ba'zan esa sekinlashtiradi. Qanday holatlarda va nega?</a:t>
            </a:r>
          </a:p>
          <a:p/>
          <a:p>
            <a:r>
              <a:t>PCIe 5.0 x16 orqali 10 GB ma'lumotni GPU'ga yuborish qancha vaqt oladi? Bu vaqtni ResNet-50 bir partiyasining GPU'dagi hisoblash vaqti bilan solishtirib, nega oldindan yuklash (prefetch) zarurligini tushuntiring.</a:t>
            </a:r>
          </a:p>
          <a:p/>
          <a:p>
            <a:r>
              <a:t>CXL texnologiyasi NUMA tushunchasini qanday kengaytiradi va sun'iy intellekt serverlarida qaysi muammoni hal qilishi kutilmoqda?</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uchun protsessor ishlab chiqaruvchilari L1 keshni kattalashtirish o'rniga uch pog'onali kesh iyerarxiyasini afzal ko'radi? Hajm, kechikish va energiya nuqtai nazaridan asoslang.</a:t>
            </a:r>
          </a:p>
          <a:p/>
          <a:p>
            <a:r>
              <a:t>70 milliard parametrli modelni FP16'da bitta H100'da batch=1 bilan dekodlashning nazariy token tezligi chegarasini hisoblang. INT4 kvantlash va batch=32 bu chegarani qanday o'zgartiradi? Nega?</a:t>
            </a:r>
          </a:p>
          <a:p/>
          <a:p>
            <a:r>
              <a:t>A.sum(axis=0) NumPy'da nega col_loop dan ancha tez ishlaydi, garchi ikkalasi ham «ustun bo'yicha» yig'indi hisoblasa? Kutubxona qaysi tamoyilni qo'llagan?</a:t>
            </a:r>
          </a:p>
          <a:p/>
          <a:p>
            <a:r>
              <a:t>Ikki soketli serverda 8 ta GPU bor. Dataloader jarayonlari qanday taqsimlanishi kerak va buni qaysi buyruqlar bilan tekshirasiz? First-touch siyosati bunga qanday ta'sir qiladi?</a:t>
            </a:r>
          </a:p>
          <a:p/>
          <a:p>
            <a:r>
              <a:t>Roofline modelida «sinish nuqtasi» nimani anglatadi? H100'da FP8 Tensor Core (~1979 TFLOPS) ishlatilsa, sinish nuqtasi qanday siljiydi va bu dasturchiga nima deydi?</a:t>
            </a:r>
          </a:p>
          <a:p/>
          <a:p>
            <a:r>
              <a:t>Operator fusion xotira trafigini qanday kamaytiradi? LayerNorm + residual qo'shish + dropout zanjiri uchun fusion'siz va fusion'li HBM trafigini taxminan solishtiring.</a:t>
            </a:r>
          </a:p>
          <a:p/>
          <a:p>
            <a:r>
              <a:t>FlashAttention nima uchun «tezroq hisoblash» emas, balki «kamroq xotira trafigi» yondashuvi deb ataladi? U roofline'da attention operatsiyasini qaysi yo'nalishda siljitadi?</a:t>
            </a:r>
          </a:p>
          <a:p/>
          <a:p>
            <a:r>
              <a:t>channels_last formati ba'zi modellarda tezlashish bermaydi, ba'zan esa sekinlashtiradi. Qanday holatlarda va nega?</a:t>
            </a:r>
          </a:p>
          <a:p/>
          <a:p>
            <a:r>
              <a:t>PCIe 5.0 x16 orqali 10 GB ma'lumotni GPU'ga yuborish qancha vaqt oladi? Bu vaqtni ResNet-50 bir partiyasining GPU'dagi hisoblash vaqti bilan solishtirib, nega oldindan yuklash (prefetch) zarurligini tushuntiring.</a:t>
            </a:r>
          </a:p>
          <a:p/>
          <a:p>
            <a:r>
              <a:t>CXL texnologiyasi NUMA tushunchasini qanday kengaytiradi va sun'iy intellekt serverlarida qaysi muammoni hal qilishi kutilmoqda?</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Topshiriq 1 (individual). Roofline hisoboti. O'zingiz tanlagan modelning (masalan, ResNet-50, BERT-base yoki Llama uslubidagi kichik transformer) kamida 5 ta asosiy operatsiyasi uchun arifmetik intensivlikni nazariy hisoblang, keyin PyTorch'da (CPU yoki mavjud GPU) o'lchang va log-log roofline grafigiga joylang. Har bir operatsiya uchun u xotira yoki hisoblash bilan chegaralanganini va qaysi optimallashtirish usuli (fusion, past aniqlik, batching, channels_last) foyda berishini asoslang. Bu topshiriq sillabusdagi 2-mustaqil ta'lim topshirig'i (modelni optimallashtirish va latency/throughput tahlili) uchun tayyorgarlik bosqichidir.</a:t>
            </a:r>
          </a:p>
          <a:p/>
          <a:p>
            <a:r>
              <a:t>Baholash mezoni: intensivlik hisoblarining to'g'riligi (30 %), o'lchov metodikasi — isitish, takror, sinxronizatsiya, taxminiylikni ko'rsatish (25 %), roofline grafigi va talqin (25 %), optimallashtirish tavsiyalarining asosliligi (20 %).</a:t>
            </a:r>
          </a:p>
          <a:p/>
          <a:p>
            <a:r>
              <a:t>Topshiriq 2 (juftlikda). NUMA audit. Ikki soketli serverda (yoki bulutli instansda) numactl, numastat, nvidia-smi topo -m yordamida mavjud o'qitish skriptining jarayon/ip joylashuvini tekshiring, kamida uchta konfiguratsiyada (standart, mahalliy bog'lash, interleave) o'tkazuvchanlik va bir davr vaqtini o'lchang, natijalarni jadvalda taqdim eting va tavsiya bering. Mezon: o'lchovlar to'liqligi va takrorlanuvchanligi (40 %), tahlil va tavsiya (40 %), hisobot sifati (20 %).</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Hennessy, J. L., &amp; Patterson, D. A. Computer Architecture: A Quantitative Approach. 7th Edition. Morgan Kaufmann, 2024. — 2-bob (Memory Hierarchy Design) va B-ilova.</a:t>
            </a:r>
          </a:p>
          <a:p/>
          <a:p>
            <a:r>
              <a:t>[4] Sze, V., Chen, Y.-H., Yang, T.-J., &amp; Emer, J. S. Efficient Processing of Deep Neural Networks: A Tutorial and Survey. Morgan &amp; Claypool Publishers, 2020. — ma'lumot harakati va energiya sarfi bo'yicha boblar.</a:t>
            </a:r>
          </a:p>
          <a:p/>
          <a:p>
            <a:r>
              <a:t>[5] Kirk, D. B., &amp; Hwu, W.-M. W. Programming Massively Parallel Processors: A Hands-on Approach. 4th Edition. Morgan Kaufmann, 2022. — 5–6-boblar (xotira arxitekturasi, tiling).</a:t>
            </a:r>
          </a:p>
          <a:p/>
          <a:p>
            <a:r>
              <a:t>[6] NVIDIA Developer Portal — CUDA C++ Best Practices Guide (Memory Optimizations bo'limi), https://developer.nvidia.com</a:t>
            </a:r>
          </a:p>
          <a:p/>
          <a:p>
            <a:r>
              <a:t>[7] PyTorch rasmiy hujjatlari — «Channels Last Memory Format in PyTorch» va «CUDA semantics» sahifalari, https://pytorch.org</a:t>
            </a:r>
          </a:p>
          <a:p/>
          <a:p>
            <a:r>
              <a:t>Williams, S., Waterman, A., &amp; Patterson, D. Roofline: An Insightful Visual Performance Model for Multicore Architectures. Communications of the ACM, 52(4), 2009, 65–76.</a:t>
            </a:r>
          </a:p>
          <a:p/>
          <a:p>
            <a:r>
              <a:t>Dao, T., Fu, D. Y., Ermon, S., Rudra, A., &amp; Ré, C. FlashAttention: Fast and Memory-Efficient Exact Attention with IO-Awareness. NeurIPS 2022.</a:t>
            </a:r>
          </a:p>
          <a:p/>
          <a:p>
            <a:r>
              <a:t>Linux numactl(8) va numastat(8) man sahifalari; Linux kernel hujjatlari — «What is NUMA?» (Documentation/mm/numa.rst).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Hennessy, J. L., &amp; Patterson, D. A. Computer Architecture: A Quantitative Approach. 7th Edition. Morgan Kaufmann, 2024. — 2-bob (Memory Hierarchy Design) va B-ilova.</a:t>
            </a:r>
          </a:p>
          <a:p/>
          <a:p>
            <a:r>
              <a:t>[4] Sze, V., Chen, Y.-H., Yang, T.-J., &amp; Emer, J. S. Efficient Processing of Deep Neural Networks: A Tutorial and Survey. Morgan &amp; Claypool Publishers, 2020. — ma'lumot harakati va energiya sarfi bo'yicha boblar.</a:t>
            </a:r>
          </a:p>
          <a:p/>
          <a:p>
            <a:r>
              <a:t>[5] Kirk, D. B., &amp; Hwu, W.-M. W. Programming Massively Parallel Processors: A Hands-on Approach. 4th Edition. Morgan Kaufmann, 2022. — 5–6-boblar (xotira arxitekturasi, tiling).</a:t>
            </a:r>
          </a:p>
          <a:p/>
          <a:p>
            <a:r>
              <a:t>[6] NVIDIA Developer Portal — CUDA C++ Best Practices Guide (Memory Optimizations bo'limi), https://developer.nvidia.com</a:t>
            </a:r>
          </a:p>
          <a:p/>
          <a:p>
            <a:r>
              <a:t>[7] PyTorch rasmiy hujjatlari — «Channels Last Memory Format in PyTorch» va «CUDA semantics» sahifalari, https://pytorch.org</a:t>
            </a:r>
          </a:p>
          <a:p/>
          <a:p>
            <a:r>
              <a:t>Williams, S., Waterman, A., &amp; Patterson, D. Roofline: An Insightful Visual Performance Model for Multicore Architectures. Communications of the ACM, 52(4), 2009, 65–76.</a:t>
            </a:r>
          </a:p>
          <a:p/>
          <a:p>
            <a:r>
              <a:t>Dao, T., Fu, D. Y., Ermon, S., Rudra, A., &amp; Ré, C. FlashAttention: Fast and Memory-Efficient Exact Attention with IO-Awareness. NeurIPS 2022.</a:t>
            </a:r>
          </a:p>
          <a:p/>
          <a:p>
            <a:r>
              <a:t>Linux numactl(8) va numastat(8) man sahifalari; Linux kernel hujjatlari — «What is NUMA?» (Documentation/mm/numa.rst).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00000"/>
            <a:ext cx="12192000" cy="6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0000" y="700000"/>
            <a:ext cx="10800000" cy="500000"/>
          </a:xfrm>
          <a:prstGeom prst="rect">
            <a:avLst/>
          </a:prstGeom>
          <a:noFill/>
        </p:spPr>
        <p:txBody>
          <a:bodyPr wrap="square" anchor="t" lIns="50800" rIns="50800">
            <a:spAutoFit/>
          </a:bodyPr>
          <a:lstStyle/>
          <a:p>
            <a:pPr algn="l"/>
            <a:r>
              <a:rPr sz="1600" b="0">
                <a:solidFill>
                  <a:srgbClr val="A9C4E6"/>
                </a:solidFill>
                <a:latin typeface="Calibri"/>
              </a:rPr>
              <a:t>Sun'iy intellektga asoslangan kompyuter tizimlari muhandisligi</a:t>
            </a:r>
          </a:p>
        </p:txBody>
      </p:sp>
      <p:sp>
        <p:nvSpPr>
          <p:cNvPr id="5" name="TextBox 4"/>
          <p:cNvSpPr txBox="1"/>
          <p:nvPr/>
        </p:nvSpPr>
        <p:spPr>
          <a:xfrm>
            <a:off x="700000" y="1350000"/>
            <a:ext cx="10800000" cy="500000"/>
          </a:xfrm>
          <a:prstGeom prst="rect">
            <a:avLst/>
          </a:prstGeom>
          <a:noFill/>
        </p:spPr>
        <p:txBody>
          <a:bodyPr wrap="square" anchor="t" lIns="50800" rIns="50800">
            <a:spAutoFit/>
          </a:bodyPr>
          <a:lstStyle/>
          <a:p>
            <a:pPr algn="l"/>
            <a:r>
              <a:rPr sz="1600" b="1">
                <a:solidFill>
                  <a:srgbClr val="7FD6D7"/>
                </a:solidFill>
                <a:latin typeface="Calibri"/>
              </a:rPr>
              <a:t>MA'RUZA · M5 · 2 soat</a:t>
            </a:r>
          </a:p>
        </p:txBody>
      </p:sp>
      <p:sp>
        <p:nvSpPr>
          <p:cNvPr id="6" name="TextBox 5"/>
          <p:cNvSpPr txBox="1"/>
          <p:nvPr/>
        </p:nvSpPr>
        <p:spPr>
          <a:xfrm>
            <a:off x="700000" y="1950000"/>
            <a:ext cx="10800000" cy="2500000"/>
          </a:xfrm>
          <a:prstGeom prst="rect">
            <a:avLst/>
          </a:prstGeom>
          <a:noFill/>
        </p:spPr>
        <p:txBody>
          <a:bodyPr wrap="square" anchor="t" lIns="50800" rIns="50800">
            <a:spAutoFit/>
          </a:bodyPr>
          <a:lstStyle/>
          <a:p>
            <a:pPr algn="l"/>
            <a:r>
              <a:rPr sz="3800" b="1">
                <a:solidFill>
                  <a:srgbClr val="FFFFFF"/>
                </a:solidFill>
                <a:latin typeface="Calibri"/>
              </a:rPr>
              <a:t>Arxitektura va dizayn tamoyillari</a:t>
            </a:r>
          </a:p>
        </p:txBody>
      </p:sp>
      <p:sp>
        <p:nvSpPr>
          <p:cNvPr id="7" name="TextBox 6"/>
          <p:cNvSpPr txBox="1"/>
          <p:nvPr/>
        </p:nvSpPr>
        <p:spPr>
          <a:xfrm>
            <a:off x="700000" y="4950000"/>
            <a:ext cx="10800000" cy="1200000"/>
          </a:xfrm>
          <a:prstGeom prst="rect">
            <a:avLst/>
          </a:prstGeom>
          <a:noFill/>
        </p:spPr>
        <p:txBody>
          <a:bodyPr wrap="square" anchor="t" lIns="50800" rIns="50800">
            <a:spAutoFit/>
          </a:bodyPr>
          <a:lstStyle/>
          <a:p>
            <a:pPr algn="l"/>
            <a:r>
              <a:rPr sz="1500" b="0">
                <a:solidFill>
                  <a:srgbClr val="D7E3F4"/>
                </a:solidFill>
                <a:latin typeface="Calibri"/>
              </a:rPr>
              <a:t>O‘qituvchi: S.Iskandarova, t.f.f.d. (PhD), dotsent</a:t>
            </a:r>
          </a:p>
          <a:p>
            <a:pPr algn="l"/>
            <a:r>
              <a:rPr sz="1500" b="0">
                <a:solidFill>
                  <a:srgbClr val="D7E3F4"/>
                </a:solidFill>
                <a:latin typeface="Calibri"/>
              </a:rPr>
              <a:t>2026-2027 o‘quv yili</a:t>
            </a:r>
          </a:p>
          <a:p>
            <a:pPr algn="l"/>
            <a:r>
              <a:rPr sz="1500" b="0">
                <a:solidFill>
                  <a:srgbClr val="D7E3F4"/>
                </a:solidFill>
                <a:latin typeface="Calibri"/>
              </a:rPr>
              <a:t>https://aiscan.airi.uz/ktm/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MAVZU</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Reja</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M5 · Arxitektura va dizayn tamoyillari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Mavzuning maqsadi va o'rganish natijalari</a:t>
            </a:r>
          </a:p>
          <a:p>
            <a:pPr>
              <a:spcAft>
                <a:spcPts val="900"/>
              </a:spcAft>
            </a:pPr>
            <a:r>
              <a:rPr sz="2000" b="1">
                <a:solidFill>
                  <a:srgbClr val="0F8B8D"/>
                </a:solidFill>
              </a:rPr>
              <a:t>▪  </a:t>
            </a:r>
            <a:r>
              <a:rPr sz="2000">
                <a:solidFill>
                  <a:srgbClr val="1B2430"/>
                </a:solidFill>
                <a:latin typeface="Calibri"/>
              </a:rPr>
              <a:t>Kirish</a:t>
            </a:r>
          </a:p>
          <a:p>
            <a:pPr>
              <a:spcAft>
                <a:spcPts val="900"/>
              </a:spcAft>
            </a:pPr>
            <a:r>
              <a:rPr sz="2000" b="1">
                <a:solidFill>
                  <a:srgbClr val="0F8B8D"/>
                </a:solidFill>
              </a:rPr>
              <a:t>▪  </a:t>
            </a:r>
            <a:r>
              <a:rPr sz="2000">
                <a:solidFill>
                  <a:srgbClr val="1B2430"/>
                </a:solidFill>
                <a:latin typeface="Calibri"/>
              </a:rPr>
              <a:t>Nazariy asoslar</a:t>
            </a:r>
          </a:p>
          <a:p>
            <a:pPr>
              <a:spcAft>
                <a:spcPts val="900"/>
              </a:spcAft>
            </a:pPr>
            <a:r>
              <a:rPr sz="2000" b="1">
                <a:solidFill>
                  <a:srgbClr val="0F8B8D"/>
                </a:solidFill>
              </a:rPr>
              <a:t>▪  </a:t>
            </a:r>
            <a:r>
              <a:rPr sz="2000">
                <a:solidFill>
                  <a:srgbClr val="1B2430"/>
                </a:solidFill>
                <a:latin typeface="Calibri"/>
              </a:rPr>
              <a:t>Amaliy misol</a:t>
            </a:r>
          </a:p>
          <a:p>
            <a:pPr>
              <a:spcAft>
                <a:spcPts val="900"/>
              </a:spcAft>
            </a:pPr>
            <a:r>
              <a:rPr sz="2000" b="1">
                <a:solidFill>
                  <a:srgbClr val="0F8B8D"/>
                </a:solidFill>
              </a:rPr>
              <a:t>▪  </a:t>
            </a:r>
            <a:r>
              <a:rPr sz="2000">
                <a:solidFill>
                  <a:srgbClr val="1B2430"/>
                </a:solidFill>
                <a:latin typeface="Calibri"/>
              </a:rPr>
              <a:t>Natijalarni tahlil qilish</a:t>
            </a:r>
          </a:p>
          <a:p>
            <a:pPr>
              <a:spcAft>
                <a:spcPts val="900"/>
              </a:spcAft>
            </a:pPr>
            <a:r>
              <a:rPr sz="2000" b="1">
                <a:solidFill>
                  <a:srgbClr val="0F8B8D"/>
                </a:solidFill>
              </a:rPr>
              <a:t>▪  </a:t>
            </a:r>
            <a:r>
              <a:rPr sz="2000">
                <a:solidFill>
                  <a:srgbClr val="1B2430"/>
                </a:solidFill>
                <a:latin typeface="Calibri"/>
              </a:rPr>
              <a:t>Keng tarqalgan xatolar va amaliy tavsiyalar</a:t>
            </a:r>
          </a:p>
          <a:p>
            <a:pPr>
              <a:spcAft>
                <a:spcPts val="900"/>
              </a:spcAft>
            </a:pPr>
            <a:r>
              <a:rPr sz="2000" b="1">
                <a:solidFill>
                  <a:srgbClr val="0F8B8D"/>
                </a:solidFill>
              </a:rPr>
              <a:t>▪  </a:t>
            </a:r>
            <a:r>
              <a:rPr sz="2000">
                <a:solidFill>
                  <a:srgbClr val="1B2430"/>
                </a:solidFill>
                <a:latin typeface="Calibri"/>
              </a:rPr>
              <a:t>Nazorat savollari</a:t>
            </a:r>
          </a:p>
          <a:p>
            <a:pPr>
              <a:spcAft>
                <a:spcPts val="900"/>
              </a:spcAft>
            </a:pPr>
            <a:r>
              <a:rPr sz="2000" b="1">
                <a:solidFill>
                  <a:srgbClr val="0F8B8D"/>
                </a:solidFill>
              </a:rPr>
              <a:t>▪  </a:t>
            </a:r>
            <a:r>
              <a:rPr sz="2000">
                <a:solidFill>
                  <a:srgbClr val="1B2430"/>
                </a:solidFill>
                <a:latin typeface="Calibri"/>
              </a:rPr>
              <a:t>Mustaqil ish uchun topshiriq</a:t>
            </a:r>
          </a:p>
          <a:p>
            <a:pPr>
              <a:spcAft>
                <a:spcPts val="900"/>
              </a:spcAft>
            </a:pPr>
            <a:r>
              <a:rPr sz="2000" b="1">
                <a:solidFill>
                  <a:srgbClr val="0F8B8D"/>
                </a:solidFill>
              </a:rPr>
              <a:t>▪  </a:t>
            </a:r>
            <a:r>
              <a:rPr sz="2000">
                <a:solidFill>
                  <a:srgbClr val="1B2430"/>
                </a:solidFill>
                <a:latin typeface="Calibri"/>
              </a:rPr>
              <a:t>Foydalanilgan manbalar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 (1)</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M5 · Arxitektura va dizayn tamoyillari</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Ushbu ma'ruzaning maqsadi — sun'iy intellekt tizimlarida hisoblash tezligini ko'pincha protsessor emas, balki xotira cheklab qo'yishini tushuntirish va magistrantlarga xotira iyerarxiyasi,…</a:t>
            </a:r>
          </a:p>
          <a:p>
            <a:pPr>
              <a:spcAft>
                <a:spcPts val="900"/>
              </a:spcAft>
            </a:pPr>
            <a:r>
              <a:rPr sz="1600" b="1">
                <a:solidFill>
                  <a:srgbClr val="0F8B8D"/>
                </a:solidFill>
              </a:rPr>
              <a:t>▪  </a:t>
            </a:r>
            <a:r>
              <a:rPr sz="1600">
                <a:solidFill>
                  <a:srgbClr val="1B2430"/>
                </a:solidFill>
                <a:latin typeface="Calibri"/>
              </a:rPr>
              <a:t>Zamonaviy serverdagi xotira iyerarxiyasining (registr, L1/L2/L3 kesh, DRAM, HBM, NVMe) pog'onalarini, ularning kechikish va o'tkazuvchanlik ko'rsatkichlarini va nima uchun bunday pog'onali…</a:t>
            </a:r>
          </a:p>
          <a:p>
            <a:pPr>
              <a:spcAft>
                <a:spcPts val="900"/>
              </a:spcAft>
            </a:pPr>
            <a:r>
              <a:rPr sz="1600" b="1">
                <a:solidFill>
                  <a:srgbClr val="0F8B8D"/>
                </a:solidFill>
              </a:rPr>
              <a:t>▪  </a:t>
            </a:r>
            <a:r>
              <a:rPr sz="1600">
                <a:solidFill>
                  <a:srgbClr val="1B2430"/>
                </a:solidFill>
                <a:latin typeface="Calibri"/>
              </a:rPr>
              <a:t>NUMA (Non-Uniform Memory Access) arxitekturasini, mahalliy va uzoq xotiraga murojaat farqini hamda numactl yordamida jarayonlarni tugunlarga bog'lashni amalda bajara oladi.</a:t>
            </a:r>
          </a:p>
          <a:p>
            <a:pPr>
              <a:spcAft>
                <a:spcPts val="900"/>
              </a:spcAft>
            </a:pPr>
            <a:r>
              <a:rPr sz="1600" b="1">
                <a:solidFill>
                  <a:srgbClr val="0F8B8D"/>
                </a:solidFill>
              </a:rPr>
              <a:t>▪  </a:t>
            </a:r>
            <a:r>
              <a:rPr sz="1600">
                <a:solidFill>
                  <a:srgbClr val="1B2430"/>
                </a:solidFill>
                <a:latin typeface="Calibri"/>
              </a:rPr>
              <a:t>Ma'lumotlar lokalizatsiyasi (data locality) — vaqt va fazoviy lokallik — tamoyillarini kodda aniqlay oladi va kesh-do'stona (cache-friendly) hamda kesh-do'stona bo'lmagan kirish…</a:t>
            </a:r>
          </a:p>
          <a:p>
            <a:pPr>
              <a:spcAft>
                <a:spcPts val="900"/>
              </a:spcAft>
            </a:pPr>
            <a:r>
              <a:rPr sz="1600" b="1">
                <a:solidFill>
                  <a:srgbClr val="0F8B8D"/>
                </a:solidFill>
              </a:rPr>
              <a:t>▪  </a:t>
            </a:r>
            <a:r>
              <a:rPr sz="1600">
                <a:solidFill>
                  <a:srgbClr val="1B2430"/>
                </a:solidFill>
                <a:latin typeface="Calibri"/>
              </a:rPr>
              <a:t>Arifmetik intensivlik tushunchasi va roofline modeli yordamida berilgan operatsiya xotira bilan chegaralanganmi yoki hisoblash bilan chegaralanganmi, degan savolga asosli javob bera oladi.</a:t>
            </a:r>
          </a:p>
          <a:p>
            <a:pPr>
              <a:spcAft>
                <a:spcPts val="900"/>
              </a:spcAft>
            </a:pPr>
            <a:r>
              <a:rPr sz="1600" b="1">
                <a:solidFill>
                  <a:srgbClr val="0F8B8D"/>
                </a:solidFill>
              </a:rPr>
              <a:t>▪  </a:t>
            </a:r>
            <a:r>
              <a:rPr sz="1600">
                <a:solidFill>
                  <a:srgbClr val="1B2430"/>
                </a:solidFill>
                <a:latin typeface="Calibri"/>
              </a:rPr>
              <a:t>Sun'iy intellekt ilovalarida xotira o'tkazuvchanligini oshirish va ma'lumotlar almashinuvini kamaytirish usullarini (tiling, operator fusion, pinned memory, asinxron nusxalash, KV-kesh…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 (2)</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M5 · Arxitektura va dizayn tamoyillari</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Mavzu fanning TN1 (sun'iy intellekt tizimlari arxitekturasini tahlil qilish), TN2 (apparat va dasturiy ta'minotni birgalikda loyihalash) va TN5 (tizim unumdorligini baholash va…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Kirish</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M5 · Arxitektura va dizayn tamoyillari</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5</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Oxirgi yigirma yil ichida protsessorlarning cho'qqi hisoblash quvvati xotira o'tkazuvchanligiga qaraganda ancha tez o'sdi. Bu hodisa adabiyotda «xotira devori» (memory wall) deb ataladi.</a:t>
            </a:r>
          </a:p>
          <a:p>
            <a:pPr>
              <a:spcAft>
                <a:spcPts val="900"/>
              </a:spcAft>
            </a:pPr>
            <a:r>
              <a:rPr sz="1800" b="1">
                <a:solidFill>
                  <a:srgbClr val="0F8B8D"/>
                </a:solidFill>
              </a:rPr>
              <a:t>▪  </a:t>
            </a:r>
            <a:r>
              <a:rPr sz="1800">
                <a:solidFill>
                  <a:srgbClr val="1B2430"/>
                </a:solidFill>
                <a:latin typeface="Calibri"/>
              </a:rPr>
              <a:t>Shu sababli sun'iy intellektga asoslangan kompyuter tizimlari muhandisi uchun «qancha FLOPS bor?» degan savol ikkinchi darajali; birinchi savol — «ma'lumot qayerda yotibdi va u hisoblash blokigacha qanday yo'l bosib keladi?». Bu savolga javob berish uchun…</a:t>
            </a:r>
          </a:p>
          <a:p>
            <a:pPr>
              <a:spcAft>
                <a:spcPts val="900"/>
              </a:spcAft>
            </a:pPr>
            <a:r>
              <a:rPr sz="1800" b="1">
                <a:solidFill>
                  <a:srgbClr val="0F8B8D"/>
                </a:solidFill>
              </a:rPr>
              <a:t>▪  </a:t>
            </a:r>
            <a:r>
              <a:rPr sz="1800">
                <a:solidFill>
                  <a:srgbClr val="1B2430"/>
                </a:solidFill>
                <a:latin typeface="Calibri"/>
              </a:rPr>
              <a:t>Sanoat kontekstida bu bilim bevosita pulga aylanadi. Bulutli provayderlarda GPU-soatning narxi bir necha dollarni tashkil etadi; agar o'qitish ishi xotira kirish namunasi yomonligi tufayli ikki barobar sekin ishlasa, loyiha byudjeti ham ikki barobar oshadi.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Xotira iyerarxiyasi va uning raqamlari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M5 · Arxitektura va dizayn tamoyillari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6</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Xotira iyerarxiyasi — bu tezlik, hajm va narx o'rtasidagi murosaning muhandislik yechimi.</a:t>
            </a:r>
          </a:p>
          <a:p>
            <a:pPr>
              <a:spcAft>
                <a:spcPts val="900"/>
              </a:spcAft>
            </a:pPr>
            <a:r>
              <a:rPr sz="2000" b="1">
                <a:solidFill>
                  <a:srgbClr val="0F8B8D"/>
                </a:solidFill>
              </a:rPr>
              <a:t>▪  </a:t>
            </a:r>
            <a:r>
              <a:rPr sz="2000">
                <a:solidFill>
                  <a:srgbClr val="1B2430"/>
                </a:solidFill>
                <a:latin typeface="Calibri"/>
              </a:rPr>
              <a:t>Zamonaviy server protsessori va tezlatkich uchun tipik ko'rsatkichlar quyidagi jadvalda keltirilgan (raqamlar taxminiy, avlod va modelga qarab farq qiladi):</a:t>
            </a:r>
          </a:p>
          <a:p>
            <a:pPr>
              <a:spcAft>
                <a:spcPts val="900"/>
              </a:spcAft>
            </a:pPr>
            <a:r>
              <a:rPr sz="2000" b="1">
                <a:solidFill>
                  <a:srgbClr val="0F8B8D"/>
                </a:solidFill>
              </a:rPr>
              <a:t>▪  </a:t>
            </a:r>
            <a:r>
              <a:rPr sz="2000">
                <a:solidFill>
                  <a:srgbClr val="1B2430"/>
                </a:solidFill>
                <a:latin typeface="Calibri"/>
              </a:rPr>
              <a:t>Jadvaldan ikki xulosa kelib chiqadi. Birinchidan, pog'onalar orasida kechikish farqi o'nlab va yuzlab martani tashkil etadi: L1 keshdan o'qish DRAM'dan o'qishdan qariyb yuz marta tez.</a:t>
            </a:r>
          </a:p>
          <a:p>
            <a:pPr>
              <a:spcAft>
                <a:spcPts val="900"/>
              </a:spcAft>
            </a:pPr>
            <a:r>
              <a:rPr sz="2000" b="1">
                <a:solidFill>
                  <a:srgbClr val="0F8B8D"/>
                </a:solidFill>
              </a:rPr>
              <a:t>▪  </a:t>
            </a:r>
            <a:r>
              <a:rPr sz="2000">
                <a:solidFill>
                  <a:srgbClr val="1B2430"/>
                </a:solidFill>
                <a:latin typeface="Calibri"/>
              </a:rPr>
              <a:t>Kesh satr (cache line) birligi odatda 64 bayt.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Xotira iyerarxiyasi va uning raqamlari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M5 · Arxitektura va dizayn tamoyillari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7</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00000" y="1350000"/>
          <a:ext cx="11200000" cy="468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200" b="1">
                          <a:solidFill>
                            <a:srgbClr val="FFFFFF"/>
                          </a:solidFill>
                          <a:latin typeface="Calibri"/>
                        </a:rPr>
                        <a:t>Pog'ona</a:t>
                      </a:r>
                    </a:p>
                  </a:txBody>
                  <a:tcPr>
                    <a:solidFill>
                      <a:srgbClr val="2D5C8F"/>
                    </a:solidFill>
                  </a:tcPr>
                </a:tc>
                <a:tc>
                  <a:txBody>
                    <a:bodyPr/>
                    <a:lstStyle/>
                    <a:p>
                      <a:r>
                        <a:rPr sz="1200" b="1">
                          <a:solidFill>
                            <a:srgbClr val="FFFFFF"/>
                          </a:solidFill>
                          <a:latin typeface="Calibri"/>
                        </a:rPr>
                        <a:t>Tipik hajm</a:t>
                      </a:r>
                    </a:p>
                  </a:txBody>
                  <a:tcPr>
                    <a:solidFill>
                      <a:srgbClr val="2D5C8F"/>
                    </a:solidFill>
                  </a:tcPr>
                </a:tc>
                <a:tc>
                  <a:txBody>
                    <a:bodyPr/>
                    <a:lstStyle/>
                    <a:p>
                      <a:r>
                        <a:rPr sz="1200" b="1">
                          <a:solidFill>
                            <a:srgbClr val="FFFFFF"/>
                          </a:solidFill>
                          <a:latin typeface="Calibri"/>
                        </a:rPr>
                        <a:t>Kechikish</a:t>
                      </a:r>
                    </a:p>
                  </a:txBody>
                  <a:tcPr>
                    <a:solidFill>
                      <a:srgbClr val="2D5C8F"/>
                    </a:solidFill>
                  </a:tcPr>
                </a:tc>
                <a:tc>
                  <a:txBody>
                    <a:bodyPr/>
                    <a:lstStyle/>
                    <a:p>
                      <a:r>
                        <a:rPr sz="1200" b="1">
                          <a:solidFill>
                            <a:srgbClr val="FFFFFF"/>
                          </a:solidFill>
                          <a:latin typeface="Calibri"/>
                        </a:rPr>
                        <a:t>O'tkazuvchanlik (bir yadro yoki qurilma)</a:t>
                      </a:r>
                    </a:p>
                  </a:txBody>
                  <a:tcPr>
                    <a:solidFill>
                      <a:srgbClr val="2D5C8F"/>
                    </a:solidFill>
                  </a:tcPr>
                </a:tc>
              </a:tr>
              <a:tr h="520000">
                <a:tc>
                  <a:txBody>
                    <a:bodyPr/>
                    <a:lstStyle/>
                    <a:p>
                      <a:r>
                        <a:rPr sz="1200" b="0">
                          <a:solidFill>
                            <a:srgbClr val="1B2430"/>
                          </a:solidFill>
                          <a:latin typeface="Calibri"/>
                        </a:rPr>
                        <a:t>Registrlar</a:t>
                      </a:r>
                    </a:p>
                  </a:txBody>
                  <a:tcPr>
                    <a:solidFill>
                      <a:srgbClr val="F1F4F8"/>
                    </a:solidFill>
                  </a:tcPr>
                </a:tc>
                <a:tc>
                  <a:txBody>
                    <a:bodyPr/>
                    <a:lstStyle/>
                    <a:p>
                      <a:r>
                        <a:rPr sz="1200" b="0">
                          <a:solidFill>
                            <a:srgbClr val="1B2430"/>
                          </a:solidFill>
                          <a:latin typeface="Calibri"/>
                        </a:rPr>
                        <a:t>bir necha KB</a:t>
                      </a:r>
                    </a:p>
                  </a:txBody>
                  <a:tcPr>
                    <a:solidFill>
                      <a:srgbClr val="F1F4F8"/>
                    </a:solidFill>
                  </a:tcPr>
                </a:tc>
                <a:tc>
                  <a:txBody>
                    <a:bodyPr/>
                    <a:lstStyle/>
                    <a:p>
                      <a:r>
                        <a:rPr sz="1200" b="0">
                          <a:solidFill>
                            <a:srgbClr val="1B2430"/>
                          </a:solidFill>
                          <a:latin typeface="Calibri"/>
                        </a:rPr>
                        <a:t>1 sikl (~0,3 ns)</a:t>
                      </a:r>
                    </a:p>
                  </a:txBody>
                  <a:tcPr>
                    <a:solidFill>
                      <a:srgbClr val="F1F4F8"/>
                    </a:solidFill>
                  </a:tcPr>
                </a:tc>
                <a:tc>
                  <a:txBody>
                    <a:bodyPr/>
                    <a:lstStyle/>
                    <a:p>
                      <a:r>
                        <a:rPr sz="1200" b="0">
                          <a:solidFill>
                            <a:srgbClr val="1B2430"/>
                          </a:solidFill>
                          <a:latin typeface="Calibri"/>
                        </a:rPr>
                        <a:t>juda yuqori</a:t>
                      </a:r>
                    </a:p>
                  </a:txBody>
                  <a:tcPr>
                    <a:solidFill>
                      <a:srgbClr val="F1F4F8"/>
                    </a:solidFill>
                  </a:tcPr>
                </a:tc>
              </a:tr>
              <a:tr h="520000">
                <a:tc>
                  <a:txBody>
                    <a:bodyPr/>
                    <a:lstStyle/>
                    <a:p>
                      <a:r>
                        <a:rPr sz="1200" b="0">
                          <a:solidFill>
                            <a:srgbClr val="1B2430"/>
                          </a:solidFill>
                          <a:latin typeface="Calibri"/>
                        </a:rPr>
                        <a:t>L1 kesh (ma'lumot)</a:t>
                      </a:r>
                    </a:p>
                  </a:txBody>
                  <a:tcPr>
                    <a:solidFill>
                      <a:srgbClr val="FFFFFF"/>
                    </a:solidFill>
                  </a:tcPr>
                </a:tc>
                <a:tc>
                  <a:txBody>
                    <a:bodyPr/>
                    <a:lstStyle/>
                    <a:p>
                      <a:r>
                        <a:rPr sz="1200" b="0">
                          <a:solidFill>
                            <a:srgbClr val="1B2430"/>
                          </a:solidFill>
                          <a:latin typeface="Calibri"/>
                        </a:rPr>
                        <a:t>32–48 KB / yadro</a:t>
                      </a:r>
                    </a:p>
                  </a:txBody>
                  <a:tcPr>
                    <a:solidFill>
                      <a:srgbClr val="FFFFFF"/>
                    </a:solidFill>
                  </a:tcPr>
                </a:tc>
                <a:tc>
                  <a:txBody>
                    <a:bodyPr/>
                    <a:lstStyle/>
                    <a:p>
                      <a:r>
                        <a:rPr sz="1200" b="0">
                          <a:solidFill>
                            <a:srgbClr val="1B2430"/>
                          </a:solidFill>
                          <a:latin typeface="Calibri"/>
                        </a:rPr>
                        <a:t>4–5 sikl (~1 ns)</a:t>
                      </a:r>
                    </a:p>
                  </a:txBody>
                  <a:tcPr>
                    <a:solidFill>
                      <a:srgbClr val="FFFFFF"/>
                    </a:solidFill>
                  </a:tcPr>
                </a:tc>
                <a:tc>
                  <a:txBody>
                    <a:bodyPr/>
                    <a:lstStyle/>
                    <a:p>
                      <a:r>
                        <a:rPr sz="1200" b="0">
                          <a:solidFill>
                            <a:srgbClr val="1B2430"/>
                          </a:solidFill>
                          <a:latin typeface="Calibri"/>
                        </a:rPr>
                        <a:t>~100–200 GB/s / yadro</a:t>
                      </a:r>
                    </a:p>
                  </a:txBody>
                  <a:tcPr>
                    <a:solidFill>
                      <a:srgbClr val="FFFFFF"/>
                    </a:solidFill>
                  </a:tcPr>
                </a:tc>
              </a:tr>
              <a:tr h="520000">
                <a:tc>
                  <a:txBody>
                    <a:bodyPr/>
                    <a:lstStyle/>
                    <a:p>
                      <a:r>
                        <a:rPr sz="1200" b="0">
                          <a:solidFill>
                            <a:srgbClr val="1B2430"/>
                          </a:solidFill>
                          <a:latin typeface="Calibri"/>
                        </a:rPr>
                        <a:t>L2 kesh</a:t>
                      </a:r>
                    </a:p>
                  </a:txBody>
                  <a:tcPr>
                    <a:solidFill>
                      <a:srgbClr val="F1F4F8"/>
                    </a:solidFill>
                  </a:tcPr>
                </a:tc>
                <a:tc>
                  <a:txBody>
                    <a:bodyPr/>
                    <a:lstStyle/>
                    <a:p>
                      <a:r>
                        <a:rPr sz="1200" b="0">
                          <a:solidFill>
                            <a:srgbClr val="1B2430"/>
                          </a:solidFill>
                          <a:latin typeface="Calibri"/>
                        </a:rPr>
                        <a:t>1–2 MB / yadro</a:t>
                      </a:r>
                    </a:p>
                  </a:txBody>
                  <a:tcPr>
                    <a:solidFill>
                      <a:srgbClr val="F1F4F8"/>
                    </a:solidFill>
                  </a:tcPr>
                </a:tc>
                <a:tc>
                  <a:txBody>
                    <a:bodyPr/>
                    <a:lstStyle/>
                    <a:p>
                      <a:r>
                        <a:rPr sz="1200" b="0">
                          <a:solidFill>
                            <a:srgbClr val="1B2430"/>
                          </a:solidFill>
                          <a:latin typeface="Calibri"/>
                        </a:rPr>
                        <a:t>12–16 sikl (~4 ns)</a:t>
                      </a:r>
                    </a:p>
                  </a:txBody>
                  <a:tcPr>
                    <a:solidFill>
                      <a:srgbClr val="F1F4F8"/>
                    </a:solidFill>
                  </a:tcPr>
                </a:tc>
                <a:tc>
                  <a:txBody>
                    <a:bodyPr/>
                    <a:lstStyle/>
                    <a:p>
                      <a:r>
                        <a:rPr sz="1200" b="0">
                          <a:solidFill>
                            <a:srgbClr val="1B2430"/>
                          </a:solidFill>
                          <a:latin typeface="Calibri"/>
                        </a:rPr>
                        <a:t>~50–100 GB/s / yadro</a:t>
                      </a:r>
                    </a:p>
                  </a:txBody>
                  <a:tcPr>
                    <a:solidFill>
                      <a:srgbClr val="F1F4F8"/>
                    </a:solidFill>
                  </a:tcPr>
                </a:tc>
              </a:tr>
              <a:tr h="520000">
                <a:tc>
                  <a:txBody>
                    <a:bodyPr/>
                    <a:lstStyle/>
                    <a:p>
                      <a:r>
                        <a:rPr sz="1200" b="0">
                          <a:solidFill>
                            <a:srgbClr val="1B2430"/>
                          </a:solidFill>
                          <a:latin typeface="Calibri"/>
                        </a:rPr>
                        <a:t>L3 kesh (umumiy)</a:t>
                      </a:r>
                    </a:p>
                  </a:txBody>
                  <a:tcPr>
                    <a:solidFill>
                      <a:srgbClr val="FFFFFF"/>
                    </a:solidFill>
                  </a:tcPr>
                </a:tc>
                <a:tc>
                  <a:txBody>
                    <a:bodyPr/>
                    <a:lstStyle/>
                    <a:p>
                      <a:r>
                        <a:rPr sz="1200" b="0">
                          <a:solidFill>
                            <a:srgbClr val="1B2430"/>
                          </a:solidFill>
                          <a:latin typeface="Calibri"/>
                        </a:rPr>
                        <a:t>32–384 MB / soket</a:t>
                      </a:r>
                    </a:p>
                  </a:txBody>
                  <a:tcPr>
                    <a:solidFill>
                      <a:srgbClr val="FFFFFF"/>
                    </a:solidFill>
                  </a:tcPr>
                </a:tc>
                <a:tc>
                  <a:txBody>
                    <a:bodyPr/>
                    <a:lstStyle/>
                    <a:p>
                      <a:r>
                        <a:rPr sz="1200" b="0">
                          <a:solidFill>
                            <a:srgbClr val="1B2430"/>
                          </a:solidFill>
                          <a:latin typeface="Calibri"/>
                        </a:rPr>
                        <a:t>40–80 sikl (~15–40 ns)</a:t>
                      </a:r>
                    </a:p>
                  </a:txBody>
                  <a:tcPr>
                    <a:solidFill>
                      <a:srgbClr val="FFFFFF"/>
                    </a:solidFill>
                  </a:tcPr>
                </a:tc>
                <a:tc>
                  <a:txBody>
                    <a:bodyPr/>
                    <a:lstStyle/>
                    <a:p>
                      <a:r>
                        <a:rPr sz="1200" b="0">
                          <a:solidFill>
                            <a:srgbClr val="1B2430"/>
                          </a:solidFill>
                          <a:latin typeface="Calibri"/>
                        </a:rPr>
                        <a:t>bir necha yuz GB/s / soket</a:t>
                      </a:r>
                    </a:p>
                  </a:txBody>
                  <a:tcPr>
                    <a:solidFill>
                      <a:srgbClr val="FFFFFF"/>
                    </a:solidFill>
                  </a:tcPr>
                </a:tc>
              </a:tr>
              <a:tr h="520000">
                <a:tc>
                  <a:txBody>
                    <a:bodyPr/>
                    <a:lstStyle/>
                    <a:p>
                      <a:r>
                        <a:rPr sz="1200" b="0">
                          <a:solidFill>
                            <a:srgbClr val="1B2430"/>
                          </a:solidFill>
                          <a:latin typeface="Calibri"/>
                        </a:rPr>
                        <a:t>DRAM (DDR5, 8 kanal)</a:t>
                      </a:r>
                    </a:p>
                  </a:txBody>
                  <a:tcPr>
                    <a:solidFill>
                      <a:srgbClr val="F1F4F8"/>
                    </a:solidFill>
                  </a:tcPr>
                </a:tc>
                <a:tc>
                  <a:txBody>
                    <a:bodyPr/>
                    <a:lstStyle/>
                    <a:p>
                      <a:r>
                        <a:rPr sz="1200" b="0">
                          <a:solidFill>
                            <a:srgbClr val="1B2430"/>
                          </a:solidFill>
                          <a:latin typeface="Calibri"/>
                        </a:rPr>
                        <a:t>256 GB – 2 TB</a:t>
                      </a:r>
                    </a:p>
                  </a:txBody>
                  <a:tcPr>
                    <a:solidFill>
                      <a:srgbClr val="F1F4F8"/>
                    </a:solidFill>
                  </a:tcPr>
                </a:tc>
                <a:tc>
                  <a:txBody>
                    <a:bodyPr/>
                    <a:lstStyle/>
                    <a:p>
                      <a:r>
                        <a:rPr sz="1200" b="0">
                          <a:solidFill>
                            <a:srgbClr val="1B2430"/>
                          </a:solidFill>
                          <a:latin typeface="Calibri"/>
                        </a:rPr>
                        <a:t>~80–120 ns</a:t>
                      </a:r>
                    </a:p>
                  </a:txBody>
                  <a:tcPr>
                    <a:solidFill>
                      <a:srgbClr val="F1F4F8"/>
                    </a:solidFill>
                  </a:tcPr>
                </a:tc>
                <a:tc>
                  <a:txBody>
                    <a:bodyPr/>
                    <a:lstStyle/>
                    <a:p>
                      <a:r>
                        <a:rPr sz="1200" b="0">
                          <a:solidFill>
                            <a:srgbClr val="1B2430"/>
                          </a:solidFill>
                          <a:latin typeface="Calibri"/>
                        </a:rPr>
                        <a:t>~300–400 GB/s / soket</a:t>
                      </a:r>
                    </a:p>
                  </a:txBody>
                  <a:tcPr>
                    <a:solidFill>
                      <a:srgbClr val="F1F4F8"/>
                    </a:solidFill>
                  </a:tcPr>
                </a:tc>
              </a:tr>
              <a:tr h="520000">
                <a:tc>
                  <a:txBody>
                    <a:bodyPr/>
                    <a:lstStyle/>
                    <a:p>
                      <a:r>
                        <a:rPr sz="1200" b="0">
                          <a:solidFill>
                            <a:srgbClr val="1B2430"/>
                          </a:solidFill>
                          <a:latin typeface="Calibri"/>
                        </a:rPr>
                        <a:t>Uzoq NUMA tugun DRAM'i</a:t>
                      </a:r>
                    </a:p>
                  </a:txBody>
                  <a:tcPr>
                    <a:solidFill>
                      <a:srgbClr val="FFFFFF"/>
                    </a:solidFill>
                  </a:tcPr>
                </a:tc>
                <a:tc>
                  <a:txBody>
                    <a:bodyPr/>
                    <a:lstStyle/>
                    <a:p>
                      <a:r>
                        <a:rPr sz="1200" b="0">
                          <a:solidFill>
                            <a:srgbClr val="1B2430"/>
                          </a:solidFill>
                          <a:latin typeface="Calibri"/>
                        </a:rPr>
                        <a:t>–</a:t>
                      </a:r>
                    </a:p>
                  </a:txBody>
                  <a:tcPr>
                    <a:solidFill>
                      <a:srgbClr val="FFFFFF"/>
                    </a:solidFill>
                  </a:tcPr>
                </a:tc>
                <a:tc>
                  <a:txBody>
                    <a:bodyPr/>
                    <a:lstStyle/>
                    <a:p>
                      <a:r>
                        <a:rPr sz="1200" b="0">
                          <a:solidFill>
                            <a:srgbClr val="1B2430"/>
                          </a:solidFill>
                          <a:latin typeface="Calibri"/>
                        </a:rPr>
                        <a:t>~130–200 ns</a:t>
                      </a:r>
                    </a:p>
                  </a:txBody>
                  <a:tcPr>
                    <a:solidFill>
                      <a:srgbClr val="FFFFFF"/>
                    </a:solidFill>
                  </a:tcPr>
                </a:tc>
                <a:tc>
                  <a:txBody>
                    <a:bodyPr/>
                    <a:lstStyle/>
                    <a:p>
                      <a:r>
                        <a:rPr sz="1200" b="0">
                          <a:solidFill>
                            <a:srgbClr val="1B2430"/>
                          </a:solidFill>
                          <a:latin typeface="Calibri"/>
                        </a:rPr>
                        <a:t>tugunlararo havola bilan cheklangan</a:t>
                      </a:r>
                    </a:p>
                  </a:txBody>
                  <a:tcPr>
                    <a:solidFill>
                      <a:srgbClr val="FFFFFF"/>
                    </a:solidFill>
                  </a:tcPr>
                </a:tc>
              </a:tr>
              <a:tr h="520000">
                <a:tc>
                  <a:txBody>
                    <a:bodyPr/>
                    <a:lstStyle/>
                    <a:p>
                      <a:r>
                        <a:rPr sz="1200" b="0">
                          <a:solidFill>
                            <a:srgbClr val="1B2430"/>
                          </a:solidFill>
                          <a:latin typeface="Calibri"/>
                        </a:rPr>
                        <a:t>GPU HBM3 (H100)</a:t>
                      </a:r>
                    </a:p>
                  </a:txBody>
                  <a:tcPr>
                    <a:solidFill>
                      <a:srgbClr val="F1F4F8"/>
                    </a:solidFill>
                  </a:tcPr>
                </a:tc>
                <a:tc>
                  <a:txBody>
                    <a:bodyPr/>
                    <a:lstStyle/>
                    <a:p>
                      <a:r>
                        <a:rPr sz="1200" b="0">
                          <a:solidFill>
                            <a:srgbClr val="1B2430"/>
                          </a:solidFill>
                          <a:latin typeface="Calibri"/>
                        </a:rPr>
                        <a:t>80 GB</a:t>
                      </a:r>
                    </a:p>
                  </a:txBody>
                  <a:tcPr>
                    <a:solidFill>
                      <a:srgbClr val="F1F4F8"/>
                    </a:solidFill>
                  </a:tcPr>
                </a:tc>
                <a:tc>
                  <a:txBody>
                    <a:bodyPr/>
                    <a:lstStyle/>
                    <a:p>
                      <a:r>
                        <a:rPr sz="1200" b="0">
                          <a:solidFill>
                            <a:srgbClr val="1B2430"/>
                          </a:solidFill>
                          <a:latin typeface="Calibri"/>
                        </a:rPr>
                        <a:t>~500–700 ns</a:t>
                      </a:r>
                    </a:p>
                  </a:txBody>
                  <a:tcPr>
                    <a:solidFill>
                      <a:srgbClr val="F1F4F8"/>
                    </a:solidFill>
                  </a:tcPr>
                </a:tc>
                <a:tc>
                  <a:txBody>
                    <a:bodyPr/>
                    <a:lstStyle/>
                    <a:p>
                      <a:r>
                        <a:rPr sz="1200" b="0">
                          <a:solidFill>
                            <a:srgbClr val="1B2430"/>
                          </a:solidFill>
                          <a:latin typeface="Calibri"/>
                        </a:rPr>
                        <a:t>~3,35 TB/s</a:t>
                      </a:r>
                    </a:p>
                  </a:txBody>
                  <a:tcPr>
                    <a:solidFill>
                      <a:srgbClr val="F1F4F8"/>
                    </a:solidFill>
                  </a:tcPr>
                </a:tc>
              </a:tr>
              <a:tr h="520000">
                <a:tc>
                  <a:txBody>
                    <a:bodyPr/>
                    <a:lstStyle/>
                    <a:p>
                      <a:r>
                        <a:rPr sz="1200" b="0">
                          <a:solidFill>
                            <a:srgbClr val="1B2430"/>
                          </a:solidFill>
                          <a:latin typeface="Calibri"/>
                        </a:rPr>
                        <a:t>PCIe 5.0 x16 (CPU–GPU)</a:t>
                      </a:r>
                    </a:p>
                  </a:txBody>
                  <a:tcPr>
                    <a:solidFill>
                      <a:srgbClr val="FFFFFF"/>
                    </a:solidFill>
                  </a:tcPr>
                </a:tc>
                <a:tc>
                  <a:txBody>
                    <a:bodyPr/>
                    <a:lstStyle/>
                    <a:p>
                      <a:r>
                        <a:rPr sz="1200" b="0">
                          <a:solidFill>
                            <a:srgbClr val="1B2430"/>
                          </a:solidFill>
                          <a:latin typeface="Calibri"/>
                        </a:rPr>
                        <a:t>–</a:t>
                      </a:r>
                    </a:p>
                  </a:txBody>
                  <a:tcPr>
                    <a:solidFill>
                      <a:srgbClr val="FFFFFF"/>
                    </a:solidFill>
                  </a:tcPr>
                </a:tc>
                <a:tc>
                  <a:txBody>
                    <a:bodyPr/>
                    <a:lstStyle/>
                    <a:p>
                      <a:r>
                        <a:rPr sz="1200" b="0">
                          <a:solidFill>
                            <a:srgbClr val="1B2430"/>
                          </a:solidFill>
                          <a:latin typeface="Calibri"/>
                        </a:rPr>
                        <a:t>mikrosekundlar</a:t>
                      </a:r>
                    </a:p>
                  </a:txBody>
                  <a:tcPr>
                    <a:solidFill>
                      <a:srgbClr val="FFFFFF"/>
                    </a:solidFill>
                  </a:tcPr>
                </a:tc>
                <a:tc>
                  <a:txBody>
                    <a:bodyPr/>
                    <a:lstStyle/>
                    <a:p>
                      <a:r>
                        <a:rPr sz="1200" b="0">
                          <a:solidFill>
                            <a:srgbClr val="1B2430"/>
                          </a:solidFill>
                          <a:latin typeface="Calibri"/>
                        </a:rPr>
                        <a:t>~64 GB/s (bir yo'nalish)</a:t>
                      </a:r>
                    </a:p>
                  </a:txBody>
                  <a:tcPr>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Xotira iyerarxiyasi va uning raqamlari (davomi)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M5 · Arxitektura va dizayn tamoyillari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8</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00000" y="1350000"/>
          <a:ext cx="11200000" cy="104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200" b="1">
                          <a:solidFill>
                            <a:srgbClr val="FFFFFF"/>
                          </a:solidFill>
                          <a:latin typeface="Calibri"/>
                        </a:rPr>
                        <a:t>Pog'ona</a:t>
                      </a:r>
                    </a:p>
                  </a:txBody>
                  <a:tcPr>
                    <a:solidFill>
                      <a:srgbClr val="2D5C8F"/>
                    </a:solidFill>
                  </a:tcPr>
                </a:tc>
                <a:tc>
                  <a:txBody>
                    <a:bodyPr/>
                    <a:lstStyle/>
                    <a:p>
                      <a:r>
                        <a:rPr sz="1200" b="1">
                          <a:solidFill>
                            <a:srgbClr val="FFFFFF"/>
                          </a:solidFill>
                          <a:latin typeface="Calibri"/>
                        </a:rPr>
                        <a:t>Tipik hajm</a:t>
                      </a:r>
                    </a:p>
                  </a:txBody>
                  <a:tcPr>
                    <a:solidFill>
                      <a:srgbClr val="2D5C8F"/>
                    </a:solidFill>
                  </a:tcPr>
                </a:tc>
                <a:tc>
                  <a:txBody>
                    <a:bodyPr/>
                    <a:lstStyle/>
                    <a:p>
                      <a:r>
                        <a:rPr sz="1200" b="1">
                          <a:solidFill>
                            <a:srgbClr val="FFFFFF"/>
                          </a:solidFill>
                          <a:latin typeface="Calibri"/>
                        </a:rPr>
                        <a:t>Kechikish</a:t>
                      </a:r>
                    </a:p>
                  </a:txBody>
                  <a:tcPr>
                    <a:solidFill>
                      <a:srgbClr val="2D5C8F"/>
                    </a:solidFill>
                  </a:tcPr>
                </a:tc>
                <a:tc>
                  <a:txBody>
                    <a:bodyPr/>
                    <a:lstStyle/>
                    <a:p>
                      <a:r>
                        <a:rPr sz="1200" b="1">
                          <a:solidFill>
                            <a:srgbClr val="FFFFFF"/>
                          </a:solidFill>
                          <a:latin typeface="Calibri"/>
                        </a:rPr>
                        <a:t>O'tkazuvchanlik (bir yadro yoki qurilma)</a:t>
                      </a:r>
                    </a:p>
                  </a:txBody>
                  <a:tcPr>
                    <a:solidFill>
                      <a:srgbClr val="2D5C8F"/>
                    </a:solidFill>
                  </a:tcPr>
                </a:tc>
              </a:tr>
              <a:tr h="520000">
                <a:tc>
                  <a:txBody>
                    <a:bodyPr/>
                    <a:lstStyle/>
                    <a:p>
                      <a:r>
                        <a:rPr sz="1200" b="0">
                          <a:solidFill>
                            <a:srgbClr val="1B2430"/>
                          </a:solidFill>
                          <a:latin typeface="Calibri"/>
                        </a:rPr>
                        <a:t>NVMe SSD</a:t>
                      </a:r>
                    </a:p>
                  </a:txBody>
                  <a:tcPr>
                    <a:solidFill>
                      <a:srgbClr val="F1F4F8"/>
                    </a:solidFill>
                  </a:tcPr>
                </a:tc>
                <a:tc>
                  <a:txBody>
                    <a:bodyPr/>
                    <a:lstStyle/>
                    <a:p>
                      <a:r>
                        <a:rPr sz="1200" b="0">
                          <a:solidFill>
                            <a:srgbClr val="1B2430"/>
                          </a:solidFill>
                          <a:latin typeface="Calibri"/>
                        </a:rPr>
                        <a:t>TB'lar</a:t>
                      </a:r>
                    </a:p>
                  </a:txBody>
                  <a:tcPr>
                    <a:solidFill>
                      <a:srgbClr val="F1F4F8"/>
                    </a:solidFill>
                  </a:tcPr>
                </a:tc>
                <a:tc>
                  <a:txBody>
                    <a:bodyPr/>
                    <a:lstStyle/>
                    <a:p>
                      <a:r>
                        <a:rPr sz="1200" b="0">
                          <a:solidFill>
                            <a:srgbClr val="1B2430"/>
                          </a:solidFill>
                          <a:latin typeface="Calibri"/>
                        </a:rPr>
                        <a:t>~10–100 mks</a:t>
                      </a:r>
                    </a:p>
                  </a:txBody>
                  <a:tcPr>
                    <a:solidFill>
                      <a:srgbClr val="F1F4F8"/>
                    </a:solidFill>
                  </a:tcPr>
                </a:tc>
                <a:tc>
                  <a:txBody>
                    <a:bodyPr/>
                    <a:lstStyle/>
                    <a:p>
                      <a:r>
                        <a:rPr sz="1200" b="0">
                          <a:solidFill>
                            <a:srgbClr val="1B2430"/>
                          </a:solidFill>
                          <a:latin typeface="Calibri"/>
                        </a:rPr>
                        <a:t>5–14 GB/s</a:t>
                      </a:r>
                    </a:p>
                  </a:txBody>
                  <a:tcPr>
                    <a:solidFill>
                      <a:srgbClr val="F1F4F8"/>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Lokallik: vaqt va fazoviy</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M5 · Arxitektura va dizayn tamoyillari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9</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Ma'lumotlar lokalizatsiyasi (data locality) ikki shaklda namoyon bo'ladi. Vaqt lokalligi (temporal locality) — yaqinda ishlatilgan ma'lumot yaqin orada yana ishlatilishi ehtimoli yuqori; shuning uchun uni keshda ushlab turish foydali.</a:t>
            </a:r>
          </a:p>
          <a:p>
            <a:pPr>
              <a:spcAft>
                <a:spcPts val="900"/>
              </a:spcAft>
            </a:pPr>
            <a:r>
              <a:rPr sz="1800" b="1">
                <a:solidFill>
                  <a:srgbClr val="0F8B8D"/>
                </a:solidFill>
              </a:rPr>
              <a:t>▪  </a:t>
            </a:r>
            <a:r>
              <a:rPr sz="1800">
                <a:solidFill>
                  <a:srgbClr val="1B2430"/>
                </a:solidFill>
                <a:latin typeface="Calibri"/>
              </a:rPr>
              <a:t>Ko'p o'lchovli massivlarda lokallik xotirada joylashish tartibiga bog'liq. NumPy va PyTorch'da standart tartib — satr-ustuvor (row-major, C-order): A[i, j] elementidan keyin xotirada A[i, j+1] yotadi.</a:t>
            </a:r>
          </a:p>
          <a:p>
            <a:pPr>
              <a:spcAft>
                <a:spcPts val="900"/>
              </a:spcAft>
            </a:pPr>
            <a:r>
              <a:rPr sz="1800" b="1">
                <a:solidFill>
                  <a:srgbClr val="0F8B8D"/>
                </a:solidFill>
              </a:rPr>
              <a:t>▪  </a:t>
            </a:r>
            <a:r>
              <a:rPr sz="1800">
                <a:solidFill>
                  <a:srgbClr val="1B2430"/>
                </a:solidFill>
                <a:latin typeface="Calibri"/>
              </a:rPr>
              <a:t>Chuqur o'rganish freymvorklarida bu masala tensor tartibi (memory format) ko'rinishida uchraydi: PyTorch'da konvolyutsion tarmoqlar uchun NCHW (kanal birinchi) va NHWC (channels_last) formatlari mavjud. Tensor Core va cuDNN kernellari ko'pincha NHWC tartibida…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NUMA arxitekturasi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M5 · Arxitektura va dizayn tamoyillari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10</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Ko'p soketli serverlarda (masalan, ikki protsessorli Intel Xeon yoki AMD EPYC tizimlari) har bir protsessorning o'z xotira kontrollerlari va unga ulangan DRAM modullari bor.</a:t>
            </a:r>
          </a:p>
          <a:p>
            <a:pPr>
              <a:spcAft>
                <a:spcPts val="900"/>
              </a:spcAft>
            </a:pPr>
            <a:r>
              <a:rPr sz="1800" b="1">
                <a:solidFill>
                  <a:srgbClr val="0F8B8D"/>
                </a:solidFill>
              </a:rPr>
              <a:t>▪  </a:t>
            </a:r>
            <a:r>
              <a:rPr sz="1800">
                <a:solidFill>
                  <a:srgbClr val="1B2430"/>
                </a:solidFill>
                <a:latin typeface="Calibri"/>
              </a:rPr>
              <a:t>AMD EPYC protsessorlarida vaziyat yanada murakkabroq: bitta soket ichida ham bir nechta chiplet (CCD) va I/O kristali bor, shuning uchun BIOS sozlamalariga qarab bitta soket 1, 2 yoki 4…</a:t>
            </a:r>
          </a:p>
          <a:p>
            <a:pPr>
              <a:spcAft>
                <a:spcPts val="900"/>
              </a:spcAft>
            </a:pPr>
            <a:r>
              <a:rPr sz="1800" b="1">
                <a:solidFill>
                  <a:srgbClr val="0F8B8D"/>
                </a:solidFill>
              </a:rPr>
              <a:t>▪  </a:t>
            </a:r>
            <a:r>
              <a:rPr sz="1800">
                <a:solidFill>
                  <a:srgbClr val="1B2430"/>
                </a:solidFill>
                <a:latin typeface="Calibri"/>
              </a:rPr>
              <a:t>Linux yadrosi standart holatda «first-touch» siyosatini qo'llaydi: xotira sahifasi uni birinchi marta yozgan (ishga tushirgan) yadro joylashgan tugunda ajratiladi.</a:t>
            </a:r>
          </a:p>
          <a:p>
            <a:pPr>
              <a:spcAft>
                <a:spcPts val="900"/>
              </a:spcAft>
            </a:pPr>
            <a:r>
              <a:rPr sz="1800" b="1">
                <a:solidFill>
                  <a:srgbClr val="0F8B8D"/>
                </a:solidFill>
              </a:rPr>
              <a:t>▪  </a:t>
            </a:r>
            <a:r>
              <a:rPr sz="1800">
                <a:solidFill>
                  <a:srgbClr val="1B2430"/>
                </a:solidFill>
                <a:latin typeface="Calibri"/>
              </a:rPr>
              <a:t>Sun'iy intellekt tizimlarida NUMA'ga e'tibor berish uchta joyda muhim: (1) dataloader iplarini GPU'ga yaqin soketga bog'lash; (2) CPU'da inferens qiluvchi xizmatlarni (masalan, ONNX Runtime…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Arifmetik intensivlik va roofline modeli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M5 · Arxitektura va dizayn tamoyillari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11</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Qaysi ish yuki xotira bilan chegaralanganini miqdoriy baholash uchun arifmetik intensivlik (arithmetic intensity) tushunchasi ishlatiladi: I = FLOP / bayt — bajarilgan suzuvchi nuqtali…</a:t>
            </a:r>
          </a:p>
          <a:p>
            <a:pPr>
              <a:spcAft>
                <a:spcPts val="900"/>
              </a:spcAft>
            </a:pPr>
            <a:r>
              <a:rPr sz="1800" b="1">
                <a:solidFill>
                  <a:srgbClr val="0F8B8D"/>
                </a:solidFill>
              </a:rPr>
              <a:t>▪  </a:t>
            </a:r>
            <a:r>
              <a:rPr sz="1800">
                <a:solidFill>
                  <a:srgbClr val="1B2430"/>
                </a:solidFill>
                <a:latin typeface="Calibri"/>
              </a:rPr>
              <a:t>P_erishiladigan = min(P_cho'qqi, B_xotira × I)</a:t>
            </a:r>
          </a:p>
          <a:p>
            <a:pPr>
              <a:spcAft>
                <a:spcPts val="900"/>
              </a:spcAft>
            </a:pPr>
            <a:r>
              <a:rPr sz="1800" b="1">
                <a:solidFill>
                  <a:srgbClr val="0F8B8D"/>
                </a:solidFill>
              </a:rPr>
              <a:t>▪  </a:t>
            </a:r>
            <a:r>
              <a:rPr sz="1800">
                <a:solidFill>
                  <a:srgbClr val="1B2430"/>
                </a:solidFill>
                <a:latin typeface="Calibri"/>
              </a:rPr>
              <a:t>bu yerda P_cho'qqi — qurilmaning maksimal hisoblash quvvati (FLOP/s), B_xotira — xotira o'tkazuvchanligi (bayt/s).</a:t>
            </a:r>
          </a:p>
          <a:p>
            <a:pPr>
              <a:spcAft>
                <a:spcPts val="900"/>
              </a:spcAft>
            </a:pPr>
            <a:r>
              <a:rPr sz="1800" b="1">
                <a:solidFill>
                  <a:srgbClr val="0F8B8D"/>
                </a:solidFill>
              </a:rPr>
              <a:t>▪  </a:t>
            </a:r>
            <a:r>
              <a:rPr sz="1800">
                <a:solidFill>
                  <a:srgbClr val="1B2430"/>
                </a:solidFill>
                <a:latin typeface="Calibri"/>
              </a:rPr>
              <a:t>Bir necha tipik operatsiyaning intensivligi:</a:t>
            </a:r>
          </a:p>
          <a:p>
            <a:pPr>
              <a:spcAft>
                <a:spcPts val="900"/>
              </a:spcAft>
            </a:pPr>
            <a:r>
              <a:rPr sz="1800" b="1">
                <a:solidFill>
                  <a:srgbClr val="0F8B8D"/>
                </a:solidFill>
              </a:rPr>
              <a:t>▪  </a:t>
            </a:r>
            <a:r>
              <a:rPr sz="1800">
                <a:solidFill>
                  <a:srgbClr val="1B2430"/>
                </a:solidFill>
                <a:latin typeface="Calibri"/>
              </a:rPr>
              <a:t>Jadval LLM inferensining mashhur muammosini tushuntiradi: batch hajmi 1 bo'lganda har bir yangi token uchun modelning barcha og'irliklari (70 mlrd parametrli model uchun FP16'da 140 GB)…</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Arifmetik intensivlik va roofline modeli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M5 · Arxitektura va dizayn tamoyillari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12</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00000" y="1350000"/>
          <a:ext cx="11200000" cy="3640000"/>
        </p:xfrm>
        <a:graphic>
          <a:graphicData uri="http://schemas.openxmlformats.org/drawingml/2006/table">
            <a:tbl>
              <a:tblPr firstRow="1" bandRow="1">
                <a:tableStyleId>{5C22544A-7EE6-4342-B048-85BDC9FD1C3A}</a:tableStyleId>
              </a:tblPr>
              <a:tblGrid>
                <a:gridCol w="3733333"/>
                <a:gridCol w="3733333"/>
                <a:gridCol w="3733334"/>
              </a:tblGrid>
              <a:tr h="520000">
                <a:tc>
                  <a:txBody>
                    <a:bodyPr/>
                    <a:lstStyle/>
                    <a:p>
                      <a:r>
                        <a:rPr sz="1200" b="1">
                          <a:solidFill>
                            <a:srgbClr val="FFFFFF"/>
                          </a:solidFill>
                          <a:latin typeface="Calibri"/>
                        </a:rPr>
                        <a:t>Operatsiya</a:t>
                      </a:r>
                    </a:p>
                  </a:txBody>
                  <a:tcPr>
                    <a:solidFill>
                      <a:srgbClr val="2D5C8F"/>
                    </a:solidFill>
                  </a:tcPr>
                </a:tc>
                <a:tc>
                  <a:txBody>
                    <a:bodyPr/>
                    <a:lstStyle/>
                    <a:p>
                      <a:r>
                        <a:rPr sz="1200" b="1">
                          <a:solidFill>
                            <a:srgbClr val="FFFFFF"/>
                          </a:solidFill>
                          <a:latin typeface="Calibri"/>
                        </a:rPr>
                        <a:t>Taxminiy intensivlik (FP16)</a:t>
                      </a:r>
                    </a:p>
                  </a:txBody>
                  <a:tcPr>
                    <a:solidFill>
                      <a:srgbClr val="2D5C8F"/>
                    </a:solidFill>
                  </a:tcPr>
                </a:tc>
                <a:tc>
                  <a:txBody>
                    <a:bodyPr/>
                    <a:lstStyle/>
                    <a:p>
                      <a:r>
                        <a:rPr sz="1200" b="1">
                          <a:solidFill>
                            <a:srgbClr val="FFFFFF"/>
                          </a:solidFill>
                          <a:latin typeface="Calibri"/>
                        </a:rPr>
                        <a:t>H100'da holat</a:t>
                      </a:r>
                    </a:p>
                  </a:txBody>
                  <a:tcPr>
                    <a:solidFill>
                      <a:srgbClr val="2D5C8F"/>
                    </a:solidFill>
                  </a:tcPr>
                </a:tc>
              </a:tr>
              <a:tr h="520000">
                <a:tc>
                  <a:txBody>
                    <a:bodyPr/>
                    <a:lstStyle/>
                    <a:p>
                      <a:r>
                        <a:rPr sz="1200" b="0">
                          <a:solidFill>
                            <a:srgbClr val="1B2430"/>
                          </a:solidFill>
                          <a:latin typeface="Calibri"/>
                        </a:rPr>
                        <a:t>Vektorlarni qo'shish z = x + y</a:t>
                      </a:r>
                    </a:p>
                  </a:txBody>
                  <a:tcPr>
                    <a:solidFill>
                      <a:srgbClr val="F1F4F8"/>
                    </a:solidFill>
                  </a:tcPr>
                </a:tc>
                <a:tc>
                  <a:txBody>
                    <a:bodyPr/>
                    <a:lstStyle/>
                    <a:p>
                      <a:r>
                        <a:rPr sz="1200" b="0">
                          <a:solidFill>
                            <a:srgbClr val="1B2430"/>
                          </a:solidFill>
                          <a:latin typeface="Calibri"/>
                        </a:rPr>
                        <a:t>~0,17 FLOP/bayt</a:t>
                      </a:r>
                    </a:p>
                  </a:txBody>
                  <a:tcPr>
                    <a:solidFill>
                      <a:srgbClr val="F1F4F8"/>
                    </a:solidFill>
                  </a:tcPr>
                </a:tc>
                <a:tc>
                  <a:txBody>
                    <a:bodyPr/>
                    <a:lstStyle/>
                    <a:p>
                      <a:r>
                        <a:rPr sz="1200" b="0">
                          <a:solidFill>
                            <a:srgbClr val="1B2430"/>
                          </a:solidFill>
                          <a:latin typeface="Calibri"/>
                        </a:rPr>
                        <a:t>qat'iy xotira bilan chegaralangan</a:t>
                      </a:r>
                    </a:p>
                  </a:txBody>
                  <a:tcPr>
                    <a:solidFill>
                      <a:srgbClr val="F1F4F8"/>
                    </a:solidFill>
                  </a:tcPr>
                </a:tc>
              </a:tr>
              <a:tr h="520000">
                <a:tc>
                  <a:txBody>
                    <a:bodyPr/>
                    <a:lstStyle/>
                    <a:p>
                      <a:r>
                        <a:rPr sz="1200" b="0">
                          <a:solidFill>
                            <a:srgbClr val="1B2430"/>
                          </a:solidFill>
                          <a:latin typeface="Calibri"/>
                        </a:rPr>
                        <a:t>ReLU, LayerNorm, Softmax</a:t>
                      </a:r>
                    </a:p>
                  </a:txBody>
                  <a:tcPr>
                    <a:solidFill>
                      <a:srgbClr val="FFFFFF"/>
                    </a:solidFill>
                  </a:tcPr>
                </a:tc>
                <a:tc>
                  <a:txBody>
                    <a:bodyPr/>
                    <a:lstStyle/>
                    <a:p>
                      <a:r>
                        <a:rPr sz="1200" b="0">
                          <a:solidFill>
                            <a:srgbClr val="1B2430"/>
                          </a:solidFill>
                          <a:latin typeface="Calibri"/>
                        </a:rPr>
                        <a:t>0,3–2 FLOP/bayt</a:t>
                      </a:r>
                    </a:p>
                  </a:txBody>
                  <a:tcPr>
                    <a:solidFill>
                      <a:srgbClr val="FFFFFF"/>
                    </a:solidFill>
                  </a:tcPr>
                </a:tc>
                <a:tc>
                  <a:txBody>
                    <a:bodyPr/>
                    <a:lstStyle/>
                    <a:p>
                      <a:r>
                        <a:rPr sz="1200" b="0">
                          <a:solidFill>
                            <a:srgbClr val="1B2430"/>
                          </a:solidFill>
                          <a:latin typeface="Calibri"/>
                        </a:rPr>
                        <a:t>xotira bilan chegaralangan</a:t>
                      </a:r>
                    </a:p>
                  </a:txBody>
                  <a:tcPr>
                    <a:solidFill>
                      <a:srgbClr val="FFFFFF"/>
                    </a:solidFill>
                  </a:tcPr>
                </a:tc>
              </a:tr>
              <a:tr h="520000">
                <a:tc>
                  <a:txBody>
                    <a:bodyPr/>
                    <a:lstStyle/>
                    <a:p>
                      <a:r>
                        <a:rPr sz="1200" b="0">
                          <a:solidFill>
                            <a:srgbClr val="1B2430"/>
                          </a:solidFill>
                          <a:latin typeface="Calibri"/>
                        </a:rPr>
                        <a:t>Matritsa–vektor (LLM dekodlash, batch=1)</a:t>
                      </a:r>
                    </a:p>
                  </a:txBody>
                  <a:tcPr>
                    <a:solidFill>
                      <a:srgbClr val="F1F4F8"/>
                    </a:solidFill>
                  </a:tcPr>
                </a:tc>
                <a:tc>
                  <a:txBody>
                    <a:bodyPr/>
                    <a:lstStyle/>
                    <a:p>
                      <a:r>
                        <a:rPr sz="1200" b="0">
                          <a:solidFill>
                            <a:srgbClr val="1B2430"/>
                          </a:solidFill>
                          <a:latin typeface="Calibri"/>
                        </a:rPr>
                        <a:t>~1 FLOP/bayt</a:t>
                      </a:r>
                    </a:p>
                  </a:txBody>
                  <a:tcPr>
                    <a:solidFill>
                      <a:srgbClr val="F1F4F8"/>
                    </a:solidFill>
                  </a:tcPr>
                </a:tc>
                <a:tc>
                  <a:txBody>
                    <a:bodyPr/>
                    <a:lstStyle/>
                    <a:p>
                      <a:r>
                        <a:rPr sz="1200" b="0">
                          <a:solidFill>
                            <a:srgbClr val="1B2430"/>
                          </a:solidFill>
                          <a:latin typeface="Calibri"/>
                        </a:rPr>
                        <a:t>xotira bilan chegaralangan</a:t>
                      </a:r>
                    </a:p>
                  </a:txBody>
                  <a:tcPr>
                    <a:solidFill>
                      <a:srgbClr val="F1F4F8"/>
                    </a:solidFill>
                  </a:tcPr>
                </a:tc>
              </a:tr>
              <a:tr h="520000">
                <a:tc>
                  <a:txBody>
                    <a:bodyPr/>
                    <a:lstStyle/>
                    <a:p>
                      <a:r>
                        <a:rPr sz="1200" b="0">
                          <a:solidFill>
                            <a:srgbClr val="1B2430"/>
                          </a:solidFill>
                          <a:latin typeface="Calibri"/>
                        </a:rPr>
                        <a:t>GEMM 1024×1024×1024</a:t>
                      </a:r>
                    </a:p>
                  </a:txBody>
                  <a:tcPr>
                    <a:solidFill>
                      <a:srgbClr val="FFFFFF"/>
                    </a:solidFill>
                  </a:tcPr>
                </a:tc>
                <a:tc>
                  <a:txBody>
                    <a:bodyPr/>
                    <a:lstStyle/>
                    <a:p>
                      <a:r>
                        <a:rPr sz="1200" b="0">
                          <a:solidFill>
                            <a:srgbClr val="1B2430"/>
                          </a:solidFill>
                          <a:latin typeface="Calibri"/>
                        </a:rPr>
                        <a:t>~170 FLOP/bayt</a:t>
                      </a:r>
                    </a:p>
                  </a:txBody>
                  <a:tcPr>
                    <a:solidFill>
                      <a:srgbClr val="FFFFFF"/>
                    </a:solidFill>
                  </a:tcPr>
                </a:tc>
                <a:tc>
                  <a:txBody>
                    <a:bodyPr/>
                    <a:lstStyle/>
                    <a:p>
                      <a:r>
                        <a:rPr sz="1200" b="0">
                          <a:solidFill>
                            <a:srgbClr val="1B2430"/>
                          </a:solidFill>
                          <a:latin typeface="Calibri"/>
                        </a:rPr>
                        <a:t>o'tish zonasi</a:t>
                      </a:r>
                    </a:p>
                  </a:txBody>
                  <a:tcPr>
                    <a:solidFill>
                      <a:srgbClr val="FFFFFF"/>
                    </a:solidFill>
                  </a:tcPr>
                </a:tc>
              </a:tr>
              <a:tr h="520000">
                <a:tc>
                  <a:txBody>
                    <a:bodyPr/>
                    <a:lstStyle/>
                    <a:p>
                      <a:r>
                        <a:rPr sz="1200" b="0">
                          <a:solidFill>
                            <a:srgbClr val="1B2430"/>
                          </a:solidFill>
                          <a:latin typeface="Calibri"/>
                        </a:rPr>
                        <a:t>GEMM 8192×8192×8192</a:t>
                      </a:r>
                    </a:p>
                  </a:txBody>
                  <a:tcPr>
                    <a:solidFill>
                      <a:srgbClr val="F1F4F8"/>
                    </a:solidFill>
                  </a:tcPr>
                </a:tc>
                <a:tc>
                  <a:txBody>
                    <a:bodyPr/>
                    <a:lstStyle/>
                    <a:p>
                      <a:r>
                        <a:rPr sz="1200" b="0">
                          <a:solidFill>
                            <a:srgbClr val="1B2430"/>
                          </a:solidFill>
                          <a:latin typeface="Calibri"/>
                        </a:rPr>
                        <a:t>~1365 FLOP/bayt</a:t>
                      </a:r>
                    </a:p>
                  </a:txBody>
                  <a:tcPr>
                    <a:solidFill>
                      <a:srgbClr val="F1F4F8"/>
                    </a:solidFill>
                  </a:tcPr>
                </a:tc>
                <a:tc>
                  <a:txBody>
                    <a:bodyPr/>
                    <a:lstStyle/>
                    <a:p>
                      <a:r>
                        <a:rPr sz="1200" b="0">
                          <a:solidFill>
                            <a:srgbClr val="1B2430"/>
                          </a:solidFill>
                          <a:latin typeface="Calibri"/>
                        </a:rPr>
                        <a:t>hisoblash bilan chegaralangan</a:t>
                      </a:r>
                    </a:p>
                  </a:txBody>
                  <a:tcPr>
                    <a:solidFill>
                      <a:srgbClr val="F1F4F8"/>
                    </a:solidFill>
                  </a:tcPr>
                </a:tc>
              </a:tr>
              <a:tr h="520000">
                <a:tc>
                  <a:txBody>
                    <a:bodyPr/>
                    <a:lstStyle/>
                    <a:p>
                      <a:r>
                        <a:rPr sz="1200" b="0">
                          <a:solidFill>
                            <a:srgbClr val="1B2430"/>
                          </a:solidFill>
                          <a:latin typeface="Calibri"/>
                        </a:rPr>
                        <a:t>Konvolyutsiya 3×3, 256 kanal</a:t>
                      </a:r>
                    </a:p>
                  </a:txBody>
                  <a:tcPr>
                    <a:solidFill>
                      <a:srgbClr val="FFFFFF"/>
                    </a:solidFill>
                  </a:tcPr>
                </a:tc>
                <a:tc>
                  <a:txBody>
                    <a:bodyPr/>
                    <a:lstStyle/>
                    <a:p>
                      <a:r>
                        <a:rPr sz="1200" b="0">
                          <a:solidFill>
                            <a:srgbClr val="1B2430"/>
                          </a:solidFill>
                          <a:latin typeface="Calibri"/>
                        </a:rPr>
                        <a:t>yuzlab FLOP/bayt</a:t>
                      </a:r>
                    </a:p>
                  </a:txBody>
                  <a:tcPr>
                    <a:solidFill>
                      <a:srgbClr val="FFFFFF"/>
                    </a:solidFill>
                  </a:tcPr>
                </a:tc>
                <a:tc>
                  <a:txBody>
                    <a:bodyPr/>
                    <a:lstStyle/>
                    <a:p>
                      <a:r>
                        <a:rPr sz="1200" b="0">
                          <a:solidFill>
                            <a:srgbClr val="1B2430"/>
                          </a:solidFill>
                          <a:latin typeface="Calibri"/>
                        </a:rPr>
                        <a:t>hisoblash bilan chegaralangan</a:t>
                      </a:r>
                    </a:p>
                  </a:txBody>
                  <a:tcPr>
                    <a:solidFill>
                      <a:srgbClr val="FFFF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100" b="1">
                <a:solidFill>
                  <a:srgbClr val="FFFFFF"/>
                </a:solidFill>
                <a:latin typeface="Calibri"/>
              </a:rPr>
              <a:t>Xotira o'tkazuvchanligini oshirish va ma'lumot almashinuvini kamaytirish usullari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M5 · Arxitektura va dizayn tamoyillari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13</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Muhandislik amaliyotida quyidagi usullar guruhi ajralib turadi.</a:t>
            </a:r>
          </a:p>
          <a:p>
            <a:pPr>
              <a:spcAft>
                <a:spcPts val="900"/>
              </a:spcAft>
            </a:pPr>
            <a:r>
              <a:rPr sz="1800" b="1">
                <a:solidFill>
                  <a:srgbClr val="0F8B8D"/>
                </a:solidFill>
              </a:rPr>
              <a:t>▪  </a:t>
            </a:r>
            <a:r>
              <a:rPr sz="1800">
                <a:solidFill>
                  <a:srgbClr val="1B2430"/>
                </a:solidFill>
                <a:latin typeface="Calibri"/>
              </a:rPr>
              <a:t>Apparat darajasida: HBM (High Bandwidth Memory) — DRAM kristallarini vertikal stakalab, GPU bilan keng (1024+ bit) interfeys orqali ulash; H100'da HBM3, B200'da HBM3e ishlatiladi.</a:t>
            </a:r>
          </a:p>
          <a:p>
            <a:pPr>
              <a:spcAft>
                <a:spcPts val="900"/>
              </a:spcAft>
            </a:pPr>
            <a:r>
              <a:rPr sz="1800" b="1">
                <a:solidFill>
                  <a:srgbClr val="0F8B8D"/>
                </a:solidFill>
              </a:rPr>
              <a:t>▪  </a:t>
            </a:r>
            <a:r>
              <a:rPr sz="1800">
                <a:solidFill>
                  <a:srgbClr val="1B2430"/>
                </a:solidFill>
                <a:latin typeface="Calibri"/>
              </a:rPr>
              <a:t>Algoritm darajasida: tiling (bloklash) — katta matritsani keshga sig'adigan bloklarga bo'lib, har bir blok ustida maksimal ishni bajarish; bu GEMM kutubxonalarining (cuBLAS, oneDNN) asosiy…</a:t>
            </a:r>
          </a:p>
          <a:p>
            <a:pPr>
              <a:spcAft>
                <a:spcPts val="900"/>
              </a:spcAft>
            </a:pPr>
            <a:r>
              <a:rPr sz="1800" b="1">
                <a:solidFill>
                  <a:srgbClr val="0F8B8D"/>
                </a:solidFill>
              </a:rPr>
              <a:t>▪  </a:t>
            </a:r>
            <a:r>
              <a:rPr sz="1800">
                <a:solidFill>
                  <a:srgbClr val="1B2430"/>
                </a:solidFill>
                <a:latin typeface="Calibri"/>
              </a:rPr>
              <a:t>Tizim darajasida: pinned (sahifalanmaydigan, page-locked) xotira — cudaHostAlloc yoki PyTorch'da pin_memory=True — CPU→GPU nusxalashni DMA orqali to'g'ridan-to'g'ri va asinxron bajarish…</a:t>
            </a:r>
          </a:p>
          <a:p>
            <a:pPr>
              <a:spcAft>
                <a:spcPts val="900"/>
              </a:spcAft>
            </a:pPr>
            <a:r>
              <a:rPr sz="1800" b="1">
                <a:solidFill>
                  <a:srgbClr val="0F8B8D"/>
                </a:solidFill>
              </a:rPr>
              <a:t>▪  </a:t>
            </a:r>
            <a:r>
              <a:rPr sz="1800">
                <a:solidFill>
                  <a:srgbClr val="1B2430"/>
                </a:solidFill>
                <a:latin typeface="Calibri"/>
              </a:rPr>
              <a:t>Ushbu usullarning barchasini birlashtiruvchi tamoyil bitta: hisoblashni ma'lumot yoniga olib borish, ma'lumotni hisoblash yoniga emas.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Amaliy misol</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M5 · Arxitektura va dizayn tamoyillari</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14</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Quyidagi misol ikki qismdan iborat: (a) NumPy va PyTorch'da kesh-do'stona va do'stona bo'lmagan kirishni o'lchash, (b) numactl bilan NUMA ta'sirini ko'rish va roofline nuqtai nazaridan tahlil qilish. Barcha kodlar oddiy Linux serverida (ikki soketli, Python…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1-qadam. Tizim topologiyasini aniqlash</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M5 · Arxitektura va dizayn tamoyillari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15</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Nima bo'ldi va nega: lscpu yadro soni, soketlar va kesh hajmlarini ko'rsatadi; numactl --hardware NUMA tugunlarini, har biridagi xotira hajmini va tugunlararo «masofa» jadvalini chiqaradi (odatda mahalliy = 10, uzoq = 20–32, bu nisbiy kechikish). Oxirgi…</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1-qadam. Tizim topologiyasini aniqlash — kod</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M5 · Arxitektura va dizayn tamoyillari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16</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400">
                <a:solidFill>
                  <a:srgbClr val="E2E8F0"/>
                </a:solidFill>
                <a:latin typeface="Consolas"/>
              </a:rPr>
              <a:t>lscpu | grep -E "Model name|Socket|NUMA|L1d|L2|L3"</a:t>
            </a:r>
          </a:p>
          <a:p>
            <a:r>
              <a:rPr sz="1400">
                <a:solidFill>
                  <a:srgbClr val="E2E8F0"/>
                </a:solidFill>
                <a:latin typeface="Consolas"/>
              </a:rPr>
              <a:t>numactl --hardware</a:t>
            </a:r>
          </a:p>
          <a:p>
            <a:r>
              <a:rPr sz="1400">
                <a:solidFill>
                  <a:srgbClr val="E2E8F0"/>
                </a:solidFill>
                <a:latin typeface="Consolas"/>
              </a:rPr>
              <a:t>cat /sys/devices/system/cpu/cpu0/cache/index0/coherency_line_size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2-qadam. NumPy'da satr va ustun bo'yicha yig'indi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M5 · Arxitektura va dizayn tamoyillari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17</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Nima bo'ldi va nega: A.sum(axis=1) xotirani ketma-ket o'qiydi — har kesh satrining barcha 16 elementi ishlatiladi, prefetcher samarali ishlaydi, tezlik bir yadroda ~8–12 GB/s ga yetadi (taxminiy). A.sum(axis=0) ham tez, chunki NumPy ichida ustun yig'indisini…</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2-qadam. NumPy'da satr va ustun bo'yicha yig'indi — kod</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M5 · Arxitektura va dizayn tamoyillari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18</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000">
                <a:solidFill>
                  <a:srgbClr val="E2E8F0"/>
                </a:solidFill>
                <a:latin typeface="Consolas"/>
              </a:rPr>
              <a:t>import numpy as np, time</a:t>
            </a:r>
          </a:p>
          <a:p>
            <a:r>
              <a:rPr sz="1000">
                <a:solidFill>
                  <a:srgbClr val="E2E8F0"/>
                </a:solidFill>
                <a:latin typeface="Consolas"/>
              </a:rPr>
              <a:t> </a:t>
            </a:r>
          </a:p>
          <a:p>
            <a:r>
              <a:rPr sz="1000">
                <a:solidFill>
                  <a:srgbClr val="E2E8F0"/>
                </a:solidFill>
                <a:latin typeface="Consolas"/>
              </a:rPr>
              <a:t>N = 8192</a:t>
            </a:r>
          </a:p>
          <a:p>
            <a:r>
              <a:rPr sz="1000">
                <a:solidFill>
                  <a:srgbClr val="E2E8F0"/>
                </a:solidFill>
                <a:latin typeface="Consolas"/>
              </a:rPr>
              <a:t>A = np.random.rand(N, N).astype(np.float32)   # 256 MB, C-order (satr-ustuvor)</a:t>
            </a:r>
          </a:p>
          <a:p>
            <a:r>
              <a:rPr sz="1000">
                <a:solidFill>
                  <a:srgbClr val="E2E8F0"/>
                </a:solidFill>
                <a:latin typeface="Consolas"/>
              </a:rPr>
              <a:t> </a:t>
            </a:r>
          </a:p>
          <a:p>
            <a:r>
              <a:rPr sz="1000">
                <a:solidFill>
                  <a:srgbClr val="E2E8F0"/>
                </a:solidFill>
                <a:latin typeface="Consolas"/>
              </a:rPr>
              <a:t>def bench(fn, reps=5):</a:t>
            </a:r>
          </a:p>
          <a:p>
            <a:r>
              <a:rPr sz="1000">
                <a:solidFill>
                  <a:srgbClr val="E2E8F0"/>
                </a:solidFill>
                <a:latin typeface="Consolas"/>
              </a:rPr>
              <a:t>    fn()                                       # isitish</a:t>
            </a:r>
          </a:p>
          <a:p>
            <a:r>
              <a:rPr sz="1000">
                <a:solidFill>
                  <a:srgbClr val="E2E8F0"/>
                </a:solidFill>
                <a:latin typeface="Consolas"/>
              </a:rPr>
              <a:t>    t = time.perf_counter()</a:t>
            </a:r>
          </a:p>
          <a:p>
            <a:r>
              <a:rPr sz="1000">
                <a:solidFill>
                  <a:srgbClr val="E2E8F0"/>
                </a:solidFill>
                <a:latin typeface="Consolas"/>
              </a:rPr>
              <a:t>    for _ in range(reps):</a:t>
            </a:r>
          </a:p>
          <a:p>
            <a:r>
              <a:rPr sz="1000">
                <a:solidFill>
                  <a:srgbClr val="E2E8F0"/>
                </a:solidFill>
                <a:latin typeface="Consolas"/>
              </a:rPr>
              <a:t>        fn()</a:t>
            </a:r>
          </a:p>
          <a:p>
            <a:r>
              <a:rPr sz="1000">
                <a:solidFill>
                  <a:srgbClr val="E2E8F0"/>
                </a:solidFill>
                <a:latin typeface="Consolas"/>
              </a:rPr>
              <a:t>    return (time.perf_counter() - t) / reps</a:t>
            </a:r>
          </a:p>
          <a:p>
            <a:r>
              <a:rPr sz="1000">
                <a:solidFill>
                  <a:srgbClr val="E2E8F0"/>
                </a:solidFill>
                <a:latin typeface="Consolas"/>
              </a:rPr>
              <a:t> </a:t>
            </a:r>
          </a:p>
          <a:p>
            <a:r>
              <a:rPr sz="1000">
                <a:solidFill>
                  <a:srgbClr val="E2E8F0"/>
                </a:solidFill>
                <a:latin typeface="Consolas"/>
              </a:rPr>
              <a:t>t_row = bench(lambda: A.sum(axis=1))           # har satr bo'ylab: ketma-ket kirish</a:t>
            </a:r>
          </a:p>
          <a:p>
            <a:r>
              <a:rPr sz="1000">
                <a:solidFill>
                  <a:srgbClr val="E2E8F0"/>
                </a:solidFill>
                <a:latin typeface="Consolas"/>
              </a:rPr>
              <a:t>t_col = bench(lambda: A.sum(axis=0))           # har ustun bo'ylab: NumPy ichki optimallashtiradi</a:t>
            </a:r>
          </a:p>
          <a:p>
            <a:r>
              <a:rPr sz="1000">
                <a:solidFill>
                  <a:srgbClr val="E2E8F0"/>
                </a:solidFill>
                <a:latin typeface="Consolas"/>
              </a:rPr>
              <a:t> </a:t>
            </a:r>
          </a:p>
          <a:p>
            <a:r>
              <a:rPr sz="1000">
                <a:solidFill>
                  <a:srgbClr val="7FD6D7"/>
                </a:solidFill>
                <a:latin typeface="Consolas"/>
              </a:rPr>
              <a:t># Haqiqiy "yomon" kirish: ustunlarni Python siklida alohida o'qish</a:t>
            </a:r>
          </a:p>
          <a:p>
            <a:r>
              <a:rPr sz="1000">
                <a:solidFill>
                  <a:srgbClr val="E2E8F0"/>
                </a:solidFill>
                <a:latin typeface="Consolas"/>
              </a:rPr>
              <a:t>def col_loop():</a:t>
            </a:r>
          </a:p>
          <a:p>
            <a:r>
              <a:rPr sz="1000">
                <a:solidFill>
                  <a:srgbClr val="E2E8F0"/>
                </a:solidFill>
                <a:latin typeface="Consolas"/>
              </a:rPr>
              <a:t>    s = 0.0</a:t>
            </a:r>
          </a:p>
          <a:p>
            <a:r>
              <a:rPr sz="1000">
                <a:solidFill>
                  <a:srgbClr val="E2E8F0"/>
                </a:solidFill>
                <a:latin typeface="Consolas"/>
              </a:rPr>
              <a:t>    for j in range(0, N, 64):                  # har 64-ustun</a:t>
            </a:r>
          </a:p>
          <a:p>
            <a:r>
              <a:rPr sz="1000">
                <a:solidFill>
                  <a:srgbClr val="E2E8F0"/>
                </a:solidFill>
                <a:latin typeface="Consolas"/>
              </a:rPr>
              <a:t>        s += A[:, j].sum()                     # stride = N*4 bayt</a:t>
            </a:r>
          </a:p>
          <a:p>
            <a:r>
              <a:rPr sz="1000">
                <a:solidFill>
                  <a:srgbClr val="7FD6D7"/>
                </a:solidFill>
                <a:latin typeface="Consolas"/>
              </a:rPr>
              <a:t># … (to‘liq kod — mavzu matnida / GitHub’da)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3-qadam. Transponirlash va tiling</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M5 · Arxitektura va dizayn tamoyillari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19</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Nima bo'ldi va nega: sodda transponirlashda o'qish yoki yozishdan biri doimo katta qadam bilan yuradi. Tiling'da 64×64 blok (16 KB) L1 yoki L2 keshga to'liq sig'adi, shuning uchun blok ichida ham o'qish, ham yozish kesh ichida bajariladi, DRAM'ga esa faqat…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3-qadam. Transponirlash va tiling — kod</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M5 · Arxitektura va dizayn tamoyillari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20</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200">
                <a:solidFill>
                  <a:srgbClr val="E2E8F0"/>
                </a:solidFill>
                <a:latin typeface="Consolas"/>
              </a:rPr>
              <a:t>def transpose_naive(A, out):</a:t>
            </a:r>
          </a:p>
          <a:p>
            <a:r>
              <a:rPr sz="1200">
                <a:solidFill>
                  <a:srgbClr val="E2E8F0"/>
                </a:solidFill>
                <a:latin typeface="Consolas"/>
              </a:rPr>
              <a:t>    n = A.shape[0]</a:t>
            </a:r>
          </a:p>
          <a:p>
            <a:r>
              <a:rPr sz="1200">
                <a:solidFill>
                  <a:srgbClr val="E2E8F0"/>
                </a:solidFill>
                <a:latin typeface="Consolas"/>
              </a:rPr>
              <a:t>    for i in range(n):</a:t>
            </a:r>
          </a:p>
          <a:p>
            <a:r>
              <a:rPr sz="1200">
                <a:solidFill>
                  <a:srgbClr val="E2E8F0"/>
                </a:solidFill>
                <a:latin typeface="Consolas"/>
              </a:rPr>
              <a:t>        out[:, i] = A[i, :]           # o'qish ketma-ket, yozish 32 KB qadam bilan</a:t>
            </a:r>
          </a:p>
          <a:p>
            <a:r>
              <a:rPr sz="1200">
                <a:solidFill>
                  <a:srgbClr val="E2E8F0"/>
                </a:solidFill>
                <a:latin typeface="Consolas"/>
              </a:rPr>
              <a:t> </a:t>
            </a:r>
          </a:p>
          <a:p>
            <a:r>
              <a:rPr sz="1200">
                <a:solidFill>
                  <a:srgbClr val="E2E8F0"/>
                </a:solidFill>
                <a:latin typeface="Consolas"/>
              </a:rPr>
              <a:t>def transpose_tiled(A, out, T=64):</a:t>
            </a:r>
          </a:p>
          <a:p>
            <a:r>
              <a:rPr sz="1200">
                <a:solidFill>
                  <a:srgbClr val="E2E8F0"/>
                </a:solidFill>
                <a:latin typeface="Consolas"/>
              </a:rPr>
              <a:t>    n = A.shape[0]</a:t>
            </a:r>
          </a:p>
          <a:p>
            <a:r>
              <a:rPr sz="1200">
                <a:solidFill>
                  <a:srgbClr val="E2E8F0"/>
                </a:solidFill>
                <a:latin typeface="Consolas"/>
              </a:rPr>
              <a:t>    for i in range(0, n, T):</a:t>
            </a:r>
          </a:p>
          <a:p>
            <a:r>
              <a:rPr sz="1200">
                <a:solidFill>
                  <a:srgbClr val="E2E8F0"/>
                </a:solidFill>
                <a:latin typeface="Consolas"/>
              </a:rPr>
              <a:t>        for j in range(0, n, T):</a:t>
            </a:r>
          </a:p>
          <a:p>
            <a:r>
              <a:rPr sz="1200">
                <a:solidFill>
                  <a:srgbClr val="E2E8F0"/>
                </a:solidFill>
                <a:latin typeface="Consolas"/>
              </a:rPr>
              <a:t>            out[j:j+T, i:i+T] = A[i:i+T, j:j+T].T   # 64x64 blok = 16 KB, L1/L2 ga sig'adi</a:t>
            </a:r>
          </a:p>
          <a:p>
            <a:r>
              <a:rPr sz="1200">
                <a:solidFill>
                  <a:srgbClr val="E2E8F0"/>
                </a:solidFill>
                <a:latin typeface="Consolas"/>
              </a:rPr>
              <a:t> </a:t>
            </a:r>
          </a:p>
          <a:p>
            <a:r>
              <a:rPr sz="1200">
                <a:solidFill>
                  <a:srgbClr val="E2E8F0"/>
                </a:solidFill>
                <a:latin typeface="Consolas"/>
              </a:rPr>
              <a:t>B = np.empty_like(A)</a:t>
            </a:r>
          </a:p>
          <a:p>
            <a:r>
              <a:rPr sz="1200">
                <a:solidFill>
                  <a:srgbClr val="E2E8F0"/>
                </a:solidFill>
                <a:latin typeface="Consolas"/>
              </a:rPr>
              <a:t>print("naive :", bench(lambda: transpose_naive(A, B), 2)*1e3, "ms")</a:t>
            </a:r>
          </a:p>
          <a:p>
            <a:r>
              <a:rPr sz="1200">
                <a:solidFill>
                  <a:srgbClr val="E2E8F0"/>
                </a:solidFill>
                <a:latin typeface="Consolas"/>
              </a:rPr>
              <a:t>print("tiled :", bench(lambda: transpose_tiled(A, B), 2)*1e3, "ms")</a:t>
            </a:r>
          </a:p>
          <a:p>
            <a:r>
              <a:rPr sz="1200">
                <a:solidFill>
                  <a:srgbClr val="E2E8F0"/>
                </a:solidFill>
                <a:latin typeface="Consolas"/>
              </a:rPr>
              <a:t>print("numpy :", bench(lambda: np.ascontiguousarray(A.T), 2)*1e3, "ms")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4-qadam. PyTorch'da contiguous va channels_last</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M5 · Arxitektura va dizayn tamoyillari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21</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Nima bo'ldi va nega: transpose PyTorch'da ma'lumotni ko'chirmaydi, faqat stride'larni o'zgartiradi; natijada y «noncontiguous» bo'ladi va ko'p kernellar unga sekinroq ishlaydi yoki ichki nusxa oladi. channels_last formatida CPU'da oneDNN va GPU'da cuDNN…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4-qadam. PyTorch'da contiguous va channels_last — kod</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M5 · Arxitektura va dizayn tamoyillari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22</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200">
                <a:solidFill>
                  <a:srgbClr val="E2E8F0"/>
                </a:solidFill>
                <a:latin typeface="Consolas"/>
              </a:rPr>
              <a:t>import torch, time</a:t>
            </a:r>
          </a:p>
          <a:p>
            <a:r>
              <a:rPr sz="1200">
                <a:solidFill>
                  <a:srgbClr val="E2E8F0"/>
                </a:solidFill>
                <a:latin typeface="Consolas"/>
              </a:rPr>
              <a:t>torch.set_num_threads(16)</a:t>
            </a:r>
          </a:p>
          <a:p>
            <a:r>
              <a:rPr sz="1200">
                <a:solidFill>
                  <a:srgbClr val="E2E8F0"/>
                </a:solidFill>
                <a:latin typeface="Consolas"/>
              </a:rPr>
              <a:t>x = torch.randn(64, 256, 56, 56)                        # NCHW, 200 MB (float32)</a:t>
            </a:r>
          </a:p>
          <a:p>
            <a:r>
              <a:rPr sz="1200">
                <a:solidFill>
                  <a:srgbClr val="E2E8F0"/>
                </a:solidFill>
                <a:latin typeface="Consolas"/>
              </a:rPr>
              <a:t>conv = torch.nn.Conv2d(256, 256, 3, padding=1)</a:t>
            </a:r>
          </a:p>
          <a:p>
            <a:r>
              <a:rPr sz="1200">
                <a:solidFill>
                  <a:srgbClr val="E2E8F0"/>
                </a:solidFill>
                <a:latin typeface="Consolas"/>
              </a:rPr>
              <a:t> </a:t>
            </a:r>
          </a:p>
          <a:p>
            <a:r>
              <a:rPr sz="1200">
                <a:solidFill>
                  <a:srgbClr val="E2E8F0"/>
                </a:solidFill>
                <a:latin typeface="Consolas"/>
              </a:rPr>
              <a:t>def tbench(fn, reps=10):</a:t>
            </a:r>
          </a:p>
          <a:p>
            <a:r>
              <a:rPr sz="1200">
                <a:solidFill>
                  <a:srgbClr val="E2E8F0"/>
                </a:solidFill>
                <a:latin typeface="Consolas"/>
              </a:rPr>
              <a:t>    fn(); t = time.perf_counter()</a:t>
            </a:r>
          </a:p>
          <a:p>
            <a:r>
              <a:rPr sz="1200">
                <a:solidFill>
                  <a:srgbClr val="E2E8F0"/>
                </a:solidFill>
                <a:latin typeface="Consolas"/>
              </a:rPr>
              <a:t>    for _ in range(reps): fn()</a:t>
            </a:r>
          </a:p>
          <a:p>
            <a:r>
              <a:rPr sz="1200">
                <a:solidFill>
                  <a:srgbClr val="E2E8F0"/>
                </a:solidFill>
                <a:latin typeface="Consolas"/>
              </a:rPr>
              <a:t>    return (time.perf_counter() - t) / reps * 1e3</a:t>
            </a:r>
          </a:p>
          <a:p>
            <a:r>
              <a:rPr sz="1200">
                <a:solidFill>
                  <a:srgbClr val="E2E8F0"/>
                </a:solidFill>
                <a:latin typeface="Consolas"/>
              </a:rPr>
              <a:t> </a:t>
            </a:r>
          </a:p>
          <a:p>
            <a:r>
              <a:rPr sz="1200">
                <a:solidFill>
                  <a:srgbClr val="E2E8F0"/>
                </a:solidFill>
                <a:latin typeface="Consolas"/>
              </a:rPr>
              <a:t>with torch.no_grad():</a:t>
            </a:r>
          </a:p>
          <a:p>
            <a:r>
              <a:rPr sz="1200">
                <a:solidFill>
                  <a:srgbClr val="E2E8F0"/>
                </a:solidFill>
                <a:latin typeface="Consolas"/>
              </a:rPr>
              <a:t>    t_nchw = tbench(lambda: conv(x))</a:t>
            </a:r>
          </a:p>
          <a:p>
            <a:r>
              <a:rPr sz="1200">
                <a:solidFill>
                  <a:srgbClr val="E2E8F0"/>
                </a:solidFill>
                <a:latin typeface="Consolas"/>
              </a:rPr>
              <a:t>    xc = x.to(memory_format=torch.channels_last)</a:t>
            </a:r>
          </a:p>
          <a:p>
            <a:r>
              <a:rPr sz="1200">
                <a:solidFill>
                  <a:srgbClr val="E2E8F0"/>
                </a:solidFill>
                <a:latin typeface="Consolas"/>
              </a:rPr>
              <a:t>    convc = conv.to(memory_format=torch.channels_last)</a:t>
            </a:r>
          </a:p>
          <a:p>
            <a:r>
              <a:rPr sz="1200">
                <a:solidFill>
                  <a:srgbClr val="E2E8F0"/>
                </a:solidFill>
                <a:latin typeface="Consolas"/>
              </a:rPr>
              <a:t>    t_nhwc = tbench(lambda: convc(xc))</a:t>
            </a:r>
          </a:p>
          <a:p>
            <a:r>
              <a:rPr sz="1200">
                <a:solidFill>
                  <a:srgbClr val="7FD6D7"/>
                </a:solidFill>
                <a:latin typeface="Consolas"/>
              </a:rPr>
              <a:t>    # Noncontiguous tensor: transponirlangan ko'rinish</a:t>
            </a:r>
          </a:p>
          <a:p>
            <a:r>
              <a:rPr sz="1200">
                <a:solidFill>
                  <a:srgbClr val="E2E8F0"/>
                </a:solidFill>
                <a:latin typeface="Consolas"/>
              </a:rPr>
              <a:t>    y = x.transpose(1, 3)                             # ko'rinish, nusxa emas</a:t>
            </a:r>
          </a:p>
          <a:p>
            <a:r>
              <a:rPr sz="1200">
                <a:solidFill>
                  <a:srgbClr val="E2E8F0"/>
                </a:solidFill>
                <a:latin typeface="Consolas"/>
              </a:rPr>
              <a:t>    print("is_contiguous:", y.is_contiguous())</a:t>
            </a:r>
          </a:p>
          <a:p>
            <a:r>
              <a:rPr sz="1200">
                <a:solidFill>
                  <a:srgbClr val="E2E8F0"/>
                </a:solidFill>
                <a:latin typeface="Consolas"/>
              </a:rPr>
              <a:t>    t_view = tbench(lambda: y.sum())</a:t>
            </a:r>
          </a:p>
          <a:p>
            <a:r>
              <a:rPr sz="1200">
                <a:solidFill>
                  <a:srgbClr val="E2E8F0"/>
                </a:solidFill>
                <a:latin typeface="Consolas"/>
              </a:rPr>
              <a:t>    t_cont = tbench(lambda: y.contiguous().sum())</a:t>
            </a:r>
          </a:p>
          <a:p>
            <a:r>
              <a:rPr sz="1200">
                <a:solidFill>
                  <a:srgbClr val="7FD6D7"/>
                </a:solidFill>
                <a:latin typeface="Consolas"/>
              </a:rPr>
              <a:t># … (to‘liq kod — mavzu matnida / GitHub’da)</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5-qadam. NUMA ta'sirini o'lchash</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M5 · Arxitektura va dizayn tamoyillari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23</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Nima bo'ldi va nega: --membind sahifalar ajratiladigan tugunni majburlaydi, --cpunodebind esa iplarning qaysi yadrolarda ishlashini. Birinchi holatda nusxalash mahalliy DRAM kanallari orqali, ikkinchisida UPI/Infinity Fabric orqali ketadi.</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5-qadam. NUMA ta'sirini o'lchash — kod</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M5 · Arxitektura va dizayn tamoyillari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24</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200">
                <a:solidFill>
                  <a:srgbClr val="7FD6D7"/>
                </a:solidFill>
                <a:latin typeface="Consolas"/>
              </a:rPr>
              <a:t># membw.py — ko'p ipli xotira o'tkazuvchanlik testi</a:t>
            </a:r>
          </a:p>
          <a:p>
            <a:r>
              <a:rPr sz="1200">
                <a:solidFill>
                  <a:srgbClr val="E2E8F0"/>
                </a:solidFill>
                <a:latin typeface="Consolas"/>
              </a:rPr>
              <a:t>cat &gt; membw.py &lt;&lt; 'EOF'</a:t>
            </a:r>
          </a:p>
          <a:p>
            <a:r>
              <a:rPr sz="1200">
                <a:solidFill>
                  <a:srgbClr val="E2E8F0"/>
                </a:solidFill>
                <a:latin typeface="Consolas"/>
              </a:rPr>
              <a:t>import numpy as np, time, os</a:t>
            </a:r>
          </a:p>
          <a:p>
            <a:r>
              <a:rPr sz="1200">
                <a:solidFill>
                  <a:srgbClr val="E2E8F0"/>
                </a:solidFill>
                <a:latin typeface="Consolas"/>
              </a:rPr>
              <a:t>n = 1 &lt;&lt; 28                       # 1 GB float32</a:t>
            </a:r>
          </a:p>
          <a:p>
            <a:r>
              <a:rPr sz="1200">
                <a:solidFill>
                  <a:srgbClr val="E2E8F0"/>
                </a:solidFill>
                <a:latin typeface="Consolas"/>
              </a:rPr>
              <a:t>a = np.ones(n, dtype=np.float32)</a:t>
            </a:r>
          </a:p>
          <a:p>
            <a:r>
              <a:rPr sz="1200">
                <a:solidFill>
                  <a:srgbClr val="E2E8F0"/>
                </a:solidFill>
                <a:latin typeface="Consolas"/>
              </a:rPr>
              <a:t>b = np.empty_like(a)</a:t>
            </a:r>
          </a:p>
          <a:p>
            <a:r>
              <a:rPr sz="1200">
                <a:solidFill>
                  <a:srgbClr val="E2E8F0"/>
                </a:solidFill>
                <a:latin typeface="Consolas"/>
              </a:rPr>
              <a:t>t = time.perf_counter()</a:t>
            </a:r>
          </a:p>
          <a:p>
            <a:r>
              <a:rPr sz="1200">
                <a:solidFill>
                  <a:srgbClr val="E2E8F0"/>
                </a:solidFill>
                <a:latin typeface="Consolas"/>
              </a:rPr>
              <a:t>for _ in range(5):</a:t>
            </a:r>
          </a:p>
          <a:p>
            <a:r>
              <a:rPr sz="1200">
                <a:solidFill>
                  <a:srgbClr val="E2E8F0"/>
                </a:solidFill>
                <a:latin typeface="Consolas"/>
              </a:rPr>
              <a:t>    np.copyto(b, a)               # 2 GB trafik (o'qish + yozish)</a:t>
            </a:r>
          </a:p>
          <a:p>
            <a:r>
              <a:rPr sz="1200">
                <a:solidFill>
                  <a:srgbClr val="E2E8F0"/>
                </a:solidFill>
                <a:latin typeface="Consolas"/>
              </a:rPr>
              <a:t>dt = (time.perf_counter() - t) / 5</a:t>
            </a:r>
          </a:p>
          <a:p>
            <a:r>
              <a:rPr sz="1200">
                <a:solidFill>
                  <a:srgbClr val="E2E8F0"/>
                </a:solidFill>
                <a:latin typeface="Consolas"/>
              </a:rPr>
              <a:t>print(f"{2*a.nbytes/dt/1e9:.1f} GB/s")</a:t>
            </a:r>
          </a:p>
          <a:p>
            <a:r>
              <a:rPr sz="1200">
                <a:solidFill>
                  <a:srgbClr val="E2E8F0"/>
                </a:solidFill>
                <a:latin typeface="Consolas"/>
              </a:rPr>
              <a:t>EOF</a:t>
            </a:r>
          </a:p>
          <a:p>
            <a:r>
              <a:rPr sz="1200">
                <a:solidFill>
                  <a:srgbClr val="E2E8F0"/>
                </a:solidFill>
                <a:latin typeface="Consolas"/>
              </a:rPr>
              <a:t> </a:t>
            </a:r>
          </a:p>
          <a:p>
            <a:r>
              <a:rPr sz="1200">
                <a:solidFill>
                  <a:srgbClr val="7FD6D7"/>
                </a:solidFill>
                <a:latin typeface="Consolas"/>
              </a:rPr>
              <a:t># Mahalliy: yadrolar ham, xotira ham 0-tugunda</a:t>
            </a:r>
          </a:p>
          <a:p>
            <a:r>
              <a:rPr sz="1200">
                <a:solidFill>
                  <a:srgbClr val="E2E8F0"/>
                </a:solidFill>
                <a:latin typeface="Consolas"/>
              </a:rPr>
              <a:t>numactl --cpunodebind=0 --membind=0 python3 membw.py</a:t>
            </a:r>
          </a:p>
          <a:p>
            <a:r>
              <a:rPr sz="1200">
                <a:solidFill>
                  <a:srgbClr val="7FD6D7"/>
                </a:solidFill>
                <a:latin typeface="Consolas"/>
              </a:rPr>
              <a:t># Uzoq: yadrolar 0-tugunda, xotira 1-tugunda</a:t>
            </a:r>
          </a:p>
          <a:p>
            <a:r>
              <a:rPr sz="1200">
                <a:solidFill>
                  <a:srgbClr val="E2E8F0"/>
                </a:solidFill>
                <a:latin typeface="Consolas"/>
              </a:rPr>
              <a:t>numactl --cpunodebind=0 --membind=1 python3 membw.py</a:t>
            </a:r>
          </a:p>
          <a:p>
            <a:r>
              <a:rPr sz="1200">
                <a:solidFill>
                  <a:srgbClr val="7FD6D7"/>
                </a:solidFill>
                <a:latin typeface="Consolas"/>
              </a:rPr>
              <a:t># Interleave: xotira ikki tugunga navbatma-navbat</a:t>
            </a:r>
          </a:p>
          <a:p>
            <a:r>
              <a:rPr sz="1200">
                <a:solidFill>
                  <a:srgbClr val="E2E8F0"/>
                </a:solidFill>
                <a:latin typeface="Consolas"/>
              </a:rPr>
              <a:t>numactl --cpunodebind=0 --interleave=all python3 membw.py</a:t>
            </a:r>
          </a:p>
          <a:p>
            <a:r>
              <a:rPr sz="1200">
                <a:solidFill>
                  <a:srgbClr val="7FD6D7"/>
                </a:solidFill>
                <a:latin typeface="Consolas"/>
              </a:rPr>
              <a:t># Qaysi tugunda joylashganini tekshirish (boshqa terminalda):</a:t>
            </a:r>
          </a:p>
          <a:p>
            <a:r>
              <a:rPr sz="1200">
                <a:solidFill>
                  <a:srgbClr val="7FD6D7"/>
                </a:solidFill>
                <a:latin typeface="Consolas"/>
              </a:rPr>
              <a:t># … (to‘liq kod — mavzu matnida / GitHub’da)</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6-qadam. Arifmetik intensivlikni hisoblash va roofline'ga joylash</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M5 · Arxitektura va dizayn tamoyillari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25</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Nima bo'ldi va nega: n=512 da intensivlik ~170 FLOP/bayt bo'lsa-da, matritsa kichik va kernel ishga tushirish yuki (launch overhead, ~5–10 mks) ustun keladi — o'lchangan TFLOPS past. n=8192 da intensivlik ~2700 FLOP/bayt, H100'da ~600–750 TFLOPS kuzatiladi…</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100" b="1">
                <a:solidFill>
                  <a:srgbClr val="FFFFFF"/>
                </a:solidFill>
                <a:latin typeface="Calibri"/>
              </a:rPr>
              <a:t>6-qadam. Arifmetik intensivlikni hisoblash va roofline'ga joylash — kod</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M5 · Arxitektura va dizayn tamoyillari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26</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200">
                <a:solidFill>
                  <a:srgbClr val="E2E8F0"/>
                </a:solidFill>
                <a:latin typeface="Consolas"/>
              </a:rPr>
              <a:t>import torch, time</a:t>
            </a:r>
          </a:p>
          <a:p>
            <a:r>
              <a:rPr sz="1200">
                <a:solidFill>
                  <a:srgbClr val="E2E8F0"/>
                </a:solidFill>
                <a:latin typeface="Consolas"/>
              </a:rPr>
              <a:t>dev = "cuda" if torch.cuda.is_available() else "cpu"</a:t>
            </a:r>
          </a:p>
          <a:p>
            <a:r>
              <a:rPr sz="1200">
                <a:solidFill>
                  <a:srgbClr val="E2E8F0"/>
                </a:solidFill>
                <a:latin typeface="Consolas"/>
              </a:rPr>
              <a:t>def gpu_bench(fn, reps=20):</a:t>
            </a:r>
          </a:p>
          <a:p>
            <a:r>
              <a:rPr sz="1200">
                <a:solidFill>
                  <a:srgbClr val="E2E8F0"/>
                </a:solidFill>
                <a:latin typeface="Consolas"/>
              </a:rPr>
              <a:t>    fn(); torch.cuda.synchronize() if dev=="cuda" else None</a:t>
            </a:r>
          </a:p>
          <a:p>
            <a:r>
              <a:rPr sz="1200">
                <a:solidFill>
                  <a:srgbClr val="E2E8F0"/>
                </a:solidFill>
                <a:latin typeface="Consolas"/>
              </a:rPr>
              <a:t>    t = time.perf_counter()</a:t>
            </a:r>
          </a:p>
          <a:p>
            <a:r>
              <a:rPr sz="1200">
                <a:solidFill>
                  <a:srgbClr val="E2E8F0"/>
                </a:solidFill>
                <a:latin typeface="Consolas"/>
              </a:rPr>
              <a:t>    for _ in range(reps): fn()</a:t>
            </a:r>
          </a:p>
          <a:p>
            <a:r>
              <a:rPr sz="1200">
                <a:solidFill>
                  <a:srgbClr val="E2E8F0"/>
                </a:solidFill>
                <a:latin typeface="Consolas"/>
              </a:rPr>
              <a:t>    torch.cuda.synchronize() if dev=="cuda" else None</a:t>
            </a:r>
          </a:p>
          <a:p>
            <a:r>
              <a:rPr sz="1200">
                <a:solidFill>
                  <a:srgbClr val="E2E8F0"/>
                </a:solidFill>
                <a:latin typeface="Consolas"/>
              </a:rPr>
              <a:t>    return (time.perf_counter() - t) / reps</a:t>
            </a:r>
          </a:p>
          <a:p>
            <a:r>
              <a:rPr sz="1200">
                <a:solidFill>
                  <a:srgbClr val="E2E8F0"/>
                </a:solidFill>
                <a:latin typeface="Consolas"/>
              </a:rPr>
              <a:t> </a:t>
            </a:r>
          </a:p>
          <a:p>
            <a:r>
              <a:rPr sz="1200">
                <a:solidFill>
                  <a:srgbClr val="E2E8F0"/>
                </a:solidFill>
                <a:latin typeface="Consolas"/>
              </a:rPr>
              <a:t>for n in (512, 2048, 8192):</a:t>
            </a:r>
          </a:p>
          <a:p>
            <a:r>
              <a:rPr sz="1200">
                <a:solidFill>
                  <a:srgbClr val="E2E8F0"/>
                </a:solidFill>
                <a:latin typeface="Consolas"/>
              </a:rPr>
              <a:t>    a = torch.randn(n, n, device=dev, dtype=torch.float16)</a:t>
            </a:r>
          </a:p>
          <a:p>
            <a:r>
              <a:rPr sz="1200">
                <a:solidFill>
                  <a:srgbClr val="E2E8F0"/>
                </a:solidFill>
                <a:latin typeface="Consolas"/>
              </a:rPr>
              <a:t>    b = torch.randn(n, n, device=dev, dtype=torch.float16)</a:t>
            </a:r>
          </a:p>
          <a:p>
            <a:r>
              <a:rPr sz="1200">
                <a:solidFill>
                  <a:srgbClr val="E2E8F0"/>
                </a:solidFill>
                <a:latin typeface="Consolas"/>
              </a:rPr>
              <a:t>    dt = gpu_bench(lambda: a @ b)</a:t>
            </a:r>
          </a:p>
          <a:p>
            <a:r>
              <a:rPr sz="1200">
                <a:solidFill>
                  <a:srgbClr val="E2E8F0"/>
                </a:solidFill>
                <a:latin typeface="Consolas"/>
              </a:rPr>
              <a:t>    flop = 2 * n**3</a:t>
            </a:r>
          </a:p>
          <a:p>
            <a:r>
              <a:rPr sz="1200">
                <a:solidFill>
                  <a:srgbClr val="E2E8F0"/>
                </a:solidFill>
                <a:latin typeface="Consolas"/>
              </a:rPr>
              <a:t>    byts = 3 * n * n * 2                      # A, B o'qish + C yozish, 2 bayt/element</a:t>
            </a:r>
          </a:p>
          <a:p>
            <a:r>
              <a:rPr sz="1200">
                <a:solidFill>
                  <a:srgbClr val="E2E8F0"/>
                </a:solidFill>
                <a:latin typeface="Consolas"/>
              </a:rPr>
              <a:t>    I = flop / byts</a:t>
            </a:r>
          </a:p>
          <a:p>
            <a:r>
              <a:rPr sz="1200">
                <a:solidFill>
                  <a:srgbClr val="E2E8F0"/>
                </a:solidFill>
                <a:latin typeface="Consolas"/>
              </a:rPr>
              <a:t>    print(f"n={n:5d}  I={I:7.1f} FLOP/B  {flop/dt/1e12:6.1f} TFLOPS  {byts/dt/1e9:7.1f} GB/s")</a:t>
            </a:r>
          </a:p>
          <a:p>
            <a:r>
              <a:rPr sz="1200">
                <a:solidFill>
                  <a:srgbClr val="E2E8F0"/>
                </a:solidFill>
                <a:latin typeface="Consolas"/>
              </a:rPr>
              <a:t> </a:t>
            </a:r>
          </a:p>
          <a:p>
            <a:r>
              <a:rPr sz="1200">
                <a:solidFill>
                  <a:srgbClr val="E2E8F0"/>
                </a:solidFill>
                <a:latin typeface="Consolas"/>
              </a:rPr>
              <a:t>v = torch.randn(8192, device=dev, dtype=torch.float16)</a:t>
            </a:r>
          </a:p>
          <a:p>
            <a:r>
              <a:rPr sz="1200">
                <a:solidFill>
                  <a:srgbClr val="E2E8F0"/>
                </a:solidFill>
                <a:latin typeface="Consolas"/>
              </a:rPr>
              <a:t>W = torch.randn(8192, 8192, device=dev, dtype=torch.float16)</a:t>
            </a:r>
          </a:p>
          <a:p>
            <a:r>
              <a:rPr sz="1200">
                <a:solidFill>
                  <a:srgbClr val="7FD6D7"/>
                </a:solidFill>
                <a:latin typeface="Consolas"/>
              </a:rPr>
              <a:t># … (to‘liq kod — mavzu matnida / GitHub’da)</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Natijalarni tahlil qilish</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M5 · Arxitektura va dizayn tamoyillari</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27</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Birinchi tajriba eng muhim xulosani beradi: bir xil hisoblash miqdori xotira kirish tartibiga qarab 10 va undan ortiq marta farq qiluvchi vaqtda bajarilishi mumkin.</a:t>
            </a:r>
          </a:p>
          <a:p>
            <a:pPr>
              <a:spcAft>
                <a:spcPts val="900"/>
              </a:spcAft>
            </a:pPr>
            <a:r>
              <a:rPr sz="1800" b="1">
                <a:solidFill>
                  <a:srgbClr val="0F8B8D"/>
                </a:solidFill>
              </a:rPr>
              <a:t>▪  </a:t>
            </a:r>
            <a:r>
              <a:rPr sz="1800">
                <a:solidFill>
                  <a:srgbClr val="1B2430"/>
                </a:solidFill>
                <a:latin typeface="Calibri"/>
              </a:rPr>
              <a:t>Tiling tajribasi hisoblash miqdorini o'zgartirmasdan xotira trafigini kamaytirish mumkinligini ko'rsatadi.</a:t>
            </a:r>
          </a:p>
          <a:p>
            <a:pPr>
              <a:spcAft>
                <a:spcPts val="900"/>
              </a:spcAft>
            </a:pPr>
            <a:r>
              <a:rPr sz="1800" b="1">
                <a:solidFill>
                  <a:srgbClr val="0F8B8D"/>
                </a:solidFill>
              </a:rPr>
              <a:t>▪  </a:t>
            </a:r>
            <a:r>
              <a:rPr sz="1800">
                <a:solidFill>
                  <a:srgbClr val="1B2430"/>
                </a:solidFill>
                <a:latin typeface="Calibri"/>
              </a:rPr>
              <a:t>NUMA tajribasi 1,5–2 baravar farq beradi — bu kesh tajribasidagi kabi keskin emas, lekin katta klasterda muhim.</a:t>
            </a:r>
          </a:p>
          <a:p>
            <a:pPr>
              <a:spcAft>
                <a:spcPts val="900"/>
              </a:spcAft>
            </a:pPr>
            <a:r>
              <a:rPr sz="1800" b="1">
                <a:solidFill>
                  <a:srgbClr val="0F8B8D"/>
                </a:solidFill>
              </a:rPr>
              <a:t>▪  </a:t>
            </a:r>
            <a:r>
              <a:rPr sz="1800">
                <a:solidFill>
                  <a:srgbClr val="1B2430"/>
                </a:solidFill>
                <a:latin typeface="Calibri"/>
              </a:rPr>
              <a:t>Roofline tajribasi esa barcha kuzatuvlarni birlashtiradi: operatsiyaning intensivligini bilgan holda uning maksimal tezligini oldindan bashorat qilish mumkin, va o'lchangan natija…</a:t>
            </a:r>
          </a:p>
          <a:p>
            <a:pPr>
              <a:spcAft>
                <a:spcPts val="900"/>
              </a:spcAft>
            </a:pPr>
            <a:r>
              <a:rPr sz="1800" b="1">
                <a:solidFill>
                  <a:srgbClr val="0F8B8D"/>
                </a:solidFill>
              </a:rPr>
              <a:t>▪  </a:t>
            </a:r>
            <a:r>
              <a:rPr sz="1800">
                <a:solidFill>
                  <a:srgbClr val="1B2430"/>
                </a:solidFill>
                <a:latin typeface="Calibri"/>
              </a:rPr>
              <a:t>Cheklovlar: Python sikllari o'z yukini qo'shadi, shuning uchun mutlaq raqamlar C yoki CUDA'dagi o'lchovlardan farq qiladi — lekin nisbatlar saqlanadi.</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 (1)</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M5 · Arxitektura va dizayn tamoyillari</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28</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Ichki siklni noto'g'ri o'lchov bo'yicha yuritish. C-order massivda oxirgi indeks eng tez o'zgarishi kerak. Fortran-order (MATLAB, Fortran, ba'zi BLAS interfeyslari) bilan ishlaganda…</a:t>
            </a:r>
          </a:p>
          <a:p>
            <a:pPr>
              <a:spcAft>
                <a:spcPts val="900"/>
              </a:spcAft>
            </a:pPr>
            <a:r>
              <a:rPr sz="1600" b="1">
                <a:solidFill>
                  <a:srgbClr val="0F8B8D"/>
                </a:solidFill>
              </a:rPr>
              <a:t>▪  </a:t>
            </a:r>
            <a:r>
              <a:rPr sz="1600">
                <a:solidFill>
                  <a:srgbClr val="1B2430"/>
                </a:solidFill>
                <a:latin typeface="Calibri"/>
              </a:rPr>
              <a:t>Noncontiguous tensorni sezmaslik. transpose, permute, narrow, expand natijasi ko'rinish (view). Keyingi og'ir operatsiyadan oldin .contiguous() qo'llang yoki kernel qo'llab-quvvatlasa,…</a:t>
            </a:r>
          </a:p>
          <a:p>
            <a:pPr>
              <a:spcAft>
                <a:spcPts val="900"/>
              </a:spcAft>
            </a:pPr>
            <a:r>
              <a:rPr sz="1600" b="1">
                <a:solidFill>
                  <a:srgbClr val="0F8B8D"/>
                </a:solidFill>
              </a:rPr>
              <a:t>▪  </a:t>
            </a:r>
            <a:r>
              <a:rPr sz="1600">
                <a:solidFill>
                  <a:srgbClr val="1B2430"/>
                </a:solidFill>
                <a:latin typeface="Calibri"/>
              </a:rPr>
              <a:t>Har iteratsiyada CPU↔GPU nusxalash. .item(), .cpu(), print(tensor) chaqiruvlari sinxron nusxa va GPU navbatini to'xtatishga sabab bo'ladi. Metrikalarni GPU'da to'plang va faqat davr oxirida…</a:t>
            </a:r>
          </a:p>
          <a:p>
            <a:pPr>
              <a:spcAft>
                <a:spcPts val="900"/>
              </a:spcAft>
            </a:pPr>
            <a:r>
              <a:rPr sz="1600" b="1">
                <a:solidFill>
                  <a:srgbClr val="0F8B8D"/>
                </a:solidFill>
              </a:rPr>
              <a:t>▪  </a:t>
            </a:r>
            <a:r>
              <a:rPr sz="1600">
                <a:solidFill>
                  <a:srgbClr val="1B2430"/>
                </a:solidFill>
                <a:latin typeface="Calibri"/>
              </a:rPr>
              <a:t>Dataloader iplarini NUMA'ga bog'lamaslik. 8 GPU'li serverda har GPU jarayonini unga yaqin soketga numactl --cpunodebind yoki torchrun muhitida CUDA_VISIBLE_DEVICES + taskset orqali…</a:t>
            </a:r>
          </a:p>
          <a:p>
            <a:pPr>
              <a:spcAft>
                <a:spcPts val="900"/>
              </a:spcAft>
            </a:pPr>
            <a:r>
              <a:rPr sz="1600" b="1">
                <a:solidFill>
                  <a:srgbClr val="0F8B8D"/>
                </a:solidFill>
              </a:rPr>
              <a:t>▪  </a:t>
            </a:r>
            <a:r>
              <a:rPr sz="1600">
                <a:solidFill>
                  <a:srgbClr val="1B2430"/>
                </a:solidFill>
                <a:latin typeface="Calibri"/>
              </a:rPr>
              <a:t>First-touch tuzog'i. Katta bufer bosh ipda nol bilan to'ldirilib, keyin barcha soketlarda ishlatilsa, butun bufer bitta tugunda qoladi. Buferni ishlatadigan iplarning o'zi initsializatsiya…</a:t>
            </a:r>
          </a:p>
          <a:p>
            <a:pPr>
              <a:spcAft>
                <a:spcPts val="900"/>
              </a:spcAft>
            </a:pPr>
            <a:r>
              <a:rPr sz="1600" b="1">
                <a:solidFill>
                  <a:srgbClr val="0F8B8D"/>
                </a:solidFill>
              </a:rPr>
              <a:t>▪  </a:t>
            </a:r>
            <a:r>
              <a:rPr sz="1600">
                <a:solidFill>
                  <a:srgbClr val="1B2430"/>
                </a:solidFill>
                <a:latin typeface="Calibri"/>
              </a:rPr>
              <a:t>Roofline'siz optimallashtirish. Xotira bilan chegaralangan kernelni Tensor Core'ga «ko'chirish» foyda bermaydi — avval intensivlikni hisoblang. Agar operatsiya qiya chiziqda bo'lsa, yechim…</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 (2)</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M5 · Arxitektura va dizayn tamoyillari</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29</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Kichik matritsalarda launch overhead'ni e'tiborsiz qoldirish. Minglab kichik kernel chaqiruvi o'rniga batched GEMM (torch.bmm), CUDA Graphs yoki torch.compile ishlating.</a:t>
            </a:r>
          </a:p>
          <a:p>
            <a:pPr>
              <a:spcAft>
                <a:spcPts val="900"/>
              </a:spcAft>
            </a:pPr>
            <a:r>
              <a:rPr sz="1800" b="1">
                <a:solidFill>
                  <a:srgbClr val="0F8B8D"/>
                </a:solidFill>
              </a:rPr>
              <a:t>▪  </a:t>
            </a:r>
            <a:r>
              <a:rPr sz="1800">
                <a:solidFill>
                  <a:srgbClr val="1B2430"/>
                </a:solidFill>
                <a:latin typeface="Calibri"/>
              </a:rPr>
              <a:t>Faqat bir marta o'lchash. Isitish (warm-up) bosqichisiz birinchi chaqiruv kesh va JIT yukini o'z ichiga oladi. Kamida 3–5 takror, median qiymat va standart og'ishni hisobot qiling; GPU'da…</a:t>
            </a:r>
          </a:p>
          <a:p>
            <a:pPr>
              <a:spcAft>
                <a:spcPts val="900"/>
              </a:spcAft>
            </a:pPr>
            <a:r>
              <a:rPr sz="1800" b="1">
                <a:solidFill>
                  <a:srgbClr val="0F8B8D"/>
                </a:solidFill>
              </a:rPr>
              <a:t>▪  </a:t>
            </a:r>
            <a:r>
              <a:rPr sz="1800">
                <a:solidFill>
                  <a:srgbClr val="1B2430"/>
                </a:solidFill>
                <a:latin typeface="Calibri"/>
              </a:rPr>
              <a:t>Swap va huge pages'ni unutish. Katta embedding jadvallari uchun transparent huge pages (2 MB) TLB o'tkazib yuborishlarni kamaytiradi; swap yoqilgan bo'lsa dataloader ba'zan keskin…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Nazorat savollari (1)</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M5 · Arxitektura va dizayn tamoyillari</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30</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Nima uchun protsessor ishlab chiqaruvchilari L1 keshni kattalashtirish o'rniga uch pog'onali kesh iyerarxiyasini afzal ko'radi? Hajm, kechikish va energiya nuqtai nazaridan asoslang.</a:t>
            </a:r>
          </a:p>
          <a:p>
            <a:pPr>
              <a:spcAft>
                <a:spcPts val="900"/>
              </a:spcAft>
            </a:pPr>
            <a:r>
              <a:rPr sz="1600" b="1">
                <a:solidFill>
                  <a:srgbClr val="0F8B8D"/>
                </a:solidFill>
              </a:rPr>
              <a:t>▪  </a:t>
            </a:r>
            <a:r>
              <a:rPr sz="1600">
                <a:solidFill>
                  <a:srgbClr val="1B2430"/>
                </a:solidFill>
                <a:latin typeface="Calibri"/>
              </a:rPr>
              <a:t>70 milliard parametrli modelni FP16'da bitta H100'da batch=1 bilan dekodlashning nazariy token tezligi chegarasini hisoblang. INT4 kvantlash va batch=32 bu chegarani qanday o'zgartiradi?…</a:t>
            </a:r>
          </a:p>
          <a:p>
            <a:pPr>
              <a:spcAft>
                <a:spcPts val="900"/>
              </a:spcAft>
            </a:pPr>
            <a:r>
              <a:rPr sz="1600" b="1">
                <a:solidFill>
                  <a:srgbClr val="0F8B8D"/>
                </a:solidFill>
              </a:rPr>
              <a:t>▪  </a:t>
            </a:r>
            <a:r>
              <a:rPr sz="1600">
                <a:solidFill>
                  <a:srgbClr val="1B2430"/>
                </a:solidFill>
                <a:latin typeface="Calibri"/>
              </a:rPr>
              <a:t>A.sum(axis=0) NumPy'da nega col_loop dan ancha tez ishlaydi, garchi ikkalasi ham «ustun bo'yicha» yig'indi hisoblasa? Kutubxona qaysi tamoyilni qo'llagan?</a:t>
            </a:r>
          </a:p>
          <a:p>
            <a:pPr>
              <a:spcAft>
                <a:spcPts val="900"/>
              </a:spcAft>
            </a:pPr>
            <a:r>
              <a:rPr sz="1600" b="1">
                <a:solidFill>
                  <a:srgbClr val="0F8B8D"/>
                </a:solidFill>
              </a:rPr>
              <a:t>▪  </a:t>
            </a:r>
            <a:r>
              <a:rPr sz="1600">
                <a:solidFill>
                  <a:srgbClr val="1B2430"/>
                </a:solidFill>
                <a:latin typeface="Calibri"/>
              </a:rPr>
              <a:t>Ikki soketli serverda 8 ta GPU bor. Dataloader jarayonlari qanday taqsimlanishi kerak va buni qaysi buyruqlar bilan tekshirasiz? First-touch siyosati bunga qanday ta'sir qiladi?</a:t>
            </a:r>
          </a:p>
          <a:p>
            <a:pPr>
              <a:spcAft>
                <a:spcPts val="900"/>
              </a:spcAft>
            </a:pPr>
            <a:r>
              <a:rPr sz="1600" b="1">
                <a:solidFill>
                  <a:srgbClr val="0F8B8D"/>
                </a:solidFill>
              </a:rPr>
              <a:t>▪  </a:t>
            </a:r>
            <a:r>
              <a:rPr sz="1600">
                <a:solidFill>
                  <a:srgbClr val="1B2430"/>
                </a:solidFill>
                <a:latin typeface="Calibri"/>
              </a:rPr>
              <a:t>Roofline modelida «sinish nuqtasi» nimani anglatadi? H100'da FP8 Tensor Core (~1979 TFLOPS) ishlatilsa, sinish nuqtasi qanday siljiydi va bu dasturchiga nima deydi?</a:t>
            </a:r>
          </a:p>
          <a:p>
            <a:pPr>
              <a:spcAft>
                <a:spcPts val="900"/>
              </a:spcAft>
            </a:pPr>
            <a:r>
              <a:rPr sz="1600" b="1">
                <a:solidFill>
                  <a:srgbClr val="0F8B8D"/>
                </a:solidFill>
              </a:rPr>
              <a:t>▪  </a:t>
            </a:r>
            <a:r>
              <a:rPr sz="1600">
                <a:solidFill>
                  <a:srgbClr val="1B2430"/>
                </a:solidFill>
                <a:latin typeface="Calibri"/>
              </a:rPr>
              <a:t>Operator fusion xotira trafigini qanday kamaytiradi? LayerNorm + residual qo'shish + dropout zanjiri uchun fusion'siz va fusion'li HBM trafigini taxminan solishtiring.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Nazorat savollari (2)</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M5 · Arxitektura va dizayn tamoyillari</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31</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FlashAttention nima uchun «tezroq hisoblash» emas, balki «kamroq xotira trafigi» yondashuvi deb ataladi? U roofline'da attention operatsiyasini qaysi yo'nalishda siljitadi?</a:t>
            </a:r>
          </a:p>
          <a:p>
            <a:pPr>
              <a:spcAft>
                <a:spcPts val="900"/>
              </a:spcAft>
            </a:pPr>
            <a:r>
              <a:rPr sz="1800" b="1">
                <a:solidFill>
                  <a:srgbClr val="0F8B8D"/>
                </a:solidFill>
              </a:rPr>
              <a:t>▪  </a:t>
            </a:r>
            <a:r>
              <a:rPr sz="1800">
                <a:solidFill>
                  <a:srgbClr val="1B2430"/>
                </a:solidFill>
                <a:latin typeface="Calibri"/>
              </a:rPr>
              <a:t>channels_last formati ba'zi modellarda tezlashish bermaydi, ba'zan esa sekinlashtiradi. Qanday holatlarda va nega?</a:t>
            </a:r>
          </a:p>
          <a:p>
            <a:pPr>
              <a:spcAft>
                <a:spcPts val="900"/>
              </a:spcAft>
            </a:pPr>
            <a:r>
              <a:rPr sz="1800" b="1">
                <a:solidFill>
                  <a:srgbClr val="0F8B8D"/>
                </a:solidFill>
              </a:rPr>
              <a:t>▪  </a:t>
            </a:r>
            <a:r>
              <a:rPr sz="1800">
                <a:solidFill>
                  <a:srgbClr val="1B2430"/>
                </a:solidFill>
                <a:latin typeface="Calibri"/>
              </a:rPr>
              <a:t>PCIe 5.0 x16 orqali 10 GB ma'lumotni GPU'ga yuborish qancha vaqt oladi? Bu vaqtni ResNet-50 bir partiyasining GPU'dagi hisoblash vaqti bilan solishtirib, nega oldindan yuklash (prefetch)…</a:t>
            </a:r>
          </a:p>
          <a:p>
            <a:pPr>
              <a:spcAft>
                <a:spcPts val="900"/>
              </a:spcAft>
            </a:pPr>
            <a:r>
              <a:rPr sz="1800" b="1">
                <a:solidFill>
                  <a:srgbClr val="0F8B8D"/>
                </a:solidFill>
              </a:rPr>
              <a:t>▪  </a:t>
            </a:r>
            <a:r>
              <a:rPr sz="1800">
                <a:solidFill>
                  <a:srgbClr val="1B2430"/>
                </a:solidFill>
                <a:latin typeface="Calibri"/>
              </a:rPr>
              <a:t>CXL texnologiyasi NUMA tushunchasini qanday kengaytiradi va sun'iy intellekt serverlarida qaysi muammoni hal qilishi kutilmoqda?</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Mustaqil ish uchun topshiriq</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M5 · Arxitektura va dizayn tamoyillari</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32</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Topshiriq 1 (individual). Roofline hisoboti. O'zingiz tanlagan modelning (masalan, ResNet-50, BERT-base yoki Llama uslubidagi kichik transformer) kamida 5 ta asosiy operatsiyasi uchun arifmetik intensivlikni nazariy hisoblang, keyin PyTorch'da (CPU yoki…</a:t>
            </a:r>
          </a:p>
          <a:p>
            <a:pPr>
              <a:spcAft>
                <a:spcPts val="900"/>
              </a:spcAft>
            </a:pPr>
            <a:r>
              <a:rPr sz="1800" b="1">
                <a:solidFill>
                  <a:srgbClr val="0F8B8D"/>
                </a:solidFill>
              </a:rPr>
              <a:t>▪  </a:t>
            </a:r>
            <a:r>
              <a:rPr sz="1800">
                <a:solidFill>
                  <a:srgbClr val="1B2430"/>
                </a:solidFill>
                <a:latin typeface="Calibri"/>
              </a:rPr>
              <a:t>Baholash mezoni: intensivlik hisoblarining to'g'riligi (30 %), o'lchov metodikasi — isitish, takror, sinxronizatsiya, taxminiylikni ko'rsatish (25 %), roofline grafigi va talqin (25 %),…</a:t>
            </a:r>
          </a:p>
          <a:p>
            <a:pPr>
              <a:spcAft>
                <a:spcPts val="900"/>
              </a:spcAft>
            </a:pPr>
            <a:r>
              <a:rPr sz="1800" b="1">
                <a:solidFill>
                  <a:srgbClr val="0F8B8D"/>
                </a:solidFill>
              </a:rPr>
              <a:t>▪  </a:t>
            </a:r>
            <a:r>
              <a:rPr sz="1800">
                <a:solidFill>
                  <a:srgbClr val="1B2430"/>
                </a:solidFill>
                <a:latin typeface="Calibri"/>
              </a:rPr>
              <a:t>Topshiriq 2 (juftlikda). NUMA audit. Ikki soketli serverda (yoki bulutli instansda) numactl, numastat, nvidia-smi topo -m yordamida mavjud o'qitish skriptining jarayon/ip joylashuvini tekshiring, kamida uchta konfiguratsiyada (standart, mahalliy bog'lash,…</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Foydalanilgan manbalar (1)</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M5 · Arxitektura va dizayn tamoyillari</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33</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[1] Hennessy, J. L., &amp; Patterson, D. A. Computer Architecture: A Quantitative Approach. 7th Edition. Morgan Kaufmann, 2024. — 2-bob (Memory Hierarchy Design) va B-ilova.</a:t>
            </a:r>
          </a:p>
          <a:p>
            <a:pPr>
              <a:spcAft>
                <a:spcPts val="900"/>
              </a:spcAft>
            </a:pPr>
            <a:r>
              <a:rPr sz="1600" b="1">
                <a:solidFill>
                  <a:srgbClr val="0F8B8D"/>
                </a:solidFill>
              </a:rPr>
              <a:t>▪  </a:t>
            </a:r>
            <a:r>
              <a:rPr sz="1600">
                <a:solidFill>
                  <a:srgbClr val="1B2430"/>
                </a:solidFill>
                <a:latin typeface="Calibri"/>
              </a:rPr>
              <a:t>[4] Sze, V., Chen, Y.-H., Yang, T.-J., &amp; Emer, J. S. Efficient Processing of Deep Neural Networks: A Tutorial and Survey. Morgan &amp; Claypool Publishers, 2020. — ma'lumot harakati va energiya…</a:t>
            </a:r>
          </a:p>
          <a:p>
            <a:pPr>
              <a:spcAft>
                <a:spcPts val="900"/>
              </a:spcAft>
            </a:pPr>
            <a:r>
              <a:rPr sz="1600" b="1">
                <a:solidFill>
                  <a:srgbClr val="0F8B8D"/>
                </a:solidFill>
              </a:rPr>
              <a:t>▪  </a:t>
            </a:r>
            <a:r>
              <a:rPr sz="1600">
                <a:solidFill>
                  <a:srgbClr val="1B2430"/>
                </a:solidFill>
                <a:latin typeface="Calibri"/>
              </a:rPr>
              <a:t>[5] Kirk, D. B., &amp; Hwu, W.-M. W. Programming Massively Parallel Processors: A Hands-on Approach. 4th Edition. Morgan Kaufmann, 2022. — 5–6-boblar (xotira arxitekturasi, tiling).</a:t>
            </a:r>
          </a:p>
          <a:p>
            <a:pPr>
              <a:spcAft>
                <a:spcPts val="900"/>
              </a:spcAft>
            </a:pPr>
            <a:r>
              <a:rPr sz="1600" b="1">
                <a:solidFill>
                  <a:srgbClr val="0F8B8D"/>
                </a:solidFill>
              </a:rPr>
              <a:t>▪  </a:t>
            </a:r>
            <a:r>
              <a:rPr sz="1600">
                <a:solidFill>
                  <a:srgbClr val="1B2430"/>
                </a:solidFill>
                <a:latin typeface="Calibri"/>
              </a:rPr>
              <a:t>[6] NVIDIA Developer Portal — CUDA C++ Best Practices Guide (Memory Optimizations bo'limi), https://developer.nvidia.com</a:t>
            </a:r>
          </a:p>
          <a:p>
            <a:pPr>
              <a:spcAft>
                <a:spcPts val="900"/>
              </a:spcAft>
            </a:pPr>
            <a:r>
              <a:rPr sz="1600" b="1">
                <a:solidFill>
                  <a:srgbClr val="0F8B8D"/>
                </a:solidFill>
              </a:rPr>
              <a:t>▪  </a:t>
            </a:r>
            <a:r>
              <a:rPr sz="1600">
                <a:solidFill>
                  <a:srgbClr val="1B2430"/>
                </a:solidFill>
                <a:latin typeface="Calibri"/>
              </a:rPr>
              <a:t>[7] PyTorch rasmiy hujjatlari — «Channels Last Memory Format in PyTorch» va «CUDA semantics» sahifalari, https://pytorch.org</a:t>
            </a:r>
          </a:p>
          <a:p>
            <a:pPr>
              <a:spcAft>
                <a:spcPts val="900"/>
              </a:spcAft>
            </a:pPr>
            <a:r>
              <a:rPr sz="1600" b="1">
                <a:solidFill>
                  <a:srgbClr val="0F8B8D"/>
                </a:solidFill>
              </a:rPr>
              <a:t>▪  </a:t>
            </a:r>
            <a:r>
              <a:rPr sz="1600">
                <a:solidFill>
                  <a:srgbClr val="1B2430"/>
                </a:solidFill>
                <a:latin typeface="Calibri"/>
              </a:rPr>
              <a:t>Williams, S., Waterman, A., &amp; Patterson, D. Roofline: An Insightful Visual Performance Model for Multicore Architectures. Communications of the ACM, 52(4), 2009, 65–76.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Foydalanilgan manbalar (2)</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M5 · Arxitektura va dizayn tamoyillari</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34</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Dao, T., Fu, D. Y., Ermon, S., Rudra, A., &amp; Ré, C. FlashAttention: Fast and Memory-Efficient Exact Attention with IO-Awareness. NeurIPS 2022.</a:t>
            </a:r>
          </a:p>
          <a:p>
            <a:pPr>
              <a:spcAft>
                <a:spcPts val="900"/>
              </a:spcAft>
            </a:pPr>
            <a:r>
              <a:rPr sz="2000" b="1">
                <a:solidFill>
                  <a:srgbClr val="0F8B8D"/>
                </a:solidFill>
              </a:rPr>
              <a:t>▪  </a:t>
            </a:r>
            <a:r>
              <a:rPr sz="2000">
                <a:solidFill>
                  <a:srgbClr val="1B2430"/>
                </a:solidFill>
                <a:latin typeface="Calibri"/>
              </a:rPr>
              <a:t>Linux numactl(8) va numastat(8) man sahifalari; Linux kernel hujjatlari — «What is NUMA?» (Documentation/mm/numa.rst).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SAVOLLAR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E’tiboringiz uchun rahmat!</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M5 · Arxitektura va dizayn tamoyillari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35</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2000000"/>
            <a:ext cx="11000000" cy="2500000"/>
          </a:xfrm>
          <a:prstGeom prst="rect">
            <a:avLst/>
          </a:prstGeom>
          <a:noFill/>
        </p:spPr>
        <p:txBody>
          <a:bodyPr wrap="square" anchor="t" lIns="50800" rIns="50800">
            <a:spAutoFit/>
          </a:bodyPr>
          <a:lstStyle/>
          <a:p>
            <a:pPr algn="l"/>
            <a:r>
              <a:rPr sz="2000" b="0">
                <a:solidFill>
                  <a:srgbClr val="1B2430"/>
                </a:solidFill>
                <a:latin typeface="Calibri"/>
              </a:rPr>
              <a:t>Mavzu matni va materiallar: https://aiscan.airi.uz/ktm/#/c/mis2104/mavzu/M5</a:t>
            </a:r>
          </a:p>
          <a:p>
            <a:pPr algn="l"/>
            <a:r>
              <a:rPr sz="2000" b="0">
                <a:solidFill>
                  <a:srgbClr val="1B2430"/>
                </a:solidFill>
                <a:latin typeface="Calibri"/>
              </a:rPr>
              <a:t>Nazorat savollari va mustaqil ish — mavzu matnining oxirida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
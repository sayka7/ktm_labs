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Xotira iyerarxiyasi — bu tezlik, hajm va narx o'rtasidagi murosaning muhandislik yechimi. Juda tez xotira (SRAM asosidagi registrlar va kesh) qimmat va kichik hajmli, katta hajmli xotira (DRAM, flesh) esa sekin. Iyerarxiya g'oyasi shundan iboratki, dastur hozir ishlatayotgan kichik ma'lumotlar to'plami tez pog'onada, qolgani esa katta va sekin pog'onalarda saqlanadi. Hennessy va Patterson [1] ta'kidlaganidek, bu yechim faqat dasturlar lokallik xususiyatiga ega bo'lgani uchungina ishlaydi.</a:t>
            </a:r>
          </a:p>
          <a:p/>
          <a:p>
            <a:r>
              <a:t>Zamonaviy server protsessori va tezlatkich uchun tipik ko'rsatkichlar quyidagi jadvalda keltirilgan (raqamlar taxminiy, avlod va modelga qarab farq qiladi):</a:t>
            </a:r>
          </a:p>
          <a:p/>
          <a:p>
            <a:r>
              <a:t>Jadvaldan ikki xulosa kelib chiqadi. Birinchidan, pog'onalar orasida kechikish farqi o'nlab va yuzlab martani tashkil etadi: L1 keshdan o'qish DRAM'dan o'qishdan qariyb yuz marta tez. Ikkinchidan, CPU va GPU orasidagi PCIe havolasi GPU'ning o'z xotirasidan qariyb 50 marta sekin — demak, har bir iteratsiyada ma'lumotni CPU'dan GPU'ga ko'chiradigan kod hech qachon GPU imkoniyatini to'liq ishlata olmaydi.</a:t>
            </a:r>
          </a:p>
          <a:p/>
          <a:p>
            <a:r>
              <a:t>Kesh satr (cache line) birligi odatda 64 bayt. Protsessor xotiradan bitta float32 qiymatni so'raganda ham butun 64 baytlik satr (16 ta float32) keshga yuklanadi. Agar dastur keyingi qadamda qo'shni elementga murojaat qilsa — u allaqachon keshda; agar 4096 bayt naridagi elementga murojaat qilsa — yangi satr yuklanadi, eskisi esa bekor sarflangan bo'ladi. Shu oddiy mexanizm quyida ko'riladigan o'n baravar farqning asosiy sababidir.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Xotira iyerarxiyasi — bu tezlik, hajm va narx o'rtasidagi murosaning muhandislik yechimi. Juda tez xotira (SRAM asosidagi registrlar va kesh) qimmat va kichik hajmli, katta hajmli xotira (DRAM, flesh) esa sekin. Iyerarxiya g'oyasi shundan iboratki, dastur hozir ishlatayotgan kichik ma'lumotlar to'plami tez pog'onada, qolgani esa katta va sekin pog'onalarda saqlanadi. Hennessy va Patterson [1] ta'kidlaganidek, bu yechim faqat dasturlar lokallik xususiyatiga ega bo'lgani uchungina ishlaydi.</a:t>
            </a:r>
          </a:p>
          <a:p/>
          <a:p>
            <a:r>
              <a:t>Zamonaviy server protsessori va tezlatkich uchun tipik ko'rsatkichlar quyidagi jadvalda keltirilgan (raqamlar taxminiy, avlod va modelga qarab farq qiladi):</a:t>
            </a:r>
          </a:p>
          <a:p/>
          <a:p>
            <a:r>
              <a:t>Jadvaldan ikki xulosa kelib chiqadi. Birinchidan, pog'onalar orasida kechikish farqi o'nlab va yuzlab martani tashkil etadi: L1 keshdan o'qish DRAM'dan o'qishdan qariyb yuz marta tez. Ikkinchidan, CPU va GPU orasidagi PCIe havolasi GPU'ning o'z xotirasidan qariyb 50 marta sekin — demak, har bir iteratsiyada ma'lumotni CPU'dan GPU'ga ko'chiradigan kod hech qachon GPU imkoniyatini to'liq ishlata olmaydi.</a:t>
            </a:r>
          </a:p>
          <a:p/>
          <a:p>
            <a:r>
              <a:t>Kesh satr (cache line) birligi odatda 64 bayt. Protsessor xotiradan bitta float32 qiymatni so'raganda ham butun 64 baytlik satr (16 ta float32) keshga yuklanadi. Agar dastur keyingi qadamda qo'shni elementga murojaat qilsa — u allaqachon keshda; agar 4096 bayt naridagi elementga murojaat qilsa — yangi satr yuklanadi, eskisi esa bekor sarflangan bo'ladi. Shu oddiy mexanizm quyida ko'riladigan o'n baravar farqning asosiy sababidir.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Xotira iyerarxiyasi — bu tezlik, hajm va narx o'rtasidagi murosaning muhandislik yechimi. Juda tez xotira (SRAM asosidagi registrlar va kesh) qimmat va kichik hajmli, katta hajmli xotira (DRAM, flesh) esa sekin. Iyerarxiya g'oyasi shundan iboratki, dastur hozir ishlatayotgan kichik ma'lumotlar to'plami tez pog'onada, qolgani esa katta va sekin pog'onalarda saqlanadi. Hennessy va Patterson [1] ta'kidlaganidek, bu yechim faqat dasturlar lokallik xususiyatiga ega bo'lgani uchungina ishlaydi.</a:t>
            </a:r>
          </a:p>
          <a:p/>
          <a:p>
            <a:r>
              <a:t>Zamonaviy server protsessori va tezlatkich uchun tipik ko'rsatkichlar quyidagi jadvalda keltirilgan (raqamlar taxminiy, avlod va modelga qarab farq qiladi):</a:t>
            </a:r>
          </a:p>
          <a:p/>
          <a:p>
            <a:r>
              <a:t>Jadvaldan ikki xulosa kelib chiqadi. Birinchidan, pog'onalar orasida kechikish farqi o'nlab va yuzlab martani tashkil etadi: L1 keshdan o'qish DRAM'dan o'qishdan qariyb yuz marta tez. Ikkinchidan, CPU va GPU orasidagi PCIe havolasi GPU'ning o'z xotirasidan qariyb 50 marta sekin — demak, har bir iteratsiyada ma'lumotni CPU'dan GPU'ga ko'chiradigan kod hech qachon GPU imkoniyatini to'liq ishlata olmaydi.</a:t>
            </a:r>
          </a:p>
          <a:p/>
          <a:p>
            <a:r>
              <a:t>Kesh satr (cache line) birligi odatda 64 bayt. Protsessor xotiradan bitta float32 qiymatni so'raganda ham butun 64 baytlik satr (16 ta float32) keshga yuklanadi. Agar dastur keyingi qadamda qo'shni elementga murojaat qilsa — u allaqachon keshda; agar 4096 bayt naridagi elementga murojaat qilsa — yangi satr yuklanadi, eskisi esa bekor sarflangan bo'ladi. Shu oddiy mexanizm quyida ko'riladigan o'n baravar farqning asosiy sababidir.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Ma'lumotlar lokalizatsiyasi (data locality) ikki shaklda namoyon bo'ladi. Vaqt lokalligi (temporal locality) — yaqinda ishlatilgan ma'lumot yaqin orada yana ishlatilishi ehtimoli yuqori; shuning uchun uni keshda ushlab turish foydali. Fazoviy lokallik (spatial locality) — ishlatilgan ma'lumotning qo'shnilari ham tez orada ishlatilishi ehtimoli yuqori; shuning uchun xotira satrlab yuklanadi va apparat oldindan yuklovchi (hardware prefetcher) ketma-ket namunani sezib, keyingi satrlarni oldindan tortib keladi.</a:t>
            </a:r>
          </a:p>
          <a:p/>
          <a:p>
            <a:r>
              <a:t>Ko'p o'lchovli massivlarda lokallik xotirada joylashish tartibiga bog'liq. NumPy va PyTorch'da standart tartib — satr-ustuvor (row-major, C-order): A[i, j] elementidan keyin xotirada A[i, j+1] yotadi. Demak, ichki sikl j bo'yicha yursa, kirish ketma-ket va kesh-do'stona bo'ladi; ichki sikl i bo'yicha yursa, har qadamda butun satr uzunligiga (masalan, 8192 × 4 bayt = 32 KB) sakrash yuz beradi va deyarli har bir murojaat keshni o'tkazib yuboradi (cache miss). Matematik jihatdan ikkala variant bir xil natija beradi, lekin ish vaqti o'nlab marta farq qilishi mumkin.</a:t>
            </a:r>
          </a:p>
          <a:p/>
          <a:p>
            <a:r>
              <a:t>Chuqur o'rganish freymvorklarida bu masala tensor tartibi (memory format) ko'rinishida uchraydi: PyTorch'da konvolyutsion tarmoqlar uchun NCHW (kanal birinchi) va NHWC (channels_last) formatlari mavjud. Tensor Core va cuDNN kernellari ko'pincha NHWC tartibida tezroq ishlaydi, chunki bitta piksel uchun barcha kanallar xotirada yonma-yon turadi va vektorli yuklash samarali bo'ladi. Shuning uchun model.to(memory_format=torch.channels_last) chaqiruvi ba'zi tarmoqlarda 10–30 foiz tezlashish beradi — kod mantig'i o'zgarmagan holda.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Ma'lumotlar lokalizatsiyasi (data locality) ikki shaklda namoyon bo'ladi. Vaqt lokalligi (temporal locality) — yaqinda ishlatilgan ma'lumot yaqin orada yana ishlatilishi ehtimoli yuqori; shuning uchun uni keshda ushlab turish foydali. Fazoviy lokallik (spatial locality) — ishlatilgan ma'lumotning qo'shnilari ham tez orada ishlatilishi ehtimoli yuqori; shuning uchun xotira satrlab yuklanadi va apparat oldindan yuklovchi (hardware prefetcher) ketma-ket namunani sezib, keyingi satrlarni oldindan tortib keladi.</a:t>
            </a:r>
          </a:p>
          <a:p/>
          <a:p>
            <a:r>
              <a:t>Ko'p o'lchovli massivlarda lokallik xotirada joylashish tartibiga bog'liq. NumPy va PyTorch'da standart tartib — satr-ustuvor (row-major, C-order): A[i, j] elementidan keyin xotirada A[i, j+1] yotadi. Demak, ichki sikl j bo'yicha yursa, kirish ketma-ket va kesh-do'stona bo'ladi; ichki sikl i bo'yicha yursa, har qadamda butun satr uzunligiga (masalan, 8192 × 4 bayt = 32 KB) sakrash yuz beradi va deyarli har bir murojaat keshni o'tkazib yuboradi (cache miss). Matematik jihatdan ikkala variant bir xil natija beradi, lekin ish vaqti o'nlab marta farq qilishi mumkin.</a:t>
            </a:r>
          </a:p>
          <a:p/>
          <a:p>
            <a:r>
              <a:t>Chuqur o'rganish freymvorklarida bu masala tensor tartibi (memory format) ko'rinishida uchraydi: PyTorch'da konvolyutsion tarmoqlar uchun NCHW (kanal birinchi) va NHWC (channels_last) formatlari mavjud. Tensor Core va cuDNN kernellari ko'pincha NHWC tartibida tezroq ishlaydi, chunki bitta piksel uchun barcha kanallar xotirada yonma-yon turadi va vektorli yuklash samarali bo'ladi. Shuning uchun model.to(memory_format=torch.channels_last) chaqiruvi ba'zi tarmoqlarda 10–30 foiz tezlashish beradi — kod mantig'i o'zgarmagan holda.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Ko'p soketli serverlarda (masalan, ikki protsessorli Intel Xeon yoki AMD EPYC tizimlari) har bir protsessorning o'z xotira kontrollerlari va unga ulangan DRAM modullari bor. Bitta soketdagi yadro o'z DRAM'iga («mahalliy tugun») to'g'ridan-to'g'ri murojaat qiladi; boshqa soketning DRAM'iga («uzoq tugun») esa protsessorlararo havola (Intel UPI yoki AMD Infinity Fabric) orqali murojaat qiladi. Natijada xotiraga kirish vaqti bir xil emas — bu Non-Uniform Memory Access, qisqacha NUMA. Odatda uzoq murojaat mahalliysidan 1,3–2 marta sekin va havola o'tkazuvchanligi mahalliy DRAM kanallaridan kichik.</a:t>
            </a:r>
          </a:p>
          <a:p/>
          <a:p>
            <a:r>
              <a:t>AMD EPYC protsessorlarida vaziyat yanada murakkabroq: bitta soket ichida ham bir nechta chiplet (CCD) va I/O kristali bor, shuning uchun BIOS sozlamalariga qarab bitta soket 1, 2 yoki 4 NUMA tuguni sifatida ko'rinishi mumkin (NPS1/NPS2/NPS4 rejimlari). GPU serverlarida esa PCIe kommutatorlari ham NUMA tugunlariga bog'langan: 8 GPU'li DGX-uslubidagi serverda 4 ta GPU birinchi soketga, 4 tasi ikkinchisiga «yaqin». Agar ma'lumot yuklovchi jarayon (dataloader) birinchi soketda ishlab, ikkinchi soketga yaqin GPU'ga ma'lumot yuborsa, har bir partiya (batch) protsessorlararo havoladan o'tadi.</a:t>
            </a:r>
          </a:p>
          <a:p/>
          <a:p>
            <a:r>
              <a:t>Linux yadrosi standart holatda «first-touch» siyosatini qo'llaydi: xotira sahifasi uni birinchi marta yozgan (ishga tushirgan) yadro joylashgan tugunda ajratiladi. Bu ko'pincha to'g'ri ishlaydi, lekin pitfall ham bor: agar bosh ip (thread) katta massivni nol bilan to'ldirib, keyin uni barcha soketlardagi iplarga tarqatsa, butun massiv bitta tugunda yotadi va qolgan soketlar uzoq murojaatga majbur bo'ladi. numactl utilitasi bu siyosatni boshqarish imkonini beradi: --cpunodebind=0 --membind=0 jarayonni faqat 0-tugun yadrolari va xotirasiga bog'laydi, --interleave=all esa sahifalarni tugunlar bo'ylab navbatma-navbat taqsimlaydi — bu o'tkazuvchanlikni yig'adi, lekin o'rtacha kechikishni oshiradi.</a:t>
            </a:r>
          </a:p>
          <a:p/>
          <a:p>
            <a:r>
              <a:t>Sun'iy intellekt tizimlarida NUMA'ga e'tibor berish uchta joyda muhim: (1) dataloader iplarini GPU'ga yaqin soketga bog'lash; (2) CPU'da inferens qiluvchi xizmatlarni (masalan, ONNX Runtime bilan) har bir soketda alohida nusxa sifatida ishga tushirish; (3) katta embedding jadvallari yoki KV-kesh CPU xotirasiga «chiqarilgan» (offload) holatlarda ularni to'g'ri tugunga joylash.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Ko'p soketli serverlarda (masalan, ikki protsessorli Intel Xeon yoki AMD EPYC tizimlari) har bir protsessorning o'z xotira kontrollerlari va unga ulangan DRAM modullari bor. Bitta soketdagi yadro o'z DRAM'iga («mahalliy tugun») to'g'ridan-to'g'ri murojaat qiladi; boshqa soketning DRAM'iga («uzoq tugun») esa protsessorlararo havola (Intel UPI yoki AMD Infinity Fabric) orqali murojaat qiladi. Natijada xotiraga kirish vaqti bir xil emas — bu Non-Uniform Memory Access, qisqacha NUMA. Odatda uzoq murojaat mahalliysidan 1,3–2 marta sekin va havola o'tkazuvchanligi mahalliy DRAM kanallaridan kichik.</a:t>
            </a:r>
          </a:p>
          <a:p/>
          <a:p>
            <a:r>
              <a:t>AMD EPYC protsessorlarida vaziyat yanada murakkabroq: bitta soket ichida ham bir nechta chiplet (CCD) va I/O kristali bor, shuning uchun BIOS sozlamalariga qarab bitta soket 1, 2 yoki 4 NUMA tuguni sifatida ko'rinishi mumkin (NPS1/NPS2/NPS4 rejimlari). GPU serverlarida esa PCIe kommutatorlari ham NUMA tugunlariga bog'langan: 8 GPU'li DGX-uslubidagi serverda 4 ta GPU birinchi soketga, 4 tasi ikkinchisiga «yaqin». Agar ma'lumot yuklovchi jarayon (dataloader) birinchi soketda ishlab, ikkinchi soketga yaqin GPU'ga ma'lumot yuborsa, har bir partiya (batch) protsessorlararo havoladan o'tadi.</a:t>
            </a:r>
          </a:p>
          <a:p/>
          <a:p>
            <a:r>
              <a:t>Linux yadrosi standart holatda «first-touch» siyosatini qo'llaydi: xotira sahifasi uni birinchi marta yozgan (ishga tushirgan) yadro joylashgan tugunda ajratiladi. Bu ko'pincha to'g'ri ishlaydi, lekin pitfall ham bor: agar bosh ip (thread) katta massivni nol bilan to'ldirib, keyin uni barcha soketlardagi iplarga tarqatsa, butun massiv bitta tugunda yotadi va qolgan soketlar uzoq murojaatga majbur bo'ladi. numactl utilitasi bu siyosatni boshqarish imkonini beradi: --cpunodebind=0 --membind=0 jarayonni faqat 0-tugun yadrolari va xotirasiga bog'laydi, --interleave=all esa sahifalarni tugunlar bo'ylab navbatma-navbat taqsimlaydi — bu o'tkazuvchanlikni yig'adi, lekin o'rtacha kechikishni oshiradi.</a:t>
            </a:r>
          </a:p>
          <a:p/>
          <a:p>
            <a:r>
              <a:t>Sun'iy intellekt tizimlarida NUMA'ga e'tibor berish uchta joyda muhim: (1) dataloader iplarini GPU'ga yaqin soketga bog'lash; (2) CPU'da inferens qiluvchi xizmatlarni (masalan, ONNX Runtime bilan) har bir soketda alohida nusxa sifatida ishga tushirish; (3) katta embedding jadvallari yoki KV-kesh CPU xotirasiga «chiqarilgan» (offload) holatlarda ularni to'g'ri tugunga joylash.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Ko'p soketli serverlarda (masalan, ikki protsessorli Intel Xeon yoki AMD EPYC tizimlari) har bir protsessorning o'z xotira kontrollerlari va unga ulangan DRAM modullari bor. Bitta soketdagi yadro o'z DRAM'iga («mahalliy tugun») to'g'ridan-to'g'ri murojaat qiladi; boshqa soketning DRAM'iga («uzoq tugun») esa protsessorlararo havola (Intel UPI yoki AMD Infinity Fabric) orqali murojaat qiladi. Natijada xotiraga kirish vaqti bir xil emas — bu Non-Uniform Memory Access, qisqacha NUMA. Odatda uzoq murojaat mahalliysidan 1,3–2 marta sekin va havola o'tkazuvchanligi mahalliy DRAM kanallaridan kichik.</a:t>
            </a:r>
          </a:p>
          <a:p/>
          <a:p>
            <a:r>
              <a:t>AMD EPYC protsessorlarida vaziyat yanada murakkabroq: bitta soket ichida ham bir nechta chiplet (CCD) va I/O kristali bor, shuning uchun BIOS sozlamalariga qarab bitta soket 1, 2 yoki 4 NUMA tuguni sifatida ko'rinishi mumkin (NPS1/NPS2/NPS4 rejimlari). GPU serverlarida esa PCIe kommutatorlari ham NUMA tugunlariga bog'langan: 8 GPU'li DGX-uslubidagi serverda 4 ta GPU birinchi soketga, 4 tasi ikkinchisiga «yaqin». Agar ma'lumot yuklovchi jarayon (dataloader) birinchi soketda ishlab, ikkinchi soketga yaqin GPU'ga ma'lumot yuborsa, har bir partiya (batch) protsessorlararo havoladan o'tadi.</a:t>
            </a:r>
          </a:p>
          <a:p/>
          <a:p>
            <a:r>
              <a:t>Linux yadrosi standart holatda «first-touch» siyosatini qo'llaydi: xotira sahifasi uni birinchi marta yozgan (ishga tushirgan) yadro joylashgan tugunda ajratiladi. Bu ko'pincha to'g'ri ishlaydi, lekin pitfall ham bor: agar bosh ip (thread) katta massivni nol bilan to'ldirib, keyin uni barcha soketlardagi iplarga tarqatsa, butun massiv bitta tugunda yotadi va qolgan soketlar uzoq murojaatga majbur bo'ladi. numactl utilitasi bu siyosatni boshqarish imkonini beradi: --cpunodebind=0 --membind=0 jarayonni faqat 0-tugun yadrolari va xotirasiga bog'laydi, --interleave=all esa sahifalarni tugunlar bo'ylab navbatma-navbat taqsimlaydi — bu o'tkazuvchanlikni yig'adi, lekin o'rtacha kechikishni oshiradi.</a:t>
            </a:r>
          </a:p>
          <a:p/>
          <a:p>
            <a:r>
              <a:t>Sun'iy intellekt tizimlarida NUMA'ga e'tibor berish uchta joyda muhim: (1) dataloader iplarini GPU'ga yaqin soketga bog'lash; (2) CPU'da inferens qiluvchi xizmatlarni (masalan, ONNX Runtime bilan) har bir soketda alohida nusxa sifatida ishga tushirish; (3) katta embedding jadvallari yoki KV-kesh CPU xotirasiga «chiqarilgan» (offload) holatlarda ularni to'g'ri tugunga joylash.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Qaysi ish yuki xotira bilan chegaralanganini miqdoriy baholash uchun arifmetik intensivlik (arithmetic intensity) tushunchasi ishlatiladi: I = FLOP / bayt — bajarilgan suzuvchi nuqtali amallar sonini xotiradan o'qilgan va yozilgan baytlar soniga bo'lish. Roofline modeli (Williams, Waterman, Patterson, 2009) esa erishiladigan unumdorlikni quyidagicha chegaralaydi:</a:t>
            </a:r>
          </a:p>
          <a:p/>
          <a:p>
            <a:r>
              <a:t>P_erishiladigan = min(P_cho'qqi, B_xotira × I)</a:t>
            </a:r>
          </a:p>
          <a:p/>
          <a:p>
            <a:r>
              <a:t>bu yerda P_cho'qqi — qurilmaning maksimal hisoblash quvvati (FLOP/s), B_xotira — xotira o'tkazuvchanligi (bayt/s). Ikki chiziq kesishgan nuqta — «sinish nuqtasi» (ridge point) — I = P_cho'qqi / B_xotira. H100 uchun FP16 rejimda I ≈ 990e12 / 3,35e12 ≈ 295 FLOP/bayt; FP32 (Tensor Core'siz, ~67 TFLOPS) uchun esa I ≈ 20 FLOP/bayt.</a:t>
            </a:r>
          </a:p>
          <a:p/>
          <a:p>
            <a:r>
              <a:t>Bir necha tipik operatsiyaning intensivligi:</a:t>
            </a:r>
          </a:p>
          <a:p/>
          <a:p>
            <a:r>
              <a:t>Jadval LLM inferensining mashhur muammosini tushuntiradi: batch hajmi 1 bo'lganda har bir yangi token uchun modelning barcha og'irliklari (70 mlrd parametrli model uchun FP16'da 140 GB) xotiradan o'qiladi, lekin har bir og'irlik faqat bitta ko'paytirish-qo'shish uchun ishlatiladi. Intensivlik ~1 FLOP/bayt, demak H100 o'z quvvatining 1 foizidan kamini ishlatadi va token tezligi faqat HBM o'tkazuvchanligi bilan belgilanadi: 3,35 TB/s ÷ 140 GB ≈ sekundiga 24 token (nazariy chegara). Batch hajmini oshirish intensivlikni deyarli proporsional oshiradi — shuning uchun inferens serverlari so'rovlarni to'playdi (batching).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Qaysi ish yuki xotira bilan chegaralanganini miqdoriy baholash uchun arifmetik intensivlik (arithmetic intensity) tushunchasi ishlatiladi: I = FLOP / bayt — bajarilgan suzuvchi nuqtali amallar sonini xotiradan o'qilgan va yozilgan baytlar soniga bo'lish. Roofline modeli (Williams, Waterman, Patterson, 2009) esa erishiladigan unumdorlikni quyidagicha chegaralaydi:</a:t>
            </a:r>
          </a:p>
          <a:p/>
          <a:p>
            <a:r>
              <a:t>P_erishiladigan = min(P_cho'qqi, B_xotira × I)</a:t>
            </a:r>
          </a:p>
          <a:p/>
          <a:p>
            <a:r>
              <a:t>bu yerda P_cho'qqi — qurilmaning maksimal hisoblash quvvati (FLOP/s), B_xotira — xotira o'tkazuvchanligi (bayt/s). Ikki chiziq kesishgan nuqta — «sinish nuqtasi» (ridge point) — I = P_cho'qqi / B_xotira. H100 uchun FP16 rejimda I ≈ 990e12 / 3,35e12 ≈ 295 FLOP/bayt; FP32 (Tensor Core'siz, ~67 TFLOPS) uchun esa I ≈ 20 FLOP/bayt.</a:t>
            </a:r>
          </a:p>
          <a:p/>
          <a:p>
            <a:r>
              <a:t>Bir necha tipik operatsiyaning intensivligi:</a:t>
            </a:r>
          </a:p>
          <a:p/>
          <a:p>
            <a:r>
              <a:t>Jadval LLM inferensining mashhur muammosini tushuntiradi: batch hajmi 1 bo'lganda har bir yangi token uchun modelning barcha og'irliklari (70 mlrd parametrli model uchun FP16'da 140 GB) xotiradan o'qiladi, lekin har bir og'irlik faqat bitta ko'paytirish-qo'shish uchun ishlatiladi. Intensivlik ~1 FLOP/bayt, demak H100 o'z quvvatining 1 foizidan kamini ishlatadi va token tezligi faqat HBM o'tkazuvchanligi bilan belgilanadi: 3,35 TB/s ÷ 140 GB ≈ sekundiga 24 token (nazariy chegara). Batch hajmini oshirish intensivlikni deyarli proporsional oshiradi — shuning uchun inferens serverlari so'rovlarni to'playdi (batching).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Muhandislik amaliyotida quyidagi usullar guruhi ajralib turadi.</a:t>
            </a:r>
          </a:p>
          <a:p/>
          <a:p>
            <a:r>
              <a:t>Apparat darajasida: HBM (High Bandwidth Memory) — DRAM kristallarini vertikal stakalab, GPU bilan keng (1024+ bit) interfeys orqali ulash; H100'da HBM3, B200'da HBM3e ishlatiladi. Keng L2/L3 keshlar (AMD EPYC Genoa-X'da 1 GB gacha 3D V-Cache). NVLink — GPU'lar orasida PCIe'dan bir necha marta tezroq havola (H100'da 900 GB/s). CXL (Compute Express Link) — CPU xotirasini kengaytirish va keshni izchil ulashish uchun yangi standart.</a:t>
            </a:r>
          </a:p>
          <a:p/>
          <a:p>
            <a:r>
              <a:t>Algoritm darajasida: tiling (bloklash) — katta matritsani keshga sig'adigan bloklarga bo'lib, har bir blok ustida maksimal ishni bajarish; bu GEMM kutubxonalarining (cuBLAS, oneDNN) asosiy tamoyili. Operator fusion — ketma-ket kelgan xotira bilan chegaralangan operatsiyalarni (masalan, matritsa ko'paytmasi + bias + GELU) bitta kernelga birlashtirish, shunda oraliq natija HBM'ga yozilmaydi va qayta o'qilmaydi; torch.compile va TensorRT aynan shu ishni avtomatlashtiradi. FlashAttention — attention mexanizmini N×N matritsani hech qachon HBM'ga yozmasdan, SRAM'da bloklab hisoblash; bu xotira trafigini kvadratikdan chiziqli darajaga tushiradi va uzun kontekstlarni amalda mumkin qiladi.</a:t>
            </a:r>
          </a:p>
          <a:p/>
          <a:p>
            <a:r>
              <a:t>Tizim darajasida: pinned (sahifalanmaydigan, page-locked) xotira — cudaHostAlloc yoki PyTorch'da pin_memory=True — CPU→GPU nusxalashni DMA orqali to'g'ridan-to'g'ri va asinxron bajarish imkonini beradi; dataloader'da num_workers va prefetch_factor orqali keyingi partiyani oldindan tayyorlash; GPUDirect Storage — NVMe'dan GPU xotirasiga CPU'ni chetlab o'tib o'qish; past aniqlikdagi formatlar (FP16, BF16, FP8, INT8) — bir xil o'tkazuvchanlikda ikki-to'rt barobar ko'p element uzatish (bu M8 mavzusida batafsil ko'riladi).</a:t>
            </a:r>
          </a:p>
          <a:p/>
          <a:p>
            <a:r>
              <a:t>Ushbu usullarning barchasini birlashtiruvchi tamoyil bitta: hisoblashni ma'lumot yoniga olib borish, ma'lumotni hisoblash yoniga emas.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Muhandislik amaliyotida quyidagi usullar guruhi ajralib turadi.</a:t>
            </a:r>
          </a:p>
          <a:p/>
          <a:p>
            <a:r>
              <a:t>Apparat darajasida: HBM (High Bandwidth Memory) — DRAM kristallarini vertikal stakalab, GPU bilan keng (1024+ bit) interfeys orqali ulash; H100'da HBM3, B200'da HBM3e ishlatiladi. Keng L2/L3 keshlar (AMD EPYC Genoa-X'da 1 GB gacha 3D V-Cache). NVLink — GPU'lar orasida PCIe'dan bir necha marta tezroq havola (H100'da 900 GB/s). CXL (Compute Express Link) — CPU xotirasini kengaytirish va keshni izchil ulashish uchun yangi standart.</a:t>
            </a:r>
          </a:p>
          <a:p/>
          <a:p>
            <a:r>
              <a:t>Algoritm darajasida: tiling (bloklash) — katta matritsani keshga sig'adigan bloklarga bo'lib, har bir blok ustida maksimal ishni bajarish; bu GEMM kutubxonalarining (cuBLAS, oneDNN) asosiy tamoyili. Operator fusion — ketma-ket kelgan xotira bilan chegaralangan operatsiyalarni (masalan, matritsa ko'paytmasi + bias + GELU) bitta kernelga birlashtirish, shunda oraliq natija HBM'ga yozilmaydi va qayta o'qilmaydi; torch.compile va TensorRT aynan shu ishni avtomatlashtiradi. FlashAttention — attention mexanizmini N×N matritsani hech qachon HBM'ga yozmasdan, SRAM'da bloklab hisoblash; bu xotira trafigini kvadratikdan chiziqli darajaga tushiradi va uzun kontekstlarni amalda mumkin qiladi.</a:t>
            </a:r>
          </a:p>
          <a:p/>
          <a:p>
            <a:r>
              <a:t>Tizim darajasida: pinned (sahifalanmaydigan, page-locked) xotira — cudaHostAlloc yoki PyTorch'da pin_memory=True — CPU→GPU nusxalashni DMA orqali to'g'ridan-to'g'ri va asinxron bajarish imkonini beradi; dataloader'da num_workers va prefetch_factor orqali keyingi partiyani oldindan tayyorlash; GPUDirect Storage — NVMe'dan GPU xotirasiga CPU'ni chetlab o'tib o'qish; past aniqlikdagi formatlar (FP16, BF16, FP8, INT8) — bir xil o'tkazuvchanlikda ikki-to'rt barobar ko'p element uzatish (bu M8 mavzusida batafsil ko'riladi).</a:t>
            </a:r>
          </a:p>
          <a:p/>
          <a:p>
            <a:r>
              <a:t>Ushbu usullarning barchasini birlashtiruvchi tamoyil bitta: hisoblashni ma'lumot yoniga olib borish, ma'lumotni hisoblash yoniga emas.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4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6900000" y="14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900000" y="19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900000" y="195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900000" y="1950000"/>
            <a:ext cx="1633333"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6900000"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6900000"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900000"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900000"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900000" y="1466666"/>
            <a:ext cx="1633333"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6900000" y="2433333"/>
            <a:ext cx="1633333"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6900000" y="340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6900000" y="43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900000" y="48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533333" y="14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33333"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8533333" y="53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166666" y="14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166666" y="1466666"/>
            <a:ext cx="1633334"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166666" y="1466666"/>
            <a:ext cx="1633334"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66666" y="2433333"/>
            <a:ext cx="1633334"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166666" y="2433333"/>
            <a:ext cx="1633334"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166666" y="3400000"/>
            <a:ext cx="1633334"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166666" y="340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10166666" y="1950000"/>
            <a:ext cx="1633334"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0166666" y="3400000"/>
            <a:ext cx="1633334"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166666" y="43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10166666" y="3400000"/>
            <a:ext cx="1633334"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0166666" y="48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sp>
        <p:nvSpPr>
          <p:cNvPr id="45" name="Oval 44"/>
          <p:cNvSpPr/>
          <p:nvPr/>
        </p:nvSpPr>
        <p:spPr>
          <a:xfrm>
            <a:off x="68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68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8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8438333" y="13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8438333" y="23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8438333" y="3305000"/>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8438333" y="4271666"/>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8438333" y="5238333"/>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0071666" y="1371666"/>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0071666" y="2338333"/>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0071666" y="330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0071666" y="42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0071666" y="52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17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17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17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7700000" y="1350000"/>
            <a:ext cx="3600000" cy="3600000"/>
          </a:xfrm>
          <a:prstGeom prst="ellipse">
            <a:avLst/>
          </a:prstGeom>
          <a:noFill/>
          <a:ln w="381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7550000" y="1200000"/>
            <a:ext cx="3900000" cy="3900000"/>
          </a:xfrm>
          <a:prstGeom prst="ellipse">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3" name="Picture 62" descr="ccaeb3fe5fdc3fe1.jpg"/>
          <p:cNvPicPr>
            <a:picLocks noChangeAspect="1"/>
          </p:cNvPicPr>
          <p:nvPr/>
        </p:nvPicPr>
        <p:blipFill>
          <a:blip r:embed="rId2"/>
          <a:srcRect l="21758" r="21758"/>
          <a:stretch>
            <a:fillRect/>
          </a:stretch>
        </p:blipFill>
        <p:spPr>
          <a:xfrm>
            <a:off x="7850000" y="1500000"/>
            <a:ext cx="3300000" cy="3300000"/>
          </a:xfrm>
          <a:prstGeom prst="ellipse">
            <a:avLst/>
          </a:prstGeom>
          <a:ln w="19050">
            <a:solidFill>
              <a:srgbClr val="22D3EE"/>
            </a:solidFill>
          </a:ln>
        </p:spPr>
      </p:pic>
      <p:sp>
        <p:nvSpPr>
          <p:cNvPr id="64" name="TextBox 63"/>
          <p:cNvSpPr txBox="1"/>
          <p:nvPr/>
        </p:nvSpPr>
        <p:spPr>
          <a:xfrm>
            <a:off x="6900000" y="6350000"/>
            <a:ext cx="5000000" cy="260000"/>
          </a:xfrm>
          <a:prstGeom prst="rect">
            <a:avLst/>
          </a:prstGeom>
          <a:noFill/>
        </p:spPr>
        <p:txBody>
          <a:bodyPr wrap="square" anchor="t" lIns="50800" rIns="50800">
            <a:spAutoFit/>
          </a:bodyPr>
          <a:lstStyle/>
          <a:p>
            <a:pPr algn="r"/>
            <a:r>
              <a:rPr sz="800" b="0">
                <a:solidFill>
                  <a:srgbClr val="707EAA"/>
                </a:solidFill>
                <a:latin typeface="Segoe UI"/>
              </a:rPr>
              <a:t>Rasm: Matt Kieffer · Wikimedia Commons · CC BY-SA 2.0</a:t>
            </a:r>
          </a:p>
        </p:txBody>
      </p:sp>
      <p:sp>
        <p:nvSpPr>
          <p:cNvPr id="65" name="Rounded Rectangle 64"/>
          <p:cNvSpPr/>
          <p:nvPr/>
        </p:nvSpPr>
        <p:spPr>
          <a:xfrm>
            <a:off x="700000" y="1250000"/>
            <a:ext cx="3400000" cy="400000"/>
          </a:xfrm>
          <a:prstGeom prst="roundRect">
            <a:avLst/>
          </a:prstGeom>
          <a:noFill/>
          <a:ln w="15875">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2D3EE"/>
                </a:solidFill>
                <a:latin typeface="Segoe UI"/>
              </a:rPr>
              <a:t>MA'RUZA · M5 · 2 soat</a:t>
            </a:r>
          </a:p>
        </p:txBody>
      </p:sp>
      <p:sp>
        <p:nvSpPr>
          <p:cNvPr id="66" name="TextBox 65"/>
          <p:cNvSpPr txBox="1"/>
          <p:nvPr/>
        </p:nvSpPr>
        <p:spPr>
          <a:xfrm>
            <a:off x="700000" y="650000"/>
            <a:ext cx="6400000" cy="500000"/>
          </a:xfrm>
          <a:prstGeom prst="rect">
            <a:avLst/>
          </a:prstGeom>
          <a:noFill/>
        </p:spPr>
        <p:txBody>
          <a:bodyPr wrap="square" anchor="t" lIns="50800" rIns="50800">
            <a:spAutoFit/>
          </a:bodyPr>
          <a:lstStyle/>
          <a:p>
            <a:pPr algn="l"/>
            <a:r>
              <a:rPr sz="1400" b="0">
                <a:solidFill>
                  <a:srgbClr val="AEBBD9"/>
                </a:solidFill>
                <a:latin typeface="Segoe UI"/>
              </a:rPr>
              <a:t>Sun'iy intellektga asoslangan kompyuter tizimlari muhandisligi</a:t>
            </a:r>
          </a:p>
        </p:txBody>
      </p:sp>
      <p:sp>
        <p:nvSpPr>
          <p:cNvPr id="67" name="TextBox 66"/>
          <p:cNvSpPr txBox="1"/>
          <p:nvPr/>
        </p:nvSpPr>
        <p:spPr>
          <a:xfrm>
            <a:off x="700000" y="1850000"/>
            <a:ext cx="6400000" cy="2700000"/>
          </a:xfrm>
          <a:prstGeom prst="rect">
            <a:avLst/>
          </a:prstGeom>
          <a:noFill/>
        </p:spPr>
        <p:txBody>
          <a:bodyPr wrap="square" anchor="t" lIns="50800" rIns="50800">
            <a:spAutoFit/>
          </a:bodyPr>
          <a:lstStyle/>
          <a:p>
            <a:pPr algn="l"/>
            <a:r>
              <a:rPr sz="3600" b="1">
                <a:solidFill>
                  <a:srgbClr val="E8EEFA"/>
                </a:solidFill>
                <a:latin typeface="Segoe UI"/>
              </a:rPr>
              <a:t>Arxitektura va dizayn tamoyillari</a:t>
            </a:r>
          </a:p>
        </p:txBody>
      </p:sp>
      <p:sp>
        <p:nvSpPr>
          <p:cNvPr id="68" name="Rectangle 67"/>
          <p:cNvSpPr/>
          <p:nvPr/>
        </p:nvSpPr>
        <p:spPr>
          <a:xfrm>
            <a:off x="760000" y="4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00000" y="4850000"/>
            <a:ext cx="6400000" cy="1200000"/>
          </a:xfrm>
          <a:prstGeom prst="rect">
            <a:avLst/>
          </a:prstGeom>
          <a:noFill/>
        </p:spPr>
        <p:txBody>
          <a:bodyPr wrap="square" anchor="t" lIns="50800" rIns="50800">
            <a:spAutoFit/>
          </a:bodyPr>
          <a:lstStyle/>
          <a:p>
            <a:pPr algn="l"/>
            <a:r>
              <a:rPr sz="1400" b="0">
                <a:solidFill>
                  <a:srgbClr val="AEBBD9"/>
                </a:solidFill>
                <a:latin typeface="Segoe UI"/>
              </a:rPr>
              <a:t>O‘qituvchi: S.Iskandarova, t.f.f.d. (PhD), dotsent</a:t>
            </a:r>
          </a:p>
          <a:p>
            <a:pPr algn="l"/>
            <a:r>
              <a:rPr sz="1400" b="0">
                <a:solidFill>
                  <a:srgbClr val="AEBBD9"/>
                </a:solidFill>
                <a:latin typeface="Segoe UI"/>
              </a:rPr>
              <a:t>2026-2027 o‘quv yili</a:t>
            </a:r>
          </a:p>
          <a:p>
            <a:pPr algn="l"/>
            <a:r>
              <a:rPr sz="1400" b="0">
                <a:solidFill>
                  <a:srgbClr val="AEBBD9"/>
                </a:solidFill>
                <a:latin typeface="Segoe U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8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200"/>
                            </p:stCondLst>
                            <p:childTnLst>
                              <p:par>
                                <p:cTn id="236" presetID="53" presetClass="entr" presetSubtype="16" fill="hold" grpId="0" nodeType="afterEffect">
                                  <p:stCondLst>
                                    <p:cond delay="0"/>
                                  </p:stCondLst>
                                  <p:childTnLst>
                                    <p:set>
                                      <p:cBhvr>
                                        <p:cTn id="237" dur="1" fill="hold">
                                          <p:stCondLst>
                                            <p:cond delay="0"/>
                                          </p:stCondLst>
                                        </p:cTn>
                                        <p:tgtEl>
                                          <p:spTgt spid="62"/>
                                        </p:tgtEl>
                                        <p:attrNameLst>
                                          <p:attrName>style.visibility</p:attrName>
                                        </p:attrNameLst>
                                      </p:cBhvr>
                                      <p:to>
                                        <p:strVal val="visible"/>
                                      </p:to>
                                    </p:set>
                                    <p:animEffect transition="in" filter="fade">
                                      <p:cBhvr>
                                        <p:cTn id="238" dur="550"/>
                                        <p:tgtEl>
                                          <p:spTgt spid="62"/>
                                        </p:tgtEl>
                                      </p:cBhvr>
                                    </p:animEffect>
                                    <p:anim calcmode="lin" valueType="num">
                                      <p:cBhvr additive="base">
                                        <p:cTn id="239" dur="550" fill="hold"/>
                                        <p:tgtEl>
                                          <p:spTgt spid="62"/>
                                        </p:tgtEl>
                                        <p:attrNameLst>
                                          <p:attrName>ppt_w</p:attrName>
                                        </p:attrNameLst>
                                      </p:cBhvr>
                                      <p:tavLst>
                                        <p:tav tm="0">
                                          <p:val>
                                            <p:strVal val="0"/>
                                          </p:val>
                                        </p:tav>
                                        <p:tav tm="100000">
                                          <p:val>
                                            <p:strVal val="#ppt_w"/>
                                          </p:val>
                                        </p:tav>
                                      </p:tavLst>
                                    </p:anim>
                                    <p:anim calcmode="lin" valueType="num">
                                      <p:cBhvr additive="base">
                                        <p:cTn id="240" dur="550" fill="hold"/>
                                        <p:tgtEl>
                                          <p:spTgt spid="62"/>
                                        </p:tgtEl>
                                        <p:attrNameLst>
                                          <p:attrName>ppt_h</p:attrName>
                                        </p:attrNameLst>
                                      </p:cBhvr>
                                      <p:tavLst>
                                        <p:tav tm="0">
                                          <p:val>
                                            <p:strVal val="0"/>
                                          </p:val>
                                        </p:tav>
                                        <p:tav tm="100000">
                                          <p:val>
                                            <p:strVal val="#ppt_h"/>
                                          </p:val>
                                        </p:tav>
                                      </p:tavLst>
                                    </p:anim>
                                  </p:childTnLst>
                                </p:cTn>
                              </p:par>
                            </p:childTnLst>
                          </p:cTn>
                        </p:par>
                        <p:par>
                          <p:cTn id="241" fill="hold">
                            <p:stCondLst>
                              <p:cond delay="200"/>
                            </p:stCondLst>
                            <p:childTnLst>
                              <p:par>
                                <p:cTn id="242" presetID="53" presetClass="entr" presetSubtype="16" fill="hold" grpId="0" nodeType="afterEffect">
                                  <p:stCondLst>
                                    <p:cond delay="0"/>
                                  </p:stCondLst>
                                  <p:childTnLst>
                                    <p:set>
                                      <p:cBhvr>
                                        <p:cTn id="243" dur="1" fill="hold">
                                          <p:stCondLst>
                                            <p:cond delay="0"/>
                                          </p:stCondLst>
                                        </p:cTn>
                                        <p:tgtEl>
                                          <p:spTgt spid="61"/>
                                        </p:tgtEl>
                                        <p:attrNameLst>
                                          <p:attrName>style.visibility</p:attrName>
                                        </p:attrNameLst>
                                      </p:cBhvr>
                                      <p:to>
                                        <p:strVal val="visible"/>
                                      </p:to>
                                    </p:set>
                                    <p:animEffect transition="in" filter="fade">
                                      <p:cBhvr>
                                        <p:cTn id="244" dur="550"/>
                                        <p:tgtEl>
                                          <p:spTgt spid="61"/>
                                        </p:tgtEl>
                                      </p:cBhvr>
                                    </p:animEffect>
                                    <p:anim calcmode="lin" valueType="num">
                                      <p:cBhvr additive="base">
                                        <p:cTn id="245" dur="550" fill="hold"/>
                                        <p:tgtEl>
                                          <p:spTgt spid="61"/>
                                        </p:tgtEl>
                                        <p:attrNameLst>
                                          <p:attrName>ppt_w</p:attrName>
                                        </p:attrNameLst>
                                      </p:cBhvr>
                                      <p:tavLst>
                                        <p:tav tm="0">
                                          <p:val>
                                            <p:strVal val="0"/>
                                          </p:val>
                                        </p:tav>
                                        <p:tav tm="100000">
                                          <p:val>
                                            <p:strVal val="#ppt_w"/>
                                          </p:val>
                                        </p:tav>
                                      </p:tavLst>
                                    </p:anim>
                                    <p:anim calcmode="lin" valueType="num">
                                      <p:cBhvr additive="base">
                                        <p:cTn id="246" dur="550" fill="hold"/>
                                        <p:tgtEl>
                                          <p:spTgt spid="61"/>
                                        </p:tgtEl>
                                        <p:attrNameLst>
                                          <p:attrName>ppt_h</p:attrName>
                                        </p:attrNameLst>
                                      </p:cBhvr>
                                      <p:tavLst>
                                        <p:tav tm="0">
                                          <p:val>
                                            <p:strVal val="0"/>
                                          </p:val>
                                        </p:tav>
                                        <p:tav tm="100000">
                                          <p:val>
                                            <p:strVal val="#ppt_h"/>
                                          </p:val>
                                        </p:tav>
                                      </p:tavLst>
                                    </p:anim>
                                  </p:childTnLst>
                                </p:cTn>
                              </p:par>
                            </p:childTnLst>
                          </p:cTn>
                        </p:par>
                        <p:par>
                          <p:cTn id="247" fill="hold">
                            <p:stCondLst>
                              <p:cond delay="200"/>
                            </p:stCondLst>
                            <p:childTnLst>
                              <p:par>
                                <p:cTn id="248" presetID="53" presetClass="entr" presetSubtype="16" fill="hold" grpId="0" nodeType="afterEffect">
                                  <p:stCondLst>
                                    <p:cond delay="0"/>
                                  </p:stCondLst>
                                  <p:childTnLst>
                                    <p:set>
                                      <p:cBhvr>
                                        <p:cTn id="249" dur="1" fill="hold">
                                          <p:stCondLst>
                                            <p:cond delay="0"/>
                                          </p:stCondLst>
                                        </p:cTn>
                                        <p:tgtEl>
                                          <p:spTgt spid="63"/>
                                        </p:tgtEl>
                                        <p:attrNameLst>
                                          <p:attrName>style.visibility</p:attrName>
                                        </p:attrNameLst>
                                      </p:cBhvr>
                                      <p:to>
                                        <p:strVal val="visible"/>
                                      </p:to>
                                    </p:set>
                                    <p:animEffect transition="in" filter="fade">
                                      <p:cBhvr>
                                        <p:cTn id="250" dur="550"/>
                                        <p:tgtEl>
                                          <p:spTgt spid="63"/>
                                        </p:tgtEl>
                                      </p:cBhvr>
                                    </p:animEffect>
                                    <p:anim calcmode="lin" valueType="num">
                                      <p:cBhvr additive="base">
                                        <p:cTn id="251" dur="550" fill="hold"/>
                                        <p:tgtEl>
                                          <p:spTgt spid="63"/>
                                        </p:tgtEl>
                                        <p:attrNameLst>
                                          <p:attrName>ppt_w</p:attrName>
                                        </p:attrNameLst>
                                      </p:cBhvr>
                                      <p:tavLst>
                                        <p:tav tm="0">
                                          <p:val>
                                            <p:strVal val="0"/>
                                          </p:val>
                                        </p:tav>
                                        <p:tav tm="100000">
                                          <p:val>
                                            <p:strVal val="#ppt_w"/>
                                          </p:val>
                                        </p:tav>
                                      </p:tavLst>
                                    </p:anim>
                                    <p:anim calcmode="lin" valueType="num">
                                      <p:cBhvr additive="base">
                                        <p:cTn id="252" dur="550" fill="hold"/>
                                        <p:tgtEl>
                                          <p:spTgt spid="63"/>
                                        </p:tgtEl>
                                        <p:attrNameLst>
                                          <p:attrName>ppt_h</p:attrName>
                                        </p:attrNameLst>
                                      </p:cBhvr>
                                      <p:tavLst>
                                        <p:tav tm="0">
                                          <p:val>
                                            <p:strVal val="0"/>
                                          </p:val>
                                        </p:tav>
                                        <p:tav tm="100000">
                                          <p:val>
                                            <p:strVal val="#ppt_h"/>
                                          </p:val>
                                        </p:tav>
                                      </p:tavLst>
                                    </p:anim>
                                  </p:childTnLst>
                                </p:cTn>
                              </p:par>
                            </p:childTnLst>
                          </p:cTn>
                        </p:par>
                        <p:par>
                          <p:cTn id="253" fill="hold">
                            <p:stCondLst>
                              <p:cond delay="200"/>
                            </p:stCondLst>
                            <p:childTnLst>
                              <p:par>
                                <p:cTn id="254" presetID="10" presetClass="entr" presetSubtype="0" fill="hold" grpId="0" nodeType="afterEffect">
                                  <p:stCondLst>
                                    <p:cond delay="0"/>
                                  </p:stCondLst>
                                  <p:childTnLst>
                                    <p:set>
                                      <p:cBhvr>
                                        <p:cTn id="255" dur="1" fill="hold">
                                          <p:stCondLst>
                                            <p:cond delay="0"/>
                                          </p:stCondLst>
                                        </p:cTn>
                                        <p:tgtEl>
                                          <p:spTgt spid="64"/>
                                        </p:tgtEl>
                                        <p:attrNameLst>
                                          <p:attrName>style.visibility</p:attrName>
                                        </p:attrNameLst>
                                      </p:cBhvr>
                                      <p:to>
                                        <p:strVal val="visible"/>
                                      </p:to>
                                    </p:set>
                                    <p:animEffect transition="in" filter="fade">
                                      <p:cBhvr>
                                        <p:cTn id="256" dur="550"/>
                                        <p:tgtEl>
                                          <p:spTgt spid="64"/>
                                        </p:tgtEl>
                                      </p:cBhvr>
                                    </p:animEffect>
                                  </p:childTnLst>
                                </p:cTn>
                              </p:par>
                            </p:childTnLst>
                          </p:cTn>
                        </p:par>
                        <p:par>
                          <p:cTn id="257" fill="hold">
                            <p:stCondLst>
                              <p:cond delay="350"/>
                            </p:stCondLst>
                            <p:childTnLst>
                              <p:par>
                                <p:cTn id="258" presetID="10" presetClass="entr" presetSubtype="0" fill="hold" grpId="0" nodeType="afterEffect">
                                  <p:stCondLst>
                                    <p:cond delay="0"/>
                                  </p:stCondLst>
                                  <p:childTnLst>
                                    <p:set>
                                      <p:cBhvr>
                                        <p:cTn id="259" dur="1" fill="hold">
                                          <p:stCondLst>
                                            <p:cond delay="0"/>
                                          </p:stCondLst>
                                        </p:cTn>
                                        <p:tgtEl>
                                          <p:spTgt spid="66"/>
                                        </p:tgtEl>
                                        <p:attrNameLst>
                                          <p:attrName>style.visibility</p:attrName>
                                        </p:attrNameLst>
                                      </p:cBhvr>
                                      <p:to>
                                        <p:strVal val="visible"/>
                                      </p:to>
                                    </p:set>
                                    <p:animEffect transition="in" filter="fade">
                                      <p:cBhvr>
                                        <p:cTn id="260" dur="550"/>
                                        <p:tgtEl>
                                          <p:spTgt spid="66"/>
                                        </p:tgtEl>
                                      </p:cBhvr>
                                    </p:animEffect>
                                  </p:childTnLst>
                                </p:cTn>
                              </p:par>
                            </p:childTnLst>
                          </p:cTn>
                        </p:par>
                        <p:par>
                          <p:cTn id="261" fill="hold">
                            <p:stCondLst>
                              <p:cond delay="500"/>
                            </p:stCondLst>
                            <p:childTnLst>
                              <p:par>
                                <p:cTn id="262" presetID="2" presetClass="entr" presetSubtype="8" fill="hold" grpId="0" nodeType="afterEffect">
                                  <p:stCondLst>
                                    <p:cond delay="0"/>
                                  </p:stCondLst>
                                  <p:childTnLst>
                                    <p:set>
                                      <p:cBhvr>
                                        <p:cTn id="263" dur="1" fill="hold">
                                          <p:stCondLst>
                                            <p:cond delay="0"/>
                                          </p:stCondLst>
                                        </p:cTn>
                                        <p:tgtEl>
                                          <p:spTgt spid="65"/>
                                        </p:tgtEl>
                                        <p:attrNameLst>
                                          <p:attrName>style.visibility</p:attrName>
                                        </p:attrNameLst>
                                      </p:cBhvr>
                                      <p:to>
                                        <p:strVal val="visible"/>
                                      </p:to>
                                    </p:set>
                                    <p:anim calcmode="lin" valueType="num">
                                      <p:cBhvr additive="base">
                                        <p:cTn id="265" dur="550" fill="hold"/>
                                        <p:tgtEl>
                                          <p:spTgt spid="65"/>
                                        </p:tgtEl>
                                        <p:attrNameLst>
                                          <p:attrName>ppt_x</p:attrName>
                                        </p:attrNameLst>
                                      </p:cBhvr>
                                      <p:tavLst>
                                        <p:tav tm="0">
                                          <p:val>
                                            <p:strVal val="0-#ppt_w/2"/>
                                          </p:val>
                                        </p:tav>
                                        <p:tav tm="100000">
                                          <p:val>
                                            <p:strVal val="#ppt_x"/>
                                          </p:val>
                                        </p:tav>
                                      </p:tavLst>
                                    </p:anim>
                                    <p:anim calcmode="lin" valueType="num">
                                      <p:cBhvr additive="base">
                                        <p:cTn id="266" dur="550" fill="hold"/>
                                        <p:tgtEl>
                                          <p:spTgt spid="65"/>
                                        </p:tgtEl>
                                        <p:attrNameLst>
                                          <p:attrName>ppt_y</p:attrName>
                                        </p:attrNameLst>
                                      </p:cBhvr>
                                      <p:tavLst>
                                        <p:tav tm="0">
                                          <p:val>
                                            <p:strVal val="#ppt_y"/>
                                          </p:val>
                                        </p:tav>
                                        <p:tav tm="100000">
                                          <p:val>
                                            <p:strVal val="#ppt_y"/>
                                          </p:val>
                                        </p:tav>
                                      </p:tavLst>
                                    </p:anim>
                                  </p:childTnLst>
                                </p:cTn>
                              </p:par>
                            </p:childTnLst>
                          </p:cTn>
                        </p:par>
                        <p:par>
                          <p:cTn id="267" fill="hold">
                            <p:stCondLst>
                              <p:cond delay="650"/>
                            </p:stCondLst>
                            <p:childTnLst>
                              <p:par>
                                <p:cTn id="268" presetID="42" presetClass="entr" presetSubtype="0" fill="hold" grpId="0" nodeType="afterEffect">
                                  <p:stCondLst>
                                    <p:cond delay="0"/>
                                  </p:stCondLst>
                                  <p:childTnLst>
                                    <p:set>
                                      <p:cBhvr>
                                        <p:cTn id="269" dur="1" fill="hold">
                                          <p:stCondLst>
                                            <p:cond delay="0"/>
                                          </p:stCondLst>
                                        </p:cTn>
                                        <p:tgtEl>
                                          <p:spTgt spid="67"/>
                                        </p:tgtEl>
                                        <p:attrNameLst>
                                          <p:attrName>style.visibility</p:attrName>
                                        </p:attrNameLst>
                                      </p:cBhvr>
                                      <p:to>
                                        <p:strVal val="visible"/>
                                      </p:to>
                                    </p:set>
                                    <p:animEffect transition="in" filter="fade">
                                      <p:cBhvr>
                                        <p:cTn id="270" dur="550"/>
                                        <p:tgtEl>
                                          <p:spTgt spid="67"/>
                                        </p:tgtEl>
                                      </p:cBhvr>
                                    </p:animEffect>
                                    <p:anim calcmode="lin" valueType="num">
                                      <p:cBhvr additive="base">
                                        <p:cTn id="271" dur="550" fill="hold"/>
                                        <p:tgtEl>
                                          <p:spTgt spid="67"/>
                                        </p:tgtEl>
                                        <p:attrNameLst>
                                          <p:attrName>ppt_x</p:attrName>
                                        </p:attrNameLst>
                                      </p:cBhvr>
                                      <p:tavLst>
                                        <p:tav tm="0">
                                          <p:val>
                                            <p:strVal val="#ppt_x"/>
                                          </p:val>
                                        </p:tav>
                                        <p:tav tm="100000">
                                          <p:val>
                                            <p:strVal val="#ppt_x"/>
                                          </p:val>
                                        </p:tav>
                                      </p:tavLst>
                                    </p:anim>
                                    <p:anim calcmode="lin" valueType="num">
                                      <p:cBhvr additive="base">
                                        <p:cTn id="272" dur="550" fill="hold"/>
                                        <p:tgtEl>
                                          <p:spTgt spid="67"/>
                                        </p:tgtEl>
                                        <p:attrNameLst>
                                          <p:attrName>ppt_y</p:attrName>
                                        </p:attrNameLst>
                                      </p:cBhvr>
                                      <p:tavLst>
                                        <p:tav tm="0">
                                          <p:val>
                                            <p:strVal val="#ppt_y+.08"/>
                                          </p:val>
                                        </p:tav>
                                        <p:tav tm="100000">
                                          <p:val>
                                            <p:strVal val="#ppt_y"/>
                                          </p:val>
                                        </p:tav>
                                      </p:tavLst>
                                    </p:anim>
                                  </p:childTnLst>
                                </p:cTn>
                              </p:par>
                            </p:childTnLst>
                          </p:cTn>
                        </p:par>
                        <p:par>
                          <p:cTn id="273" fill="hold">
                            <p:stCondLst>
                              <p:cond delay="800"/>
                            </p:stCondLst>
                            <p:childTnLst>
                              <p:par>
                                <p:cTn id="274" presetID="22" presetClass="entr" presetSubtype="8" fill="hold" grpId="0" nodeType="afterEffect">
                                  <p:stCondLst>
                                    <p:cond delay="0"/>
                                  </p:stCondLst>
                                  <p:childTnLst>
                                    <p:set>
                                      <p:cBhvr>
                                        <p:cTn id="275" dur="1" fill="hold">
                                          <p:stCondLst>
                                            <p:cond delay="0"/>
                                          </p:stCondLst>
                                        </p:cTn>
                                        <p:tgtEl>
                                          <p:spTgt spid="68"/>
                                        </p:tgtEl>
                                        <p:attrNameLst>
                                          <p:attrName>style.visibility</p:attrName>
                                        </p:attrNameLst>
                                      </p:cBhvr>
                                      <p:to>
                                        <p:strVal val="visible"/>
                                      </p:to>
                                    </p:set>
                                    <p:animEffect transition="in" filter="wipe(left)">
                                      <p:cBhvr>
                                        <p:cTn id="277" dur="800"/>
                                        <p:tgtEl>
                                          <p:spTgt spid="68"/>
                                        </p:tgtEl>
                                      </p:cBhvr>
                                    </p:animEffect>
                                  </p:childTnLst>
                                </p:cTn>
                              </p:par>
                            </p:childTnLst>
                          </p:cTn>
                        </p:par>
                        <p:par>
                          <p:cTn id="278" fill="hold">
                            <p:stCondLst>
                              <p:cond delay="950"/>
                            </p:stCondLst>
                            <p:childTnLst>
                              <p:par>
                                <p:cTn id="279" presetID="10" presetClass="entr" presetSubtype="0" fill="hold" grpId="0" nodeType="afterEffect">
                                  <p:stCondLst>
                                    <p:cond delay="0"/>
                                  </p:stCondLst>
                                  <p:childTnLst>
                                    <p:set>
                                      <p:cBhvr>
                                        <p:cTn id="280" dur="1" fill="hold">
                                          <p:stCondLst>
                                            <p:cond delay="0"/>
                                          </p:stCondLst>
                                        </p:cTn>
                                        <p:tgtEl>
                                          <p:spTgt spid="69"/>
                                        </p:tgtEl>
                                        <p:attrNameLst>
                                          <p:attrName>style.visibility</p:attrName>
                                        </p:attrNameLst>
                                      </p:cBhvr>
                                      <p:to>
                                        <p:strVal val="visible"/>
                                      </p:to>
                                    </p:set>
                                    <p:animEffect transition="in" filter="fade">
                                      <p:cBhvr>
                                        <p:cTn id="281" dur="55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2" grpId="0" animBg="1"/>
      <p:bldP spid="61" grpId="0" animBg="1"/>
      <p:bldP spid="64" grpId="0" animBg="1"/>
      <p:bldP spid="66" grpId="0" animBg="1"/>
      <p:bldP spid="65" grpId="0" animBg="1"/>
      <p:bldP spid="67" grpId="0" animBg="1"/>
      <p:bldP spid="68" grpId="0" animBg="1"/>
      <p:bldP spid="69"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MA’RUZA REJASI</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Reja</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M5 · Arxitektura va dizayn tamoyillari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a:t>
            </a:r>
          </a:p>
        </p:txBody>
      </p:sp>
      <p:sp>
        <p:nvSpPr>
          <p:cNvPr id="26" name="Rounded Rectangle 25"/>
          <p:cNvSpPr/>
          <p:nvPr/>
        </p:nvSpPr>
        <p:spPr>
          <a:xfrm>
            <a:off x="550000" y="227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35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35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9" name="TextBox 28"/>
          <p:cNvSpPr txBox="1"/>
          <p:nvPr/>
        </p:nvSpPr>
        <p:spPr>
          <a:xfrm>
            <a:off x="1300000" y="2310000"/>
            <a:ext cx="10250000" cy="440000"/>
          </a:xfrm>
          <a:prstGeom prst="rect">
            <a:avLst/>
          </a:prstGeom>
          <a:noFill/>
        </p:spPr>
        <p:txBody>
          <a:bodyPr wrap="square" anchor="ctr">
            <a:spAutoFit/>
          </a:bodyPr>
          <a:lstStyle/>
          <a:p>
            <a:r>
              <a:rPr sz="1600" b="0">
                <a:solidFill>
                  <a:srgbClr val="E8EEFA"/>
                </a:solidFill>
                <a:latin typeface="Segoe UI"/>
              </a:rPr>
              <a:t>Xotira iyerarxiyasi va uning raqamlari</a:t>
            </a:r>
          </a:p>
        </p:txBody>
      </p:sp>
      <p:sp>
        <p:nvSpPr>
          <p:cNvPr id="30" name="Rounded Rectangle 29"/>
          <p:cNvSpPr/>
          <p:nvPr/>
        </p:nvSpPr>
        <p:spPr>
          <a:xfrm>
            <a:off x="550000" y="290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980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2980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3" name="TextBox 32"/>
          <p:cNvSpPr txBox="1"/>
          <p:nvPr/>
        </p:nvSpPr>
        <p:spPr>
          <a:xfrm>
            <a:off x="1300000" y="2940000"/>
            <a:ext cx="10250000" cy="440000"/>
          </a:xfrm>
          <a:prstGeom prst="rect">
            <a:avLst/>
          </a:prstGeom>
          <a:noFill/>
        </p:spPr>
        <p:txBody>
          <a:bodyPr wrap="square" anchor="ctr">
            <a:spAutoFit/>
          </a:bodyPr>
          <a:lstStyle/>
          <a:p>
            <a:r>
              <a:rPr sz="1600" b="0">
                <a:solidFill>
                  <a:srgbClr val="E8EEFA"/>
                </a:solidFill>
                <a:latin typeface="Segoe UI"/>
              </a:rPr>
              <a:t>Lokallik: vaqt va fazoviy</a:t>
            </a:r>
          </a:p>
        </p:txBody>
      </p:sp>
      <p:sp>
        <p:nvSpPr>
          <p:cNvPr id="34" name="Rounded Rectangle 33"/>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3610000"/>
            <a:ext cx="50000" cy="360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3610000"/>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7" name="TextBox 36"/>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NUMA arxitekturasi</a:t>
            </a:r>
          </a:p>
        </p:txBody>
      </p:sp>
      <p:sp>
        <p:nvSpPr>
          <p:cNvPr id="38" name="Rounded Rectangle 37"/>
          <p:cNvSpPr/>
          <p:nvPr/>
        </p:nvSpPr>
        <p:spPr>
          <a:xfrm>
            <a:off x="550000" y="416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0000" y="4240000"/>
            <a:ext cx="50000" cy="360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60000" y="4240000"/>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41" name="TextBox 40"/>
          <p:cNvSpPr txBox="1"/>
          <p:nvPr/>
        </p:nvSpPr>
        <p:spPr>
          <a:xfrm>
            <a:off x="1300000" y="4200000"/>
            <a:ext cx="10250000" cy="440000"/>
          </a:xfrm>
          <a:prstGeom prst="rect">
            <a:avLst/>
          </a:prstGeom>
          <a:noFill/>
        </p:spPr>
        <p:txBody>
          <a:bodyPr wrap="square" anchor="ctr">
            <a:spAutoFit/>
          </a:bodyPr>
          <a:lstStyle/>
          <a:p>
            <a:r>
              <a:rPr sz="1600" b="0">
                <a:solidFill>
                  <a:srgbClr val="E8EEFA"/>
                </a:solidFill>
                <a:latin typeface="Segoe UI"/>
              </a:rPr>
              <a:t>Arifmetik intensivlik va roofline modeli</a:t>
            </a:r>
          </a:p>
        </p:txBody>
      </p:sp>
      <p:sp>
        <p:nvSpPr>
          <p:cNvPr id="42" name="Rounded Rectangle 41"/>
          <p:cNvSpPr/>
          <p:nvPr/>
        </p:nvSpPr>
        <p:spPr>
          <a:xfrm>
            <a:off x="550000" y="479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50000" y="4870000"/>
            <a:ext cx="50000" cy="360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760000" y="4870000"/>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45" name="TextBox 44"/>
          <p:cNvSpPr txBox="1"/>
          <p:nvPr/>
        </p:nvSpPr>
        <p:spPr>
          <a:xfrm>
            <a:off x="1300000" y="4830000"/>
            <a:ext cx="10250000" cy="440000"/>
          </a:xfrm>
          <a:prstGeom prst="rect">
            <a:avLst/>
          </a:prstGeom>
          <a:noFill/>
        </p:spPr>
        <p:txBody>
          <a:bodyPr wrap="square" anchor="ctr">
            <a:spAutoFit/>
          </a:bodyPr>
          <a:lstStyle/>
          <a:p>
            <a:r>
              <a:rPr sz="1600" b="0">
                <a:solidFill>
                  <a:srgbClr val="E8EEFA"/>
                </a:solidFill>
                <a:latin typeface="Segoe UI"/>
              </a:rPr>
              <a:t>Xotira o'tkazuvchanligini oshirish va ma'lumot almashinuvini kamaytirish usullari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ppt_x</p:attrName>
                                        </p:attrNameLst>
                                      </p:cBhvr>
                                      <p:tavLst>
                                        <p:tav tm="0">
                                          <p:val>
                                            <p:strVal val="#ppt_x"/>
                                          </p:val>
                                        </p:tav>
                                        <p:tav tm="100000">
                                          <p:val>
                                            <p:strVal val="#ppt_x"/>
                                          </p:val>
                                        </p:tav>
                                      </p:tavLst>
                                    </p:anim>
                                    <p:anim calcmode="lin" valueType="num">
                                      <p:cBhvr additive="base">
                                        <p:cTn id="17" dur="550" fill="hold"/>
                                        <p:tgtEl>
                                          <p:spTgt spid="26"/>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ppt_x</p:attrName>
                                        </p:attrNameLst>
                                      </p:cBhvr>
                                      <p:tavLst>
                                        <p:tav tm="0">
                                          <p:val>
                                            <p:strVal val="#ppt_x"/>
                                          </p:val>
                                        </p:tav>
                                        <p:tav tm="100000">
                                          <p:val>
                                            <p:strVal val="#ppt_x"/>
                                          </p:val>
                                        </p:tav>
                                      </p:tavLst>
                                    </p:anim>
                                    <p:anim calcmode="lin" valueType="num">
                                      <p:cBhvr additive="base">
                                        <p:cTn id="23" dur="550" fill="hold"/>
                                        <p:tgtEl>
                                          <p:spTgt spid="27"/>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anim calcmode="lin" valueType="num">
                                      <p:cBhvr additive="base">
                                        <p:cTn id="28" dur="550" fill="hold"/>
                                        <p:tgtEl>
                                          <p:spTgt spid="28"/>
                                        </p:tgtEl>
                                        <p:attrNameLst>
                                          <p:attrName>ppt_w</p:attrName>
                                        </p:attrNameLst>
                                      </p:cBhvr>
                                      <p:tavLst>
                                        <p:tav tm="0">
                                          <p:val>
                                            <p:strVal val="0"/>
                                          </p:val>
                                        </p:tav>
                                        <p:tav tm="100000">
                                          <p:val>
                                            <p:strVal val="#ppt_w"/>
                                          </p:val>
                                        </p:tav>
                                      </p:tavLst>
                                    </p:anim>
                                    <p:anim calcmode="lin" valueType="num">
                                      <p:cBhvr additive="base">
                                        <p:cTn id="29" dur="550" fill="hold"/>
                                        <p:tgtEl>
                                          <p:spTgt spid="28"/>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fade">
                                      <p:cBhvr>
                                        <p:cTn id="33" dur="550"/>
                                        <p:tgtEl>
                                          <p:spTgt spid="29"/>
                                        </p:tgtEl>
                                      </p:cBhvr>
                                    </p:animEffect>
                                    <p:anim calcmode="lin" valueType="num">
                                      <p:cBhvr additive="base">
                                        <p:cTn id="34" dur="550" fill="hold"/>
                                        <p:tgtEl>
                                          <p:spTgt spid="29"/>
                                        </p:tgtEl>
                                        <p:attrNameLst>
                                          <p:attrName>ppt_x</p:attrName>
                                        </p:attrNameLst>
                                      </p:cBhvr>
                                      <p:tavLst>
                                        <p:tav tm="0">
                                          <p:val>
                                            <p:strVal val="#ppt_x"/>
                                          </p:val>
                                        </p:tav>
                                        <p:tav tm="100000">
                                          <p:val>
                                            <p:strVal val="#ppt_x"/>
                                          </p:val>
                                        </p:tav>
                                      </p:tavLst>
                                    </p:anim>
                                    <p:anim calcmode="lin" valueType="num">
                                      <p:cBhvr additive="base">
                                        <p:cTn id="35" dur="550" fill="hold"/>
                                        <p:tgtEl>
                                          <p:spTgt spid="29"/>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30"/>
                                        </p:tgtEl>
                                        <p:attrNameLst>
                                          <p:attrName>style.visibility</p:attrName>
                                        </p:attrNameLst>
                                      </p:cBhvr>
                                      <p:to>
                                        <p:strVal val="visible"/>
                                      </p:to>
                                    </p:set>
                                    <p:animEffect transition="in" filter="fade">
                                      <p:cBhvr>
                                        <p:cTn id="39" dur="550"/>
                                        <p:tgtEl>
                                          <p:spTgt spid="30"/>
                                        </p:tgtEl>
                                      </p:cBhvr>
                                    </p:animEffect>
                                    <p:anim calcmode="lin" valueType="num">
                                      <p:cBhvr additive="base">
                                        <p:cTn id="40" dur="550" fill="hold"/>
                                        <p:tgtEl>
                                          <p:spTgt spid="30"/>
                                        </p:tgtEl>
                                        <p:attrNameLst>
                                          <p:attrName>ppt_x</p:attrName>
                                        </p:attrNameLst>
                                      </p:cBhvr>
                                      <p:tavLst>
                                        <p:tav tm="0">
                                          <p:val>
                                            <p:strVal val="#ppt_x"/>
                                          </p:val>
                                        </p:tav>
                                        <p:tav tm="100000">
                                          <p:val>
                                            <p:strVal val="#ppt_x"/>
                                          </p:val>
                                        </p:tav>
                                      </p:tavLst>
                                    </p:anim>
                                    <p:anim calcmode="lin" valueType="num">
                                      <p:cBhvr additive="base">
                                        <p:cTn id="41" dur="550" fill="hold"/>
                                        <p:tgtEl>
                                          <p:spTgt spid="30"/>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550"/>
                                        <p:tgtEl>
                                          <p:spTgt spid="31"/>
                                        </p:tgtEl>
                                      </p:cBhvr>
                                    </p:animEffect>
                                    <p:anim calcmode="lin" valueType="num">
                                      <p:cBhvr additive="base">
                                        <p:cTn id="46" dur="550" fill="hold"/>
                                        <p:tgtEl>
                                          <p:spTgt spid="31"/>
                                        </p:tgtEl>
                                        <p:attrNameLst>
                                          <p:attrName>ppt_x</p:attrName>
                                        </p:attrNameLst>
                                      </p:cBhvr>
                                      <p:tavLst>
                                        <p:tav tm="0">
                                          <p:val>
                                            <p:strVal val="#ppt_x"/>
                                          </p:val>
                                        </p:tav>
                                        <p:tav tm="100000">
                                          <p:val>
                                            <p:strVal val="#ppt_x"/>
                                          </p:val>
                                        </p:tav>
                                      </p:tavLst>
                                    </p:anim>
                                    <p:anim calcmode="lin" valueType="num">
                                      <p:cBhvr additive="base">
                                        <p:cTn id="47" dur="550" fill="hold"/>
                                        <p:tgtEl>
                                          <p:spTgt spid="31"/>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550"/>
                                        <p:tgtEl>
                                          <p:spTgt spid="32"/>
                                        </p:tgtEl>
                                      </p:cBhvr>
                                    </p:animEffect>
                                    <p:anim calcmode="lin" valueType="num">
                                      <p:cBhvr additive="base">
                                        <p:cTn id="52" dur="550" fill="hold"/>
                                        <p:tgtEl>
                                          <p:spTgt spid="32"/>
                                        </p:tgtEl>
                                        <p:attrNameLst>
                                          <p:attrName>ppt_w</p:attrName>
                                        </p:attrNameLst>
                                      </p:cBhvr>
                                      <p:tavLst>
                                        <p:tav tm="0">
                                          <p:val>
                                            <p:strVal val="0"/>
                                          </p:val>
                                        </p:tav>
                                        <p:tav tm="100000">
                                          <p:val>
                                            <p:strVal val="#ppt_w"/>
                                          </p:val>
                                        </p:tav>
                                      </p:tavLst>
                                    </p:anim>
                                    <p:anim calcmode="lin" valueType="num">
                                      <p:cBhvr additive="base">
                                        <p:cTn id="53" dur="550" fill="hold"/>
                                        <p:tgtEl>
                                          <p:spTgt spid="32"/>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3"/>
                                        </p:tgtEl>
                                        <p:attrNameLst>
                                          <p:attrName>style.visibility</p:attrName>
                                        </p:attrNameLst>
                                      </p:cBhvr>
                                      <p:to>
                                        <p:strVal val="visible"/>
                                      </p:to>
                                    </p:set>
                                    <p:animEffect transition="in" filter="fade">
                                      <p:cBhvr>
                                        <p:cTn id="57" dur="550"/>
                                        <p:tgtEl>
                                          <p:spTgt spid="33"/>
                                        </p:tgtEl>
                                      </p:cBhvr>
                                    </p:animEffect>
                                    <p:anim calcmode="lin" valueType="num">
                                      <p:cBhvr additive="base">
                                        <p:cTn id="58" dur="550" fill="hold"/>
                                        <p:tgtEl>
                                          <p:spTgt spid="33"/>
                                        </p:tgtEl>
                                        <p:attrNameLst>
                                          <p:attrName>ppt_x</p:attrName>
                                        </p:attrNameLst>
                                      </p:cBhvr>
                                      <p:tavLst>
                                        <p:tav tm="0">
                                          <p:val>
                                            <p:strVal val="#ppt_x"/>
                                          </p:val>
                                        </p:tav>
                                        <p:tav tm="100000">
                                          <p:val>
                                            <p:strVal val="#ppt_x"/>
                                          </p:val>
                                        </p:tav>
                                      </p:tavLst>
                                    </p:anim>
                                    <p:anim calcmode="lin" valueType="num">
                                      <p:cBhvr additive="base">
                                        <p:cTn id="59" dur="550" fill="hold"/>
                                        <p:tgtEl>
                                          <p:spTgt spid="33"/>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4"/>
                                        </p:tgtEl>
                                        <p:attrNameLst>
                                          <p:attrName>style.visibility</p:attrName>
                                        </p:attrNameLst>
                                      </p:cBhvr>
                                      <p:to>
                                        <p:strVal val="visible"/>
                                      </p:to>
                                    </p:set>
                                    <p:animEffect transition="in" filter="fade">
                                      <p:cBhvr>
                                        <p:cTn id="63" dur="550"/>
                                        <p:tgtEl>
                                          <p:spTgt spid="34"/>
                                        </p:tgtEl>
                                      </p:cBhvr>
                                    </p:animEffect>
                                    <p:anim calcmode="lin" valueType="num">
                                      <p:cBhvr additive="base">
                                        <p:cTn id="64" dur="550" fill="hold"/>
                                        <p:tgtEl>
                                          <p:spTgt spid="34"/>
                                        </p:tgtEl>
                                        <p:attrNameLst>
                                          <p:attrName>ppt_x</p:attrName>
                                        </p:attrNameLst>
                                      </p:cBhvr>
                                      <p:tavLst>
                                        <p:tav tm="0">
                                          <p:val>
                                            <p:strVal val="#ppt_x"/>
                                          </p:val>
                                        </p:tav>
                                        <p:tav tm="100000">
                                          <p:val>
                                            <p:strVal val="#ppt_x"/>
                                          </p:val>
                                        </p:tav>
                                      </p:tavLst>
                                    </p:anim>
                                    <p:anim calcmode="lin" valueType="num">
                                      <p:cBhvr additive="base">
                                        <p:cTn id="65" dur="550" fill="hold"/>
                                        <p:tgtEl>
                                          <p:spTgt spid="34"/>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fade">
                                      <p:cBhvr>
                                        <p:cTn id="69" dur="550"/>
                                        <p:tgtEl>
                                          <p:spTgt spid="35"/>
                                        </p:tgtEl>
                                      </p:cBhvr>
                                    </p:animEffect>
                                    <p:anim calcmode="lin" valueType="num">
                                      <p:cBhvr additive="base">
                                        <p:cTn id="70" dur="550" fill="hold"/>
                                        <p:tgtEl>
                                          <p:spTgt spid="35"/>
                                        </p:tgtEl>
                                        <p:attrNameLst>
                                          <p:attrName>ppt_x</p:attrName>
                                        </p:attrNameLst>
                                      </p:cBhvr>
                                      <p:tavLst>
                                        <p:tav tm="0">
                                          <p:val>
                                            <p:strVal val="#ppt_x"/>
                                          </p:val>
                                        </p:tav>
                                        <p:tav tm="100000">
                                          <p:val>
                                            <p:strVal val="#ppt_x"/>
                                          </p:val>
                                        </p:tav>
                                      </p:tavLst>
                                    </p:anim>
                                    <p:anim calcmode="lin" valueType="num">
                                      <p:cBhvr additive="base">
                                        <p:cTn id="71" dur="550" fill="hold"/>
                                        <p:tgtEl>
                                          <p:spTgt spid="35"/>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6"/>
                                        </p:tgtEl>
                                        <p:attrNameLst>
                                          <p:attrName>style.visibility</p:attrName>
                                        </p:attrNameLst>
                                      </p:cBhvr>
                                      <p:to>
                                        <p:strVal val="visible"/>
                                      </p:to>
                                    </p:set>
                                    <p:animEffect transition="in" filter="fade">
                                      <p:cBhvr>
                                        <p:cTn id="75" dur="550"/>
                                        <p:tgtEl>
                                          <p:spTgt spid="36"/>
                                        </p:tgtEl>
                                      </p:cBhvr>
                                    </p:animEffect>
                                    <p:anim calcmode="lin" valueType="num">
                                      <p:cBhvr additive="base">
                                        <p:cTn id="76" dur="550" fill="hold"/>
                                        <p:tgtEl>
                                          <p:spTgt spid="36"/>
                                        </p:tgtEl>
                                        <p:attrNameLst>
                                          <p:attrName>ppt_w</p:attrName>
                                        </p:attrNameLst>
                                      </p:cBhvr>
                                      <p:tavLst>
                                        <p:tav tm="0">
                                          <p:val>
                                            <p:strVal val="0"/>
                                          </p:val>
                                        </p:tav>
                                        <p:tav tm="100000">
                                          <p:val>
                                            <p:strVal val="#ppt_w"/>
                                          </p:val>
                                        </p:tav>
                                      </p:tavLst>
                                    </p:anim>
                                    <p:anim calcmode="lin" valueType="num">
                                      <p:cBhvr additive="base">
                                        <p:cTn id="77" dur="550" fill="hold"/>
                                        <p:tgtEl>
                                          <p:spTgt spid="36"/>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7"/>
                                        </p:tgtEl>
                                        <p:attrNameLst>
                                          <p:attrName>style.visibility</p:attrName>
                                        </p:attrNameLst>
                                      </p:cBhvr>
                                      <p:to>
                                        <p:strVal val="visible"/>
                                      </p:to>
                                    </p:set>
                                    <p:animEffect transition="in" filter="fade">
                                      <p:cBhvr>
                                        <p:cTn id="81" dur="550"/>
                                        <p:tgtEl>
                                          <p:spTgt spid="37"/>
                                        </p:tgtEl>
                                      </p:cBhvr>
                                    </p:animEffect>
                                    <p:anim calcmode="lin" valueType="num">
                                      <p:cBhvr additive="base">
                                        <p:cTn id="82" dur="550" fill="hold"/>
                                        <p:tgtEl>
                                          <p:spTgt spid="37"/>
                                        </p:tgtEl>
                                        <p:attrNameLst>
                                          <p:attrName>ppt_x</p:attrName>
                                        </p:attrNameLst>
                                      </p:cBhvr>
                                      <p:tavLst>
                                        <p:tav tm="0">
                                          <p:val>
                                            <p:strVal val="#ppt_x"/>
                                          </p:val>
                                        </p:tav>
                                        <p:tav tm="100000">
                                          <p:val>
                                            <p:strVal val="#ppt_x"/>
                                          </p:val>
                                        </p:tav>
                                      </p:tavLst>
                                    </p:anim>
                                    <p:anim calcmode="lin" valueType="num">
                                      <p:cBhvr additive="base">
                                        <p:cTn id="83" dur="550" fill="hold"/>
                                        <p:tgtEl>
                                          <p:spTgt spid="37"/>
                                        </p:tgtEl>
                                        <p:attrNameLst>
                                          <p:attrName>ppt_y</p:attrName>
                                        </p:attrNameLst>
                                      </p:cBhvr>
                                      <p:tavLst>
                                        <p:tav tm="0">
                                          <p:val>
                                            <p:strVal val="#ppt_y+.08"/>
                                          </p:val>
                                        </p:tav>
                                        <p:tav tm="100000">
                                          <p:val>
                                            <p:strVal val="#ppt_y"/>
                                          </p:val>
                                        </p:tav>
                                      </p:tavLst>
                                    </p:anim>
                                  </p:childTnLst>
                                </p:cTn>
                              </p:par>
                            </p:childTnLst>
                          </p:cTn>
                        </p:par>
                        <p:par>
                          <p:cTn id="84" fill="hold">
                            <p:stCondLst>
                              <p:cond delay="800"/>
                            </p:stCondLst>
                            <p:childTnLst>
                              <p:par>
                                <p:cTn id="85" presetID="42" presetClass="entr" presetSubtype="0" fill="hold" grpId="0" nodeType="afterEffect">
                                  <p:stCondLst>
                                    <p:cond delay="0"/>
                                  </p:stCondLst>
                                  <p:childTnLst>
                                    <p:set>
                                      <p:cBhvr>
                                        <p:cTn id="86" dur="1" fill="hold">
                                          <p:stCondLst>
                                            <p:cond delay="0"/>
                                          </p:stCondLst>
                                        </p:cTn>
                                        <p:tgtEl>
                                          <p:spTgt spid="38"/>
                                        </p:tgtEl>
                                        <p:attrNameLst>
                                          <p:attrName>style.visibility</p:attrName>
                                        </p:attrNameLst>
                                      </p:cBhvr>
                                      <p:to>
                                        <p:strVal val="visible"/>
                                      </p:to>
                                    </p:set>
                                    <p:animEffect transition="in" filter="fade">
                                      <p:cBhvr>
                                        <p:cTn id="87" dur="550"/>
                                        <p:tgtEl>
                                          <p:spTgt spid="38"/>
                                        </p:tgtEl>
                                      </p:cBhvr>
                                    </p:animEffect>
                                    <p:anim calcmode="lin" valueType="num">
                                      <p:cBhvr additive="base">
                                        <p:cTn id="88" dur="550" fill="hold"/>
                                        <p:tgtEl>
                                          <p:spTgt spid="38"/>
                                        </p:tgtEl>
                                        <p:attrNameLst>
                                          <p:attrName>ppt_x</p:attrName>
                                        </p:attrNameLst>
                                      </p:cBhvr>
                                      <p:tavLst>
                                        <p:tav tm="0">
                                          <p:val>
                                            <p:strVal val="#ppt_x"/>
                                          </p:val>
                                        </p:tav>
                                        <p:tav tm="100000">
                                          <p:val>
                                            <p:strVal val="#ppt_x"/>
                                          </p:val>
                                        </p:tav>
                                      </p:tavLst>
                                    </p:anim>
                                    <p:anim calcmode="lin" valueType="num">
                                      <p:cBhvr additive="base">
                                        <p:cTn id="89" dur="550" fill="hold"/>
                                        <p:tgtEl>
                                          <p:spTgt spid="38"/>
                                        </p:tgtEl>
                                        <p:attrNameLst>
                                          <p:attrName>ppt_y</p:attrName>
                                        </p:attrNameLst>
                                      </p:cBhvr>
                                      <p:tavLst>
                                        <p:tav tm="0">
                                          <p:val>
                                            <p:strVal val="#ppt_y+.08"/>
                                          </p:val>
                                        </p:tav>
                                        <p:tav tm="100000">
                                          <p:val>
                                            <p:strVal val="#ppt_y"/>
                                          </p:val>
                                        </p:tav>
                                      </p:tavLst>
                                    </p:anim>
                                  </p:childTnLst>
                                </p:cTn>
                              </p:par>
                            </p:childTnLst>
                          </p:cTn>
                        </p:par>
                        <p:par>
                          <p:cTn id="90" fill="hold">
                            <p:stCondLst>
                              <p:cond delay="800"/>
                            </p:stCondLst>
                            <p:childTnLst>
                              <p:par>
                                <p:cTn id="91" presetID="42" presetClass="entr" presetSubtype="0" fill="hold" grpId="0" nodeType="afterEffect">
                                  <p:stCondLst>
                                    <p:cond delay="0"/>
                                  </p:stCondLst>
                                  <p:childTnLst>
                                    <p:set>
                                      <p:cBhvr>
                                        <p:cTn id="92" dur="1" fill="hold">
                                          <p:stCondLst>
                                            <p:cond delay="0"/>
                                          </p:stCondLst>
                                        </p:cTn>
                                        <p:tgtEl>
                                          <p:spTgt spid="39"/>
                                        </p:tgtEl>
                                        <p:attrNameLst>
                                          <p:attrName>style.visibility</p:attrName>
                                        </p:attrNameLst>
                                      </p:cBhvr>
                                      <p:to>
                                        <p:strVal val="visible"/>
                                      </p:to>
                                    </p:set>
                                    <p:animEffect transition="in" filter="fade">
                                      <p:cBhvr>
                                        <p:cTn id="93" dur="550"/>
                                        <p:tgtEl>
                                          <p:spTgt spid="39"/>
                                        </p:tgtEl>
                                      </p:cBhvr>
                                    </p:animEffect>
                                    <p:anim calcmode="lin" valueType="num">
                                      <p:cBhvr additive="base">
                                        <p:cTn id="94" dur="550" fill="hold"/>
                                        <p:tgtEl>
                                          <p:spTgt spid="39"/>
                                        </p:tgtEl>
                                        <p:attrNameLst>
                                          <p:attrName>ppt_x</p:attrName>
                                        </p:attrNameLst>
                                      </p:cBhvr>
                                      <p:tavLst>
                                        <p:tav tm="0">
                                          <p:val>
                                            <p:strVal val="#ppt_x"/>
                                          </p:val>
                                        </p:tav>
                                        <p:tav tm="100000">
                                          <p:val>
                                            <p:strVal val="#ppt_x"/>
                                          </p:val>
                                        </p:tav>
                                      </p:tavLst>
                                    </p:anim>
                                    <p:anim calcmode="lin" valueType="num">
                                      <p:cBhvr additive="base">
                                        <p:cTn id="95" dur="550" fill="hold"/>
                                        <p:tgtEl>
                                          <p:spTgt spid="39"/>
                                        </p:tgtEl>
                                        <p:attrNameLst>
                                          <p:attrName>ppt_y</p:attrName>
                                        </p:attrNameLst>
                                      </p:cBhvr>
                                      <p:tavLst>
                                        <p:tav tm="0">
                                          <p:val>
                                            <p:strVal val="#ppt_y+.08"/>
                                          </p:val>
                                        </p:tav>
                                        <p:tav tm="100000">
                                          <p:val>
                                            <p:strVal val="#ppt_y"/>
                                          </p:val>
                                        </p:tav>
                                      </p:tavLst>
                                    </p:anim>
                                  </p:childTnLst>
                                </p:cTn>
                              </p:par>
                            </p:childTnLst>
                          </p:cTn>
                        </p:par>
                        <p:par>
                          <p:cTn id="96" fill="hold">
                            <p:stCondLst>
                              <p:cond delay="800"/>
                            </p:stCondLst>
                            <p:childTnLst>
                              <p:par>
                                <p:cTn id="97" presetID="53" presetClass="entr" presetSubtype="16" fill="hold" grpId="0" nodeType="afterEffect">
                                  <p:stCondLst>
                                    <p:cond delay="0"/>
                                  </p:stCondLst>
                                  <p:childTnLst>
                                    <p:set>
                                      <p:cBhvr>
                                        <p:cTn id="98" dur="1" fill="hold">
                                          <p:stCondLst>
                                            <p:cond delay="0"/>
                                          </p:stCondLst>
                                        </p:cTn>
                                        <p:tgtEl>
                                          <p:spTgt spid="40"/>
                                        </p:tgtEl>
                                        <p:attrNameLst>
                                          <p:attrName>style.visibility</p:attrName>
                                        </p:attrNameLst>
                                      </p:cBhvr>
                                      <p:to>
                                        <p:strVal val="visible"/>
                                      </p:to>
                                    </p:set>
                                    <p:animEffect transition="in" filter="fade">
                                      <p:cBhvr>
                                        <p:cTn id="99" dur="550"/>
                                        <p:tgtEl>
                                          <p:spTgt spid="40"/>
                                        </p:tgtEl>
                                      </p:cBhvr>
                                    </p:animEffect>
                                    <p:anim calcmode="lin" valueType="num">
                                      <p:cBhvr additive="base">
                                        <p:cTn id="100" dur="550" fill="hold"/>
                                        <p:tgtEl>
                                          <p:spTgt spid="40"/>
                                        </p:tgtEl>
                                        <p:attrNameLst>
                                          <p:attrName>ppt_w</p:attrName>
                                        </p:attrNameLst>
                                      </p:cBhvr>
                                      <p:tavLst>
                                        <p:tav tm="0">
                                          <p:val>
                                            <p:strVal val="0"/>
                                          </p:val>
                                        </p:tav>
                                        <p:tav tm="100000">
                                          <p:val>
                                            <p:strVal val="#ppt_w"/>
                                          </p:val>
                                        </p:tav>
                                      </p:tavLst>
                                    </p:anim>
                                    <p:anim calcmode="lin" valueType="num">
                                      <p:cBhvr additive="base">
                                        <p:cTn id="101" dur="550" fill="hold"/>
                                        <p:tgtEl>
                                          <p:spTgt spid="40"/>
                                        </p:tgtEl>
                                        <p:attrNameLst>
                                          <p:attrName>ppt_h</p:attrName>
                                        </p:attrNameLst>
                                      </p:cBhvr>
                                      <p:tavLst>
                                        <p:tav tm="0">
                                          <p:val>
                                            <p:strVal val="0"/>
                                          </p:val>
                                        </p:tav>
                                        <p:tav tm="100000">
                                          <p:val>
                                            <p:strVal val="#ppt_h"/>
                                          </p:val>
                                        </p:tav>
                                      </p:tavLst>
                                    </p:anim>
                                  </p:childTnLst>
                                </p:cTn>
                              </p:par>
                            </p:childTnLst>
                          </p:cTn>
                        </p:par>
                        <p:par>
                          <p:cTn id="102" fill="hold">
                            <p:stCondLst>
                              <p:cond delay="800"/>
                            </p:stCondLst>
                            <p:childTnLst>
                              <p:par>
                                <p:cTn id="103" presetID="42" presetClass="entr" presetSubtype="0" fill="hold" grpId="0" nodeType="afterEffect">
                                  <p:stCondLst>
                                    <p:cond delay="0"/>
                                  </p:stCondLst>
                                  <p:childTnLst>
                                    <p:set>
                                      <p:cBhvr>
                                        <p:cTn id="104" dur="1" fill="hold">
                                          <p:stCondLst>
                                            <p:cond delay="0"/>
                                          </p:stCondLst>
                                        </p:cTn>
                                        <p:tgtEl>
                                          <p:spTgt spid="41"/>
                                        </p:tgtEl>
                                        <p:attrNameLst>
                                          <p:attrName>style.visibility</p:attrName>
                                        </p:attrNameLst>
                                      </p:cBhvr>
                                      <p:to>
                                        <p:strVal val="visible"/>
                                      </p:to>
                                    </p:set>
                                    <p:animEffect transition="in" filter="fade">
                                      <p:cBhvr>
                                        <p:cTn id="105" dur="550"/>
                                        <p:tgtEl>
                                          <p:spTgt spid="41"/>
                                        </p:tgtEl>
                                      </p:cBhvr>
                                    </p:animEffect>
                                    <p:anim calcmode="lin" valueType="num">
                                      <p:cBhvr additive="base">
                                        <p:cTn id="106" dur="550" fill="hold"/>
                                        <p:tgtEl>
                                          <p:spTgt spid="41"/>
                                        </p:tgtEl>
                                        <p:attrNameLst>
                                          <p:attrName>ppt_x</p:attrName>
                                        </p:attrNameLst>
                                      </p:cBhvr>
                                      <p:tavLst>
                                        <p:tav tm="0">
                                          <p:val>
                                            <p:strVal val="#ppt_x"/>
                                          </p:val>
                                        </p:tav>
                                        <p:tav tm="100000">
                                          <p:val>
                                            <p:strVal val="#ppt_x"/>
                                          </p:val>
                                        </p:tav>
                                      </p:tavLst>
                                    </p:anim>
                                    <p:anim calcmode="lin" valueType="num">
                                      <p:cBhvr additive="base">
                                        <p:cTn id="107" dur="550" fill="hold"/>
                                        <p:tgtEl>
                                          <p:spTgt spid="41"/>
                                        </p:tgtEl>
                                        <p:attrNameLst>
                                          <p:attrName>ppt_y</p:attrName>
                                        </p:attrNameLst>
                                      </p:cBhvr>
                                      <p:tavLst>
                                        <p:tav tm="0">
                                          <p:val>
                                            <p:strVal val="#ppt_y+.08"/>
                                          </p:val>
                                        </p:tav>
                                        <p:tav tm="100000">
                                          <p:val>
                                            <p:strVal val="#ppt_y"/>
                                          </p:val>
                                        </p:tav>
                                      </p:tavLst>
                                    </p:anim>
                                  </p:childTnLst>
                                </p:cTn>
                              </p:par>
                            </p:childTnLst>
                          </p:cTn>
                        </p:par>
                        <p:par>
                          <p:cTn id="108" fill="hold">
                            <p:stCondLst>
                              <p:cond delay="1000"/>
                            </p:stCondLst>
                            <p:childTnLst>
                              <p:par>
                                <p:cTn id="109" presetID="42" presetClass="entr" presetSubtype="0" fill="hold" grpId="0" nodeType="afterEffect">
                                  <p:stCondLst>
                                    <p:cond delay="0"/>
                                  </p:stCondLst>
                                  <p:childTnLst>
                                    <p:set>
                                      <p:cBhvr>
                                        <p:cTn id="110" dur="1" fill="hold">
                                          <p:stCondLst>
                                            <p:cond delay="0"/>
                                          </p:stCondLst>
                                        </p:cTn>
                                        <p:tgtEl>
                                          <p:spTgt spid="42"/>
                                        </p:tgtEl>
                                        <p:attrNameLst>
                                          <p:attrName>style.visibility</p:attrName>
                                        </p:attrNameLst>
                                      </p:cBhvr>
                                      <p:to>
                                        <p:strVal val="visible"/>
                                      </p:to>
                                    </p:set>
                                    <p:animEffect transition="in" filter="fade">
                                      <p:cBhvr>
                                        <p:cTn id="111" dur="550"/>
                                        <p:tgtEl>
                                          <p:spTgt spid="42"/>
                                        </p:tgtEl>
                                      </p:cBhvr>
                                    </p:animEffect>
                                    <p:anim calcmode="lin" valueType="num">
                                      <p:cBhvr additive="base">
                                        <p:cTn id="112" dur="550" fill="hold"/>
                                        <p:tgtEl>
                                          <p:spTgt spid="42"/>
                                        </p:tgtEl>
                                        <p:attrNameLst>
                                          <p:attrName>ppt_x</p:attrName>
                                        </p:attrNameLst>
                                      </p:cBhvr>
                                      <p:tavLst>
                                        <p:tav tm="0">
                                          <p:val>
                                            <p:strVal val="#ppt_x"/>
                                          </p:val>
                                        </p:tav>
                                        <p:tav tm="100000">
                                          <p:val>
                                            <p:strVal val="#ppt_x"/>
                                          </p:val>
                                        </p:tav>
                                      </p:tavLst>
                                    </p:anim>
                                    <p:anim calcmode="lin" valueType="num">
                                      <p:cBhvr additive="base">
                                        <p:cTn id="113" dur="550" fill="hold"/>
                                        <p:tgtEl>
                                          <p:spTgt spid="42"/>
                                        </p:tgtEl>
                                        <p:attrNameLst>
                                          <p:attrName>ppt_y</p:attrName>
                                        </p:attrNameLst>
                                      </p:cBhvr>
                                      <p:tavLst>
                                        <p:tav tm="0">
                                          <p:val>
                                            <p:strVal val="#ppt_y+.08"/>
                                          </p:val>
                                        </p:tav>
                                        <p:tav tm="100000">
                                          <p:val>
                                            <p:strVal val="#ppt_y"/>
                                          </p:val>
                                        </p:tav>
                                      </p:tavLst>
                                    </p:anim>
                                  </p:childTnLst>
                                </p:cTn>
                              </p:par>
                            </p:childTnLst>
                          </p:cTn>
                        </p:par>
                        <p:par>
                          <p:cTn id="114" fill="hold">
                            <p:stCondLst>
                              <p:cond delay="1000"/>
                            </p:stCondLst>
                            <p:childTnLst>
                              <p:par>
                                <p:cTn id="115" presetID="42" presetClass="entr" presetSubtype="0" fill="hold" grpId="0" nodeType="afterEffect">
                                  <p:stCondLst>
                                    <p:cond delay="0"/>
                                  </p:stCondLst>
                                  <p:childTnLst>
                                    <p:set>
                                      <p:cBhvr>
                                        <p:cTn id="116" dur="1" fill="hold">
                                          <p:stCondLst>
                                            <p:cond delay="0"/>
                                          </p:stCondLst>
                                        </p:cTn>
                                        <p:tgtEl>
                                          <p:spTgt spid="43"/>
                                        </p:tgtEl>
                                        <p:attrNameLst>
                                          <p:attrName>style.visibility</p:attrName>
                                        </p:attrNameLst>
                                      </p:cBhvr>
                                      <p:to>
                                        <p:strVal val="visible"/>
                                      </p:to>
                                    </p:set>
                                    <p:animEffect transition="in" filter="fade">
                                      <p:cBhvr>
                                        <p:cTn id="117" dur="550"/>
                                        <p:tgtEl>
                                          <p:spTgt spid="43"/>
                                        </p:tgtEl>
                                      </p:cBhvr>
                                    </p:animEffect>
                                    <p:anim calcmode="lin" valueType="num">
                                      <p:cBhvr additive="base">
                                        <p:cTn id="118" dur="550" fill="hold"/>
                                        <p:tgtEl>
                                          <p:spTgt spid="43"/>
                                        </p:tgtEl>
                                        <p:attrNameLst>
                                          <p:attrName>ppt_x</p:attrName>
                                        </p:attrNameLst>
                                      </p:cBhvr>
                                      <p:tavLst>
                                        <p:tav tm="0">
                                          <p:val>
                                            <p:strVal val="#ppt_x"/>
                                          </p:val>
                                        </p:tav>
                                        <p:tav tm="100000">
                                          <p:val>
                                            <p:strVal val="#ppt_x"/>
                                          </p:val>
                                        </p:tav>
                                      </p:tavLst>
                                    </p:anim>
                                    <p:anim calcmode="lin" valueType="num">
                                      <p:cBhvr additive="base">
                                        <p:cTn id="119" dur="550" fill="hold"/>
                                        <p:tgtEl>
                                          <p:spTgt spid="43"/>
                                        </p:tgtEl>
                                        <p:attrNameLst>
                                          <p:attrName>ppt_y</p:attrName>
                                        </p:attrNameLst>
                                      </p:cBhvr>
                                      <p:tavLst>
                                        <p:tav tm="0">
                                          <p:val>
                                            <p:strVal val="#ppt_y+.08"/>
                                          </p:val>
                                        </p:tav>
                                        <p:tav tm="100000">
                                          <p:val>
                                            <p:strVal val="#ppt_y"/>
                                          </p:val>
                                        </p:tav>
                                      </p:tavLst>
                                    </p:anim>
                                  </p:childTnLst>
                                </p:cTn>
                              </p:par>
                            </p:childTnLst>
                          </p:cTn>
                        </p:par>
                        <p:par>
                          <p:cTn id="120" fill="hold">
                            <p:stCondLst>
                              <p:cond delay="1000"/>
                            </p:stCondLst>
                            <p:childTnLst>
                              <p:par>
                                <p:cTn id="121" presetID="53" presetClass="entr" presetSubtype="16" fill="hold" grpId="0" nodeType="afterEffect">
                                  <p:stCondLst>
                                    <p:cond delay="0"/>
                                  </p:stCondLst>
                                  <p:childTnLst>
                                    <p:set>
                                      <p:cBhvr>
                                        <p:cTn id="122" dur="1" fill="hold">
                                          <p:stCondLst>
                                            <p:cond delay="0"/>
                                          </p:stCondLst>
                                        </p:cTn>
                                        <p:tgtEl>
                                          <p:spTgt spid="44"/>
                                        </p:tgtEl>
                                        <p:attrNameLst>
                                          <p:attrName>style.visibility</p:attrName>
                                        </p:attrNameLst>
                                      </p:cBhvr>
                                      <p:to>
                                        <p:strVal val="visible"/>
                                      </p:to>
                                    </p:set>
                                    <p:animEffect transition="in" filter="fade">
                                      <p:cBhvr>
                                        <p:cTn id="123" dur="550"/>
                                        <p:tgtEl>
                                          <p:spTgt spid="44"/>
                                        </p:tgtEl>
                                      </p:cBhvr>
                                    </p:animEffect>
                                    <p:anim calcmode="lin" valueType="num">
                                      <p:cBhvr additive="base">
                                        <p:cTn id="124" dur="550" fill="hold"/>
                                        <p:tgtEl>
                                          <p:spTgt spid="44"/>
                                        </p:tgtEl>
                                        <p:attrNameLst>
                                          <p:attrName>ppt_w</p:attrName>
                                        </p:attrNameLst>
                                      </p:cBhvr>
                                      <p:tavLst>
                                        <p:tav tm="0">
                                          <p:val>
                                            <p:strVal val="0"/>
                                          </p:val>
                                        </p:tav>
                                        <p:tav tm="100000">
                                          <p:val>
                                            <p:strVal val="#ppt_w"/>
                                          </p:val>
                                        </p:tav>
                                      </p:tavLst>
                                    </p:anim>
                                    <p:anim calcmode="lin" valueType="num">
                                      <p:cBhvr additive="base">
                                        <p:cTn id="125" dur="550" fill="hold"/>
                                        <p:tgtEl>
                                          <p:spTgt spid="44"/>
                                        </p:tgtEl>
                                        <p:attrNameLst>
                                          <p:attrName>ppt_h</p:attrName>
                                        </p:attrNameLst>
                                      </p:cBhvr>
                                      <p:tavLst>
                                        <p:tav tm="0">
                                          <p:val>
                                            <p:strVal val="0"/>
                                          </p:val>
                                        </p:tav>
                                        <p:tav tm="100000">
                                          <p:val>
                                            <p:strVal val="#ppt_h"/>
                                          </p:val>
                                        </p:tav>
                                      </p:tavLst>
                                    </p:anim>
                                  </p:childTnLst>
                                </p:cTn>
                              </p:par>
                            </p:childTnLst>
                          </p:cTn>
                        </p:par>
                        <p:par>
                          <p:cTn id="126" fill="hold">
                            <p:stCondLst>
                              <p:cond delay="1000"/>
                            </p:stCondLst>
                            <p:childTnLst>
                              <p:par>
                                <p:cTn id="127" presetID="42" presetClass="entr" presetSubtype="0" fill="hold" grpId="0" nodeType="afterEffect">
                                  <p:stCondLst>
                                    <p:cond delay="0"/>
                                  </p:stCondLst>
                                  <p:childTnLst>
                                    <p:set>
                                      <p:cBhvr>
                                        <p:cTn id="128" dur="1" fill="hold">
                                          <p:stCondLst>
                                            <p:cond delay="0"/>
                                          </p:stCondLst>
                                        </p:cTn>
                                        <p:tgtEl>
                                          <p:spTgt spid="45"/>
                                        </p:tgtEl>
                                        <p:attrNameLst>
                                          <p:attrName>style.visibility</p:attrName>
                                        </p:attrNameLst>
                                      </p:cBhvr>
                                      <p:to>
                                        <p:strVal val="visible"/>
                                      </p:to>
                                    </p:set>
                                    <p:animEffect transition="in" filter="fade">
                                      <p:cBhvr>
                                        <p:cTn id="129" dur="550"/>
                                        <p:tgtEl>
                                          <p:spTgt spid="45"/>
                                        </p:tgtEl>
                                      </p:cBhvr>
                                    </p:animEffect>
                                    <p:anim calcmode="lin" valueType="num">
                                      <p:cBhvr additive="base">
                                        <p:cTn id="130" dur="550" fill="hold"/>
                                        <p:tgtEl>
                                          <p:spTgt spid="45"/>
                                        </p:tgtEl>
                                        <p:attrNameLst>
                                          <p:attrName>ppt_x</p:attrName>
                                        </p:attrNameLst>
                                      </p:cBhvr>
                                      <p:tavLst>
                                        <p:tav tm="0">
                                          <p:val>
                                            <p:strVal val="#ppt_x"/>
                                          </p:val>
                                        </p:tav>
                                        <p:tav tm="100000">
                                          <p:val>
                                            <p:strVal val="#ppt_x"/>
                                          </p:val>
                                        </p:tav>
                                      </p:tavLst>
                                    </p:anim>
                                    <p:anim calcmode="lin" valueType="num">
                                      <p:cBhvr additive="base">
                                        <p:cTn id="131" dur="550" fill="hold"/>
                                        <p:tgtEl>
                                          <p:spTgt spid="4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a1eb192181681b00.jpg"/>
          <p:cNvPicPr>
            <a:picLocks noChangeAspect="1"/>
          </p:cNvPicPr>
          <p:nvPr/>
        </p:nvPicPr>
        <p:blipFill>
          <a:blip r:embed="rId2"/>
          <a:srcRect t="2971" b="2971"/>
          <a:stretch>
            <a:fillRect/>
          </a:stretch>
        </p:blipFill>
        <p:spPr>
          <a:xfrm>
            <a:off x="6300000" y="800000"/>
            <a:ext cx="5300000" cy="4950000"/>
          </a:xfrm>
          <a:prstGeom prst="roundRect">
            <a:avLst/>
          </a:prstGeom>
          <a:ln w="19050">
            <a:solidFill>
              <a:srgbClr val="22D3EE"/>
            </a:solidFill>
          </a:ln>
        </p:spPr>
      </p:pic>
      <p:sp>
        <p:nvSpPr>
          <p:cNvPr id="45" name="TextBox 44"/>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Mister rf · Wikimedia Commons · CC BY-SA 4.0</a:t>
            </a:r>
          </a:p>
        </p:txBody>
      </p:sp>
      <p:sp>
        <p:nvSpPr>
          <p:cNvPr id="46" name="TextBox 45"/>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01</a:t>
            </a:r>
          </a:p>
        </p:txBody>
      </p:sp>
      <p:sp>
        <p:nvSpPr>
          <p:cNvPr id="47" name="TextBox 46"/>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8" name="TextBox 47"/>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Xotira iyerarxiyasi va uning raqamlari</a:t>
            </a:r>
          </a:p>
        </p:txBody>
      </p:sp>
      <p:sp>
        <p:nvSpPr>
          <p:cNvPr id="49" name="Rectangle 48"/>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0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150"/>
                            </p:stCondLst>
                            <p:childTnLst>
                              <p:par>
                                <p:cTn id="164" presetID="53" presetClass="entr" presetSubtype="16"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anim calcmode="lin" valueType="num">
                                      <p:cBhvr additive="base">
                                        <p:cTn id="167" dur="550" fill="hold"/>
                                        <p:tgtEl>
                                          <p:spTgt spid="43"/>
                                        </p:tgtEl>
                                        <p:attrNameLst>
                                          <p:attrName>ppt_w</p:attrName>
                                        </p:attrNameLst>
                                      </p:cBhvr>
                                      <p:tavLst>
                                        <p:tav tm="0">
                                          <p:val>
                                            <p:strVal val="0"/>
                                          </p:val>
                                        </p:tav>
                                        <p:tav tm="100000">
                                          <p:val>
                                            <p:strVal val="#ppt_w"/>
                                          </p:val>
                                        </p:tav>
                                      </p:tavLst>
                                    </p:anim>
                                    <p:anim calcmode="lin" valueType="num">
                                      <p:cBhvr additive="base">
                                        <p:cTn id="168" dur="550" fill="hold"/>
                                        <p:tgtEl>
                                          <p:spTgt spid="43"/>
                                        </p:tgtEl>
                                        <p:attrNameLst>
                                          <p:attrName>ppt_h</p:attrName>
                                        </p:attrNameLst>
                                      </p:cBhvr>
                                      <p:tavLst>
                                        <p:tav tm="0">
                                          <p:val>
                                            <p:strVal val="0"/>
                                          </p:val>
                                        </p:tav>
                                        <p:tav tm="100000">
                                          <p:val>
                                            <p:strVal val="#ppt_h"/>
                                          </p:val>
                                        </p:tav>
                                      </p:tavLst>
                                    </p:anim>
                                  </p:childTnLst>
                                </p:cTn>
                              </p:par>
                            </p:childTnLst>
                          </p:cTn>
                        </p:par>
                        <p:par>
                          <p:cTn id="169" fill="hold">
                            <p:stCondLst>
                              <p:cond delay="150"/>
                            </p:stCondLst>
                            <p:childTnLst>
                              <p:par>
                                <p:cTn id="170" presetID="53" presetClass="entr" presetSubtype="16" fill="hold" grpId="0" nodeType="afterEffect">
                                  <p:stCondLst>
                                    <p:cond delay="0"/>
                                  </p:stCondLst>
                                  <p:childTnLst>
                                    <p:set>
                                      <p:cBhvr>
                                        <p:cTn id="171" dur="1" fill="hold">
                                          <p:stCondLst>
                                            <p:cond delay="0"/>
                                          </p:stCondLst>
                                        </p:cTn>
                                        <p:tgtEl>
                                          <p:spTgt spid="44"/>
                                        </p:tgtEl>
                                        <p:attrNameLst>
                                          <p:attrName>style.visibility</p:attrName>
                                        </p:attrNameLst>
                                      </p:cBhvr>
                                      <p:to>
                                        <p:strVal val="visible"/>
                                      </p:to>
                                    </p:set>
                                    <p:animEffect transition="in" filter="fade">
                                      <p:cBhvr>
                                        <p:cTn id="172" dur="550"/>
                                        <p:tgtEl>
                                          <p:spTgt spid="44"/>
                                        </p:tgtEl>
                                      </p:cBhvr>
                                    </p:animEffect>
                                    <p:anim calcmode="lin" valueType="num">
                                      <p:cBhvr additive="base">
                                        <p:cTn id="173" dur="550" fill="hold"/>
                                        <p:tgtEl>
                                          <p:spTgt spid="44"/>
                                        </p:tgtEl>
                                        <p:attrNameLst>
                                          <p:attrName>ppt_w</p:attrName>
                                        </p:attrNameLst>
                                      </p:cBhvr>
                                      <p:tavLst>
                                        <p:tav tm="0">
                                          <p:val>
                                            <p:strVal val="0"/>
                                          </p:val>
                                        </p:tav>
                                        <p:tav tm="100000">
                                          <p:val>
                                            <p:strVal val="#ppt_w"/>
                                          </p:val>
                                        </p:tav>
                                      </p:tavLst>
                                    </p:anim>
                                    <p:anim calcmode="lin" valueType="num">
                                      <p:cBhvr additive="base">
                                        <p:cTn id="174" dur="550" fill="hold"/>
                                        <p:tgtEl>
                                          <p:spTgt spid="44"/>
                                        </p:tgtEl>
                                        <p:attrNameLst>
                                          <p:attrName>ppt_h</p:attrName>
                                        </p:attrNameLst>
                                      </p:cBhvr>
                                      <p:tavLst>
                                        <p:tav tm="0">
                                          <p:val>
                                            <p:strVal val="0"/>
                                          </p:val>
                                        </p:tav>
                                        <p:tav tm="100000">
                                          <p:val>
                                            <p:strVal val="#ppt_h"/>
                                          </p:val>
                                        </p:tav>
                                      </p:tavLst>
                                    </p:anim>
                                  </p:childTnLst>
                                </p:cTn>
                              </p:par>
                            </p:childTnLst>
                          </p:cTn>
                        </p:par>
                        <p:par>
                          <p:cTn id="175" fill="hold">
                            <p:stCondLst>
                              <p:cond delay="150"/>
                            </p:stCondLst>
                            <p:childTnLst>
                              <p:par>
                                <p:cTn id="176" presetID="10" presetClass="entr" presetSubtype="0" fill="hold" grpId="0" nodeType="afterEffect">
                                  <p:stCondLst>
                                    <p:cond delay="0"/>
                                  </p:stCondLst>
                                  <p:childTnLst>
                                    <p:set>
                                      <p:cBhvr>
                                        <p:cTn id="177" dur="1" fill="hold">
                                          <p:stCondLst>
                                            <p:cond delay="0"/>
                                          </p:stCondLst>
                                        </p:cTn>
                                        <p:tgtEl>
                                          <p:spTgt spid="45"/>
                                        </p:tgtEl>
                                        <p:attrNameLst>
                                          <p:attrName>style.visibility</p:attrName>
                                        </p:attrNameLst>
                                      </p:cBhvr>
                                      <p:to>
                                        <p:strVal val="visible"/>
                                      </p:to>
                                    </p:set>
                                    <p:animEffect transition="in" filter="fade">
                                      <p:cBhvr>
                                        <p:cTn id="178" dur="550"/>
                                        <p:tgtEl>
                                          <p:spTgt spid="45"/>
                                        </p:tgtEl>
                                      </p:cBhvr>
                                    </p:animEffect>
                                  </p:childTnLst>
                                </p:cTn>
                              </p:par>
                            </p:childTnLst>
                          </p:cTn>
                        </p:par>
                        <p:par>
                          <p:cTn id="179" fill="hold">
                            <p:stCondLst>
                              <p:cond delay="350"/>
                            </p:stCondLst>
                            <p:childTnLst>
                              <p:par>
                                <p:cTn id="180" presetID="53" presetClass="entr" presetSubtype="16" fill="hold" grpId="0" nodeType="afterEffect">
                                  <p:stCondLst>
                                    <p:cond delay="0"/>
                                  </p:stCondLst>
                                  <p:childTnLst>
                                    <p:set>
                                      <p:cBhvr>
                                        <p:cTn id="181" dur="1" fill="hold">
                                          <p:stCondLst>
                                            <p:cond delay="0"/>
                                          </p:stCondLst>
                                        </p:cTn>
                                        <p:tgtEl>
                                          <p:spTgt spid="46"/>
                                        </p:tgtEl>
                                        <p:attrNameLst>
                                          <p:attrName>style.visibility</p:attrName>
                                        </p:attrNameLst>
                                      </p:cBhvr>
                                      <p:to>
                                        <p:strVal val="visible"/>
                                      </p:to>
                                    </p:set>
                                    <p:animEffect transition="in" filter="fade">
                                      <p:cBhvr>
                                        <p:cTn id="182" dur="550"/>
                                        <p:tgtEl>
                                          <p:spTgt spid="46"/>
                                        </p:tgtEl>
                                      </p:cBhvr>
                                    </p:animEffect>
                                    <p:anim calcmode="lin" valueType="num">
                                      <p:cBhvr additive="base">
                                        <p:cTn id="183" dur="550" fill="hold"/>
                                        <p:tgtEl>
                                          <p:spTgt spid="46"/>
                                        </p:tgtEl>
                                        <p:attrNameLst>
                                          <p:attrName>ppt_w</p:attrName>
                                        </p:attrNameLst>
                                      </p:cBhvr>
                                      <p:tavLst>
                                        <p:tav tm="0">
                                          <p:val>
                                            <p:strVal val="0"/>
                                          </p:val>
                                        </p:tav>
                                        <p:tav tm="100000">
                                          <p:val>
                                            <p:strVal val="#ppt_w"/>
                                          </p:val>
                                        </p:tav>
                                      </p:tavLst>
                                    </p:anim>
                                    <p:anim calcmode="lin" valueType="num">
                                      <p:cBhvr additive="base">
                                        <p:cTn id="184" dur="550" fill="hold"/>
                                        <p:tgtEl>
                                          <p:spTgt spid="46"/>
                                        </p:tgtEl>
                                        <p:attrNameLst>
                                          <p:attrName>ppt_h</p:attrName>
                                        </p:attrNameLst>
                                      </p:cBhvr>
                                      <p:tavLst>
                                        <p:tav tm="0">
                                          <p:val>
                                            <p:strVal val="0"/>
                                          </p:val>
                                        </p:tav>
                                        <p:tav tm="100000">
                                          <p:val>
                                            <p:strVal val="#ppt_h"/>
                                          </p:val>
                                        </p:tav>
                                      </p:tavLst>
                                    </p:anim>
                                  </p:childTnLst>
                                </p:cTn>
                              </p:par>
                            </p:childTnLst>
                          </p:cTn>
                        </p:par>
                        <p:par>
                          <p:cTn id="185" fill="hold">
                            <p:stCondLst>
                              <p:cond delay="450"/>
                            </p:stCondLst>
                            <p:childTnLst>
                              <p:par>
                                <p:cTn id="186" presetID="10" presetClass="entr" presetSubtype="0" fill="hold" grpId="0" nodeType="afterEffect">
                                  <p:stCondLst>
                                    <p:cond delay="0"/>
                                  </p:stCondLst>
                                  <p:childTnLst>
                                    <p:set>
                                      <p:cBhvr>
                                        <p:cTn id="187" dur="1" fill="hold">
                                          <p:stCondLst>
                                            <p:cond delay="0"/>
                                          </p:stCondLst>
                                        </p:cTn>
                                        <p:tgtEl>
                                          <p:spTgt spid="47"/>
                                        </p:tgtEl>
                                        <p:attrNameLst>
                                          <p:attrName>style.visibility</p:attrName>
                                        </p:attrNameLst>
                                      </p:cBhvr>
                                      <p:to>
                                        <p:strVal val="visible"/>
                                      </p:to>
                                    </p:set>
                                    <p:animEffect transition="in" filter="fade">
                                      <p:cBhvr>
                                        <p:cTn id="188" dur="550"/>
                                        <p:tgtEl>
                                          <p:spTgt spid="47"/>
                                        </p:tgtEl>
                                      </p:cBhvr>
                                    </p:animEffect>
                                  </p:childTnLst>
                                </p:cTn>
                              </p:par>
                            </p:childTnLst>
                          </p:cTn>
                        </p:par>
                        <p:par>
                          <p:cTn id="189" fill="hold">
                            <p:stCondLst>
                              <p:cond delay="550"/>
                            </p:stCondLst>
                            <p:childTnLst>
                              <p:par>
                                <p:cTn id="190" presetID="2" presetClass="entr" presetSubtype="8" fill="hold" grpId="0" nodeType="afterEffect">
                                  <p:stCondLst>
                                    <p:cond delay="0"/>
                                  </p:stCondLst>
                                  <p:childTnLst>
                                    <p:set>
                                      <p:cBhvr>
                                        <p:cTn id="191" dur="1" fill="hold">
                                          <p:stCondLst>
                                            <p:cond delay="0"/>
                                          </p:stCondLst>
                                        </p:cTn>
                                        <p:tgtEl>
                                          <p:spTgt spid="48"/>
                                        </p:tgtEl>
                                        <p:attrNameLst>
                                          <p:attrName>style.visibility</p:attrName>
                                        </p:attrNameLst>
                                      </p:cBhvr>
                                      <p:to>
                                        <p:strVal val="visible"/>
                                      </p:to>
                                    </p:set>
                                    <p:anim calcmode="lin" valueType="num">
                                      <p:cBhvr additive="base">
                                        <p:cTn id="193" dur="550" fill="hold"/>
                                        <p:tgtEl>
                                          <p:spTgt spid="48"/>
                                        </p:tgtEl>
                                        <p:attrNameLst>
                                          <p:attrName>ppt_x</p:attrName>
                                        </p:attrNameLst>
                                      </p:cBhvr>
                                      <p:tavLst>
                                        <p:tav tm="0">
                                          <p:val>
                                            <p:strVal val="0-#ppt_w/2"/>
                                          </p:val>
                                        </p:tav>
                                        <p:tav tm="100000">
                                          <p:val>
                                            <p:strVal val="#ppt_x"/>
                                          </p:val>
                                        </p:tav>
                                      </p:tavLst>
                                    </p:anim>
                                    <p:anim calcmode="lin" valueType="num">
                                      <p:cBhvr additive="base">
                                        <p:cTn id="194" dur="550" fill="hold"/>
                                        <p:tgtEl>
                                          <p:spTgt spid="48"/>
                                        </p:tgtEl>
                                        <p:attrNameLst>
                                          <p:attrName>ppt_y</p:attrName>
                                        </p:attrNameLst>
                                      </p:cBhvr>
                                      <p:tavLst>
                                        <p:tav tm="0">
                                          <p:val>
                                            <p:strVal val="#ppt_y"/>
                                          </p:val>
                                        </p:tav>
                                        <p:tav tm="100000">
                                          <p:val>
                                            <p:strVal val="#ppt_y"/>
                                          </p:val>
                                        </p:tav>
                                      </p:tavLst>
                                    </p:anim>
                                  </p:childTnLst>
                                </p:cTn>
                              </p:par>
                            </p:childTnLst>
                          </p:cTn>
                        </p:par>
                        <p:par>
                          <p:cTn id="195" fill="hold">
                            <p:stCondLst>
                              <p:cond delay="650"/>
                            </p:stCondLst>
                            <p:childTnLst>
                              <p:par>
                                <p:cTn id="196" presetID="22" presetClass="entr" presetSubtype="8" fill="hold" grpId="0" nodeType="afterEffect">
                                  <p:stCondLst>
                                    <p:cond delay="0"/>
                                  </p:stCondLst>
                                  <p:childTnLst>
                                    <p:set>
                                      <p:cBhvr>
                                        <p:cTn id="197" dur="1" fill="hold">
                                          <p:stCondLst>
                                            <p:cond delay="0"/>
                                          </p:stCondLst>
                                        </p:cTn>
                                        <p:tgtEl>
                                          <p:spTgt spid="49"/>
                                        </p:tgtEl>
                                        <p:attrNameLst>
                                          <p:attrName>style.visibility</p:attrName>
                                        </p:attrNameLst>
                                      </p:cBhvr>
                                      <p:to>
                                        <p:strVal val="visible"/>
                                      </p:to>
                                    </p:set>
                                    <p:animEffect transition="in" filter="wipe(left)">
                                      <p:cBhvr>
                                        <p:cTn id="199" dur="8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5" grpId="0" animBg="1"/>
      <p:bldP spid="46" grpId="0" animBg="1"/>
      <p:bldP spid="47" grpId="0" animBg="1"/>
      <p:bldP spid="48" grpId="0" animBg="1"/>
      <p:bldP spid="49"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Xotira iyerarxiyasi va uning raqamlari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M5 · Arxitektura va dizayn tamoyillari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131e6480132f7464.jpg"/>
          <p:cNvPicPr>
            <a:picLocks noChangeAspect="1"/>
          </p:cNvPicPr>
          <p:nvPr/>
        </p:nvPicPr>
        <p:blipFill>
          <a:blip r:embed="rId2"/>
          <a:srcRect l="18285" r="1828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Adam Greig from Cambridge, UK · Wikimedia Commons · CC BY-SA 2.0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842128"/>
            <a:ext cx="50000" cy="18128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54856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1802128"/>
            <a:ext cx="5900000" cy="1892872"/>
          </a:xfrm>
          <a:prstGeom prst="rect">
            <a:avLst/>
          </a:prstGeom>
          <a:noFill/>
        </p:spPr>
        <p:txBody>
          <a:bodyPr wrap="square" anchor="ctr">
            <a:spAutoFit/>
          </a:bodyPr>
          <a:lstStyle/>
          <a:p>
            <a:r>
              <a:rPr sz="1500" b="1">
                <a:solidFill>
                  <a:srgbClr val="E8EEFA"/>
                </a:solidFill>
                <a:latin typeface="Segoe UI"/>
              </a:rPr>
              <a:t>Xotira iyerarxiyasi — bu tezlik, hajm va narx o'rtasidagi murosaning muhandislik yechimi.</a:t>
            </a:r>
          </a:p>
          <a:p>
            <a:pPr>
              <a:spcBef>
                <a:spcPts val="400"/>
              </a:spcBef>
            </a:pPr>
            <a:r>
              <a:rPr sz="1400">
                <a:solidFill>
                  <a:srgbClr val="AEBBD9"/>
                </a:solidFill>
                <a:latin typeface="Segoe UI"/>
              </a:rPr>
              <a:t>Juda tez xotira (SRAM asosidagi registrlar va kesh) qimmat va kichik hajmli, katta hajmli xotira (DRAM, flesh) esa sekin. Iyerarxiya g'oyasi shundan iboratki, dastur hozir ishlatayotgan kichik ma'lumotlar to'plami tez pog'onada, qolgani esa katta va sekin pog'onalarda saqlanadi.</a:t>
            </a:r>
          </a:p>
        </p:txBody>
      </p:sp>
      <p:sp>
        <p:nvSpPr>
          <p:cNvPr id="31" name="Rounded Rectangle 30"/>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181287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631436"/>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4" name="TextBox 33"/>
          <p:cNvSpPr txBox="1"/>
          <p:nvPr/>
        </p:nvSpPr>
        <p:spPr>
          <a:xfrm>
            <a:off x="1300000" y="3885000"/>
            <a:ext cx="5900000" cy="1892872"/>
          </a:xfrm>
          <a:prstGeom prst="rect">
            <a:avLst/>
          </a:prstGeom>
          <a:noFill/>
        </p:spPr>
        <p:txBody>
          <a:bodyPr wrap="square" anchor="ctr">
            <a:spAutoFit/>
          </a:bodyPr>
          <a:lstStyle/>
          <a:p>
            <a:r>
              <a:rPr sz="1400" b="0">
                <a:solidFill>
                  <a:srgbClr val="E8EEFA"/>
                </a:solidFill>
                <a:latin typeface="Segoe UI"/>
              </a:rPr>
              <a:t>Zamonaviy server protsessori va tezlatkich uchun tipik ko'rsatkichlar quyidagi jadvalda keltirilgan (raqamlar taxminiy, avlod va modelga qarab farq qiladi):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Xotira iyerarxiyasi va uning raqamlari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M5 · Arxitektura va dizayn tamoyillari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eb3731d874c22f7a.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Raimond Spekking · Wikimedia Commons · CC BY-SA 4.0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32104"/>
            <a:ext cx="50000" cy="2315792"/>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2" name="TextBox 31"/>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Jadvaldan ikki xulosa kelib chiqadi.</a:t>
            </a:r>
          </a:p>
          <a:p>
            <a:pPr>
              <a:spcBef>
                <a:spcPts val="400"/>
              </a:spcBef>
            </a:pPr>
            <a:r>
              <a:rPr sz="1600">
                <a:solidFill>
                  <a:srgbClr val="AEBBD9"/>
                </a:solidFill>
                <a:latin typeface="Segoe UI"/>
              </a:rPr>
              <a:t>Birinchidan, pog'onalar orasida kechikish farqi o'nlab va yuzlab martani tashkil etadi: L1 keshdan o'qish DRAM'dan o'qishdan qariyb yuz marta tez. Ikkinchidan, CPU va GPU orasidagi PCIe havolasi GPU'ning o'z xotirasidan qariyb 50 marta sekin — demak, har bir iteratsiyada ma'lumotni CPU'dan GPU'ga ko'chiradigan kod hech qachon GPU imkoniyatini to'liq ishlata olmaydi.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Xotira iyerarxiyasi va uning raqamlari</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M5 · Arxitektura va dizayn tamoyillari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6</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4fe9c9f67315d3e8.jpg"/>
          <p:cNvPicPr>
            <a:picLocks noChangeAspect="1"/>
          </p:cNvPicPr>
          <p:nvPr/>
        </p:nvPicPr>
        <p:blipFill>
          <a:blip r:embed="rId2"/>
          <a:srcRect l="16126" r="16126"/>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Amada44 · Wikimedia Commons · CC BY-SA 3.0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497992"/>
            <a:ext cx="50000" cy="2584016"/>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3" name="TextBox 32"/>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Kesh satr (cache line) birligi odatda 64 bayt.</a:t>
            </a:r>
          </a:p>
          <a:p>
            <a:pPr>
              <a:spcBef>
                <a:spcPts val="400"/>
              </a:spcBef>
            </a:pPr>
            <a:r>
              <a:rPr sz="1600">
                <a:solidFill>
                  <a:srgbClr val="AEBBD9"/>
                </a:solidFill>
                <a:latin typeface="Segoe UI"/>
              </a:rPr>
              <a:t>Protsessor xotiradan bitta float32 qiymatni so'raganda ham butun 64 baytlik satr (16 ta float32) keshga yuklanadi. Agar dastur keyingi qadamda qo'shni elementga murojaat qilsa — u allaqachon keshda; agar 4096 bayt naridagi elementga murojaat qilsa — yangi satr yuklanadi, eskisi esa bekor sarflangan bo'ladi. Shu oddiy mexanizm quyida ko'riladigan o'n baravar farqning asosiy sababidir.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Xotira iyerarxiyasi va uning raqamlari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M5 · Arxitektura va dizayn tamoyillari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7</a:t>
            </a:r>
          </a:p>
        </p:txBody>
      </p:sp>
      <p:graphicFrame>
        <p:nvGraphicFramePr>
          <p:cNvPr id="24" name="Table 23"/>
          <p:cNvGraphicFramePr>
            <a:graphicFrameLocks noGrp="1"/>
          </p:cNvGraphicFramePr>
          <p:nvPr/>
        </p:nvGraphicFramePr>
        <p:xfrm>
          <a:off x="550000" y="1400000"/>
          <a:ext cx="11100000" cy="4680000"/>
        </p:xfrm>
        <a:graphic>
          <a:graphicData uri="http://schemas.openxmlformats.org/drawingml/2006/table">
            <a:tbl>
              <a:tblPr firstRow="1" bandRow="1">
                <a:tableStyleId>{5C22544A-7EE6-4342-B048-85BDC9FD1C3A}</a:tableStyleId>
              </a:tblPr>
              <a:tblGrid>
                <a:gridCol w="2775000"/>
                <a:gridCol w="2775000"/>
                <a:gridCol w="2775000"/>
                <a:gridCol w="2775000"/>
              </a:tblGrid>
              <a:tr h="520000">
                <a:tc>
                  <a:txBody>
                    <a:bodyPr/>
                    <a:lstStyle/>
                    <a:p>
                      <a:r>
                        <a:rPr sz="1200" b="1">
                          <a:solidFill>
                            <a:srgbClr val="22D3EE"/>
                          </a:solidFill>
                          <a:latin typeface="Segoe UI"/>
                        </a:rPr>
                        <a:t>Pog'ona</a:t>
                      </a:r>
                    </a:p>
                  </a:txBody>
                  <a:tcPr>
                    <a:solidFill>
                      <a:srgbClr val="1C2755"/>
                    </a:solidFill>
                  </a:tcPr>
                </a:tc>
                <a:tc>
                  <a:txBody>
                    <a:bodyPr/>
                    <a:lstStyle/>
                    <a:p>
                      <a:r>
                        <a:rPr sz="1200" b="1">
                          <a:solidFill>
                            <a:srgbClr val="22D3EE"/>
                          </a:solidFill>
                          <a:latin typeface="Segoe UI"/>
                        </a:rPr>
                        <a:t>Tipik hajm</a:t>
                      </a:r>
                    </a:p>
                  </a:txBody>
                  <a:tcPr>
                    <a:solidFill>
                      <a:srgbClr val="1C2755"/>
                    </a:solidFill>
                  </a:tcPr>
                </a:tc>
                <a:tc>
                  <a:txBody>
                    <a:bodyPr/>
                    <a:lstStyle/>
                    <a:p>
                      <a:r>
                        <a:rPr sz="1200" b="1">
                          <a:solidFill>
                            <a:srgbClr val="22D3EE"/>
                          </a:solidFill>
                          <a:latin typeface="Segoe UI"/>
                        </a:rPr>
                        <a:t>Kechikish</a:t>
                      </a:r>
                    </a:p>
                  </a:txBody>
                  <a:tcPr>
                    <a:solidFill>
                      <a:srgbClr val="1C2755"/>
                    </a:solidFill>
                  </a:tcPr>
                </a:tc>
                <a:tc>
                  <a:txBody>
                    <a:bodyPr/>
                    <a:lstStyle/>
                    <a:p>
                      <a:r>
                        <a:rPr sz="1200" b="1">
                          <a:solidFill>
                            <a:srgbClr val="22D3EE"/>
                          </a:solidFill>
                          <a:latin typeface="Segoe UI"/>
                        </a:rPr>
                        <a:t>O'tkazuvchanlik (bir yadro yoki qurilma)</a:t>
                      </a:r>
                    </a:p>
                  </a:txBody>
                  <a:tcPr>
                    <a:solidFill>
                      <a:srgbClr val="1C2755"/>
                    </a:solidFill>
                  </a:tcPr>
                </a:tc>
              </a:tr>
              <a:tr h="520000">
                <a:tc>
                  <a:txBody>
                    <a:bodyPr/>
                    <a:lstStyle/>
                    <a:p>
                      <a:r>
                        <a:rPr sz="1200" b="0">
                          <a:solidFill>
                            <a:srgbClr val="E8EEFA"/>
                          </a:solidFill>
                          <a:latin typeface="Segoe UI"/>
                        </a:rPr>
                        <a:t>Registrlar</a:t>
                      </a:r>
                    </a:p>
                  </a:txBody>
                  <a:tcPr>
                    <a:solidFill>
                      <a:srgbClr val="111834"/>
                    </a:solidFill>
                  </a:tcPr>
                </a:tc>
                <a:tc>
                  <a:txBody>
                    <a:bodyPr/>
                    <a:lstStyle/>
                    <a:p>
                      <a:r>
                        <a:rPr sz="1200" b="0">
                          <a:solidFill>
                            <a:srgbClr val="E8EEFA"/>
                          </a:solidFill>
                          <a:latin typeface="Segoe UI"/>
                        </a:rPr>
                        <a:t>bir necha KB</a:t>
                      </a:r>
                    </a:p>
                  </a:txBody>
                  <a:tcPr>
                    <a:solidFill>
                      <a:srgbClr val="111834"/>
                    </a:solidFill>
                  </a:tcPr>
                </a:tc>
                <a:tc>
                  <a:txBody>
                    <a:bodyPr/>
                    <a:lstStyle/>
                    <a:p>
                      <a:r>
                        <a:rPr sz="1200" b="0">
                          <a:solidFill>
                            <a:srgbClr val="E8EEFA"/>
                          </a:solidFill>
                          <a:latin typeface="Segoe UI"/>
                        </a:rPr>
                        <a:t>1 sikl (~0,3 ns)</a:t>
                      </a:r>
                    </a:p>
                  </a:txBody>
                  <a:tcPr>
                    <a:solidFill>
                      <a:srgbClr val="111834"/>
                    </a:solidFill>
                  </a:tcPr>
                </a:tc>
                <a:tc>
                  <a:txBody>
                    <a:bodyPr/>
                    <a:lstStyle/>
                    <a:p>
                      <a:r>
                        <a:rPr sz="1200" b="0">
                          <a:solidFill>
                            <a:srgbClr val="E8EEFA"/>
                          </a:solidFill>
                          <a:latin typeface="Segoe UI"/>
                        </a:rPr>
                        <a:t>juda yuqori</a:t>
                      </a:r>
                    </a:p>
                  </a:txBody>
                  <a:tcPr>
                    <a:solidFill>
                      <a:srgbClr val="111834"/>
                    </a:solidFill>
                  </a:tcPr>
                </a:tc>
              </a:tr>
              <a:tr h="520000">
                <a:tc>
                  <a:txBody>
                    <a:bodyPr/>
                    <a:lstStyle/>
                    <a:p>
                      <a:r>
                        <a:rPr sz="1200" b="0">
                          <a:solidFill>
                            <a:srgbClr val="E8EEFA"/>
                          </a:solidFill>
                          <a:latin typeface="Segoe UI"/>
                        </a:rPr>
                        <a:t>L1 kesh (ma'lumot)</a:t>
                      </a:r>
                    </a:p>
                  </a:txBody>
                  <a:tcPr>
                    <a:solidFill>
                      <a:srgbClr val="161F40"/>
                    </a:solidFill>
                  </a:tcPr>
                </a:tc>
                <a:tc>
                  <a:txBody>
                    <a:bodyPr/>
                    <a:lstStyle/>
                    <a:p>
                      <a:r>
                        <a:rPr sz="1200" b="0">
                          <a:solidFill>
                            <a:srgbClr val="E8EEFA"/>
                          </a:solidFill>
                          <a:latin typeface="Segoe UI"/>
                        </a:rPr>
                        <a:t>32–48 KB / yadro</a:t>
                      </a:r>
                    </a:p>
                  </a:txBody>
                  <a:tcPr>
                    <a:solidFill>
                      <a:srgbClr val="161F40"/>
                    </a:solidFill>
                  </a:tcPr>
                </a:tc>
                <a:tc>
                  <a:txBody>
                    <a:bodyPr/>
                    <a:lstStyle/>
                    <a:p>
                      <a:r>
                        <a:rPr sz="1200" b="0">
                          <a:solidFill>
                            <a:srgbClr val="E8EEFA"/>
                          </a:solidFill>
                          <a:latin typeface="Segoe UI"/>
                        </a:rPr>
                        <a:t>4–5 sikl (~1 ns)</a:t>
                      </a:r>
                    </a:p>
                  </a:txBody>
                  <a:tcPr>
                    <a:solidFill>
                      <a:srgbClr val="161F40"/>
                    </a:solidFill>
                  </a:tcPr>
                </a:tc>
                <a:tc>
                  <a:txBody>
                    <a:bodyPr/>
                    <a:lstStyle/>
                    <a:p>
                      <a:r>
                        <a:rPr sz="1200" b="0">
                          <a:solidFill>
                            <a:srgbClr val="E8EEFA"/>
                          </a:solidFill>
                          <a:latin typeface="Segoe UI"/>
                        </a:rPr>
                        <a:t>~100–200 GB/s / yadro</a:t>
                      </a:r>
                    </a:p>
                  </a:txBody>
                  <a:tcPr>
                    <a:solidFill>
                      <a:srgbClr val="161F40"/>
                    </a:solidFill>
                  </a:tcPr>
                </a:tc>
              </a:tr>
              <a:tr h="520000">
                <a:tc>
                  <a:txBody>
                    <a:bodyPr/>
                    <a:lstStyle/>
                    <a:p>
                      <a:r>
                        <a:rPr sz="1200" b="0">
                          <a:solidFill>
                            <a:srgbClr val="E8EEFA"/>
                          </a:solidFill>
                          <a:latin typeface="Segoe UI"/>
                        </a:rPr>
                        <a:t>L2 kesh</a:t>
                      </a:r>
                    </a:p>
                  </a:txBody>
                  <a:tcPr>
                    <a:solidFill>
                      <a:srgbClr val="111834"/>
                    </a:solidFill>
                  </a:tcPr>
                </a:tc>
                <a:tc>
                  <a:txBody>
                    <a:bodyPr/>
                    <a:lstStyle/>
                    <a:p>
                      <a:r>
                        <a:rPr sz="1200" b="0">
                          <a:solidFill>
                            <a:srgbClr val="E8EEFA"/>
                          </a:solidFill>
                          <a:latin typeface="Segoe UI"/>
                        </a:rPr>
                        <a:t>1–2 MB / yadro</a:t>
                      </a:r>
                    </a:p>
                  </a:txBody>
                  <a:tcPr>
                    <a:solidFill>
                      <a:srgbClr val="111834"/>
                    </a:solidFill>
                  </a:tcPr>
                </a:tc>
                <a:tc>
                  <a:txBody>
                    <a:bodyPr/>
                    <a:lstStyle/>
                    <a:p>
                      <a:r>
                        <a:rPr sz="1200" b="0">
                          <a:solidFill>
                            <a:srgbClr val="E8EEFA"/>
                          </a:solidFill>
                          <a:latin typeface="Segoe UI"/>
                        </a:rPr>
                        <a:t>12–16 sikl (~4 ns)</a:t>
                      </a:r>
                    </a:p>
                  </a:txBody>
                  <a:tcPr>
                    <a:solidFill>
                      <a:srgbClr val="111834"/>
                    </a:solidFill>
                  </a:tcPr>
                </a:tc>
                <a:tc>
                  <a:txBody>
                    <a:bodyPr/>
                    <a:lstStyle/>
                    <a:p>
                      <a:r>
                        <a:rPr sz="1200" b="0">
                          <a:solidFill>
                            <a:srgbClr val="E8EEFA"/>
                          </a:solidFill>
                          <a:latin typeface="Segoe UI"/>
                        </a:rPr>
                        <a:t>~50–100 GB/s / yadro</a:t>
                      </a:r>
                    </a:p>
                  </a:txBody>
                  <a:tcPr>
                    <a:solidFill>
                      <a:srgbClr val="111834"/>
                    </a:solidFill>
                  </a:tcPr>
                </a:tc>
              </a:tr>
              <a:tr h="520000">
                <a:tc>
                  <a:txBody>
                    <a:bodyPr/>
                    <a:lstStyle/>
                    <a:p>
                      <a:r>
                        <a:rPr sz="1200" b="0">
                          <a:solidFill>
                            <a:srgbClr val="E8EEFA"/>
                          </a:solidFill>
                          <a:latin typeface="Segoe UI"/>
                        </a:rPr>
                        <a:t>L3 kesh (umumiy)</a:t>
                      </a:r>
                    </a:p>
                  </a:txBody>
                  <a:tcPr>
                    <a:solidFill>
                      <a:srgbClr val="161F40"/>
                    </a:solidFill>
                  </a:tcPr>
                </a:tc>
                <a:tc>
                  <a:txBody>
                    <a:bodyPr/>
                    <a:lstStyle/>
                    <a:p>
                      <a:r>
                        <a:rPr sz="1200" b="0">
                          <a:solidFill>
                            <a:srgbClr val="E8EEFA"/>
                          </a:solidFill>
                          <a:latin typeface="Segoe UI"/>
                        </a:rPr>
                        <a:t>32–384 MB / soket</a:t>
                      </a:r>
                    </a:p>
                  </a:txBody>
                  <a:tcPr>
                    <a:solidFill>
                      <a:srgbClr val="161F40"/>
                    </a:solidFill>
                  </a:tcPr>
                </a:tc>
                <a:tc>
                  <a:txBody>
                    <a:bodyPr/>
                    <a:lstStyle/>
                    <a:p>
                      <a:r>
                        <a:rPr sz="1200" b="0">
                          <a:solidFill>
                            <a:srgbClr val="E8EEFA"/>
                          </a:solidFill>
                          <a:latin typeface="Segoe UI"/>
                        </a:rPr>
                        <a:t>40–80 sikl (~15–40 ns)</a:t>
                      </a:r>
                    </a:p>
                  </a:txBody>
                  <a:tcPr>
                    <a:solidFill>
                      <a:srgbClr val="161F40"/>
                    </a:solidFill>
                  </a:tcPr>
                </a:tc>
                <a:tc>
                  <a:txBody>
                    <a:bodyPr/>
                    <a:lstStyle/>
                    <a:p>
                      <a:r>
                        <a:rPr sz="1200" b="0">
                          <a:solidFill>
                            <a:srgbClr val="E8EEFA"/>
                          </a:solidFill>
                          <a:latin typeface="Segoe UI"/>
                        </a:rPr>
                        <a:t>bir necha yuz GB/s / soket</a:t>
                      </a:r>
                    </a:p>
                  </a:txBody>
                  <a:tcPr>
                    <a:solidFill>
                      <a:srgbClr val="161F40"/>
                    </a:solidFill>
                  </a:tcPr>
                </a:tc>
              </a:tr>
              <a:tr h="520000">
                <a:tc>
                  <a:txBody>
                    <a:bodyPr/>
                    <a:lstStyle/>
                    <a:p>
                      <a:r>
                        <a:rPr sz="1200" b="0">
                          <a:solidFill>
                            <a:srgbClr val="E8EEFA"/>
                          </a:solidFill>
                          <a:latin typeface="Segoe UI"/>
                        </a:rPr>
                        <a:t>DRAM (DDR5, 8 kanal)</a:t>
                      </a:r>
                    </a:p>
                  </a:txBody>
                  <a:tcPr>
                    <a:solidFill>
                      <a:srgbClr val="111834"/>
                    </a:solidFill>
                  </a:tcPr>
                </a:tc>
                <a:tc>
                  <a:txBody>
                    <a:bodyPr/>
                    <a:lstStyle/>
                    <a:p>
                      <a:r>
                        <a:rPr sz="1200" b="0">
                          <a:solidFill>
                            <a:srgbClr val="E8EEFA"/>
                          </a:solidFill>
                          <a:latin typeface="Segoe UI"/>
                        </a:rPr>
                        <a:t>256 GB – 2 TB</a:t>
                      </a:r>
                    </a:p>
                  </a:txBody>
                  <a:tcPr>
                    <a:solidFill>
                      <a:srgbClr val="111834"/>
                    </a:solidFill>
                  </a:tcPr>
                </a:tc>
                <a:tc>
                  <a:txBody>
                    <a:bodyPr/>
                    <a:lstStyle/>
                    <a:p>
                      <a:r>
                        <a:rPr sz="1200" b="0">
                          <a:solidFill>
                            <a:srgbClr val="E8EEFA"/>
                          </a:solidFill>
                          <a:latin typeface="Segoe UI"/>
                        </a:rPr>
                        <a:t>~80–120 ns</a:t>
                      </a:r>
                    </a:p>
                  </a:txBody>
                  <a:tcPr>
                    <a:solidFill>
                      <a:srgbClr val="111834"/>
                    </a:solidFill>
                  </a:tcPr>
                </a:tc>
                <a:tc>
                  <a:txBody>
                    <a:bodyPr/>
                    <a:lstStyle/>
                    <a:p>
                      <a:r>
                        <a:rPr sz="1200" b="0">
                          <a:solidFill>
                            <a:srgbClr val="E8EEFA"/>
                          </a:solidFill>
                          <a:latin typeface="Segoe UI"/>
                        </a:rPr>
                        <a:t>~300–400 GB/s / soket</a:t>
                      </a:r>
                    </a:p>
                  </a:txBody>
                  <a:tcPr>
                    <a:solidFill>
                      <a:srgbClr val="111834"/>
                    </a:solidFill>
                  </a:tcPr>
                </a:tc>
              </a:tr>
              <a:tr h="520000">
                <a:tc>
                  <a:txBody>
                    <a:bodyPr/>
                    <a:lstStyle/>
                    <a:p>
                      <a:r>
                        <a:rPr sz="1200" b="0">
                          <a:solidFill>
                            <a:srgbClr val="E8EEFA"/>
                          </a:solidFill>
                          <a:latin typeface="Segoe UI"/>
                        </a:rPr>
                        <a:t>Uzoq NUMA tugun DRAM'i</a:t>
                      </a:r>
                    </a:p>
                  </a:txBody>
                  <a:tcPr>
                    <a:solidFill>
                      <a:srgbClr val="161F40"/>
                    </a:solidFill>
                  </a:tcPr>
                </a:tc>
                <a:tc>
                  <a:txBody>
                    <a:bodyPr/>
                    <a:lstStyle/>
                    <a:p>
                      <a:r>
                        <a:rPr sz="1200" b="0">
                          <a:solidFill>
                            <a:srgbClr val="E8EEFA"/>
                          </a:solidFill>
                          <a:latin typeface="Segoe UI"/>
                        </a:rPr>
                        <a:t>–</a:t>
                      </a:r>
                    </a:p>
                  </a:txBody>
                  <a:tcPr>
                    <a:solidFill>
                      <a:srgbClr val="161F40"/>
                    </a:solidFill>
                  </a:tcPr>
                </a:tc>
                <a:tc>
                  <a:txBody>
                    <a:bodyPr/>
                    <a:lstStyle/>
                    <a:p>
                      <a:r>
                        <a:rPr sz="1200" b="0">
                          <a:solidFill>
                            <a:srgbClr val="E8EEFA"/>
                          </a:solidFill>
                          <a:latin typeface="Segoe UI"/>
                        </a:rPr>
                        <a:t>~130–200 ns</a:t>
                      </a:r>
                    </a:p>
                  </a:txBody>
                  <a:tcPr>
                    <a:solidFill>
                      <a:srgbClr val="161F40"/>
                    </a:solidFill>
                  </a:tcPr>
                </a:tc>
                <a:tc>
                  <a:txBody>
                    <a:bodyPr/>
                    <a:lstStyle/>
                    <a:p>
                      <a:r>
                        <a:rPr sz="1200" b="0">
                          <a:solidFill>
                            <a:srgbClr val="E8EEFA"/>
                          </a:solidFill>
                          <a:latin typeface="Segoe UI"/>
                        </a:rPr>
                        <a:t>tugunlararo havola bilan cheklangan</a:t>
                      </a:r>
                    </a:p>
                  </a:txBody>
                  <a:tcPr>
                    <a:solidFill>
                      <a:srgbClr val="161F40"/>
                    </a:solidFill>
                  </a:tcPr>
                </a:tc>
              </a:tr>
              <a:tr h="520000">
                <a:tc>
                  <a:txBody>
                    <a:bodyPr/>
                    <a:lstStyle/>
                    <a:p>
                      <a:r>
                        <a:rPr sz="1200" b="0">
                          <a:solidFill>
                            <a:srgbClr val="E8EEFA"/>
                          </a:solidFill>
                          <a:latin typeface="Segoe UI"/>
                        </a:rPr>
                        <a:t>GPU HBM3 (H100)</a:t>
                      </a:r>
                    </a:p>
                  </a:txBody>
                  <a:tcPr>
                    <a:solidFill>
                      <a:srgbClr val="111834"/>
                    </a:solidFill>
                  </a:tcPr>
                </a:tc>
                <a:tc>
                  <a:txBody>
                    <a:bodyPr/>
                    <a:lstStyle/>
                    <a:p>
                      <a:r>
                        <a:rPr sz="1200" b="0">
                          <a:solidFill>
                            <a:srgbClr val="E8EEFA"/>
                          </a:solidFill>
                          <a:latin typeface="Segoe UI"/>
                        </a:rPr>
                        <a:t>80 GB</a:t>
                      </a:r>
                    </a:p>
                  </a:txBody>
                  <a:tcPr>
                    <a:solidFill>
                      <a:srgbClr val="111834"/>
                    </a:solidFill>
                  </a:tcPr>
                </a:tc>
                <a:tc>
                  <a:txBody>
                    <a:bodyPr/>
                    <a:lstStyle/>
                    <a:p>
                      <a:r>
                        <a:rPr sz="1200" b="0">
                          <a:solidFill>
                            <a:srgbClr val="E8EEFA"/>
                          </a:solidFill>
                          <a:latin typeface="Segoe UI"/>
                        </a:rPr>
                        <a:t>~500–700 ns</a:t>
                      </a:r>
                    </a:p>
                  </a:txBody>
                  <a:tcPr>
                    <a:solidFill>
                      <a:srgbClr val="111834"/>
                    </a:solidFill>
                  </a:tcPr>
                </a:tc>
                <a:tc>
                  <a:txBody>
                    <a:bodyPr/>
                    <a:lstStyle/>
                    <a:p>
                      <a:r>
                        <a:rPr sz="1200" b="0">
                          <a:solidFill>
                            <a:srgbClr val="E8EEFA"/>
                          </a:solidFill>
                          <a:latin typeface="Segoe UI"/>
                        </a:rPr>
                        <a:t>~3,35 TB/s</a:t>
                      </a:r>
                    </a:p>
                  </a:txBody>
                  <a:tcPr>
                    <a:solidFill>
                      <a:srgbClr val="111834"/>
                    </a:solidFill>
                  </a:tcPr>
                </a:tc>
              </a:tr>
              <a:tr h="520000">
                <a:tc>
                  <a:txBody>
                    <a:bodyPr/>
                    <a:lstStyle/>
                    <a:p>
                      <a:r>
                        <a:rPr sz="1200" b="0">
                          <a:solidFill>
                            <a:srgbClr val="E8EEFA"/>
                          </a:solidFill>
                          <a:latin typeface="Segoe UI"/>
                        </a:rPr>
                        <a:t>PCIe 5.0 x16 (CPU–GPU)</a:t>
                      </a:r>
                    </a:p>
                  </a:txBody>
                  <a:tcPr>
                    <a:solidFill>
                      <a:srgbClr val="161F40"/>
                    </a:solidFill>
                  </a:tcPr>
                </a:tc>
                <a:tc>
                  <a:txBody>
                    <a:bodyPr/>
                    <a:lstStyle/>
                    <a:p>
                      <a:r>
                        <a:rPr sz="1200" b="0">
                          <a:solidFill>
                            <a:srgbClr val="E8EEFA"/>
                          </a:solidFill>
                          <a:latin typeface="Segoe UI"/>
                        </a:rPr>
                        <a:t>–</a:t>
                      </a:r>
                    </a:p>
                  </a:txBody>
                  <a:tcPr>
                    <a:solidFill>
                      <a:srgbClr val="161F40"/>
                    </a:solidFill>
                  </a:tcPr>
                </a:tc>
                <a:tc>
                  <a:txBody>
                    <a:bodyPr/>
                    <a:lstStyle/>
                    <a:p>
                      <a:r>
                        <a:rPr sz="1200" b="0">
                          <a:solidFill>
                            <a:srgbClr val="E8EEFA"/>
                          </a:solidFill>
                          <a:latin typeface="Segoe UI"/>
                        </a:rPr>
                        <a:t>mikrosekundlar</a:t>
                      </a:r>
                    </a:p>
                  </a:txBody>
                  <a:tcPr>
                    <a:solidFill>
                      <a:srgbClr val="161F40"/>
                    </a:solidFill>
                  </a:tcPr>
                </a:tc>
                <a:tc>
                  <a:txBody>
                    <a:bodyPr/>
                    <a:lstStyle/>
                    <a:p>
                      <a:r>
                        <a:rPr sz="1200" b="0">
                          <a:solidFill>
                            <a:srgbClr val="E8EEFA"/>
                          </a:solidFill>
                          <a:latin typeface="Segoe UI"/>
                        </a:rPr>
                        <a:t>~64 GB/s (bir yo'nalish)</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wipe(left)">
                                      <p:cBhvr>
                                        <p:cTn id="16" dur="8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Xotira iyerarxiyasi va uning raqamlari (davomi)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M5 · Arxitektura va dizayn tamoyillari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8</a:t>
            </a:r>
          </a:p>
        </p:txBody>
      </p:sp>
      <p:graphicFrame>
        <p:nvGraphicFramePr>
          <p:cNvPr id="25" name="Table 24"/>
          <p:cNvGraphicFramePr>
            <a:graphicFrameLocks noGrp="1"/>
          </p:cNvGraphicFramePr>
          <p:nvPr/>
        </p:nvGraphicFramePr>
        <p:xfrm>
          <a:off x="550000" y="1400000"/>
          <a:ext cx="11100000" cy="1040000"/>
        </p:xfrm>
        <a:graphic>
          <a:graphicData uri="http://schemas.openxmlformats.org/drawingml/2006/table">
            <a:tbl>
              <a:tblPr firstRow="1" bandRow="1">
                <a:tableStyleId>{5C22544A-7EE6-4342-B048-85BDC9FD1C3A}</a:tableStyleId>
              </a:tblPr>
              <a:tblGrid>
                <a:gridCol w="2775000"/>
                <a:gridCol w="2775000"/>
                <a:gridCol w="2775000"/>
                <a:gridCol w="2775000"/>
              </a:tblGrid>
              <a:tr h="520000">
                <a:tc>
                  <a:txBody>
                    <a:bodyPr/>
                    <a:lstStyle/>
                    <a:p>
                      <a:r>
                        <a:rPr sz="1200" b="1">
                          <a:solidFill>
                            <a:srgbClr val="22D3EE"/>
                          </a:solidFill>
                          <a:latin typeface="Segoe UI"/>
                        </a:rPr>
                        <a:t>Pog'ona</a:t>
                      </a:r>
                    </a:p>
                  </a:txBody>
                  <a:tcPr>
                    <a:solidFill>
                      <a:srgbClr val="1C2755"/>
                    </a:solidFill>
                  </a:tcPr>
                </a:tc>
                <a:tc>
                  <a:txBody>
                    <a:bodyPr/>
                    <a:lstStyle/>
                    <a:p>
                      <a:r>
                        <a:rPr sz="1200" b="1">
                          <a:solidFill>
                            <a:srgbClr val="22D3EE"/>
                          </a:solidFill>
                          <a:latin typeface="Segoe UI"/>
                        </a:rPr>
                        <a:t>Tipik hajm</a:t>
                      </a:r>
                    </a:p>
                  </a:txBody>
                  <a:tcPr>
                    <a:solidFill>
                      <a:srgbClr val="1C2755"/>
                    </a:solidFill>
                  </a:tcPr>
                </a:tc>
                <a:tc>
                  <a:txBody>
                    <a:bodyPr/>
                    <a:lstStyle/>
                    <a:p>
                      <a:r>
                        <a:rPr sz="1200" b="1">
                          <a:solidFill>
                            <a:srgbClr val="22D3EE"/>
                          </a:solidFill>
                          <a:latin typeface="Segoe UI"/>
                        </a:rPr>
                        <a:t>Kechikish</a:t>
                      </a:r>
                    </a:p>
                  </a:txBody>
                  <a:tcPr>
                    <a:solidFill>
                      <a:srgbClr val="1C2755"/>
                    </a:solidFill>
                  </a:tcPr>
                </a:tc>
                <a:tc>
                  <a:txBody>
                    <a:bodyPr/>
                    <a:lstStyle/>
                    <a:p>
                      <a:r>
                        <a:rPr sz="1200" b="1">
                          <a:solidFill>
                            <a:srgbClr val="22D3EE"/>
                          </a:solidFill>
                          <a:latin typeface="Segoe UI"/>
                        </a:rPr>
                        <a:t>O'tkazuvchanlik (bir yadro yoki qurilma)</a:t>
                      </a:r>
                    </a:p>
                  </a:txBody>
                  <a:tcPr>
                    <a:solidFill>
                      <a:srgbClr val="1C2755"/>
                    </a:solidFill>
                  </a:tcPr>
                </a:tc>
              </a:tr>
              <a:tr h="520000">
                <a:tc>
                  <a:txBody>
                    <a:bodyPr/>
                    <a:lstStyle/>
                    <a:p>
                      <a:r>
                        <a:rPr sz="1200" b="0">
                          <a:solidFill>
                            <a:srgbClr val="E8EEFA"/>
                          </a:solidFill>
                          <a:latin typeface="Segoe UI"/>
                        </a:rPr>
                        <a:t>NVMe SSD</a:t>
                      </a:r>
                    </a:p>
                  </a:txBody>
                  <a:tcPr>
                    <a:solidFill>
                      <a:srgbClr val="111834"/>
                    </a:solidFill>
                  </a:tcPr>
                </a:tc>
                <a:tc>
                  <a:txBody>
                    <a:bodyPr/>
                    <a:lstStyle/>
                    <a:p>
                      <a:r>
                        <a:rPr sz="1200" b="0">
                          <a:solidFill>
                            <a:srgbClr val="E8EEFA"/>
                          </a:solidFill>
                          <a:latin typeface="Segoe UI"/>
                        </a:rPr>
                        <a:t>TB'lar</a:t>
                      </a:r>
                    </a:p>
                  </a:txBody>
                  <a:tcPr>
                    <a:solidFill>
                      <a:srgbClr val="111834"/>
                    </a:solidFill>
                  </a:tcPr>
                </a:tc>
                <a:tc>
                  <a:txBody>
                    <a:bodyPr/>
                    <a:lstStyle/>
                    <a:p>
                      <a:r>
                        <a:rPr sz="1200" b="0">
                          <a:solidFill>
                            <a:srgbClr val="E8EEFA"/>
                          </a:solidFill>
                          <a:latin typeface="Segoe UI"/>
                        </a:rPr>
                        <a:t>~10–100 mks</a:t>
                      </a:r>
                    </a:p>
                  </a:txBody>
                  <a:tcPr>
                    <a:solidFill>
                      <a:srgbClr val="111834"/>
                    </a:solidFill>
                  </a:tcPr>
                </a:tc>
                <a:tc>
                  <a:txBody>
                    <a:bodyPr/>
                    <a:lstStyle/>
                    <a:p>
                      <a:r>
                        <a:rPr sz="1200" b="0">
                          <a:solidFill>
                            <a:srgbClr val="E8EEFA"/>
                          </a:solidFill>
                          <a:latin typeface="Segoe UI"/>
                        </a:rPr>
                        <a:t>5–14 GB/s</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left)">
                                      <p:cBhvr>
                                        <p:cTn id="16" dur="8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d7780c0a50920136.jpg"/>
          <p:cNvPicPr>
            <a:picLocks noChangeAspect="1"/>
          </p:cNvPicPr>
          <p:nvPr/>
        </p:nvPicPr>
        <p:blipFill>
          <a:blip r:embed="rId2"/>
          <a:srcRect t="5114" b="5114"/>
          <a:stretch>
            <a:fillRect/>
          </a:stretch>
        </p:blipFill>
        <p:spPr>
          <a:xfrm>
            <a:off x="6300000" y="800000"/>
            <a:ext cx="5300000" cy="4950000"/>
          </a:xfrm>
          <a:prstGeom prst="roundRect">
            <a:avLst/>
          </a:prstGeom>
          <a:ln w="19050">
            <a:solidFill>
              <a:srgbClr val="22D3EE"/>
            </a:solidFill>
          </a:ln>
        </p:spPr>
      </p:pic>
      <p:sp>
        <p:nvSpPr>
          <p:cNvPr id="42" name="TextBox 41"/>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David · Wikimedia Commons · CC BY 2.0</a:t>
            </a:r>
          </a:p>
        </p:txBody>
      </p:sp>
      <p:sp>
        <p:nvSpPr>
          <p:cNvPr id="43" name="TextBox 42"/>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02</a:t>
            </a:r>
          </a:p>
        </p:txBody>
      </p:sp>
      <p:sp>
        <p:nvSpPr>
          <p:cNvPr id="44" name="TextBox 43"/>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5" name="TextBox 44"/>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Lokallik: vaqt va fazoviy</a:t>
            </a:r>
          </a:p>
        </p:txBody>
      </p:sp>
      <p:sp>
        <p:nvSpPr>
          <p:cNvPr id="46" name="Rectangle 45"/>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150"/>
                            </p:stCondLst>
                            <p:childTnLst>
                              <p:par>
                                <p:cTn id="152" presetID="53" presetClass="entr" presetSubtype="16"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anim calcmode="lin" valueType="num">
                                      <p:cBhvr additive="base">
                                        <p:cTn id="155" dur="550" fill="hold"/>
                                        <p:tgtEl>
                                          <p:spTgt spid="40"/>
                                        </p:tgtEl>
                                        <p:attrNameLst>
                                          <p:attrName>ppt_w</p:attrName>
                                        </p:attrNameLst>
                                      </p:cBhvr>
                                      <p:tavLst>
                                        <p:tav tm="0">
                                          <p:val>
                                            <p:strVal val="0"/>
                                          </p:val>
                                        </p:tav>
                                        <p:tav tm="100000">
                                          <p:val>
                                            <p:strVal val="#ppt_w"/>
                                          </p:val>
                                        </p:tav>
                                      </p:tavLst>
                                    </p:anim>
                                    <p:anim calcmode="lin" valueType="num">
                                      <p:cBhvr additive="base">
                                        <p:cTn id="156" dur="550" fill="hold"/>
                                        <p:tgtEl>
                                          <p:spTgt spid="40"/>
                                        </p:tgtEl>
                                        <p:attrNameLst>
                                          <p:attrName>ppt_h</p:attrName>
                                        </p:attrNameLst>
                                      </p:cBhvr>
                                      <p:tavLst>
                                        <p:tav tm="0">
                                          <p:val>
                                            <p:strVal val="0"/>
                                          </p:val>
                                        </p:tav>
                                        <p:tav tm="100000">
                                          <p:val>
                                            <p:strVal val="#ppt_h"/>
                                          </p:val>
                                        </p:tav>
                                      </p:tavLst>
                                    </p:anim>
                                  </p:childTnLst>
                                </p:cTn>
                              </p:par>
                            </p:childTnLst>
                          </p:cTn>
                        </p:par>
                        <p:par>
                          <p:cTn id="157" fill="hold">
                            <p:stCondLst>
                              <p:cond delay="150"/>
                            </p:stCondLst>
                            <p:childTnLst>
                              <p:par>
                                <p:cTn id="158" presetID="53" presetClass="entr" presetSubtype="16" fill="hold" grpId="0" nodeType="afterEffect">
                                  <p:stCondLst>
                                    <p:cond delay="0"/>
                                  </p:stCondLst>
                                  <p:childTnLst>
                                    <p:set>
                                      <p:cBhvr>
                                        <p:cTn id="159" dur="1" fill="hold">
                                          <p:stCondLst>
                                            <p:cond delay="0"/>
                                          </p:stCondLst>
                                        </p:cTn>
                                        <p:tgtEl>
                                          <p:spTgt spid="41"/>
                                        </p:tgtEl>
                                        <p:attrNameLst>
                                          <p:attrName>style.visibility</p:attrName>
                                        </p:attrNameLst>
                                      </p:cBhvr>
                                      <p:to>
                                        <p:strVal val="visible"/>
                                      </p:to>
                                    </p:set>
                                    <p:animEffect transition="in" filter="fade">
                                      <p:cBhvr>
                                        <p:cTn id="160" dur="550"/>
                                        <p:tgtEl>
                                          <p:spTgt spid="41"/>
                                        </p:tgtEl>
                                      </p:cBhvr>
                                    </p:animEffect>
                                    <p:anim calcmode="lin" valueType="num">
                                      <p:cBhvr additive="base">
                                        <p:cTn id="161" dur="550" fill="hold"/>
                                        <p:tgtEl>
                                          <p:spTgt spid="41"/>
                                        </p:tgtEl>
                                        <p:attrNameLst>
                                          <p:attrName>ppt_w</p:attrName>
                                        </p:attrNameLst>
                                      </p:cBhvr>
                                      <p:tavLst>
                                        <p:tav tm="0">
                                          <p:val>
                                            <p:strVal val="0"/>
                                          </p:val>
                                        </p:tav>
                                        <p:tav tm="100000">
                                          <p:val>
                                            <p:strVal val="#ppt_w"/>
                                          </p:val>
                                        </p:tav>
                                      </p:tavLst>
                                    </p:anim>
                                    <p:anim calcmode="lin" valueType="num">
                                      <p:cBhvr additive="base">
                                        <p:cTn id="162" dur="550" fill="hold"/>
                                        <p:tgtEl>
                                          <p:spTgt spid="41"/>
                                        </p:tgtEl>
                                        <p:attrNameLst>
                                          <p:attrName>ppt_h</p:attrName>
                                        </p:attrNameLst>
                                      </p:cBhvr>
                                      <p:tavLst>
                                        <p:tav tm="0">
                                          <p:val>
                                            <p:strVal val="0"/>
                                          </p:val>
                                        </p:tav>
                                        <p:tav tm="100000">
                                          <p:val>
                                            <p:strVal val="#ppt_h"/>
                                          </p:val>
                                        </p:tav>
                                      </p:tavLst>
                                    </p:anim>
                                  </p:childTnLst>
                                </p:cTn>
                              </p:par>
                            </p:childTnLst>
                          </p:cTn>
                        </p:par>
                        <p:par>
                          <p:cTn id="163" fill="hold">
                            <p:stCondLst>
                              <p:cond delay="150"/>
                            </p:stCondLst>
                            <p:childTnLst>
                              <p:par>
                                <p:cTn id="164" presetID="10" presetClass="entr" presetSubtype="0"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childTnLst>
                                </p:cTn>
                              </p:par>
                            </p:childTnLst>
                          </p:cTn>
                        </p:par>
                        <p:par>
                          <p:cTn id="167" fill="hold">
                            <p:stCondLst>
                              <p:cond delay="350"/>
                            </p:stCondLst>
                            <p:childTnLst>
                              <p:par>
                                <p:cTn id="168" presetID="53" presetClass="entr" presetSubtype="16"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anim calcmode="lin" valueType="num">
                                      <p:cBhvr additive="base">
                                        <p:cTn id="171" dur="550" fill="hold"/>
                                        <p:tgtEl>
                                          <p:spTgt spid="43"/>
                                        </p:tgtEl>
                                        <p:attrNameLst>
                                          <p:attrName>ppt_w</p:attrName>
                                        </p:attrNameLst>
                                      </p:cBhvr>
                                      <p:tavLst>
                                        <p:tav tm="0">
                                          <p:val>
                                            <p:strVal val="0"/>
                                          </p:val>
                                        </p:tav>
                                        <p:tav tm="100000">
                                          <p:val>
                                            <p:strVal val="#ppt_w"/>
                                          </p:val>
                                        </p:tav>
                                      </p:tavLst>
                                    </p:anim>
                                    <p:anim calcmode="lin" valueType="num">
                                      <p:cBhvr additive="base">
                                        <p:cTn id="172" dur="550" fill="hold"/>
                                        <p:tgtEl>
                                          <p:spTgt spid="43"/>
                                        </p:tgtEl>
                                        <p:attrNameLst>
                                          <p:attrName>ppt_h</p:attrName>
                                        </p:attrNameLst>
                                      </p:cBhvr>
                                      <p:tavLst>
                                        <p:tav tm="0">
                                          <p:val>
                                            <p:strVal val="0"/>
                                          </p:val>
                                        </p:tav>
                                        <p:tav tm="100000">
                                          <p:val>
                                            <p:strVal val="#ppt_h"/>
                                          </p:val>
                                        </p:tav>
                                      </p:tavLst>
                                    </p:anim>
                                  </p:childTnLst>
                                </p:cTn>
                              </p:par>
                            </p:childTnLst>
                          </p:cTn>
                        </p:par>
                        <p:par>
                          <p:cTn id="173" fill="hold">
                            <p:stCondLst>
                              <p:cond delay="450"/>
                            </p:stCondLst>
                            <p:childTnLst>
                              <p:par>
                                <p:cTn id="174" presetID="10" presetClass="entr" presetSubtype="0"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Effect transition="in" filter="fade">
                                      <p:cBhvr>
                                        <p:cTn id="176" dur="550"/>
                                        <p:tgtEl>
                                          <p:spTgt spid="44"/>
                                        </p:tgtEl>
                                      </p:cBhvr>
                                    </p:animEffect>
                                  </p:childTnLst>
                                </p:cTn>
                              </p:par>
                            </p:childTnLst>
                          </p:cTn>
                        </p:par>
                        <p:par>
                          <p:cTn id="177" fill="hold">
                            <p:stCondLst>
                              <p:cond delay="550"/>
                            </p:stCondLst>
                            <p:childTnLst>
                              <p:par>
                                <p:cTn id="178" presetID="2" presetClass="entr" presetSubtype="8"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 calcmode="lin" valueType="num">
                                      <p:cBhvr additive="base">
                                        <p:cTn id="181" dur="550" fill="hold"/>
                                        <p:tgtEl>
                                          <p:spTgt spid="45"/>
                                        </p:tgtEl>
                                        <p:attrNameLst>
                                          <p:attrName>ppt_x</p:attrName>
                                        </p:attrNameLst>
                                      </p:cBhvr>
                                      <p:tavLst>
                                        <p:tav tm="0">
                                          <p:val>
                                            <p:strVal val="0-#ppt_w/2"/>
                                          </p:val>
                                        </p:tav>
                                        <p:tav tm="100000">
                                          <p:val>
                                            <p:strVal val="#ppt_x"/>
                                          </p:val>
                                        </p:tav>
                                      </p:tavLst>
                                    </p:anim>
                                    <p:anim calcmode="lin" valueType="num">
                                      <p:cBhvr additive="base">
                                        <p:cTn id="182" dur="550" fill="hold"/>
                                        <p:tgtEl>
                                          <p:spTgt spid="45"/>
                                        </p:tgtEl>
                                        <p:attrNameLst>
                                          <p:attrName>ppt_y</p:attrName>
                                        </p:attrNameLst>
                                      </p:cBhvr>
                                      <p:tavLst>
                                        <p:tav tm="0">
                                          <p:val>
                                            <p:strVal val="#ppt_y"/>
                                          </p:val>
                                        </p:tav>
                                        <p:tav tm="100000">
                                          <p:val>
                                            <p:strVal val="#ppt_y"/>
                                          </p:val>
                                        </p:tav>
                                      </p:tavLst>
                                    </p:anim>
                                  </p:childTnLst>
                                </p:cTn>
                              </p:par>
                            </p:childTnLst>
                          </p:cTn>
                        </p:par>
                        <p:par>
                          <p:cTn id="183" fill="hold">
                            <p:stCondLst>
                              <p:cond delay="650"/>
                            </p:stCondLst>
                            <p:childTnLst>
                              <p:par>
                                <p:cTn id="184" presetID="22" presetClass="entr" presetSubtype="8" fill="hold" grpId="0" nodeType="afterEffect">
                                  <p:stCondLst>
                                    <p:cond delay="0"/>
                                  </p:stCondLst>
                                  <p:childTnLst>
                                    <p:set>
                                      <p:cBhvr>
                                        <p:cTn id="185" dur="1" fill="hold">
                                          <p:stCondLst>
                                            <p:cond delay="0"/>
                                          </p:stCondLst>
                                        </p:cTn>
                                        <p:tgtEl>
                                          <p:spTgt spid="46"/>
                                        </p:tgtEl>
                                        <p:attrNameLst>
                                          <p:attrName>style.visibility</p:attrName>
                                        </p:attrNameLst>
                                      </p:cBhvr>
                                      <p:to>
                                        <p:strVal val="visible"/>
                                      </p:to>
                                    </p:set>
                                    <p:animEffect transition="in" filter="wipe(left)">
                                      <p:cBhvr>
                                        <p:cTn id="187" dur="8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2" grpId="0" animBg="1"/>
      <p:bldP spid="43" grpId="0" animBg="1"/>
      <p:bldP spid="44" grpId="0" animBg="1"/>
      <p:bldP spid="45" grpId="0" animBg="1"/>
      <p:bldP spid="46"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Lokallik: vaqt va fazoviy</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M5 · Arxitektura va dizayn tamoyillari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10</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f06ad7a4ba9f471b.jpg"/>
          <p:cNvPicPr>
            <a:picLocks noChangeAspect="1"/>
          </p:cNvPicPr>
          <p:nvPr/>
        </p:nvPicPr>
        <p:blipFill>
          <a:blip r:embed="rId2"/>
          <a:srcRect l="26288" r="26288"/>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Eric Gaba (Sting - fr:Sting)
 This  image was created with CombineZP by 11  ( I · Wikimedia Commons · CC BY-SA 3.</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063880"/>
            <a:ext cx="6750000" cy="167112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143880"/>
            <a:ext cx="50000" cy="15111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269944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3" name="TextBox 32"/>
          <p:cNvSpPr txBox="1"/>
          <p:nvPr/>
        </p:nvSpPr>
        <p:spPr>
          <a:xfrm>
            <a:off x="1300000" y="2103880"/>
            <a:ext cx="5900000" cy="1591120"/>
          </a:xfrm>
          <a:prstGeom prst="rect">
            <a:avLst/>
          </a:prstGeom>
          <a:noFill/>
        </p:spPr>
        <p:txBody>
          <a:bodyPr wrap="square" anchor="ctr">
            <a:spAutoFit/>
          </a:bodyPr>
          <a:lstStyle/>
          <a:p>
            <a:r>
              <a:rPr sz="1700" b="1">
                <a:solidFill>
                  <a:srgbClr val="E8EEFA"/>
                </a:solidFill>
                <a:latin typeface="Segoe UI"/>
              </a:rPr>
              <a:t>Ma'lumotlar lokalizatsiyasi (data locality) ikki shaklda namoyon bo'ladi.</a:t>
            </a:r>
          </a:p>
          <a:p>
            <a:pPr>
              <a:spcBef>
                <a:spcPts val="400"/>
              </a:spcBef>
            </a:pPr>
            <a:r>
              <a:rPr sz="1600">
                <a:solidFill>
                  <a:srgbClr val="AEBBD9"/>
                </a:solidFill>
                <a:latin typeface="Segoe UI"/>
              </a:rPr>
              <a:t>Vaqt lokalligi (temporal locality) — yaqinda ishlatilgan ma'lumot yaqin orada yana ishlatilishi ehtimoli yuqori; shuning uchun uni keshda ushlab turish foydali.</a:t>
            </a:r>
          </a:p>
        </p:txBody>
      </p:sp>
      <p:sp>
        <p:nvSpPr>
          <p:cNvPr id="34" name="Rounded Rectangle 33"/>
          <p:cNvSpPr/>
          <p:nvPr/>
        </p:nvSpPr>
        <p:spPr>
          <a:xfrm>
            <a:off x="550000" y="3845000"/>
            <a:ext cx="6750000" cy="167112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3925000"/>
            <a:ext cx="50000" cy="151112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448056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7" name="TextBox 36"/>
          <p:cNvSpPr txBox="1"/>
          <p:nvPr/>
        </p:nvSpPr>
        <p:spPr>
          <a:xfrm>
            <a:off x="1300000" y="3885000"/>
            <a:ext cx="5900000" cy="1591120"/>
          </a:xfrm>
          <a:prstGeom prst="rect">
            <a:avLst/>
          </a:prstGeom>
          <a:noFill/>
        </p:spPr>
        <p:txBody>
          <a:bodyPr wrap="square" anchor="ctr">
            <a:spAutoFit/>
          </a:bodyPr>
          <a:lstStyle/>
          <a:p>
            <a:r>
              <a:rPr sz="1700" b="1">
                <a:solidFill>
                  <a:srgbClr val="E8EEFA"/>
                </a:solidFill>
                <a:latin typeface="Segoe UI"/>
              </a:rPr>
              <a:t>Ko'p o'lchovli massivlarda lokallik xotirada joylashish tartibiga bog'liq.</a:t>
            </a:r>
          </a:p>
          <a:p>
            <a:pPr>
              <a:spcBef>
                <a:spcPts val="400"/>
              </a:spcBef>
            </a:pPr>
            <a:r>
              <a:rPr sz="1600">
                <a:solidFill>
                  <a:srgbClr val="AEBBD9"/>
                </a:solidFill>
                <a:latin typeface="Segoe UI"/>
              </a:rPr>
              <a:t>NumPy va PyTorch'da standart tartib — satr-ustuvor (row-major, C-order): A[i, j] elementidan keyin xotirada A[i, j+1] yotadi.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550"/>
                                        <p:tgtEl>
                                          <p:spTgt spid="34"/>
                                        </p:tgtEl>
                                      </p:cBhvr>
                                    </p:animEffect>
                                    <p:anim calcmode="lin" valueType="num">
                                      <p:cBhvr additive="base">
                                        <p:cTn id="60" dur="550" fill="hold"/>
                                        <p:tgtEl>
                                          <p:spTgt spid="34"/>
                                        </p:tgtEl>
                                        <p:attrNameLst>
                                          <p:attrName>ppt_x</p:attrName>
                                        </p:attrNameLst>
                                      </p:cBhvr>
                                      <p:tavLst>
                                        <p:tav tm="0">
                                          <p:val>
                                            <p:strVal val="#ppt_x"/>
                                          </p:val>
                                        </p:tav>
                                        <p:tav tm="100000">
                                          <p:val>
                                            <p:strVal val="#ppt_x"/>
                                          </p:val>
                                        </p:tav>
                                      </p:tavLst>
                                    </p:anim>
                                    <p:anim calcmode="lin" valueType="num">
                                      <p:cBhvr additive="base">
                                        <p:cTn id="61" dur="550" fill="hold"/>
                                        <p:tgtEl>
                                          <p:spTgt spid="34"/>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5"/>
                                        </p:tgtEl>
                                        <p:attrNameLst>
                                          <p:attrName>style.visibility</p:attrName>
                                        </p:attrNameLst>
                                      </p:cBhvr>
                                      <p:to>
                                        <p:strVal val="visible"/>
                                      </p:to>
                                    </p:set>
                                    <p:animEffect transition="in" filter="fade">
                                      <p:cBhvr>
                                        <p:cTn id="65" dur="550"/>
                                        <p:tgtEl>
                                          <p:spTgt spid="35"/>
                                        </p:tgtEl>
                                      </p:cBhvr>
                                    </p:animEffect>
                                    <p:anim calcmode="lin" valueType="num">
                                      <p:cBhvr additive="base">
                                        <p:cTn id="66" dur="550" fill="hold"/>
                                        <p:tgtEl>
                                          <p:spTgt spid="35"/>
                                        </p:tgtEl>
                                        <p:attrNameLst>
                                          <p:attrName>ppt_x</p:attrName>
                                        </p:attrNameLst>
                                      </p:cBhvr>
                                      <p:tavLst>
                                        <p:tav tm="0">
                                          <p:val>
                                            <p:strVal val="#ppt_x"/>
                                          </p:val>
                                        </p:tav>
                                        <p:tav tm="100000">
                                          <p:val>
                                            <p:strVal val="#ppt_x"/>
                                          </p:val>
                                        </p:tav>
                                      </p:tavLst>
                                    </p:anim>
                                    <p:anim calcmode="lin" valueType="num">
                                      <p:cBhvr additive="base">
                                        <p:cTn id="67" dur="550" fill="hold"/>
                                        <p:tgtEl>
                                          <p:spTgt spid="35"/>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6"/>
                                        </p:tgtEl>
                                        <p:attrNameLst>
                                          <p:attrName>style.visibility</p:attrName>
                                        </p:attrNameLst>
                                      </p:cBhvr>
                                      <p:to>
                                        <p:strVal val="visible"/>
                                      </p:to>
                                    </p:set>
                                    <p:animEffect transition="in" filter="fade">
                                      <p:cBhvr>
                                        <p:cTn id="71" dur="550"/>
                                        <p:tgtEl>
                                          <p:spTgt spid="36"/>
                                        </p:tgtEl>
                                      </p:cBhvr>
                                    </p:animEffect>
                                    <p:anim calcmode="lin" valueType="num">
                                      <p:cBhvr additive="base">
                                        <p:cTn id="72" dur="550" fill="hold"/>
                                        <p:tgtEl>
                                          <p:spTgt spid="36"/>
                                        </p:tgtEl>
                                        <p:attrNameLst>
                                          <p:attrName>ppt_w</p:attrName>
                                        </p:attrNameLst>
                                      </p:cBhvr>
                                      <p:tavLst>
                                        <p:tav tm="0">
                                          <p:val>
                                            <p:strVal val="0"/>
                                          </p:val>
                                        </p:tav>
                                        <p:tav tm="100000">
                                          <p:val>
                                            <p:strVal val="#ppt_w"/>
                                          </p:val>
                                        </p:tav>
                                      </p:tavLst>
                                    </p:anim>
                                    <p:anim calcmode="lin" valueType="num">
                                      <p:cBhvr additive="base">
                                        <p:cTn id="73" dur="550" fill="hold"/>
                                        <p:tgtEl>
                                          <p:spTgt spid="36"/>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7"/>
                                        </p:tgtEl>
                                        <p:attrNameLst>
                                          <p:attrName>style.visibility</p:attrName>
                                        </p:attrNameLst>
                                      </p:cBhvr>
                                      <p:to>
                                        <p:strVal val="visible"/>
                                      </p:to>
                                    </p:set>
                                    <p:animEffect transition="in" filter="fade">
                                      <p:cBhvr>
                                        <p:cTn id="77" dur="550"/>
                                        <p:tgtEl>
                                          <p:spTgt spid="37"/>
                                        </p:tgtEl>
                                      </p:cBhvr>
                                    </p:animEffect>
                                    <p:anim calcmode="lin" valueType="num">
                                      <p:cBhvr additive="base">
                                        <p:cTn id="78" dur="550" fill="hold"/>
                                        <p:tgtEl>
                                          <p:spTgt spid="37"/>
                                        </p:tgtEl>
                                        <p:attrNameLst>
                                          <p:attrName>ppt_x</p:attrName>
                                        </p:attrNameLst>
                                      </p:cBhvr>
                                      <p:tavLst>
                                        <p:tav tm="0">
                                          <p:val>
                                            <p:strVal val="#ppt_x"/>
                                          </p:val>
                                        </p:tav>
                                        <p:tav tm="100000">
                                          <p:val>
                                            <p:strVal val="#ppt_x"/>
                                          </p:val>
                                        </p:tav>
                                      </p:tavLst>
                                    </p:anim>
                                    <p:anim calcmode="lin" valueType="num">
                                      <p:cBhvr additive="base">
                                        <p:cTn id="79" dur="550" fill="hold"/>
                                        <p:tgtEl>
                                          <p:spTgt spid="3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Lokallik: vaqt va fazoviy</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M5 · Arxitektura va dizayn tamoyillari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11</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fccdf8c0a9ea0f98.jpg"/>
          <p:cNvPicPr>
            <a:picLocks noChangeAspect="1"/>
          </p:cNvPicPr>
          <p:nvPr/>
        </p:nvPicPr>
        <p:blipFill>
          <a:blip r:embed="rId2"/>
          <a:srcRect l="2353" r="2353"/>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Blake Patterson from Alexandria, VA, USA · Wikimedia Commons · CC BY 2.0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632104"/>
            <a:ext cx="50000" cy="2315792"/>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29" name="TextBox 28"/>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Chuqur o'rganish freymvorklarida bu masala tensor tartibi (memory format) ko'rinishida uchraydi: PyTorch'da konvolyutsion tarmoqlar uchun NCHW (kanal birinchi) va NHWC (channels_last) formatlari mavjud.</a:t>
            </a:r>
          </a:p>
          <a:p>
            <a:pPr>
              <a:spcBef>
                <a:spcPts val="400"/>
              </a:spcBef>
            </a:pPr>
            <a:r>
              <a:rPr sz="1600">
                <a:solidFill>
                  <a:srgbClr val="AEBBD9"/>
                </a:solidFill>
                <a:latin typeface="Segoe UI"/>
              </a:rPr>
              <a:t>Tensor Core va cuDNN kernellari ko'pincha NHWC tartibida tezroq ishlaydi, chunki bitta piksel uchun barcha kanallar xotirada yonma-yon turadi va vektorli yuklash samarali bo'ladi.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ea2bdfa5d53b65a5.jpg"/>
          <p:cNvPicPr>
            <a:picLocks noChangeAspect="1"/>
          </p:cNvPicPr>
          <p:nvPr/>
        </p:nvPicPr>
        <p:blipFill>
          <a:blip r:embed="rId2"/>
          <a:srcRect l="19886" r="19886"/>
          <a:stretch>
            <a:fillRect/>
          </a:stretch>
        </p:blipFill>
        <p:spPr>
          <a:xfrm>
            <a:off x="6300000" y="800000"/>
            <a:ext cx="5300000" cy="4950000"/>
          </a:xfrm>
          <a:prstGeom prst="roundRect">
            <a:avLst/>
          </a:prstGeom>
          <a:ln w="19050">
            <a:solidFill>
              <a:srgbClr val="22D3EE"/>
            </a:solidFill>
          </a:ln>
        </p:spPr>
      </p:pic>
      <p:sp>
        <p:nvSpPr>
          <p:cNvPr id="42" name="TextBox 41"/>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极客湾Geekerwan · Wikimedia Commons · CC BY 3.0</a:t>
            </a:r>
          </a:p>
        </p:txBody>
      </p:sp>
      <p:sp>
        <p:nvSpPr>
          <p:cNvPr id="43" name="TextBox 42"/>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03</a:t>
            </a:r>
          </a:p>
        </p:txBody>
      </p:sp>
      <p:sp>
        <p:nvSpPr>
          <p:cNvPr id="44" name="TextBox 43"/>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5" name="TextBox 44"/>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NUMA arxitekturasi</a:t>
            </a:r>
          </a:p>
        </p:txBody>
      </p:sp>
      <p:sp>
        <p:nvSpPr>
          <p:cNvPr id="46" name="Rectangle 45"/>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150"/>
                            </p:stCondLst>
                            <p:childTnLst>
                              <p:par>
                                <p:cTn id="152" presetID="53" presetClass="entr" presetSubtype="16"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anim calcmode="lin" valueType="num">
                                      <p:cBhvr additive="base">
                                        <p:cTn id="155" dur="550" fill="hold"/>
                                        <p:tgtEl>
                                          <p:spTgt spid="40"/>
                                        </p:tgtEl>
                                        <p:attrNameLst>
                                          <p:attrName>ppt_w</p:attrName>
                                        </p:attrNameLst>
                                      </p:cBhvr>
                                      <p:tavLst>
                                        <p:tav tm="0">
                                          <p:val>
                                            <p:strVal val="0"/>
                                          </p:val>
                                        </p:tav>
                                        <p:tav tm="100000">
                                          <p:val>
                                            <p:strVal val="#ppt_w"/>
                                          </p:val>
                                        </p:tav>
                                      </p:tavLst>
                                    </p:anim>
                                    <p:anim calcmode="lin" valueType="num">
                                      <p:cBhvr additive="base">
                                        <p:cTn id="156" dur="550" fill="hold"/>
                                        <p:tgtEl>
                                          <p:spTgt spid="40"/>
                                        </p:tgtEl>
                                        <p:attrNameLst>
                                          <p:attrName>ppt_h</p:attrName>
                                        </p:attrNameLst>
                                      </p:cBhvr>
                                      <p:tavLst>
                                        <p:tav tm="0">
                                          <p:val>
                                            <p:strVal val="0"/>
                                          </p:val>
                                        </p:tav>
                                        <p:tav tm="100000">
                                          <p:val>
                                            <p:strVal val="#ppt_h"/>
                                          </p:val>
                                        </p:tav>
                                      </p:tavLst>
                                    </p:anim>
                                  </p:childTnLst>
                                </p:cTn>
                              </p:par>
                            </p:childTnLst>
                          </p:cTn>
                        </p:par>
                        <p:par>
                          <p:cTn id="157" fill="hold">
                            <p:stCondLst>
                              <p:cond delay="150"/>
                            </p:stCondLst>
                            <p:childTnLst>
                              <p:par>
                                <p:cTn id="158" presetID="53" presetClass="entr" presetSubtype="16" fill="hold" grpId="0" nodeType="afterEffect">
                                  <p:stCondLst>
                                    <p:cond delay="0"/>
                                  </p:stCondLst>
                                  <p:childTnLst>
                                    <p:set>
                                      <p:cBhvr>
                                        <p:cTn id="159" dur="1" fill="hold">
                                          <p:stCondLst>
                                            <p:cond delay="0"/>
                                          </p:stCondLst>
                                        </p:cTn>
                                        <p:tgtEl>
                                          <p:spTgt spid="41"/>
                                        </p:tgtEl>
                                        <p:attrNameLst>
                                          <p:attrName>style.visibility</p:attrName>
                                        </p:attrNameLst>
                                      </p:cBhvr>
                                      <p:to>
                                        <p:strVal val="visible"/>
                                      </p:to>
                                    </p:set>
                                    <p:animEffect transition="in" filter="fade">
                                      <p:cBhvr>
                                        <p:cTn id="160" dur="550"/>
                                        <p:tgtEl>
                                          <p:spTgt spid="41"/>
                                        </p:tgtEl>
                                      </p:cBhvr>
                                    </p:animEffect>
                                    <p:anim calcmode="lin" valueType="num">
                                      <p:cBhvr additive="base">
                                        <p:cTn id="161" dur="550" fill="hold"/>
                                        <p:tgtEl>
                                          <p:spTgt spid="41"/>
                                        </p:tgtEl>
                                        <p:attrNameLst>
                                          <p:attrName>ppt_w</p:attrName>
                                        </p:attrNameLst>
                                      </p:cBhvr>
                                      <p:tavLst>
                                        <p:tav tm="0">
                                          <p:val>
                                            <p:strVal val="0"/>
                                          </p:val>
                                        </p:tav>
                                        <p:tav tm="100000">
                                          <p:val>
                                            <p:strVal val="#ppt_w"/>
                                          </p:val>
                                        </p:tav>
                                      </p:tavLst>
                                    </p:anim>
                                    <p:anim calcmode="lin" valueType="num">
                                      <p:cBhvr additive="base">
                                        <p:cTn id="162" dur="550" fill="hold"/>
                                        <p:tgtEl>
                                          <p:spTgt spid="41"/>
                                        </p:tgtEl>
                                        <p:attrNameLst>
                                          <p:attrName>ppt_h</p:attrName>
                                        </p:attrNameLst>
                                      </p:cBhvr>
                                      <p:tavLst>
                                        <p:tav tm="0">
                                          <p:val>
                                            <p:strVal val="0"/>
                                          </p:val>
                                        </p:tav>
                                        <p:tav tm="100000">
                                          <p:val>
                                            <p:strVal val="#ppt_h"/>
                                          </p:val>
                                        </p:tav>
                                      </p:tavLst>
                                    </p:anim>
                                  </p:childTnLst>
                                </p:cTn>
                              </p:par>
                            </p:childTnLst>
                          </p:cTn>
                        </p:par>
                        <p:par>
                          <p:cTn id="163" fill="hold">
                            <p:stCondLst>
                              <p:cond delay="150"/>
                            </p:stCondLst>
                            <p:childTnLst>
                              <p:par>
                                <p:cTn id="164" presetID="10" presetClass="entr" presetSubtype="0"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childTnLst>
                                </p:cTn>
                              </p:par>
                            </p:childTnLst>
                          </p:cTn>
                        </p:par>
                        <p:par>
                          <p:cTn id="167" fill="hold">
                            <p:stCondLst>
                              <p:cond delay="350"/>
                            </p:stCondLst>
                            <p:childTnLst>
                              <p:par>
                                <p:cTn id="168" presetID="53" presetClass="entr" presetSubtype="16"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anim calcmode="lin" valueType="num">
                                      <p:cBhvr additive="base">
                                        <p:cTn id="171" dur="550" fill="hold"/>
                                        <p:tgtEl>
                                          <p:spTgt spid="43"/>
                                        </p:tgtEl>
                                        <p:attrNameLst>
                                          <p:attrName>ppt_w</p:attrName>
                                        </p:attrNameLst>
                                      </p:cBhvr>
                                      <p:tavLst>
                                        <p:tav tm="0">
                                          <p:val>
                                            <p:strVal val="0"/>
                                          </p:val>
                                        </p:tav>
                                        <p:tav tm="100000">
                                          <p:val>
                                            <p:strVal val="#ppt_w"/>
                                          </p:val>
                                        </p:tav>
                                      </p:tavLst>
                                    </p:anim>
                                    <p:anim calcmode="lin" valueType="num">
                                      <p:cBhvr additive="base">
                                        <p:cTn id="172" dur="550" fill="hold"/>
                                        <p:tgtEl>
                                          <p:spTgt spid="43"/>
                                        </p:tgtEl>
                                        <p:attrNameLst>
                                          <p:attrName>ppt_h</p:attrName>
                                        </p:attrNameLst>
                                      </p:cBhvr>
                                      <p:tavLst>
                                        <p:tav tm="0">
                                          <p:val>
                                            <p:strVal val="0"/>
                                          </p:val>
                                        </p:tav>
                                        <p:tav tm="100000">
                                          <p:val>
                                            <p:strVal val="#ppt_h"/>
                                          </p:val>
                                        </p:tav>
                                      </p:tavLst>
                                    </p:anim>
                                  </p:childTnLst>
                                </p:cTn>
                              </p:par>
                            </p:childTnLst>
                          </p:cTn>
                        </p:par>
                        <p:par>
                          <p:cTn id="173" fill="hold">
                            <p:stCondLst>
                              <p:cond delay="450"/>
                            </p:stCondLst>
                            <p:childTnLst>
                              <p:par>
                                <p:cTn id="174" presetID="10" presetClass="entr" presetSubtype="0"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Effect transition="in" filter="fade">
                                      <p:cBhvr>
                                        <p:cTn id="176" dur="550"/>
                                        <p:tgtEl>
                                          <p:spTgt spid="44"/>
                                        </p:tgtEl>
                                      </p:cBhvr>
                                    </p:animEffect>
                                  </p:childTnLst>
                                </p:cTn>
                              </p:par>
                            </p:childTnLst>
                          </p:cTn>
                        </p:par>
                        <p:par>
                          <p:cTn id="177" fill="hold">
                            <p:stCondLst>
                              <p:cond delay="550"/>
                            </p:stCondLst>
                            <p:childTnLst>
                              <p:par>
                                <p:cTn id="178" presetID="2" presetClass="entr" presetSubtype="8"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 calcmode="lin" valueType="num">
                                      <p:cBhvr additive="base">
                                        <p:cTn id="181" dur="550" fill="hold"/>
                                        <p:tgtEl>
                                          <p:spTgt spid="45"/>
                                        </p:tgtEl>
                                        <p:attrNameLst>
                                          <p:attrName>ppt_x</p:attrName>
                                        </p:attrNameLst>
                                      </p:cBhvr>
                                      <p:tavLst>
                                        <p:tav tm="0">
                                          <p:val>
                                            <p:strVal val="0-#ppt_w/2"/>
                                          </p:val>
                                        </p:tav>
                                        <p:tav tm="100000">
                                          <p:val>
                                            <p:strVal val="#ppt_x"/>
                                          </p:val>
                                        </p:tav>
                                      </p:tavLst>
                                    </p:anim>
                                    <p:anim calcmode="lin" valueType="num">
                                      <p:cBhvr additive="base">
                                        <p:cTn id="182" dur="550" fill="hold"/>
                                        <p:tgtEl>
                                          <p:spTgt spid="45"/>
                                        </p:tgtEl>
                                        <p:attrNameLst>
                                          <p:attrName>ppt_y</p:attrName>
                                        </p:attrNameLst>
                                      </p:cBhvr>
                                      <p:tavLst>
                                        <p:tav tm="0">
                                          <p:val>
                                            <p:strVal val="#ppt_y"/>
                                          </p:val>
                                        </p:tav>
                                        <p:tav tm="100000">
                                          <p:val>
                                            <p:strVal val="#ppt_y"/>
                                          </p:val>
                                        </p:tav>
                                      </p:tavLst>
                                    </p:anim>
                                  </p:childTnLst>
                                </p:cTn>
                              </p:par>
                            </p:childTnLst>
                          </p:cTn>
                        </p:par>
                        <p:par>
                          <p:cTn id="183" fill="hold">
                            <p:stCondLst>
                              <p:cond delay="650"/>
                            </p:stCondLst>
                            <p:childTnLst>
                              <p:par>
                                <p:cTn id="184" presetID="22" presetClass="entr" presetSubtype="8" fill="hold" grpId="0" nodeType="afterEffect">
                                  <p:stCondLst>
                                    <p:cond delay="0"/>
                                  </p:stCondLst>
                                  <p:childTnLst>
                                    <p:set>
                                      <p:cBhvr>
                                        <p:cTn id="185" dur="1" fill="hold">
                                          <p:stCondLst>
                                            <p:cond delay="0"/>
                                          </p:stCondLst>
                                        </p:cTn>
                                        <p:tgtEl>
                                          <p:spTgt spid="46"/>
                                        </p:tgtEl>
                                        <p:attrNameLst>
                                          <p:attrName>style.visibility</p:attrName>
                                        </p:attrNameLst>
                                      </p:cBhvr>
                                      <p:to>
                                        <p:strVal val="visible"/>
                                      </p:to>
                                    </p:set>
                                    <p:animEffect transition="in" filter="wipe(left)">
                                      <p:cBhvr>
                                        <p:cTn id="187" dur="8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2" grpId="0" animBg="1"/>
      <p:bldP spid="43" grpId="0" animBg="1"/>
      <p:bldP spid="44" grpId="0" animBg="1"/>
      <p:bldP spid="45" grpId="0" animBg="1"/>
      <p:bldP spid="46"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NUMA arxitekturasi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M5 · Arxitektura va dizayn tamoyillari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13</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5efb5ddfc765993b.jpg"/>
          <p:cNvPicPr>
            <a:picLocks noChangeAspect="1"/>
          </p:cNvPicPr>
          <p:nvPr/>
        </p:nvPicPr>
        <p:blipFill>
          <a:blip r:embed="rId2"/>
          <a:srcRect l="18434" r="18434"/>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Vintechcomputerservices · Wikimedia Commons · CC BY-SA 4.0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632104"/>
            <a:ext cx="50000" cy="231579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Ko'p soketli serverlarda (masalan, ikki protsessorli Intel Xeon yoki AMD EPYC tizimlari) har bir protsessorning o'z xotira kontrollerlari va unga ulangan DRAM modullari bor.</a:t>
            </a:r>
          </a:p>
          <a:p>
            <a:pPr>
              <a:spcBef>
                <a:spcPts val="400"/>
              </a:spcBef>
            </a:pPr>
            <a:r>
              <a:rPr sz="1600">
                <a:solidFill>
                  <a:srgbClr val="AEBBD9"/>
                </a:solidFill>
                <a:latin typeface="Segoe UI"/>
              </a:rPr>
              <a:t>Bitta soketdagi yadro o'z DRAM'iga («mahalliy tugun») to'g'ridan-to'g'ri murojaat qiladi; boshqa soketning DRAM'iga («uzoq tugun») esa protsessorlararo havola (Intel UPI yoki AMD Infinity Fabric) orqali murojaat qiladi.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NUMA arxitekturasi</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M5 · Arxitektura va dizayn tamoyillari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14</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131e6480132f7464.jpg"/>
          <p:cNvPicPr>
            <a:picLocks noChangeAspect="1"/>
          </p:cNvPicPr>
          <p:nvPr/>
        </p:nvPicPr>
        <p:blipFill>
          <a:blip r:embed="rId2"/>
          <a:srcRect l="18285" r="18285"/>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Adam Greig from Cambridge, UK · Wikimedia Commons · CC BY-SA 2.0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1527432"/>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1607432"/>
            <a:ext cx="50000" cy="2047568"/>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2431216"/>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3" name="TextBox 32"/>
          <p:cNvSpPr txBox="1"/>
          <p:nvPr/>
        </p:nvSpPr>
        <p:spPr>
          <a:xfrm>
            <a:off x="1300000" y="1567432"/>
            <a:ext cx="5900000" cy="2127568"/>
          </a:xfrm>
          <a:prstGeom prst="rect">
            <a:avLst/>
          </a:prstGeom>
          <a:noFill/>
        </p:spPr>
        <p:txBody>
          <a:bodyPr wrap="square" anchor="ctr">
            <a:spAutoFit/>
          </a:bodyPr>
          <a:lstStyle/>
          <a:p>
            <a:r>
              <a:rPr sz="1500" b="1">
                <a:solidFill>
                  <a:srgbClr val="E8EEFA"/>
                </a:solidFill>
                <a:latin typeface="Segoe UI"/>
              </a:rPr>
              <a:t>AMD EPYC protsessorlarida vaziyat yanada murakkabroq: bitta soket ichida ham bir nechta chiplet (CCD) va I/O kristali bor, shuning uchun BIOS sozlamalariga qarab bitta soket 1, 2 yoki 4 NUMA tuguni sifatida ko'rinishi mumkin (NPS1/NPS2/NPS4 rejimlari).</a:t>
            </a:r>
          </a:p>
          <a:p>
            <a:pPr>
              <a:spcBef>
                <a:spcPts val="400"/>
              </a:spcBef>
            </a:pPr>
            <a:r>
              <a:rPr sz="1400">
                <a:solidFill>
                  <a:srgbClr val="AEBBD9"/>
                </a:solidFill>
                <a:latin typeface="Segoe UI"/>
              </a:rPr>
              <a:t>GPU serverlarida esa PCIe kommutatorlari ham NUMA tugunlariga bog'langan: 8 GPU'li DGX-uslubidagi serverda 4 ta GPU birinchi soketga, 4 tasi ikkinchisiga «yaqin».</a:t>
            </a:r>
          </a:p>
        </p:txBody>
      </p:sp>
      <p:sp>
        <p:nvSpPr>
          <p:cNvPr id="34" name="Rounded Rectangle 33"/>
          <p:cNvSpPr/>
          <p:nvPr/>
        </p:nvSpPr>
        <p:spPr>
          <a:xfrm>
            <a:off x="550000" y="3845000"/>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3925000"/>
            <a:ext cx="50000" cy="2047568"/>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4748784"/>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7" name="TextBox 36"/>
          <p:cNvSpPr txBox="1"/>
          <p:nvPr/>
        </p:nvSpPr>
        <p:spPr>
          <a:xfrm>
            <a:off x="1300000" y="3885000"/>
            <a:ext cx="5900000" cy="2127568"/>
          </a:xfrm>
          <a:prstGeom prst="rect">
            <a:avLst/>
          </a:prstGeom>
          <a:noFill/>
        </p:spPr>
        <p:txBody>
          <a:bodyPr wrap="square" anchor="ctr">
            <a:spAutoFit/>
          </a:bodyPr>
          <a:lstStyle/>
          <a:p>
            <a:r>
              <a:rPr sz="1400" b="0">
                <a:solidFill>
                  <a:srgbClr val="E8EEFA"/>
                </a:solidFill>
                <a:latin typeface="Segoe UI"/>
              </a:rPr>
              <a:t>Linux yadrosi standart holatda «first-touch» siyosatini qo'llaydi: xotira sahifasi uni birinchi marta yozgan (ishga tushirgan) yadro joylashgan tugunda ajratiladi.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550"/>
                                        <p:tgtEl>
                                          <p:spTgt spid="34"/>
                                        </p:tgtEl>
                                      </p:cBhvr>
                                    </p:animEffect>
                                    <p:anim calcmode="lin" valueType="num">
                                      <p:cBhvr additive="base">
                                        <p:cTn id="60" dur="550" fill="hold"/>
                                        <p:tgtEl>
                                          <p:spTgt spid="34"/>
                                        </p:tgtEl>
                                        <p:attrNameLst>
                                          <p:attrName>ppt_x</p:attrName>
                                        </p:attrNameLst>
                                      </p:cBhvr>
                                      <p:tavLst>
                                        <p:tav tm="0">
                                          <p:val>
                                            <p:strVal val="#ppt_x"/>
                                          </p:val>
                                        </p:tav>
                                        <p:tav tm="100000">
                                          <p:val>
                                            <p:strVal val="#ppt_x"/>
                                          </p:val>
                                        </p:tav>
                                      </p:tavLst>
                                    </p:anim>
                                    <p:anim calcmode="lin" valueType="num">
                                      <p:cBhvr additive="base">
                                        <p:cTn id="61" dur="550" fill="hold"/>
                                        <p:tgtEl>
                                          <p:spTgt spid="34"/>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5"/>
                                        </p:tgtEl>
                                        <p:attrNameLst>
                                          <p:attrName>style.visibility</p:attrName>
                                        </p:attrNameLst>
                                      </p:cBhvr>
                                      <p:to>
                                        <p:strVal val="visible"/>
                                      </p:to>
                                    </p:set>
                                    <p:animEffect transition="in" filter="fade">
                                      <p:cBhvr>
                                        <p:cTn id="65" dur="550"/>
                                        <p:tgtEl>
                                          <p:spTgt spid="35"/>
                                        </p:tgtEl>
                                      </p:cBhvr>
                                    </p:animEffect>
                                    <p:anim calcmode="lin" valueType="num">
                                      <p:cBhvr additive="base">
                                        <p:cTn id="66" dur="550" fill="hold"/>
                                        <p:tgtEl>
                                          <p:spTgt spid="35"/>
                                        </p:tgtEl>
                                        <p:attrNameLst>
                                          <p:attrName>ppt_x</p:attrName>
                                        </p:attrNameLst>
                                      </p:cBhvr>
                                      <p:tavLst>
                                        <p:tav tm="0">
                                          <p:val>
                                            <p:strVal val="#ppt_x"/>
                                          </p:val>
                                        </p:tav>
                                        <p:tav tm="100000">
                                          <p:val>
                                            <p:strVal val="#ppt_x"/>
                                          </p:val>
                                        </p:tav>
                                      </p:tavLst>
                                    </p:anim>
                                    <p:anim calcmode="lin" valueType="num">
                                      <p:cBhvr additive="base">
                                        <p:cTn id="67" dur="550" fill="hold"/>
                                        <p:tgtEl>
                                          <p:spTgt spid="35"/>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6"/>
                                        </p:tgtEl>
                                        <p:attrNameLst>
                                          <p:attrName>style.visibility</p:attrName>
                                        </p:attrNameLst>
                                      </p:cBhvr>
                                      <p:to>
                                        <p:strVal val="visible"/>
                                      </p:to>
                                    </p:set>
                                    <p:animEffect transition="in" filter="fade">
                                      <p:cBhvr>
                                        <p:cTn id="71" dur="550"/>
                                        <p:tgtEl>
                                          <p:spTgt spid="36"/>
                                        </p:tgtEl>
                                      </p:cBhvr>
                                    </p:animEffect>
                                    <p:anim calcmode="lin" valueType="num">
                                      <p:cBhvr additive="base">
                                        <p:cTn id="72" dur="550" fill="hold"/>
                                        <p:tgtEl>
                                          <p:spTgt spid="36"/>
                                        </p:tgtEl>
                                        <p:attrNameLst>
                                          <p:attrName>ppt_w</p:attrName>
                                        </p:attrNameLst>
                                      </p:cBhvr>
                                      <p:tavLst>
                                        <p:tav tm="0">
                                          <p:val>
                                            <p:strVal val="0"/>
                                          </p:val>
                                        </p:tav>
                                        <p:tav tm="100000">
                                          <p:val>
                                            <p:strVal val="#ppt_w"/>
                                          </p:val>
                                        </p:tav>
                                      </p:tavLst>
                                    </p:anim>
                                    <p:anim calcmode="lin" valueType="num">
                                      <p:cBhvr additive="base">
                                        <p:cTn id="73" dur="550" fill="hold"/>
                                        <p:tgtEl>
                                          <p:spTgt spid="36"/>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7"/>
                                        </p:tgtEl>
                                        <p:attrNameLst>
                                          <p:attrName>style.visibility</p:attrName>
                                        </p:attrNameLst>
                                      </p:cBhvr>
                                      <p:to>
                                        <p:strVal val="visible"/>
                                      </p:to>
                                    </p:set>
                                    <p:animEffect transition="in" filter="fade">
                                      <p:cBhvr>
                                        <p:cTn id="77" dur="550"/>
                                        <p:tgtEl>
                                          <p:spTgt spid="37"/>
                                        </p:tgtEl>
                                      </p:cBhvr>
                                    </p:animEffect>
                                    <p:anim calcmode="lin" valueType="num">
                                      <p:cBhvr additive="base">
                                        <p:cTn id="78" dur="550" fill="hold"/>
                                        <p:tgtEl>
                                          <p:spTgt spid="37"/>
                                        </p:tgtEl>
                                        <p:attrNameLst>
                                          <p:attrName>ppt_x</p:attrName>
                                        </p:attrNameLst>
                                      </p:cBhvr>
                                      <p:tavLst>
                                        <p:tav tm="0">
                                          <p:val>
                                            <p:strVal val="#ppt_x"/>
                                          </p:val>
                                        </p:tav>
                                        <p:tav tm="100000">
                                          <p:val>
                                            <p:strVal val="#ppt_x"/>
                                          </p:val>
                                        </p:tav>
                                      </p:tavLst>
                                    </p:anim>
                                    <p:anim calcmode="lin" valueType="num">
                                      <p:cBhvr additive="base">
                                        <p:cTn id="79" dur="550" fill="hold"/>
                                        <p:tgtEl>
                                          <p:spTgt spid="3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NUMA arxitekturasi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M5 · Arxitektura va dizayn tamoyillari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15</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eb3731d874c22f7a.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Raimond Spekking · Wikimedia Commons · CC BY-SA 4.0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954440"/>
            <a:ext cx="6750000" cy="167112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3034440"/>
            <a:ext cx="50000" cy="151112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0" name="TextBox 29"/>
          <p:cNvSpPr txBox="1"/>
          <p:nvPr/>
        </p:nvSpPr>
        <p:spPr>
          <a:xfrm>
            <a:off x="1300000" y="2994440"/>
            <a:ext cx="5900000" cy="1591120"/>
          </a:xfrm>
          <a:prstGeom prst="rect">
            <a:avLst/>
          </a:prstGeom>
          <a:noFill/>
        </p:spPr>
        <p:txBody>
          <a:bodyPr wrap="square" anchor="ctr">
            <a:spAutoFit/>
          </a:bodyPr>
          <a:lstStyle/>
          <a:p>
            <a:r>
              <a:rPr sz="1600" b="0">
                <a:solidFill>
                  <a:srgbClr val="E8EEFA"/>
                </a:solidFill>
                <a:latin typeface="Segoe UI"/>
              </a:rPr>
              <a:t>Sun'iy intellekt tizimlarida NUMA'ga e'tibor berish uchta joyda muhim: (1) dataloader iplarini GPU'ga yaqin soketga bog'lash; (2) CPU'da inferens qiluvchi xizmatlarni (masalan, ONNX Runtime bilan) har bir soketda alohida nusxa sifatida ishga tushirish; (3)…</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5c37973e01be8cf9.jpg"/>
          <p:cNvPicPr>
            <a:picLocks noChangeAspect="1"/>
          </p:cNvPicPr>
          <p:nvPr/>
        </p:nvPicPr>
        <p:blipFill>
          <a:blip r:embed="rId2"/>
          <a:srcRect l="26662" r="26662"/>
          <a:stretch>
            <a:fillRect/>
          </a:stretch>
        </p:blipFill>
        <p:spPr>
          <a:xfrm>
            <a:off x="6300000" y="800000"/>
            <a:ext cx="5300000" cy="4950000"/>
          </a:xfrm>
          <a:prstGeom prst="roundRect">
            <a:avLst/>
          </a:prstGeom>
          <a:ln w="19050">
            <a:solidFill>
              <a:srgbClr val="22D3EE"/>
            </a:solidFill>
          </a:ln>
        </p:spPr>
      </p:pic>
      <p:sp>
        <p:nvSpPr>
          <p:cNvPr id="46" name="TextBox 45"/>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Giu.natale · Wikimedia Commons · CC BY-SA 4.0</a:t>
            </a:r>
          </a:p>
        </p:txBody>
      </p:sp>
      <p:sp>
        <p:nvSpPr>
          <p:cNvPr id="47" name="TextBox 46"/>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04</a:t>
            </a:r>
          </a:p>
        </p:txBody>
      </p:sp>
      <p:sp>
        <p:nvSpPr>
          <p:cNvPr id="48" name="TextBox 47"/>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9" name="TextBox 48"/>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Arifmetik intensivlik va roofline modeli</a:t>
            </a:r>
          </a:p>
        </p:txBody>
      </p:sp>
      <p:sp>
        <p:nvSpPr>
          <p:cNvPr id="50" name="Rectangle 49"/>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150"/>
                            </p:stCondLst>
                            <p:childTnLst>
                              <p:par>
                                <p:cTn id="168" presetID="53" presetClass="entr" presetSubtype="16"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anim calcmode="lin" valueType="num">
                                      <p:cBhvr additive="base">
                                        <p:cTn id="171" dur="550" fill="hold"/>
                                        <p:tgtEl>
                                          <p:spTgt spid="44"/>
                                        </p:tgtEl>
                                        <p:attrNameLst>
                                          <p:attrName>ppt_w</p:attrName>
                                        </p:attrNameLst>
                                      </p:cBhvr>
                                      <p:tavLst>
                                        <p:tav tm="0">
                                          <p:val>
                                            <p:strVal val="0"/>
                                          </p:val>
                                        </p:tav>
                                        <p:tav tm="100000">
                                          <p:val>
                                            <p:strVal val="#ppt_w"/>
                                          </p:val>
                                        </p:tav>
                                      </p:tavLst>
                                    </p:anim>
                                    <p:anim calcmode="lin" valueType="num">
                                      <p:cBhvr additive="base">
                                        <p:cTn id="172" dur="550" fill="hold"/>
                                        <p:tgtEl>
                                          <p:spTgt spid="44"/>
                                        </p:tgtEl>
                                        <p:attrNameLst>
                                          <p:attrName>ppt_h</p:attrName>
                                        </p:attrNameLst>
                                      </p:cBhvr>
                                      <p:tavLst>
                                        <p:tav tm="0">
                                          <p:val>
                                            <p:strVal val="0"/>
                                          </p:val>
                                        </p:tav>
                                        <p:tav tm="100000">
                                          <p:val>
                                            <p:strVal val="#ppt_h"/>
                                          </p:val>
                                        </p:tav>
                                      </p:tavLst>
                                    </p:anim>
                                  </p:childTnLst>
                                </p:cTn>
                              </p:par>
                            </p:childTnLst>
                          </p:cTn>
                        </p:par>
                        <p:par>
                          <p:cTn id="173" fill="hold">
                            <p:stCondLst>
                              <p:cond delay="150"/>
                            </p:stCondLst>
                            <p:childTnLst>
                              <p:par>
                                <p:cTn id="174" presetID="53" presetClass="entr" presetSubtype="16" fill="hold" grpId="0" nodeType="afterEffect">
                                  <p:stCondLst>
                                    <p:cond delay="0"/>
                                  </p:stCondLst>
                                  <p:childTnLst>
                                    <p:set>
                                      <p:cBhvr>
                                        <p:cTn id="175" dur="1" fill="hold">
                                          <p:stCondLst>
                                            <p:cond delay="0"/>
                                          </p:stCondLst>
                                        </p:cTn>
                                        <p:tgtEl>
                                          <p:spTgt spid="45"/>
                                        </p:tgtEl>
                                        <p:attrNameLst>
                                          <p:attrName>style.visibility</p:attrName>
                                        </p:attrNameLst>
                                      </p:cBhvr>
                                      <p:to>
                                        <p:strVal val="visible"/>
                                      </p:to>
                                    </p:set>
                                    <p:animEffect transition="in" filter="fade">
                                      <p:cBhvr>
                                        <p:cTn id="176" dur="550"/>
                                        <p:tgtEl>
                                          <p:spTgt spid="45"/>
                                        </p:tgtEl>
                                      </p:cBhvr>
                                    </p:animEffect>
                                    <p:anim calcmode="lin" valueType="num">
                                      <p:cBhvr additive="base">
                                        <p:cTn id="177" dur="550" fill="hold"/>
                                        <p:tgtEl>
                                          <p:spTgt spid="45"/>
                                        </p:tgtEl>
                                        <p:attrNameLst>
                                          <p:attrName>ppt_w</p:attrName>
                                        </p:attrNameLst>
                                      </p:cBhvr>
                                      <p:tavLst>
                                        <p:tav tm="0">
                                          <p:val>
                                            <p:strVal val="0"/>
                                          </p:val>
                                        </p:tav>
                                        <p:tav tm="100000">
                                          <p:val>
                                            <p:strVal val="#ppt_w"/>
                                          </p:val>
                                        </p:tav>
                                      </p:tavLst>
                                    </p:anim>
                                    <p:anim calcmode="lin" valueType="num">
                                      <p:cBhvr additive="base">
                                        <p:cTn id="178" dur="550" fill="hold"/>
                                        <p:tgtEl>
                                          <p:spTgt spid="45"/>
                                        </p:tgtEl>
                                        <p:attrNameLst>
                                          <p:attrName>ppt_h</p:attrName>
                                        </p:attrNameLst>
                                      </p:cBhvr>
                                      <p:tavLst>
                                        <p:tav tm="0">
                                          <p:val>
                                            <p:strVal val="0"/>
                                          </p:val>
                                        </p:tav>
                                        <p:tav tm="100000">
                                          <p:val>
                                            <p:strVal val="#ppt_h"/>
                                          </p:val>
                                        </p:tav>
                                      </p:tavLst>
                                    </p:anim>
                                  </p:childTnLst>
                                </p:cTn>
                              </p:par>
                            </p:childTnLst>
                          </p:cTn>
                        </p:par>
                        <p:par>
                          <p:cTn id="179" fill="hold">
                            <p:stCondLst>
                              <p:cond delay="150"/>
                            </p:stCondLst>
                            <p:childTnLst>
                              <p:par>
                                <p:cTn id="180" presetID="10" presetClass="entr" presetSubtype="0" fill="hold" grpId="0" nodeType="afterEffect">
                                  <p:stCondLst>
                                    <p:cond delay="0"/>
                                  </p:stCondLst>
                                  <p:childTnLst>
                                    <p:set>
                                      <p:cBhvr>
                                        <p:cTn id="181" dur="1" fill="hold">
                                          <p:stCondLst>
                                            <p:cond delay="0"/>
                                          </p:stCondLst>
                                        </p:cTn>
                                        <p:tgtEl>
                                          <p:spTgt spid="46"/>
                                        </p:tgtEl>
                                        <p:attrNameLst>
                                          <p:attrName>style.visibility</p:attrName>
                                        </p:attrNameLst>
                                      </p:cBhvr>
                                      <p:to>
                                        <p:strVal val="visible"/>
                                      </p:to>
                                    </p:set>
                                    <p:animEffect transition="in" filter="fade">
                                      <p:cBhvr>
                                        <p:cTn id="182" dur="550"/>
                                        <p:tgtEl>
                                          <p:spTgt spid="46"/>
                                        </p:tgtEl>
                                      </p:cBhvr>
                                    </p:animEffect>
                                  </p:childTnLst>
                                </p:cTn>
                              </p:par>
                            </p:childTnLst>
                          </p:cTn>
                        </p:par>
                        <p:par>
                          <p:cTn id="183" fill="hold">
                            <p:stCondLst>
                              <p:cond delay="350"/>
                            </p:stCondLst>
                            <p:childTnLst>
                              <p:par>
                                <p:cTn id="184" presetID="53" presetClass="entr" presetSubtype="16" fill="hold" grpId="0" nodeType="afterEffect">
                                  <p:stCondLst>
                                    <p:cond delay="0"/>
                                  </p:stCondLst>
                                  <p:childTnLst>
                                    <p:set>
                                      <p:cBhvr>
                                        <p:cTn id="185" dur="1" fill="hold">
                                          <p:stCondLst>
                                            <p:cond delay="0"/>
                                          </p:stCondLst>
                                        </p:cTn>
                                        <p:tgtEl>
                                          <p:spTgt spid="47"/>
                                        </p:tgtEl>
                                        <p:attrNameLst>
                                          <p:attrName>style.visibility</p:attrName>
                                        </p:attrNameLst>
                                      </p:cBhvr>
                                      <p:to>
                                        <p:strVal val="visible"/>
                                      </p:to>
                                    </p:set>
                                    <p:animEffect transition="in" filter="fade">
                                      <p:cBhvr>
                                        <p:cTn id="186" dur="550"/>
                                        <p:tgtEl>
                                          <p:spTgt spid="47"/>
                                        </p:tgtEl>
                                      </p:cBhvr>
                                    </p:animEffect>
                                    <p:anim calcmode="lin" valueType="num">
                                      <p:cBhvr additive="base">
                                        <p:cTn id="187" dur="550" fill="hold"/>
                                        <p:tgtEl>
                                          <p:spTgt spid="47"/>
                                        </p:tgtEl>
                                        <p:attrNameLst>
                                          <p:attrName>ppt_w</p:attrName>
                                        </p:attrNameLst>
                                      </p:cBhvr>
                                      <p:tavLst>
                                        <p:tav tm="0">
                                          <p:val>
                                            <p:strVal val="0"/>
                                          </p:val>
                                        </p:tav>
                                        <p:tav tm="100000">
                                          <p:val>
                                            <p:strVal val="#ppt_w"/>
                                          </p:val>
                                        </p:tav>
                                      </p:tavLst>
                                    </p:anim>
                                    <p:anim calcmode="lin" valueType="num">
                                      <p:cBhvr additive="base">
                                        <p:cTn id="188" dur="550" fill="hold"/>
                                        <p:tgtEl>
                                          <p:spTgt spid="47"/>
                                        </p:tgtEl>
                                        <p:attrNameLst>
                                          <p:attrName>ppt_h</p:attrName>
                                        </p:attrNameLst>
                                      </p:cBhvr>
                                      <p:tavLst>
                                        <p:tav tm="0">
                                          <p:val>
                                            <p:strVal val="0"/>
                                          </p:val>
                                        </p:tav>
                                        <p:tav tm="100000">
                                          <p:val>
                                            <p:strVal val="#ppt_h"/>
                                          </p:val>
                                        </p:tav>
                                      </p:tavLst>
                                    </p:anim>
                                  </p:childTnLst>
                                </p:cTn>
                              </p:par>
                            </p:childTnLst>
                          </p:cTn>
                        </p:par>
                        <p:par>
                          <p:cTn id="189" fill="hold">
                            <p:stCondLst>
                              <p:cond delay="450"/>
                            </p:stCondLst>
                            <p:childTnLst>
                              <p:par>
                                <p:cTn id="190" presetID="10" presetClass="entr" presetSubtype="0" fill="hold" grpId="0" nodeType="afterEffect">
                                  <p:stCondLst>
                                    <p:cond delay="0"/>
                                  </p:stCondLst>
                                  <p:childTnLst>
                                    <p:set>
                                      <p:cBhvr>
                                        <p:cTn id="191" dur="1" fill="hold">
                                          <p:stCondLst>
                                            <p:cond delay="0"/>
                                          </p:stCondLst>
                                        </p:cTn>
                                        <p:tgtEl>
                                          <p:spTgt spid="48"/>
                                        </p:tgtEl>
                                        <p:attrNameLst>
                                          <p:attrName>style.visibility</p:attrName>
                                        </p:attrNameLst>
                                      </p:cBhvr>
                                      <p:to>
                                        <p:strVal val="visible"/>
                                      </p:to>
                                    </p:set>
                                    <p:animEffect transition="in" filter="fade">
                                      <p:cBhvr>
                                        <p:cTn id="192" dur="550"/>
                                        <p:tgtEl>
                                          <p:spTgt spid="48"/>
                                        </p:tgtEl>
                                      </p:cBhvr>
                                    </p:animEffect>
                                  </p:childTnLst>
                                </p:cTn>
                              </p:par>
                            </p:childTnLst>
                          </p:cTn>
                        </p:par>
                        <p:par>
                          <p:cTn id="193" fill="hold">
                            <p:stCondLst>
                              <p:cond delay="550"/>
                            </p:stCondLst>
                            <p:childTnLst>
                              <p:par>
                                <p:cTn id="194" presetID="2" presetClass="entr" presetSubtype="8" fill="hold" grpId="0" nodeType="afterEffect">
                                  <p:stCondLst>
                                    <p:cond delay="0"/>
                                  </p:stCondLst>
                                  <p:childTnLst>
                                    <p:set>
                                      <p:cBhvr>
                                        <p:cTn id="195" dur="1" fill="hold">
                                          <p:stCondLst>
                                            <p:cond delay="0"/>
                                          </p:stCondLst>
                                        </p:cTn>
                                        <p:tgtEl>
                                          <p:spTgt spid="49"/>
                                        </p:tgtEl>
                                        <p:attrNameLst>
                                          <p:attrName>style.visibility</p:attrName>
                                        </p:attrNameLst>
                                      </p:cBhvr>
                                      <p:to>
                                        <p:strVal val="visible"/>
                                      </p:to>
                                    </p:set>
                                    <p:anim calcmode="lin" valueType="num">
                                      <p:cBhvr additive="base">
                                        <p:cTn id="197" dur="550" fill="hold"/>
                                        <p:tgtEl>
                                          <p:spTgt spid="49"/>
                                        </p:tgtEl>
                                        <p:attrNameLst>
                                          <p:attrName>ppt_x</p:attrName>
                                        </p:attrNameLst>
                                      </p:cBhvr>
                                      <p:tavLst>
                                        <p:tav tm="0">
                                          <p:val>
                                            <p:strVal val="0-#ppt_w/2"/>
                                          </p:val>
                                        </p:tav>
                                        <p:tav tm="100000">
                                          <p:val>
                                            <p:strVal val="#ppt_x"/>
                                          </p:val>
                                        </p:tav>
                                      </p:tavLst>
                                    </p:anim>
                                    <p:anim calcmode="lin" valueType="num">
                                      <p:cBhvr additive="base">
                                        <p:cTn id="198" dur="550" fill="hold"/>
                                        <p:tgtEl>
                                          <p:spTgt spid="49"/>
                                        </p:tgtEl>
                                        <p:attrNameLst>
                                          <p:attrName>ppt_y</p:attrName>
                                        </p:attrNameLst>
                                      </p:cBhvr>
                                      <p:tavLst>
                                        <p:tav tm="0">
                                          <p:val>
                                            <p:strVal val="#ppt_y"/>
                                          </p:val>
                                        </p:tav>
                                        <p:tav tm="100000">
                                          <p:val>
                                            <p:strVal val="#ppt_y"/>
                                          </p:val>
                                        </p:tav>
                                      </p:tavLst>
                                    </p:anim>
                                  </p:childTnLst>
                                </p:cTn>
                              </p:par>
                            </p:childTnLst>
                          </p:cTn>
                        </p:par>
                        <p:par>
                          <p:cTn id="199" fill="hold">
                            <p:stCondLst>
                              <p:cond delay="650"/>
                            </p:stCondLst>
                            <p:childTnLst>
                              <p:par>
                                <p:cTn id="200" presetID="22" presetClass="entr" presetSubtype="8" fill="hold" grpId="0" nodeType="afterEffect">
                                  <p:stCondLst>
                                    <p:cond delay="0"/>
                                  </p:stCondLst>
                                  <p:childTnLst>
                                    <p:set>
                                      <p:cBhvr>
                                        <p:cTn id="201" dur="1" fill="hold">
                                          <p:stCondLst>
                                            <p:cond delay="0"/>
                                          </p:stCondLst>
                                        </p:cTn>
                                        <p:tgtEl>
                                          <p:spTgt spid="50"/>
                                        </p:tgtEl>
                                        <p:attrNameLst>
                                          <p:attrName>style.visibility</p:attrName>
                                        </p:attrNameLst>
                                      </p:cBhvr>
                                      <p:to>
                                        <p:strVal val="visible"/>
                                      </p:to>
                                    </p:set>
                                    <p:animEffect transition="in" filter="wipe(left)">
                                      <p:cBhvr>
                                        <p:cTn id="203" dur="8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6" grpId="0" animBg="1"/>
      <p:bldP spid="47" grpId="0" animBg="1"/>
      <p:bldP spid="48" grpId="0" animBg="1"/>
      <p:bldP spid="49" grpId="0" animBg="1"/>
      <p:bldP spid="50"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Arifmetik intensivlik va roofline modeli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M5 · Arxitektura va dizayn tamoyillari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17</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4fe9c9f67315d3e8.jpg"/>
          <p:cNvPicPr>
            <a:picLocks noChangeAspect="1"/>
          </p:cNvPicPr>
          <p:nvPr/>
        </p:nvPicPr>
        <p:blipFill>
          <a:blip r:embed="rId2"/>
          <a:srcRect l="16126" r="16126"/>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Amada44 · Wikimedia Commons · CC BY-SA 3.0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330001"/>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410001"/>
            <a:ext cx="50000" cy="140666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191333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1370001"/>
            <a:ext cx="5900000" cy="1486666"/>
          </a:xfrm>
          <a:prstGeom prst="rect">
            <a:avLst/>
          </a:prstGeom>
          <a:noFill/>
        </p:spPr>
        <p:txBody>
          <a:bodyPr wrap="square" anchor="ctr">
            <a:spAutoFit/>
          </a:bodyPr>
          <a:lstStyle/>
          <a:p>
            <a:r>
              <a:rPr sz="1400" b="1">
                <a:solidFill>
                  <a:srgbClr val="E8EEFA"/>
                </a:solidFill>
                <a:latin typeface="Segoe UI"/>
              </a:rPr>
              <a:t>Qaysi ish yuki xotira bilan chegaralanganini miqdoriy baholash uchun arifmetik intensivlik (arithmetic intensity) tushunchasi ishlatiladi: I = FLOP / bayt — bajarilgan suzuvchi nuqtali amallar sonini xotiradan o'qilgan va yozilgan baytlar soniga bo'lish.</a:t>
            </a:r>
          </a:p>
          <a:p>
            <a:pPr>
              <a:spcBef>
                <a:spcPts val="400"/>
              </a:spcBef>
            </a:pPr>
            <a:r>
              <a:rPr sz="1300">
                <a:solidFill>
                  <a:srgbClr val="AEBBD9"/>
                </a:solidFill>
                <a:latin typeface="Segoe UI"/>
              </a:rPr>
              <a:t>Roofline modeli (Williams, Waterman, Patterson, 2009) esa erishiladigan unumdorlikni quyidagicha chegaralaydi:</a:t>
            </a:r>
          </a:p>
        </p:txBody>
      </p:sp>
      <p:sp>
        <p:nvSpPr>
          <p:cNvPr id="33" name="Rounded Rectangle 32"/>
          <p:cNvSpPr/>
          <p:nvPr/>
        </p:nvSpPr>
        <p:spPr>
          <a:xfrm>
            <a:off x="550000" y="3006667"/>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086667"/>
            <a:ext cx="50000" cy="140666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6" name="TextBox 35"/>
          <p:cNvSpPr txBox="1"/>
          <p:nvPr/>
        </p:nvSpPr>
        <p:spPr>
          <a:xfrm>
            <a:off x="1300000" y="3046667"/>
            <a:ext cx="5900000" cy="1486666"/>
          </a:xfrm>
          <a:prstGeom prst="rect">
            <a:avLst/>
          </a:prstGeom>
          <a:noFill/>
        </p:spPr>
        <p:txBody>
          <a:bodyPr wrap="square" anchor="ctr">
            <a:spAutoFit/>
          </a:bodyPr>
          <a:lstStyle/>
          <a:p>
            <a:r>
              <a:rPr sz="1300" b="0">
                <a:solidFill>
                  <a:srgbClr val="E8EEFA"/>
                </a:solidFill>
                <a:latin typeface="Segoe UI"/>
              </a:rPr>
              <a:t>P_erishiladigan = min(P_cho'qqi, B_xotira × I)</a:t>
            </a:r>
          </a:p>
        </p:txBody>
      </p:sp>
      <p:sp>
        <p:nvSpPr>
          <p:cNvPr id="37" name="Rounded Rectangle 36"/>
          <p:cNvSpPr/>
          <p:nvPr/>
        </p:nvSpPr>
        <p:spPr>
          <a:xfrm>
            <a:off x="550000" y="4683333"/>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50000" y="4763333"/>
            <a:ext cx="50000" cy="140666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60000" y="5266666"/>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40" name="TextBox 39"/>
          <p:cNvSpPr txBox="1"/>
          <p:nvPr/>
        </p:nvSpPr>
        <p:spPr>
          <a:xfrm>
            <a:off x="1300000" y="4723333"/>
            <a:ext cx="5900000" cy="1486666"/>
          </a:xfrm>
          <a:prstGeom prst="rect">
            <a:avLst/>
          </a:prstGeom>
          <a:noFill/>
        </p:spPr>
        <p:txBody>
          <a:bodyPr wrap="square" anchor="ctr">
            <a:spAutoFit/>
          </a:bodyPr>
          <a:lstStyle/>
          <a:p>
            <a:r>
              <a:rPr sz="1400" b="1">
                <a:solidFill>
                  <a:srgbClr val="E8EEFA"/>
                </a:solidFill>
                <a:latin typeface="Segoe UI"/>
              </a:rPr>
              <a:t>bu yerda P_cho'qqi — qurilmaning maksimal hisoblash quvvati (FLOP/s), B_xotira — xotira o'tkazuvchanligi (bayt/s).</a:t>
            </a:r>
          </a:p>
          <a:p>
            <a:pPr>
              <a:spcBef>
                <a:spcPts val="400"/>
              </a:spcBef>
            </a:pPr>
            <a:r>
              <a:rPr sz="1300">
                <a:solidFill>
                  <a:srgbClr val="AEBBD9"/>
                </a:solidFill>
                <a:latin typeface="Segoe UI"/>
              </a:rPr>
              <a:t>Ikki chiziq kesishgan nuqta — «sinish nuqtasi» (ridge point) — I = P_cho'qqi / B_xotira. H100 uchun FP16 rejimda I ≈ 990e12 / 3,35e12 ≈ 295 FLOP/bayt; FP32 (Tensor Core'siz, ~67 TFLOPS) uchun esa I ≈ 20 FLOP/bayt.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7"/>
                                        </p:tgtEl>
                                        <p:attrNameLst>
                                          <p:attrName>style.visibility</p:attrName>
                                        </p:attrNameLst>
                                      </p:cBhvr>
                                      <p:to>
                                        <p:strVal val="visible"/>
                                      </p:to>
                                    </p:set>
                                    <p:animEffect transition="in" filter="fade">
                                      <p:cBhvr>
                                        <p:cTn id="83" dur="550"/>
                                        <p:tgtEl>
                                          <p:spTgt spid="37"/>
                                        </p:tgtEl>
                                      </p:cBhvr>
                                    </p:animEffect>
                                    <p:anim calcmode="lin" valueType="num">
                                      <p:cBhvr additive="base">
                                        <p:cTn id="84" dur="550" fill="hold"/>
                                        <p:tgtEl>
                                          <p:spTgt spid="37"/>
                                        </p:tgtEl>
                                        <p:attrNameLst>
                                          <p:attrName>ppt_x</p:attrName>
                                        </p:attrNameLst>
                                      </p:cBhvr>
                                      <p:tavLst>
                                        <p:tav tm="0">
                                          <p:val>
                                            <p:strVal val="#ppt_x"/>
                                          </p:val>
                                        </p:tav>
                                        <p:tav tm="100000">
                                          <p:val>
                                            <p:strVal val="#ppt_x"/>
                                          </p:val>
                                        </p:tav>
                                      </p:tavLst>
                                    </p:anim>
                                    <p:anim calcmode="lin" valueType="num">
                                      <p:cBhvr additive="base">
                                        <p:cTn id="85" dur="550" fill="hold"/>
                                        <p:tgtEl>
                                          <p:spTgt spid="37"/>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8"/>
                                        </p:tgtEl>
                                        <p:attrNameLst>
                                          <p:attrName>style.visibility</p:attrName>
                                        </p:attrNameLst>
                                      </p:cBhvr>
                                      <p:to>
                                        <p:strVal val="visible"/>
                                      </p:to>
                                    </p:set>
                                    <p:animEffect transition="in" filter="fade">
                                      <p:cBhvr>
                                        <p:cTn id="89" dur="550"/>
                                        <p:tgtEl>
                                          <p:spTgt spid="38"/>
                                        </p:tgtEl>
                                      </p:cBhvr>
                                    </p:animEffect>
                                    <p:anim calcmode="lin" valueType="num">
                                      <p:cBhvr additive="base">
                                        <p:cTn id="90" dur="550" fill="hold"/>
                                        <p:tgtEl>
                                          <p:spTgt spid="38"/>
                                        </p:tgtEl>
                                        <p:attrNameLst>
                                          <p:attrName>ppt_x</p:attrName>
                                        </p:attrNameLst>
                                      </p:cBhvr>
                                      <p:tavLst>
                                        <p:tav tm="0">
                                          <p:val>
                                            <p:strVal val="#ppt_x"/>
                                          </p:val>
                                        </p:tav>
                                        <p:tav tm="100000">
                                          <p:val>
                                            <p:strVal val="#ppt_x"/>
                                          </p:val>
                                        </p:tav>
                                      </p:tavLst>
                                    </p:anim>
                                    <p:anim calcmode="lin" valueType="num">
                                      <p:cBhvr additive="base">
                                        <p:cTn id="91" dur="550" fill="hold"/>
                                        <p:tgtEl>
                                          <p:spTgt spid="38"/>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9"/>
                                        </p:tgtEl>
                                        <p:attrNameLst>
                                          <p:attrName>style.visibility</p:attrName>
                                        </p:attrNameLst>
                                      </p:cBhvr>
                                      <p:to>
                                        <p:strVal val="visible"/>
                                      </p:to>
                                    </p:set>
                                    <p:animEffect transition="in" filter="fade">
                                      <p:cBhvr>
                                        <p:cTn id="95" dur="550"/>
                                        <p:tgtEl>
                                          <p:spTgt spid="39"/>
                                        </p:tgtEl>
                                      </p:cBhvr>
                                    </p:animEffect>
                                    <p:anim calcmode="lin" valueType="num">
                                      <p:cBhvr additive="base">
                                        <p:cTn id="96" dur="550" fill="hold"/>
                                        <p:tgtEl>
                                          <p:spTgt spid="39"/>
                                        </p:tgtEl>
                                        <p:attrNameLst>
                                          <p:attrName>ppt_w</p:attrName>
                                        </p:attrNameLst>
                                      </p:cBhvr>
                                      <p:tavLst>
                                        <p:tav tm="0">
                                          <p:val>
                                            <p:strVal val="0"/>
                                          </p:val>
                                        </p:tav>
                                        <p:tav tm="100000">
                                          <p:val>
                                            <p:strVal val="#ppt_w"/>
                                          </p:val>
                                        </p:tav>
                                      </p:tavLst>
                                    </p:anim>
                                    <p:anim calcmode="lin" valueType="num">
                                      <p:cBhvr additive="base">
                                        <p:cTn id="97" dur="550" fill="hold"/>
                                        <p:tgtEl>
                                          <p:spTgt spid="39"/>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40"/>
                                        </p:tgtEl>
                                        <p:attrNameLst>
                                          <p:attrName>style.visibility</p:attrName>
                                        </p:attrNameLst>
                                      </p:cBhvr>
                                      <p:to>
                                        <p:strVal val="visible"/>
                                      </p:to>
                                    </p:set>
                                    <p:animEffect transition="in" filter="fade">
                                      <p:cBhvr>
                                        <p:cTn id="101" dur="550"/>
                                        <p:tgtEl>
                                          <p:spTgt spid="40"/>
                                        </p:tgtEl>
                                      </p:cBhvr>
                                    </p:animEffect>
                                    <p:anim calcmode="lin" valueType="num">
                                      <p:cBhvr additive="base">
                                        <p:cTn id="102" dur="550" fill="hold"/>
                                        <p:tgtEl>
                                          <p:spTgt spid="40"/>
                                        </p:tgtEl>
                                        <p:attrNameLst>
                                          <p:attrName>ppt_x</p:attrName>
                                        </p:attrNameLst>
                                      </p:cBhvr>
                                      <p:tavLst>
                                        <p:tav tm="0">
                                          <p:val>
                                            <p:strVal val="#ppt_x"/>
                                          </p:val>
                                        </p:tav>
                                        <p:tav tm="100000">
                                          <p:val>
                                            <p:strVal val="#ppt_x"/>
                                          </p:val>
                                        </p:tav>
                                      </p:tavLst>
                                    </p:anim>
                                    <p:anim calcmode="lin" valueType="num">
                                      <p:cBhvr additive="base">
                                        <p:cTn id="103" dur="550" fill="hold"/>
                                        <p:tgtEl>
                                          <p:spTgt spid="4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Arifmetik intensivlik va roofline modeli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M5 · Arxitektura va dizayn tamoyillari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18</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f06ad7a4ba9f471b.jpg"/>
          <p:cNvPicPr>
            <a:picLocks noChangeAspect="1"/>
          </p:cNvPicPr>
          <p:nvPr/>
        </p:nvPicPr>
        <p:blipFill>
          <a:blip r:embed="rId2"/>
          <a:srcRect l="26288" r="26288"/>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Eric Gaba (Sting - fr:Sting)
 This  image was created with CombineZP by 11  ( I · Wikimedia Commons · CC BY-SA 3.</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063880"/>
            <a:ext cx="6750000" cy="167112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143880"/>
            <a:ext cx="50000" cy="151112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69944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0" name="TextBox 29"/>
          <p:cNvSpPr txBox="1"/>
          <p:nvPr/>
        </p:nvSpPr>
        <p:spPr>
          <a:xfrm>
            <a:off x="1300000" y="2103880"/>
            <a:ext cx="5900000" cy="1591120"/>
          </a:xfrm>
          <a:prstGeom prst="rect">
            <a:avLst/>
          </a:prstGeom>
          <a:noFill/>
        </p:spPr>
        <p:txBody>
          <a:bodyPr wrap="square" anchor="ctr">
            <a:spAutoFit/>
          </a:bodyPr>
          <a:lstStyle/>
          <a:p>
            <a:r>
              <a:rPr sz="1600" b="0">
                <a:solidFill>
                  <a:srgbClr val="E8EEFA"/>
                </a:solidFill>
                <a:latin typeface="Segoe UI"/>
              </a:rPr>
              <a:t>Bir necha tipik operatsiyaning intensivligi:</a:t>
            </a:r>
          </a:p>
        </p:txBody>
      </p:sp>
      <p:sp>
        <p:nvSpPr>
          <p:cNvPr id="31" name="Rounded Rectangle 30"/>
          <p:cNvSpPr/>
          <p:nvPr/>
        </p:nvSpPr>
        <p:spPr>
          <a:xfrm>
            <a:off x="550000" y="3845000"/>
            <a:ext cx="6750000" cy="167112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1511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480560"/>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4" name="TextBox 33"/>
          <p:cNvSpPr txBox="1"/>
          <p:nvPr/>
        </p:nvSpPr>
        <p:spPr>
          <a:xfrm>
            <a:off x="1300000" y="3885000"/>
            <a:ext cx="5900000" cy="1591120"/>
          </a:xfrm>
          <a:prstGeom prst="rect">
            <a:avLst/>
          </a:prstGeom>
          <a:noFill/>
        </p:spPr>
        <p:txBody>
          <a:bodyPr wrap="square" anchor="ctr">
            <a:spAutoFit/>
          </a:bodyPr>
          <a:lstStyle/>
          <a:p>
            <a:r>
              <a:rPr sz="1600" b="0">
                <a:solidFill>
                  <a:srgbClr val="E8EEFA"/>
                </a:solidFill>
                <a:latin typeface="Segoe UI"/>
              </a:rPr>
              <a:t>Jadval LLM inferensining mashhur muammosini tushuntiradi: batch hajmi 1 bo'lganda har bir yangi token uchun modelning barcha og'irliklari (70 mlrd parametrli model uchun FP16'da 140 GB) xotiradan o'qiladi, lekin har bir og'irlik faqat bitta…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23" name="TextBox 22"/>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Arifmetik intensivlik va roofline modeli</a:t>
            </a:r>
          </a:p>
        </p:txBody>
      </p:sp>
      <p:sp>
        <p:nvSpPr>
          <p:cNvPr id="24" name="Rectangle 23"/>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M5 · Arxitektura va dizayn tamoyillari</a:t>
            </a:r>
          </a:p>
        </p:txBody>
      </p:sp>
      <p:sp>
        <p:nvSpPr>
          <p:cNvPr id="26" name="Rounded Rectangle 25"/>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19</a:t>
            </a:r>
          </a:p>
        </p:txBody>
      </p:sp>
      <p:graphicFrame>
        <p:nvGraphicFramePr>
          <p:cNvPr id="27" name="Table 26"/>
          <p:cNvGraphicFramePr>
            <a:graphicFrameLocks noGrp="1"/>
          </p:cNvGraphicFramePr>
          <p:nvPr/>
        </p:nvGraphicFramePr>
        <p:xfrm>
          <a:off x="550000" y="1400000"/>
          <a:ext cx="11100000" cy="3640000"/>
        </p:xfrm>
        <a:graphic>
          <a:graphicData uri="http://schemas.openxmlformats.org/drawingml/2006/table">
            <a:tbl>
              <a:tblPr firstRow="1" bandRow="1">
                <a:tableStyleId>{5C22544A-7EE6-4342-B048-85BDC9FD1C3A}</a:tableStyleId>
              </a:tblPr>
              <a:tblGrid>
                <a:gridCol w="3700000"/>
                <a:gridCol w="3700000"/>
                <a:gridCol w="3700000"/>
              </a:tblGrid>
              <a:tr h="520000">
                <a:tc>
                  <a:txBody>
                    <a:bodyPr/>
                    <a:lstStyle/>
                    <a:p>
                      <a:r>
                        <a:rPr sz="1200" b="1">
                          <a:solidFill>
                            <a:srgbClr val="22D3EE"/>
                          </a:solidFill>
                          <a:latin typeface="Segoe UI"/>
                        </a:rPr>
                        <a:t>Operatsiya</a:t>
                      </a:r>
                    </a:p>
                  </a:txBody>
                  <a:tcPr>
                    <a:solidFill>
                      <a:srgbClr val="1C2755"/>
                    </a:solidFill>
                  </a:tcPr>
                </a:tc>
                <a:tc>
                  <a:txBody>
                    <a:bodyPr/>
                    <a:lstStyle/>
                    <a:p>
                      <a:r>
                        <a:rPr sz="1200" b="1">
                          <a:solidFill>
                            <a:srgbClr val="22D3EE"/>
                          </a:solidFill>
                          <a:latin typeface="Segoe UI"/>
                        </a:rPr>
                        <a:t>Taxminiy intensivlik (FP16)</a:t>
                      </a:r>
                    </a:p>
                  </a:txBody>
                  <a:tcPr>
                    <a:solidFill>
                      <a:srgbClr val="1C2755"/>
                    </a:solidFill>
                  </a:tcPr>
                </a:tc>
                <a:tc>
                  <a:txBody>
                    <a:bodyPr/>
                    <a:lstStyle/>
                    <a:p>
                      <a:r>
                        <a:rPr sz="1200" b="1">
                          <a:solidFill>
                            <a:srgbClr val="22D3EE"/>
                          </a:solidFill>
                          <a:latin typeface="Segoe UI"/>
                        </a:rPr>
                        <a:t>H100'da holat</a:t>
                      </a:r>
                    </a:p>
                  </a:txBody>
                  <a:tcPr>
                    <a:solidFill>
                      <a:srgbClr val="1C2755"/>
                    </a:solidFill>
                  </a:tcPr>
                </a:tc>
              </a:tr>
              <a:tr h="520000">
                <a:tc>
                  <a:txBody>
                    <a:bodyPr/>
                    <a:lstStyle/>
                    <a:p>
                      <a:r>
                        <a:rPr sz="1200" b="0">
                          <a:solidFill>
                            <a:srgbClr val="E8EEFA"/>
                          </a:solidFill>
                          <a:latin typeface="Segoe UI"/>
                        </a:rPr>
                        <a:t>Vektorlarni qo'shish z = x + y</a:t>
                      </a:r>
                    </a:p>
                  </a:txBody>
                  <a:tcPr>
                    <a:solidFill>
                      <a:srgbClr val="111834"/>
                    </a:solidFill>
                  </a:tcPr>
                </a:tc>
                <a:tc>
                  <a:txBody>
                    <a:bodyPr/>
                    <a:lstStyle/>
                    <a:p>
                      <a:r>
                        <a:rPr sz="1200" b="0">
                          <a:solidFill>
                            <a:srgbClr val="E8EEFA"/>
                          </a:solidFill>
                          <a:latin typeface="Segoe UI"/>
                        </a:rPr>
                        <a:t>~0,17 FLOP/bayt</a:t>
                      </a:r>
                    </a:p>
                  </a:txBody>
                  <a:tcPr>
                    <a:solidFill>
                      <a:srgbClr val="111834"/>
                    </a:solidFill>
                  </a:tcPr>
                </a:tc>
                <a:tc>
                  <a:txBody>
                    <a:bodyPr/>
                    <a:lstStyle/>
                    <a:p>
                      <a:r>
                        <a:rPr sz="1200" b="0">
                          <a:solidFill>
                            <a:srgbClr val="E8EEFA"/>
                          </a:solidFill>
                          <a:latin typeface="Segoe UI"/>
                        </a:rPr>
                        <a:t>qat'iy xotira bilan chegaralangan</a:t>
                      </a:r>
                    </a:p>
                  </a:txBody>
                  <a:tcPr>
                    <a:solidFill>
                      <a:srgbClr val="111834"/>
                    </a:solidFill>
                  </a:tcPr>
                </a:tc>
              </a:tr>
              <a:tr h="520000">
                <a:tc>
                  <a:txBody>
                    <a:bodyPr/>
                    <a:lstStyle/>
                    <a:p>
                      <a:r>
                        <a:rPr sz="1200" b="0">
                          <a:solidFill>
                            <a:srgbClr val="E8EEFA"/>
                          </a:solidFill>
                          <a:latin typeface="Segoe UI"/>
                        </a:rPr>
                        <a:t>ReLU, LayerNorm, Softmax</a:t>
                      </a:r>
                    </a:p>
                  </a:txBody>
                  <a:tcPr>
                    <a:solidFill>
                      <a:srgbClr val="161F40"/>
                    </a:solidFill>
                  </a:tcPr>
                </a:tc>
                <a:tc>
                  <a:txBody>
                    <a:bodyPr/>
                    <a:lstStyle/>
                    <a:p>
                      <a:r>
                        <a:rPr sz="1200" b="0">
                          <a:solidFill>
                            <a:srgbClr val="E8EEFA"/>
                          </a:solidFill>
                          <a:latin typeface="Segoe UI"/>
                        </a:rPr>
                        <a:t>0,3–2 FLOP/bayt</a:t>
                      </a:r>
                    </a:p>
                  </a:txBody>
                  <a:tcPr>
                    <a:solidFill>
                      <a:srgbClr val="161F40"/>
                    </a:solidFill>
                  </a:tcPr>
                </a:tc>
                <a:tc>
                  <a:txBody>
                    <a:bodyPr/>
                    <a:lstStyle/>
                    <a:p>
                      <a:r>
                        <a:rPr sz="1200" b="0">
                          <a:solidFill>
                            <a:srgbClr val="E8EEFA"/>
                          </a:solidFill>
                          <a:latin typeface="Segoe UI"/>
                        </a:rPr>
                        <a:t>xotira bilan chegaralangan</a:t>
                      </a:r>
                    </a:p>
                  </a:txBody>
                  <a:tcPr>
                    <a:solidFill>
                      <a:srgbClr val="161F40"/>
                    </a:solidFill>
                  </a:tcPr>
                </a:tc>
              </a:tr>
              <a:tr h="520000">
                <a:tc>
                  <a:txBody>
                    <a:bodyPr/>
                    <a:lstStyle/>
                    <a:p>
                      <a:r>
                        <a:rPr sz="1200" b="0">
                          <a:solidFill>
                            <a:srgbClr val="E8EEFA"/>
                          </a:solidFill>
                          <a:latin typeface="Segoe UI"/>
                        </a:rPr>
                        <a:t>Matritsa–vektor (LLM dekodlash, batch=1)</a:t>
                      </a:r>
                    </a:p>
                  </a:txBody>
                  <a:tcPr>
                    <a:solidFill>
                      <a:srgbClr val="111834"/>
                    </a:solidFill>
                  </a:tcPr>
                </a:tc>
                <a:tc>
                  <a:txBody>
                    <a:bodyPr/>
                    <a:lstStyle/>
                    <a:p>
                      <a:r>
                        <a:rPr sz="1200" b="0">
                          <a:solidFill>
                            <a:srgbClr val="E8EEFA"/>
                          </a:solidFill>
                          <a:latin typeface="Segoe UI"/>
                        </a:rPr>
                        <a:t>~1 FLOP/bayt</a:t>
                      </a:r>
                    </a:p>
                  </a:txBody>
                  <a:tcPr>
                    <a:solidFill>
                      <a:srgbClr val="111834"/>
                    </a:solidFill>
                  </a:tcPr>
                </a:tc>
                <a:tc>
                  <a:txBody>
                    <a:bodyPr/>
                    <a:lstStyle/>
                    <a:p>
                      <a:r>
                        <a:rPr sz="1200" b="0">
                          <a:solidFill>
                            <a:srgbClr val="E8EEFA"/>
                          </a:solidFill>
                          <a:latin typeface="Segoe UI"/>
                        </a:rPr>
                        <a:t>xotira bilan chegaralangan</a:t>
                      </a:r>
                    </a:p>
                  </a:txBody>
                  <a:tcPr>
                    <a:solidFill>
                      <a:srgbClr val="111834"/>
                    </a:solidFill>
                  </a:tcPr>
                </a:tc>
              </a:tr>
              <a:tr h="520000">
                <a:tc>
                  <a:txBody>
                    <a:bodyPr/>
                    <a:lstStyle/>
                    <a:p>
                      <a:r>
                        <a:rPr sz="1200" b="0">
                          <a:solidFill>
                            <a:srgbClr val="E8EEFA"/>
                          </a:solidFill>
                          <a:latin typeface="Segoe UI"/>
                        </a:rPr>
                        <a:t>GEMM 1024×1024×1024</a:t>
                      </a:r>
                    </a:p>
                  </a:txBody>
                  <a:tcPr>
                    <a:solidFill>
                      <a:srgbClr val="161F40"/>
                    </a:solidFill>
                  </a:tcPr>
                </a:tc>
                <a:tc>
                  <a:txBody>
                    <a:bodyPr/>
                    <a:lstStyle/>
                    <a:p>
                      <a:r>
                        <a:rPr sz="1200" b="0">
                          <a:solidFill>
                            <a:srgbClr val="E8EEFA"/>
                          </a:solidFill>
                          <a:latin typeface="Segoe UI"/>
                        </a:rPr>
                        <a:t>~170 FLOP/bayt</a:t>
                      </a:r>
                    </a:p>
                  </a:txBody>
                  <a:tcPr>
                    <a:solidFill>
                      <a:srgbClr val="161F40"/>
                    </a:solidFill>
                  </a:tcPr>
                </a:tc>
                <a:tc>
                  <a:txBody>
                    <a:bodyPr/>
                    <a:lstStyle/>
                    <a:p>
                      <a:r>
                        <a:rPr sz="1200" b="0">
                          <a:solidFill>
                            <a:srgbClr val="E8EEFA"/>
                          </a:solidFill>
                          <a:latin typeface="Segoe UI"/>
                        </a:rPr>
                        <a:t>o'tish zonasi</a:t>
                      </a:r>
                    </a:p>
                  </a:txBody>
                  <a:tcPr>
                    <a:solidFill>
                      <a:srgbClr val="161F40"/>
                    </a:solidFill>
                  </a:tcPr>
                </a:tc>
              </a:tr>
              <a:tr h="520000">
                <a:tc>
                  <a:txBody>
                    <a:bodyPr/>
                    <a:lstStyle/>
                    <a:p>
                      <a:r>
                        <a:rPr sz="1200" b="0">
                          <a:solidFill>
                            <a:srgbClr val="E8EEFA"/>
                          </a:solidFill>
                          <a:latin typeface="Segoe UI"/>
                        </a:rPr>
                        <a:t>GEMM 8192×8192×8192</a:t>
                      </a:r>
                    </a:p>
                  </a:txBody>
                  <a:tcPr>
                    <a:solidFill>
                      <a:srgbClr val="111834"/>
                    </a:solidFill>
                  </a:tcPr>
                </a:tc>
                <a:tc>
                  <a:txBody>
                    <a:bodyPr/>
                    <a:lstStyle/>
                    <a:p>
                      <a:r>
                        <a:rPr sz="1200" b="0">
                          <a:solidFill>
                            <a:srgbClr val="E8EEFA"/>
                          </a:solidFill>
                          <a:latin typeface="Segoe UI"/>
                        </a:rPr>
                        <a:t>~1365 FLOP/bayt</a:t>
                      </a:r>
                    </a:p>
                  </a:txBody>
                  <a:tcPr>
                    <a:solidFill>
                      <a:srgbClr val="111834"/>
                    </a:solidFill>
                  </a:tcPr>
                </a:tc>
                <a:tc>
                  <a:txBody>
                    <a:bodyPr/>
                    <a:lstStyle/>
                    <a:p>
                      <a:r>
                        <a:rPr sz="1200" b="0">
                          <a:solidFill>
                            <a:srgbClr val="E8EEFA"/>
                          </a:solidFill>
                          <a:latin typeface="Segoe UI"/>
                        </a:rPr>
                        <a:t>hisoblash bilan chegaralangan</a:t>
                      </a:r>
                    </a:p>
                  </a:txBody>
                  <a:tcPr>
                    <a:solidFill>
                      <a:srgbClr val="111834"/>
                    </a:solidFill>
                  </a:tcPr>
                </a:tc>
              </a:tr>
              <a:tr h="520000">
                <a:tc>
                  <a:txBody>
                    <a:bodyPr/>
                    <a:lstStyle/>
                    <a:p>
                      <a:r>
                        <a:rPr sz="1200" b="0">
                          <a:solidFill>
                            <a:srgbClr val="E8EEFA"/>
                          </a:solidFill>
                          <a:latin typeface="Segoe UI"/>
                        </a:rPr>
                        <a:t>Konvolyutsiya 3×3, 256 kanal</a:t>
                      </a:r>
                    </a:p>
                  </a:txBody>
                  <a:tcPr>
                    <a:solidFill>
                      <a:srgbClr val="161F40"/>
                    </a:solidFill>
                  </a:tcPr>
                </a:tc>
                <a:tc>
                  <a:txBody>
                    <a:bodyPr/>
                    <a:lstStyle/>
                    <a:p>
                      <a:r>
                        <a:rPr sz="1200" b="0">
                          <a:solidFill>
                            <a:srgbClr val="E8EEFA"/>
                          </a:solidFill>
                          <a:latin typeface="Segoe UI"/>
                        </a:rPr>
                        <a:t>yuzlab FLOP/bayt</a:t>
                      </a:r>
                    </a:p>
                  </a:txBody>
                  <a:tcPr>
                    <a:solidFill>
                      <a:srgbClr val="161F40"/>
                    </a:solidFill>
                  </a:tcPr>
                </a:tc>
                <a:tc>
                  <a:txBody>
                    <a:bodyPr/>
                    <a:lstStyle/>
                    <a:p>
                      <a:r>
                        <a:rPr sz="1200" b="0">
                          <a:solidFill>
                            <a:srgbClr val="E8EEFA"/>
                          </a:solidFill>
                          <a:latin typeface="Segoe UI"/>
                        </a:rPr>
                        <a:t>hisoblash bilan chegaralangan</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3"/>
                                        </p:tgtEl>
                                        <p:attrNameLst>
                                          <p:attrName>style.visibility</p:attrName>
                                        </p:attrNameLst>
                                      </p:cBhvr>
                                      <p:to>
                                        <p:strVal val="visible"/>
                                      </p:to>
                                    </p:set>
                                    <p:animEffect transition="in" filter="fade">
                                      <p:cBhvr>
                                        <p:cTn id="6" dur="550"/>
                                        <p:tgtEl>
                                          <p:spTgt spid="2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wipe(left)">
                                      <p:cBhvr>
                                        <p:cTn id="11" dur="800"/>
                                        <p:tgtEl>
                                          <p:spTgt spid="24"/>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wipe(left)">
                                      <p:cBhvr>
                                        <p:cTn id="16" dur="8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994346d70ad9af82.jpg"/>
          <p:cNvPicPr>
            <a:picLocks noChangeAspect="1"/>
          </p:cNvPicPr>
          <p:nvPr/>
        </p:nvPicPr>
        <p:blipFill>
          <a:blip r:embed="rId2"/>
          <a:srcRect l="20807" r="20807"/>
          <a:stretch>
            <a:fillRect/>
          </a:stretch>
        </p:blipFill>
        <p:spPr>
          <a:xfrm>
            <a:off x="6300000" y="800000"/>
            <a:ext cx="5300000" cy="4950000"/>
          </a:xfrm>
          <a:prstGeom prst="roundRect">
            <a:avLst/>
          </a:prstGeom>
          <a:ln w="19050">
            <a:solidFill>
              <a:srgbClr val="22D3EE"/>
            </a:solidFill>
          </a:ln>
        </p:spPr>
      </p:pic>
      <p:sp>
        <p:nvSpPr>
          <p:cNvPr id="43" name="TextBox 42"/>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WikiEwout · Wikimedia Commons · CC BY-SA 4.0</a:t>
            </a:r>
          </a:p>
        </p:txBody>
      </p:sp>
      <p:sp>
        <p:nvSpPr>
          <p:cNvPr id="44" name="TextBox 43"/>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05</a:t>
            </a:r>
          </a:p>
        </p:txBody>
      </p:sp>
      <p:sp>
        <p:nvSpPr>
          <p:cNvPr id="45" name="TextBox 44"/>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6" name="TextBox 45"/>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Xotira o'tkazuvchanligini oshirish va ma'lumot almashinuvini kamaytirish usullari</a:t>
            </a:r>
          </a:p>
        </p:txBody>
      </p:sp>
      <p:sp>
        <p:nvSpPr>
          <p:cNvPr id="47" name="Rectangle 46"/>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150"/>
                            </p:stCondLst>
                            <p:childTnLst>
                              <p:par>
                                <p:cTn id="156" presetID="53" presetClass="entr" presetSubtype="16"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anim calcmode="lin" valueType="num">
                                      <p:cBhvr additive="base">
                                        <p:cTn id="159" dur="550" fill="hold"/>
                                        <p:tgtEl>
                                          <p:spTgt spid="41"/>
                                        </p:tgtEl>
                                        <p:attrNameLst>
                                          <p:attrName>ppt_w</p:attrName>
                                        </p:attrNameLst>
                                      </p:cBhvr>
                                      <p:tavLst>
                                        <p:tav tm="0">
                                          <p:val>
                                            <p:strVal val="0"/>
                                          </p:val>
                                        </p:tav>
                                        <p:tav tm="100000">
                                          <p:val>
                                            <p:strVal val="#ppt_w"/>
                                          </p:val>
                                        </p:tav>
                                      </p:tavLst>
                                    </p:anim>
                                    <p:anim calcmode="lin" valueType="num">
                                      <p:cBhvr additive="base">
                                        <p:cTn id="160" dur="550" fill="hold"/>
                                        <p:tgtEl>
                                          <p:spTgt spid="41"/>
                                        </p:tgtEl>
                                        <p:attrNameLst>
                                          <p:attrName>ppt_h</p:attrName>
                                        </p:attrNameLst>
                                      </p:cBhvr>
                                      <p:tavLst>
                                        <p:tav tm="0">
                                          <p:val>
                                            <p:strVal val="0"/>
                                          </p:val>
                                        </p:tav>
                                        <p:tav tm="100000">
                                          <p:val>
                                            <p:strVal val="#ppt_h"/>
                                          </p:val>
                                        </p:tav>
                                      </p:tavLst>
                                    </p:anim>
                                  </p:childTnLst>
                                </p:cTn>
                              </p:par>
                            </p:childTnLst>
                          </p:cTn>
                        </p:par>
                        <p:par>
                          <p:cTn id="161" fill="hold">
                            <p:stCondLst>
                              <p:cond delay="150"/>
                            </p:stCondLst>
                            <p:childTnLst>
                              <p:par>
                                <p:cTn id="162" presetID="53" presetClass="entr" presetSubtype="16" fill="hold" grpId="0" nodeType="afterEffect">
                                  <p:stCondLst>
                                    <p:cond delay="0"/>
                                  </p:stCondLst>
                                  <p:childTnLst>
                                    <p:set>
                                      <p:cBhvr>
                                        <p:cTn id="163" dur="1" fill="hold">
                                          <p:stCondLst>
                                            <p:cond delay="0"/>
                                          </p:stCondLst>
                                        </p:cTn>
                                        <p:tgtEl>
                                          <p:spTgt spid="42"/>
                                        </p:tgtEl>
                                        <p:attrNameLst>
                                          <p:attrName>style.visibility</p:attrName>
                                        </p:attrNameLst>
                                      </p:cBhvr>
                                      <p:to>
                                        <p:strVal val="visible"/>
                                      </p:to>
                                    </p:set>
                                    <p:animEffect transition="in" filter="fade">
                                      <p:cBhvr>
                                        <p:cTn id="164" dur="550"/>
                                        <p:tgtEl>
                                          <p:spTgt spid="42"/>
                                        </p:tgtEl>
                                      </p:cBhvr>
                                    </p:animEffect>
                                    <p:anim calcmode="lin" valueType="num">
                                      <p:cBhvr additive="base">
                                        <p:cTn id="165" dur="550" fill="hold"/>
                                        <p:tgtEl>
                                          <p:spTgt spid="42"/>
                                        </p:tgtEl>
                                        <p:attrNameLst>
                                          <p:attrName>ppt_w</p:attrName>
                                        </p:attrNameLst>
                                      </p:cBhvr>
                                      <p:tavLst>
                                        <p:tav tm="0">
                                          <p:val>
                                            <p:strVal val="0"/>
                                          </p:val>
                                        </p:tav>
                                        <p:tav tm="100000">
                                          <p:val>
                                            <p:strVal val="#ppt_w"/>
                                          </p:val>
                                        </p:tav>
                                      </p:tavLst>
                                    </p:anim>
                                    <p:anim calcmode="lin" valueType="num">
                                      <p:cBhvr additive="base">
                                        <p:cTn id="166" dur="550" fill="hold"/>
                                        <p:tgtEl>
                                          <p:spTgt spid="42"/>
                                        </p:tgtEl>
                                        <p:attrNameLst>
                                          <p:attrName>ppt_h</p:attrName>
                                        </p:attrNameLst>
                                      </p:cBhvr>
                                      <p:tavLst>
                                        <p:tav tm="0">
                                          <p:val>
                                            <p:strVal val="0"/>
                                          </p:val>
                                        </p:tav>
                                        <p:tav tm="100000">
                                          <p:val>
                                            <p:strVal val="#ppt_h"/>
                                          </p:val>
                                        </p:tav>
                                      </p:tavLst>
                                    </p:anim>
                                  </p:childTnLst>
                                </p:cTn>
                              </p:par>
                            </p:childTnLst>
                          </p:cTn>
                        </p:par>
                        <p:par>
                          <p:cTn id="167" fill="hold">
                            <p:stCondLst>
                              <p:cond delay="150"/>
                            </p:stCondLst>
                            <p:childTnLst>
                              <p:par>
                                <p:cTn id="168" presetID="10" presetClass="entr" presetSubtype="0"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childTnLst>
                                </p:cTn>
                              </p:par>
                            </p:childTnLst>
                          </p:cTn>
                        </p:par>
                        <p:par>
                          <p:cTn id="171" fill="hold">
                            <p:stCondLst>
                              <p:cond delay="350"/>
                            </p:stCondLst>
                            <p:childTnLst>
                              <p:par>
                                <p:cTn id="172" presetID="53" presetClass="entr" presetSubtype="16"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anim calcmode="lin" valueType="num">
                                      <p:cBhvr additive="base">
                                        <p:cTn id="175" dur="550" fill="hold"/>
                                        <p:tgtEl>
                                          <p:spTgt spid="44"/>
                                        </p:tgtEl>
                                        <p:attrNameLst>
                                          <p:attrName>ppt_w</p:attrName>
                                        </p:attrNameLst>
                                      </p:cBhvr>
                                      <p:tavLst>
                                        <p:tav tm="0">
                                          <p:val>
                                            <p:strVal val="0"/>
                                          </p:val>
                                        </p:tav>
                                        <p:tav tm="100000">
                                          <p:val>
                                            <p:strVal val="#ppt_w"/>
                                          </p:val>
                                        </p:tav>
                                      </p:tavLst>
                                    </p:anim>
                                    <p:anim calcmode="lin" valueType="num">
                                      <p:cBhvr additive="base">
                                        <p:cTn id="176" dur="550" fill="hold"/>
                                        <p:tgtEl>
                                          <p:spTgt spid="44"/>
                                        </p:tgtEl>
                                        <p:attrNameLst>
                                          <p:attrName>ppt_h</p:attrName>
                                        </p:attrNameLst>
                                      </p:cBhvr>
                                      <p:tavLst>
                                        <p:tav tm="0">
                                          <p:val>
                                            <p:strVal val="0"/>
                                          </p:val>
                                        </p:tav>
                                        <p:tav tm="100000">
                                          <p:val>
                                            <p:strVal val="#ppt_h"/>
                                          </p:val>
                                        </p:tav>
                                      </p:tavLst>
                                    </p:anim>
                                  </p:childTnLst>
                                </p:cTn>
                              </p:par>
                            </p:childTnLst>
                          </p:cTn>
                        </p:par>
                        <p:par>
                          <p:cTn id="177" fill="hold">
                            <p:stCondLst>
                              <p:cond delay="450"/>
                            </p:stCondLst>
                            <p:childTnLst>
                              <p:par>
                                <p:cTn id="178" presetID="10" presetClass="entr" presetSubtype="0"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Effect transition="in" filter="fade">
                                      <p:cBhvr>
                                        <p:cTn id="180" dur="550"/>
                                        <p:tgtEl>
                                          <p:spTgt spid="45"/>
                                        </p:tgtEl>
                                      </p:cBhvr>
                                    </p:animEffect>
                                  </p:childTnLst>
                                </p:cTn>
                              </p:par>
                            </p:childTnLst>
                          </p:cTn>
                        </p:par>
                        <p:par>
                          <p:cTn id="181" fill="hold">
                            <p:stCondLst>
                              <p:cond delay="550"/>
                            </p:stCondLst>
                            <p:childTnLst>
                              <p:par>
                                <p:cTn id="182" presetID="2" presetClass="entr" presetSubtype="8"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 calcmode="lin" valueType="num">
                                      <p:cBhvr additive="base">
                                        <p:cTn id="185" dur="550" fill="hold"/>
                                        <p:tgtEl>
                                          <p:spTgt spid="46"/>
                                        </p:tgtEl>
                                        <p:attrNameLst>
                                          <p:attrName>ppt_x</p:attrName>
                                        </p:attrNameLst>
                                      </p:cBhvr>
                                      <p:tavLst>
                                        <p:tav tm="0">
                                          <p:val>
                                            <p:strVal val="0-#ppt_w/2"/>
                                          </p:val>
                                        </p:tav>
                                        <p:tav tm="100000">
                                          <p:val>
                                            <p:strVal val="#ppt_x"/>
                                          </p:val>
                                        </p:tav>
                                      </p:tavLst>
                                    </p:anim>
                                    <p:anim calcmode="lin" valueType="num">
                                      <p:cBhvr additive="base">
                                        <p:cTn id="186" dur="550" fill="hold"/>
                                        <p:tgtEl>
                                          <p:spTgt spid="46"/>
                                        </p:tgtEl>
                                        <p:attrNameLst>
                                          <p:attrName>ppt_y</p:attrName>
                                        </p:attrNameLst>
                                      </p:cBhvr>
                                      <p:tavLst>
                                        <p:tav tm="0">
                                          <p:val>
                                            <p:strVal val="#ppt_y"/>
                                          </p:val>
                                        </p:tav>
                                        <p:tav tm="100000">
                                          <p:val>
                                            <p:strVal val="#ppt_y"/>
                                          </p:val>
                                        </p:tav>
                                      </p:tavLst>
                                    </p:anim>
                                  </p:childTnLst>
                                </p:cTn>
                              </p:par>
                            </p:childTnLst>
                          </p:cTn>
                        </p:par>
                        <p:par>
                          <p:cTn id="187" fill="hold">
                            <p:stCondLst>
                              <p:cond delay="650"/>
                            </p:stCondLst>
                            <p:childTnLst>
                              <p:par>
                                <p:cTn id="188" presetID="22" presetClass="entr" presetSubtype="8" fill="hold" grpId="0" nodeType="afterEffect">
                                  <p:stCondLst>
                                    <p:cond delay="0"/>
                                  </p:stCondLst>
                                  <p:childTnLst>
                                    <p:set>
                                      <p:cBhvr>
                                        <p:cTn id="189" dur="1" fill="hold">
                                          <p:stCondLst>
                                            <p:cond delay="0"/>
                                          </p:stCondLst>
                                        </p:cTn>
                                        <p:tgtEl>
                                          <p:spTgt spid="47"/>
                                        </p:tgtEl>
                                        <p:attrNameLst>
                                          <p:attrName>style.visibility</p:attrName>
                                        </p:attrNameLst>
                                      </p:cBhvr>
                                      <p:to>
                                        <p:strVal val="visible"/>
                                      </p:to>
                                    </p:set>
                                    <p:animEffect transition="in" filter="wipe(left)">
                                      <p:cBhvr>
                                        <p:cTn id="191" dur="8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Xotira o'tkazuvchanligini oshirish va ma'lumot almashinuvini kamaytirish usullari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M5 · Arxitektura va dizayn tamoyillari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21</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fccdf8c0a9ea0f98.jpg"/>
          <p:cNvPicPr>
            <a:picLocks noChangeAspect="1"/>
          </p:cNvPicPr>
          <p:nvPr/>
        </p:nvPicPr>
        <p:blipFill>
          <a:blip r:embed="rId2"/>
          <a:srcRect l="2353" r="2353"/>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Blake Patterson from Alexandria, VA, USA · Wikimedia Commons · CC BY 2.0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330001"/>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410001"/>
            <a:ext cx="50000" cy="140666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191333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1370001"/>
            <a:ext cx="5900000" cy="1486666"/>
          </a:xfrm>
          <a:prstGeom prst="rect">
            <a:avLst/>
          </a:prstGeom>
          <a:noFill/>
        </p:spPr>
        <p:txBody>
          <a:bodyPr wrap="square" anchor="ctr">
            <a:spAutoFit/>
          </a:bodyPr>
          <a:lstStyle/>
          <a:p>
            <a:r>
              <a:rPr sz="1400" b="0">
                <a:solidFill>
                  <a:srgbClr val="E8EEFA"/>
                </a:solidFill>
                <a:latin typeface="Segoe UI"/>
              </a:rPr>
              <a:t>Muhandislik amaliyotida quyidagi usullar guruhi ajralib turadi.</a:t>
            </a:r>
          </a:p>
        </p:txBody>
      </p:sp>
      <p:sp>
        <p:nvSpPr>
          <p:cNvPr id="32" name="Rounded Rectangle 31"/>
          <p:cNvSpPr/>
          <p:nvPr/>
        </p:nvSpPr>
        <p:spPr>
          <a:xfrm>
            <a:off x="550000" y="3006667"/>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086667"/>
            <a:ext cx="50000" cy="140666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046667"/>
            <a:ext cx="5900000" cy="1486666"/>
          </a:xfrm>
          <a:prstGeom prst="rect">
            <a:avLst/>
          </a:prstGeom>
          <a:noFill/>
        </p:spPr>
        <p:txBody>
          <a:bodyPr wrap="square" anchor="ctr">
            <a:spAutoFit/>
          </a:bodyPr>
          <a:lstStyle/>
          <a:p>
            <a:r>
              <a:rPr sz="1500" b="1">
                <a:solidFill>
                  <a:srgbClr val="E8EEFA"/>
                </a:solidFill>
                <a:latin typeface="Segoe UI"/>
              </a:rPr>
              <a:t>Apparat darajasida: HBM (High Bandwidth Memory) — DRAM kristallarini vertikal stakalab, GPU bilan keng (1024+ bit) interfeys orqali ulash; H100'da HBM3, B200'da HBM3e ishlatiladi.</a:t>
            </a:r>
          </a:p>
          <a:p>
            <a:pPr>
              <a:spcBef>
                <a:spcPts val="400"/>
              </a:spcBef>
            </a:pPr>
            <a:r>
              <a:rPr sz="1400">
                <a:solidFill>
                  <a:srgbClr val="AEBBD9"/>
                </a:solidFill>
                <a:latin typeface="Segoe UI"/>
              </a:rPr>
              <a:t>Keng L2/L3 keshlar (AMD EPYC Genoa-X'da 1 GB gacha 3D V-Cache). NVLink — GPU'lar orasida PCIe'dan bir necha marta tezroq havola (H100'da 900 GB/s). CXL (Compute Express Link) — CPU xotirasini kengaytirish va keshni izchil ulashish uchun yangi standart.</a:t>
            </a:r>
          </a:p>
        </p:txBody>
      </p:sp>
      <p:sp>
        <p:nvSpPr>
          <p:cNvPr id="36" name="Rounded Rectangle 35"/>
          <p:cNvSpPr/>
          <p:nvPr/>
        </p:nvSpPr>
        <p:spPr>
          <a:xfrm>
            <a:off x="550000" y="4683333"/>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50000" y="4763333"/>
            <a:ext cx="50000" cy="140666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60000" y="5266666"/>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9" name="TextBox 38"/>
          <p:cNvSpPr txBox="1"/>
          <p:nvPr/>
        </p:nvSpPr>
        <p:spPr>
          <a:xfrm>
            <a:off x="1300000" y="4723333"/>
            <a:ext cx="5900000" cy="1486666"/>
          </a:xfrm>
          <a:prstGeom prst="rect">
            <a:avLst/>
          </a:prstGeom>
          <a:noFill/>
        </p:spPr>
        <p:txBody>
          <a:bodyPr wrap="square" anchor="ctr">
            <a:spAutoFit/>
          </a:bodyPr>
          <a:lstStyle/>
          <a:p>
            <a:r>
              <a:rPr sz="1400" b="0">
                <a:solidFill>
                  <a:srgbClr val="E8EEFA"/>
                </a:solidFill>
                <a:latin typeface="Segoe UI"/>
              </a:rPr>
              <a:t>Algoritm darajasida: tiling (bloklash) — katta matritsani keshga sig'adigan bloklarga bo'lib, har bir blok ustida maksimal ishni bajarish; bu GEMM kutubxonalarining (cuBLAS, oneDNN) asosiy tamoyili.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fade">
                                      <p:cBhvr>
                                        <p:cTn id="83" dur="550"/>
                                        <p:tgtEl>
                                          <p:spTgt spid="36"/>
                                        </p:tgtEl>
                                      </p:cBhvr>
                                    </p:animEffect>
                                    <p:anim calcmode="lin" valueType="num">
                                      <p:cBhvr additive="base">
                                        <p:cTn id="84" dur="550" fill="hold"/>
                                        <p:tgtEl>
                                          <p:spTgt spid="36"/>
                                        </p:tgtEl>
                                        <p:attrNameLst>
                                          <p:attrName>ppt_x</p:attrName>
                                        </p:attrNameLst>
                                      </p:cBhvr>
                                      <p:tavLst>
                                        <p:tav tm="0">
                                          <p:val>
                                            <p:strVal val="#ppt_x"/>
                                          </p:val>
                                        </p:tav>
                                        <p:tav tm="100000">
                                          <p:val>
                                            <p:strVal val="#ppt_x"/>
                                          </p:val>
                                        </p:tav>
                                      </p:tavLst>
                                    </p:anim>
                                    <p:anim calcmode="lin" valueType="num">
                                      <p:cBhvr additive="base">
                                        <p:cTn id="85" dur="550" fill="hold"/>
                                        <p:tgtEl>
                                          <p:spTgt spid="36"/>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7"/>
                                        </p:tgtEl>
                                        <p:attrNameLst>
                                          <p:attrName>style.visibility</p:attrName>
                                        </p:attrNameLst>
                                      </p:cBhvr>
                                      <p:to>
                                        <p:strVal val="visible"/>
                                      </p:to>
                                    </p:set>
                                    <p:animEffect transition="in" filter="fade">
                                      <p:cBhvr>
                                        <p:cTn id="89" dur="550"/>
                                        <p:tgtEl>
                                          <p:spTgt spid="37"/>
                                        </p:tgtEl>
                                      </p:cBhvr>
                                    </p:animEffect>
                                    <p:anim calcmode="lin" valueType="num">
                                      <p:cBhvr additive="base">
                                        <p:cTn id="90" dur="550" fill="hold"/>
                                        <p:tgtEl>
                                          <p:spTgt spid="37"/>
                                        </p:tgtEl>
                                        <p:attrNameLst>
                                          <p:attrName>ppt_x</p:attrName>
                                        </p:attrNameLst>
                                      </p:cBhvr>
                                      <p:tavLst>
                                        <p:tav tm="0">
                                          <p:val>
                                            <p:strVal val="#ppt_x"/>
                                          </p:val>
                                        </p:tav>
                                        <p:tav tm="100000">
                                          <p:val>
                                            <p:strVal val="#ppt_x"/>
                                          </p:val>
                                        </p:tav>
                                      </p:tavLst>
                                    </p:anim>
                                    <p:anim calcmode="lin" valueType="num">
                                      <p:cBhvr additive="base">
                                        <p:cTn id="91" dur="550" fill="hold"/>
                                        <p:tgtEl>
                                          <p:spTgt spid="37"/>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8"/>
                                        </p:tgtEl>
                                        <p:attrNameLst>
                                          <p:attrName>style.visibility</p:attrName>
                                        </p:attrNameLst>
                                      </p:cBhvr>
                                      <p:to>
                                        <p:strVal val="visible"/>
                                      </p:to>
                                    </p:set>
                                    <p:animEffect transition="in" filter="fade">
                                      <p:cBhvr>
                                        <p:cTn id="95" dur="550"/>
                                        <p:tgtEl>
                                          <p:spTgt spid="38"/>
                                        </p:tgtEl>
                                      </p:cBhvr>
                                    </p:animEffect>
                                    <p:anim calcmode="lin" valueType="num">
                                      <p:cBhvr additive="base">
                                        <p:cTn id="96" dur="550" fill="hold"/>
                                        <p:tgtEl>
                                          <p:spTgt spid="38"/>
                                        </p:tgtEl>
                                        <p:attrNameLst>
                                          <p:attrName>ppt_w</p:attrName>
                                        </p:attrNameLst>
                                      </p:cBhvr>
                                      <p:tavLst>
                                        <p:tav tm="0">
                                          <p:val>
                                            <p:strVal val="0"/>
                                          </p:val>
                                        </p:tav>
                                        <p:tav tm="100000">
                                          <p:val>
                                            <p:strVal val="#ppt_w"/>
                                          </p:val>
                                        </p:tav>
                                      </p:tavLst>
                                    </p:anim>
                                    <p:anim calcmode="lin" valueType="num">
                                      <p:cBhvr additive="base">
                                        <p:cTn id="97" dur="550" fill="hold"/>
                                        <p:tgtEl>
                                          <p:spTgt spid="38"/>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fade">
                                      <p:cBhvr>
                                        <p:cTn id="101" dur="550"/>
                                        <p:tgtEl>
                                          <p:spTgt spid="39"/>
                                        </p:tgtEl>
                                      </p:cBhvr>
                                    </p:animEffect>
                                    <p:anim calcmode="lin" valueType="num">
                                      <p:cBhvr additive="base">
                                        <p:cTn id="102" dur="550" fill="hold"/>
                                        <p:tgtEl>
                                          <p:spTgt spid="39"/>
                                        </p:tgtEl>
                                        <p:attrNameLst>
                                          <p:attrName>ppt_x</p:attrName>
                                        </p:attrNameLst>
                                      </p:cBhvr>
                                      <p:tavLst>
                                        <p:tav tm="0">
                                          <p:val>
                                            <p:strVal val="#ppt_x"/>
                                          </p:val>
                                        </p:tav>
                                        <p:tav tm="100000">
                                          <p:val>
                                            <p:strVal val="#ppt_x"/>
                                          </p:val>
                                        </p:tav>
                                      </p:tavLst>
                                    </p:anim>
                                    <p:anim calcmode="lin" valueType="num">
                                      <p:cBhvr additive="base">
                                        <p:cTn id="103" dur="550" fill="hold"/>
                                        <p:tgtEl>
                                          <p:spTgt spid="3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17" name="TextBox 16"/>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Xotira o'tkazuvchanligini oshirish va ma'lumot almashinuvini kamaytirish usullari</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M5 · Arxitektura va dizayn tamoyillari</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22</a:t>
            </a:r>
          </a:p>
        </p:txBody>
      </p:sp>
      <p:sp>
        <p:nvSpPr>
          <p:cNvPr id="21" name="Rounded Rectangle 20"/>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5efb5ddfc765993b.jpg"/>
          <p:cNvPicPr>
            <a:picLocks noChangeAspect="1"/>
          </p:cNvPicPr>
          <p:nvPr/>
        </p:nvPicPr>
        <p:blipFill>
          <a:blip r:embed="rId2"/>
          <a:srcRect l="18434" r="18434"/>
          <a:stretch>
            <a:fillRect/>
          </a:stretch>
        </p:blipFill>
        <p:spPr>
          <a:xfrm>
            <a:off x="7620000" y="1430000"/>
            <a:ext cx="4050000" cy="4250000"/>
          </a:xfrm>
          <a:prstGeom prst="roundRect">
            <a:avLst/>
          </a:prstGeom>
          <a:ln w="19050">
            <a:solidFill>
              <a:srgbClr val="22D3EE"/>
            </a:solidFill>
          </a:ln>
        </p:spPr>
      </p:pic>
      <p:sp>
        <p:nvSpPr>
          <p:cNvPr id="23" name="TextBox 22"/>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Vintechcomputerservices · Wikimedia Commons · CC BY-SA 4.0</a:t>
            </a:r>
          </a:p>
        </p:txBody>
      </p:sp>
      <p:sp>
        <p:nvSpPr>
          <p:cNvPr id="24" name="Rounded Rectangle 23"/>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5" name="Rounded Rectangle 24"/>
          <p:cNvSpPr/>
          <p:nvPr/>
        </p:nvSpPr>
        <p:spPr>
          <a:xfrm>
            <a:off x="550000" y="2063880"/>
            <a:ext cx="6750000" cy="167112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2143880"/>
            <a:ext cx="50000" cy="151112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269944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28" name="TextBox 27"/>
          <p:cNvSpPr txBox="1"/>
          <p:nvPr/>
        </p:nvSpPr>
        <p:spPr>
          <a:xfrm>
            <a:off x="1300000" y="2103880"/>
            <a:ext cx="5900000" cy="1591120"/>
          </a:xfrm>
          <a:prstGeom prst="rect">
            <a:avLst/>
          </a:prstGeom>
          <a:noFill/>
        </p:spPr>
        <p:txBody>
          <a:bodyPr wrap="square" anchor="ctr">
            <a:spAutoFit/>
          </a:bodyPr>
          <a:lstStyle/>
          <a:p>
            <a:r>
              <a:rPr sz="1600" b="0">
                <a:solidFill>
                  <a:srgbClr val="E8EEFA"/>
                </a:solidFill>
                <a:latin typeface="Segoe UI"/>
              </a:rPr>
              <a:t>Tizim darajasida: pinned (sahifalanmaydigan, page-locked) xotira — cudaHostAlloc yoki PyTorch'da pin_memory=True — CPU→GPU nusxalashni DMA orqali to'g'ridan-to'g'ri va asinxron bajarish imkonini beradi; dataloader'da num_workers va prefetch_factor orqali…</a:t>
            </a:r>
          </a:p>
        </p:txBody>
      </p:sp>
      <p:sp>
        <p:nvSpPr>
          <p:cNvPr id="29" name="Rounded Rectangle 28"/>
          <p:cNvSpPr/>
          <p:nvPr/>
        </p:nvSpPr>
        <p:spPr>
          <a:xfrm>
            <a:off x="550000" y="3845000"/>
            <a:ext cx="6750000" cy="167112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3925000"/>
            <a:ext cx="50000" cy="1511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4480560"/>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2" name="TextBox 31"/>
          <p:cNvSpPr txBox="1"/>
          <p:nvPr/>
        </p:nvSpPr>
        <p:spPr>
          <a:xfrm>
            <a:off x="1300000" y="3885000"/>
            <a:ext cx="5900000" cy="1591120"/>
          </a:xfrm>
          <a:prstGeom prst="rect">
            <a:avLst/>
          </a:prstGeom>
          <a:noFill/>
        </p:spPr>
        <p:txBody>
          <a:bodyPr wrap="square" anchor="ctr">
            <a:spAutoFit/>
          </a:bodyPr>
          <a:lstStyle/>
          <a:p>
            <a:r>
              <a:rPr sz="1600" b="0">
                <a:solidFill>
                  <a:srgbClr val="E8EEFA"/>
                </a:solidFill>
                <a:latin typeface="Segoe UI"/>
              </a:rPr>
              <a:t>Ushbu usullarning barchasini birlashtiruvchi tamoyil bitta: hisoblashni ma'lumot yoniga olib borish, ma'lumotni hisoblash yoniga emas.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ppt_w</p:attrName>
                                        </p:attrNameLst>
                                      </p:cBhvr>
                                      <p:tavLst>
                                        <p:tav tm="0">
                                          <p:val>
                                            <p:strVal val="0"/>
                                          </p:val>
                                        </p:tav>
                                        <p:tav tm="100000">
                                          <p:val>
                                            <p:strVal val="#ppt_w"/>
                                          </p:val>
                                        </p:tav>
                                      </p:tavLst>
                                    </p:anim>
                                    <p:anim calcmode="lin" valueType="num">
                                      <p:cBhvr additive="base">
                                        <p:cTn id="17" dur="550" fill="hold"/>
                                        <p:tgtEl>
                                          <p:spTgt spid="21"/>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anim calcmode="lin" valueType="num">
                                      <p:cBhvr additive="base">
                                        <p:cTn id="22" dur="550" fill="hold"/>
                                        <p:tgtEl>
                                          <p:spTgt spid="22"/>
                                        </p:tgtEl>
                                        <p:attrNameLst>
                                          <p:attrName>ppt_w</p:attrName>
                                        </p:attrNameLst>
                                      </p:cBhvr>
                                      <p:tavLst>
                                        <p:tav tm="0">
                                          <p:val>
                                            <p:strVal val="0"/>
                                          </p:val>
                                        </p:tav>
                                        <p:tav tm="100000">
                                          <p:val>
                                            <p:strVal val="#ppt_w"/>
                                          </p:val>
                                        </p:tav>
                                      </p:tavLst>
                                    </p:anim>
                                    <p:anim calcmode="lin" valueType="num">
                                      <p:cBhvr additive="base">
                                        <p:cTn id="23" dur="550" fill="hold"/>
                                        <p:tgtEl>
                                          <p:spTgt spid="22"/>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50"/>
                                        <p:tgtEl>
                                          <p:spTgt spid="23"/>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5"/>
                                        </p:tgtEl>
                                        <p:attrNameLst>
                                          <p:attrName>style.visibility</p:attrName>
                                        </p:attrNameLst>
                                      </p:cBhvr>
                                      <p:to>
                                        <p:strVal val="visible"/>
                                      </p:to>
                                    </p:set>
                                    <p:animEffect transition="in" filter="fade">
                                      <p:cBhvr>
                                        <p:cTn id="35" dur="550"/>
                                        <p:tgtEl>
                                          <p:spTgt spid="25"/>
                                        </p:tgtEl>
                                      </p:cBhvr>
                                    </p:animEffect>
                                    <p:anim calcmode="lin" valueType="num">
                                      <p:cBhvr additive="base">
                                        <p:cTn id="36" dur="550" fill="hold"/>
                                        <p:tgtEl>
                                          <p:spTgt spid="25"/>
                                        </p:tgtEl>
                                        <p:attrNameLst>
                                          <p:attrName>ppt_x</p:attrName>
                                        </p:attrNameLst>
                                      </p:cBhvr>
                                      <p:tavLst>
                                        <p:tav tm="0">
                                          <p:val>
                                            <p:strVal val="#ppt_x"/>
                                          </p:val>
                                        </p:tav>
                                        <p:tav tm="100000">
                                          <p:val>
                                            <p:strVal val="#ppt_x"/>
                                          </p:val>
                                        </p:tav>
                                      </p:tavLst>
                                    </p:anim>
                                    <p:anim calcmode="lin" valueType="num">
                                      <p:cBhvr additive="base">
                                        <p:cTn id="37" dur="550" fill="hold"/>
                                        <p:tgtEl>
                                          <p:spTgt spid="25"/>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6"/>
                                        </p:tgtEl>
                                        <p:attrNameLst>
                                          <p:attrName>style.visibility</p:attrName>
                                        </p:attrNameLst>
                                      </p:cBhvr>
                                      <p:to>
                                        <p:strVal val="visible"/>
                                      </p:to>
                                    </p:set>
                                    <p:animEffect transition="in" filter="fade">
                                      <p:cBhvr>
                                        <p:cTn id="41" dur="550"/>
                                        <p:tgtEl>
                                          <p:spTgt spid="26"/>
                                        </p:tgtEl>
                                      </p:cBhvr>
                                    </p:animEffect>
                                    <p:anim calcmode="lin" valueType="num">
                                      <p:cBhvr additive="base">
                                        <p:cTn id="42" dur="550" fill="hold"/>
                                        <p:tgtEl>
                                          <p:spTgt spid="26"/>
                                        </p:tgtEl>
                                        <p:attrNameLst>
                                          <p:attrName>ppt_x</p:attrName>
                                        </p:attrNameLst>
                                      </p:cBhvr>
                                      <p:tavLst>
                                        <p:tav tm="0">
                                          <p:val>
                                            <p:strVal val="#ppt_x"/>
                                          </p:val>
                                        </p:tav>
                                        <p:tav tm="100000">
                                          <p:val>
                                            <p:strVal val="#ppt_x"/>
                                          </p:val>
                                        </p:tav>
                                      </p:tavLst>
                                    </p:anim>
                                    <p:anim calcmode="lin" valueType="num">
                                      <p:cBhvr additive="base">
                                        <p:cTn id="43" dur="550" fill="hold"/>
                                        <p:tgtEl>
                                          <p:spTgt spid="26"/>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550"/>
                                        <p:tgtEl>
                                          <p:spTgt spid="27"/>
                                        </p:tgtEl>
                                      </p:cBhvr>
                                    </p:animEffect>
                                    <p:anim calcmode="lin" valueType="num">
                                      <p:cBhvr additive="base">
                                        <p:cTn id="48" dur="550" fill="hold"/>
                                        <p:tgtEl>
                                          <p:spTgt spid="27"/>
                                        </p:tgtEl>
                                        <p:attrNameLst>
                                          <p:attrName>ppt_w</p:attrName>
                                        </p:attrNameLst>
                                      </p:cBhvr>
                                      <p:tavLst>
                                        <p:tav tm="0">
                                          <p:val>
                                            <p:strVal val="0"/>
                                          </p:val>
                                        </p:tav>
                                        <p:tav tm="100000">
                                          <p:val>
                                            <p:strVal val="#ppt_w"/>
                                          </p:val>
                                        </p:tav>
                                      </p:tavLst>
                                    </p:anim>
                                    <p:anim calcmode="lin" valueType="num">
                                      <p:cBhvr additive="base">
                                        <p:cTn id="49" dur="550" fill="hold"/>
                                        <p:tgtEl>
                                          <p:spTgt spid="27"/>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550"/>
                                        <p:tgtEl>
                                          <p:spTgt spid="28"/>
                                        </p:tgtEl>
                                      </p:cBhvr>
                                    </p:animEffect>
                                    <p:anim calcmode="lin" valueType="num">
                                      <p:cBhvr additive="base">
                                        <p:cTn id="54" dur="550" fill="hold"/>
                                        <p:tgtEl>
                                          <p:spTgt spid="28"/>
                                        </p:tgtEl>
                                        <p:attrNameLst>
                                          <p:attrName>ppt_x</p:attrName>
                                        </p:attrNameLst>
                                      </p:cBhvr>
                                      <p:tavLst>
                                        <p:tav tm="0">
                                          <p:val>
                                            <p:strVal val="#ppt_x"/>
                                          </p:val>
                                        </p:tav>
                                        <p:tav tm="100000">
                                          <p:val>
                                            <p:strVal val="#ppt_x"/>
                                          </p:val>
                                        </p:tav>
                                      </p:tavLst>
                                    </p:anim>
                                    <p:anim calcmode="lin" valueType="num">
                                      <p:cBhvr additive="base">
                                        <p:cTn id="55" dur="550" fill="hold"/>
                                        <p:tgtEl>
                                          <p:spTgt spid="28"/>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550"/>
                                        <p:tgtEl>
                                          <p:spTgt spid="29"/>
                                        </p:tgtEl>
                                      </p:cBhvr>
                                    </p:animEffect>
                                    <p:anim calcmode="lin" valueType="num">
                                      <p:cBhvr additive="base">
                                        <p:cTn id="60" dur="550" fill="hold"/>
                                        <p:tgtEl>
                                          <p:spTgt spid="29"/>
                                        </p:tgtEl>
                                        <p:attrNameLst>
                                          <p:attrName>ppt_x</p:attrName>
                                        </p:attrNameLst>
                                      </p:cBhvr>
                                      <p:tavLst>
                                        <p:tav tm="0">
                                          <p:val>
                                            <p:strVal val="#ppt_x"/>
                                          </p:val>
                                        </p:tav>
                                        <p:tav tm="100000">
                                          <p:val>
                                            <p:strVal val="#ppt_x"/>
                                          </p:val>
                                        </p:tav>
                                      </p:tavLst>
                                    </p:anim>
                                    <p:anim calcmode="lin" valueType="num">
                                      <p:cBhvr additive="base">
                                        <p:cTn id="61" dur="550" fill="hold"/>
                                        <p:tgtEl>
                                          <p:spTgt spid="29"/>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0"/>
                                        </p:tgtEl>
                                        <p:attrNameLst>
                                          <p:attrName>style.visibility</p:attrName>
                                        </p:attrNameLst>
                                      </p:cBhvr>
                                      <p:to>
                                        <p:strVal val="visible"/>
                                      </p:to>
                                    </p:set>
                                    <p:animEffect transition="in" filter="fade">
                                      <p:cBhvr>
                                        <p:cTn id="65" dur="550"/>
                                        <p:tgtEl>
                                          <p:spTgt spid="30"/>
                                        </p:tgtEl>
                                      </p:cBhvr>
                                    </p:animEffect>
                                    <p:anim calcmode="lin" valueType="num">
                                      <p:cBhvr additive="base">
                                        <p:cTn id="66" dur="550" fill="hold"/>
                                        <p:tgtEl>
                                          <p:spTgt spid="30"/>
                                        </p:tgtEl>
                                        <p:attrNameLst>
                                          <p:attrName>ppt_x</p:attrName>
                                        </p:attrNameLst>
                                      </p:cBhvr>
                                      <p:tavLst>
                                        <p:tav tm="0">
                                          <p:val>
                                            <p:strVal val="#ppt_x"/>
                                          </p:val>
                                        </p:tav>
                                        <p:tav tm="100000">
                                          <p:val>
                                            <p:strVal val="#ppt_x"/>
                                          </p:val>
                                        </p:tav>
                                      </p:tavLst>
                                    </p:anim>
                                    <p:anim calcmode="lin" valueType="num">
                                      <p:cBhvr additive="base">
                                        <p:cTn id="67" dur="550" fill="hold"/>
                                        <p:tgtEl>
                                          <p:spTgt spid="30"/>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50"/>
                                        <p:tgtEl>
                                          <p:spTgt spid="31"/>
                                        </p:tgtEl>
                                      </p:cBhvr>
                                    </p:animEffect>
                                    <p:anim calcmode="lin" valueType="num">
                                      <p:cBhvr additive="base">
                                        <p:cTn id="72" dur="550" fill="hold"/>
                                        <p:tgtEl>
                                          <p:spTgt spid="31"/>
                                        </p:tgtEl>
                                        <p:attrNameLst>
                                          <p:attrName>ppt_w</p:attrName>
                                        </p:attrNameLst>
                                      </p:cBhvr>
                                      <p:tavLst>
                                        <p:tav tm="0">
                                          <p:val>
                                            <p:strVal val="0"/>
                                          </p:val>
                                        </p:tav>
                                        <p:tav tm="100000">
                                          <p:val>
                                            <p:strVal val="#ppt_w"/>
                                          </p:val>
                                        </p:tav>
                                      </p:tavLst>
                                    </p:anim>
                                    <p:anim calcmode="lin" valueType="num">
                                      <p:cBhvr additive="base">
                                        <p:cTn id="73" dur="550" fill="hold"/>
                                        <p:tgtEl>
                                          <p:spTgt spid="31"/>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2"/>
                                        </p:tgtEl>
                                        <p:attrNameLst>
                                          <p:attrName>style.visibility</p:attrName>
                                        </p:attrNameLst>
                                      </p:cBhvr>
                                      <p:to>
                                        <p:strVal val="visible"/>
                                      </p:to>
                                    </p:set>
                                    <p:animEffect transition="in" filter="fade">
                                      <p:cBhvr>
                                        <p:cTn id="77" dur="550"/>
                                        <p:tgtEl>
                                          <p:spTgt spid="32"/>
                                        </p:tgtEl>
                                      </p:cBhvr>
                                    </p:animEffect>
                                    <p:anim calcmode="lin" valueType="num">
                                      <p:cBhvr additive="base">
                                        <p:cTn id="78" dur="550" fill="hold"/>
                                        <p:tgtEl>
                                          <p:spTgt spid="32"/>
                                        </p:tgtEl>
                                        <p:attrNameLst>
                                          <p:attrName>ppt_x</p:attrName>
                                        </p:attrNameLst>
                                      </p:cBhvr>
                                      <p:tavLst>
                                        <p:tav tm="0">
                                          <p:val>
                                            <p:strVal val="#ppt_x"/>
                                          </p:val>
                                        </p:tav>
                                        <p:tav tm="100000">
                                          <p:val>
                                            <p:strVal val="#ppt_x"/>
                                          </p:val>
                                        </p:tav>
                                      </p:tavLst>
                                    </p:anim>
                                    <p:anim calcmode="lin" valueType="num">
                                      <p:cBhvr additive="base">
                                        <p:cTn id="79"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4" grpId="0" animBg="1"/>
      <p:bldP spid="23"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80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0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0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0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80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80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0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80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80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80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345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45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45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45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345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45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45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45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45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45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45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45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45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45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45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45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45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45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45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45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45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45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345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45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10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10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10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10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610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610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610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610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610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610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610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10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610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610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610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10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610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610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610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610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610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610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610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610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610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875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875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875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875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875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875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875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875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875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875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875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75" name="Oval 74"/>
          <p:cNvSpPr/>
          <p:nvPr/>
        </p:nvSpPr>
        <p:spPr>
          <a:xfrm>
            <a:off x="7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7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7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33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33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33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33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33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6030000" y="658571"/>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6030000" y="887142"/>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6030000" y="1115714"/>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6030000" y="1344285"/>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6030000" y="1572857"/>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6030000" y="1801428"/>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86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86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86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6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86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113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113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113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700000" y="2500000"/>
            <a:ext cx="10800000" cy="1100000"/>
          </a:xfrm>
          <a:prstGeom prst="rect">
            <a:avLst/>
          </a:prstGeom>
          <a:noFill/>
        </p:spPr>
        <p:txBody>
          <a:bodyPr wrap="square" anchor="t" lIns="50800" rIns="50800">
            <a:spAutoFit/>
          </a:bodyPr>
          <a:lstStyle/>
          <a:p>
            <a:pPr algn="ctr"/>
            <a:r>
              <a:rPr sz="4400" b="1">
                <a:solidFill>
                  <a:srgbClr val="E8EEFA"/>
                </a:solidFill>
                <a:latin typeface="Segoe UI"/>
              </a:rPr>
              <a:t>E’tiboringiz uchun rahmat!</a:t>
            </a:r>
          </a:p>
        </p:txBody>
      </p:sp>
      <p:sp>
        <p:nvSpPr>
          <p:cNvPr id="98" name="Rectangle 97"/>
          <p:cNvSpPr/>
          <p:nvPr/>
        </p:nvSpPr>
        <p:spPr>
          <a:xfrm>
            <a:off x="4800000" y="3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700000" y="3850000"/>
            <a:ext cx="10800000" cy="500000"/>
          </a:xfrm>
          <a:prstGeom prst="rect">
            <a:avLst/>
          </a:prstGeom>
          <a:noFill/>
        </p:spPr>
        <p:txBody>
          <a:bodyPr wrap="square" anchor="t" lIns="50800" rIns="50800">
            <a:spAutoFit/>
          </a:bodyPr>
          <a:lstStyle/>
          <a:p>
            <a:pPr algn="ctr"/>
            <a:r>
              <a:rPr sz="2600" b="1">
                <a:solidFill>
                  <a:srgbClr val="22D3EE"/>
                </a:solidFill>
                <a:latin typeface="Segoe UI"/>
              </a:rPr>
              <a:t>Savollar?</a:t>
            </a:r>
          </a:p>
        </p:txBody>
      </p:sp>
      <p:sp>
        <p:nvSpPr>
          <p:cNvPr id="100" name="TextBox 99"/>
          <p:cNvSpPr txBox="1"/>
          <p:nvPr/>
        </p:nvSpPr>
        <p:spPr>
          <a:xfrm>
            <a:off x="1200000" y="4800000"/>
            <a:ext cx="9800000" cy="800000"/>
          </a:xfrm>
          <a:prstGeom prst="rect">
            <a:avLst/>
          </a:prstGeom>
          <a:noFill/>
        </p:spPr>
        <p:txBody>
          <a:bodyPr wrap="square" anchor="t" lIns="50800" rIns="50800">
            <a:spAutoFit/>
          </a:bodyPr>
          <a:lstStyle/>
          <a:p>
            <a:pPr algn="ctr"/>
            <a:r>
              <a:rPr sz="1400" b="0">
                <a:solidFill>
                  <a:srgbClr val="AEBBD9"/>
                </a:solidFill>
                <a:latin typeface="Segoe UI"/>
              </a:rPr>
              <a:t>Mavzu matni va materiallar: https://aiscan.airi.uz/ktm/#/c/mis2104/mavzu/M5</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0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0"/>
                            </p:stCondLst>
                            <p:childTnLst>
                              <p:par>
                                <p:cTn id="244" presetID="10" presetClass="entr" presetSubtype="0" fill="hold" grpId="0" nodeType="afterEffect">
                                  <p:stCondLst>
                                    <p:cond delay="0"/>
                                  </p:stCondLst>
                                  <p:childTnLst>
                                    <p:set>
                                      <p:cBhvr>
                                        <p:cTn id="245" dur="1" fill="hold">
                                          <p:stCondLst>
                                            <p:cond delay="0"/>
                                          </p:stCondLst>
                                        </p:cTn>
                                        <p:tgtEl>
                                          <p:spTgt spid="63"/>
                                        </p:tgtEl>
                                        <p:attrNameLst>
                                          <p:attrName>style.visibility</p:attrName>
                                        </p:attrNameLst>
                                      </p:cBhvr>
                                      <p:to>
                                        <p:strVal val="visible"/>
                                      </p:to>
                                    </p:set>
                                    <p:animEffect transition="in" filter="fade">
                                      <p:cBhvr>
                                        <p:cTn id="246" dur="550"/>
                                        <p:tgtEl>
                                          <p:spTgt spid="63"/>
                                        </p:tgtEl>
                                      </p:cBhvr>
                                    </p:animEffect>
                                  </p:childTnLst>
                                </p:cTn>
                              </p:par>
                            </p:childTnLst>
                          </p:cTn>
                        </p:par>
                        <p:par>
                          <p:cTn id="247" fill="hold">
                            <p:stCondLst>
                              <p:cond delay="0"/>
                            </p:stCondLst>
                            <p:childTnLst>
                              <p:par>
                                <p:cTn id="248" presetID="10" presetClass="entr" presetSubtype="0" fill="hold" grpId="0" nodeType="afterEffect">
                                  <p:stCondLst>
                                    <p:cond delay="0"/>
                                  </p:stCondLst>
                                  <p:childTnLst>
                                    <p:set>
                                      <p:cBhvr>
                                        <p:cTn id="249" dur="1" fill="hold">
                                          <p:stCondLst>
                                            <p:cond delay="0"/>
                                          </p:stCondLst>
                                        </p:cTn>
                                        <p:tgtEl>
                                          <p:spTgt spid="64"/>
                                        </p:tgtEl>
                                        <p:attrNameLst>
                                          <p:attrName>style.visibility</p:attrName>
                                        </p:attrNameLst>
                                      </p:cBhvr>
                                      <p:to>
                                        <p:strVal val="visible"/>
                                      </p:to>
                                    </p:set>
                                    <p:animEffect transition="in" filter="fade">
                                      <p:cBhvr>
                                        <p:cTn id="250" dur="550"/>
                                        <p:tgtEl>
                                          <p:spTgt spid="64"/>
                                        </p:tgtEl>
                                      </p:cBhvr>
                                    </p:animEffect>
                                  </p:childTnLst>
                                </p:cTn>
                              </p:par>
                            </p:childTnLst>
                          </p:cTn>
                        </p:par>
                        <p:par>
                          <p:cTn id="251" fill="hold">
                            <p:stCondLst>
                              <p:cond delay="0"/>
                            </p:stCondLst>
                            <p:childTnLst>
                              <p:par>
                                <p:cTn id="252" presetID="10" presetClass="entr" presetSubtype="0" fill="hold" grpId="0" nodeType="afterEffect">
                                  <p:stCondLst>
                                    <p:cond delay="0"/>
                                  </p:stCondLst>
                                  <p:childTnLst>
                                    <p:set>
                                      <p:cBhvr>
                                        <p:cTn id="253" dur="1" fill="hold">
                                          <p:stCondLst>
                                            <p:cond delay="0"/>
                                          </p:stCondLst>
                                        </p:cTn>
                                        <p:tgtEl>
                                          <p:spTgt spid="65"/>
                                        </p:tgtEl>
                                        <p:attrNameLst>
                                          <p:attrName>style.visibility</p:attrName>
                                        </p:attrNameLst>
                                      </p:cBhvr>
                                      <p:to>
                                        <p:strVal val="visible"/>
                                      </p:to>
                                    </p:set>
                                    <p:animEffect transition="in" filter="fade">
                                      <p:cBhvr>
                                        <p:cTn id="254" dur="550"/>
                                        <p:tgtEl>
                                          <p:spTgt spid="65"/>
                                        </p:tgtEl>
                                      </p:cBhvr>
                                    </p:animEffect>
                                  </p:childTnLst>
                                </p:cTn>
                              </p:par>
                            </p:childTnLst>
                          </p:cTn>
                        </p:par>
                        <p:par>
                          <p:cTn id="255" fill="hold">
                            <p:stCondLst>
                              <p:cond delay="0"/>
                            </p:stCondLst>
                            <p:childTnLst>
                              <p:par>
                                <p:cTn id="256" presetID="10" presetClass="entr" presetSubtype="0" fill="hold" grpId="0" nodeType="afterEffect">
                                  <p:stCondLst>
                                    <p:cond delay="0"/>
                                  </p:stCondLst>
                                  <p:childTnLst>
                                    <p:set>
                                      <p:cBhvr>
                                        <p:cTn id="257" dur="1" fill="hold">
                                          <p:stCondLst>
                                            <p:cond delay="0"/>
                                          </p:stCondLst>
                                        </p:cTn>
                                        <p:tgtEl>
                                          <p:spTgt spid="66"/>
                                        </p:tgtEl>
                                        <p:attrNameLst>
                                          <p:attrName>style.visibility</p:attrName>
                                        </p:attrNameLst>
                                      </p:cBhvr>
                                      <p:to>
                                        <p:strVal val="visible"/>
                                      </p:to>
                                    </p:set>
                                    <p:animEffect transition="in" filter="fade">
                                      <p:cBhvr>
                                        <p:cTn id="258" dur="550"/>
                                        <p:tgtEl>
                                          <p:spTgt spid="66"/>
                                        </p:tgtEl>
                                      </p:cBhvr>
                                    </p:animEffect>
                                  </p:childTnLst>
                                </p:cTn>
                              </p:par>
                            </p:childTnLst>
                          </p:cTn>
                        </p:par>
                        <p:par>
                          <p:cTn id="259" fill="hold">
                            <p:stCondLst>
                              <p:cond delay="0"/>
                            </p:stCondLst>
                            <p:childTnLst>
                              <p:par>
                                <p:cTn id="260" presetID="10" presetClass="entr" presetSubtype="0" fill="hold" grpId="0" nodeType="afterEffect">
                                  <p:stCondLst>
                                    <p:cond delay="0"/>
                                  </p:stCondLst>
                                  <p:childTnLst>
                                    <p:set>
                                      <p:cBhvr>
                                        <p:cTn id="261" dur="1" fill="hold">
                                          <p:stCondLst>
                                            <p:cond delay="0"/>
                                          </p:stCondLst>
                                        </p:cTn>
                                        <p:tgtEl>
                                          <p:spTgt spid="67"/>
                                        </p:tgtEl>
                                        <p:attrNameLst>
                                          <p:attrName>style.visibility</p:attrName>
                                        </p:attrNameLst>
                                      </p:cBhvr>
                                      <p:to>
                                        <p:strVal val="visible"/>
                                      </p:to>
                                    </p:set>
                                    <p:animEffect transition="in" filter="fade">
                                      <p:cBhvr>
                                        <p:cTn id="262" dur="550"/>
                                        <p:tgtEl>
                                          <p:spTgt spid="67"/>
                                        </p:tgtEl>
                                      </p:cBhvr>
                                    </p:animEffect>
                                  </p:childTnLst>
                                </p:cTn>
                              </p:par>
                            </p:childTnLst>
                          </p:cTn>
                        </p:par>
                        <p:par>
                          <p:cTn id="263" fill="hold">
                            <p:stCondLst>
                              <p:cond delay="0"/>
                            </p:stCondLst>
                            <p:childTnLst>
                              <p:par>
                                <p:cTn id="264" presetID="10" presetClass="entr" presetSubtype="0" fill="hold" grpId="0" nodeType="afterEffect">
                                  <p:stCondLst>
                                    <p:cond delay="0"/>
                                  </p:stCondLst>
                                  <p:childTnLst>
                                    <p:set>
                                      <p:cBhvr>
                                        <p:cTn id="265" dur="1" fill="hold">
                                          <p:stCondLst>
                                            <p:cond delay="0"/>
                                          </p:stCondLst>
                                        </p:cTn>
                                        <p:tgtEl>
                                          <p:spTgt spid="68"/>
                                        </p:tgtEl>
                                        <p:attrNameLst>
                                          <p:attrName>style.visibility</p:attrName>
                                        </p:attrNameLst>
                                      </p:cBhvr>
                                      <p:to>
                                        <p:strVal val="visible"/>
                                      </p:to>
                                    </p:set>
                                    <p:animEffect transition="in" filter="fade">
                                      <p:cBhvr>
                                        <p:cTn id="266" dur="550"/>
                                        <p:tgtEl>
                                          <p:spTgt spid="68"/>
                                        </p:tgtEl>
                                      </p:cBhvr>
                                    </p:animEffect>
                                  </p:childTnLst>
                                </p:cTn>
                              </p:par>
                            </p:childTnLst>
                          </p:cTn>
                        </p:par>
                        <p:par>
                          <p:cTn id="267" fill="hold">
                            <p:stCondLst>
                              <p:cond delay="0"/>
                            </p:stCondLst>
                            <p:childTnLst>
                              <p:par>
                                <p:cTn id="268" presetID="10" presetClass="entr" presetSubtype="0" fill="hold" grpId="0" nodeType="afterEffect">
                                  <p:stCondLst>
                                    <p:cond delay="0"/>
                                  </p:stCondLst>
                                  <p:childTnLst>
                                    <p:set>
                                      <p:cBhvr>
                                        <p:cTn id="269" dur="1" fill="hold">
                                          <p:stCondLst>
                                            <p:cond delay="0"/>
                                          </p:stCondLst>
                                        </p:cTn>
                                        <p:tgtEl>
                                          <p:spTgt spid="69"/>
                                        </p:tgtEl>
                                        <p:attrNameLst>
                                          <p:attrName>style.visibility</p:attrName>
                                        </p:attrNameLst>
                                      </p:cBhvr>
                                      <p:to>
                                        <p:strVal val="visible"/>
                                      </p:to>
                                    </p:set>
                                    <p:animEffect transition="in" filter="fade">
                                      <p:cBhvr>
                                        <p:cTn id="270" dur="550"/>
                                        <p:tgtEl>
                                          <p:spTgt spid="69"/>
                                        </p:tgtEl>
                                      </p:cBhvr>
                                    </p:animEffect>
                                  </p:childTnLst>
                                </p:cTn>
                              </p:par>
                            </p:childTnLst>
                          </p:cTn>
                        </p:par>
                        <p:par>
                          <p:cTn id="271" fill="hold">
                            <p:stCondLst>
                              <p:cond delay="0"/>
                            </p:stCondLst>
                            <p:childTnLst>
                              <p:par>
                                <p:cTn id="272" presetID="10" presetClass="entr" presetSubtype="0" fill="hold" grpId="0" nodeType="afterEffect">
                                  <p:stCondLst>
                                    <p:cond delay="0"/>
                                  </p:stCondLst>
                                  <p:childTnLst>
                                    <p:set>
                                      <p:cBhvr>
                                        <p:cTn id="273" dur="1" fill="hold">
                                          <p:stCondLst>
                                            <p:cond delay="0"/>
                                          </p:stCondLst>
                                        </p:cTn>
                                        <p:tgtEl>
                                          <p:spTgt spid="70"/>
                                        </p:tgtEl>
                                        <p:attrNameLst>
                                          <p:attrName>style.visibility</p:attrName>
                                        </p:attrNameLst>
                                      </p:cBhvr>
                                      <p:to>
                                        <p:strVal val="visible"/>
                                      </p:to>
                                    </p:set>
                                    <p:animEffect transition="in" filter="fade">
                                      <p:cBhvr>
                                        <p:cTn id="274" dur="550"/>
                                        <p:tgtEl>
                                          <p:spTgt spid="70"/>
                                        </p:tgtEl>
                                      </p:cBhvr>
                                    </p:animEffect>
                                  </p:childTnLst>
                                </p:cTn>
                              </p:par>
                            </p:childTnLst>
                          </p:cTn>
                        </p:par>
                        <p:par>
                          <p:cTn id="275" fill="hold">
                            <p:stCondLst>
                              <p:cond delay="0"/>
                            </p:stCondLst>
                            <p:childTnLst>
                              <p:par>
                                <p:cTn id="276" presetID="10" presetClass="entr" presetSubtype="0" fill="hold" grpId="0" nodeType="afterEffect">
                                  <p:stCondLst>
                                    <p:cond delay="0"/>
                                  </p:stCondLst>
                                  <p:childTnLst>
                                    <p:set>
                                      <p:cBhvr>
                                        <p:cTn id="277" dur="1" fill="hold">
                                          <p:stCondLst>
                                            <p:cond delay="0"/>
                                          </p:stCondLst>
                                        </p:cTn>
                                        <p:tgtEl>
                                          <p:spTgt spid="71"/>
                                        </p:tgtEl>
                                        <p:attrNameLst>
                                          <p:attrName>style.visibility</p:attrName>
                                        </p:attrNameLst>
                                      </p:cBhvr>
                                      <p:to>
                                        <p:strVal val="visible"/>
                                      </p:to>
                                    </p:set>
                                    <p:animEffect transition="in" filter="fade">
                                      <p:cBhvr>
                                        <p:cTn id="278" dur="550"/>
                                        <p:tgtEl>
                                          <p:spTgt spid="71"/>
                                        </p:tgtEl>
                                      </p:cBhvr>
                                    </p:animEffect>
                                  </p:childTnLst>
                                </p:cTn>
                              </p:par>
                            </p:childTnLst>
                          </p:cTn>
                        </p:par>
                        <p:par>
                          <p:cTn id="279" fill="hold">
                            <p:stCondLst>
                              <p:cond delay="0"/>
                            </p:stCondLst>
                            <p:childTnLst>
                              <p:par>
                                <p:cTn id="280" presetID="10" presetClass="entr" presetSubtype="0" fill="hold" grpId="0" nodeType="afterEffect">
                                  <p:stCondLst>
                                    <p:cond delay="0"/>
                                  </p:stCondLst>
                                  <p:childTnLst>
                                    <p:set>
                                      <p:cBhvr>
                                        <p:cTn id="281" dur="1" fill="hold">
                                          <p:stCondLst>
                                            <p:cond delay="0"/>
                                          </p:stCondLst>
                                        </p:cTn>
                                        <p:tgtEl>
                                          <p:spTgt spid="72"/>
                                        </p:tgtEl>
                                        <p:attrNameLst>
                                          <p:attrName>style.visibility</p:attrName>
                                        </p:attrNameLst>
                                      </p:cBhvr>
                                      <p:to>
                                        <p:strVal val="visible"/>
                                      </p:to>
                                    </p:set>
                                    <p:animEffect transition="in" filter="fade">
                                      <p:cBhvr>
                                        <p:cTn id="282" dur="550"/>
                                        <p:tgtEl>
                                          <p:spTgt spid="72"/>
                                        </p:tgtEl>
                                      </p:cBhvr>
                                    </p:animEffect>
                                  </p:childTnLst>
                                </p:cTn>
                              </p:par>
                            </p:childTnLst>
                          </p:cTn>
                        </p:par>
                        <p:par>
                          <p:cTn id="283" fill="hold">
                            <p:stCondLst>
                              <p:cond delay="0"/>
                            </p:stCondLst>
                            <p:childTnLst>
                              <p:par>
                                <p:cTn id="284" presetID="10" presetClass="entr" presetSubtype="0" fill="hold" grpId="0" nodeType="afterEffect">
                                  <p:stCondLst>
                                    <p:cond delay="0"/>
                                  </p:stCondLst>
                                  <p:childTnLst>
                                    <p:set>
                                      <p:cBhvr>
                                        <p:cTn id="285" dur="1" fill="hold">
                                          <p:stCondLst>
                                            <p:cond delay="0"/>
                                          </p:stCondLst>
                                        </p:cTn>
                                        <p:tgtEl>
                                          <p:spTgt spid="73"/>
                                        </p:tgtEl>
                                        <p:attrNameLst>
                                          <p:attrName>style.visibility</p:attrName>
                                        </p:attrNameLst>
                                      </p:cBhvr>
                                      <p:to>
                                        <p:strVal val="visible"/>
                                      </p:to>
                                    </p:set>
                                    <p:animEffect transition="in" filter="fade">
                                      <p:cBhvr>
                                        <p:cTn id="286" dur="550"/>
                                        <p:tgtEl>
                                          <p:spTgt spid="73"/>
                                        </p:tgtEl>
                                      </p:cBhvr>
                                    </p:animEffect>
                                  </p:childTnLst>
                                </p:cTn>
                              </p:par>
                            </p:childTnLst>
                          </p:cTn>
                        </p:par>
                        <p:par>
                          <p:cTn id="287" fill="hold">
                            <p:stCondLst>
                              <p:cond delay="0"/>
                            </p:stCondLst>
                            <p:childTnLst>
                              <p:par>
                                <p:cTn id="288" presetID="10" presetClass="entr" presetSubtype="0" fill="hold" grpId="0" nodeType="afterEffect">
                                  <p:stCondLst>
                                    <p:cond delay="0"/>
                                  </p:stCondLst>
                                  <p:childTnLst>
                                    <p:set>
                                      <p:cBhvr>
                                        <p:cTn id="289" dur="1" fill="hold">
                                          <p:stCondLst>
                                            <p:cond delay="0"/>
                                          </p:stCondLst>
                                        </p:cTn>
                                        <p:tgtEl>
                                          <p:spTgt spid="74"/>
                                        </p:tgtEl>
                                        <p:attrNameLst>
                                          <p:attrName>style.visibility</p:attrName>
                                        </p:attrNameLst>
                                      </p:cBhvr>
                                      <p:to>
                                        <p:strVal val="visible"/>
                                      </p:to>
                                    </p:set>
                                    <p:animEffect transition="in" filter="fade">
                                      <p:cBhvr>
                                        <p:cTn id="290" dur="550"/>
                                        <p:tgtEl>
                                          <p:spTgt spid="74"/>
                                        </p:tgtEl>
                                      </p:cBhvr>
                                    </p:animEffect>
                                  </p:childTnLst>
                                </p:cTn>
                              </p:par>
                            </p:childTnLst>
                          </p:cTn>
                        </p:par>
                        <p:par>
                          <p:cTn id="291" fill="hold">
                            <p:stCondLst>
                              <p:cond delay="0"/>
                            </p:stCondLst>
                            <p:childTnLst>
                              <p:par>
                                <p:cTn id="292" presetID="10" presetClass="entr" presetSubtype="0" fill="hold" grpId="0" nodeType="afterEffect">
                                  <p:stCondLst>
                                    <p:cond delay="0"/>
                                  </p:stCondLst>
                                  <p:childTnLst>
                                    <p:set>
                                      <p:cBhvr>
                                        <p:cTn id="293" dur="1" fill="hold">
                                          <p:stCondLst>
                                            <p:cond delay="0"/>
                                          </p:stCondLst>
                                        </p:cTn>
                                        <p:tgtEl>
                                          <p:spTgt spid="75"/>
                                        </p:tgtEl>
                                        <p:attrNameLst>
                                          <p:attrName>style.visibility</p:attrName>
                                        </p:attrNameLst>
                                      </p:cBhvr>
                                      <p:to>
                                        <p:strVal val="visible"/>
                                      </p:to>
                                    </p:set>
                                    <p:animEffect transition="in" filter="fade">
                                      <p:cBhvr>
                                        <p:cTn id="294" dur="550"/>
                                        <p:tgtEl>
                                          <p:spTgt spid="75"/>
                                        </p:tgtEl>
                                      </p:cBhvr>
                                    </p:animEffect>
                                  </p:childTnLst>
                                </p:cTn>
                              </p:par>
                            </p:childTnLst>
                          </p:cTn>
                        </p:par>
                        <p:par>
                          <p:cTn id="295" fill="hold">
                            <p:stCondLst>
                              <p:cond delay="0"/>
                            </p:stCondLst>
                            <p:childTnLst>
                              <p:par>
                                <p:cTn id="296" presetID="10" presetClass="entr" presetSubtype="0" fill="hold" grpId="0" nodeType="afterEffect">
                                  <p:stCondLst>
                                    <p:cond delay="0"/>
                                  </p:stCondLst>
                                  <p:childTnLst>
                                    <p:set>
                                      <p:cBhvr>
                                        <p:cTn id="297" dur="1" fill="hold">
                                          <p:stCondLst>
                                            <p:cond delay="0"/>
                                          </p:stCondLst>
                                        </p:cTn>
                                        <p:tgtEl>
                                          <p:spTgt spid="76"/>
                                        </p:tgtEl>
                                        <p:attrNameLst>
                                          <p:attrName>style.visibility</p:attrName>
                                        </p:attrNameLst>
                                      </p:cBhvr>
                                      <p:to>
                                        <p:strVal val="visible"/>
                                      </p:to>
                                    </p:set>
                                    <p:animEffect transition="in" filter="fade">
                                      <p:cBhvr>
                                        <p:cTn id="298" dur="550"/>
                                        <p:tgtEl>
                                          <p:spTgt spid="76"/>
                                        </p:tgtEl>
                                      </p:cBhvr>
                                    </p:animEffect>
                                  </p:childTnLst>
                                </p:cTn>
                              </p:par>
                            </p:childTnLst>
                          </p:cTn>
                        </p:par>
                        <p:par>
                          <p:cTn id="299" fill="hold">
                            <p:stCondLst>
                              <p:cond delay="0"/>
                            </p:stCondLst>
                            <p:childTnLst>
                              <p:par>
                                <p:cTn id="300" presetID="10" presetClass="entr" presetSubtype="0" fill="hold" grpId="0" nodeType="afterEffect">
                                  <p:stCondLst>
                                    <p:cond delay="0"/>
                                  </p:stCondLst>
                                  <p:childTnLst>
                                    <p:set>
                                      <p:cBhvr>
                                        <p:cTn id="301" dur="1" fill="hold">
                                          <p:stCondLst>
                                            <p:cond delay="0"/>
                                          </p:stCondLst>
                                        </p:cTn>
                                        <p:tgtEl>
                                          <p:spTgt spid="77"/>
                                        </p:tgtEl>
                                        <p:attrNameLst>
                                          <p:attrName>style.visibility</p:attrName>
                                        </p:attrNameLst>
                                      </p:cBhvr>
                                      <p:to>
                                        <p:strVal val="visible"/>
                                      </p:to>
                                    </p:set>
                                    <p:animEffect transition="in" filter="fade">
                                      <p:cBhvr>
                                        <p:cTn id="302" dur="550"/>
                                        <p:tgtEl>
                                          <p:spTgt spid="77"/>
                                        </p:tgtEl>
                                      </p:cBhvr>
                                    </p:animEffect>
                                  </p:childTnLst>
                                </p:cTn>
                              </p:par>
                            </p:childTnLst>
                          </p:cTn>
                        </p:par>
                        <p:par>
                          <p:cTn id="303" fill="hold">
                            <p:stCondLst>
                              <p:cond delay="0"/>
                            </p:stCondLst>
                            <p:childTnLst>
                              <p:par>
                                <p:cTn id="304" presetID="10" presetClass="entr" presetSubtype="0" fill="hold" grpId="0" nodeType="afterEffect">
                                  <p:stCondLst>
                                    <p:cond delay="0"/>
                                  </p:stCondLst>
                                  <p:childTnLst>
                                    <p:set>
                                      <p:cBhvr>
                                        <p:cTn id="305" dur="1" fill="hold">
                                          <p:stCondLst>
                                            <p:cond delay="0"/>
                                          </p:stCondLst>
                                        </p:cTn>
                                        <p:tgtEl>
                                          <p:spTgt spid="78"/>
                                        </p:tgtEl>
                                        <p:attrNameLst>
                                          <p:attrName>style.visibility</p:attrName>
                                        </p:attrNameLst>
                                      </p:cBhvr>
                                      <p:to>
                                        <p:strVal val="visible"/>
                                      </p:to>
                                    </p:set>
                                    <p:animEffect transition="in" filter="fade">
                                      <p:cBhvr>
                                        <p:cTn id="306" dur="550"/>
                                        <p:tgtEl>
                                          <p:spTgt spid="78"/>
                                        </p:tgtEl>
                                      </p:cBhvr>
                                    </p:animEffect>
                                  </p:childTnLst>
                                </p:cTn>
                              </p:par>
                            </p:childTnLst>
                          </p:cTn>
                        </p:par>
                        <p:par>
                          <p:cTn id="307" fill="hold">
                            <p:stCondLst>
                              <p:cond delay="0"/>
                            </p:stCondLst>
                            <p:childTnLst>
                              <p:par>
                                <p:cTn id="308" presetID="10" presetClass="entr" presetSubtype="0" fill="hold" grpId="0" nodeType="afterEffect">
                                  <p:stCondLst>
                                    <p:cond delay="0"/>
                                  </p:stCondLst>
                                  <p:childTnLst>
                                    <p:set>
                                      <p:cBhvr>
                                        <p:cTn id="309" dur="1" fill="hold">
                                          <p:stCondLst>
                                            <p:cond delay="0"/>
                                          </p:stCondLst>
                                        </p:cTn>
                                        <p:tgtEl>
                                          <p:spTgt spid="79"/>
                                        </p:tgtEl>
                                        <p:attrNameLst>
                                          <p:attrName>style.visibility</p:attrName>
                                        </p:attrNameLst>
                                      </p:cBhvr>
                                      <p:to>
                                        <p:strVal val="visible"/>
                                      </p:to>
                                    </p:set>
                                    <p:animEffect transition="in" filter="fade">
                                      <p:cBhvr>
                                        <p:cTn id="310" dur="550"/>
                                        <p:tgtEl>
                                          <p:spTgt spid="79"/>
                                        </p:tgtEl>
                                      </p:cBhvr>
                                    </p:animEffect>
                                  </p:childTnLst>
                                </p:cTn>
                              </p:par>
                            </p:childTnLst>
                          </p:cTn>
                        </p:par>
                        <p:par>
                          <p:cTn id="311" fill="hold">
                            <p:stCondLst>
                              <p:cond delay="0"/>
                            </p:stCondLst>
                            <p:childTnLst>
                              <p:par>
                                <p:cTn id="312" presetID="10" presetClass="entr" presetSubtype="0" fill="hold" grpId="0" nodeType="afterEffect">
                                  <p:stCondLst>
                                    <p:cond delay="0"/>
                                  </p:stCondLst>
                                  <p:childTnLst>
                                    <p:set>
                                      <p:cBhvr>
                                        <p:cTn id="313" dur="1" fill="hold">
                                          <p:stCondLst>
                                            <p:cond delay="0"/>
                                          </p:stCondLst>
                                        </p:cTn>
                                        <p:tgtEl>
                                          <p:spTgt spid="80"/>
                                        </p:tgtEl>
                                        <p:attrNameLst>
                                          <p:attrName>style.visibility</p:attrName>
                                        </p:attrNameLst>
                                      </p:cBhvr>
                                      <p:to>
                                        <p:strVal val="visible"/>
                                      </p:to>
                                    </p:set>
                                    <p:animEffect transition="in" filter="fade">
                                      <p:cBhvr>
                                        <p:cTn id="314" dur="550"/>
                                        <p:tgtEl>
                                          <p:spTgt spid="80"/>
                                        </p:tgtEl>
                                      </p:cBhvr>
                                    </p:animEffect>
                                  </p:childTnLst>
                                </p:cTn>
                              </p:par>
                            </p:childTnLst>
                          </p:cTn>
                        </p:par>
                        <p:par>
                          <p:cTn id="315" fill="hold">
                            <p:stCondLst>
                              <p:cond delay="0"/>
                            </p:stCondLst>
                            <p:childTnLst>
                              <p:par>
                                <p:cTn id="316" presetID="10" presetClass="entr" presetSubtype="0" fill="hold" grpId="0" nodeType="afterEffect">
                                  <p:stCondLst>
                                    <p:cond delay="0"/>
                                  </p:stCondLst>
                                  <p:childTnLst>
                                    <p:set>
                                      <p:cBhvr>
                                        <p:cTn id="317" dur="1" fill="hold">
                                          <p:stCondLst>
                                            <p:cond delay="0"/>
                                          </p:stCondLst>
                                        </p:cTn>
                                        <p:tgtEl>
                                          <p:spTgt spid="81"/>
                                        </p:tgtEl>
                                        <p:attrNameLst>
                                          <p:attrName>style.visibility</p:attrName>
                                        </p:attrNameLst>
                                      </p:cBhvr>
                                      <p:to>
                                        <p:strVal val="visible"/>
                                      </p:to>
                                    </p:set>
                                    <p:animEffect transition="in" filter="fade">
                                      <p:cBhvr>
                                        <p:cTn id="318" dur="550"/>
                                        <p:tgtEl>
                                          <p:spTgt spid="81"/>
                                        </p:tgtEl>
                                      </p:cBhvr>
                                    </p:animEffect>
                                  </p:childTnLst>
                                </p:cTn>
                              </p:par>
                            </p:childTnLst>
                          </p:cTn>
                        </p:par>
                        <p:par>
                          <p:cTn id="319" fill="hold">
                            <p:stCondLst>
                              <p:cond delay="0"/>
                            </p:stCondLst>
                            <p:childTnLst>
                              <p:par>
                                <p:cTn id="320" presetID="10" presetClass="entr" presetSubtype="0" fill="hold" grpId="0" nodeType="afterEffect">
                                  <p:stCondLst>
                                    <p:cond delay="0"/>
                                  </p:stCondLst>
                                  <p:childTnLst>
                                    <p:set>
                                      <p:cBhvr>
                                        <p:cTn id="321" dur="1" fill="hold">
                                          <p:stCondLst>
                                            <p:cond delay="0"/>
                                          </p:stCondLst>
                                        </p:cTn>
                                        <p:tgtEl>
                                          <p:spTgt spid="82"/>
                                        </p:tgtEl>
                                        <p:attrNameLst>
                                          <p:attrName>style.visibility</p:attrName>
                                        </p:attrNameLst>
                                      </p:cBhvr>
                                      <p:to>
                                        <p:strVal val="visible"/>
                                      </p:to>
                                    </p:set>
                                    <p:animEffect transition="in" filter="fade">
                                      <p:cBhvr>
                                        <p:cTn id="322" dur="550"/>
                                        <p:tgtEl>
                                          <p:spTgt spid="82"/>
                                        </p:tgtEl>
                                      </p:cBhvr>
                                    </p:animEffect>
                                  </p:childTnLst>
                                </p:cTn>
                              </p:par>
                            </p:childTnLst>
                          </p:cTn>
                        </p:par>
                        <p:par>
                          <p:cTn id="323" fill="hold">
                            <p:stCondLst>
                              <p:cond delay="0"/>
                            </p:stCondLst>
                            <p:childTnLst>
                              <p:par>
                                <p:cTn id="324" presetID="10" presetClass="entr" presetSubtype="0" fill="hold" grpId="0" nodeType="afterEffect">
                                  <p:stCondLst>
                                    <p:cond delay="0"/>
                                  </p:stCondLst>
                                  <p:childTnLst>
                                    <p:set>
                                      <p:cBhvr>
                                        <p:cTn id="325" dur="1" fill="hold">
                                          <p:stCondLst>
                                            <p:cond delay="0"/>
                                          </p:stCondLst>
                                        </p:cTn>
                                        <p:tgtEl>
                                          <p:spTgt spid="83"/>
                                        </p:tgtEl>
                                        <p:attrNameLst>
                                          <p:attrName>style.visibility</p:attrName>
                                        </p:attrNameLst>
                                      </p:cBhvr>
                                      <p:to>
                                        <p:strVal val="visible"/>
                                      </p:to>
                                    </p:set>
                                    <p:animEffect transition="in" filter="fade">
                                      <p:cBhvr>
                                        <p:cTn id="326" dur="550"/>
                                        <p:tgtEl>
                                          <p:spTgt spid="83"/>
                                        </p:tgtEl>
                                      </p:cBhvr>
                                    </p:animEffect>
                                  </p:childTnLst>
                                </p:cTn>
                              </p:par>
                            </p:childTnLst>
                          </p:cTn>
                        </p:par>
                        <p:par>
                          <p:cTn id="327" fill="hold">
                            <p:stCondLst>
                              <p:cond delay="0"/>
                            </p:stCondLst>
                            <p:childTnLst>
                              <p:par>
                                <p:cTn id="328" presetID="10" presetClass="entr" presetSubtype="0" fill="hold" grpId="0" nodeType="afterEffect">
                                  <p:stCondLst>
                                    <p:cond delay="0"/>
                                  </p:stCondLst>
                                  <p:childTnLst>
                                    <p:set>
                                      <p:cBhvr>
                                        <p:cTn id="329" dur="1" fill="hold">
                                          <p:stCondLst>
                                            <p:cond delay="0"/>
                                          </p:stCondLst>
                                        </p:cTn>
                                        <p:tgtEl>
                                          <p:spTgt spid="84"/>
                                        </p:tgtEl>
                                        <p:attrNameLst>
                                          <p:attrName>style.visibility</p:attrName>
                                        </p:attrNameLst>
                                      </p:cBhvr>
                                      <p:to>
                                        <p:strVal val="visible"/>
                                      </p:to>
                                    </p:set>
                                    <p:animEffect transition="in" filter="fade">
                                      <p:cBhvr>
                                        <p:cTn id="330" dur="550"/>
                                        <p:tgtEl>
                                          <p:spTgt spid="84"/>
                                        </p:tgtEl>
                                      </p:cBhvr>
                                    </p:animEffect>
                                  </p:childTnLst>
                                </p:cTn>
                              </p:par>
                            </p:childTnLst>
                          </p:cTn>
                        </p:par>
                        <p:par>
                          <p:cTn id="331" fill="hold">
                            <p:stCondLst>
                              <p:cond delay="0"/>
                            </p:stCondLst>
                            <p:childTnLst>
                              <p:par>
                                <p:cTn id="332" presetID="10" presetClass="entr" presetSubtype="0" fill="hold" grpId="0" nodeType="afterEffect">
                                  <p:stCondLst>
                                    <p:cond delay="0"/>
                                  </p:stCondLst>
                                  <p:childTnLst>
                                    <p:set>
                                      <p:cBhvr>
                                        <p:cTn id="333" dur="1" fill="hold">
                                          <p:stCondLst>
                                            <p:cond delay="0"/>
                                          </p:stCondLst>
                                        </p:cTn>
                                        <p:tgtEl>
                                          <p:spTgt spid="85"/>
                                        </p:tgtEl>
                                        <p:attrNameLst>
                                          <p:attrName>style.visibility</p:attrName>
                                        </p:attrNameLst>
                                      </p:cBhvr>
                                      <p:to>
                                        <p:strVal val="visible"/>
                                      </p:to>
                                    </p:set>
                                    <p:animEffect transition="in" filter="fade">
                                      <p:cBhvr>
                                        <p:cTn id="334" dur="550"/>
                                        <p:tgtEl>
                                          <p:spTgt spid="85"/>
                                        </p:tgtEl>
                                      </p:cBhvr>
                                    </p:animEffect>
                                  </p:childTnLst>
                                </p:cTn>
                              </p:par>
                            </p:childTnLst>
                          </p:cTn>
                        </p:par>
                        <p:par>
                          <p:cTn id="335" fill="hold">
                            <p:stCondLst>
                              <p:cond delay="0"/>
                            </p:stCondLst>
                            <p:childTnLst>
                              <p:par>
                                <p:cTn id="336" presetID="10" presetClass="entr" presetSubtype="0" fill="hold" grpId="0" nodeType="afterEffect">
                                  <p:stCondLst>
                                    <p:cond delay="0"/>
                                  </p:stCondLst>
                                  <p:childTnLst>
                                    <p:set>
                                      <p:cBhvr>
                                        <p:cTn id="337" dur="1" fill="hold">
                                          <p:stCondLst>
                                            <p:cond delay="0"/>
                                          </p:stCondLst>
                                        </p:cTn>
                                        <p:tgtEl>
                                          <p:spTgt spid="86"/>
                                        </p:tgtEl>
                                        <p:attrNameLst>
                                          <p:attrName>style.visibility</p:attrName>
                                        </p:attrNameLst>
                                      </p:cBhvr>
                                      <p:to>
                                        <p:strVal val="visible"/>
                                      </p:to>
                                    </p:set>
                                    <p:animEffect transition="in" filter="fade">
                                      <p:cBhvr>
                                        <p:cTn id="338" dur="550"/>
                                        <p:tgtEl>
                                          <p:spTgt spid="86"/>
                                        </p:tgtEl>
                                      </p:cBhvr>
                                    </p:animEffect>
                                  </p:childTnLst>
                                </p:cTn>
                              </p:par>
                            </p:childTnLst>
                          </p:cTn>
                        </p:par>
                        <p:par>
                          <p:cTn id="339" fill="hold">
                            <p:stCondLst>
                              <p:cond delay="0"/>
                            </p:stCondLst>
                            <p:childTnLst>
                              <p:par>
                                <p:cTn id="340" presetID="10" presetClass="entr" presetSubtype="0" fill="hold" grpId="0" nodeType="afterEffect">
                                  <p:stCondLst>
                                    <p:cond delay="0"/>
                                  </p:stCondLst>
                                  <p:childTnLst>
                                    <p:set>
                                      <p:cBhvr>
                                        <p:cTn id="341" dur="1" fill="hold">
                                          <p:stCondLst>
                                            <p:cond delay="0"/>
                                          </p:stCondLst>
                                        </p:cTn>
                                        <p:tgtEl>
                                          <p:spTgt spid="87"/>
                                        </p:tgtEl>
                                        <p:attrNameLst>
                                          <p:attrName>style.visibility</p:attrName>
                                        </p:attrNameLst>
                                      </p:cBhvr>
                                      <p:to>
                                        <p:strVal val="visible"/>
                                      </p:to>
                                    </p:set>
                                    <p:animEffect transition="in" filter="fade">
                                      <p:cBhvr>
                                        <p:cTn id="342" dur="550"/>
                                        <p:tgtEl>
                                          <p:spTgt spid="87"/>
                                        </p:tgtEl>
                                      </p:cBhvr>
                                    </p:animEffect>
                                  </p:childTnLst>
                                </p:cTn>
                              </p:par>
                            </p:childTnLst>
                          </p:cTn>
                        </p:par>
                        <p:par>
                          <p:cTn id="343" fill="hold">
                            <p:stCondLst>
                              <p:cond delay="0"/>
                            </p:stCondLst>
                            <p:childTnLst>
                              <p:par>
                                <p:cTn id="344" presetID="10" presetClass="entr" presetSubtype="0" fill="hold" grpId="0" nodeType="afterEffect">
                                  <p:stCondLst>
                                    <p:cond delay="0"/>
                                  </p:stCondLst>
                                  <p:childTnLst>
                                    <p:set>
                                      <p:cBhvr>
                                        <p:cTn id="345" dur="1" fill="hold">
                                          <p:stCondLst>
                                            <p:cond delay="0"/>
                                          </p:stCondLst>
                                        </p:cTn>
                                        <p:tgtEl>
                                          <p:spTgt spid="88"/>
                                        </p:tgtEl>
                                        <p:attrNameLst>
                                          <p:attrName>style.visibility</p:attrName>
                                        </p:attrNameLst>
                                      </p:cBhvr>
                                      <p:to>
                                        <p:strVal val="visible"/>
                                      </p:to>
                                    </p:set>
                                    <p:animEffect transition="in" filter="fade">
                                      <p:cBhvr>
                                        <p:cTn id="346" dur="550"/>
                                        <p:tgtEl>
                                          <p:spTgt spid="88"/>
                                        </p:tgtEl>
                                      </p:cBhvr>
                                    </p:animEffect>
                                  </p:childTnLst>
                                </p:cTn>
                              </p:par>
                            </p:childTnLst>
                          </p:cTn>
                        </p:par>
                        <p:par>
                          <p:cTn id="347" fill="hold">
                            <p:stCondLst>
                              <p:cond delay="0"/>
                            </p:stCondLst>
                            <p:childTnLst>
                              <p:par>
                                <p:cTn id="348" presetID="10" presetClass="entr" presetSubtype="0" fill="hold" grpId="0" nodeType="afterEffect">
                                  <p:stCondLst>
                                    <p:cond delay="0"/>
                                  </p:stCondLst>
                                  <p:childTnLst>
                                    <p:set>
                                      <p:cBhvr>
                                        <p:cTn id="349" dur="1" fill="hold">
                                          <p:stCondLst>
                                            <p:cond delay="0"/>
                                          </p:stCondLst>
                                        </p:cTn>
                                        <p:tgtEl>
                                          <p:spTgt spid="89"/>
                                        </p:tgtEl>
                                        <p:attrNameLst>
                                          <p:attrName>style.visibility</p:attrName>
                                        </p:attrNameLst>
                                      </p:cBhvr>
                                      <p:to>
                                        <p:strVal val="visible"/>
                                      </p:to>
                                    </p:set>
                                    <p:animEffect transition="in" filter="fade">
                                      <p:cBhvr>
                                        <p:cTn id="350" dur="550"/>
                                        <p:tgtEl>
                                          <p:spTgt spid="89"/>
                                        </p:tgtEl>
                                      </p:cBhvr>
                                    </p:animEffect>
                                  </p:childTnLst>
                                </p:cTn>
                              </p:par>
                            </p:childTnLst>
                          </p:cTn>
                        </p:par>
                        <p:par>
                          <p:cTn id="351" fill="hold">
                            <p:stCondLst>
                              <p:cond delay="0"/>
                            </p:stCondLst>
                            <p:childTnLst>
                              <p:par>
                                <p:cTn id="352" presetID="10" presetClass="entr" presetSubtype="0" fill="hold" grpId="0" nodeType="afterEffect">
                                  <p:stCondLst>
                                    <p:cond delay="0"/>
                                  </p:stCondLst>
                                  <p:childTnLst>
                                    <p:set>
                                      <p:cBhvr>
                                        <p:cTn id="353" dur="1" fill="hold">
                                          <p:stCondLst>
                                            <p:cond delay="0"/>
                                          </p:stCondLst>
                                        </p:cTn>
                                        <p:tgtEl>
                                          <p:spTgt spid="90"/>
                                        </p:tgtEl>
                                        <p:attrNameLst>
                                          <p:attrName>style.visibility</p:attrName>
                                        </p:attrNameLst>
                                      </p:cBhvr>
                                      <p:to>
                                        <p:strVal val="visible"/>
                                      </p:to>
                                    </p:set>
                                    <p:animEffect transition="in" filter="fade">
                                      <p:cBhvr>
                                        <p:cTn id="354" dur="550"/>
                                        <p:tgtEl>
                                          <p:spTgt spid="90"/>
                                        </p:tgtEl>
                                      </p:cBhvr>
                                    </p:animEffect>
                                  </p:childTnLst>
                                </p:cTn>
                              </p:par>
                            </p:childTnLst>
                          </p:cTn>
                        </p:par>
                        <p:par>
                          <p:cTn id="355" fill="hold">
                            <p:stCondLst>
                              <p:cond delay="0"/>
                            </p:stCondLst>
                            <p:childTnLst>
                              <p:par>
                                <p:cTn id="356" presetID="10" presetClass="entr" presetSubtype="0" fill="hold" grpId="0" nodeType="afterEffect">
                                  <p:stCondLst>
                                    <p:cond delay="0"/>
                                  </p:stCondLst>
                                  <p:childTnLst>
                                    <p:set>
                                      <p:cBhvr>
                                        <p:cTn id="357" dur="1" fill="hold">
                                          <p:stCondLst>
                                            <p:cond delay="0"/>
                                          </p:stCondLst>
                                        </p:cTn>
                                        <p:tgtEl>
                                          <p:spTgt spid="91"/>
                                        </p:tgtEl>
                                        <p:attrNameLst>
                                          <p:attrName>style.visibility</p:attrName>
                                        </p:attrNameLst>
                                      </p:cBhvr>
                                      <p:to>
                                        <p:strVal val="visible"/>
                                      </p:to>
                                    </p:set>
                                    <p:animEffect transition="in" filter="fade">
                                      <p:cBhvr>
                                        <p:cTn id="358" dur="550"/>
                                        <p:tgtEl>
                                          <p:spTgt spid="91"/>
                                        </p:tgtEl>
                                      </p:cBhvr>
                                    </p:animEffect>
                                  </p:childTnLst>
                                </p:cTn>
                              </p:par>
                            </p:childTnLst>
                          </p:cTn>
                        </p:par>
                        <p:par>
                          <p:cTn id="359" fill="hold">
                            <p:stCondLst>
                              <p:cond delay="0"/>
                            </p:stCondLst>
                            <p:childTnLst>
                              <p:par>
                                <p:cTn id="360" presetID="10" presetClass="entr" presetSubtype="0" fill="hold" grpId="0" nodeType="afterEffect">
                                  <p:stCondLst>
                                    <p:cond delay="0"/>
                                  </p:stCondLst>
                                  <p:childTnLst>
                                    <p:set>
                                      <p:cBhvr>
                                        <p:cTn id="361" dur="1" fill="hold">
                                          <p:stCondLst>
                                            <p:cond delay="0"/>
                                          </p:stCondLst>
                                        </p:cTn>
                                        <p:tgtEl>
                                          <p:spTgt spid="92"/>
                                        </p:tgtEl>
                                        <p:attrNameLst>
                                          <p:attrName>style.visibility</p:attrName>
                                        </p:attrNameLst>
                                      </p:cBhvr>
                                      <p:to>
                                        <p:strVal val="visible"/>
                                      </p:to>
                                    </p:set>
                                    <p:animEffect transition="in" filter="fade">
                                      <p:cBhvr>
                                        <p:cTn id="362" dur="550"/>
                                        <p:tgtEl>
                                          <p:spTgt spid="92"/>
                                        </p:tgtEl>
                                      </p:cBhvr>
                                    </p:animEffect>
                                  </p:childTnLst>
                                </p:cTn>
                              </p:par>
                            </p:childTnLst>
                          </p:cTn>
                        </p:par>
                        <p:par>
                          <p:cTn id="363" fill="hold">
                            <p:stCondLst>
                              <p:cond delay="0"/>
                            </p:stCondLst>
                            <p:childTnLst>
                              <p:par>
                                <p:cTn id="364" presetID="10" presetClass="entr" presetSubtype="0" fill="hold" grpId="0" nodeType="afterEffect">
                                  <p:stCondLst>
                                    <p:cond delay="0"/>
                                  </p:stCondLst>
                                  <p:childTnLst>
                                    <p:set>
                                      <p:cBhvr>
                                        <p:cTn id="365" dur="1" fill="hold">
                                          <p:stCondLst>
                                            <p:cond delay="0"/>
                                          </p:stCondLst>
                                        </p:cTn>
                                        <p:tgtEl>
                                          <p:spTgt spid="93"/>
                                        </p:tgtEl>
                                        <p:attrNameLst>
                                          <p:attrName>style.visibility</p:attrName>
                                        </p:attrNameLst>
                                      </p:cBhvr>
                                      <p:to>
                                        <p:strVal val="visible"/>
                                      </p:to>
                                    </p:set>
                                    <p:animEffect transition="in" filter="fade">
                                      <p:cBhvr>
                                        <p:cTn id="366" dur="550"/>
                                        <p:tgtEl>
                                          <p:spTgt spid="93"/>
                                        </p:tgtEl>
                                      </p:cBhvr>
                                    </p:animEffect>
                                  </p:childTnLst>
                                </p:cTn>
                              </p:par>
                            </p:childTnLst>
                          </p:cTn>
                        </p:par>
                        <p:par>
                          <p:cTn id="367" fill="hold">
                            <p:stCondLst>
                              <p:cond delay="0"/>
                            </p:stCondLst>
                            <p:childTnLst>
                              <p:par>
                                <p:cTn id="368" presetID="10" presetClass="entr" presetSubtype="0" fill="hold" grpId="0" nodeType="afterEffect">
                                  <p:stCondLst>
                                    <p:cond delay="0"/>
                                  </p:stCondLst>
                                  <p:childTnLst>
                                    <p:set>
                                      <p:cBhvr>
                                        <p:cTn id="369" dur="1" fill="hold">
                                          <p:stCondLst>
                                            <p:cond delay="0"/>
                                          </p:stCondLst>
                                        </p:cTn>
                                        <p:tgtEl>
                                          <p:spTgt spid="94"/>
                                        </p:tgtEl>
                                        <p:attrNameLst>
                                          <p:attrName>style.visibility</p:attrName>
                                        </p:attrNameLst>
                                      </p:cBhvr>
                                      <p:to>
                                        <p:strVal val="visible"/>
                                      </p:to>
                                    </p:set>
                                    <p:animEffect transition="in" filter="fade">
                                      <p:cBhvr>
                                        <p:cTn id="370" dur="550"/>
                                        <p:tgtEl>
                                          <p:spTgt spid="94"/>
                                        </p:tgtEl>
                                      </p:cBhvr>
                                    </p:animEffect>
                                  </p:childTnLst>
                                </p:cTn>
                              </p:par>
                            </p:childTnLst>
                          </p:cTn>
                        </p:par>
                        <p:par>
                          <p:cTn id="371" fill="hold">
                            <p:stCondLst>
                              <p:cond delay="0"/>
                            </p:stCondLst>
                            <p:childTnLst>
                              <p:par>
                                <p:cTn id="372" presetID="10" presetClass="entr" presetSubtype="0" fill="hold" grpId="0" nodeType="afterEffect">
                                  <p:stCondLst>
                                    <p:cond delay="0"/>
                                  </p:stCondLst>
                                  <p:childTnLst>
                                    <p:set>
                                      <p:cBhvr>
                                        <p:cTn id="373" dur="1" fill="hold">
                                          <p:stCondLst>
                                            <p:cond delay="0"/>
                                          </p:stCondLst>
                                        </p:cTn>
                                        <p:tgtEl>
                                          <p:spTgt spid="95"/>
                                        </p:tgtEl>
                                        <p:attrNameLst>
                                          <p:attrName>style.visibility</p:attrName>
                                        </p:attrNameLst>
                                      </p:cBhvr>
                                      <p:to>
                                        <p:strVal val="visible"/>
                                      </p:to>
                                    </p:set>
                                    <p:animEffect transition="in" filter="fade">
                                      <p:cBhvr>
                                        <p:cTn id="374" dur="550"/>
                                        <p:tgtEl>
                                          <p:spTgt spid="95"/>
                                        </p:tgtEl>
                                      </p:cBhvr>
                                    </p:animEffect>
                                  </p:childTnLst>
                                </p:cTn>
                              </p:par>
                            </p:childTnLst>
                          </p:cTn>
                        </p:par>
                        <p:par>
                          <p:cTn id="375" fill="hold">
                            <p:stCondLst>
                              <p:cond delay="0"/>
                            </p:stCondLst>
                            <p:childTnLst>
                              <p:par>
                                <p:cTn id="376" presetID="10" presetClass="entr" presetSubtype="0" fill="hold" grpId="0" nodeType="afterEffect">
                                  <p:stCondLst>
                                    <p:cond delay="0"/>
                                  </p:stCondLst>
                                  <p:childTnLst>
                                    <p:set>
                                      <p:cBhvr>
                                        <p:cTn id="377" dur="1" fill="hold">
                                          <p:stCondLst>
                                            <p:cond delay="0"/>
                                          </p:stCondLst>
                                        </p:cTn>
                                        <p:tgtEl>
                                          <p:spTgt spid="96"/>
                                        </p:tgtEl>
                                        <p:attrNameLst>
                                          <p:attrName>style.visibility</p:attrName>
                                        </p:attrNameLst>
                                      </p:cBhvr>
                                      <p:to>
                                        <p:strVal val="visible"/>
                                      </p:to>
                                    </p:set>
                                    <p:animEffect transition="in" filter="fade">
                                      <p:cBhvr>
                                        <p:cTn id="378" dur="550"/>
                                        <p:tgtEl>
                                          <p:spTgt spid="96"/>
                                        </p:tgtEl>
                                      </p:cBhvr>
                                    </p:animEffect>
                                  </p:childTnLst>
                                </p:cTn>
                              </p:par>
                            </p:childTnLst>
                          </p:cTn>
                        </p:par>
                        <p:par>
                          <p:cTn id="379" fill="hold">
                            <p:stCondLst>
                              <p:cond delay="200"/>
                            </p:stCondLst>
                            <p:childTnLst>
                              <p:par>
                                <p:cTn id="380" presetID="53" presetClass="entr" presetSubtype="16" fill="hold" grpId="0" nodeType="afterEffect">
                                  <p:stCondLst>
                                    <p:cond delay="0"/>
                                  </p:stCondLst>
                                  <p:childTnLst>
                                    <p:set>
                                      <p:cBhvr>
                                        <p:cTn id="381" dur="1" fill="hold">
                                          <p:stCondLst>
                                            <p:cond delay="0"/>
                                          </p:stCondLst>
                                        </p:cTn>
                                        <p:tgtEl>
                                          <p:spTgt spid="97"/>
                                        </p:tgtEl>
                                        <p:attrNameLst>
                                          <p:attrName>style.visibility</p:attrName>
                                        </p:attrNameLst>
                                      </p:cBhvr>
                                      <p:to>
                                        <p:strVal val="visible"/>
                                      </p:to>
                                    </p:set>
                                    <p:animEffect transition="in" filter="fade">
                                      <p:cBhvr>
                                        <p:cTn id="382" dur="550"/>
                                        <p:tgtEl>
                                          <p:spTgt spid="97"/>
                                        </p:tgtEl>
                                      </p:cBhvr>
                                    </p:animEffect>
                                    <p:anim calcmode="lin" valueType="num">
                                      <p:cBhvr additive="base">
                                        <p:cTn id="383" dur="550" fill="hold"/>
                                        <p:tgtEl>
                                          <p:spTgt spid="97"/>
                                        </p:tgtEl>
                                        <p:attrNameLst>
                                          <p:attrName>ppt_w</p:attrName>
                                        </p:attrNameLst>
                                      </p:cBhvr>
                                      <p:tavLst>
                                        <p:tav tm="0">
                                          <p:val>
                                            <p:strVal val="0"/>
                                          </p:val>
                                        </p:tav>
                                        <p:tav tm="100000">
                                          <p:val>
                                            <p:strVal val="#ppt_w"/>
                                          </p:val>
                                        </p:tav>
                                      </p:tavLst>
                                    </p:anim>
                                    <p:anim calcmode="lin" valueType="num">
                                      <p:cBhvr additive="base">
                                        <p:cTn id="384" dur="550" fill="hold"/>
                                        <p:tgtEl>
                                          <p:spTgt spid="97"/>
                                        </p:tgtEl>
                                        <p:attrNameLst>
                                          <p:attrName>ppt_h</p:attrName>
                                        </p:attrNameLst>
                                      </p:cBhvr>
                                      <p:tavLst>
                                        <p:tav tm="0">
                                          <p:val>
                                            <p:strVal val="0"/>
                                          </p:val>
                                        </p:tav>
                                        <p:tav tm="100000">
                                          <p:val>
                                            <p:strVal val="#ppt_h"/>
                                          </p:val>
                                        </p:tav>
                                      </p:tavLst>
                                    </p:anim>
                                  </p:childTnLst>
                                </p:cTn>
                              </p:par>
                            </p:childTnLst>
                          </p:cTn>
                        </p:par>
                        <p:par>
                          <p:cTn id="385" fill="hold">
                            <p:stCondLst>
                              <p:cond delay="350"/>
                            </p:stCondLst>
                            <p:childTnLst>
                              <p:par>
                                <p:cTn id="386" presetID="22" presetClass="entr" presetSubtype="8" fill="hold" grpId="0" nodeType="afterEffect">
                                  <p:stCondLst>
                                    <p:cond delay="0"/>
                                  </p:stCondLst>
                                  <p:childTnLst>
                                    <p:set>
                                      <p:cBhvr>
                                        <p:cTn id="387" dur="1" fill="hold">
                                          <p:stCondLst>
                                            <p:cond delay="0"/>
                                          </p:stCondLst>
                                        </p:cTn>
                                        <p:tgtEl>
                                          <p:spTgt spid="98"/>
                                        </p:tgtEl>
                                        <p:attrNameLst>
                                          <p:attrName>style.visibility</p:attrName>
                                        </p:attrNameLst>
                                      </p:cBhvr>
                                      <p:to>
                                        <p:strVal val="visible"/>
                                      </p:to>
                                    </p:set>
                                    <p:animEffect transition="in" filter="wipe(left)">
                                      <p:cBhvr>
                                        <p:cTn id="389" dur="800"/>
                                        <p:tgtEl>
                                          <p:spTgt spid="98"/>
                                        </p:tgtEl>
                                      </p:cBhvr>
                                    </p:animEffect>
                                  </p:childTnLst>
                                </p:cTn>
                              </p:par>
                            </p:childTnLst>
                          </p:cTn>
                        </p:par>
                        <p:par>
                          <p:cTn id="390" fill="hold">
                            <p:stCondLst>
                              <p:cond delay="500"/>
                            </p:stCondLst>
                            <p:childTnLst>
                              <p:par>
                                <p:cTn id="391" presetID="42" presetClass="entr" presetSubtype="0" fill="hold" grpId="0" nodeType="afterEffect">
                                  <p:stCondLst>
                                    <p:cond delay="0"/>
                                  </p:stCondLst>
                                  <p:childTnLst>
                                    <p:set>
                                      <p:cBhvr>
                                        <p:cTn id="392" dur="1" fill="hold">
                                          <p:stCondLst>
                                            <p:cond delay="0"/>
                                          </p:stCondLst>
                                        </p:cTn>
                                        <p:tgtEl>
                                          <p:spTgt spid="99"/>
                                        </p:tgtEl>
                                        <p:attrNameLst>
                                          <p:attrName>style.visibility</p:attrName>
                                        </p:attrNameLst>
                                      </p:cBhvr>
                                      <p:to>
                                        <p:strVal val="visible"/>
                                      </p:to>
                                    </p:set>
                                    <p:animEffect transition="in" filter="fade">
                                      <p:cBhvr>
                                        <p:cTn id="393" dur="550"/>
                                        <p:tgtEl>
                                          <p:spTgt spid="99"/>
                                        </p:tgtEl>
                                      </p:cBhvr>
                                    </p:animEffect>
                                    <p:anim calcmode="lin" valueType="num">
                                      <p:cBhvr additive="base">
                                        <p:cTn id="394" dur="550" fill="hold"/>
                                        <p:tgtEl>
                                          <p:spTgt spid="99"/>
                                        </p:tgtEl>
                                        <p:attrNameLst>
                                          <p:attrName>ppt_x</p:attrName>
                                        </p:attrNameLst>
                                      </p:cBhvr>
                                      <p:tavLst>
                                        <p:tav tm="0">
                                          <p:val>
                                            <p:strVal val="#ppt_x"/>
                                          </p:val>
                                        </p:tav>
                                        <p:tav tm="100000">
                                          <p:val>
                                            <p:strVal val="#ppt_x"/>
                                          </p:val>
                                        </p:tav>
                                      </p:tavLst>
                                    </p:anim>
                                    <p:anim calcmode="lin" valueType="num">
                                      <p:cBhvr additive="base">
                                        <p:cTn id="395" dur="550" fill="hold"/>
                                        <p:tgtEl>
                                          <p:spTgt spid="99"/>
                                        </p:tgtEl>
                                        <p:attrNameLst>
                                          <p:attrName>ppt_y</p:attrName>
                                        </p:attrNameLst>
                                      </p:cBhvr>
                                      <p:tavLst>
                                        <p:tav tm="0">
                                          <p:val>
                                            <p:strVal val="#ppt_y+.08"/>
                                          </p:val>
                                        </p:tav>
                                        <p:tav tm="100000">
                                          <p:val>
                                            <p:strVal val="#ppt_y"/>
                                          </p:val>
                                        </p:tav>
                                      </p:tavLst>
                                    </p:anim>
                                  </p:childTnLst>
                                </p:cTn>
                              </p:par>
                            </p:childTnLst>
                          </p:cTn>
                        </p:par>
                        <p:par>
                          <p:cTn id="396" fill="hold">
                            <p:stCondLst>
                              <p:cond delay="650"/>
                            </p:stCondLst>
                            <p:childTnLst>
                              <p:par>
                                <p:cTn id="397" presetID="10" presetClass="entr" presetSubtype="0" fill="hold" grpId="0" nodeType="afterEffect">
                                  <p:stCondLst>
                                    <p:cond delay="0"/>
                                  </p:stCondLst>
                                  <p:childTnLst>
                                    <p:set>
                                      <p:cBhvr>
                                        <p:cTn id="398" dur="1" fill="hold">
                                          <p:stCondLst>
                                            <p:cond delay="0"/>
                                          </p:stCondLst>
                                        </p:cTn>
                                        <p:tgtEl>
                                          <p:spTgt spid="100"/>
                                        </p:tgtEl>
                                        <p:attrNameLst>
                                          <p:attrName>style.visibility</p:attrName>
                                        </p:attrNameLst>
                                      </p:cBhvr>
                                      <p:to>
                                        <p:strVal val="visible"/>
                                      </p:to>
                                    </p:set>
                                    <p:animEffect transition="in" filter="fade">
                                      <p:cBhvr>
                                        <p:cTn id="399" dur="550"/>
                                        <p:tgtEl>
                                          <p:spTgt spid="1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P spid="96" grpId="0" animBg="1"/>
      <p:bldP spid="97" grpId="0" animBg="1"/>
      <p:bldP spid="98" grpId="0" animBg="1"/>
      <p:bldP spid="99" grpId="0" animBg="1"/>
      <p:bldP spid="100"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
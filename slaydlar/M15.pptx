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Neyromorf muhandislik atamasini 1980-yillar oxirida Karver Mid (Carver Mead) Kaltexda kiritgan: u analog CMOS sxemalar bilan biologik neyronlarning dinamikasini bevosita taqlid qilishni taklif qilgan. Zamonaviy neyromorf tizimlar uchta tamoyilga tayanadi. Birinchisi — hodisaga asoslangan (event-driven) ishlov: neyron faqat kirish potensiali chegaradan oshganda spayk (spike) chiqaradi, aks holda hech narsa hisoblanmaydi va energiya sarflanmaydi; an'anaviy tarmoqda esa har qatlam har kirish uchun to'liq hisoblanadi. Ikkinchisi — xotira va hisoblashning yaqinlashuvi: sinaptik og'irliklar neyron yadrosi yonida saqlanadi, fon Neyman shinasi orqali tashilmaydi. Uchinchisi — asinxron, mahalliy aloqa: yadrolar umumiy soat signalisiz, faqat spayk paketlari (odatda AER — Address-Event Representation protokoli) bilan muloqot qiladi.</a:t>
            </a:r>
          </a:p>
          <a:p/>
          <a:p>
            <a:r>
              <a:t>Asosiy neyron modeli — oqish-integratsiya-otilish (Leaky Integrate-and-Fire, LIF) neyroni: membrana potensiali U[t] = β·U[t-1] + W·X[t] - S[t-1]·θ, bu yerda β — oqish koeffitsienti, W·X — vaznlangan kirish, S — spayk (1 yoki 0), θ — chegara. Spayk U chegaradan oshganda chiqadi va potensial qaytariladi. Axborot spayk chastotasida (rate coding), spayk vaqtida (temporal/latency coding) yoki populyatsiya kodida ifodalanadi. SNN ni o'qitishning asosiy qiyinligi — spayk funksiyasi differensiallanmaydi; zamonaviy yechim — surrogat gradient (surrogate gradient): to'g'ri o'tishda qattiq chegara, teskari o'tishda silliq yaqinlashish (masalan, arktangens yoki sigmoid hosilasi) ishlatiladi, bu PyTorch avtomatik differensiallash bilan to'liq mos keladi (Eshraghian va boshq., 2023).</a:t>
            </a:r>
          </a:p>
          <a:p/>
          <a:p>
            <a:r>
              <a:t>Zamonaviy neyromorf chiplar taqqoslamasi:</a:t>
            </a:r>
          </a:p>
          <a:p/>
          <a:p>
            <a:r>
              <a:t>Neyromorf tizimlarning real afzalligi siyrak (sparse), hodisaga boy ish yuklamalarida namoyon bo'ladi: hodisali kameralar (DVS) bilan ko'rish, audio uyg'otuvchi so'z, sensor oqimlarida anomaliya, robot boshqaruvi. Intel ma'lumotlariga ko'ra, Loihi ayrim siyrak ish yuklamalarida GPU va CPU ga nisbatan 100–1000 baravar kam energiya sarflaydi, lekin zich matritsali katta modellarda (LLM) ustunlik yo'q. Asosiy cheklovlar — dasturlash modeli yetukligining pastligi (Lava, Nengo, snnTorch), SNN aniqligi odatda an'anaviy tarmoqdan 1–3 punkt past, va ekotizim kichikligi.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 hisoblashning asosiy birligi kubit superpozitsiya va chalkashlik (entanglement) tufayli n kubit 2^n o'lchovli holat fazosini ifodalaydi. Kvant mashinali o'qitish (Quantum Machine Learning, QML; Biamonte va boshq., 2017) bu fazodan ikki asosiy usulda foydalanadi. Variatsion kvant sxemalar (Variational Quantum Circuits, VQC) da klassik ma'lumot kvant holatiga kodlanadi (feature map, masalan ZZFeatureMap), so'ngra sozlanadigan parametrli qatlamlar (ansatz, masalan RealAmplitudes) qo'llaniladi va o'lchov natijasi klassik optimallashtiruvchi (COBYLA, SPSA, Adam) bilan sozlanadi — bu gibrid kvant-klassik halqa VQE (Peruzzo va boshq., 2014) va QAOA (Farhi va boshq., 2014) algoritmlarining ham asosidir. Kvant yadro usullari (quantum kernel, Havlíček va boshq., 2019) esa kvant holatlar orasidagi ichki ko'paytmani yadro funksiyasi sifatida klassik SVM ga beradi.</a:t>
            </a:r>
          </a:p>
          <a:p/>
          <a:p>
            <a:r>
              <a:t>Joriy apparat holati (2025-yil holatiga): IBM Heron r2 prosessorlari 156 kubit, ikki kubitli eshik xatosi 0,3 % atrofida; IBM 2023-yilda 1 121 kubitli Condor ni ko'rsatdi, lekin strategiyani kubit sonidan sifatga burdi; Google 2024-yil dekabrida 105 kubitli Willow chipida xato tuzatish «chegara ostida» ishlashini — mantiqiy kubit kattalashgan sari xato kamayishini — birinchi marta eksperimental ko'rsatdi; Quantinuum H2 ion-tuzoqli tizimi 56 kubit bilan eng yuqori eshik sifatiga ega. Bularning barchasi NISQ (Noisy Intermediate-Scale Quantum, Preskill 2018) davriga tegishli: xato tuzatilmagan, sxema chuqurligi cheklangan.</a:t>
            </a:r>
          </a:p>
          <a:p/>
          <a:p>
            <a:r>
              <a:t>QML uchun bu quyidagi amaliy xulosalarni beradi. Birinchidan, hali hech bir real SI masalasida kvant qurilma klassik GPU dan ustun kelgani isbotlanmagan; ko'p QML natijalari simulyatsiyada va kichik o'lchamli ma'lumotlarda olingan. Ikkinchidan, «bepusht platolar» (barren plateaus, McClean va boshq., 2018) muammosi — kubit soni oshgan sari gradientlar eksponensial kichrayadi va o'qitish to'xtaydi — variatsion sxemalarni masshtablashga to'siq. Uchinchidan, klassik ma'lumotni kvant holatiga yuklash (data loading) o'zi qimmat va ko'p holatlarda nazariy tezlashuvni yo'qqa chiqaradi. Shunga qaramay, kvant kimyo, kombinatorik optimallashtirish va kvant ma'lumotlarni (fizik tajriba natijalarini) tahlil qilish yo'nalishlari istiqbolli, va Qiskit, PennyLane, Cirq kabi vositalar muhandislarga bu yo'nalishni arzon simulyatsiyada o'rganish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Fotonik SI tezlatkichlari g'oyasi oddiy: chiziqli algebra — matritsa-vektor ko'paytirish — yorug'lik interferensiyasi orqali amalga oshiriladi. Shen va boshq. (2017) MIT da Mach-Zender interferometrlari (MZI) to'ri yordamida istalgan unitar matritsani optik tarzda ifodalash mumkinligini ko'rsatdi; bunday to'rda ko'paytirish yorug'likning chipdan o'tish vaqtida (pikosekundlar) va deyarli issiqliksiz bajariladi, energiya faqat lazer, modulyatorlar va fotodetektorlarga ketadi. Muqobil arxitektura — mikrohalqali rezonatorlar (microring resonators) bilan to'lqin uzunligi bo'yicha multiplekslash, bu bir vaqtning o'zida ko'p kanalda hisoblash imkonini beradi.</a:t>
            </a:r>
          </a:p>
          <a:p/>
          <a:p>
            <a:r>
              <a:t>Tijorat holati: Lightmatter kompaniyasi Envise fotonik tezlatkichi va Passage optik interkonnektini ishlab chiqdi va 2024-yilda 4 milliard dollardan ortiq baholandi; Lightelligence, Celestial AI va boshqalar ham shu yo'nalishda. Muhim kuzatuv: fotonikaning eng tez tijoratlashayotgan qo'llanilishi hisoblashning o'zi emas, balki interkonnekt — chiplar va raflar orasida ma'lumotni optik uzatish (co-packaged optics), chunki aynan ma'lumot harakati energiya devorining asosiy qismi. NVIDIA 2025-yilda Spectrum-X va Quantum-X fotonik kommutatorlarini e'lon qildi.</a:t>
            </a:r>
          </a:p>
          <a:p/>
          <a:p>
            <a:r>
              <a:t>Fotonik hisoblashning cheklovlari: analog aniqlik (odatda 4–8 bit samarali), nochiziqli faollashtirish funksiyalari uchun elektr domeniga qaytish zarurati (elektro-optik konvertatsiya energiya va kechikish qo'shadi), haroratga sezgirlik va ishlab chiqarish nomuvofiqliklari, hamda og'irliklarni tez o'zgartirish qiyinligi — shuning uchun fotonika inferens uchun o'qitishdan ko'ra mosroq.</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AI» atamasini Schwartz va hamkasblar (2020) «Red AI» — faqat aniqlikni oshirish uchun cheksiz hisoblash sarflash — ga qarshi qo'yib kiritdilar. Ularning taklifi: ilmiy natijalar bilan birga hisoblash narxini (FLOP, parametrlar, GPU-soat, energiya, CO₂) ham e'lon qilish va samaradorlikni birinchi darajali mezon qilish. Strubell va boshq. (2019) katta Transformer modelini neyron arxitektura qidiruvi bilan o'qitish 284 tonna CO₂ ekvivalenti chiqarishini — besh avtomobilning butun umri davomidagi chiqindisiga teng — hisoblab, muhokamani boshlab berdi.</a:t>
            </a:r>
          </a:p>
          <a:p/>
          <a:p>
            <a:r>
              <a:t>Energiya va uglerod izini baholash formulasi: E = Σ(P_qurilma × t × PUE), CO₂e = E × uglerod_intensivligi, bu yerda PUE (Power Usage Effectiveness) — ma'lumot markazining umumiy iste'molining IT iste'moliga nisbati (zamonaviy giperskeyl markazlarda 1,1–1,2, eski markazlarda 1,6–2,0), uglerod intensivligi esa elektr tarmog'iga bog'liq (Norvegiya gidroenergetikasida ~20 g CO₂/kVt·soat, ko'mirga asoslangan tarmoqlarda 700–900 g). O'zbekiston tarmog'i asosan tabiiy gazga tayanadi, taxminan 450–500 g CO₂/kVt·soat — demak o'qitish joyi va vaqtini tanlash (yashil energiya bo'lgan hududda, past yuklama soatlarida) uglerod izini 10–30 baravar kamaytirishi mumkin, bu Patterson va boshq. (2021) ning asosiy xulosasi.</a:t>
            </a:r>
          </a:p>
          <a:p/>
          <a:p>
            <a:r>
              <a:t>Green AI ning muhandislik vositalari: M8 da ko'rilgan kvantlash, siyraklashtirish va distillash (energiya sarfini 2–10 baravar kamaytiradi); samarali arxitekturalar (Mixture-of-Experts — har token uchun parametrlarning faqat bir qismi faol); o'qitish rejalarini optimallashtirish (Chinchilla qonuni — ma'lumot va parametrlar muvozanati); energiya o'lchash va hisobot vositalari (CodeCarbon kutubxonasi, nvidia-smi orqali quvvat tortish, MLPerf Power benchmarki); va apparat tanlovi (TPU, Gaudi, domenga xos chiplar). Metrikalar: samarali ish yuklama uchun TOPS/Vt, o'qitish uchun model aniqligiga erishish uchun jami kVt·soat, Green500 ro'yxatidagi GFLOPS/Vt.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SI superkompyuterlari ikki sinfga bo'linadi. Davlat ilmiy eksaflops tizimlari: Frontier (ORNL, 2022, AMD MI250X, HPL 1,2 eksaflops), Aurora (Argonne, Intel Ponte Vecchio), El Capitan (LLNL, 2024-yil noyabridan TOP500 birinchisi, AMD MI300A APU, HPL 1,74 eksaflops, ~30 MVt) va Yevropaning birinchi eksaflops tizimi JUPITER (Yulix, 2025, NVIDIA Grace Hopper, modulli arxitektura). Ularning SI uchun muhim ko'rsatkichi HPL emas, balki aralash aniqlikdagi HPL-MxP: El Capitan da u 16 eksaflopsdan oshadi. Tijorat SI klasterlari: xAI Colossus (100–200 ming H100/H200), Meta ning ikkita 24 ming H100 li klasteri (2024) va Microsoft/OpenAI/Oracle/SoftBank ning 2025-yil yanvarida e'lon qilingan Stargate loyihasi (500 milliard dollar, bir necha gigavatt). 2024-yildagi Green500 yetakchisi JEDI (JUPITER ning sinov moduli, Grace Hopper) 72,7 GFLOPS/Vt ko'rsatdi — 2014-yilgi eng samarali tizimdan taxminan 15 baravar yuqori.</a:t>
            </a:r>
          </a:p>
          <a:p/>
          <a:p>
            <a:r>
              <a:t>Bu tizimlarning arxitekturaviy tendensiyalari: CPU va GPU ning yagona paketda birlashishi (Grace Hopper, MI300A) va HBM3e xotirasi (H200 da 141 GB, 4,8 TB/s); rafdan tashqari masshtablanadigan NVLink domenlari (GB200 NVL72 — 72 GPU bitta xotira makonida, 130 TB/s); optik interkonnektga o'tish; suyuq sovutish standart bo'lishi; va energiya iste'moli rejalashtirishning asosiy chegarasi bo'lib qolishi.</a:t>
            </a:r>
          </a:p>
          <a:p/>
          <a:p>
            <a:r>
              <a:t>Kelajak avlod tezlatkichlari bir nechta yo'nalishda rivojlanmoqda. Pufak (wafer-scale) integratsiya: Cerebras WSE-3 (2024) — 46 225 mm² kremniy, 4 trillion tranzistor, 900 ming yadro, 44 GB chipda SRAM, 21 PB/s xotira o'tkazuvchanligi — xotira devorini butun modelni chipda saqlash orqali yengadi. Ma'lumot oqimli arxitekturalar: Groq LPU (deterministik, SRAM-markazli, LLM inferensida tokeniga past kechikish), SambaNova SN40L. Giperskeyl o'z chiplari: Google TPU v6e Trillium (2024) va TPU v7 Ironwood (2025-yil aprelida e'lon qilingan, 4 614 TFLOPS FP8, 192 GB HBM, 9 216 chipli podda 42,5 eksaflops FP8), AWS Trainium2, Microsoft Maia 100, Meta MTIA. NVIDIA yo'l xaritasi: Blackwell (2024–2025), Blackwell Ultra, keyin Rubin (2026) HBM4 bilan. Umumiy yo'nalish — past aniqlik formatlari (FP8, FP6, FP4 — Blackwell da FP4 20 PFLOPS gacha), siyraklik apparat qo'llovi, xotiraga yaqin hisoblash (processing-in-memory, Samsung HBM-PIM) va chipletlar.</a:t>
            </a:r>
          </a:p>
          <a:p/>
          <a:p>
            <a:r>
              <a:t>Taqqoslash jadvali: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M15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Kelajak avlod sun'iy intellekt hisoblash tizimlari va istiqbolli texnologiyalar</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2e9a7e0d1541c61b.jpg"/>
          <p:cNvPicPr>
            <a:picLocks noChangeAspect="1"/>
          </p:cNvPicPr>
          <p:nvPr/>
        </p:nvPicPr>
        <p:blipFill>
          <a:blip r:embed="rId2"/>
          <a:srcRect t="1442" b="1442"/>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Dev Jadiya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225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2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5000"/>
            <a:ext cx="10150000" cy="440000"/>
          </a:xfrm>
          <a:prstGeom prst="rect">
            <a:avLst/>
          </a:prstGeom>
          <a:noFill/>
        </p:spPr>
        <p:txBody>
          <a:bodyPr wrap="square" anchor="ctr">
            <a:spAutoFit/>
          </a:bodyPr>
          <a:lstStyle/>
          <a:p>
            <a:r>
              <a:rPr sz="1600" b="0">
                <a:solidFill>
                  <a:srgbClr val="1B2430"/>
                </a:solidFill>
                <a:latin typeface="Calibri"/>
              </a:rPr>
              <a:t>Neyromorf hisoblash (Neuromorphic Computing)</a:t>
            </a:r>
          </a:p>
        </p:txBody>
      </p:sp>
      <p:sp>
        <p:nvSpPr>
          <p:cNvPr id="14" name="Rounded Rectangle 13"/>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88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5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Kvant sun'iy intellekt (Quantum AI Computing)</a:t>
            </a:r>
          </a:p>
        </p:txBody>
      </p:sp>
      <p:sp>
        <p:nvSpPr>
          <p:cNvPr id="18" name="Rounded Rectangle 17"/>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51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58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Fotonik hisoblash (Photonic Computing)</a:t>
            </a:r>
          </a:p>
        </p:txBody>
      </p:sp>
      <p:sp>
        <p:nvSpPr>
          <p:cNvPr id="22" name="Rounded Rectangle 21"/>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14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421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Yashil sun'iy intellekt (Green AI) konsepsiyasi</a:t>
            </a:r>
          </a:p>
        </p:txBody>
      </p:sp>
      <p:sp>
        <p:nvSpPr>
          <p:cNvPr id="26" name="Rounded Rectangle 25"/>
          <p:cNvSpPr/>
          <p:nvPr/>
        </p:nvSpPr>
        <p:spPr>
          <a:xfrm>
            <a:off x="550000" y="477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77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84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815000"/>
            <a:ext cx="10150000" cy="440000"/>
          </a:xfrm>
          <a:prstGeom prst="rect">
            <a:avLst/>
          </a:prstGeom>
          <a:noFill/>
        </p:spPr>
        <p:txBody>
          <a:bodyPr wrap="square" anchor="ctr">
            <a:spAutoFit/>
          </a:bodyPr>
          <a:lstStyle/>
          <a:p>
            <a:r>
              <a:rPr sz="1600" b="0">
                <a:solidFill>
                  <a:srgbClr val="1B2430"/>
                </a:solidFill>
                <a:latin typeface="Calibri"/>
              </a:rPr>
              <a:t>Sun'iy intellekt superkompyuterlari va kelajak tezlatkichlari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07784e21f688437.jpg"/>
          <p:cNvPicPr>
            <a:picLocks noChangeAspect="1"/>
          </p:cNvPicPr>
          <p:nvPr/>
        </p:nvPicPr>
        <p:blipFill>
          <a:blip r:embed="rId2"/>
          <a:srcRect l="26188" r="26188"/>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DARPA SyNAPSE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Neyromorf hisoblash (Neuromorphic Computing)</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Neyromorf hisoblash (Neuromorphic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Neyromorf muhandislik atamasini 1980-yillar oxirida Karver Mid (Carver Mead) Kaltexda kiritgan: u analog CMOS sxemalar bilan biologik neyronlarning dinamikasini bevosita taqlid qilishni taklif qilgan.</a:t>
            </a:r>
          </a:p>
          <a:p>
            <a:pPr>
              <a:spcBef>
                <a:spcPts val="400"/>
              </a:spcBef>
            </a:pPr>
            <a:r>
              <a:rPr sz="1400">
                <a:solidFill>
                  <a:srgbClr val="334055"/>
                </a:solidFill>
                <a:latin typeface="Calibri"/>
              </a:rPr>
              <a:t>Zamonaviy neyromorf tizimlar uchta tamoyilga tayanadi.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Asosiy neyron modeli — oqish-integratsiya-otilish (Leaky Integrate-and-Fire, LIF) neyroni: membrana potensiali U[t] = β·U[t-1] + W·X[t] - S[t-1]·θ, bu yerda β — oqish koeffitsienti, W·X — vaznlangan kirish, S — spayk (1 yoki 0), θ — chegara.</a:t>
            </a:r>
          </a:p>
          <a:p>
            <a:pPr>
              <a:spcBef>
                <a:spcPts val="400"/>
              </a:spcBef>
            </a:pPr>
            <a:r>
              <a:rPr sz="1400">
                <a:solidFill>
                  <a:srgbClr val="334055"/>
                </a:solidFill>
                <a:latin typeface="Calibri"/>
              </a:rPr>
              <a:t>Spayk U chegaradan oshganda chiqadi va potensial qaytariladi. Axborot spayk chastotasida (rate coding), spayk vaqtida (temporal/latency coding) yoki populyatsiya kodida ifodalanadi.</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Zamonaviy neyromorf chiplar taqqoslamasi:</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500" b="1">
                <a:solidFill>
                  <a:srgbClr val="1F3A5F"/>
                </a:solidFill>
                <a:latin typeface="Calibri"/>
              </a:rPr>
              <a:t>Neyromorf tizimlarning real afzalligi siyrak (sparse), hodisaga boy ish yuklamalarida namoyon bo'ladi: hodisali kameralar (DVS) bilan ko'rish, audio uyg'otuvchi so'z, sensor oqimlarida anomaliya, robot boshqaruvi.</a:t>
            </a:r>
          </a:p>
          <a:p>
            <a:pPr>
              <a:spcBef>
                <a:spcPts val="400"/>
              </a:spcBef>
            </a:pPr>
            <a:r>
              <a:rPr sz="1400">
                <a:solidFill>
                  <a:srgbClr val="334055"/>
                </a:solidFill>
                <a:latin typeface="Calibri"/>
              </a:rPr>
              <a:t>Intel ma'lumotlariga ko'ra, Loihi ayrim siyrak ish yuklamalarida GPU va CPU ga nisbatan 100–1000 baravar kam energiya sarflaydi, lekin zich matritsali katta modellarda (LLM) ustunlik yo'q.</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Neyromorf hisoblash (Neuromorphic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Chip / tizim</a:t>
                      </a:r>
                    </a:p>
                  </a:txBody>
                  <a:tcPr>
                    <a:solidFill>
                      <a:srgbClr val="2D5C8F"/>
                    </a:solidFill>
                  </a:tcPr>
                </a:tc>
                <a:tc>
                  <a:txBody>
                    <a:bodyPr/>
                    <a:lstStyle/>
                    <a:p>
                      <a:r>
                        <a:rPr sz="1200" b="1">
                          <a:solidFill>
                            <a:srgbClr val="FFFFFF"/>
                          </a:solidFill>
                          <a:latin typeface="Calibri"/>
                        </a:rPr>
                        <a:t>Yil</a:t>
                      </a:r>
                    </a:p>
                  </a:txBody>
                  <a:tcPr>
                    <a:solidFill>
                      <a:srgbClr val="2D5C8F"/>
                    </a:solidFill>
                  </a:tcPr>
                </a:tc>
                <a:tc>
                  <a:txBody>
                    <a:bodyPr/>
                    <a:lstStyle/>
                    <a:p>
                      <a:r>
                        <a:rPr sz="1200" b="1">
                          <a:solidFill>
                            <a:srgbClr val="FFFFFF"/>
                          </a:solidFill>
                          <a:latin typeface="Calibri"/>
                        </a:rPr>
                        <a:t>Neyron / sinaps (chipda)</a:t>
                      </a:r>
                    </a:p>
                  </a:txBody>
                  <a:tcPr>
                    <a:solidFill>
                      <a:srgbClr val="2D5C8F"/>
                    </a:solidFill>
                  </a:tcPr>
                </a:tc>
                <a:tc>
                  <a:txBody>
                    <a:bodyPr/>
                    <a:lstStyle/>
                    <a:p>
                      <a:r>
                        <a:rPr sz="1200" b="1">
                          <a:solidFill>
                            <a:srgbClr val="FFFFFF"/>
                          </a:solidFill>
                          <a:latin typeface="Calibri"/>
                        </a:rPr>
                        <a:t>Xususiyat</a:t>
                      </a:r>
                    </a:p>
                  </a:txBody>
                  <a:tcPr>
                    <a:solidFill>
                      <a:srgbClr val="2D5C8F"/>
                    </a:solidFill>
                  </a:tcPr>
                </a:tc>
                <a:tc>
                  <a:txBody>
                    <a:bodyPr/>
                    <a:lstStyle/>
                    <a:p>
                      <a:r>
                        <a:rPr sz="1200" b="1">
                          <a:solidFill>
                            <a:srgbClr val="FFFFFF"/>
                          </a:solidFill>
                          <a:latin typeface="Calibri"/>
                        </a:rPr>
                        <a:t>Quvvat</a:t>
                      </a:r>
                    </a:p>
                  </a:txBody>
                  <a:tcPr>
                    <a:solidFill>
                      <a:srgbClr val="2D5C8F"/>
                    </a:solidFill>
                  </a:tcPr>
                </a:tc>
              </a:tr>
              <a:tr h="520000">
                <a:tc>
                  <a:txBody>
                    <a:bodyPr/>
                    <a:lstStyle/>
                    <a:p>
                      <a:r>
                        <a:rPr sz="1200" b="0">
                          <a:solidFill>
                            <a:srgbClr val="1B2430"/>
                          </a:solidFill>
                          <a:latin typeface="Calibri"/>
                        </a:rPr>
                        <a:t>IBM TrueNorth</a:t>
                      </a:r>
                    </a:p>
                  </a:txBody>
                  <a:tcPr>
                    <a:solidFill>
                      <a:srgbClr val="F1F4F8"/>
                    </a:solidFill>
                  </a:tcPr>
                </a:tc>
                <a:tc>
                  <a:txBody>
                    <a:bodyPr/>
                    <a:lstStyle/>
                    <a:p>
                      <a:r>
                        <a:rPr sz="1200" b="0">
                          <a:solidFill>
                            <a:srgbClr val="1B2430"/>
                          </a:solidFill>
                          <a:latin typeface="Calibri"/>
                        </a:rPr>
                        <a:t>2014</a:t>
                      </a:r>
                    </a:p>
                  </a:txBody>
                  <a:tcPr>
                    <a:solidFill>
                      <a:srgbClr val="F1F4F8"/>
                    </a:solidFill>
                  </a:tcPr>
                </a:tc>
                <a:tc>
                  <a:txBody>
                    <a:bodyPr/>
                    <a:lstStyle/>
                    <a:p>
                      <a:r>
                        <a:rPr sz="1200" b="0">
                          <a:solidFill>
                            <a:srgbClr val="1B2430"/>
                          </a:solidFill>
                          <a:latin typeface="Calibri"/>
                        </a:rPr>
                        <a:t>1 mln / 256 mln</a:t>
                      </a:r>
                    </a:p>
                  </a:txBody>
                  <a:tcPr>
                    <a:solidFill>
                      <a:srgbClr val="F1F4F8"/>
                    </a:solidFill>
                  </a:tcPr>
                </a:tc>
                <a:tc>
                  <a:txBody>
                    <a:bodyPr/>
                    <a:lstStyle/>
                    <a:p>
                      <a:r>
                        <a:rPr sz="1200" b="0">
                          <a:solidFill>
                            <a:srgbClr val="1B2430"/>
                          </a:solidFill>
                          <a:latin typeface="Calibri"/>
                        </a:rPr>
                        <a:t>4096 yadro, raqamli, fiksirlangan dinamika</a:t>
                      </a:r>
                    </a:p>
                  </a:txBody>
                  <a:tcPr>
                    <a:solidFill>
                      <a:srgbClr val="F1F4F8"/>
                    </a:solidFill>
                  </a:tcPr>
                </a:tc>
                <a:tc>
                  <a:txBody>
                    <a:bodyPr/>
                    <a:lstStyle/>
                    <a:p>
                      <a:r>
                        <a:rPr sz="1200" b="0">
                          <a:solidFill>
                            <a:srgbClr val="1B2430"/>
                          </a:solidFill>
                          <a:latin typeface="Calibri"/>
                        </a:rPr>
                        <a:t>~70 mVt (real vaqt video)</a:t>
                      </a:r>
                    </a:p>
                  </a:txBody>
                  <a:tcPr>
                    <a:solidFill>
                      <a:srgbClr val="F1F4F8"/>
                    </a:solidFill>
                  </a:tcPr>
                </a:tc>
              </a:tr>
              <a:tr h="520000">
                <a:tc>
                  <a:txBody>
                    <a:bodyPr/>
                    <a:lstStyle/>
                    <a:p>
                      <a:r>
                        <a:rPr sz="1200" b="0">
                          <a:solidFill>
                            <a:srgbClr val="1B2430"/>
                          </a:solidFill>
                          <a:latin typeface="Calibri"/>
                        </a:rPr>
                        <a:t>Intel Loihi 2</a:t>
                      </a:r>
                    </a:p>
                  </a:txBody>
                  <a:tcPr>
                    <a:solidFill>
                      <a:srgbClr val="FFFFFF"/>
                    </a:solidFill>
                  </a:tcPr>
                </a:tc>
                <a:tc>
                  <a:txBody>
                    <a:bodyPr/>
                    <a:lstStyle/>
                    <a:p>
                      <a:r>
                        <a:rPr sz="1200" b="0">
                          <a:solidFill>
                            <a:srgbClr val="1B2430"/>
                          </a:solidFill>
                          <a:latin typeface="Calibri"/>
                        </a:rPr>
                        <a:t>2021</a:t>
                      </a:r>
                    </a:p>
                  </a:txBody>
                  <a:tcPr>
                    <a:solidFill>
                      <a:srgbClr val="FFFFFF"/>
                    </a:solidFill>
                  </a:tcPr>
                </a:tc>
                <a:tc>
                  <a:txBody>
                    <a:bodyPr/>
                    <a:lstStyle/>
                    <a:p>
                      <a:r>
                        <a:rPr sz="1200" b="0">
                          <a:solidFill>
                            <a:srgbClr val="1B2430"/>
                          </a:solidFill>
                          <a:latin typeface="Calibri"/>
                        </a:rPr>
                        <a:t>1 mln / 120 mln gacha</a:t>
                      </a:r>
                    </a:p>
                  </a:txBody>
                  <a:tcPr>
                    <a:solidFill>
                      <a:srgbClr val="FFFFFF"/>
                    </a:solidFill>
                  </a:tcPr>
                </a:tc>
                <a:tc>
                  <a:txBody>
                    <a:bodyPr/>
                    <a:lstStyle/>
                    <a:p>
                      <a:r>
                        <a:rPr sz="1200" b="0">
                          <a:solidFill>
                            <a:srgbClr val="1B2430"/>
                          </a:solidFill>
                          <a:latin typeface="Calibri"/>
                        </a:rPr>
                        <a:t>Intel 4 texnologiyasi, dasturlanadigan neyron modeli, chipda o'qitish</a:t>
                      </a:r>
                    </a:p>
                  </a:txBody>
                  <a:tcPr>
                    <a:solidFill>
                      <a:srgbClr val="FFFFFF"/>
                    </a:solidFill>
                  </a:tcPr>
                </a:tc>
                <a:tc>
                  <a:txBody>
                    <a:bodyPr/>
                    <a:lstStyle/>
                    <a:p>
                      <a:r>
                        <a:rPr sz="1200" b="0">
                          <a:solidFill>
                            <a:srgbClr val="1B2430"/>
                          </a:solidFill>
                          <a:latin typeface="Calibri"/>
                        </a:rPr>
                        <a:t>1 Vt atrofida (yuklamaga bog'liq)</a:t>
                      </a:r>
                    </a:p>
                  </a:txBody>
                  <a:tcPr>
                    <a:solidFill>
                      <a:srgbClr val="FFFFFF"/>
                    </a:solidFill>
                  </a:tcPr>
                </a:tc>
              </a:tr>
              <a:tr h="520000">
                <a:tc>
                  <a:txBody>
                    <a:bodyPr/>
                    <a:lstStyle/>
                    <a:p>
                      <a:r>
                        <a:rPr sz="1200" b="0">
                          <a:solidFill>
                            <a:srgbClr val="1B2430"/>
                          </a:solidFill>
                          <a:latin typeface="Calibri"/>
                        </a:rPr>
                        <a:t>Intel Hala Point</a:t>
                      </a:r>
                    </a:p>
                  </a:txBody>
                  <a:tcPr>
                    <a:solidFill>
                      <a:srgbClr val="F1F4F8"/>
                    </a:solidFill>
                  </a:tcPr>
                </a:tc>
                <a:tc>
                  <a:txBody>
                    <a:bodyPr/>
                    <a:lstStyle/>
                    <a:p>
                      <a:r>
                        <a:rPr sz="1200" b="0">
                          <a:solidFill>
                            <a:srgbClr val="1B2430"/>
                          </a:solidFill>
                          <a:latin typeface="Calibri"/>
                        </a:rPr>
                        <a:t>2024</a:t>
                      </a:r>
                    </a:p>
                  </a:txBody>
                  <a:tcPr>
                    <a:solidFill>
                      <a:srgbClr val="F1F4F8"/>
                    </a:solidFill>
                  </a:tcPr>
                </a:tc>
                <a:tc>
                  <a:txBody>
                    <a:bodyPr/>
                    <a:lstStyle/>
                    <a:p>
                      <a:r>
                        <a:rPr sz="1200" b="0">
                          <a:solidFill>
                            <a:srgbClr val="1B2430"/>
                          </a:solidFill>
                          <a:latin typeface="Calibri"/>
                        </a:rPr>
                        <a:t>1,15 mlrd / 128 mlrd (1152 Loihi 2)</a:t>
                      </a:r>
                    </a:p>
                  </a:txBody>
                  <a:tcPr>
                    <a:solidFill>
                      <a:srgbClr val="F1F4F8"/>
                    </a:solidFill>
                  </a:tcPr>
                </a:tc>
                <a:tc>
                  <a:txBody>
                    <a:bodyPr/>
                    <a:lstStyle/>
                    <a:p>
                      <a:r>
                        <a:rPr sz="1200" b="0">
                          <a:solidFill>
                            <a:srgbClr val="1B2430"/>
                          </a:solidFill>
                          <a:latin typeface="Calibri"/>
                        </a:rPr>
                        <a:t>eng yirik neyromorf tizim, Sandia laboratoriyasi</a:t>
                      </a:r>
                    </a:p>
                  </a:txBody>
                  <a:tcPr>
                    <a:solidFill>
                      <a:srgbClr val="F1F4F8"/>
                    </a:solidFill>
                  </a:tcPr>
                </a:tc>
                <a:tc>
                  <a:txBody>
                    <a:bodyPr/>
                    <a:lstStyle/>
                    <a:p>
                      <a:r>
                        <a:rPr sz="1200" b="0">
                          <a:solidFill>
                            <a:srgbClr val="1B2430"/>
                          </a:solidFill>
                          <a:latin typeface="Calibri"/>
                        </a:rPr>
                        <a:t>~2,6 kVt</a:t>
                      </a:r>
                    </a:p>
                  </a:txBody>
                  <a:tcPr>
                    <a:solidFill>
                      <a:srgbClr val="F1F4F8"/>
                    </a:solidFill>
                  </a:tcPr>
                </a:tc>
              </a:tr>
              <a:tr h="520000">
                <a:tc>
                  <a:txBody>
                    <a:bodyPr/>
                    <a:lstStyle/>
                    <a:p>
                      <a:r>
                        <a:rPr sz="1200" b="0">
                          <a:solidFill>
                            <a:srgbClr val="1B2430"/>
                          </a:solidFill>
                          <a:latin typeface="Calibri"/>
                        </a:rPr>
                        <a:t>SpiNNaker2 (TU Drezden)</a:t>
                      </a:r>
                    </a:p>
                  </a:txBody>
                  <a:tcPr>
                    <a:solidFill>
                      <a:srgbClr val="FFFFFF"/>
                    </a:solidFill>
                  </a:tcPr>
                </a:tc>
                <a:tc>
                  <a:txBody>
                    <a:bodyPr/>
                    <a:lstStyle/>
                    <a:p>
                      <a:r>
                        <a:rPr sz="1200" b="0">
                          <a:solidFill>
                            <a:srgbClr val="1B2430"/>
                          </a:solidFill>
                          <a:latin typeface="Calibri"/>
                        </a:rPr>
                        <a:t>2021–2024</a:t>
                      </a:r>
                    </a:p>
                  </a:txBody>
                  <a:tcPr>
                    <a:solidFill>
                      <a:srgbClr val="FFFFFF"/>
                    </a:solidFill>
                  </a:tcPr>
                </a:tc>
                <a:tc>
                  <a:txBody>
                    <a:bodyPr/>
                    <a:lstStyle/>
                    <a:p>
                      <a:r>
                        <a:rPr sz="1200" b="0">
                          <a:solidFill>
                            <a:srgbClr val="1B2430"/>
                          </a:solidFill>
                          <a:latin typeface="Calibri"/>
                        </a:rPr>
                        <a:t>152 ARM yadro / chip, millionlab chip tizimlari</a:t>
                      </a:r>
                    </a:p>
                  </a:txBody>
                  <a:tcPr>
                    <a:solidFill>
                      <a:srgbClr val="FFFFFF"/>
                    </a:solidFill>
                  </a:tcPr>
                </a:tc>
                <a:tc>
                  <a:txBody>
                    <a:bodyPr/>
                    <a:lstStyle/>
                    <a:p>
                      <a:r>
                        <a:rPr sz="1200" b="0">
                          <a:solidFill>
                            <a:srgbClr val="1B2430"/>
                          </a:solidFill>
                          <a:latin typeface="Calibri"/>
                        </a:rPr>
                        <a:t>dasturiy neyronlar, moslashuvchan</a:t>
                      </a:r>
                    </a:p>
                  </a:txBody>
                  <a:tcPr>
                    <a:solidFill>
                      <a:srgbClr val="FFFFFF"/>
                    </a:solidFill>
                  </a:tcPr>
                </a:tc>
                <a:tc>
                  <a:txBody>
                    <a:bodyPr/>
                    <a:lstStyle/>
                    <a:p>
                      <a:r>
                        <a:rPr sz="1200" b="0">
                          <a:solidFill>
                            <a:srgbClr val="1B2430"/>
                          </a:solidFill>
                          <a:latin typeface="Calibri"/>
                        </a:rPr>
                        <a:t>tizimga bog'liq</a:t>
                      </a:r>
                    </a:p>
                  </a:txBody>
                  <a:tcPr>
                    <a:solidFill>
                      <a:srgbClr val="FFFFFF"/>
                    </a:solidFill>
                  </a:tcPr>
                </a:tc>
              </a:tr>
              <a:tr h="520000">
                <a:tc>
                  <a:txBody>
                    <a:bodyPr/>
                    <a:lstStyle/>
                    <a:p>
                      <a:r>
                        <a:rPr sz="1200" b="0">
                          <a:solidFill>
                            <a:srgbClr val="1B2430"/>
                          </a:solidFill>
                          <a:latin typeface="Calibri"/>
                        </a:rPr>
                        <a:t>BrainScaleS-2 (Haydelberg)</a:t>
                      </a:r>
                    </a:p>
                  </a:txBody>
                  <a:tcPr>
                    <a:solidFill>
                      <a:srgbClr val="F1F4F8"/>
                    </a:solidFill>
                  </a:tcPr>
                </a:tc>
                <a:tc>
                  <a:txBody>
                    <a:bodyPr/>
                    <a:lstStyle/>
                    <a:p>
                      <a:r>
                        <a:rPr sz="1200" b="0">
                          <a:solidFill>
                            <a:srgbClr val="1B2430"/>
                          </a:solidFill>
                          <a:latin typeface="Calibri"/>
                        </a:rPr>
                        <a:t>2020</a:t>
                      </a:r>
                    </a:p>
                  </a:txBody>
                  <a:tcPr>
                    <a:solidFill>
                      <a:srgbClr val="F1F4F8"/>
                    </a:solidFill>
                  </a:tcPr>
                </a:tc>
                <a:tc>
                  <a:txBody>
                    <a:bodyPr/>
                    <a:lstStyle/>
                    <a:p>
                      <a:r>
                        <a:rPr sz="1200" b="0">
                          <a:solidFill>
                            <a:srgbClr val="1B2430"/>
                          </a:solidFill>
                          <a:latin typeface="Calibri"/>
                        </a:rPr>
                        <a:t>512 analog neyron / chip</a:t>
                      </a:r>
                    </a:p>
                  </a:txBody>
                  <a:tcPr>
                    <a:solidFill>
                      <a:srgbClr val="F1F4F8"/>
                    </a:solidFill>
                  </a:tcPr>
                </a:tc>
                <a:tc>
                  <a:txBody>
                    <a:bodyPr/>
                    <a:lstStyle/>
                    <a:p>
                      <a:r>
                        <a:rPr sz="1200" b="0">
                          <a:solidFill>
                            <a:srgbClr val="1B2430"/>
                          </a:solidFill>
                          <a:latin typeface="Calibri"/>
                        </a:rPr>
                        <a:t>analog, biologiyadan 1000 marta tez</a:t>
                      </a:r>
                    </a:p>
                  </a:txBody>
                  <a:tcPr>
                    <a:solidFill>
                      <a:srgbClr val="F1F4F8"/>
                    </a:solidFill>
                  </a:tcPr>
                </a:tc>
                <a:tc>
                  <a:txBody>
                    <a:bodyPr/>
                    <a:lstStyle/>
                    <a:p>
                      <a:r>
                        <a:rPr sz="1200" b="0">
                          <a:solidFill>
                            <a:srgbClr val="1B2430"/>
                          </a:solidFill>
                          <a:latin typeface="Calibri"/>
                        </a:rPr>
                        <a:t>o'nlab mVt</a:t>
                      </a:r>
                    </a:p>
                  </a:txBody>
                  <a:tcPr>
                    <a:solidFill>
                      <a:srgbClr val="F1F4F8"/>
                    </a:solidFill>
                  </a:tcPr>
                </a:tc>
              </a:tr>
              <a:tr h="520000">
                <a:tc>
                  <a:txBody>
                    <a:bodyPr/>
                    <a:lstStyle/>
                    <a:p>
                      <a:r>
                        <a:rPr sz="1200" b="0">
                          <a:solidFill>
                            <a:srgbClr val="1B2430"/>
                          </a:solidFill>
                          <a:latin typeface="Calibri"/>
                        </a:rPr>
                        <a:t>IBM NorthPole</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256 yadro, 224 MB chipda xotira</a:t>
                      </a:r>
                    </a:p>
                  </a:txBody>
                  <a:tcPr>
                    <a:solidFill>
                      <a:srgbClr val="FFFFFF"/>
                    </a:solidFill>
                  </a:tcPr>
                </a:tc>
                <a:tc>
                  <a:txBody>
                    <a:bodyPr/>
                    <a:lstStyle/>
                    <a:p>
                      <a:r>
                        <a:rPr sz="1200" b="0">
                          <a:solidFill>
                            <a:srgbClr val="1B2430"/>
                          </a:solidFill>
                          <a:latin typeface="Calibri"/>
                        </a:rPr>
                        <a:t>neyromorfdan ilhomlangan, lekin an'anaviy DNN inferensi</a:t>
                      </a:r>
                    </a:p>
                  </a:txBody>
                  <a:tcPr>
                    <a:solidFill>
                      <a:srgbClr val="FFFFFF"/>
                    </a:solidFill>
                  </a:tcPr>
                </a:tc>
                <a:tc>
                  <a:txBody>
                    <a:bodyPr/>
                    <a:lstStyle/>
                    <a:p>
                      <a:r>
                        <a:rPr sz="1200" b="0">
                          <a:solidFill>
                            <a:srgbClr val="1B2430"/>
                          </a:solidFill>
                          <a:latin typeface="Calibri"/>
                        </a:rPr>
                        <a:t>ResNet-50 da V100 dan 25 marta energiya samarali (IBM bahosi)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e55313e8607cfd.jpg"/>
          <p:cNvPicPr>
            <a:picLocks noChangeAspect="1"/>
          </p:cNvPicPr>
          <p:nvPr/>
        </p:nvPicPr>
        <p:blipFill>
          <a:blip r:embed="rId2"/>
          <a:srcRect t="6352" b="635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Dev Jadiya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Kvant sun'iy intellekt (Quantum AI Computing)</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 sun'iy intellekt (Quantum AI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Kvant hisoblashning asosiy birligi kubit superpozitsiya va chalkashlik (entanglement) tufayli n kubit 2^n o'lchovli holat fazosini ifodalaydi.</a:t>
            </a:r>
          </a:p>
          <a:p>
            <a:pPr>
              <a:spcBef>
                <a:spcPts val="400"/>
              </a:spcBef>
            </a:pPr>
            <a:r>
              <a:rPr sz="1400">
                <a:solidFill>
                  <a:srgbClr val="334055"/>
                </a:solidFill>
                <a:latin typeface="Calibri"/>
              </a:rPr>
              <a:t>Kvant mashinali o'qitish (Quantum Machine Learning, QML; Biamonte va boshq., 2017) bu fazodan ikki asosiy usulda foydalanadi.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Joriy apparat holati (2025-yil holatiga): IBM Heron r2 prosessorlari 156 kubit, ikki kubitli eshik xatosi 0,3 % atrofida; IBM 2023-yilda 1 121 kubitli Condor ni ko'rsatdi, lekin strategiyani kubit sonidan sifatga burdi; Google 2024-yil dekabrida 105 kubitli…</a:t>
            </a:r>
          </a:p>
          <a:p>
            <a:pPr>
              <a:spcBef>
                <a:spcPts val="400"/>
              </a:spcBef>
            </a:pPr>
            <a:r>
              <a:rPr sz="1400">
                <a:solidFill>
                  <a:srgbClr val="334055"/>
                </a:solidFill>
                <a:latin typeface="Calibri"/>
              </a:rPr>
              <a:t>Bularning barchasi NISQ (Noisy Intermediate-Scale Quantum, Preskill 2018) davriga tegishli: xato tuzatilmagan, sxema chuqurligi cheklangan.</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QML uchun bu quyidagi amaliy xulosalarni beradi.</a:t>
            </a:r>
          </a:p>
          <a:p>
            <a:pPr>
              <a:spcBef>
                <a:spcPts val="400"/>
              </a:spcBef>
            </a:pPr>
            <a:r>
              <a:rPr sz="1400">
                <a:solidFill>
                  <a:srgbClr val="334055"/>
                </a:solidFill>
                <a:latin typeface="Calibri"/>
              </a:rPr>
              <a:t>Birinchidan, hali hech bir real SI masalasida kvant qurilma klassik GPU dan ustun kelgani isbotlanmagan; ko'p QML natijalari simulyatsiyada va kichik o'lchamli ma'lumotlarda olingan.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0967a81f9344f37.jpg"/>
          <p:cNvPicPr>
            <a:picLocks noChangeAspect="1"/>
          </p:cNvPicPr>
          <p:nvPr/>
        </p:nvPicPr>
        <p:blipFill>
          <a:blip r:embed="rId2"/>
          <a:srcRect l="10399" r="1039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Ehsanshahoseini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Fotonik hisoblash (Photonic Computing)</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Fotonik hisoblash (Photonic Computing)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3843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38430"/>
            <a:ext cx="70000" cy="10843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706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78430"/>
            <a:ext cx="10150000" cy="1004380"/>
          </a:xfrm>
          <a:prstGeom prst="rect">
            <a:avLst/>
          </a:prstGeom>
          <a:noFill/>
        </p:spPr>
        <p:txBody>
          <a:bodyPr wrap="square" anchor="ctr">
            <a:spAutoFit/>
          </a:bodyPr>
          <a:lstStyle/>
          <a:p>
            <a:r>
              <a:rPr sz="1600" b="1">
                <a:solidFill>
                  <a:srgbClr val="1F3A5F"/>
                </a:solidFill>
                <a:latin typeface="Calibri"/>
              </a:rPr>
              <a:t>Fotonik SI tezlatkichlari g'oyasi oddiy: chiziqli algebra — matritsa-vektor ko'paytirish — yorug'lik interferensiyasi orqali amalga oshiriladi.</a:t>
            </a:r>
          </a:p>
          <a:p>
            <a:pPr>
              <a:spcBef>
                <a:spcPts val="400"/>
              </a:spcBef>
            </a:pPr>
            <a:r>
              <a:rPr sz="1500">
                <a:solidFill>
                  <a:srgbClr val="334055"/>
                </a:solidFill>
                <a:latin typeface="Calibri"/>
              </a:rPr>
              <a:t>Shen va boshq.</a:t>
            </a:r>
          </a:p>
        </p:txBody>
      </p:sp>
      <p:sp>
        <p:nvSpPr>
          <p:cNvPr id="14" name="Rounded Rectangle 13"/>
          <p:cNvSpPr/>
          <p:nvPr/>
        </p:nvSpPr>
        <p:spPr>
          <a:xfrm>
            <a:off x="550000" y="323281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232810"/>
            <a:ext cx="70000" cy="10843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272810"/>
            <a:ext cx="10150000" cy="1004380"/>
          </a:xfrm>
          <a:prstGeom prst="rect">
            <a:avLst/>
          </a:prstGeom>
          <a:noFill/>
        </p:spPr>
        <p:txBody>
          <a:bodyPr wrap="square" anchor="ctr">
            <a:spAutoFit/>
          </a:bodyPr>
          <a:lstStyle/>
          <a:p>
            <a:r>
              <a:rPr sz="1500" b="0">
                <a:solidFill>
                  <a:srgbClr val="1B2430"/>
                </a:solidFill>
                <a:latin typeface="Calibri"/>
              </a:rPr>
              <a:t>Tijorat holati: Lightmatter kompaniyasi Envise fotonik tezlatkichi va Passage optik interkonnektini ishlab chiqdi va 2024-yilda 4 milliard dollardan ortiq baholandi; Lightelligence, Celestial AI va boshqalar ham shu yo'nalishda.</a:t>
            </a:r>
          </a:p>
        </p:txBody>
      </p:sp>
      <p:sp>
        <p:nvSpPr>
          <p:cNvPr id="18" name="Rounded Rectangle 17"/>
          <p:cNvSpPr/>
          <p:nvPr/>
        </p:nvSpPr>
        <p:spPr>
          <a:xfrm>
            <a:off x="550000" y="4427190"/>
            <a:ext cx="11100000" cy="10843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427190"/>
            <a:ext cx="70000" cy="10843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7593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467190"/>
            <a:ext cx="10150000" cy="1004380"/>
          </a:xfrm>
          <a:prstGeom prst="rect">
            <a:avLst/>
          </a:prstGeom>
          <a:noFill/>
        </p:spPr>
        <p:txBody>
          <a:bodyPr wrap="square" anchor="ctr">
            <a:spAutoFit/>
          </a:bodyPr>
          <a:lstStyle/>
          <a:p>
            <a:r>
              <a:rPr sz="1500" b="0">
                <a:solidFill>
                  <a:srgbClr val="1B2430"/>
                </a:solidFill>
                <a:latin typeface="Calibri"/>
              </a:rPr>
              <a:t>Fotonik hisoblashning cheklovlari: analog aniqlik (odatda 4–8 bit samarali), nochiziqli faollashtirish funksiyalari uchun elektr domeniga qaytish zarurati (elektro-optik konvertatsiya energiya va kechikish qo'shadi), haroratga sezgirlik va ishlab chiqarish…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634ee3afb43311d.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Grendelkhan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Yashil sun'iy intellekt (Green AI) konsepsiyasi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Yashil sun'iy intellekt (Green AI) konsepsiyasi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«Green AI» atamasini Schwartz va hamkasblar (2020) «Red AI» — faqat aniqlikni oshirish uchun cheksiz hisoblash sarflash — ga qarshi qo'yib kiritdilar.</a:t>
            </a:r>
          </a:p>
          <a:p>
            <a:pPr>
              <a:spcBef>
                <a:spcPts val="400"/>
              </a:spcBef>
            </a:pPr>
            <a:r>
              <a:rPr sz="1400">
                <a:solidFill>
                  <a:srgbClr val="334055"/>
                </a:solidFill>
                <a:latin typeface="Calibri"/>
              </a:rPr>
              <a:t>Ularning taklifi: ilmiy natijalar bilan birga hisoblash narxini (FLOP, parametrlar, GPU-soat, energiya, CO₂) ham e'lon qilish va samaradorlikni birinchi darajali mezon qilish. Strubell va boshq.</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400" b="0">
                <a:solidFill>
                  <a:srgbClr val="1B2430"/>
                </a:solidFill>
                <a:latin typeface="Calibri"/>
              </a:rPr>
              <a:t>Energiya va uglerod izini baholash formulasi: E = Σ(P_qurilma × t × PUE), CO₂e = E × uglerod_intensivligi, bu yerda PUE (Power Usage Effectiveness) — ma'lumot markazining umumiy iste'molining IT iste'moliga nisbati (zamonaviy giperskeyl markazlarda 1,1–1,2…</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Green AI ning muhandislik vositalari: M8 da ko'rilgan kvantlash, siyraklashtirish va distillash (energiya sarfini 2–10 baravar kamaytiradi); samarali arxitekturalar (Mixture-of-Experts — har token uchun parametrlarning faqat bir qismi faol); o'qitish…</a:t>
            </a:r>
          </a:p>
          <a:p>
            <a:pPr>
              <a:spcBef>
                <a:spcPts val="400"/>
              </a:spcBef>
            </a:pPr>
            <a:r>
              <a:rPr sz="1400">
                <a:solidFill>
                  <a:srgbClr val="334055"/>
                </a:solidFill>
                <a:latin typeface="Calibri"/>
              </a:rPr>
              <a:t>Metrikalar: samarali ish yuklama uchun TOPS/Vt, o'qitish uchun model aniqligiga erishish uchun jami kVt·soat, Green500 ro'yxatidagi GFLOPS/Vt.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3d02c4532fdfd6a.jpg"/>
          <p:cNvPicPr>
            <a:picLocks noChangeAspect="1"/>
          </p:cNvPicPr>
          <p:nvPr/>
        </p:nvPicPr>
        <p:blipFill>
          <a:blip r:embed="rId2"/>
          <a:srcRect l="19715" r="1971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Lawrence Livermore National Laboratory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Sun'iy intellekt superkompyuterlari va kelajak tezlatkichlari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superkompyuterlari va kelajak tezlatkichlari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Zamonaviy SI superkompyuterlari ikki sinfga bo'linadi.</a:t>
            </a:r>
          </a:p>
          <a:p>
            <a:pPr>
              <a:spcBef>
                <a:spcPts val="400"/>
              </a:spcBef>
            </a:pPr>
            <a:r>
              <a:rPr sz="1400">
                <a:solidFill>
                  <a:srgbClr val="334055"/>
                </a:solidFill>
                <a:latin typeface="Calibri"/>
              </a:rPr>
              <a:t>Davlat ilmiy eksaflops tizimlari: Frontier (ORNL, 2022, AMD MI250X, HPL 1,2 eksaflops), Aurora (Argonne, Intel Ponte Vecchio), El Capitan (LLNL, 2024-yil noyabridan TOP500 birinchisi, AMD MI300A APU, HPL 1,74 eksaflops, ~30 MVt) va Yevropaning birinchi eksaflops tizimi JUPITER (Yulix, 2025, NVIDIA Grace Hopper, modulli arxitektura).</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400" b="0">
                <a:solidFill>
                  <a:srgbClr val="1B2430"/>
                </a:solidFill>
                <a:latin typeface="Calibri"/>
              </a:rPr>
              <a:t>Bu tizimlarning arxitekturaviy tendensiyalari: CPU va GPU ning yagona paketda birlashishi (Grace Hopper, MI300A) va HBM3e xotirasi (H200 da 141 GB, 4,8 TB/s); rafdan tashqari masshtablanadigan NVLink domenlari (GB200 NVL72 — 72 GPU bitta xotira makonida, 130…</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500" b="1">
                <a:solidFill>
                  <a:srgbClr val="1F3A5F"/>
                </a:solidFill>
                <a:latin typeface="Calibri"/>
              </a:rPr>
              <a:t>Kelajak avlod tezlatkichlari bir nechta yo'nalishda rivojlanmoqda.</a:t>
            </a:r>
          </a:p>
          <a:p>
            <a:pPr>
              <a:spcBef>
                <a:spcPts val="400"/>
              </a:spcBef>
            </a:pPr>
            <a:r>
              <a:rPr sz="1400">
                <a:solidFill>
                  <a:srgbClr val="334055"/>
                </a:solidFill>
                <a:latin typeface="Calibri"/>
              </a:rPr>
              <a:t>Pufak (wafer-scale) integratsiya: Cerebras WSE-3 (2024) — 46 225 mm² kremniy, 4 trillion tranzistor, 900 ming yadro, 44 GB chipda SRAM, 21 PB/s xotira o'tkazuvchanligi — xotira devorini butun modelni chipda saqlash orqali yengadi. Ma'lumot oqimli arxitekturalar: Groq LPU (deterministik, SRAM-markazli, LLM inferensida tokeniga past kechikish), SambaNova SN40L.</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Taqqoslash jadvali: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superkompyuterlari va kelajak tezlatkichlari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M15 · Kelajak avlod sun'iy intellekt hisoblash tizimlari va istiqbolli texnologiyalar</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Paradigma</a:t>
                      </a:r>
                    </a:p>
                  </a:txBody>
                  <a:tcPr>
                    <a:solidFill>
                      <a:srgbClr val="2D5C8F"/>
                    </a:solidFill>
                  </a:tcPr>
                </a:tc>
                <a:tc>
                  <a:txBody>
                    <a:bodyPr/>
                    <a:lstStyle/>
                    <a:p>
                      <a:r>
                        <a:rPr sz="1400" b="1">
                          <a:solidFill>
                            <a:srgbClr val="FFFFFF"/>
                          </a:solidFill>
                          <a:latin typeface="Calibri"/>
                        </a:rPr>
                        <a:t>Asosiy ustunlik</a:t>
                      </a:r>
                    </a:p>
                  </a:txBody>
                  <a:tcPr>
                    <a:solidFill>
                      <a:srgbClr val="2D5C8F"/>
                    </a:solidFill>
                  </a:tcPr>
                </a:tc>
                <a:tc>
                  <a:txBody>
                    <a:bodyPr/>
                    <a:lstStyle/>
                    <a:p>
                      <a:r>
                        <a:rPr sz="1400" b="1">
                          <a:solidFill>
                            <a:srgbClr val="FFFFFF"/>
                          </a:solidFill>
                          <a:latin typeface="Calibri"/>
                        </a:rPr>
                        <a:t>Yetuklik (2025)</a:t>
                      </a:r>
                    </a:p>
                  </a:txBody>
                  <a:tcPr>
                    <a:solidFill>
                      <a:srgbClr val="2D5C8F"/>
                    </a:solidFill>
                  </a:tcPr>
                </a:tc>
                <a:tc>
                  <a:txBody>
                    <a:bodyPr/>
                    <a:lstStyle/>
                    <a:p>
                      <a:r>
                        <a:rPr sz="1400" b="1">
                          <a:solidFill>
                            <a:srgbClr val="FFFFFF"/>
                          </a:solidFill>
                          <a:latin typeface="Calibri"/>
                        </a:rPr>
                        <a:t>Mos ish yuklama</a:t>
                      </a:r>
                    </a:p>
                  </a:txBody>
                  <a:tcPr>
                    <a:solidFill>
                      <a:srgbClr val="2D5C8F"/>
                    </a:solidFill>
                  </a:tcPr>
                </a:tc>
                <a:tc>
                  <a:txBody>
                    <a:bodyPr/>
                    <a:lstStyle/>
                    <a:p>
                      <a:r>
                        <a:rPr sz="1400" b="1">
                          <a:solidFill>
                            <a:srgbClr val="FFFFFF"/>
                          </a:solidFill>
                          <a:latin typeface="Calibri"/>
                        </a:rPr>
                        <a:t>Asosiy to'siq</a:t>
                      </a:r>
                    </a:p>
                  </a:txBody>
                  <a:tcPr>
                    <a:solidFill>
                      <a:srgbClr val="2D5C8F"/>
                    </a:solidFill>
                  </a:tcPr>
                </a:tc>
              </a:tr>
              <a:tr h="520000">
                <a:tc>
                  <a:txBody>
                    <a:bodyPr/>
                    <a:lstStyle/>
                    <a:p>
                      <a:r>
                        <a:rPr sz="1400" b="0">
                          <a:solidFill>
                            <a:srgbClr val="1B2430"/>
                          </a:solidFill>
                          <a:latin typeface="Calibri"/>
                        </a:rPr>
                        <a:t>GPU / TPU (raqamli, zich)</a:t>
                      </a:r>
                    </a:p>
                  </a:txBody>
                  <a:tcPr>
                    <a:solidFill>
                      <a:srgbClr val="F1F4F8"/>
                    </a:solidFill>
                  </a:tcPr>
                </a:tc>
                <a:tc>
                  <a:txBody>
                    <a:bodyPr/>
                    <a:lstStyle/>
                    <a:p>
                      <a:r>
                        <a:rPr sz="1400" b="0">
                          <a:solidFill>
                            <a:srgbClr val="1B2430"/>
                          </a:solidFill>
                          <a:latin typeface="Calibri"/>
                        </a:rPr>
                        <a:t>ekotizim, umumiylik</a:t>
                      </a:r>
                    </a:p>
                  </a:txBody>
                  <a:tcPr>
                    <a:solidFill>
                      <a:srgbClr val="F1F4F8"/>
                    </a:solidFill>
                  </a:tcPr>
                </a:tc>
                <a:tc>
                  <a:txBody>
                    <a:bodyPr/>
                    <a:lstStyle/>
                    <a:p>
                      <a:r>
                        <a:rPr sz="1400" b="0">
                          <a:solidFill>
                            <a:srgbClr val="1B2430"/>
                          </a:solidFill>
                          <a:latin typeface="Calibri"/>
                        </a:rPr>
                        <a:t>ishlab chiqarish</a:t>
                      </a:r>
                    </a:p>
                  </a:txBody>
                  <a:tcPr>
                    <a:solidFill>
                      <a:srgbClr val="F1F4F8"/>
                    </a:solidFill>
                  </a:tcPr>
                </a:tc>
                <a:tc>
                  <a:txBody>
                    <a:bodyPr/>
                    <a:lstStyle/>
                    <a:p>
                      <a:r>
                        <a:rPr sz="1400" b="0">
                          <a:solidFill>
                            <a:srgbClr val="1B2430"/>
                          </a:solidFill>
                          <a:latin typeface="Calibri"/>
                        </a:rPr>
                        <a:t>o'qitish, LLM inferens</a:t>
                      </a:r>
                    </a:p>
                  </a:txBody>
                  <a:tcPr>
                    <a:solidFill>
                      <a:srgbClr val="F1F4F8"/>
                    </a:solidFill>
                  </a:tcPr>
                </a:tc>
                <a:tc>
                  <a:txBody>
                    <a:bodyPr/>
                    <a:lstStyle/>
                    <a:p>
                      <a:r>
                        <a:rPr sz="1400" b="0">
                          <a:solidFill>
                            <a:srgbClr val="1B2430"/>
                          </a:solidFill>
                          <a:latin typeface="Calibri"/>
                        </a:rPr>
                        <a:t>energiya, xotira devori</a:t>
                      </a:r>
                    </a:p>
                  </a:txBody>
                  <a:tcPr>
                    <a:solidFill>
                      <a:srgbClr val="F1F4F8"/>
                    </a:solidFill>
                  </a:tcPr>
                </a:tc>
              </a:tr>
              <a:tr h="520000">
                <a:tc>
                  <a:txBody>
                    <a:bodyPr/>
                    <a:lstStyle/>
                    <a:p>
                      <a:r>
                        <a:rPr sz="1400" b="0">
                          <a:solidFill>
                            <a:srgbClr val="1B2430"/>
                          </a:solidFill>
                          <a:latin typeface="Calibri"/>
                        </a:rPr>
                        <a:t>Neyromorf</a:t>
                      </a:r>
                    </a:p>
                  </a:txBody>
                  <a:tcPr>
                    <a:solidFill>
                      <a:srgbClr val="FFFFFF"/>
                    </a:solidFill>
                  </a:tcPr>
                </a:tc>
                <a:tc>
                  <a:txBody>
                    <a:bodyPr/>
                    <a:lstStyle/>
                    <a:p>
                      <a:r>
                        <a:rPr sz="1400" b="0">
                          <a:solidFill>
                            <a:srgbClr val="1B2430"/>
                          </a:solidFill>
                          <a:latin typeface="Calibri"/>
                        </a:rPr>
                        <a:t>siyrak, hodisali, ultra-past quvvat</a:t>
                      </a:r>
                    </a:p>
                  </a:txBody>
                  <a:tcPr>
                    <a:solidFill>
                      <a:srgbClr val="FFFFFF"/>
                    </a:solidFill>
                  </a:tcPr>
                </a:tc>
                <a:tc>
                  <a:txBody>
                    <a:bodyPr/>
                    <a:lstStyle/>
                    <a:p>
                      <a:r>
                        <a:rPr sz="1400" b="0">
                          <a:solidFill>
                            <a:srgbClr val="1B2430"/>
                          </a:solidFill>
                          <a:latin typeface="Calibri"/>
                        </a:rPr>
                        <a:t>tadqiqot / erta mahsulot</a:t>
                      </a:r>
                    </a:p>
                  </a:txBody>
                  <a:tcPr>
                    <a:solidFill>
                      <a:srgbClr val="FFFFFF"/>
                    </a:solidFill>
                  </a:tcPr>
                </a:tc>
                <a:tc>
                  <a:txBody>
                    <a:bodyPr/>
                    <a:lstStyle/>
                    <a:p>
                      <a:r>
                        <a:rPr sz="1400" b="0">
                          <a:solidFill>
                            <a:srgbClr val="1B2430"/>
                          </a:solidFill>
                          <a:latin typeface="Calibri"/>
                        </a:rPr>
                        <a:t>chekka sensorlar, robototexnika</a:t>
                      </a:r>
                    </a:p>
                  </a:txBody>
                  <a:tcPr>
                    <a:solidFill>
                      <a:srgbClr val="FFFFFF"/>
                    </a:solidFill>
                  </a:tcPr>
                </a:tc>
                <a:tc>
                  <a:txBody>
                    <a:bodyPr/>
                    <a:lstStyle/>
                    <a:p>
                      <a:r>
                        <a:rPr sz="1400" b="0">
                          <a:solidFill>
                            <a:srgbClr val="1B2430"/>
                          </a:solidFill>
                          <a:latin typeface="Calibri"/>
                        </a:rPr>
                        <a:t>dasturlash, aniqlik</a:t>
                      </a:r>
                    </a:p>
                  </a:txBody>
                  <a:tcPr>
                    <a:solidFill>
                      <a:srgbClr val="FFFFFF"/>
                    </a:solidFill>
                  </a:tcPr>
                </a:tc>
              </a:tr>
              <a:tr h="520000">
                <a:tc>
                  <a:txBody>
                    <a:bodyPr/>
                    <a:lstStyle/>
                    <a:p>
                      <a:r>
                        <a:rPr sz="1400" b="0">
                          <a:solidFill>
                            <a:srgbClr val="1B2430"/>
                          </a:solidFill>
                          <a:latin typeface="Calibri"/>
                        </a:rPr>
                        <a:t>Kvant</a:t>
                      </a:r>
                    </a:p>
                  </a:txBody>
                  <a:tcPr>
                    <a:solidFill>
                      <a:srgbClr val="F1F4F8"/>
                    </a:solidFill>
                  </a:tcPr>
                </a:tc>
                <a:tc>
                  <a:txBody>
                    <a:bodyPr/>
                    <a:lstStyle/>
                    <a:p>
                      <a:r>
                        <a:rPr sz="1400" b="0">
                          <a:solidFill>
                            <a:srgbClr val="1B2430"/>
                          </a:solidFill>
                          <a:latin typeface="Calibri"/>
                        </a:rPr>
                        <a:t>eksponensial holat fazosi</a:t>
                      </a:r>
                    </a:p>
                  </a:txBody>
                  <a:tcPr>
                    <a:solidFill>
                      <a:srgbClr val="F1F4F8"/>
                    </a:solidFill>
                  </a:tcPr>
                </a:tc>
                <a:tc>
                  <a:txBody>
                    <a:bodyPr/>
                    <a:lstStyle/>
                    <a:p>
                      <a:r>
                        <a:rPr sz="1400" b="0">
                          <a:solidFill>
                            <a:srgbClr val="1B2430"/>
                          </a:solidFill>
                          <a:latin typeface="Calibri"/>
                        </a:rPr>
                        <a:t>NISQ, xato tuzatish boshlanmoqda</a:t>
                      </a:r>
                    </a:p>
                  </a:txBody>
                  <a:tcPr>
                    <a:solidFill>
                      <a:srgbClr val="F1F4F8"/>
                    </a:solidFill>
                  </a:tcPr>
                </a:tc>
                <a:tc>
                  <a:txBody>
                    <a:bodyPr/>
                    <a:lstStyle/>
                    <a:p>
                      <a:r>
                        <a:rPr sz="1400" b="0">
                          <a:solidFill>
                            <a:srgbClr val="1B2430"/>
                          </a:solidFill>
                          <a:latin typeface="Calibri"/>
                        </a:rPr>
                        <a:t>kimyo, optimallashtirish</a:t>
                      </a:r>
                    </a:p>
                  </a:txBody>
                  <a:tcPr>
                    <a:solidFill>
                      <a:srgbClr val="F1F4F8"/>
                    </a:solidFill>
                  </a:tcPr>
                </a:tc>
                <a:tc>
                  <a:txBody>
                    <a:bodyPr/>
                    <a:lstStyle/>
                    <a:p>
                      <a:r>
                        <a:rPr sz="1400" b="0">
                          <a:solidFill>
                            <a:srgbClr val="1B2430"/>
                          </a:solidFill>
                          <a:latin typeface="Calibri"/>
                        </a:rPr>
                        <a:t>shovqin, ma'lumot yuklash</a:t>
                      </a:r>
                    </a:p>
                  </a:txBody>
                  <a:tcPr>
                    <a:solidFill>
                      <a:srgbClr val="F1F4F8"/>
                    </a:solidFill>
                  </a:tcPr>
                </a:tc>
              </a:tr>
              <a:tr h="520000">
                <a:tc>
                  <a:txBody>
                    <a:bodyPr/>
                    <a:lstStyle/>
                    <a:p>
                      <a:r>
                        <a:rPr sz="1400" b="0">
                          <a:solidFill>
                            <a:srgbClr val="1B2430"/>
                          </a:solidFill>
                          <a:latin typeface="Calibri"/>
                        </a:rPr>
                        <a:t>Fotonik</a:t>
                      </a:r>
                    </a:p>
                  </a:txBody>
                  <a:tcPr>
                    <a:solidFill>
                      <a:srgbClr val="FFFFFF"/>
                    </a:solidFill>
                  </a:tcPr>
                </a:tc>
                <a:tc>
                  <a:txBody>
                    <a:bodyPr/>
                    <a:lstStyle/>
                    <a:p>
                      <a:r>
                        <a:rPr sz="1400" b="0">
                          <a:solidFill>
                            <a:srgbClr val="1B2430"/>
                          </a:solidFill>
                          <a:latin typeface="Calibri"/>
                        </a:rPr>
                        <a:t>tezlik, past issiqlik, interkonnekt</a:t>
                      </a:r>
                    </a:p>
                  </a:txBody>
                  <a:tcPr>
                    <a:solidFill>
                      <a:srgbClr val="FFFFFF"/>
                    </a:solidFill>
                  </a:tcPr>
                </a:tc>
                <a:tc>
                  <a:txBody>
                    <a:bodyPr/>
                    <a:lstStyle/>
                    <a:p>
                      <a:r>
                        <a:rPr sz="1400" b="0">
                          <a:solidFill>
                            <a:srgbClr val="1B2430"/>
                          </a:solidFill>
                          <a:latin typeface="Calibri"/>
                        </a:rPr>
                        <a:t>erta mahsulot</a:t>
                      </a:r>
                    </a:p>
                  </a:txBody>
                  <a:tcPr>
                    <a:solidFill>
                      <a:srgbClr val="FFFFFF"/>
                    </a:solidFill>
                  </a:tcPr>
                </a:tc>
                <a:tc>
                  <a:txBody>
                    <a:bodyPr/>
                    <a:lstStyle/>
                    <a:p>
                      <a:r>
                        <a:rPr sz="1400" b="0">
                          <a:solidFill>
                            <a:srgbClr val="1B2430"/>
                          </a:solidFill>
                          <a:latin typeface="Calibri"/>
                        </a:rPr>
                        <a:t>inferens, aloqa</a:t>
                      </a:r>
                    </a:p>
                  </a:txBody>
                  <a:tcPr>
                    <a:solidFill>
                      <a:srgbClr val="FFFFFF"/>
                    </a:solidFill>
                  </a:tcPr>
                </a:tc>
                <a:tc>
                  <a:txBody>
                    <a:bodyPr/>
                    <a:lstStyle/>
                    <a:p>
                      <a:r>
                        <a:rPr sz="1400" b="0">
                          <a:solidFill>
                            <a:srgbClr val="1B2430"/>
                          </a:solidFill>
                          <a:latin typeface="Calibri"/>
                        </a:rPr>
                        <a:t>analog aniqlik, nochiziqlik</a:t>
                      </a:r>
                    </a:p>
                  </a:txBody>
                  <a:tcPr>
                    <a:solidFill>
                      <a:srgbClr val="FFFFFF"/>
                    </a:solidFill>
                  </a:tcPr>
                </a:tc>
              </a:tr>
              <a:tr h="520000">
                <a:tc>
                  <a:txBody>
                    <a:bodyPr/>
                    <a:lstStyle/>
                    <a:p>
                      <a:r>
                        <a:rPr sz="1400" b="0">
                          <a:solidFill>
                            <a:srgbClr val="1B2430"/>
                          </a:solidFill>
                          <a:latin typeface="Calibri"/>
                        </a:rPr>
                        <a:t>Wafer-scale / dataflow</a:t>
                      </a:r>
                    </a:p>
                  </a:txBody>
                  <a:tcPr>
                    <a:solidFill>
                      <a:srgbClr val="F1F4F8"/>
                    </a:solidFill>
                  </a:tcPr>
                </a:tc>
                <a:tc>
                  <a:txBody>
                    <a:bodyPr/>
                    <a:lstStyle/>
                    <a:p>
                      <a:r>
                        <a:rPr sz="1400" b="0">
                          <a:solidFill>
                            <a:srgbClr val="1B2430"/>
                          </a:solidFill>
                          <a:latin typeface="Calibri"/>
                        </a:rPr>
                        <a:t>chipda xotira, determinizm</a:t>
                      </a:r>
                    </a:p>
                  </a:txBody>
                  <a:tcPr>
                    <a:solidFill>
                      <a:srgbClr val="F1F4F8"/>
                    </a:solidFill>
                  </a:tcPr>
                </a:tc>
                <a:tc>
                  <a:txBody>
                    <a:bodyPr/>
                    <a:lstStyle/>
                    <a:p>
                      <a:r>
                        <a:rPr sz="1400" b="0">
                          <a:solidFill>
                            <a:srgbClr val="1B2430"/>
                          </a:solidFill>
                          <a:latin typeface="Calibri"/>
                        </a:rPr>
                        <a:t>ishlab chiqarish (tor)</a:t>
                      </a:r>
                    </a:p>
                  </a:txBody>
                  <a:tcPr>
                    <a:solidFill>
                      <a:srgbClr val="F1F4F8"/>
                    </a:solidFill>
                  </a:tcPr>
                </a:tc>
                <a:tc>
                  <a:txBody>
                    <a:bodyPr/>
                    <a:lstStyle/>
                    <a:p>
                      <a:r>
                        <a:rPr sz="1400" b="0">
                          <a:solidFill>
                            <a:srgbClr val="1B2430"/>
                          </a:solidFill>
                          <a:latin typeface="Calibri"/>
                        </a:rPr>
                        <a:t>LLM inferens, ba'zi o'qitish</a:t>
                      </a:r>
                    </a:p>
                  </a:txBody>
                  <a:tcPr>
                    <a:solidFill>
                      <a:srgbClr val="F1F4F8"/>
                    </a:solidFill>
                  </a:tcPr>
                </a:tc>
                <a:tc>
                  <a:txBody>
                    <a:bodyPr/>
                    <a:lstStyle/>
                    <a:p>
                      <a:r>
                        <a:rPr sz="1400" b="0">
                          <a:solidFill>
                            <a:srgbClr val="1B2430"/>
                          </a:solidFill>
                          <a:latin typeface="Calibri"/>
                        </a:rPr>
                        <a:t>narx, moslashuvchanlik</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
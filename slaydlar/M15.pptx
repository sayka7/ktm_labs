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yakuniy ma'ruzaning maqsadi — bugungi GPU-markazli sun'iy intellekt (SI) infratuzilmasining fizik va iqtisodiy chegaralarini anglash hamda bu chegaralarni yengish uchun taklif etilayotgan muqobil hisoblash paradigmalarini — neyromorf, kvant va fotonik hisoblashni — muhandislik nuqtai nazaridan baholashni o'rgatish. Shuningdek, «Yashil SI» (Green AI) konsepsiyasi va eksaflops darajasidagi SI superkompyuterlari misolida energiya samaradorligi tizim loyihalashning markaziy mezoniga aylanganini ko'rsatamiz.</a:t>
            </a:r>
          </a:p>
          <a:p/>
          <a:p>
            <a:r>
              <a:t>Mavzuni o'zlashtirgach magistrant:</a:t>
            </a:r>
          </a:p>
          <a:p/>
          <a:p>
            <a:r>
              <a:t>Dennard masshtablashining tugashi, xotira devori va energiya devori kabi fizik cheklovlarni raqamlar bilan tushuntira oladi va nega ular muqobil paradigmalarni zarur qilganini asoslay oladi.</a:t>
            </a:r>
          </a:p>
          <a:p/>
          <a:p>
            <a:r>
              <a:t>Neyromorf hisoblash (Neuromorphic Computing) ning asosiy tamoyillarini — hodisaga asoslangan ishlov, spayklar, xotira va hisoblashning yaqinlashuvi — va zamonaviy chiplar (Intel Loihi 2, IBM NorthPole, SpiNNaker2) xususiyatlarini taqqoslay oladi.</a:t>
            </a:r>
          </a:p>
          <a:p/>
          <a:p>
            <a:r>
              <a:t>Kvant SI (Quantum AI) ning asosiy modellarini (variatsion kvant sxemalari, kvant yadrolari, QAOA) va ularning joriy shovqinli qurilmalardagi (NISQ) real imkoniyatlari va cheklovlarini baholay oladi.</a:t>
            </a:r>
          </a:p>
          <a:p/>
          <a:p>
            <a:r>
              <a:t>Fotonik hisoblash va Green AI konsepsiyasini, shuningdek SI superkompyuterlari (El Capitan, Frontier, JUPITER, xAI Colossus) arxitekturasini energiya samaradorligi ko'rsatkichlari orqali tahlil qila oladi.</a:t>
            </a:r>
          </a:p>
          <a:p/>
          <a:p>
            <a:r>
              <a:t>snnTorch yordamida spaykli neyron tarmoq (Spiking Neural Network, SNN) o'qitib, uning energiya sarfini an'anaviy tarmoq bilan hisobiy taqqoslay oladi va Qiskit yordamida oddiy variatsion kvant klassifikatorini simulyatsiyada ishga tushira oladi.</a:t>
            </a:r>
          </a:p>
          <a:p/>
          <a:p>
            <a:r>
              <a:t>Mavzu fanning TN2 (SI hisoblash arxitekturalarini qiyosiy tahlil qilish), TN3 (tizim loyihalashda energiya va unumdorlik murosasini baholash) va TN7 (texnologik tendensiyalarni hisobga olgan holda yechim tanlash) natijalariga xizmat qiladi hamda M2, M4, M8 va M10 mavzularining mantiqiy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yakuniy ma'ruzaning maqsadi — bugungi GPU-markazli sun'iy intellekt (SI) infratuzilmasining fizik va iqtisodiy chegaralarini anglash hamda bu chegaralarni yengish uchun taklif etilayotgan muqobil hisoblash paradigmalarini — neyromorf, kvant va fotonik hisoblashni — muhandislik nuqtai nazaridan baholashni o'rgatish. Shuningdek, «Yashil SI» (Green AI) konsepsiyasi va eksaflops darajasidagi SI superkompyuterlari misolida energiya samaradorligi tizim loyihalashning markaziy mezoniga aylanganini ko'rsatamiz.</a:t>
            </a:r>
          </a:p>
          <a:p/>
          <a:p>
            <a:r>
              <a:t>Mavzuni o'zlashtirgach magistrant:</a:t>
            </a:r>
          </a:p>
          <a:p/>
          <a:p>
            <a:r>
              <a:t>Dennard masshtablashining tugashi, xotira devori va energiya devori kabi fizik cheklovlarni raqamlar bilan tushuntira oladi va nega ular muqobil paradigmalarni zarur qilganini asoslay oladi.</a:t>
            </a:r>
          </a:p>
          <a:p/>
          <a:p>
            <a:r>
              <a:t>Neyromorf hisoblash (Neuromorphic Computing) ning asosiy tamoyillarini — hodisaga asoslangan ishlov, spayklar, xotira va hisoblashning yaqinlashuvi — va zamonaviy chiplar (Intel Loihi 2, IBM NorthPole, SpiNNaker2) xususiyatlarini taqqoslay oladi.</a:t>
            </a:r>
          </a:p>
          <a:p/>
          <a:p>
            <a:r>
              <a:t>Kvant SI (Quantum AI) ning asosiy modellarini (variatsion kvant sxemalari, kvant yadrolari, QAOA) va ularning joriy shovqinli qurilmalardagi (NISQ) real imkoniyatlari va cheklovlarini baholay oladi.</a:t>
            </a:r>
          </a:p>
          <a:p/>
          <a:p>
            <a:r>
              <a:t>Fotonik hisoblash va Green AI konsepsiyasini, shuningdek SI superkompyuterlari (El Capitan, Frontier, JUPITER, xAI Colossus) arxitekturasini energiya samaradorligi ko'rsatkichlari orqali tahlil qila oladi.</a:t>
            </a:r>
          </a:p>
          <a:p/>
          <a:p>
            <a:r>
              <a:t>snnTorch yordamida spaykli neyron tarmoq (Spiking Neural Network, SNN) o'qitib, uning energiya sarfini an'anaviy tarmoq bilan hisobiy taqqoslay oladi va Qiskit yordamida oddiy variatsion kvant klassifikatorini simulyatsiyada ishga tushira oladi.</a:t>
            </a:r>
          </a:p>
          <a:p/>
          <a:p>
            <a:r>
              <a:t>Mavzu fanning TN2 (SI hisoblash arxitekturalarini qiyosiy tahlil qilish), TN3 (tizim loyihalashda energiya va unumdorlik murosasini baholash) va TN7 (texnologik tendensiyalarni hisobga olgan holda yechim tanlash) natijalariga xizmat qiladi hamda M2, M4, M8 va M10 mavzularining mantiqiy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2012-yilda AlexNet ikkita iste'mol GPU sida olti kun o'qitilgan edi. 2020-yilda GPT-3 ni o'qitish uchun Patterson va hamkasblari (2021) bahosiga ko'ra taxminan 1 287 MVt·soat elektr energiyasi sarflangan — bu 120 ta o'rtacha AQSh xonadonining yillik iste'moliga teng. 2024–2025-yillarda esa eng yirik modellar o'n minglab GPU li klasterlarda oylar davomida o'qitilmoqda: xAI ning Memfisdagi Colossus klasteri 2024-yil oxirida 100 ming NVIDIA H100 dan iborat edi va 200 minggacha kengaytirildi, uning quvvat iste'moli yuzlab megavattni tashkil etadi. Xalqaro energiya agentligi (IEA) ma'lumotlariga ko'ra, 2024-yilda ma'lumot markazlari dunyo elektr energiyasining taxminan 1,5 % ini iste'mol qilgan va bu ulush 2030-yilgacha ikki baravar oshishi kutilmoqda, o'sishning asosiy omili — SI.</a:t>
            </a:r>
          </a:p>
          <a:p/>
          <a:p>
            <a:r>
              <a:t>Bu o'sishning tagida fizik muammo yotadi. 2005-yil atrofida Dennard masshtablashi — tranzistor kichraygan sari quvvat zichligi o'zgarmay qolishi — tugadi; shundan beri chastota 3–5 GGs atrofida qotib qoldi va unumdorlik faqat parallellik hisobiga o'sdi. Bugun esa parallellik ham chegaraga yaqinlashdi: NVIDIA H100 ning issiqlik paketi 700 Vt, Blackwell B200 niki 1 000 Vt dan oshadi, GB200 NVL72 rafi esa 120 kVt atrofida — bu an'anaviy ma'lumot markazi rafining o'n baravari va suyuq sovutishni majburiy qiladi. Bundan tashqari, Horowitz (2014) ko'rsatganidek, 45 nm texnologiyada 32-bitli suzuvchi nuqtali ko'paytirish 3,7 pJ sarflasa, DRAM dan 32 bit o'qish taxminan 640 pJ — ya'ni 170 baravar ko'p. Hisoblash emas, ma'lumot harakati energiya sarfining asosiy manbai, va bu «xotira devori» (memory wall) SI uchun ayniqsa og'riqli, chunki chuqur tarmoqlar milliardlab parametrni har qadamda xotiradan o'qiydi.</a:t>
            </a:r>
          </a:p>
          <a:p/>
          <a:p>
            <a:r>
              <a:t>Shu fonda odam miyasi 20 Vt atrofida quvvat sarflab, 86 milliard neyron va yuz trillionlab sinapsni ishlatadi. Bu taqqoslash neyromorf hisoblashning ilhom manbai. Kvant hisoblash esa ayrim masalalar sinfi uchun eksponensial tezlashuv va'da qiladi, fotonika — yorug'lik tezligida va deyarli issiqliksiz matritsa ko'paytirish. Muhandis uchun savol «bu texnologiyalar GPU ni almashtiradimi» emas, balki «qaysi masala, qaysi ko'rsatkich bo'yicha va qachon ular raqobatbardosh bo'ladi» — va mavzu davomida biz aynan shu savolga javob izlaymiz.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Neyromorf muhandislik atamasini 1980-yillar oxirida Karver Mid (Carver Mead) Kaltexda kiritgan: u analog CMOS sxemalar bilan biologik neyronlarning dinamikasini bevosita taqlid qilishni taklif qilgan. Zamonaviy neyromorf tizimlar uchta tamoyilga tayanadi. Birinchisi — hodisaga asoslangan (event-driven) ishlov: neyron faqat kirish potensiali chegaradan oshganda spayk (spike) chiqaradi, aks holda hech narsa hisoblanmaydi va energiya sarflanmaydi; an'anaviy tarmoqda esa har qatlam har kirish uchun to'liq hisoblanadi. Ikkinchisi — xotira va hisoblashning yaqinlashuvi: sinaptik og'irliklar neyron yadrosi yonida saqlanadi, fon Neyman shinasi orqali tashilmaydi. Uchinchisi — asinxron, mahalliy aloqa: yadrolar umumiy soat signalisiz, faqat spayk paketlari (odatda AER — Address-Event Representation protokoli) bilan muloqot qiladi.</a:t>
            </a:r>
          </a:p>
          <a:p/>
          <a:p>
            <a:r>
              <a:t>Asosiy neyron modeli — oqish-integratsiya-otilish (Leaky Integrate-and-Fire, LIF) neyroni: membrana potensiali U[t] = β·U[t-1] + W·X[t] - S[t-1]·θ, bu yerda β — oqish koeffitsienti, W·X — vaznlangan kirish, S — spayk (1 yoki 0), θ — chegara. Spayk U chegaradan oshganda chiqadi va potensial qaytariladi. Axborot spayk chastotasida (rate coding), spayk vaqtida (temporal/latency coding) yoki populyatsiya kodida ifodalanadi. SNN ni o'qitishning asosiy qiyinligi — spayk funksiyasi differensiallanmaydi; zamonaviy yechim — surrogat gradient (surrogate gradient): to'g'ri o'tishda qattiq chegara, teskari o'tishda silliq yaqinlashish (masalan, arktangens yoki sigmoid hosilasi) ishlatiladi, bu PyTorch avtomatik differensiallash bilan to'liq mos keladi (Eshraghian va boshq., 2023).</a:t>
            </a:r>
          </a:p>
          <a:p/>
          <a:p>
            <a:r>
              <a:t>Zamonaviy neyromorf chiplar taqqoslamasi:</a:t>
            </a:r>
          </a:p>
          <a:p/>
          <a:p>
            <a:r>
              <a:t>Neyromorf tizimlarning real afzalligi siyrak (sparse), hodisaga boy ish yuklamalarida namoyon bo'ladi: hodisali kameralar (DVS) bilan ko'rish, audio uyg'otuvchi so'z, sensor oqimlarida anomaliya, robot boshqaruvi. Intel ma'lumotlariga ko'ra, Loihi ayrim siyrak ish yuklamalarida GPU va CPU ga nisbatan 100–1000 baravar kam energiya sarflaydi, lekin zich matritsali katta modellarda (LLM) ustunlik yo'q. Asosiy cheklovlar — dasturlash modeli yetukligining pastligi (Lava, Nengo, snnTorch), SNN aniqligi odatda an'anaviy tarmoqdan 1–3 punkt past, va ekotizim kichikligi.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 hisoblashning asosiy birligi kubit superpozitsiya va chalkashlik (entanglement) tufayli n kubit 2^n o'lchovli holat fazosini ifodalaydi. Kvant mashinali o'qitish (Quantum Machine Learning, QML; Biamonte va boshq., 2017) bu fazodan ikki asosiy usulda foydalanadi. Variatsion kvant sxemalar (Variational Quantum Circuits, VQC) da klassik ma'lumot kvant holatiga kodlanadi (feature map, masalan ZZFeatureMap), so'ngra sozlanadigan parametrli qatlamlar (ansatz, masalan RealAmplitudes) qo'llaniladi va o'lchov natijasi klassik optimallashtiruvchi (COBYLA, SPSA, Adam) bilan sozlanadi — bu gibrid kvant-klassik halqa VQE (Peruzzo va boshq., 2014) va QAOA (Farhi va boshq., 2014) algoritmlarining ham asosidir. Kvant yadro usullari (quantum kernel, Havlíček va boshq., 2019) esa kvant holatlar orasidagi ichki ko'paytmani yadro funksiyasi sifatida klassik SVM ga beradi.</a:t>
            </a:r>
          </a:p>
          <a:p/>
          <a:p>
            <a:r>
              <a:t>Joriy apparat holati (2025-yil holatiga): IBM Heron r2 prosessorlari 156 kubit, ikki kubitli eshik xatosi 0,3 % atrofida; IBM 2023-yilda 1 121 kubitli Condor ni ko'rsatdi, lekin strategiyani kubit sonidan sifatga burdi; Google 2024-yil dekabrida 105 kubitli Willow chipida xato tuzatish «chegara ostida» ishlashini — mantiqiy kubit kattalashgan sari xato kamayishini — birinchi marta eksperimental ko'rsatdi; Quantinuum H2 ion-tuzoqli tizimi 56 kubit bilan eng yuqori eshik sifatiga ega. Bularning barchasi NISQ (Noisy Intermediate-Scale Quantum, Preskill 2018) davriga tegishli: xato tuzatilmagan, sxema chuqurligi cheklangan.</a:t>
            </a:r>
          </a:p>
          <a:p/>
          <a:p>
            <a:r>
              <a:t>QML uchun bu quyidagi amaliy xulosalarni beradi. Birinchidan, hali hech bir real SI masalasida kvant qurilma klassik GPU dan ustun kelgani isbotlanmagan; ko'p QML natijalari simulyatsiyada va kichik o'lchamli ma'lumotlarda olingan. Ikkinchidan, «bepusht platolar» (barren plateaus, McClean va boshq., 2018) muammosi — kubit soni oshgan sari gradientlar eksponensial kichrayadi va o'qitish to'xtaydi — variatsion sxemalarni masshtablashga to'siq. Uchinchidan, klassik ma'lumotni kvant holatiga yuklash (data loading) o'zi qimmat va ko'p holatlarda nazariy tezlashuvni yo'qqa chiqaradi. Shunga qaramay, kvant kimyo, kombinatorik optimallashtirish va kvant ma'lumotlarni (fizik tajriba natijalarini) tahlil qilish yo'nalishlari istiqbolli, va Qiskit, PennyLane, Cirq kabi vositalar muhandislarga bu yo'nalishni arzon simulyatsiyada o'rganish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Fotonik SI tezlatkichlari g'oyasi oddiy: chiziqli algebra — matritsa-vektor ko'paytirish — yorug'lik interferensiyasi orqali amalga oshiriladi. Shen va boshq. (2017) MIT da Mach-Zender interferometrlari (MZI) to'ri yordamida istalgan unitar matritsani optik tarzda ifodalash mumkinligini ko'rsatdi; bunday to'rda ko'paytirish yorug'likning chipdan o'tish vaqtida (pikosekundlar) va deyarli issiqliksiz bajariladi, energiya faqat lazer, modulyatorlar va fotodetektorlarga ketadi. Muqobil arxitektura — mikrohalqali rezonatorlar (microring resonators) bilan to'lqin uzunligi bo'yicha multiplekslash, bu bir vaqtning o'zida ko'p kanalda hisoblash imkonini beradi.</a:t>
            </a:r>
          </a:p>
          <a:p/>
          <a:p>
            <a:r>
              <a:t>Tijorat holati: Lightmatter kompaniyasi Envise fotonik tezlatkichi va Passage optik interkonnektini ishlab chiqdi va 2024-yilda 4 milliard dollardan ortiq baholandi; Lightelligence, Celestial AI va boshqalar ham shu yo'nalishda. Muhim kuzatuv: fotonikaning eng tez tijoratlashayotgan qo'llanilishi hisoblashning o'zi emas, balki interkonnekt — chiplar va raflar orasida ma'lumotni optik uzatish (co-packaged optics), chunki aynan ma'lumot harakati energiya devorining asosiy qismi. NVIDIA 2025-yilda Spectrum-X va Quantum-X fotonik kommutatorlarini e'lon qildi.</a:t>
            </a:r>
          </a:p>
          <a:p/>
          <a:p>
            <a:r>
              <a:t>Fotonik hisoblashning cheklovlari: analog aniqlik (odatda 4–8 bit samarali), nochiziqli faollashtirish funksiyalari uchun elektr domeniga qaytish zarurati (elektro-optik konvertatsiya energiya va kechikish qo'shadi), haroratga sezgirlik va ishlab chiqarish nomuvofiqliklari, hamda og'irliklarni tez o'zgartirish qiyinligi — shuning uchun fotonika inferens uchun o'qitishdan ko'ra mosroq.</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AI» atamasini Schwartz va hamkasblar (2020) «Red AI» — faqat aniqlikni oshirish uchun cheksiz hisoblash sarflash — ga qarshi qo'yib kiritdilar. Ularning taklifi: ilmiy natijalar bilan birga hisoblash narxini (FLOP, parametrlar, GPU-soat, energiya, CO₂) ham e'lon qilish va samaradorlikni birinchi darajali mezon qilish. Strubell va boshq. (2019) katta Transformer modelini neyron arxitektura qidiruvi bilan o'qitish 284 tonna CO₂ ekvivalenti chiqarishini — besh avtomobilning butun umri davomidagi chiqindisiga teng — hisoblab, muhokamani boshlab berdi.</a:t>
            </a:r>
          </a:p>
          <a:p/>
          <a:p>
            <a:r>
              <a:t>Energiya va uglerod izini baholash formulasi: E = Σ(P_qurilma × t × PUE), CO₂e = E × uglerod_intensivligi, bu yerda PUE (Power Usage Effectiveness) — ma'lumot markazining umumiy iste'molining IT iste'moliga nisbati (zamonaviy giperskeyl markazlarda 1,1–1,2, eski markazlarda 1,6–2,0), uglerod intensivligi esa elektr tarmog'iga bog'liq (Norvegiya gidroenergetikasida ~20 g CO₂/kVt·soat, ko'mirga asoslangan tarmoqlarda 700–900 g). O'zbekiston tarmog'i asosan tabiiy gazga tayanadi, taxminan 450–500 g CO₂/kVt·soat — demak o'qitish joyi va vaqtini tanlash (yashil energiya bo'lgan hududda, past yuklama soatlarida) uglerod izini 10–30 baravar kamaytirishi mumkin, bu Patterson va boshq. (2021) ning asosiy xulosasi.</a:t>
            </a:r>
          </a:p>
          <a:p/>
          <a:p>
            <a:r>
              <a:t>Green AI ning muhandislik vositalari: M8 da ko'rilgan kvantlash, siyraklashtirish va distillash (energiya sarfini 2–10 baravar kamaytiradi); samarali arxitekturalar (Mixture-of-Experts — har token uchun parametrlarning faqat bir qismi faol); o'qitish rejalarini optimallashtirish (Chinchilla qonuni — ma'lumot va parametrlar muvozanati); energiya o'lchash va hisobot vositalari (CodeCarbon kutubxonasi, nvidia-smi orqali quvvat tortish, MLPerf Power benchmarki); va apparat tanlovi (TPU, Gaudi, domenga xos chiplar). Metrikalar: samarali ish yuklama uchun TOPS/Vt, o'qitish uchun model aniqligiga erishish uchun jami kVt·soat, Green500 ro'yxatidagi GFLOPS/Vt.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SI superkompyuterlari ikki sinfga bo'linadi. Davlat ilmiy eksaflops tizimlari: Frontier (ORNL, 2022, AMD MI250X, HPL 1,2 eksaflops), Aurora (Argonne, Intel Ponte Vecchio), El Capitan (LLNL, 2024-yil noyabridan TOP500 birinchisi, AMD MI300A APU, HPL 1,74 eksaflops, ~30 MVt) va Yevropaning birinchi eksaflops tizimi JUPITER (Yulix, 2025, NVIDIA Grace Hopper, modulli arxitektura). Ularning SI uchun muhim ko'rsatkichi HPL emas, balki aralash aniqlikdagi HPL-MxP: El Capitan da u 16 eksaflopsdan oshadi. Tijorat SI klasterlari: xAI Colossus (100–200 ming H100/H200), Meta ning ikkita 24 ming H100 li klasteri (2024) va Microsoft/OpenAI/Oracle/SoftBank ning 2025-yil yanvarida e'lon qilingan Stargate loyihasi (500 milliard dollar, bir necha gigavatt). 2024-yildagi Green500 yetakchisi JEDI (JUPITER ning sinov moduli, Grace Hopper) 72,7 GFLOPS/Vt ko'rsatdi — 2014-yilgi eng samarali tizimdan taxminan 15 baravar yuqori.</a:t>
            </a:r>
          </a:p>
          <a:p/>
          <a:p>
            <a:r>
              <a:t>Bu tizimlarning arxitekturaviy tendensiyalari: CPU va GPU ning yagona paketda birlashishi (Grace Hopper, MI300A) va HBM3e xotirasi (H200 da 141 GB, 4,8 TB/s); rafdan tashqari masshtablanadigan NVLink domenlari (GB200 NVL72 — 72 GPU bitta xotira makonida, 130 TB/s); optik interkonnektga o'tish; suyuq sovutish standart bo'lishi; va energiya iste'moli rejalashtirishning asosiy chegarasi bo'lib qolishi.</a:t>
            </a:r>
          </a:p>
          <a:p/>
          <a:p>
            <a:r>
              <a:t>Kelajak avlod tezlatkichlari bir nechta yo'nalishda rivojlanmoqda. Pufak (wafer-scale) integratsiya: Cerebras WSE-3 (2024) — 46 225 mm² kremniy, 4 trillion tranzistor, 900 ming yadro, 44 GB chipda SRAM, 21 PB/s xotira o'tkazuvchanligi — xotira devorini butun modelni chipda saqlash orqali yengadi. Ma'lumot oqimli arxitekturalar: Groq LPU (deterministik, SRAM-markazli, LLM inferensida tokeniga past kechikish), SambaNova SN40L. Giperskeyl o'z chiplari: Google TPU v6e Trillium (2024) va TPU v7 Ironwood (2025-yil aprelida e'lon qilingan, 4 614 TFLOPS FP8, 192 GB HBM, 9 216 chipli podda 42,5 eksaflops FP8), AWS Trainium2, Microsoft Maia 100, Meta MTIA. NVIDIA yo'l xaritasi: Blackwell (2024–2025), Blackwell Ultra, keyin Rubin (2026) HBM4 bilan. Umumiy yo'nalish — past aniqlik formatlari (FP8, FP6, FP4 — Blackwell da FP4 20 PFLOPS gacha), siyraklik apparat qo'llovi, xotiraga yaqin hisoblash (processing-in-memory, Samsung HBM-PIM) va chipletlar.</a:t>
            </a:r>
          </a:p>
          <a:p/>
          <a:p>
            <a:r>
              <a:t>Taqqoslash jadvali: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Amaliy qism ikki bo'limdan iborat: (1) snnTorch bilan spaykli tarmoqni o'qitish va uning energiya sarfini an'anaviy tarmoq bilan hisobiy taqqoslash; (2) Qiskit bilan oddiy variatsion kvant klassifikatorini simulyatsiyada ishga tushirish. Muhit: Python 3.10+, torch 2.x, snntorch 0.9+, torchvision, qiskit 1.x, qiskit-machine-learning 0.8+, scikit-learn. Hammasi CPU da bajariladi; GPU bo'lsa SNN o'qitish tezlashadi.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784-256-10 arxitekturali oddiy tarmoq 3 epoxada taxminan 97,5–98 % aniqlikka erishadi (taxminiy). Bu bizning «energiya etaloni»miz: har bir rasm uchun tarmoq 784×256 + 256×10 = 203 264 ko'paytirish-qo'shish (MAC) amalini bajaradi, va bu son kirishga bog'liq emas — zich hisoblashning mohiyati shunda.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tarmoq 25 vaqt qadamida ishlaydi, har qadamda LIF neyronlar membrana potensialini yig'adi va chegaradan oshganda spayk chiqaradi. surrogate.atan() teskari o'tishda differensiallanmaydigan chegara funksiyasini silliq yaqinlashish bilan almashtiradi — aynan shu PyTorch avtograd bilan SNN o'qitishni mumkin qiladi. Natija (taxminiy): aniqlik 96,5–97,5 %, ya'ni ANN dan 0,5–1 punkt past; 1-qatlamda o'rtacha spayk chastotasi 0,10–0,20 spayk/neyron/qadam. Shuni ta'kidlash kerakki, o'qitish 25 qadam tufayli ANN dan taxminan 20–25 baravar sekin — SNN ning foydasi o'qitishda emas, neyromorf apparatda inferensda.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ikki tarmoqning inferens energiyasini Horowitz (2014) ning 45 nm texnologiya uchun o'lchovlari asosida baholaymiz: 32-bitli suzuvchi nuqtali MAC taxminan 4,6 pJ (ko'paytirish 3,7 + qo'shish 0,9); spaykli tarmoqda sinaptik amal faqat qo'shish (akkumulyatsiya, AC) — 0,9 pJ, chunki spayk 0 yoki 1 va ko'paytirish kerak emas. Neyromorf chipda amal faqat spayk kelganda bajariladi.</a:t>
            </a:r>
          </a:p>
          <a:p/>
          <a:p>
            <a:r>
              <a:t>Nima bo'ldi va nega: hisob uch muhim haqiqatni ochadi. Birinchidan, ANN uchun taxminan 935 nJ/rasm olinadi. Ikkinchidan, to'g'ridan-to'g'ri (analog) kodlashli SNN da birinchi qatlam har qadamda to'liq MAC bajaradi, shuning uchun 25 qadamda energiya ANN dan 25 baravar ko'p bo'ladi — bu SNN larni noto'g'ri qo'llashning klassik xatosi. Uchinchidan, kirish ham spayk ko'rinishida (hodisali sensor yoki chastotali kodlash) va siyrak bo'lsa, birinchi qatlam energiyasi T × 784 × 256 × 0,13 × 0,9 pJ ≈ 587 nJ, ikkinchi qatlam esa deyarli nolga teng, jami ANN dan taxminan 1,5 baravar kam. Agar vaqt qadamlari soni 25 dan 8 ga tushirilsa (aniqlikni taxminan 1 punktga yo'qotib), ustunlik 5 baravarga yaqinlashadi; hodisali kamera ma'lumotlarida, bu yerda kirish siyrakligi 1–2 %, farq 10–100 baravarga yetadi. Shuni ham eslatamiz: bu hisob faqat sinaptik amallarni ko'radi, xotiraga murojaatni emas — neyromorf chipda og'irliklar yadro ichida saqlanadi, GPU da esa HBM dan o'qiladi, bu real farqni SNN foydasiga yanada oshiradi. Demak, neyromorf yondashuv ustunligi apparat, kodlash va ish yuklamasi siyrakligining birgalikdagi funksiyasi — bu M2 va M4 dagi apparat-dasturiy birgalikda loyihalash tamoyilining yana bir tasdig'i.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kvant SI ning minimal ish misolini ko'ramiz: 2 belgi, 2 kubit, simulyatorda. Maqsad — QML halqasining tuzilishini tushunish, tezlashuv emas.</a:t>
            </a:r>
          </a:p>
          <a:p/>
          <a:p>
            <a:r>
              <a:t>Nima bo'ldi va nega: ZZFeatureMap ikki belgini kubitlarning burilish burchaklari va ular orasidagi chalkashtiruvchi ZZ-o'zaro ta'sir orqali kodlaydi; RealAmplitudes — Ry burilishlar va CNOT eshiklaridan iborat 8 parametrli ansatz; COBYLA gradientsiz optimallashtiruvchi parametrlarni o'lchov natijalari bo'yicha sozlaydi. Natija (taxminiy): VQC 85–92 % aniqlik, klassik RBF-SVM esa 95–98 %. Simulyatsiya vaqti CPU da 150 iteratsiya uchun 1–3 daqiqa — klassik SVM dan ming baravar sekin. Bu kutilgan natija: 2 kubitli sxema klassik usuldan ustun bo'lishi mumkin emas va bo'lishi ham shart emas; misolning maqsadi — gibrid halqa (kodlash → parametrli sxema → o'lchov → klassik optimallashtirish) ni amalda ko'rish. Real kvant qurilmada (IBM Quantum bulut xizmati orqali SamplerV2 bilan) yana shovqin qo'shiladi va aniqlik odatda 5–15 punktga pasayadi. API eslatmasi: Qiskit 1.x va 2.x o'rtasida primitivlar nomi o'zgargan (Sampler → StatevectorSampler/SamplerV2), hujjatlarni versiyaga mos tekshiring.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Yakunda o'qitish jarayonining energiya va uglerod izini o'lchash vositasini qo'shamiz — bu Green AI hisobotining minimal talabi.</a:t>
            </a:r>
          </a:p>
          <a:p/>
          <a:p>
            <a:r>
              <a:t>Nima bo'ldi va nega: CodeCarbon CPU/GPU quvvatini (RAPL, nvidia-smi) o'qib, tanlangan mamlakatning o'rtacha uglerod intensivligi bilan ko'paytiradi. 3 epoxali SNN o'qitish oddiy noutbuk CPU da taxminan 15–25 Vt·soat, ya'ni O'zbekiston tarmog'ida 7–12 g CO₂e beradi (taxminiy); bitta RTX 4090 da bu 5–8 Vt·soat ga tushadi, chunki tezroq tugaydi. Bu raqamlar kichik, lekin usul katta loyihaga bir xil qo'llaniladi — va aynan shu hisobotni e'lon qilish Green AI ning asosiy talabidir.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Amaliy natijalar paradigmalar haqidagi nazariy da'volarni aniqlashtiradi. SNN misolida ko'rdikki, «neyromorf = energiya samarali» tengligi shartsiz emas: to'g'ridan-to'g'ri kodlash va ko'p vaqt qadamlari bilan SNN an'anaviy tarmoqdan ko'proq energiya sarflaydi; ustunlik faqat kirish siyrak, qadamlar kam va apparat hodisaga asoslangan bo'lgandagina paydo bo'ladi. Bu xulosa amaliy loyihalash qoidasiga aylanadi: neyromorf yechimni tanlashdan oldin ish yuklamasining siyrakligini o'lchang.</a:t>
            </a:r>
          </a:p>
          <a:p/>
          <a:p>
            <a:r>
              <a:t>Kvant misoli esa QML ning bugungi o'rnini realistik ko'rsatadi: o'quv va tadqiqot vositasi, ishlab chiqarish texnologiyasi emas. Shu bilan birga, xato tuzatishdagi so'nggi yutuqlar (Google Willow, 2024) 2030-yillarga kelib mantiqiy kubitlar sonini yuzlabga yetkazish ehtimolini oshirmoqda; o'sha paytda kvant kimyo va optimallashtirish masalalari uchun gibrid halqa tajribasi talab qilinadi — hozirgi ta'lim shunga tayyorgarlik.</a:t>
            </a:r>
          </a:p>
          <a:p/>
          <a:p>
            <a:r>
              <a:t>Cheklovlar: energiya hisobimiz 45 nm ma'lumotlariga asoslangan, zamonaviy 4–5 nm texnologiyada mutlaq qiymatlar 5–10 baravar past, lekin MAC/AC nisbati va xotira murojaatining ustunligi saqlanadi. MNIST — juda sodda masala; murakkab masalalarda SNN va ANN aniqlik farqi kattaroq bo'lishi mumkin. Qiskit simulyatsiyasi ideal (shovqinsiz) — real qurilma natijalari yomonroq.</a:t>
            </a:r>
          </a:p>
          <a:p/>
          <a:p>
            <a:r>
              <a:t>Muqobil yondashuvlar: ANN ni o'qitib, keyin SNN ga konvertatsiya qilish (ANN-to-SNN conversion) ko'pincha surrogat gradientdan yuqori aniqlik beradi, lekin ko'proq vaqt qadami talab qiladi; Brian2 kutubxonasi biologik aniqroq neyron modellari uchun mos, lekin chuqur o'qitish uchun emas; Intel Lava freymvorki Loihi 2 ga bevosita joylashtirish imkonini beradi. Kvant tomonda PennyLane PyTorch bilan integratsiya va gradientli o'qitish uchun qulayroq; kvant yadro usullari kichik ma'lumotlarda VQC dan barqarorroq natija beradi.</a:t>
            </a:r>
          </a:p>
          <a:p/>
          <a:p>
            <a:r>
              <a:t>Umumiy manzara: yaqin 5 yilda SI hisoblashning asosiy yuki GPU/TPU sinfidagi raqamli tezlatkichlarda qoladi, lekin ular tobora ixtisoslashadi (past aniqlik, siyraklik, xotiraga yaqin hisoblash, optik interkonnekt). Neyromorf chiplar chekka va sensor sohasida o'z o'rnini topadi, fotonika avval interkonnektda, keyin inferensda, kvant esa tor ilmiy masalalarda. Muhandis uchun asosiy ko'nikma — har bir paradigmani uning mos ish yuklamasi va energiya byudjeti bo'yicha baholash.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SNN energiya samaradorligini faqat amal sonini sanab baholash. To'g'ridan-to'g'ri kodlashda birinchi qatlam har qadamda zich hisoblanadi. Tavsiya: kodlash usuli, vaqt qadamlari soni va kirish siyrakligini birga hisobga oling; mumkin bo'lsa real apparatda o'lchang.</a:t>
            </a:r>
          </a:p>
          <a:p/>
          <a:p>
            <a:r>
              <a:t>Kvant tezlashuvini QML ga avtomatik ko'chirish. Ma'lumot yuklash va o'lchov xarajati ko'pincha nazariy ustunlikni yo'qqa chiqaradi. Tavsiya: har doim klassik bazaviy usul bilan bir xil ma'lumotda taqqoslang va «kvant» so'zini natijani asoslash uchun ishlatmang.</a:t>
            </a:r>
          </a:p>
          <a:p/>
          <a:p>
            <a:r>
              <a:t>PUE va uglerod intensivligini e'tiborsiz qoldirish. Bir xil o'qitish turli mintaqada 10–30 baravar farqli CO₂ beradi. Tavsiya: hisobotda energiya (kVt·soat), PUE, mintaqa va CO₂e ni alohida ko'rsating.</a:t>
            </a:r>
          </a:p>
          <a:p/>
          <a:p>
            <a:r>
              <a:t>Marketing raqamlariga ishonish. «1000 baravar samarali» ko'pincha bitta tor ish yuklamada, tanlangan taqqoslash bazasiga nisbatan. Tavsiya: taqqoslash sharoitini (aniqlik, partiya hajmi, siyraklik, texnologik jarayon) so'rang va MLPerf kabi standart benchmarklarga tayaning.</a:t>
            </a:r>
          </a:p>
          <a:p/>
          <a:p>
            <a:r>
              <a:t>Analog tezlatkichlarning aniqlik cheklovini unutish. Fotonik va analog neyromorf tizimlar 4–8 bit samarali aniqlik beradi. Tavsiya: modelni avval shu aniqlikka kvantlab, sifat yo'qotishini o'lchang (M8 usullari).</a:t>
            </a:r>
          </a:p>
          <a:p/>
          <a:p>
            <a:r>
              <a:t>Vaqt qadamlari sonini sinovsiz tanlash. T ni ikki baravar oshirish energiya va kechikishni ikki baravar oshiradi, aniqlikni esa kam qo'shadi. Tavsiya: aniqlik–T egri chizig'ini quring va «tizza» nuqtasini tanlang.</a:t>
            </a:r>
          </a:p>
          <a:p/>
          <a:p>
            <a:r>
              <a:t>Kutubxona versiyalariga e'tiborsizlik. Qiskit 0.x → 1.x → 2.x o'tishlarida API sezilarli o'zgardi; snnTorch ham faol rivojlanmoqda. Tavsiya: requirements.txt da aniq versiyalarni qotiring va hujjatlarni shu versiyada o'qing.</a:t>
            </a:r>
          </a:p>
          <a:p/>
          <a:p>
            <a:r>
              <a:t>Energiya samaradorligini loyiha oxirida ko'rib chiqish. Arxitektura tanlovi (model hajmi, aniqlik formati, apparat) energiyaning 80 % ini belgilaydi. Tavsiya: energiya byudjetini texnik topshiriqqa latency va aniqlik bilan teng darajada kiriting.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SNN energiya samaradorligini faqat amal sonini sanab baholash. To'g'ridan-to'g'ri kodlashda birinchi qatlam har qadamda zich hisoblanadi. Tavsiya: kodlash usuli, vaqt qadamlari soni va kirish siyrakligini birga hisobga oling; mumkin bo'lsa real apparatda o'lchang.</a:t>
            </a:r>
          </a:p>
          <a:p/>
          <a:p>
            <a:r>
              <a:t>Kvant tezlashuvini QML ga avtomatik ko'chirish. Ma'lumot yuklash va o'lchov xarajati ko'pincha nazariy ustunlikni yo'qqa chiqaradi. Tavsiya: har doim klassik bazaviy usul bilan bir xil ma'lumotda taqqoslang va «kvant» so'zini natijani asoslash uchun ishlatmang.</a:t>
            </a:r>
          </a:p>
          <a:p/>
          <a:p>
            <a:r>
              <a:t>PUE va uglerod intensivligini e'tiborsiz qoldirish. Bir xil o'qitish turli mintaqada 10–30 baravar farqli CO₂ beradi. Tavsiya: hisobotda energiya (kVt·soat), PUE, mintaqa va CO₂e ni alohida ko'rsating.</a:t>
            </a:r>
          </a:p>
          <a:p/>
          <a:p>
            <a:r>
              <a:t>Marketing raqamlariga ishonish. «1000 baravar samarali» ko'pincha bitta tor ish yuklamada, tanlangan taqqoslash bazasiga nisbatan. Tavsiya: taqqoslash sharoitini (aniqlik, partiya hajmi, siyraklik, texnologik jarayon) so'rang va MLPerf kabi standart benchmarklarga tayaning.</a:t>
            </a:r>
          </a:p>
          <a:p/>
          <a:p>
            <a:r>
              <a:t>Analog tezlatkichlarning aniqlik cheklovini unutish. Fotonik va analog neyromorf tizimlar 4–8 bit samarali aniqlik beradi. Tavsiya: modelni avval shu aniqlikka kvantlab, sifat yo'qotishini o'lchang (M8 usullari).</a:t>
            </a:r>
          </a:p>
          <a:p/>
          <a:p>
            <a:r>
              <a:t>Vaqt qadamlari sonini sinovsiz tanlash. T ni ikki baravar oshirish energiya va kechikishni ikki baravar oshiradi, aniqlikni esa kam qo'shadi. Tavsiya: aniqlik–T egri chizig'ini quring va «tizza» nuqtasini tanlang.</a:t>
            </a:r>
          </a:p>
          <a:p/>
          <a:p>
            <a:r>
              <a:t>Kutubxona versiyalariga e'tiborsizlik. Qiskit 0.x → 1.x → 2.x o'tishlarida API sezilarli o'zgardi; snnTorch ham faol rivojlanmoqda. Tavsiya: requirements.txt da aniq versiyalarni qotiring va hujjatlarni shu versiyada o'qing.</a:t>
            </a:r>
          </a:p>
          <a:p/>
          <a:p>
            <a:r>
              <a:t>Energiya samaradorligini loyiha oxirida ko'rib chiqish. Arxitektura tanlovi (model hajmi, aniqlik formati, apparat) energiyaning 80 % ini belgilaydi. Tavsiya: energiya byudjetini texnik topshiriqqa latency va aniqlik bilan teng darajada kiriting.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Dennard masshtablashining tugashi va xotira devori SI tezlatkichlari dizaynini qanday o'zgartirdi? Blackwell va Cerebras WSE-3 bu muammolarga qanday turlicha javob beradi?</a:t>
            </a:r>
          </a:p>
          <a:p/>
          <a:p>
            <a:r>
              <a:t>Neyromorf chip qaysi ish yuklamasida GPU dan ustun bo'ladi va qaysi birida yutqazadi? Javobingizni amaliy misoldagi energiya hisobi bilan asoslang.</a:t>
            </a:r>
          </a:p>
          <a:p/>
          <a:p>
            <a:r>
              <a:t>Surrogat gradient usuli nega kerak va u ANN-to-SNN konvertatsiyasidan qanday farq qiladi? Har birining afzalligi qanday vaziyatda namoyon bo'ladi?</a:t>
            </a:r>
          </a:p>
          <a:p/>
          <a:p>
            <a:r>
              <a:t>«Bepusht platolar» muammosi variatsion kvant sxemalarni masshtablashga qanday to'siq bo'ladi? Uni yumshatish uchun qanday yondashuvlar taklif qilingan?</a:t>
            </a:r>
          </a:p>
          <a:p/>
          <a:p>
            <a:r>
              <a:t>Kvant klassifikator klassik SVM dan yomon natija berdi. Qanday sharoitda (ma'lumot turi, masala sinfi) kvant yondashuv nazariy jihatdan ustun bo'lishi mumkin?</a:t>
            </a:r>
          </a:p>
          <a:p/>
          <a:p>
            <a:r>
              <a:t>Fotonik hisoblashning eng tez tijoratlashayotgan qo'llanilishi nega hisoblash emas, interkonnekt? Energiya devori nuqtai nazaridan tushuntiring.</a:t>
            </a:r>
          </a:p>
          <a:p/>
          <a:p>
            <a:r>
              <a:t>Bir xil modelni O'zbekistonda va Norvegiyada o'qitish uglerod izi bo'yicha necha baravar farq qiladi? Hisobda qaysi omillar (PUE, intensivlik, vaqt) qatnashadi?</a:t>
            </a:r>
          </a:p>
          <a:p/>
          <a:p>
            <a:r>
              <a:t>El Capitan uchun HPL va HPL-MxP ko'rsatkichlari o'n baravardan ko'p farq qiladi. Bu farq nimadan kelib chiqadi va SI ish yuklamalari uchun qaysi biri muhimroq?</a:t>
            </a:r>
          </a:p>
          <a:p/>
          <a:p>
            <a:r>
              <a:t>Green AI tamoyillari bilan «masshtab qonunlari» (kattaroq model — yaxshiroq natija) o'rtasidagi ziddiyatni muhandis sifatida qanday hal qilasiz?</a:t>
            </a:r>
          </a:p>
          <a:p/>
          <a:p>
            <a:r>
              <a:t>2030-yilda chekka qurilma (masalan, dron) uchun SI tizimi loyihalasangiz, qaysi paradigma yoki ularning kombinatsiyasini tanlardingiz va nega?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Dennard masshtablashining tugashi va xotira devori SI tezlatkichlari dizaynini qanday o'zgartirdi? Blackwell va Cerebras WSE-3 bu muammolarga qanday turlicha javob beradi?</a:t>
            </a:r>
          </a:p>
          <a:p/>
          <a:p>
            <a:r>
              <a:t>Neyromorf chip qaysi ish yuklamasida GPU dan ustun bo'ladi va qaysi birida yutqazadi? Javobingizni amaliy misoldagi energiya hisobi bilan asoslang.</a:t>
            </a:r>
          </a:p>
          <a:p/>
          <a:p>
            <a:r>
              <a:t>Surrogat gradient usuli nega kerak va u ANN-to-SNN konvertatsiyasidan qanday farq qiladi? Har birining afzalligi qanday vaziyatda namoyon bo'ladi?</a:t>
            </a:r>
          </a:p>
          <a:p/>
          <a:p>
            <a:r>
              <a:t>«Bepusht platolar» muammosi variatsion kvant sxemalarni masshtablashga qanday to'siq bo'ladi? Uni yumshatish uchun qanday yondashuvlar taklif qilingan?</a:t>
            </a:r>
          </a:p>
          <a:p/>
          <a:p>
            <a:r>
              <a:t>Kvant klassifikator klassik SVM dan yomon natija berdi. Qanday sharoitda (ma'lumot turi, masala sinfi) kvant yondashuv nazariy jihatdan ustun bo'lishi mumkin?</a:t>
            </a:r>
          </a:p>
          <a:p/>
          <a:p>
            <a:r>
              <a:t>Fotonik hisoblashning eng tez tijoratlashayotgan qo'llanilishi nega hisoblash emas, interkonnekt? Energiya devori nuqtai nazaridan tushuntiring.</a:t>
            </a:r>
          </a:p>
          <a:p/>
          <a:p>
            <a:r>
              <a:t>Bir xil modelni O'zbekistonda va Norvegiyada o'qitish uglerod izi bo'yicha necha baravar farq qiladi? Hisobda qaysi omillar (PUE, intensivlik, vaqt) qatnashadi?</a:t>
            </a:r>
          </a:p>
          <a:p/>
          <a:p>
            <a:r>
              <a:t>El Capitan uchun HPL va HPL-MxP ko'rsatkichlari o'n baravardan ko'p farq qiladi. Bu farq nimadan kelib chiqadi va SI ish yuklamalari uchun qaysi biri muhimroq?</a:t>
            </a:r>
          </a:p>
          <a:p/>
          <a:p>
            <a:r>
              <a:t>Green AI tamoyillari bilan «masshtab qonunlari» (kattaroq model — yaxshiroq natija) o'rtasidagi ziddiyatni muhandis sifatida qanday hal qilasiz?</a:t>
            </a:r>
          </a:p>
          <a:p/>
          <a:p>
            <a:r>
              <a:t>2030-yilda chekka qurilma (masalan, dron) uchun SI tizimi loyihalasangiz, qaysi paradigma yoki ularning kombinatsiyasini tanlardingiz va nega?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Amaliy misoldagi SNN uchun aniqlik–energiya–kechikish tahlilini kengaytiring: (a) T ni 5, 10, 25, 50 qiymatlarida sinang; (b) uch kodlash usulini (to'g'ridan-to'g'ri, chastotali Poisson, kechikish kodlash — snnTorch spikegen moduli) taqqoslang; (c) har variant uchun sinaptik amallar soni va energiya bahosini hisoblang, Pareto frontini quring; (d) 45 nm o'rniga zamonaviy texnologiya uchun adabiyotdan topilgan energiya qiymatlari bilan hisobni takrorlang. Baholash mezonlari: tajribaning to'g'ri tashkil etilishi va takrorlanishi (30 %), energiya modelining asoslanishi (25 %), Pareto tahlili va xulosalar (30 %), manbalarga tayanish (15 %).</a:t>
            </a:r>
          </a:p>
          <a:p/>
          <a:p>
            <a:r>
              <a:t>2-topshiriq (sillabusdagi 3-mustaqil ta'lim topshirig'iga bog'langan). CPU, GPU, TPU, NPU va FPGA qiyosiy tahlilingizni kelajak avlod paradigmalari bilan to'ldiring: neyromorf (Loihi 2), wafer-scale (Cerebras WSE-3), dataflow (Groq LPU) va fotonik (Lightmatter) tezlatkichlar uchun ochiq manbalardan TOPS/Vt, xotira o'tkazuvchanligi, aniqlik formatlari va mos ish yuklamalarini jadvalga yig'ing; uchta aniq SI ilovasi (LLM inferens, hodisali kamera bilan robot ko'rishi, molekulyar simulyatsiya) uchun eng mos platformani asoslang. Hajm 6–8 sahifa. Baholash: ma'lumotlarning aniqligi va manbalari (40 %), taqqoslash metodologiyasi (30 %), ilovalar uchun asoslangan tanlov (30 %).</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Dennard masshtablashi, domenga xos arxitekturalar va energiya cheklovlari.</a:t>
            </a:r>
          </a:p>
          <a:p/>
          <a:p>
            <a:r>
              <a:t>[4] Sze, V., Chen, Y.-H., Yang, T.-J., &amp; Emer, J. S. Efficient Processing of Deep Neural Networks. Morgan &amp; Claypool, 2020. — energiya sarfi modeli, ma'lumot harakati va samarali apparat.</a:t>
            </a:r>
          </a:p>
          <a:p/>
          <a:p>
            <a:r>
              <a:t>[5] Kirk, D. B., &amp; Hwu, W.-M. W. Programming Massively Parallel Processors. 4th Edition. Morgan Kaufmann, 2022. — GPU hisoblash chegaralari va kelajak tendensiyalari.</a:t>
            </a:r>
          </a:p>
          <a:p/>
          <a:p>
            <a:r>
              <a:t>[6] https://developer.nvidia.com — NVIDIA Blackwell, NVLink va fotonik interkonnekt bo'yicha rasmiy texnik materiallar.</a:t>
            </a:r>
          </a:p>
          <a:p/>
          <a:p>
            <a:r>
              <a:t>[7] https://pytorch.org — PyTorch hujjatlari (snnTorch PyTorch ustiga qurilgan).</a:t>
            </a:r>
          </a:p>
          <a:p/>
          <a:p>
            <a:r>
              <a:t>Davies, M., et al. Loihi: A Neuromorphic Manycore Processor with On-Chip Learning. IEEE Micro, vol. 38, no. 1, 2018, pp. 82–99.</a:t>
            </a:r>
          </a:p>
          <a:p/>
          <a:p>
            <a:r>
              <a:t>Eshraghian, J. K., et al. Training Spiking Neural Networks Using Lessons From Deep Learning. Proceedings of the IEEE, vol. 111, no. 9, 2023, pp. 1016–1054. — snnTorch asosidagi o'quv maqola.</a:t>
            </a:r>
          </a:p>
          <a:p/>
          <a:p>
            <a:r>
              <a:t>Horowitz, M. Computing's energy problem (and what we can do about it). IEEE International Solid-State Circuits Conference (ISSCC), 2014, pp. 10–14. — amal boshiga energiya qiymatlari.</a:t>
            </a:r>
          </a:p>
          <a:p/>
          <a:p>
            <a:r>
              <a:t>Biamonte, J., et al. Quantum machine learning. Nature, vol. 549, 2017, pp. 195–202.</a:t>
            </a:r>
          </a:p>
          <a:p/>
          <a:p>
            <a:r>
              <a:t>Shen, Y., et al. Deep learning with coherent nanophotonic circuits. Nature Photonics, vol. 11, 2017, pp. 441–446.</a:t>
            </a:r>
          </a:p>
          <a:p/>
          <a:p>
            <a:r>
              <a:t>Schwartz, R., Dodge, J., Smith, N. A., &amp; Etzioni, O. Green AI. Communications of the ACM, vol. 63, no. 12, 2020, pp. 54–63.</a:t>
            </a:r>
          </a:p>
          <a:p/>
          <a:p>
            <a:r>
              <a:t>Patterson, D., et al. Carbon Emissions and Large Neural Network Training. arXiv:2104.10350, 2021.</a:t>
            </a:r>
          </a:p>
          <a:p/>
          <a:p>
            <a:r>
              <a:t>TOP500 va Green500 ro'yxatlari: https://www.top500.org</a:t>
            </a:r>
          </a:p>
          <a:p/>
          <a:p>
            <a:r>
              <a:t>snnTorch hujjatlari: https://snntorch.readthedocs.io ; Qiskit hujjatlari: https://docs.quantum.ibm.com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Dennard masshtablashi, domenga xos arxitekturalar va energiya cheklovlari.</a:t>
            </a:r>
          </a:p>
          <a:p/>
          <a:p>
            <a:r>
              <a:t>[4] Sze, V., Chen, Y.-H., Yang, T.-J., &amp; Emer, J. S. Efficient Processing of Deep Neural Networks. Morgan &amp; Claypool, 2020. — energiya sarfi modeli, ma'lumot harakati va samarali apparat.</a:t>
            </a:r>
          </a:p>
          <a:p/>
          <a:p>
            <a:r>
              <a:t>[5] Kirk, D. B., &amp; Hwu, W.-M. W. Programming Massively Parallel Processors. 4th Edition. Morgan Kaufmann, 2022. — GPU hisoblash chegaralari va kelajak tendensiyalari.</a:t>
            </a:r>
          </a:p>
          <a:p/>
          <a:p>
            <a:r>
              <a:t>[6] https://developer.nvidia.com — NVIDIA Blackwell, NVLink va fotonik interkonnekt bo'yicha rasmiy texnik materiallar.</a:t>
            </a:r>
          </a:p>
          <a:p/>
          <a:p>
            <a:r>
              <a:t>[7] https://pytorch.org — PyTorch hujjatlari (snnTorch PyTorch ustiga qurilgan).</a:t>
            </a:r>
          </a:p>
          <a:p/>
          <a:p>
            <a:r>
              <a:t>Davies, M., et al. Loihi: A Neuromorphic Manycore Processor with On-Chip Learning. IEEE Micro, vol. 38, no. 1, 2018, pp. 82–99.</a:t>
            </a:r>
          </a:p>
          <a:p/>
          <a:p>
            <a:r>
              <a:t>Eshraghian, J. K., et al. Training Spiking Neural Networks Using Lessons From Deep Learning. Proceedings of the IEEE, vol. 111, no. 9, 2023, pp. 1016–1054. — snnTorch asosidagi o'quv maqola.</a:t>
            </a:r>
          </a:p>
          <a:p/>
          <a:p>
            <a:r>
              <a:t>Horowitz, M. Computing's energy problem (and what we can do about it). IEEE International Solid-State Circuits Conference (ISSCC), 2014, pp. 10–14. — amal boshiga energiya qiymatlari.</a:t>
            </a:r>
          </a:p>
          <a:p/>
          <a:p>
            <a:r>
              <a:t>Biamonte, J., et al. Quantum machine learning. Nature, vol. 549, 2017, pp. 195–202.</a:t>
            </a:r>
          </a:p>
          <a:p/>
          <a:p>
            <a:r>
              <a:t>Shen, Y., et al. Deep learning with coherent nanophotonic circuits. Nature Photonics, vol. 11, 2017, pp. 441–446.</a:t>
            </a:r>
          </a:p>
          <a:p/>
          <a:p>
            <a:r>
              <a:t>Schwartz, R., Dodge, J., Smith, N. A., &amp; Etzioni, O. Green AI. Communications of the ACM, vol. 63, no. 12, 2020, pp. 54–63.</a:t>
            </a:r>
          </a:p>
          <a:p/>
          <a:p>
            <a:r>
              <a:t>Patterson, D., et al. Carbon Emissions and Large Neural Network Training. arXiv:2104.10350, 2021.</a:t>
            </a:r>
          </a:p>
          <a:p/>
          <a:p>
            <a:r>
              <a:t>TOP500 va Green500 ro'yxatlari: https://www.top500.org</a:t>
            </a:r>
          </a:p>
          <a:p/>
          <a:p>
            <a:r>
              <a:t>snnTorch hujjatlari: https://snntorch.readthedocs.io ; Qiskit hujjatlari: https://docs.quantum.ibm.com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Dennard masshtablashi, domenga xos arxitekturalar va energiya cheklovlari.</a:t>
            </a:r>
          </a:p>
          <a:p/>
          <a:p>
            <a:r>
              <a:t>[4] Sze, V., Chen, Y.-H., Yang, T.-J., &amp; Emer, J. S. Efficient Processing of Deep Neural Networks. Morgan &amp; Claypool, 2020. — energiya sarfi modeli, ma'lumot harakati va samarali apparat.</a:t>
            </a:r>
          </a:p>
          <a:p/>
          <a:p>
            <a:r>
              <a:t>[5] Kirk, D. B., &amp; Hwu, W.-M. W. Programming Massively Parallel Processors. 4th Edition. Morgan Kaufmann, 2022. — GPU hisoblash chegaralari va kelajak tendensiyalari.</a:t>
            </a:r>
          </a:p>
          <a:p/>
          <a:p>
            <a:r>
              <a:t>[6] https://developer.nvidia.com — NVIDIA Blackwell, NVLink va fotonik interkonnekt bo'yicha rasmiy texnik materiallar.</a:t>
            </a:r>
          </a:p>
          <a:p/>
          <a:p>
            <a:r>
              <a:t>[7] https://pytorch.org — PyTorch hujjatlari (snnTorch PyTorch ustiga qurilgan).</a:t>
            </a:r>
          </a:p>
          <a:p/>
          <a:p>
            <a:r>
              <a:t>Davies, M., et al. Loihi: A Neuromorphic Manycore Processor with On-Chip Learning. IEEE Micro, vol. 38, no. 1, 2018, pp. 82–99.</a:t>
            </a:r>
          </a:p>
          <a:p/>
          <a:p>
            <a:r>
              <a:t>Eshraghian, J. K., et al. Training Spiking Neural Networks Using Lessons From Deep Learning. Proceedings of the IEEE, vol. 111, no. 9, 2023, pp. 1016–1054. — snnTorch asosidagi o'quv maqola.</a:t>
            </a:r>
          </a:p>
          <a:p/>
          <a:p>
            <a:r>
              <a:t>Horowitz, M. Computing's energy problem (and what we can do about it). IEEE International Solid-State Circuits Conference (ISSCC), 2014, pp. 10–14. — amal boshiga energiya qiymatlari.</a:t>
            </a:r>
          </a:p>
          <a:p/>
          <a:p>
            <a:r>
              <a:t>Biamonte, J., et al. Quantum machine learning. Nature, vol. 549, 2017, pp. 195–202.</a:t>
            </a:r>
          </a:p>
          <a:p/>
          <a:p>
            <a:r>
              <a:t>Shen, Y., et al. Deep learning with coherent nanophotonic circuits. Nature Photonics, vol. 11, 2017, pp. 441–446.</a:t>
            </a:r>
          </a:p>
          <a:p/>
          <a:p>
            <a:r>
              <a:t>Schwartz, R., Dodge, J., Smith, N. A., &amp; Etzioni, O. Green AI. Communications of the ACM, vol. 63, no. 12, 2020, pp. 54–63.</a:t>
            </a:r>
          </a:p>
          <a:p/>
          <a:p>
            <a:r>
              <a:t>Patterson, D., et al. Carbon Emissions and Large Neural Network Training. arXiv:2104.10350, 2021.</a:t>
            </a:r>
          </a:p>
          <a:p/>
          <a:p>
            <a:r>
              <a:t>TOP500 va Green500 ro'yxatlari: https://www.top500.org</a:t>
            </a:r>
          </a:p>
          <a:p/>
          <a:p>
            <a:r>
              <a:t>snnTorch hujjatlari: https://snntorch.readthedocs.io ; Qiskit hujjatlari: https://docs.quantum.ibm.com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MA'RUZA · M15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Kelajak avlod sun'iy intellekt hisoblash tizimlari va istiqbolli texnologiyalar</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Ushbu yakuniy ma'ruzaning maqsadi — bugungi GPU-markazli sun'iy intellekt (SI) infratuzilmasining fizik va iqtisodiy chegaralarini anglash hamda bu chegaralarni yengish uchun taklif…</a:t>
            </a:r>
          </a:p>
          <a:p>
            <a:pPr>
              <a:spcAft>
                <a:spcPts val="900"/>
              </a:spcAft>
            </a:pPr>
            <a:r>
              <a:rPr sz="1600" b="1">
                <a:solidFill>
                  <a:srgbClr val="0F8B8D"/>
                </a:solidFill>
              </a:rPr>
              <a:t>▪  </a:t>
            </a:r>
            <a:r>
              <a:rPr sz="1600">
                <a:solidFill>
                  <a:srgbClr val="1B2430"/>
                </a:solidFill>
                <a:latin typeface="Calibri"/>
              </a:rPr>
              <a:t>Mavzuni o'zlashtirgach magistrant:</a:t>
            </a:r>
          </a:p>
          <a:p>
            <a:pPr>
              <a:spcAft>
                <a:spcPts val="900"/>
              </a:spcAft>
            </a:pPr>
            <a:r>
              <a:rPr sz="1600" b="1">
                <a:solidFill>
                  <a:srgbClr val="0F8B8D"/>
                </a:solidFill>
              </a:rPr>
              <a:t>▪  </a:t>
            </a:r>
            <a:r>
              <a:rPr sz="1600">
                <a:solidFill>
                  <a:srgbClr val="1B2430"/>
                </a:solidFill>
                <a:latin typeface="Calibri"/>
              </a:rPr>
              <a:t>Dennard masshtablashining tugashi, xotira devori va energiya devori kabi fizik cheklovlarni raqamlar bilan tushuntira oladi va nega ular muqobil paradigmalarni zarur qilganini asoslay oladi.</a:t>
            </a:r>
          </a:p>
          <a:p>
            <a:pPr>
              <a:spcAft>
                <a:spcPts val="900"/>
              </a:spcAft>
            </a:pPr>
            <a:r>
              <a:rPr sz="1600" b="1">
                <a:solidFill>
                  <a:srgbClr val="0F8B8D"/>
                </a:solidFill>
              </a:rPr>
              <a:t>▪  </a:t>
            </a:r>
            <a:r>
              <a:rPr sz="1600">
                <a:solidFill>
                  <a:srgbClr val="1B2430"/>
                </a:solidFill>
                <a:latin typeface="Calibri"/>
              </a:rPr>
              <a:t>Neyromorf hisoblash (Neuromorphic Computing) ning asosiy tamoyillarini — hodisaga asoslangan ishlov, spayklar, xotira va hisoblashning yaqinlashuvi — va zamonaviy chiplar (Intel Loihi 2,…</a:t>
            </a:r>
          </a:p>
          <a:p>
            <a:pPr>
              <a:spcAft>
                <a:spcPts val="900"/>
              </a:spcAft>
            </a:pPr>
            <a:r>
              <a:rPr sz="1600" b="1">
                <a:solidFill>
                  <a:srgbClr val="0F8B8D"/>
                </a:solidFill>
              </a:rPr>
              <a:t>▪  </a:t>
            </a:r>
            <a:r>
              <a:rPr sz="1600">
                <a:solidFill>
                  <a:srgbClr val="1B2430"/>
                </a:solidFill>
                <a:latin typeface="Calibri"/>
              </a:rPr>
              <a:t>Kvant SI (Quantum AI) ning asosiy modellarini (variatsion kvant sxemalari, kvant yadrolari, QAOA) va ularning joriy shovqinli qurilmalardagi (NISQ) real imkoniyatlari va cheklovlarini…</a:t>
            </a:r>
          </a:p>
          <a:p>
            <a:pPr>
              <a:spcAft>
                <a:spcPts val="900"/>
              </a:spcAft>
            </a:pPr>
            <a:r>
              <a:rPr sz="1600" b="1">
                <a:solidFill>
                  <a:srgbClr val="0F8B8D"/>
                </a:solidFill>
              </a:rPr>
              <a:t>▪  </a:t>
            </a:r>
            <a:r>
              <a:rPr sz="1600">
                <a:solidFill>
                  <a:srgbClr val="1B2430"/>
                </a:solidFill>
                <a:latin typeface="Calibri"/>
              </a:rPr>
              <a:t>Fotonik hisoblash va Green AI konsepsiyasini, shuningdek SI superkompyuterlari (El Capitan, Frontier, JUPITER, xAI Colossus) arxitekturasini energiya samaradorligi ko'rsatkichlari orqali…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snnTorch yordamida spaykli neyron tarmoq (Spiking Neural Network, SNN) o'qitib, uning energiya sarfini an'anaviy tarmoq bilan hisobiy taqqoslay oladi va Qiskit yordamida oddiy variatsion…</a:t>
            </a:r>
          </a:p>
          <a:p>
            <a:pPr>
              <a:spcAft>
                <a:spcPts val="900"/>
              </a:spcAft>
            </a:pPr>
            <a:r>
              <a:rPr sz="2000" b="1">
                <a:solidFill>
                  <a:srgbClr val="0F8B8D"/>
                </a:solidFill>
              </a:rPr>
              <a:t>▪  </a:t>
            </a:r>
            <a:r>
              <a:rPr sz="2000">
                <a:solidFill>
                  <a:srgbClr val="1B2430"/>
                </a:solidFill>
                <a:latin typeface="Calibri"/>
              </a:rPr>
              <a:t>Mavzu fanning TN2 (SI hisoblash arxitekturalarini qiyosiy tahlil qilish), TN3 (tizim loyihalashda energiya va unumdorlik murosasini baholash) va TN7 (texnologik tendensiyalarni hisobga…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2012-yilda AlexNet ikkita iste'mol GPU sida olti kun o'qitilgan edi. 2020-yilda GPT-3 ni o'qitish uchun Patterson va hamkasblari (2021) bahosiga ko'ra taxminan 1 287 MVt·soat elektr energiyasi sarflangan — bu 120 ta o'rtacha AQSh xonadonining yillik…</a:t>
            </a:r>
          </a:p>
          <a:p>
            <a:pPr>
              <a:spcAft>
                <a:spcPts val="900"/>
              </a:spcAft>
            </a:pPr>
            <a:r>
              <a:rPr sz="1800" b="1">
                <a:solidFill>
                  <a:srgbClr val="0F8B8D"/>
                </a:solidFill>
              </a:rPr>
              <a:t>▪  </a:t>
            </a:r>
            <a:r>
              <a:rPr sz="1800">
                <a:solidFill>
                  <a:srgbClr val="1B2430"/>
                </a:solidFill>
                <a:latin typeface="Calibri"/>
              </a:rPr>
              <a:t>Bu o'sishning tagida fizik muammo yotadi. 2005-yil atrofida Dennard masshtablashi — tranzistor kichraygan sari quvvat zichligi o'zgarmay qolishi — tugadi; shundan beri chastota 3–5 GGs atrofida qotib qoldi va unumdorlik faqat parallellik hisobiga o'sdi.</a:t>
            </a:r>
          </a:p>
          <a:p>
            <a:pPr>
              <a:spcAft>
                <a:spcPts val="900"/>
              </a:spcAft>
            </a:pPr>
            <a:r>
              <a:rPr sz="1800" b="1">
                <a:solidFill>
                  <a:srgbClr val="0F8B8D"/>
                </a:solidFill>
              </a:rPr>
              <a:t>▪  </a:t>
            </a:r>
            <a:r>
              <a:rPr sz="1800">
                <a:solidFill>
                  <a:srgbClr val="1B2430"/>
                </a:solidFill>
                <a:latin typeface="Calibri"/>
              </a:rPr>
              <a:t>Shu fonda odam miyasi 20 Vt atrofida quvvat sarflab, 86 milliard neyron va yuz trillionlab sinapsni ishlatadi. Bu taqqoslash neyromorf hisoblashning ilhom manbai.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Neyromorf hisoblash (Neuromorphic Computing)</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Neyromorf muhandislik atamasini 1980-yillar oxirida Karver Mid (Carver Mead) Kaltexda kiritgan: u analog CMOS sxemalar bilan biologik neyronlarning dinamikasini bevosita taqlid qilishni…</a:t>
            </a:r>
          </a:p>
          <a:p>
            <a:pPr>
              <a:spcAft>
                <a:spcPts val="900"/>
              </a:spcAft>
            </a:pPr>
            <a:r>
              <a:rPr sz="1800" b="1">
                <a:solidFill>
                  <a:srgbClr val="0F8B8D"/>
                </a:solidFill>
              </a:rPr>
              <a:t>▪  </a:t>
            </a:r>
            <a:r>
              <a:rPr sz="1800">
                <a:solidFill>
                  <a:srgbClr val="1B2430"/>
                </a:solidFill>
                <a:latin typeface="Calibri"/>
              </a:rPr>
              <a:t>Asosiy neyron modeli — oqish-integratsiya-otilish (Leaky Integrate-and-Fire, LIF) neyroni: membrana potensiali U[t] = β·U[t-1] + W·X[t] - S[t-1]·θ, bu yerda β — oqish koeffitsienti, W·X —…</a:t>
            </a:r>
          </a:p>
          <a:p>
            <a:pPr>
              <a:spcAft>
                <a:spcPts val="900"/>
              </a:spcAft>
            </a:pPr>
            <a:r>
              <a:rPr sz="1800" b="1">
                <a:solidFill>
                  <a:srgbClr val="0F8B8D"/>
                </a:solidFill>
              </a:rPr>
              <a:t>▪  </a:t>
            </a:r>
            <a:r>
              <a:rPr sz="1800">
                <a:solidFill>
                  <a:srgbClr val="1B2430"/>
                </a:solidFill>
                <a:latin typeface="Calibri"/>
              </a:rPr>
              <a:t>Zamonaviy neyromorf chiplar taqqoslamasi:</a:t>
            </a:r>
          </a:p>
          <a:p>
            <a:pPr>
              <a:spcAft>
                <a:spcPts val="900"/>
              </a:spcAft>
            </a:pPr>
            <a:r>
              <a:rPr sz="1800" b="1">
                <a:solidFill>
                  <a:srgbClr val="0F8B8D"/>
                </a:solidFill>
              </a:rPr>
              <a:t>▪  </a:t>
            </a:r>
            <a:r>
              <a:rPr sz="1800">
                <a:solidFill>
                  <a:srgbClr val="1B2430"/>
                </a:solidFill>
                <a:latin typeface="Calibri"/>
              </a:rPr>
              <a:t>Neyromorf tizimlarning real afzalligi siyrak (sparse), hodisaga boy ish yuklamalarida namoyon bo'ladi: hodisali kameralar (DVS) bilan ko'rish, audio uyg'otuvchi so'z, sensor oqimlarida…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Neyromorf hisoblash (Neuromorphic Computing)</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200" b="1">
                          <a:solidFill>
                            <a:srgbClr val="FFFFFF"/>
                          </a:solidFill>
                          <a:latin typeface="Calibri"/>
                        </a:rPr>
                        <a:t>Chip / tizim</a:t>
                      </a:r>
                    </a:p>
                  </a:txBody>
                  <a:tcPr>
                    <a:solidFill>
                      <a:srgbClr val="2D5C8F"/>
                    </a:solidFill>
                  </a:tcPr>
                </a:tc>
                <a:tc>
                  <a:txBody>
                    <a:bodyPr/>
                    <a:lstStyle/>
                    <a:p>
                      <a:r>
                        <a:rPr sz="1200" b="1">
                          <a:solidFill>
                            <a:srgbClr val="FFFFFF"/>
                          </a:solidFill>
                          <a:latin typeface="Calibri"/>
                        </a:rPr>
                        <a:t>Yil</a:t>
                      </a:r>
                    </a:p>
                  </a:txBody>
                  <a:tcPr>
                    <a:solidFill>
                      <a:srgbClr val="2D5C8F"/>
                    </a:solidFill>
                  </a:tcPr>
                </a:tc>
                <a:tc>
                  <a:txBody>
                    <a:bodyPr/>
                    <a:lstStyle/>
                    <a:p>
                      <a:r>
                        <a:rPr sz="1200" b="1">
                          <a:solidFill>
                            <a:srgbClr val="FFFFFF"/>
                          </a:solidFill>
                          <a:latin typeface="Calibri"/>
                        </a:rPr>
                        <a:t>Neyron / sinaps (chipda)</a:t>
                      </a:r>
                    </a:p>
                  </a:txBody>
                  <a:tcPr>
                    <a:solidFill>
                      <a:srgbClr val="2D5C8F"/>
                    </a:solidFill>
                  </a:tcPr>
                </a:tc>
                <a:tc>
                  <a:txBody>
                    <a:bodyPr/>
                    <a:lstStyle/>
                    <a:p>
                      <a:r>
                        <a:rPr sz="1200" b="1">
                          <a:solidFill>
                            <a:srgbClr val="FFFFFF"/>
                          </a:solidFill>
                          <a:latin typeface="Calibri"/>
                        </a:rPr>
                        <a:t>Xususiyat</a:t>
                      </a:r>
                    </a:p>
                  </a:txBody>
                  <a:tcPr>
                    <a:solidFill>
                      <a:srgbClr val="2D5C8F"/>
                    </a:solidFill>
                  </a:tcPr>
                </a:tc>
                <a:tc>
                  <a:txBody>
                    <a:bodyPr/>
                    <a:lstStyle/>
                    <a:p>
                      <a:r>
                        <a:rPr sz="1200" b="1">
                          <a:solidFill>
                            <a:srgbClr val="FFFFFF"/>
                          </a:solidFill>
                          <a:latin typeface="Calibri"/>
                        </a:rPr>
                        <a:t>Quvvat</a:t>
                      </a:r>
                    </a:p>
                  </a:txBody>
                  <a:tcPr>
                    <a:solidFill>
                      <a:srgbClr val="2D5C8F"/>
                    </a:solidFill>
                  </a:tcPr>
                </a:tc>
              </a:tr>
              <a:tr h="520000">
                <a:tc>
                  <a:txBody>
                    <a:bodyPr/>
                    <a:lstStyle/>
                    <a:p>
                      <a:r>
                        <a:rPr sz="1200" b="0">
                          <a:solidFill>
                            <a:srgbClr val="1B2430"/>
                          </a:solidFill>
                          <a:latin typeface="Calibri"/>
                        </a:rPr>
                        <a:t>IBM TrueNorth</a:t>
                      </a:r>
                    </a:p>
                  </a:txBody>
                  <a:tcPr>
                    <a:solidFill>
                      <a:srgbClr val="F1F4F8"/>
                    </a:solidFill>
                  </a:tcPr>
                </a:tc>
                <a:tc>
                  <a:txBody>
                    <a:bodyPr/>
                    <a:lstStyle/>
                    <a:p>
                      <a:r>
                        <a:rPr sz="1200" b="0">
                          <a:solidFill>
                            <a:srgbClr val="1B2430"/>
                          </a:solidFill>
                          <a:latin typeface="Calibri"/>
                        </a:rPr>
                        <a:t>2014</a:t>
                      </a:r>
                    </a:p>
                  </a:txBody>
                  <a:tcPr>
                    <a:solidFill>
                      <a:srgbClr val="F1F4F8"/>
                    </a:solidFill>
                  </a:tcPr>
                </a:tc>
                <a:tc>
                  <a:txBody>
                    <a:bodyPr/>
                    <a:lstStyle/>
                    <a:p>
                      <a:r>
                        <a:rPr sz="1200" b="0">
                          <a:solidFill>
                            <a:srgbClr val="1B2430"/>
                          </a:solidFill>
                          <a:latin typeface="Calibri"/>
                        </a:rPr>
                        <a:t>1 mln / 256 mln</a:t>
                      </a:r>
                    </a:p>
                  </a:txBody>
                  <a:tcPr>
                    <a:solidFill>
                      <a:srgbClr val="F1F4F8"/>
                    </a:solidFill>
                  </a:tcPr>
                </a:tc>
                <a:tc>
                  <a:txBody>
                    <a:bodyPr/>
                    <a:lstStyle/>
                    <a:p>
                      <a:r>
                        <a:rPr sz="1200" b="0">
                          <a:solidFill>
                            <a:srgbClr val="1B2430"/>
                          </a:solidFill>
                          <a:latin typeface="Calibri"/>
                        </a:rPr>
                        <a:t>4096 yadro, raqamli, fiksirlangan dinamika</a:t>
                      </a:r>
                    </a:p>
                  </a:txBody>
                  <a:tcPr>
                    <a:solidFill>
                      <a:srgbClr val="F1F4F8"/>
                    </a:solidFill>
                  </a:tcPr>
                </a:tc>
                <a:tc>
                  <a:txBody>
                    <a:bodyPr/>
                    <a:lstStyle/>
                    <a:p>
                      <a:r>
                        <a:rPr sz="1200" b="0">
                          <a:solidFill>
                            <a:srgbClr val="1B2430"/>
                          </a:solidFill>
                          <a:latin typeface="Calibri"/>
                        </a:rPr>
                        <a:t>~70 mVt (real vaqt video)</a:t>
                      </a:r>
                    </a:p>
                  </a:txBody>
                  <a:tcPr>
                    <a:solidFill>
                      <a:srgbClr val="F1F4F8"/>
                    </a:solidFill>
                  </a:tcPr>
                </a:tc>
              </a:tr>
              <a:tr h="520000">
                <a:tc>
                  <a:txBody>
                    <a:bodyPr/>
                    <a:lstStyle/>
                    <a:p>
                      <a:r>
                        <a:rPr sz="1200" b="0">
                          <a:solidFill>
                            <a:srgbClr val="1B2430"/>
                          </a:solidFill>
                          <a:latin typeface="Calibri"/>
                        </a:rPr>
                        <a:t>Intel Loihi 2</a:t>
                      </a:r>
                    </a:p>
                  </a:txBody>
                  <a:tcPr>
                    <a:solidFill>
                      <a:srgbClr val="FFFFFF"/>
                    </a:solidFill>
                  </a:tcPr>
                </a:tc>
                <a:tc>
                  <a:txBody>
                    <a:bodyPr/>
                    <a:lstStyle/>
                    <a:p>
                      <a:r>
                        <a:rPr sz="1200" b="0">
                          <a:solidFill>
                            <a:srgbClr val="1B2430"/>
                          </a:solidFill>
                          <a:latin typeface="Calibri"/>
                        </a:rPr>
                        <a:t>2021</a:t>
                      </a:r>
                    </a:p>
                  </a:txBody>
                  <a:tcPr>
                    <a:solidFill>
                      <a:srgbClr val="FFFFFF"/>
                    </a:solidFill>
                  </a:tcPr>
                </a:tc>
                <a:tc>
                  <a:txBody>
                    <a:bodyPr/>
                    <a:lstStyle/>
                    <a:p>
                      <a:r>
                        <a:rPr sz="1200" b="0">
                          <a:solidFill>
                            <a:srgbClr val="1B2430"/>
                          </a:solidFill>
                          <a:latin typeface="Calibri"/>
                        </a:rPr>
                        <a:t>1 mln / 120 mln gacha</a:t>
                      </a:r>
                    </a:p>
                  </a:txBody>
                  <a:tcPr>
                    <a:solidFill>
                      <a:srgbClr val="FFFFFF"/>
                    </a:solidFill>
                  </a:tcPr>
                </a:tc>
                <a:tc>
                  <a:txBody>
                    <a:bodyPr/>
                    <a:lstStyle/>
                    <a:p>
                      <a:r>
                        <a:rPr sz="1200" b="0">
                          <a:solidFill>
                            <a:srgbClr val="1B2430"/>
                          </a:solidFill>
                          <a:latin typeface="Calibri"/>
                        </a:rPr>
                        <a:t>Intel 4 texnologiyasi, dasturlanadigan neyron modeli, chipda o'qitish</a:t>
                      </a:r>
                    </a:p>
                  </a:txBody>
                  <a:tcPr>
                    <a:solidFill>
                      <a:srgbClr val="FFFFFF"/>
                    </a:solidFill>
                  </a:tcPr>
                </a:tc>
                <a:tc>
                  <a:txBody>
                    <a:bodyPr/>
                    <a:lstStyle/>
                    <a:p>
                      <a:r>
                        <a:rPr sz="1200" b="0">
                          <a:solidFill>
                            <a:srgbClr val="1B2430"/>
                          </a:solidFill>
                          <a:latin typeface="Calibri"/>
                        </a:rPr>
                        <a:t>1 Vt atrofida (yuklamaga bog'liq)</a:t>
                      </a:r>
                    </a:p>
                  </a:txBody>
                  <a:tcPr>
                    <a:solidFill>
                      <a:srgbClr val="FFFFFF"/>
                    </a:solidFill>
                  </a:tcPr>
                </a:tc>
              </a:tr>
              <a:tr h="520000">
                <a:tc>
                  <a:txBody>
                    <a:bodyPr/>
                    <a:lstStyle/>
                    <a:p>
                      <a:r>
                        <a:rPr sz="1200" b="0">
                          <a:solidFill>
                            <a:srgbClr val="1B2430"/>
                          </a:solidFill>
                          <a:latin typeface="Calibri"/>
                        </a:rPr>
                        <a:t>Intel Hala Point</a:t>
                      </a:r>
                    </a:p>
                  </a:txBody>
                  <a:tcPr>
                    <a:solidFill>
                      <a:srgbClr val="F1F4F8"/>
                    </a:solidFill>
                  </a:tcPr>
                </a:tc>
                <a:tc>
                  <a:txBody>
                    <a:bodyPr/>
                    <a:lstStyle/>
                    <a:p>
                      <a:r>
                        <a:rPr sz="1200" b="0">
                          <a:solidFill>
                            <a:srgbClr val="1B2430"/>
                          </a:solidFill>
                          <a:latin typeface="Calibri"/>
                        </a:rPr>
                        <a:t>2024</a:t>
                      </a:r>
                    </a:p>
                  </a:txBody>
                  <a:tcPr>
                    <a:solidFill>
                      <a:srgbClr val="F1F4F8"/>
                    </a:solidFill>
                  </a:tcPr>
                </a:tc>
                <a:tc>
                  <a:txBody>
                    <a:bodyPr/>
                    <a:lstStyle/>
                    <a:p>
                      <a:r>
                        <a:rPr sz="1200" b="0">
                          <a:solidFill>
                            <a:srgbClr val="1B2430"/>
                          </a:solidFill>
                          <a:latin typeface="Calibri"/>
                        </a:rPr>
                        <a:t>1,15 mlrd / 128 mlrd (1152 Loihi 2)</a:t>
                      </a:r>
                    </a:p>
                  </a:txBody>
                  <a:tcPr>
                    <a:solidFill>
                      <a:srgbClr val="F1F4F8"/>
                    </a:solidFill>
                  </a:tcPr>
                </a:tc>
                <a:tc>
                  <a:txBody>
                    <a:bodyPr/>
                    <a:lstStyle/>
                    <a:p>
                      <a:r>
                        <a:rPr sz="1200" b="0">
                          <a:solidFill>
                            <a:srgbClr val="1B2430"/>
                          </a:solidFill>
                          <a:latin typeface="Calibri"/>
                        </a:rPr>
                        <a:t>eng yirik neyromorf tizim, Sandia laboratoriyasi</a:t>
                      </a:r>
                    </a:p>
                  </a:txBody>
                  <a:tcPr>
                    <a:solidFill>
                      <a:srgbClr val="F1F4F8"/>
                    </a:solidFill>
                  </a:tcPr>
                </a:tc>
                <a:tc>
                  <a:txBody>
                    <a:bodyPr/>
                    <a:lstStyle/>
                    <a:p>
                      <a:r>
                        <a:rPr sz="1200" b="0">
                          <a:solidFill>
                            <a:srgbClr val="1B2430"/>
                          </a:solidFill>
                          <a:latin typeface="Calibri"/>
                        </a:rPr>
                        <a:t>~2,6 kVt</a:t>
                      </a:r>
                    </a:p>
                  </a:txBody>
                  <a:tcPr>
                    <a:solidFill>
                      <a:srgbClr val="F1F4F8"/>
                    </a:solidFill>
                  </a:tcPr>
                </a:tc>
              </a:tr>
              <a:tr h="520000">
                <a:tc>
                  <a:txBody>
                    <a:bodyPr/>
                    <a:lstStyle/>
                    <a:p>
                      <a:r>
                        <a:rPr sz="1200" b="0">
                          <a:solidFill>
                            <a:srgbClr val="1B2430"/>
                          </a:solidFill>
                          <a:latin typeface="Calibri"/>
                        </a:rPr>
                        <a:t>SpiNNaker2 (TU Drezden)</a:t>
                      </a:r>
                    </a:p>
                  </a:txBody>
                  <a:tcPr>
                    <a:solidFill>
                      <a:srgbClr val="FFFFFF"/>
                    </a:solidFill>
                  </a:tcPr>
                </a:tc>
                <a:tc>
                  <a:txBody>
                    <a:bodyPr/>
                    <a:lstStyle/>
                    <a:p>
                      <a:r>
                        <a:rPr sz="1200" b="0">
                          <a:solidFill>
                            <a:srgbClr val="1B2430"/>
                          </a:solidFill>
                          <a:latin typeface="Calibri"/>
                        </a:rPr>
                        <a:t>2021–2024</a:t>
                      </a:r>
                    </a:p>
                  </a:txBody>
                  <a:tcPr>
                    <a:solidFill>
                      <a:srgbClr val="FFFFFF"/>
                    </a:solidFill>
                  </a:tcPr>
                </a:tc>
                <a:tc>
                  <a:txBody>
                    <a:bodyPr/>
                    <a:lstStyle/>
                    <a:p>
                      <a:r>
                        <a:rPr sz="1200" b="0">
                          <a:solidFill>
                            <a:srgbClr val="1B2430"/>
                          </a:solidFill>
                          <a:latin typeface="Calibri"/>
                        </a:rPr>
                        <a:t>152 ARM yadro / chip, millionlab chip tizimlari</a:t>
                      </a:r>
                    </a:p>
                  </a:txBody>
                  <a:tcPr>
                    <a:solidFill>
                      <a:srgbClr val="FFFFFF"/>
                    </a:solidFill>
                  </a:tcPr>
                </a:tc>
                <a:tc>
                  <a:txBody>
                    <a:bodyPr/>
                    <a:lstStyle/>
                    <a:p>
                      <a:r>
                        <a:rPr sz="1200" b="0">
                          <a:solidFill>
                            <a:srgbClr val="1B2430"/>
                          </a:solidFill>
                          <a:latin typeface="Calibri"/>
                        </a:rPr>
                        <a:t>dasturiy neyronlar, moslashuvchan</a:t>
                      </a:r>
                    </a:p>
                  </a:txBody>
                  <a:tcPr>
                    <a:solidFill>
                      <a:srgbClr val="FFFFFF"/>
                    </a:solidFill>
                  </a:tcPr>
                </a:tc>
                <a:tc>
                  <a:txBody>
                    <a:bodyPr/>
                    <a:lstStyle/>
                    <a:p>
                      <a:r>
                        <a:rPr sz="1200" b="0">
                          <a:solidFill>
                            <a:srgbClr val="1B2430"/>
                          </a:solidFill>
                          <a:latin typeface="Calibri"/>
                        </a:rPr>
                        <a:t>tizimga bog'liq</a:t>
                      </a:r>
                    </a:p>
                  </a:txBody>
                  <a:tcPr>
                    <a:solidFill>
                      <a:srgbClr val="FFFFFF"/>
                    </a:solidFill>
                  </a:tcPr>
                </a:tc>
              </a:tr>
              <a:tr h="520000">
                <a:tc>
                  <a:txBody>
                    <a:bodyPr/>
                    <a:lstStyle/>
                    <a:p>
                      <a:r>
                        <a:rPr sz="1200" b="0">
                          <a:solidFill>
                            <a:srgbClr val="1B2430"/>
                          </a:solidFill>
                          <a:latin typeface="Calibri"/>
                        </a:rPr>
                        <a:t>BrainScaleS-2 (Haydelberg)</a:t>
                      </a:r>
                    </a:p>
                  </a:txBody>
                  <a:tcPr>
                    <a:solidFill>
                      <a:srgbClr val="F1F4F8"/>
                    </a:solidFill>
                  </a:tcPr>
                </a:tc>
                <a:tc>
                  <a:txBody>
                    <a:bodyPr/>
                    <a:lstStyle/>
                    <a:p>
                      <a:r>
                        <a:rPr sz="1200" b="0">
                          <a:solidFill>
                            <a:srgbClr val="1B2430"/>
                          </a:solidFill>
                          <a:latin typeface="Calibri"/>
                        </a:rPr>
                        <a:t>2020</a:t>
                      </a:r>
                    </a:p>
                  </a:txBody>
                  <a:tcPr>
                    <a:solidFill>
                      <a:srgbClr val="F1F4F8"/>
                    </a:solidFill>
                  </a:tcPr>
                </a:tc>
                <a:tc>
                  <a:txBody>
                    <a:bodyPr/>
                    <a:lstStyle/>
                    <a:p>
                      <a:r>
                        <a:rPr sz="1200" b="0">
                          <a:solidFill>
                            <a:srgbClr val="1B2430"/>
                          </a:solidFill>
                          <a:latin typeface="Calibri"/>
                        </a:rPr>
                        <a:t>512 analog neyron / chip</a:t>
                      </a:r>
                    </a:p>
                  </a:txBody>
                  <a:tcPr>
                    <a:solidFill>
                      <a:srgbClr val="F1F4F8"/>
                    </a:solidFill>
                  </a:tcPr>
                </a:tc>
                <a:tc>
                  <a:txBody>
                    <a:bodyPr/>
                    <a:lstStyle/>
                    <a:p>
                      <a:r>
                        <a:rPr sz="1200" b="0">
                          <a:solidFill>
                            <a:srgbClr val="1B2430"/>
                          </a:solidFill>
                          <a:latin typeface="Calibri"/>
                        </a:rPr>
                        <a:t>analog, biologiyadan 1000 marta tez</a:t>
                      </a:r>
                    </a:p>
                  </a:txBody>
                  <a:tcPr>
                    <a:solidFill>
                      <a:srgbClr val="F1F4F8"/>
                    </a:solidFill>
                  </a:tcPr>
                </a:tc>
                <a:tc>
                  <a:txBody>
                    <a:bodyPr/>
                    <a:lstStyle/>
                    <a:p>
                      <a:r>
                        <a:rPr sz="1200" b="0">
                          <a:solidFill>
                            <a:srgbClr val="1B2430"/>
                          </a:solidFill>
                          <a:latin typeface="Calibri"/>
                        </a:rPr>
                        <a:t>o'nlab mVt</a:t>
                      </a:r>
                    </a:p>
                  </a:txBody>
                  <a:tcPr>
                    <a:solidFill>
                      <a:srgbClr val="F1F4F8"/>
                    </a:solidFill>
                  </a:tcPr>
                </a:tc>
              </a:tr>
              <a:tr h="520000">
                <a:tc>
                  <a:txBody>
                    <a:bodyPr/>
                    <a:lstStyle/>
                    <a:p>
                      <a:r>
                        <a:rPr sz="1200" b="0">
                          <a:solidFill>
                            <a:srgbClr val="1B2430"/>
                          </a:solidFill>
                          <a:latin typeface="Calibri"/>
                        </a:rPr>
                        <a:t>IBM NorthPole</a:t>
                      </a:r>
                    </a:p>
                  </a:txBody>
                  <a:tcPr>
                    <a:solidFill>
                      <a:srgbClr val="FFFFFF"/>
                    </a:solidFill>
                  </a:tcPr>
                </a:tc>
                <a:tc>
                  <a:txBody>
                    <a:bodyPr/>
                    <a:lstStyle/>
                    <a:p>
                      <a:r>
                        <a:rPr sz="1200" b="0">
                          <a:solidFill>
                            <a:srgbClr val="1B2430"/>
                          </a:solidFill>
                          <a:latin typeface="Calibri"/>
                        </a:rPr>
                        <a:t>2023</a:t>
                      </a:r>
                    </a:p>
                  </a:txBody>
                  <a:tcPr>
                    <a:solidFill>
                      <a:srgbClr val="FFFFFF"/>
                    </a:solidFill>
                  </a:tcPr>
                </a:tc>
                <a:tc>
                  <a:txBody>
                    <a:bodyPr/>
                    <a:lstStyle/>
                    <a:p>
                      <a:r>
                        <a:rPr sz="1200" b="0">
                          <a:solidFill>
                            <a:srgbClr val="1B2430"/>
                          </a:solidFill>
                          <a:latin typeface="Calibri"/>
                        </a:rPr>
                        <a:t>256 yadro, 224 MB chipda xotira</a:t>
                      </a:r>
                    </a:p>
                  </a:txBody>
                  <a:tcPr>
                    <a:solidFill>
                      <a:srgbClr val="FFFFFF"/>
                    </a:solidFill>
                  </a:tcPr>
                </a:tc>
                <a:tc>
                  <a:txBody>
                    <a:bodyPr/>
                    <a:lstStyle/>
                    <a:p>
                      <a:r>
                        <a:rPr sz="1200" b="0">
                          <a:solidFill>
                            <a:srgbClr val="1B2430"/>
                          </a:solidFill>
                          <a:latin typeface="Calibri"/>
                        </a:rPr>
                        <a:t>neyromorfdan ilhomlangan, lekin an'anaviy DNN inferensi</a:t>
                      </a:r>
                    </a:p>
                  </a:txBody>
                  <a:tcPr>
                    <a:solidFill>
                      <a:srgbClr val="FFFFFF"/>
                    </a:solidFill>
                  </a:tcPr>
                </a:tc>
                <a:tc>
                  <a:txBody>
                    <a:bodyPr/>
                    <a:lstStyle/>
                    <a:p>
                      <a:r>
                        <a:rPr sz="1200" b="0">
                          <a:solidFill>
                            <a:srgbClr val="1B2430"/>
                          </a:solidFill>
                          <a:latin typeface="Calibri"/>
                        </a:rPr>
                        <a:t>ResNet-50 da V100 dan 25 marta energiya samarali (IBM bahosi)</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Kvant sun'iy intellekt (Quantum AI Computing)</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Kvant hisoblashning asosiy birligi kubit superpozitsiya va chalkashlik (entanglement) tufayli n kubit 2^n o'lchovli holat fazosini ifodalaydi. Kvant mashinali o'qitish (Quantum Machine Learning, QML; Biamonte va boshq., 2017) bu fazodan ikki asosiy usulda…</a:t>
            </a:r>
          </a:p>
          <a:p>
            <a:pPr>
              <a:spcAft>
                <a:spcPts val="900"/>
              </a:spcAft>
            </a:pPr>
            <a:r>
              <a:rPr sz="1800" b="1">
                <a:solidFill>
                  <a:srgbClr val="0F8B8D"/>
                </a:solidFill>
              </a:rPr>
              <a:t>▪  </a:t>
            </a:r>
            <a:r>
              <a:rPr sz="1800">
                <a:solidFill>
                  <a:srgbClr val="1B2430"/>
                </a:solidFill>
                <a:latin typeface="Calibri"/>
              </a:rPr>
              <a:t>Joriy apparat holati (2025-yil holatiga): IBM Heron r2 prosessorlari 156 kubit, ikki kubitli eshik xatosi 0,3 % atrofida; IBM 2023-yilda 1 121 kubitli Condor ni ko'rsatdi, lekin strategiyani kubit sonidan sifatga burdi; Google 2024-yil dekabrida 105 kubitli…</a:t>
            </a:r>
          </a:p>
          <a:p>
            <a:pPr>
              <a:spcAft>
                <a:spcPts val="900"/>
              </a:spcAft>
            </a:pPr>
            <a:r>
              <a:rPr sz="1800" b="1">
                <a:solidFill>
                  <a:srgbClr val="0F8B8D"/>
                </a:solidFill>
              </a:rPr>
              <a:t>▪  </a:t>
            </a:r>
            <a:r>
              <a:rPr sz="1800">
                <a:solidFill>
                  <a:srgbClr val="1B2430"/>
                </a:solidFill>
                <a:latin typeface="Calibri"/>
              </a:rPr>
              <a:t>QML uchun bu quyidagi amaliy xulosalarni beradi. Birinchidan, hali hech bir real SI masalasida kvant qurilma klassik GPU dan ustun kelgani isbotlanmagan; ko'p QML natijalari simulyatsiyada va kichik o'lchamli ma'lumotlarda olingan.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Fotonik hisoblash (Photonic Computing)</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Fotonik SI tezlatkichlari g'oyasi oddiy: chiziqli algebra — matritsa-vektor ko'paytirish — yorug'lik interferensiyasi orqali amalga oshiriladi. Shen va boshq. (2017) MIT da Mach-Zender interferometrlari (MZI) to'ri yordamida istalgan unitar matritsani optik…</a:t>
            </a:r>
          </a:p>
          <a:p>
            <a:pPr>
              <a:spcAft>
                <a:spcPts val="900"/>
              </a:spcAft>
            </a:pPr>
            <a:r>
              <a:rPr sz="1800" b="1">
                <a:solidFill>
                  <a:srgbClr val="0F8B8D"/>
                </a:solidFill>
              </a:rPr>
              <a:t>▪  </a:t>
            </a:r>
            <a:r>
              <a:rPr sz="1800">
                <a:solidFill>
                  <a:srgbClr val="1B2430"/>
                </a:solidFill>
                <a:latin typeface="Calibri"/>
              </a:rPr>
              <a:t>Tijorat holati: Lightmatter kompaniyasi Envise fotonik tezlatkichi va Passage optik interkonnektini ishlab chiqdi va 2024-yilda 4 milliard dollardan ortiq baholandi; Lightelligence, Celestial AI va boshqalar ham shu yo'nalishda. Muhim kuzatuv: fotonikaning…</a:t>
            </a:r>
          </a:p>
          <a:p>
            <a:pPr>
              <a:spcAft>
                <a:spcPts val="900"/>
              </a:spcAft>
            </a:pPr>
            <a:r>
              <a:rPr sz="1800" b="1">
                <a:solidFill>
                  <a:srgbClr val="0F8B8D"/>
                </a:solidFill>
              </a:rPr>
              <a:t>▪  </a:t>
            </a:r>
            <a:r>
              <a:rPr sz="1800">
                <a:solidFill>
                  <a:srgbClr val="1B2430"/>
                </a:solidFill>
                <a:latin typeface="Calibri"/>
              </a:rPr>
              <a:t>Fotonik hisoblashning cheklovlari: analog aniqlik (odatda 4–8 bit samarali), nochiziqli faollashtirish funksiyalari uchun elektr domeniga qaytish zarurati (elektro-optik konvertatsiya…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Yashil sun'iy intellekt (Green AI) konsepsiyasi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«Green AI» atamasini Schwartz va hamkasblar (2020) «Red AI» — faqat aniqlikni oshirish uchun cheksiz hisoblash sarflash — ga qarshi qo'yib kiritdilar. Ularning taklifi: ilmiy natijalar bilan birga hisoblash narxini (FLOP, parametrlar, GPU-soat, energiya, CO₂)…</a:t>
            </a:r>
          </a:p>
          <a:p>
            <a:pPr>
              <a:spcAft>
                <a:spcPts val="900"/>
              </a:spcAft>
            </a:pPr>
            <a:r>
              <a:rPr sz="1600" b="1">
                <a:solidFill>
                  <a:srgbClr val="0F8B8D"/>
                </a:solidFill>
              </a:rPr>
              <a:t>▪  </a:t>
            </a:r>
            <a:r>
              <a:rPr sz="1600">
                <a:solidFill>
                  <a:srgbClr val="1B2430"/>
                </a:solidFill>
                <a:latin typeface="Calibri"/>
              </a:rPr>
              <a:t>Energiya va uglerod izini baholash formulasi: E = Σ(P_qurilma × t × PUE), CO₂e = E × uglerod_intensivligi, bu yerda PUE (Power Usage Effectiveness) — ma'lumot markazining umumiy iste'molining IT iste'moliga nisbati (zamonaviy giperskeyl markazlarda 1,1–1,2,…</a:t>
            </a:r>
          </a:p>
          <a:p>
            <a:pPr>
              <a:spcAft>
                <a:spcPts val="900"/>
              </a:spcAft>
            </a:pPr>
            <a:r>
              <a:rPr sz="1600" b="1">
                <a:solidFill>
                  <a:srgbClr val="0F8B8D"/>
                </a:solidFill>
              </a:rPr>
              <a:t>▪  </a:t>
            </a:r>
            <a:r>
              <a:rPr sz="1600">
                <a:solidFill>
                  <a:srgbClr val="1B2430"/>
                </a:solidFill>
                <a:latin typeface="Calibri"/>
              </a:rPr>
              <a:t>Green AI ning muhandislik vositalari: M8 da ko'rilgan kvantlash, siyraklashtirish va distillash (energiya sarfini 2–10 baravar kamaytiradi); samarali arxitekturalar (Mixture-of-Experts — har token uchun parametrlarning faqat bir qismi faol); o'qitish…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Sun'iy intellekt superkompyuterlari va kelajak tezlatkichlari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Zamonaviy SI superkompyuterlari ikki sinfga bo'linadi.</a:t>
            </a:r>
          </a:p>
          <a:p>
            <a:pPr>
              <a:spcAft>
                <a:spcPts val="900"/>
              </a:spcAft>
            </a:pPr>
            <a:r>
              <a:rPr sz="2000" b="1">
                <a:solidFill>
                  <a:srgbClr val="0F8B8D"/>
                </a:solidFill>
              </a:rPr>
              <a:t>▪  </a:t>
            </a:r>
            <a:r>
              <a:rPr sz="2000">
                <a:solidFill>
                  <a:srgbClr val="1B2430"/>
                </a:solidFill>
                <a:latin typeface="Calibri"/>
              </a:rPr>
              <a:t>Bu tizimlarning arxitekturaviy tendensiyalari: CPU va GPU ning yagona paketda birlashishi (Grace Hopper, MI300A) va HBM3e xotirasi (H200 da 141 GB, 4,8 TB/s); rafdan tashqari…</a:t>
            </a:r>
          </a:p>
          <a:p>
            <a:pPr>
              <a:spcAft>
                <a:spcPts val="900"/>
              </a:spcAft>
            </a:pPr>
            <a:r>
              <a:rPr sz="2000" b="1">
                <a:solidFill>
                  <a:srgbClr val="0F8B8D"/>
                </a:solidFill>
              </a:rPr>
              <a:t>▪  </a:t>
            </a:r>
            <a:r>
              <a:rPr sz="2000">
                <a:solidFill>
                  <a:srgbClr val="1B2430"/>
                </a:solidFill>
                <a:latin typeface="Calibri"/>
              </a:rPr>
              <a:t>Kelajak avlod tezlatkichlari bir nechta yo'nalishda rivojlanmoqda.</a:t>
            </a:r>
          </a:p>
          <a:p>
            <a:pPr>
              <a:spcAft>
                <a:spcPts val="900"/>
              </a:spcAft>
            </a:pPr>
            <a:r>
              <a:rPr sz="2000" b="1">
                <a:solidFill>
                  <a:srgbClr val="0F8B8D"/>
                </a:solidFill>
              </a:rPr>
              <a:t>▪  </a:t>
            </a:r>
            <a:r>
              <a:rPr sz="2000">
                <a:solidFill>
                  <a:srgbClr val="1B2430"/>
                </a:solidFill>
                <a:latin typeface="Calibri"/>
              </a:rPr>
              <a:t>Taqqoslash jadvali: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Sun'iy intellekt superkompyuterlari va kelajak tezlatkichlari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Paradigma</a:t>
                      </a:r>
                    </a:p>
                  </a:txBody>
                  <a:tcPr>
                    <a:solidFill>
                      <a:srgbClr val="2D5C8F"/>
                    </a:solidFill>
                  </a:tcPr>
                </a:tc>
                <a:tc>
                  <a:txBody>
                    <a:bodyPr/>
                    <a:lstStyle/>
                    <a:p>
                      <a:r>
                        <a:rPr sz="1400" b="1">
                          <a:solidFill>
                            <a:srgbClr val="FFFFFF"/>
                          </a:solidFill>
                          <a:latin typeface="Calibri"/>
                        </a:rPr>
                        <a:t>Asosiy ustunlik</a:t>
                      </a:r>
                    </a:p>
                  </a:txBody>
                  <a:tcPr>
                    <a:solidFill>
                      <a:srgbClr val="2D5C8F"/>
                    </a:solidFill>
                  </a:tcPr>
                </a:tc>
                <a:tc>
                  <a:txBody>
                    <a:bodyPr/>
                    <a:lstStyle/>
                    <a:p>
                      <a:r>
                        <a:rPr sz="1400" b="1">
                          <a:solidFill>
                            <a:srgbClr val="FFFFFF"/>
                          </a:solidFill>
                          <a:latin typeface="Calibri"/>
                        </a:rPr>
                        <a:t>Yetuklik (2025)</a:t>
                      </a:r>
                    </a:p>
                  </a:txBody>
                  <a:tcPr>
                    <a:solidFill>
                      <a:srgbClr val="2D5C8F"/>
                    </a:solidFill>
                  </a:tcPr>
                </a:tc>
                <a:tc>
                  <a:txBody>
                    <a:bodyPr/>
                    <a:lstStyle/>
                    <a:p>
                      <a:r>
                        <a:rPr sz="1400" b="1">
                          <a:solidFill>
                            <a:srgbClr val="FFFFFF"/>
                          </a:solidFill>
                          <a:latin typeface="Calibri"/>
                        </a:rPr>
                        <a:t>Mos ish yuklama</a:t>
                      </a:r>
                    </a:p>
                  </a:txBody>
                  <a:tcPr>
                    <a:solidFill>
                      <a:srgbClr val="2D5C8F"/>
                    </a:solidFill>
                  </a:tcPr>
                </a:tc>
                <a:tc>
                  <a:txBody>
                    <a:bodyPr/>
                    <a:lstStyle/>
                    <a:p>
                      <a:r>
                        <a:rPr sz="1400" b="1">
                          <a:solidFill>
                            <a:srgbClr val="FFFFFF"/>
                          </a:solidFill>
                          <a:latin typeface="Calibri"/>
                        </a:rPr>
                        <a:t>Asosiy to'siq</a:t>
                      </a:r>
                    </a:p>
                  </a:txBody>
                  <a:tcPr>
                    <a:solidFill>
                      <a:srgbClr val="2D5C8F"/>
                    </a:solidFill>
                  </a:tcPr>
                </a:tc>
              </a:tr>
              <a:tr h="520000">
                <a:tc>
                  <a:txBody>
                    <a:bodyPr/>
                    <a:lstStyle/>
                    <a:p>
                      <a:r>
                        <a:rPr sz="1400" b="0">
                          <a:solidFill>
                            <a:srgbClr val="1B2430"/>
                          </a:solidFill>
                          <a:latin typeface="Calibri"/>
                        </a:rPr>
                        <a:t>GPU / TPU (raqamli, zich)</a:t>
                      </a:r>
                    </a:p>
                  </a:txBody>
                  <a:tcPr>
                    <a:solidFill>
                      <a:srgbClr val="F1F4F8"/>
                    </a:solidFill>
                  </a:tcPr>
                </a:tc>
                <a:tc>
                  <a:txBody>
                    <a:bodyPr/>
                    <a:lstStyle/>
                    <a:p>
                      <a:r>
                        <a:rPr sz="1400" b="0">
                          <a:solidFill>
                            <a:srgbClr val="1B2430"/>
                          </a:solidFill>
                          <a:latin typeface="Calibri"/>
                        </a:rPr>
                        <a:t>ekotizim, umumiylik</a:t>
                      </a:r>
                    </a:p>
                  </a:txBody>
                  <a:tcPr>
                    <a:solidFill>
                      <a:srgbClr val="F1F4F8"/>
                    </a:solidFill>
                  </a:tcPr>
                </a:tc>
                <a:tc>
                  <a:txBody>
                    <a:bodyPr/>
                    <a:lstStyle/>
                    <a:p>
                      <a:r>
                        <a:rPr sz="1400" b="0">
                          <a:solidFill>
                            <a:srgbClr val="1B2430"/>
                          </a:solidFill>
                          <a:latin typeface="Calibri"/>
                        </a:rPr>
                        <a:t>ishlab chiqarish</a:t>
                      </a:r>
                    </a:p>
                  </a:txBody>
                  <a:tcPr>
                    <a:solidFill>
                      <a:srgbClr val="F1F4F8"/>
                    </a:solidFill>
                  </a:tcPr>
                </a:tc>
                <a:tc>
                  <a:txBody>
                    <a:bodyPr/>
                    <a:lstStyle/>
                    <a:p>
                      <a:r>
                        <a:rPr sz="1400" b="0">
                          <a:solidFill>
                            <a:srgbClr val="1B2430"/>
                          </a:solidFill>
                          <a:latin typeface="Calibri"/>
                        </a:rPr>
                        <a:t>o'qitish, LLM inferens</a:t>
                      </a:r>
                    </a:p>
                  </a:txBody>
                  <a:tcPr>
                    <a:solidFill>
                      <a:srgbClr val="F1F4F8"/>
                    </a:solidFill>
                  </a:tcPr>
                </a:tc>
                <a:tc>
                  <a:txBody>
                    <a:bodyPr/>
                    <a:lstStyle/>
                    <a:p>
                      <a:r>
                        <a:rPr sz="1400" b="0">
                          <a:solidFill>
                            <a:srgbClr val="1B2430"/>
                          </a:solidFill>
                          <a:latin typeface="Calibri"/>
                        </a:rPr>
                        <a:t>energiya, xotira devori</a:t>
                      </a:r>
                    </a:p>
                  </a:txBody>
                  <a:tcPr>
                    <a:solidFill>
                      <a:srgbClr val="F1F4F8"/>
                    </a:solidFill>
                  </a:tcPr>
                </a:tc>
              </a:tr>
              <a:tr h="520000">
                <a:tc>
                  <a:txBody>
                    <a:bodyPr/>
                    <a:lstStyle/>
                    <a:p>
                      <a:r>
                        <a:rPr sz="1400" b="0">
                          <a:solidFill>
                            <a:srgbClr val="1B2430"/>
                          </a:solidFill>
                          <a:latin typeface="Calibri"/>
                        </a:rPr>
                        <a:t>Neyromorf</a:t>
                      </a:r>
                    </a:p>
                  </a:txBody>
                  <a:tcPr>
                    <a:solidFill>
                      <a:srgbClr val="FFFFFF"/>
                    </a:solidFill>
                  </a:tcPr>
                </a:tc>
                <a:tc>
                  <a:txBody>
                    <a:bodyPr/>
                    <a:lstStyle/>
                    <a:p>
                      <a:r>
                        <a:rPr sz="1400" b="0">
                          <a:solidFill>
                            <a:srgbClr val="1B2430"/>
                          </a:solidFill>
                          <a:latin typeface="Calibri"/>
                        </a:rPr>
                        <a:t>siyrak, hodisali, ultra-past quvvat</a:t>
                      </a:r>
                    </a:p>
                  </a:txBody>
                  <a:tcPr>
                    <a:solidFill>
                      <a:srgbClr val="FFFFFF"/>
                    </a:solidFill>
                  </a:tcPr>
                </a:tc>
                <a:tc>
                  <a:txBody>
                    <a:bodyPr/>
                    <a:lstStyle/>
                    <a:p>
                      <a:r>
                        <a:rPr sz="1400" b="0">
                          <a:solidFill>
                            <a:srgbClr val="1B2430"/>
                          </a:solidFill>
                          <a:latin typeface="Calibri"/>
                        </a:rPr>
                        <a:t>tadqiqot / erta mahsulot</a:t>
                      </a:r>
                    </a:p>
                  </a:txBody>
                  <a:tcPr>
                    <a:solidFill>
                      <a:srgbClr val="FFFFFF"/>
                    </a:solidFill>
                  </a:tcPr>
                </a:tc>
                <a:tc>
                  <a:txBody>
                    <a:bodyPr/>
                    <a:lstStyle/>
                    <a:p>
                      <a:r>
                        <a:rPr sz="1400" b="0">
                          <a:solidFill>
                            <a:srgbClr val="1B2430"/>
                          </a:solidFill>
                          <a:latin typeface="Calibri"/>
                        </a:rPr>
                        <a:t>chekka sensorlar, robototexnika</a:t>
                      </a:r>
                    </a:p>
                  </a:txBody>
                  <a:tcPr>
                    <a:solidFill>
                      <a:srgbClr val="FFFFFF"/>
                    </a:solidFill>
                  </a:tcPr>
                </a:tc>
                <a:tc>
                  <a:txBody>
                    <a:bodyPr/>
                    <a:lstStyle/>
                    <a:p>
                      <a:r>
                        <a:rPr sz="1400" b="0">
                          <a:solidFill>
                            <a:srgbClr val="1B2430"/>
                          </a:solidFill>
                          <a:latin typeface="Calibri"/>
                        </a:rPr>
                        <a:t>dasturlash, aniqlik</a:t>
                      </a:r>
                    </a:p>
                  </a:txBody>
                  <a:tcPr>
                    <a:solidFill>
                      <a:srgbClr val="FFFFFF"/>
                    </a:solidFill>
                  </a:tcPr>
                </a:tc>
              </a:tr>
              <a:tr h="520000">
                <a:tc>
                  <a:txBody>
                    <a:bodyPr/>
                    <a:lstStyle/>
                    <a:p>
                      <a:r>
                        <a:rPr sz="1400" b="0">
                          <a:solidFill>
                            <a:srgbClr val="1B2430"/>
                          </a:solidFill>
                          <a:latin typeface="Calibri"/>
                        </a:rPr>
                        <a:t>Kvant</a:t>
                      </a:r>
                    </a:p>
                  </a:txBody>
                  <a:tcPr>
                    <a:solidFill>
                      <a:srgbClr val="F1F4F8"/>
                    </a:solidFill>
                  </a:tcPr>
                </a:tc>
                <a:tc>
                  <a:txBody>
                    <a:bodyPr/>
                    <a:lstStyle/>
                    <a:p>
                      <a:r>
                        <a:rPr sz="1400" b="0">
                          <a:solidFill>
                            <a:srgbClr val="1B2430"/>
                          </a:solidFill>
                          <a:latin typeface="Calibri"/>
                        </a:rPr>
                        <a:t>eksponensial holat fazosi</a:t>
                      </a:r>
                    </a:p>
                  </a:txBody>
                  <a:tcPr>
                    <a:solidFill>
                      <a:srgbClr val="F1F4F8"/>
                    </a:solidFill>
                  </a:tcPr>
                </a:tc>
                <a:tc>
                  <a:txBody>
                    <a:bodyPr/>
                    <a:lstStyle/>
                    <a:p>
                      <a:r>
                        <a:rPr sz="1400" b="0">
                          <a:solidFill>
                            <a:srgbClr val="1B2430"/>
                          </a:solidFill>
                          <a:latin typeface="Calibri"/>
                        </a:rPr>
                        <a:t>NISQ, xato tuzatish boshlanmoqda</a:t>
                      </a:r>
                    </a:p>
                  </a:txBody>
                  <a:tcPr>
                    <a:solidFill>
                      <a:srgbClr val="F1F4F8"/>
                    </a:solidFill>
                  </a:tcPr>
                </a:tc>
                <a:tc>
                  <a:txBody>
                    <a:bodyPr/>
                    <a:lstStyle/>
                    <a:p>
                      <a:r>
                        <a:rPr sz="1400" b="0">
                          <a:solidFill>
                            <a:srgbClr val="1B2430"/>
                          </a:solidFill>
                          <a:latin typeface="Calibri"/>
                        </a:rPr>
                        <a:t>kimyo, optimallashtirish</a:t>
                      </a:r>
                    </a:p>
                  </a:txBody>
                  <a:tcPr>
                    <a:solidFill>
                      <a:srgbClr val="F1F4F8"/>
                    </a:solidFill>
                  </a:tcPr>
                </a:tc>
                <a:tc>
                  <a:txBody>
                    <a:bodyPr/>
                    <a:lstStyle/>
                    <a:p>
                      <a:r>
                        <a:rPr sz="1400" b="0">
                          <a:solidFill>
                            <a:srgbClr val="1B2430"/>
                          </a:solidFill>
                          <a:latin typeface="Calibri"/>
                        </a:rPr>
                        <a:t>shovqin, ma'lumot yuklash</a:t>
                      </a:r>
                    </a:p>
                  </a:txBody>
                  <a:tcPr>
                    <a:solidFill>
                      <a:srgbClr val="F1F4F8"/>
                    </a:solidFill>
                  </a:tcPr>
                </a:tc>
              </a:tr>
              <a:tr h="520000">
                <a:tc>
                  <a:txBody>
                    <a:bodyPr/>
                    <a:lstStyle/>
                    <a:p>
                      <a:r>
                        <a:rPr sz="1400" b="0">
                          <a:solidFill>
                            <a:srgbClr val="1B2430"/>
                          </a:solidFill>
                          <a:latin typeface="Calibri"/>
                        </a:rPr>
                        <a:t>Fotonik</a:t>
                      </a:r>
                    </a:p>
                  </a:txBody>
                  <a:tcPr>
                    <a:solidFill>
                      <a:srgbClr val="FFFFFF"/>
                    </a:solidFill>
                  </a:tcPr>
                </a:tc>
                <a:tc>
                  <a:txBody>
                    <a:bodyPr/>
                    <a:lstStyle/>
                    <a:p>
                      <a:r>
                        <a:rPr sz="1400" b="0">
                          <a:solidFill>
                            <a:srgbClr val="1B2430"/>
                          </a:solidFill>
                          <a:latin typeface="Calibri"/>
                        </a:rPr>
                        <a:t>tezlik, past issiqlik, interkonnekt</a:t>
                      </a:r>
                    </a:p>
                  </a:txBody>
                  <a:tcPr>
                    <a:solidFill>
                      <a:srgbClr val="FFFFFF"/>
                    </a:solidFill>
                  </a:tcPr>
                </a:tc>
                <a:tc>
                  <a:txBody>
                    <a:bodyPr/>
                    <a:lstStyle/>
                    <a:p>
                      <a:r>
                        <a:rPr sz="1400" b="0">
                          <a:solidFill>
                            <a:srgbClr val="1B2430"/>
                          </a:solidFill>
                          <a:latin typeface="Calibri"/>
                        </a:rPr>
                        <a:t>erta mahsulot</a:t>
                      </a:r>
                    </a:p>
                  </a:txBody>
                  <a:tcPr>
                    <a:solidFill>
                      <a:srgbClr val="FFFFFF"/>
                    </a:solidFill>
                  </a:tcPr>
                </a:tc>
                <a:tc>
                  <a:txBody>
                    <a:bodyPr/>
                    <a:lstStyle/>
                    <a:p>
                      <a:r>
                        <a:rPr sz="1400" b="0">
                          <a:solidFill>
                            <a:srgbClr val="1B2430"/>
                          </a:solidFill>
                          <a:latin typeface="Calibri"/>
                        </a:rPr>
                        <a:t>inferens, aloqa</a:t>
                      </a:r>
                    </a:p>
                  </a:txBody>
                  <a:tcPr>
                    <a:solidFill>
                      <a:srgbClr val="FFFFFF"/>
                    </a:solidFill>
                  </a:tcPr>
                </a:tc>
                <a:tc>
                  <a:txBody>
                    <a:bodyPr/>
                    <a:lstStyle/>
                    <a:p>
                      <a:r>
                        <a:rPr sz="1400" b="0">
                          <a:solidFill>
                            <a:srgbClr val="1B2430"/>
                          </a:solidFill>
                          <a:latin typeface="Calibri"/>
                        </a:rPr>
                        <a:t>analog aniqlik, nochiziqlik</a:t>
                      </a:r>
                    </a:p>
                  </a:txBody>
                  <a:tcPr>
                    <a:solidFill>
                      <a:srgbClr val="FFFFFF"/>
                    </a:solidFill>
                  </a:tcPr>
                </a:tc>
              </a:tr>
              <a:tr h="520000">
                <a:tc>
                  <a:txBody>
                    <a:bodyPr/>
                    <a:lstStyle/>
                    <a:p>
                      <a:r>
                        <a:rPr sz="1400" b="0">
                          <a:solidFill>
                            <a:srgbClr val="1B2430"/>
                          </a:solidFill>
                          <a:latin typeface="Calibri"/>
                        </a:rPr>
                        <a:t>Wafer-scale / dataflow</a:t>
                      </a:r>
                    </a:p>
                  </a:txBody>
                  <a:tcPr>
                    <a:solidFill>
                      <a:srgbClr val="F1F4F8"/>
                    </a:solidFill>
                  </a:tcPr>
                </a:tc>
                <a:tc>
                  <a:txBody>
                    <a:bodyPr/>
                    <a:lstStyle/>
                    <a:p>
                      <a:r>
                        <a:rPr sz="1400" b="0">
                          <a:solidFill>
                            <a:srgbClr val="1B2430"/>
                          </a:solidFill>
                          <a:latin typeface="Calibri"/>
                        </a:rPr>
                        <a:t>chipda xotira, determinizm</a:t>
                      </a:r>
                    </a:p>
                  </a:txBody>
                  <a:tcPr>
                    <a:solidFill>
                      <a:srgbClr val="F1F4F8"/>
                    </a:solidFill>
                  </a:tcPr>
                </a:tc>
                <a:tc>
                  <a:txBody>
                    <a:bodyPr/>
                    <a:lstStyle/>
                    <a:p>
                      <a:r>
                        <a:rPr sz="1400" b="0">
                          <a:solidFill>
                            <a:srgbClr val="1B2430"/>
                          </a:solidFill>
                          <a:latin typeface="Calibri"/>
                        </a:rPr>
                        <a:t>ishlab chiqarish (tor)</a:t>
                      </a:r>
                    </a:p>
                  </a:txBody>
                  <a:tcPr>
                    <a:solidFill>
                      <a:srgbClr val="F1F4F8"/>
                    </a:solidFill>
                  </a:tcPr>
                </a:tc>
                <a:tc>
                  <a:txBody>
                    <a:bodyPr/>
                    <a:lstStyle/>
                    <a:p>
                      <a:r>
                        <a:rPr sz="1400" b="0">
                          <a:solidFill>
                            <a:srgbClr val="1B2430"/>
                          </a:solidFill>
                          <a:latin typeface="Calibri"/>
                        </a:rPr>
                        <a:t>LLM inferens, ba'zi o'qitish</a:t>
                      </a:r>
                    </a:p>
                  </a:txBody>
                  <a:tcPr>
                    <a:solidFill>
                      <a:srgbClr val="F1F4F8"/>
                    </a:solidFill>
                  </a:tcPr>
                </a:tc>
                <a:tc>
                  <a:txBody>
                    <a:bodyPr/>
                    <a:lstStyle/>
                    <a:p>
                      <a:r>
                        <a:rPr sz="1400" b="0">
                          <a:solidFill>
                            <a:srgbClr val="1B2430"/>
                          </a:solidFill>
                          <a:latin typeface="Calibri"/>
                        </a:rPr>
                        <a:t>narx, moslashuvchanlik</a:t>
                      </a:r>
                    </a:p>
                  </a:txBody>
                  <a:tcPr>
                    <a:solidFill>
                      <a:srgbClr val="F1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Amaliy qism ikki bo'limdan iborat: (1) snnTorch bilan spaykli tarmoqni o'qitish va uning energiya sarfini an'anaviy tarmoq bilan hisobiy taqqoslash; (2) Qiskit bilan oddiy variatsion kvant klassifikatorini simulyatsiyada ishga tushirish. Muhit: Python 3.10+,…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Ma'lumot va an'anaviy bazaviy tarmoq</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784-256-10 arxitekturali oddiy tarmoq 3 epoxada taxminan 97,5–98 % aniqlikka erishadi (taxminiy). Bu bizning «energiya etaloni»miz: har bir rasm uchun tarmoq 784×256 + 256×10 = 203 264 ko'paytirish-qo'shish (MAC) amalini bajaradi, va bu…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Ma'lumot va an'anaviy bazaviy tarmoq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import torch, torch.nn as nn, torch.nn.functional as F</a:t>
            </a:r>
          </a:p>
          <a:p>
            <a:r>
              <a:rPr sz="1200">
                <a:solidFill>
                  <a:srgbClr val="E2E8F0"/>
                </a:solidFill>
                <a:latin typeface="Consolas"/>
              </a:rPr>
              <a:t>from torchvision import datasets, transforms</a:t>
            </a:r>
          </a:p>
          <a:p>
            <a:r>
              <a:rPr sz="1200">
                <a:solidFill>
                  <a:srgbClr val="E2E8F0"/>
                </a:solidFill>
                <a:latin typeface="Consolas"/>
              </a:rPr>
              <a:t> </a:t>
            </a:r>
          </a:p>
          <a:p>
            <a:r>
              <a:rPr sz="1200">
                <a:solidFill>
                  <a:srgbClr val="E2E8F0"/>
                </a:solidFill>
                <a:latin typeface="Consolas"/>
              </a:rPr>
              <a:t>tf = transforms.Compose([transforms.ToTensor()])</a:t>
            </a:r>
          </a:p>
          <a:p>
            <a:r>
              <a:rPr sz="1200">
                <a:solidFill>
                  <a:srgbClr val="E2E8F0"/>
                </a:solidFill>
                <a:latin typeface="Consolas"/>
              </a:rPr>
              <a:t>train_ds = datasets.MNIST("./data", train=True, download=True, transform=tf)</a:t>
            </a:r>
          </a:p>
          <a:p>
            <a:r>
              <a:rPr sz="1200">
                <a:solidFill>
                  <a:srgbClr val="E2E8F0"/>
                </a:solidFill>
                <a:latin typeface="Consolas"/>
              </a:rPr>
              <a:t>test_ds = datasets.MNIST("./data", train=False, download=True, transform=tf)</a:t>
            </a:r>
          </a:p>
          <a:p>
            <a:r>
              <a:rPr sz="1200">
                <a:solidFill>
                  <a:srgbClr val="E2E8F0"/>
                </a:solidFill>
                <a:latin typeface="Consolas"/>
              </a:rPr>
              <a:t>train_dl = torch.utils.data.DataLoader(train_ds, batch_size=128, shuffle=True)</a:t>
            </a:r>
          </a:p>
          <a:p>
            <a:r>
              <a:rPr sz="1200">
                <a:solidFill>
                  <a:srgbClr val="E2E8F0"/>
                </a:solidFill>
                <a:latin typeface="Consolas"/>
              </a:rPr>
              <a:t>test_dl = torch.utils.data.DataLoader(test_ds, batch_size=1000)</a:t>
            </a:r>
          </a:p>
          <a:p>
            <a:r>
              <a:rPr sz="1200">
                <a:solidFill>
                  <a:srgbClr val="E2E8F0"/>
                </a:solidFill>
                <a:latin typeface="Consolas"/>
              </a:rPr>
              <a:t>dev = "cuda" if torch.cuda.is_available() else "cpu"</a:t>
            </a:r>
          </a:p>
          <a:p>
            <a:r>
              <a:rPr sz="1200">
                <a:solidFill>
                  <a:srgbClr val="E2E8F0"/>
                </a:solidFill>
                <a:latin typeface="Consolas"/>
              </a:rPr>
              <a:t> </a:t>
            </a:r>
          </a:p>
          <a:p>
            <a:r>
              <a:rPr sz="1200">
                <a:solidFill>
                  <a:srgbClr val="E2E8F0"/>
                </a:solidFill>
                <a:latin typeface="Consolas"/>
              </a:rPr>
              <a:t>class ANN(nn.Module):</a:t>
            </a:r>
          </a:p>
          <a:p>
            <a:r>
              <a:rPr sz="1200">
                <a:solidFill>
                  <a:srgbClr val="E2E8F0"/>
                </a:solidFill>
                <a:latin typeface="Consolas"/>
              </a:rPr>
              <a:t>    def __init__(self):</a:t>
            </a:r>
          </a:p>
          <a:p>
            <a:r>
              <a:rPr sz="1200">
                <a:solidFill>
                  <a:srgbClr val="E2E8F0"/>
                </a:solidFill>
                <a:latin typeface="Consolas"/>
              </a:rPr>
              <a:t>        super().__init__()</a:t>
            </a:r>
          </a:p>
          <a:p>
            <a:r>
              <a:rPr sz="1200">
                <a:solidFill>
                  <a:srgbClr val="E2E8F0"/>
                </a:solidFill>
                <a:latin typeface="Consolas"/>
              </a:rPr>
              <a:t>        self.fc1, self.fc2 = nn.Linear(784, 256), nn.Linear(256, 10)</a:t>
            </a:r>
          </a:p>
          <a:p>
            <a:r>
              <a:rPr sz="1200">
                <a:solidFill>
                  <a:srgbClr val="E2E8F0"/>
                </a:solidFill>
                <a:latin typeface="Consolas"/>
              </a:rPr>
              <a:t>    def forward(self, x):</a:t>
            </a:r>
          </a:p>
          <a:p>
            <a:r>
              <a:rPr sz="1200">
                <a:solidFill>
                  <a:srgbClr val="E2E8F0"/>
                </a:solidFill>
                <a:latin typeface="Consolas"/>
              </a:rPr>
              <a:t>        return self.fc2(F.relu(self.fc1(x.flatten(1))))</a:t>
            </a:r>
          </a:p>
          <a:p>
            <a:r>
              <a:rPr sz="1200">
                <a:solidFill>
                  <a:srgbClr val="E2E8F0"/>
                </a:solidFill>
                <a:latin typeface="Consolas"/>
              </a:rPr>
              <a:t> </a:t>
            </a:r>
          </a:p>
          <a:p>
            <a:r>
              <a:rPr sz="1200">
                <a:solidFill>
                  <a:srgbClr val="E2E8F0"/>
                </a:solidFill>
                <a:latin typeface="Consolas"/>
              </a:rPr>
              <a:t>ann = ANN().to(dev); opt = torch.optim.Adam(ann.parameters(), 1e-3)</a:t>
            </a:r>
          </a:p>
          <a:p>
            <a:r>
              <a:rPr sz="1200">
                <a:solidFill>
                  <a:srgbClr val="E2E8F0"/>
                </a:solidFill>
                <a:latin typeface="Consolas"/>
              </a:rPr>
              <a:t>for epoch in range(3):</a:t>
            </a:r>
          </a:p>
          <a:p>
            <a:r>
              <a:rPr sz="1200">
                <a:solidFill>
                  <a:srgbClr val="E2E8F0"/>
                </a:solidFill>
                <a:latin typeface="Consolas"/>
              </a:rPr>
              <a:t>    for x, y in train_dl:</a:t>
            </a:r>
          </a:p>
          <a:p>
            <a:r>
              <a:rPr sz="1200">
                <a:solidFill>
                  <a:srgbClr val="7FD6D7"/>
                </a:solidFill>
                <a:latin typeface="Consolas"/>
              </a:rPr>
              <a:t># … (to‘liq kod — mavzu matnida / GitHub’da)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snnTorch bilan spaykli tarmoq</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tarmoq 25 vaqt qadamida ishlaydi, har qadamda LIF neyronlar membrana potensialini yig'adi va chegaradan oshganda spayk chiqaradi. surrogate.atan() teskari o'tishda differensiallanmaydigan chegara funksiyasini silliq yaqinlashish bilan…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snnTorch bilan spaykli tarmoq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import snntorch as snn</a:t>
            </a:r>
          </a:p>
          <a:p>
            <a:r>
              <a:rPr sz="1200">
                <a:solidFill>
                  <a:srgbClr val="E2E8F0"/>
                </a:solidFill>
                <a:latin typeface="Consolas"/>
              </a:rPr>
              <a:t>from snntorch import surrogate, functional as SF, utils</a:t>
            </a:r>
          </a:p>
          <a:p>
            <a:r>
              <a:rPr sz="1200">
                <a:solidFill>
                  <a:srgbClr val="E2E8F0"/>
                </a:solidFill>
                <a:latin typeface="Consolas"/>
              </a:rPr>
              <a:t> </a:t>
            </a:r>
          </a:p>
          <a:p>
            <a:r>
              <a:rPr sz="1200">
                <a:solidFill>
                  <a:srgbClr val="E2E8F0"/>
                </a:solidFill>
                <a:latin typeface="Consolas"/>
              </a:rPr>
              <a:t>T = 25                      # vaqt qadamlari soni</a:t>
            </a:r>
          </a:p>
          <a:p>
            <a:r>
              <a:rPr sz="1200">
                <a:solidFill>
                  <a:srgbClr val="E2E8F0"/>
                </a:solidFill>
                <a:latin typeface="Consolas"/>
              </a:rPr>
              <a:t>beta = 0.9                  # membrana oqish koeffitsienti</a:t>
            </a:r>
          </a:p>
          <a:p>
            <a:r>
              <a:rPr sz="1200">
                <a:solidFill>
                  <a:srgbClr val="E2E8F0"/>
                </a:solidFill>
                <a:latin typeface="Consolas"/>
              </a:rPr>
              <a:t>spike_grad = surrogate.atan()</a:t>
            </a:r>
          </a:p>
          <a:p>
            <a:r>
              <a:rPr sz="1200">
                <a:solidFill>
                  <a:srgbClr val="E2E8F0"/>
                </a:solidFill>
                <a:latin typeface="Consolas"/>
              </a:rPr>
              <a:t> </a:t>
            </a:r>
          </a:p>
          <a:p>
            <a:r>
              <a:rPr sz="1200">
                <a:solidFill>
                  <a:srgbClr val="E2E8F0"/>
                </a:solidFill>
                <a:latin typeface="Consolas"/>
              </a:rPr>
              <a:t>class SNN(nn.Module):</a:t>
            </a:r>
          </a:p>
          <a:p>
            <a:r>
              <a:rPr sz="1200">
                <a:solidFill>
                  <a:srgbClr val="E2E8F0"/>
                </a:solidFill>
                <a:latin typeface="Consolas"/>
              </a:rPr>
              <a:t>    def __init__(self):</a:t>
            </a:r>
          </a:p>
          <a:p>
            <a:r>
              <a:rPr sz="1200">
                <a:solidFill>
                  <a:srgbClr val="E2E8F0"/>
                </a:solidFill>
                <a:latin typeface="Consolas"/>
              </a:rPr>
              <a:t>        super().__init__()</a:t>
            </a:r>
          </a:p>
          <a:p>
            <a:r>
              <a:rPr sz="1200">
                <a:solidFill>
                  <a:srgbClr val="E2E8F0"/>
                </a:solidFill>
                <a:latin typeface="Consolas"/>
              </a:rPr>
              <a:t>        self.fc1 = nn.Linear(784, 256)</a:t>
            </a:r>
          </a:p>
          <a:p>
            <a:r>
              <a:rPr sz="1200">
                <a:solidFill>
                  <a:srgbClr val="E2E8F0"/>
                </a:solidFill>
                <a:latin typeface="Consolas"/>
              </a:rPr>
              <a:t>        self.lif1 = snn.Leaky(beta=beta, spike_grad=spike_grad)</a:t>
            </a:r>
          </a:p>
          <a:p>
            <a:r>
              <a:rPr sz="1200">
                <a:solidFill>
                  <a:srgbClr val="E2E8F0"/>
                </a:solidFill>
                <a:latin typeface="Consolas"/>
              </a:rPr>
              <a:t>        self.fc2 = nn.Linear(256, 10)</a:t>
            </a:r>
          </a:p>
          <a:p>
            <a:r>
              <a:rPr sz="1200">
                <a:solidFill>
                  <a:srgbClr val="E2E8F0"/>
                </a:solidFill>
                <a:latin typeface="Consolas"/>
              </a:rPr>
              <a:t>        self.lif2 = snn.Leaky(beta=beta, spike_grad=spike_grad)</a:t>
            </a:r>
          </a:p>
          <a:p>
            <a:r>
              <a:rPr sz="1200">
                <a:solidFill>
                  <a:srgbClr val="E2E8F0"/>
                </a:solidFill>
                <a:latin typeface="Consolas"/>
              </a:rPr>
              <a:t>    def forward(self, x):</a:t>
            </a:r>
          </a:p>
          <a:p>
            <a:r>
              <a:rPr sz="1200">
                <a:solidFill>
                  <a:srgbClr val="E2E8F0"/>
                </a:solidFill>
                <a:latin typeface="Consolas"/>
              </a:rPr>
              <a:t>        mem1, mem2 = self.lif1.init_leaky(), self.lif2.init_leaky()</a:t>
            </a:r>
          </a:p>
          <a:p>
            <a:r>
              <a:rPr sz="1200">
                <a:solidFill>
                  <a:srgbClr val="E2E8F0"/>
                </a:solidFill>
                <a:latin typeface="Consolas"/>
              </a:rPr>
              <a:t>        spk1_rec, spk2_rec = [], []</a:t>
            </a:r>
          </a:p>
          <a:p>
            <a:r>
              <a:rPr sz="1200">
                <a:solidFill>
                  <a:srgbClr val="E2E8F0"/>
                </a:solidFill>
                <a:latin typeface="Consolas"/>
              </a:rPr>
              <a:t>        for t in range(T):</a:t>
            </a:r>
          </a:p>
          <a:p>
            <a:r>
              <a:rPr sz="1200">
                <a:solidFill>
                  <a:srgbClr val="7FD6D7"/>
                </a:solidFill>
                <a:latin typeface="Consolas"/>
              </a:rPr>
              <a:t>            # to'g'ridan-to'g'ri kodlash: bir xil analog kirish har qadamda beriladi</a:t>
            </a:r>
          </a:p>
          <a:p>
            <a:r>
              <a:rPr sz="1200">
                <a:solidFill>
                  <a:srgbClr val="E2E8F0"/>
                </a:solidFill>
                <a:latin typeface="Consolas"/>
              </a:rPr>
              <a:t>            cur1 = self.fc1(x.flatten(1))</a:t>
            </a:r>
          </a:p>
          <a:p>
            <a:r>
              <a:rPr sz="1200">
                <a:solidFill>
                  <a:srgbClr val="7FD6D7"/>
                </a:solidFill>
                <a:latin typeface="Consolas"/>
              </a:rPr>
              <a:t># … (to‘liq kod — mavzu matnida / GitHub’da)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Energiya samaradorligini hisoblash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Endi ikki tarmoqning inferens energiyasini Horowitz (2014) ning 45 nm texnologiya uchun o'lchovlari asosida baholaymiz: 32-bitli suzuvchi nuqtali MAC taxminan 4,6 pJ (ko'paytirish 3,7 + qo'shish 0,9); spaykli tarmoqda sinaptik amal faqat qo'shish…</a:t>
            </a:r>
          </a:p>
          <a:p>
            <a:pPr>
              <a:spcAft>
                <a:spcPts val="900"/>
              </a:spcAft>
            </a:pPr>
            <a:r>
              <a:rPr sz="2000" b="1">
                <a:solidFill>
                  <a:srgbClr val="0F8B8D"/>
                </a:solidFill>
              </a:rPr>
              <a:t>▪  </a:t>
            </a:r>
            <a:r>
              <a:rPr sz="2000">
                <a:solidFill>
                  <a:srgbClr val="1B2430"/>
                </a:solidFill>
                <a:latin typeface="Calibri"/>
              </a:rPr>
              <a:t>Nima bo'ldi va nega: hisob uch muhim haqiqatni ochadi. Birinchidan, ANN uchun taxminan 935 nJ/rasm olinadi.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Energiya samaradorligini hisoblash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E_MAC, E_AC = 4.6e-12, 0.9e-12         # J, Horowitz 2014, 45 nm (taxminiy)</a:t>
            </a:r>
          </a:p>
          <a:p>
            <a:r>
              <a:rPr sz="1000">
                <a:solidFill>
                  <a:srgbClr val="E2E8F0"/>
                </a:solidFill>
                <a:latin typeface="Consolas"/>
              </a:rPr>
              <a:t>macs_ann = 784*256 + 256*10</a:t>
            </a:r>
          </a:p>
          <a:p>
            <a:r>
              <a:rPr sz="1000">
                <a:solidFill>
                  <a:srgbClr val="E2E8F0"/>
                </a:solidFill>
                <a:latin typeface="Consolas"/>
              </a:rPr>
              <a:t>E_ann = macs_ann * E_MAC</a:t>
            </a:r>
          </a:p>
          <a:p>
            <a:r>
              <a:rPr sz="1000">
                <a:solidFill>
                  <a:srgbClr val="E2E8F0"/>
                </a:solidFill>
                <a:latin typeface="Consolas"/>
              </a:rPr>
              <a:t> </a:t>
            </a:r>
          </a:p>
          <a:p>
            <a:r>
              <a:rPr sz="1000">
                <a:solidFill>
                  <a:srgbClr val="7FD6D7"/>
                </a:solidFill>
                <a:latin typeface="Consolas"/>
              </a:rPr>
              <a:t># SNN: 1-qatlam kirishi analog (to'g'ridan-to'g'ri kodlash) -&gt; har qadamda MAC;</a:t>
            </a:r>
          </a:p>
          <a:p>
            <a:r>
              <a:rPr sz="1000">
                <a:solidFill>
                  <a:srgbClr val="7FD6D7"/>
                </a:solidFill>
                <a:latin typeface="Consolas"/>
              </a:rPr>
              <a:t># 2-qatlam kirishi spayk -&gt; faqat spayk kelganda AC</a:t>
            </a:r>
          </a:p>
          <a:p>
            <a:r>
              <a:rPr sz="1000">
                <a:solidFill>
                  <a:srgbClr val="E2E8F0"/>
                </a:solidFill>
                <a:latin typeface="Consolas"/>
              </a:rPr>
              <a:t>syn1_per_step = 784*256</a:t>
            </a:r>
          </a:p>
          <a:p>
            <a:r>
              <a:rPr sz="1000">
                <a:solidFill>
                  <a:srgbClr val="E2E8F0"/>
                </a:solidFill>
                <a:latin typeface="Consolas"/>
              </a:rPr>
              <a:t>syn2_per_step = 256*10</a:t>
            </a:r>
          </a:p>
          <a:p>
            <a:r>
              <a:rPr sz="1000">
                <a:solidFill>
                  <a:srgbClr val="E2E8F0"/>
                </a:solidFill>
                <a:latin typeface="Consolas"/>
              </a:rPr>
              <a:t>E_snn_layer1 = T * syn1_per_step * E_MAC                 # eng yomon holat (analog kirish)</a:t>
            </a:r>
          </a:p>
          <a:p>
            <a:r>
              <a:rPr sz="1000">
                <a:solidFill>
                  <a:srgbClr val="E2E8F0"/>
                </a:solidFill>
                <a:latin typeface="Consolas"/>
              </a:rPr>
              <a:t>E_snn_layer2 = T * syn2_per_step * rate1 * E_AC</a:t>
            </a:r>
          </a:p>
          <a:p>
            <a:r>
              <a:rPr sz="1000">
                <a:solidFill>
                  <a:srgbClr val="E2E8F0"/>
                </a:solidFill>
                <a:latin typeface="Consolas"/>
              </a:rPr>
              <a:t>E_snn = E_snn_layer1 + E_snn_layer2</a:t>
            </a:r>
          </a:p>
          <a:p>
            <a:r>
              <a:rPr sz="1000">
                <a:solidFill>
                  <a:srgbClr val="E2E8F0"/>
                </a:solidFill>
                <a:latin typeface="Consolas"/>
              </a:rPr>
              <a:t>print(f"ANN: {E_ann*1e9:.1f} nJ/rasm | SNN (to'g'ridan-to'g'ri kodlash): {E_snn*1e9:.1f} nJ/rasm")</a:t>
            </a:r>
          </a:p>
          <a:p>
            <a:r>
              <a:rPr sz="1000">
                <a:solidFill>
                  <a:srgbClr val="E2E8F0"/>
                </a:solidFill>
                <a:latin typeface="Consolas"/>
              </a:rPr>
              <a:t> </a:t>
            </a:r>
          </a:p>
          <a:p>
            <a:r>
              <a:rPr sz="1000">
                <a:solidFill>
                  <a:srgbClr val="7FD6D7"/>
                </a:solidFill>
                <a:latin typeface="Consolas"/>
              </a:rPr>
              <a:t># Variant: kirish ham spayk ko'rinishida (Poisson/rate kodlash, piksel intensivligi ~0.13 o'rtacha)</a:t>
            </a:r>
          </a:p>
          <a:p>
            <a:r>
              <a:rPr sz="1000">
                <a:solidFill>
                  <a:srgbClr val="E2E8F0"/>
                </a:solidFill>
                <a:latin typeface="Consolas"/>
              </a:rPr>
              <a:t>in_rate = 0.13</a:t>
            </a:r>
          </a:p>
          <a:p>
            <a:r>
              <a:rPr sz="1000">
                <a:solidFill>
                  <a:srgbClr val="E2E8F0"/>
                </a:solidFill>
                <a:latin typeface="Consolas"/>
              </a:rPr>
              <a:t>E_snn_spk_in = T * syn1_per_step * in_rate * E_AC + E_snn_layer2</a:t>
            </a:r>
          </a:p>
          <a:p>
            <a:r>
              <a:rPr sz="1000">
                <a:solidFill>
                  <a:srgbClr val="E2E8F0"/>
                </a:solidFill>
                <a:latin typeface="Consolas"/>
              </a:rPr>
              <a:t>print(f"SNN (spaykli kirish): {E_snn_spk_in*1e9:.1f} nJ/rasm, "</a:t>
            </a:r>
          </a:p>
          <a:p>
            <a:r>
              <a:rPr sz="1000">
                <a:solidFill>
                  <a:srgbClr val="E2E8F0"/>
                </a:solidFill>
                <a:latin typeface="Consolas"/>
              </a:rPr>
              <a:t>      f"nisbat ANN/SNN = {E_ann/E_snn_spk_in:.1f}x")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Qiskit bilan variatsion kvant klassifikatori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Endi kvant SI ning minimal ish misolini ko'ramiz: 2 belgi, 2 kubit, simulyatorda. Maqsad — QML halqasining tuzilishini tushunish, tezlashuv emas.</a:t>
            </a:r>
          </a:p>
          <a:p>
            <a:pPr>
              <a:spcAft>
                <a:spcPts val="900"/>
              </a:spcAft>
            </a:pPr>
            <a:r>
              <a:rPr sz="2000" b="1">
                <a:solidFill>
                  <a:srgbClr val="0F8B8D"/>
                </a:solidFill>
              </a:rPr>
              <a:t>▪  </a:t>
            </a:r>
            <a:r>
              <a:rPr sz="2000">
                <a:solidFill>
                  <a:srgbClr val="1B2430"/>
                </a:solidFill>
                <a:latin typeface="Calibri"/>
              </a:rPr>
              <a:t>Nima bo'ldi va nega: ZZFeatureMap ikki belgini kubitlarning burilish burchaklari va ular orasidagi chalkashtiruvchi ZZ-o'zaro ta'sir orqali kodlaydi; RealAmplitudes — Ry burilishlar va CNOT eshiklaridan iborat 8 parametrli ansatz; COBYLA gradientsiz…</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Qiskit bilan variatsion kvant klassifikatori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import numpy as np</a:t>
            </a:r>
          </a:p>
          <a:p>
            <a:r>
              <a:rPr sz="1200">
                <a:solidFill>
                  <a:srgbClr val="E2E8F0"/>
                </a:solidFill>
                <a:latin typeface="Consolas"/>
              </a:rPr>
              <a:t>from sklearn.datasets import make_moons</a:t>
            </a:r>
          </a:p>
          <a:p>
            <a:r>
              <a:rPr sz="1200">
                <a:solidFill>
                  <a:srgbClr val="E2E8F0"/>
                </a:solidFill>
                <a:latin typeface="Consolas"/>
              </a:rPr>
              <a:t>from sklearn.preprocessing import MinMaxScaler</a:t>
            </a:r>
          </a:p>
          <a:p>
            <a:r>
              <a:rPr sz="1200">
                <a:solidFill>
                  <a:srgbClr val="E2E8F0"/>
                </a:solidFill>
                <a:latin typeface="Consolas"/>
              </a:rPr>
              <a:t>from sklearn.model_selection import train_test_split</a:t>
            </a:r>
          </a:p>
          <a:p>
            <a:r>
              <a:rPr sz="1200">
                <a:solidFill>
                  <a:srgbClr val="E2E8F0"/>
                </a:solidFill>
                <a:latin typeface="Consolas"/>
              </a:rPr>
              <a:t>from qiskit.circuit.library import ZZFeatureMap, RealAmplitudes</a:t>
            </a:r>
          </a:p>
          <a:p>
            <a:r>
              <a:rPr sz="1200">
                <a:solidFill>
                  <a:srgbClr val="E2E8F0"/>
                </a:solidFill>
                <a:latin typeface="Consolas"/>
              </a:rPr>
              <a:t>from qiskit.primitives import StatevectorSampler</a:t>
            </a:r>
          </a:p>
          <a:p>
            <a:r>
              <a:rPr sz="1200">
                <a:solidFill>
                  <a:srgbClr val="E2E8F0"/>
                </a:solidFill>
                <a:latin typeface="Consolas"/>
              </a:rPr>
              <a:t>from qiskit_machine_learning.algorithms import VQC</a:t>
            </a:r>
          </a:p>
          <a:p>
            <a:r>
              <a:rPr sz="1200">
                <a:solidFill>
                  <a:srgbClr val="E2E8F0"/>
                </a:solidFill>
                <a:latin typeface="Consolas"/>
              </a:rPr>
              <a:t>from qiskit_machine_learning.optimizers import COBYLA</a:t>
            </a:r>
          </a:p>
          <a:p>
            <a:r>
              <a:rPr sz="1200">
                <a:solidFill>
                  <a:srgbClr val="E2E8F0"/>
                </a:solidFill>
                <a:latin typeface="Consolas"/>
              </a:rPr>
              <a:t> </a:t>
            </a:r>
          </a:p>
          <a:p>
            <a:r>
              <a:rPr sz="1200">
                <a:solidFill>
                  <a:srgbClr val="E2E8F0"/>
                </a:solidFill>
                <a:latin typeface="Consolas"/>
              </a:rPr>
              <a:t>X, y = make_moons(n_samples=200, noise=0.15, random_state=0)</a:t>
            </a:r>
          </a:p>
          <a:p>
            <a:r>
              <a:rPr sz="1200">
                <a:solidFill>
                  <a:srgbClr val="E2E8F0"/>
                </a:solidFill>
                <a:latin typeface="Consolas"/>
              </a:rPr>
              <a:t>X = MinMaxScaler((0, np.pi)).fit_transform(X)          # burchak kodlash uchun [0, pi]</a:t>
            </a:r>
          </a:p>
          <a:p>
            <a:r>
              <a:rPr sz="1200">
                <a:solidFill>
                  <a:srgbClr val="E2E8F0"/>
                </a:solidFill>
                <a:latin typeface="Consolas"/>
              </a:rPr>
              <a:t>Xtr, Xte, ytr, yte = train_test_split(X, y, test_size=0.3, random_state=0)</a:t>
            </a:r>
          </a:p>
          <a:p>
            <a:r>
              <a:rPr sz="1200">
                <a:solidFill>
                  <a:srgbClr val="E2E8F0"/>
                </a:solidFill>
                <a:latin typeface="Consolas"/>
              </a:rPr>
              <a:t> </a:t>
            </a:r>
          </a:p>
          <a:p>
            <a:r>
              <a:rPr sz="1200">
                <a:solidFill>
                  <a:srgbClr val="E2E8F0"/>
                </a:solidFill>
                <a:latin typeface="Consolas"/>
              </a:rPr>
              <a:t>feature_map = ZZFeatureMap(feature_dimension=2, reps=2)   # ma'lumotni kodlash</a:t>
            </a:r>
          </a:p>
          <a:p>
            <a:r>
              <a:rPr sz="1200">
                <a:solidFill>
                  <a:srgbClr val="E2E8F0"/>
                </a:solidFill>
                <a:latin typeface="Consolas"/>
              </a:rPr>
              <a:t>ansatz = RealAmplitudes(num_qubits=2, reps=3)             # 8 ta sozlanadigan parametr</a:t>
            </a:r>
          </a:p>
          <a:p>
            <a:r>
              <a:rPr sz="1200">
                <a:solidFill>
                  <a:srgbClr val="E2E8F0"/>
                </a:solidFill>
                <a:latin typeface="Consolas"/>
              </a:rPr>
              <a:t>print("Sxema chuqurligi:", (feature_map.compose(ansatz)).decompose().depth())</a:t>
            </a:r>
          </a:p>
          <a:p>
            <a:r>
              <a:rPr sz="1200">
                <a:solidFill>
                  <a:srgbClr val="E2E8F0"/>
                </a:solidFill>
                <a:latin typeface="Consolas"/>
              </a:rPr>
              <a:t> </a:t>
            </a:r>
          </a:p>
          <a:p>
            <a:r>
              <a:rPr sz="1200">
                <a:solidFill>
                  <a:srgbClr val="E2E8F0"/>
                </a:solidFill>
                <a:latin typeface="Consolas"/>
              </a:rPr>
              <a:t>vqc = VQC(feature_map=feature_map, ansatz=ansatz,</a:t>
            </a:r>
          </a:p>
          <a:p>
            <a:r>
              <a:rPr sz="1200">
                <a:solidFill>
                  <a:srgbClr val="E2E8F0"/>
                </a:solidFill>
                <a:latin typeface="Consolas"/>
              </a:rPr>
              <a:t>          optimizer=COBYLA(maxiter=150), sampler=StatevectorSampler())</a:t>
            </a:r>
          </a:p>
          <a:p>
            <a:r>
              <a:rPr sz="1200">
                <a:solidFill>
                  <a:srgbClr val="E2E8F0"/>
                </a:solidFill>
                <a:latin typeface="Consolas"/>
              </a:rPr>
              <a:t>vqc.fit(Xtr, ytr)</a:t>
            </a:r>
          </a:p>
          <a:p>
            <a:r>
              <a:rPr sz="1200">
                <a:solidFill>
                  <a:srgbClr val="7FD6D7"/>
                </a:solidFill>
                <a:latin typeface="Consolas"/>
              </a:rPr>
              <a:t># … (to‘liq kod — mavzu matnida / GitHub’da)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Uglerod izini o'lchash — Green AI amaliyoti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Yakunda o'qitish jarayonining energiya va uglerod izini o'lchash vositasini qo'shamiz — bu Green AI hisobotining minimal talabi.</a:t>
            </a:r>
          </a:p>
          <a:p>
            <a:pPr>
              <a:spcAft>
                <a:spcPts val="900"/>
              </a:spcAft>
            </a:pPr>
            <a:r>
              <a:rPr sz="2000" b="1">
                <a:solidFill>
                  <a:srgbClr val="0F8B8D"/>
                </a:solidFill>
              </a:rPr>
              <a:t>▪  </a:t>
            </a:r>
            <a:r>
              <a:rPr sz="2000">
                <a:solidFill>
                  <a:srgbClr val="1B2430"/>
                </a:solidFill>
                <a:latin typeface="Calibri"/>
              </a:rPr>
              <a:t>Nima bo'ldi va nega: CodeCarbon CPU/GPU quvvatini (RAPL, nvidia-smi) o'qib, tanlangan mamlakatning o'rtacha uglerod intensivligi bilan ko'paytiradi. 3 epoxali SNN o'qitish oddiy noutbuk CPU da taxminan 15–25 Vt·soat, ya'ni O'zbekiston tarmog'ida 7–12 g CO₂e…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Uglerod izini o'lchash — Green AI amaliyoti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from codecarbon import EmissionsTracker</a:t>
            </a:r>
          </a:p>
          <a:p>
            <a:r>
              <a:rPr sz="1000">
                <a:solidFill>
                  <a:srgbClr val="E2E8F0"/>
                </a:solidFill>
                <a:latin typeface="Consolas"/>
              </a:rPr>
              <a:t>tracker = EmissionsTracker(project_name="ktm_m15_snn", country_iso_code="UZB", log_level="error")</a:t>
            </a:r>
          </a:p>
          <a:p>
            <a:r>
              <a:rPr sz="1000">
                <a:solidFill>
                  <a:srgbClr val="E2E8F0"/>
                </a:solidFill>
                <a:latin typeface="Consolas"/>
              </a:rPr>
              <a:t>tracker.start()</a:t>
            </a:r>
          </a:p>
          <a:p>
            <a:r>
              <a:rPr sz="1000">
                <a:solidFill>
                  <a:srgbClr val="7FD6D7"/>
                </a:solidFill>
                <a:latin typeface="Consolas"/>
              </a:rPr>
              <a:t># ... bu yerda SNN o'qitish halqasi (2-qadam) ...</a:t>
            </a:r>
          </a:p>
          <a:p>
            <a:r>
              <a:rPr sz="1000">
                <a:solidFill>
                  <a:srgbClr val="E2E8F0"/>
                </a:solidFill>
                <a:latin typeface="Consolas"/>
              </a:rPr>
              <a:t>emissions_kg = tracker.stop()</a:t>
            </a:r>
          </a:p>
          <a:p>
            <a:r>
              <a:rPr sz="1000">
                <a:solidFill>
                  <a:srgbClr val="E2E8F0"/>
                </a:solidFill>
                <a:latin typeface="Consolas"/>
              </a:rPr>
              <a:t>print(f"CO2e: {emissions_kg*1000:.1f} g; energiya: {tracker.final_emissions_data.energy_consumed*1000:.1f} Wh")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Amaliy natijalar paradigmalar haqidagi nazariy da'volarni aniqlashtiradi.</a:t>
            </a:r>
          </a:p>
          <a:p>
            <a:pPr>
              <a:spcAft>
                <a:spcPts val="900"/>
              </a:spcAft>
            </a:pPr>
            <a:r>
              <a:rPr sz="1600" b="1">
                <a:solidFill>
                  <a:srgbClr val="0F8B8D"/>
                </a:solidFill>
              </a:rPr>
              <a:t>▪  </a:t>
            </a:r>
            <a:r>
              <a:rPr sz="1600">
                <a:solidFill>
                  <a:srgbClr val="1B2430"/>
                </a:solidFill>
                <a:latin typeface="Calibri"/>
              </a:rPr>
              <a:t>Kvant misoli esa QML ning bugungi o'rnini realistik ko'rsatadi: o'quv va tadqiqot vositasi, ishlab chiqarish texnologiyasi emas.</a:t>
            </a:r>
          </a:p>
          <a:p>
            <a:pPr>
              <a:spcAft>
                <a:spcPts val="900"/>
              </a:spcAft>
            </a:pPr>
            <a:r>
              <a:rPr sz="1600" b="1">
                <a:solidFill>
                  <a:srgbClr val="0F8B8D"/>
                </a:solidFill>
              </a:rPr>
              <a:t>▪  </a:t>
            </a:r>
            <a:r>
              <a:rPr sz="1600">
                <a:solidFill>
                  <a:srgbClr val="1B2430"/>
                </a:solidFill>
                <a:latin typeface="Calibri"/>
              </a:rPr>
              <a:t>Cheklovlar: energiya hisobimiz 45 nm ma'lumotlariga asoslangan, zamonaviy 4–5 nm texnologiyada mutlaq qiymatlar 5–10 baravar past, lekin MAC/AC nisbati va xotira murojaatining ustunligi…</a:t>
            </a:r>
          </a:p>
          <a:p>
            <a:pPr>
              <a:spcAft>
                <a:spcPts val="900"/>
              </a:spcAft>
            </a:pPr>
            <a:r>
              <a:rPr sz="1600" b="1">
                <a:solidFill>
                  <a:srgbClr val="0F8B8D"/>
                </a:solidFill>
              </a:rPr>
              <a:t>▪  </a:t>
            </a:r>
            <a:r>
              <a:rPr sz="1600">
                <a:solidFill>
                  <a:srgbClr val="1B2430"/>
                </a:solidFill>
                <a:latin typeface="Calibri"/>
              </a:rPr>
              <a:t>Muqobil yondashuvlar: ANN ni o'qitib, keyin SNN ga konvertatsiya qilish (ANN-to-SNN conversion) ko'pincha surrogat gradientdan yuqori aniqlik beradi, lekin ko'proq vaqt qadami talab qiladi;…</a:t>
            </a:r>
          </a:p>
          <a:p>
            <a:pPr>
              <a:spcAft>
                <a:spcPts val="900"/>
              </a:spcAft>
            </a:pPr>
            <a:r>
              <a:rPr sz="1600" b="1">
                <a:solidFill>
                  <a:srgbClr val="0F8B8D"/>
                </a:solidFill>
              </a:rPr>
              <a:t>▪  </a:t>
            </a:r>
            <a:r>
              <a:rPr sz="1600">
                <a:solidFill>
                  <a:srgbClr val="1B2430"/>
                </a:solidFill>
                <a:latin typeface="Calibri"/>
              </a:rPr>
              <a:t>Umumiy manzara: yaqin 5 yilda SI hisoblashning asosiy yuki GPU/TPU sinfidagi raqamli tezlatkichlarda qoladi, lekin ular tobora ixtisoslashadi (past aniqlik, siyraklik, xotiraga yaqin…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SNN energiya samaradorligini faqat amal sonini sanab baholash. To'g'ridan-to'g'ri kodlashda birinchi qatlam har qadamda zich hisoblanadi. Tavsiya: kodlash usuli, vaqt qadamlari soni va…</a:t>
            </a:r>
          </a:p>
          <a:p>
            <a:pPr>
              <a:spcAft>
                <a:spcPts val="900"/>
              </a:spcAft>
            </a:pPr>
            <a:r>
              <a:rPr sz="1600" b="1">
                <a:solidFill>
                  <a:srgbClr val="0F8B8D"/>
                </a:solidFill>
              </a:rPr>
              <a:t>▪  </a:t>
            </a:r>
            <a:r>
              <a:rPr sz="1600">
                <a:solidFill>
                  <a:srgbClr val="1B2430"/>
                </a:solidFill>
                <a:latin typeface="Calibri"/>
              </a:rPr>
              <a:t>Kvant tezlashuvini QML ga avtomatik ko'chirish. Ma'lumot yuklash va o'lchov xarajati ko'pincha nazariy ustunlikni yo'qqa chiqaradi. Tavsiya: har doim klassik bazaviy usul bilan bir xil…</a:t>
            </a:r>
          </a:p>
          <a:p>
            <a:pPr>
              <a:spcAft>
                <a:spcPts val="900"/>
              </a:spcAft>
            </a:pPr>
            <a:r>
              <a:rPr sz="1600" b="1">
                <a:solidFill>
                  <a:srgbClr val="0F8B8D"/>
                </a:solidFill>
              </a:rPr>
              <a:t>▪  </a:t>
            </a:r>
            <a:r>
              <a:rPr sz="1600">
                <a:solidFill>
                  <a:srgbClr val="1B2430"/>
                </a:solidFill>
                <a:latin typeface="Calibri"/>
              </a:rPr>
              <a:t>PUE va uglerod intensivligini e'tiborsiz qoldirish. Bir xil o'qitish turli mintaqada 10–30 baravar farqli CO₂ beradi. Tavsiya: hisobotda energiya (kVt·soat), PUE, mintaqa va CO₂e ni alohida…</a:t>
            </a:r>
          </a:p>
          <a:p>
            <a:pPr>
              <a:spcAft>
                <a:spcPts val="900"/>
              </a:spcAft>
            </a:pPr>
            <a:r>
              <a:rPr sz="1600" b="1">
                <a:solidFill>
                  <a:srgbClr val="0F8B8D"/>
                </a:solidFill>
              </a:rPr>
              <a:t>▪  </a:t>
            </a:r>
            <a:r>
              <a:rPr sz="1600">
                <a:solidFill>
                  <a:srgbClr val="1B2430"/>
                </a:solidFill>
                <a:latin typeface="Calibri"/>
              </a:rPr>
              <a:t>Marketing raqamlariga ishonish. «1000 baravar samarali» ko'pincha bitta tor ish yuklamada, tanlangan taqqoslash bazasiga nisbatan. Tavsiya: taqqoslash sharoitini (aniqlik, partiya hajmi,…</a:t>
            </a:r>
          </a:p>
          <a:p>
            <a:pPr>
              <a:spcAft>
                <a:spcPts val="900"/>
              </a:spcAft>
            </a:pPr>
            <a:r>
              <a:rPr sz="1600" b="1">
                <a:solidFill>
                  <a:srgbClr val="0F8B8D"/>
                </a:solidFill>
              </a:rPr>
              <a:t>▪  </a:t>
            </a:r>
            <a:r>
              <a:rPr sz="1600">
                <a:solidFill>
                  <a:srgbClr val="1B2430"/>
                </a:solidFill>
                <a:latin typeface="Calibri"/>
              </a:rPr>
              <a:t>Analog tezlatkichlarning aniqlik cheklovini unutish. Fotonik va analog neyromorf tizimlar 4–8 bit samarali aniqlik beradi. Tavsiya: modelni avval shu aniqlikka kvantlab, sifat yo'qotishini…</a:t>
            </a:r>
          </a:p>
          <a:p>
            <a:pPr>
              <a:spcAft>
                <a:spcPts val="900"/>
              </a:spcAft>
            </a:pPr>
            <a:r>
              <a:rPr sz="1600" b="1">
                <a:solidFill>
                  <a:srgbClr val="0F8B8D"/>
                </a:solidFill>
              </a:rPr>
              <a:t>▪  </a:t>
            </a:r>
            <a:r>
              <a:rPr sz="1600">
                <a:solidFill>
                  <a:srgbClr val="1B2430"/>
                </a:solidFill>
                <a:latin typeface="Calibri"/>
              </a:rPr>
              <a:t>Vaqt qadamlari sonini sinovsiz tanlash. T ni ikki baravar oshirish energiya va kechikishni ikki baravar oshiradi, aniqlikni esa kam qo'shadi. Tavsiya: aniqlik–T egri chizig'ini quring va…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Kutubxona versiyalariga e'tiborsizlik. Qiskit 0.x → 1.x → 2.x o'tishlarida API sezilarli o'zgardi; snnTorch ham faol rivojlanmoqda. Tavsiya: requirements.txt da aniq versiyalarni qotiring…</a:t>
            </a:r>
          </a:p>
          <a:p>
            <a:pPr>
              <a:spcAft>
                <a:spcPts val="900"/>
              </a:spcAft>
            </a:pPr>
            <a:r>
              <a:rPr sz="2000" b="1">
                <a:solidFill>
                  <a:srgbClr val="0F8B8D"/>
                </a:solidFill>
              </a:rPr>
              <a:t>▪  </a:t>
            </a:r>
            <a:r>
              <a:rPr sz="2000">
                <a:solidFill>
                  <a:srgbClr val="1B2430"/>
                </a:solidFill>
                <a:latin typeface="Calibri"/>
              </a:rPr>
              <a:t>Energiya samaradorligini loyiha oxirida ko'rib chiqish. Arxitektura tanlovi (model hajmi, aniqlik formati, apparat) energiyaning 80 % ini belgilaydi. Tavsiya: energiya byudjetini texnik…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Dennard masshtablashining tugashi va xotira devori SI tezlatkichlari dizaynini qanday o'zgartirdi? Blackwell va Cerebras WSE-3 bu muammolarga qanday turlicha javob beradi?</a:t>
            </a:r>
          </a:p>
          <a:p>
            <a:pPr>
              <a:spcAft>
                <a:spcPts val="900"/>
              </a:spcAft>
            </a:pPr>
            <a:r>
              <a:rPr sz="1600" b="1">
                <a:solidFill>
                  <a:srgbClr val="0F8B8D"/>
                </a:solidFill>
              </a:rPr>
              <a:t>▪  </a:t>
            </a:r>
            <a:r>
              <a:rPr sz="1600">
                <a:solidFill>
                  <a:srgbClr val="1B2430"/>
                </a:solidFill>
                <a:latin typeface="Calibri"/>
              </a:rPr>
              <a:t>Neyromorf chip qaysi ish yuklamasida GPU dan ustun bo'ladi va qaysi birida yutqazadi? Javobingizni amaliy misoldagi energiya hisobi bilan asoslang.</a:t>
            </a:r>
          </a:p>
          <a:p>
            <a:pPr>
              <a:spcAft>
                <a:spcPts val="900"/>
              </a:spcAft>
            </a:pPr>
            <a:r>
              <a:rPr sz="1600" b="1">
                <a:solidFill>
                  <a:srgbClr val="0F8B8D"/>
                </a:solidFill>
              </a:rPr>
              <a:t>▪  </a:t>
            </a:r>
            <a:r>
              <a:rPr sz="1600">
                <a:solidFill>
                  <a:srgbClr val="1B2430"/>
                </a:solidFill>
                <a:latin typeface="Calibri"/>
              </a:rPr>
              <a:t>Surrogat gradient usuli nega kerak va u ANN-to-SNN konvertatsiyasidan qanday farq qiladi? Har birining afzalligi qanday vaziyatda namoyon bo'ladi?</a:t>
            </a:r>
          </a:p>
          <a:p>
            <a:pPr>
              <a:spcAft>
                <a:spcPts val="900"/>
              </a:spcAft>
            </a:pPr>
            <a:r>
              <a:rPr sz="1600" b="1">
                <a:solidFill>
                  <a:srgbClr val="0F8B8D"/>
                </a:solidFill>
              </a:rPr>
              <a:t>▪  </a:t>
            </a:r>
            <a:r>
              <a:rPr sz="1600">
                <a:solidFill>
                  <a:srgbClr val="1B2430"/>
                </a:solidFill>
                <a:latin typeface="Calibri"/>
              </a:rPr>
              <a:t>«Bepusht platolar» muammosi variatsion kvant sxemalarni masshtablashga qanday to'siq bo'ladi? Uni yumshatish uchun qanday yondashuvlar taklif qilingan?</a:t>
            </a:r>
          </a:p>
          <a:p>
            <a:pPr>
              <a:spcAft>
                <a:spcPts val="900"/>
              </a:spcAft>
            </a:pPr>
            <a:r>
              <a:rPr sz="1600" b="1">
                <a:solidFill>
                  <a:srgbClr val="0F8B8D"/>
                </a:solidFill>
              </a:rPr>
              <a:t>▪  </a:t>
            </a:r>
            <a:r>
              <a:rPr sz="1600">
                <a:solidFill>
                  <a:srgbClr val="1B2430"/>
                </a:solidFill>
                <a:latin typeface="Calibri"/>
              </a:rPr>
              <a:t>Kvant klassifikator klassik SVM dan yomon natija berdi. Qanday sharoitda (ma'lumot turi, masala sinfi) kvant yondashuv nazariy jihatdan ustun bo'lishi mumkin?</a:t>
            </a:r>
          </a:p>
          <a:p>
            <a:pPr>
              <a:spcAft>
                <a:spcPts val="900"/>
              </a:spcAft>
            </a:pPr>
            <a:r>
              <a:rPr sz="1600" b="1">
                <a:solidFill>
                  <a:srgbClr val="0F8B8D"/>
                </a:solidFill>
              </a:rPr>
              <a:t>▪  </a:t>
            </a:r>
            <a:r>
              <a:rPr sz="1600">
                <a:solidFill>
                  <a:srgbClr val="1B2430"/>
                </a:solidFill>
                <a:latin typeface="Calibri"/>
              </a:rPr>
              <a:t>Fotonik hisoblashning eng tez tijoratlashayotgan qo'llanilishi nega hisoblash emas, interkonnekt? Energiya devori nuqtai nazaridan tushuntiring.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Bir xil modelni O'zbekistonda va Norvegiyada o'qitish uglerod izi bo'yicha necha baravar farq qiladi? Hisobda qaysi omillar (PUE, intensivlik, vaqt) qatnashadi?</a:t>
            </a:r>
          </a:p>
          <a:p>
            <a:pPr>
              <a:spcAft>
                <a:spcPts val="900"/>
              </a:spcAft>
            </a:pPr>
            <a:r>
              <a:rPr sz="1800" b="1">
                <a:solidFill>
                  <a:srgbClr val="0F8B8D"/>
                </a:solidFill>
              </a:rPr>
              <a:t>▪  </a:t>
            </a:r>
            <a:r>
              <a:rPr sz="1800">
                <a:solidFill>
                  <a:srgbClr val="1B2430"/>
                </a:solidFill>
                <a:latin typeface="Calibri"/>
              </a:rPr>
              <a:t>El Capitan uchun HPL va HPL-MxP ko'rsatkichlari o'n baravardan ko'p farq qiladi. Bu farq nimadan kelib chiqadi va SI ish yuklamalari uchun qaysi biri muhimroq?</a:t>
            </a:r>
          </a:p>
          <a:p>
            <a:pPr>
              <a:spcAft>
                <a:spcPts val="900"/>
              </a:spcAft>
            </a:pPr>
            <a:r>
              <a:rPr sz="1800" b="1">
                <a:solidFill>
                  <a:srgbClr val="0F8B8D"/>
                </a:solidFill>
              </a:rPr>
              <a:t>▪  </a:t>
            </a:r>
            <a:r>
              <a:rPr sz="1800">
                <a:solidFill>
                  <a:srgbClr val="1B2430"/>
                </a:solidFill>
                <a:latin typeface="Calibri"/>
              </a:rPr>
              <a:t>Green AI tamoyillari bilan «masshtab qonunlari» (kattaroq model — yaxshiroq natija) o'rtasidagi ziddiyatni muhandis sifatida qanday hal qilasiz?</a:t>
            </a:r>
          </a:p>
          <a:p>
            <a:pPr>
              <a:spcAft>
                <a:spcPts val="900"/>
              </a:spcAft>
            </a:pPr>
            <a:r>
              <a:rPr sz="1800" b="1">
                <a:solidFill>
                  <a:srgbClr val="0F8B8D"/>
                </a:solidFill>
              </a:rPr>
              <a:t>▪  </a:t>
            </a:r>
            <a:r>
              <a:rPr sz="1800">
                <a:solidFill>
                  <a:srgbClr val="1B2430"/>
                </a:solidFill>
                <a:latin typeface="Calibri"/>
              </a:rPr>
              <a:t>2030-yilda chekka qurilma (masalan, dron) uchun SI tizimi loyihalasangiz, qaysi paradigma yoki ularning kombinatsiyasini tanlardingiz va nega?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1-topshiriq. Amaliy misoldagi SNN uchun aniqlik–energiya–kechikish tahlilini kengaytiring: (a) T ni 5, 10, 25, 50 qiymatlarida sinang; (b) uch kodlash usulini (to'g'ridan-to'g'ri, chastotali Poisson, kechikish kodlash — snnTorch spikegen moduli) taqqoslang;…</a:t>
            </a:r>
          </a:p>
          <a:p>
            <a:pPr>
              <a:spcAft>
                <a:spcPts val="900"/>
              </a:spcAft>
            </a:pPr>
            <a:r>
              <a:rPr sz="2000" b="1">
                <a:solidFill>
                  <a:srgbClr val="0F8B8D"/>
                </a:solidFill>
              </a:rPr>
              <a:t>▪  </a:t>
            </a:r>
            <a:r>
              <a:rPr sz="2000">
                <a:solidFill>
                  <a:srgbClr val="1B2430"/>
                </a:solidFill>
                <a:latin typeface="Calibri"/>
              </a:rPr>
              <a:t>2-topshiriq (sillabusdagi 3-mustaqil ta'lim topshirig'iga bog'langan). CPU, GPU, TPU, NPU va FPGA qiyosiy tahlilingizni kelajak avlod paradigmalari bilan to'ldiring: neyromorf (Loihi 2), wafer-scale (Cerebras WSE-3), dataflow (Groq LPU) va fotonik…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[1] Hennessy, J. L., &amp; Patterson, D. A. Computer Architecture: A Quantitative Approach. 7th Edition. Morgan Kaufmann, 2024. — Dennard masshtablashi, domenga xos arxitekturalar va energiya…</a:t>
            </a:r>
          </a:p>
          <a:p>
            <a:pPr>
              <a:spcAft>
                <a:spcPts val="900"/>
              </a:spcAft>
            </a:pPr>
            <a:r>
              <a:rPr sz="1600" b="1">
                <a:solidFill>
                  <a:srgbClr val="0F8B8D"/>
                </a:solidFill>
              </a:rPr>
              <a:t>▪  </a:t>
            </a:r>
            <a:r>
              <a:rPr sz="1600">
                <a:solidFill>
                  <a:srgbClr val="1B2430"/>
                </a:solidFill>
                <a:latin typeface="Calibri"/>
              </a:rPr>
              <a:t>[4] Sze, V., Chen, Y.-H., Yang, T.-J., &amp; Emer, J. S. Efficient Processing of Deep Neural Networks. Morgan &amp; Claypool, 2020. — energiya sarfi modeli, ma'lumot harakati va samarali apparat.</a:t>
            </a:r>
          </a:p>
          <a:p>
            <a:pPr>
              <a:spcAft>
                <a:spcPts val="900"/>
              </a:spcAft>
            </a:pPr>
            <a:r>
              <a:rPr sz="1600" b="1">
                <a:solidFill>
                  <a:srgbClr val="0F8B8D"/>
                </a:solidFill>
              </a:rPr>
              <a:t>▪  </a:t>
            </a:r>
            <a:r>
              <a:rPr sz="1600">
                <a:solidFill>
                  <a:srgbClr val="1B2430"/>
                </a:solidFill>
                <a:latin typeface="Calibri"/>
              </a:rPr>
              <a:t>[5] Kirk, D. B., &amp; Hwu, W.-M. W. Programming Massively Parallel Processors. 4th Edition. Morgan Kaufmann, 2022. — GPU hisoblash chegaralari va kelajak tendensiyalari.</a:t>
            </a:r>
          </a:p>
          <a:p>
            <a:pPr>
              <a:spcAft>
                <a:spcPts val="900"/>
              </a:spcAft>
            </a:pPr>
            <a:r>
              <a:rPr sz="1600" b="1">
                <a:solidFill>
                  <a:srgbClr val="0F8B8D"/>
                </a:solidFill>
              </a:rPr>
              <a:t>▪  </a:t>
            </a:r>
            <a:r>
              <a:rPr sz="1600">
                <a:solidFill>
                  <a:srgbClr val="1B2430"/>
                </a:solidFill>
                <a:latin typeface="Calibri"/>
              </a:rPr>
              <a:t>[6] https://developer.nvidia.com — NVIDIA Blackwell, NVLink va fotonik interkonnekt bo'yicha rasmiy texnik materiallar.</a:t>
            </a:r>
          </a:p>
          <a:p>
            <a:pPr>
              <a:spcAft>
                <a:spcPts val="900"/>
              </a:spcAft>
            </a:pPr>
            <a:r>
              <a:rPr sz="1600" b="1">
                <a:solidFill>
                  <a:srgbClr val="0F8B8D"/>
                </a:solidFill>
              </a:rPr>
              <a:t>▪  </a:t>
            </a:r>
            <a:r>
              <a:rPr sz="1600">
                <a:solidFill>
                  <a:srgbClr val="1B2430"/>
                </a:solidFill>
                <a:latin typeface="Calibri"/>
              </a:rPr>
              <a:t>[7] https://pytorch.org — PyTorch hujjatlari (snnTorch PyTorch ustiga qurilgan).</a:t>
            </a:r>
          </a:p>
          <a:p>
            <a:pPr>
              <a:spcAft>
                <a:spcPts val="900"/>
              </a:spcAft>
            </a:pPr>
            <a:r>
              <a:rPr sz="1600" b="1">
                <a:solidFill>
                  <a:srgbClr val="0F8B8D"/>
                </a:solidFill>
              </a:rPr>
              <a:t>▪  </a:t>
            </a:r>
            <a:r>
              <a:rPr sz="1600">
                <a:solidFill>
                  <a:srgbClr val="1B2430"/>
                </a:solidFill>
                <a:latin typeface="Calibri"/>
              </a:rPr>
              <a:t>Davies, M., et al. Loihi: A Neuromorphic Manycore Processor with On-Chip Learning. IEEE Micro, vol. 38, no. 1, 2018, pp. 82–99.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Eshraghian, J. K., et al. Training Spiking Neural Networks Using Lessons From Deep Learning. Proceedings of the IEEE, vol. 111, no. 9, 2023, pp. 1016–1054. — snnTorch asosidagi o'quv maqola.</a:t>
            </a:r>
          </a:p>
          <a:p>
            <a:pPr>
              <a:spcAft>
                <a:spcPts val="900"/>
              </a:spcAft>
            </a:pPr>
            <a:r>
              <a:rPr sz="1600" b="1">
                <a:solidFill>
                  <a:srgbClr val="0F8B8D"/>
                </a:solidFill>
              </a:rPr>
              <a:t>▪  </a:t>
            </a:r>
            <a:r>
              <a:rPr sz="1600">
                <a:solidFill>
                  <a:srgbClr val="1B2430"/>
                </a:solidFill>
                <a:latin typeface="Calibri"/>
              </a:rPr>
              <a:t>Horowitz, M. Computing's energy problem (and what we can do about it). IEEE International Solid-State Circuits Conference (ISSCC), 2014, pp. 10–14. — amal boshiga energiya qiymatlari.</a:t>
            </a:r>
          </a:p>
          <a:p>
            <a:pPr>
              <a:spcAft>
                <a:spcPts val="900"/>
              </a:spcAft>
            </a:pPr>
            <a:r>
              <a:rPr sz="1600" b="1">
                <a:solidFill>
                  <a:srgbClr val="0F8B8D"/>
                </a:solidFill>
              </a:rPr>
              <a:t>▪  </a:t>
            </a:r>
            <a:r>
              <a:rPr sz="1600">
                <a:solidFill>
                  <a:srgbClr val="1B2430"/>
                </a:solidFill>
                <a:latin typeface="Calibri"/>
              </a:rPr>
              <a:t>Biamonte, J., et al. Quantum machine learning. Nature, vol. 549, 2017, pp. 195–202.</a:t>
            </a:r>
          </a:p>
          <a:p>
            <a:pPr>
              <a:spcAft>
                <a:spcPts val="900"/>
              </a:spcAft>
            </a:pPr>
            <a:r>
              <a:rPr sz="1600" b="1">
                <a:solidFill>
                  <a:srgbClr val="0F8B8D"/>
                </a:solidFill>
              </a:rPr>
              <a:t>▪  </a:t>
            </a:r>
            <a:r>
              <a:rPr sz="1600">
                <a:solidFill>
                  <a:srgbClr val="1B2430"/>
                </a:solidFill>
                <a:latin typeface="Calibri"/>
              </a:rPr>
              <a:t>Shen, Y., et al. Deep learning with coherent nanophotonic circuits. Nature Photonics, vol. 11, 2017, pp. 441–446.</a:t>
            </a:r>
          </a:p>
          <a:p>
            <a:pPr>
              <a:spcAft>
                <a:spcPts val="900"/>
              </a:spcAft>
            </a:pPr>
            <a:r>
              <a:rPr sz="1600" b="1">
                <a:solidFill>
                  <a:srgbClr val="0F8B8D"/>
                </a:solidFill>
              </a:rPr>
              <a:t>▪  </a:t>
            </a:r>
            <a:r>
              <a:rPr sz="1600">
                <a:solidFill>
                  <a:srgbClr val="1B2430"/>
                </a:solidFill>
                <a:latin typeface="Calibri"/>
              </a:rPr>
              <a:t>Schwartz, R., Dodge, J., Smith, N. A., &amp; Etzioni, O. Green AI. Communications of the ACM, vol. 63, no. 12, 2020, pp. 54–63.</a:t>
            </a:r>
          </a:p>
          <a:p>
            <a:pPr>
              <a:spcAft>
                <a:spcPts val="900"/>
              </a:spcAft>
            </a:pPr>
            <a:r>
              <a:rPr sz="1600" b="1">
                <a:solidFill>
                  <a:srgbClr val="0F8B8D"/>
                </a:solidFill>
              </a:rPr>
              <a:t>▪  </a:t>
            </a:r>
            <a:r>
              <a:rPr sz="1600">
                <a:solidFill>
                  <a:srgbClr val="1B2430"/>
                </a:solidFill>
                <a:latin typeface="Calibri"/>
              </a:rPr>
              <a:t>Patterson, D., et al. Carbon Emissions and Large Neural Network Training. arXiv:2104.10350, 2021.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TOP500 va Green500 ro'yxatlari: https://www.top500.org</a:t>
            </a:r>
          </a:p>
          <a:p>
            <a:pPr>
              <a:spcAft>
                <a:spcPts val="900"/>
              </a:spcAft>
            </a:pPr>
            <a:r>
              <a:rPr sz="2000" b="1">
                <a:solidFill>
                  <a:srgbClr val="0F8B8D"/>
                </a:solidFill>
              </a:rPr>
              <a:t>▪  </a:t>
            </a:r>
            <a:r>
              <a:rPr sz="2000">
                <a:solidFill>
                  <a:srgbClr val="1B2430"/>
                </a:solidFill>
                <a:latin typeface="Calibri"/>
              </a:rPr>
              <a:t>snnTorch hujjatlari: https://snntorch.readthedocs.io ; Qiskit hujjatlari: https://docs.quantum.ibm.com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https://aiscan.airi.uz/ktm/#/c/mis2104/mavzu/M15</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
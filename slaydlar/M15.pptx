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Neyromorf muhandislik atamasini 1980-yillar oxirida Karver Mid (Carver Mead) Kaltexda kiritgan: u analog CMOS sxemalar bilan biologik neyronlarning dinamikasini bevosita taqlid qilishni taklif qilgan. Zamonaviy neyromorf tizimlar uchta tamoyilga tayanadi. Birinchisi — hodisaga asoslangan (event-driven) ishlov: neyron faqat kirish potensiali chegaradan oshganda spayk (spike) chiqaradi, aks holda hech narsa hisoblanmaydi va energiya sarflanmaydi; an'anaviy tarmoqda esa har qatlam har kirish uchun to'liq hisoblanadi. Ikkinchisi — xotira va hisoblashning yaqinlashuvi: sinaptik og'irliklar neyron yadrosi yonida saqlanadi, fon Neyman shinasi orqali tashilmaydi. Uchinchisi — asinxron, mahalliy aloqa: yadrolar umumiy soat signalisiz, faqat spayk paketlari (odatda AER — Address-Event Representation protokoli) bilan muloqot qiladi.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Neyromorf muhandislik atamasini 1980-yillar oxirida Karver Mid (Carver Mead) Kaltexda kiritgan: u analog CMOS sxemalar bilan biologik neyronlarning dinamikasini bevosita taqlid qilishni taklif qilgan. Zamonaviy neyromorf tizimlar uchta tamoyilga tayanadi. Birinchisi — hodisaga asoslangan (event-driven) ishlov: neyron faqat kirish potensiali chegaradan oshganda spayk (spike) chiqaradi, aks holda hech narsa hisoblanmaydi va energiya sarflanmaydi; an'anaviy tarmoqda esa har qatlam har kirish uchun to'liq hisoblanadi. Ikkinchisi — xotira va hisoblashning yaqinlashuvi: sinaptik og'irliklar neyron yadrosi yonida saqlanadi, fon Neyman shinasi orqali tashilmaydi. Uchinchisi — asinxron, mahalliy aloqa: yadrolar umumiy soat signalisiz, faqat spayk paketlari (odatda AER — Address-Event Representation protokoli) bilan muloqot qiladi.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Neyromorf muhandislik atamasini 1980-yillar oxirida Karver Mid (Carver Mead) Kaltexda kiritgan: u analog CMOS sxemalar bilan biologik neyronlarning dinamikasini bevosita taqlid qilishni taklif qilgan. Zamonaviy neyromorf tizimlar uchta tamoyilga tayanadi. Birinchisi — hodisaga asoslangan (event-driven) ishlov: neyron faqat kirish potensiali chegaradan oshganda spayk (spike) chiqaradi, aks holda hech narsa hisoblanmaydi va energiya sarflanmaydi; an'anaviy tarmoqda esa har qatlam har kirish uchun to'liq hisoblanadi. Ikkinchisi — xotira va hisoblashning yaqinlashuvi: sinaptik og'irliklar neyron yadrosi yonida saqlanadi, fon Neyman shinasi orqali tashilmaydi. Uchinchisi — asinxron, mahalliy aloqa: yadrolar umumiy soat signalisiz, faqat spayk paketlari (odatda AER — Address-Event Representation protokoli) bilan muloqot qiladi.</a:t>
            </a:r>
          </a:p>
          <a:p/>
          <a:p>
            <a:r>
              <a:t>Asosiy neyron modeli — oqish-integratsiya-otilish (Leaky Integrate-and-Fire, LIF) neyroni: membrana potensiali U[t] = β·U[t-1] + W·X[t] - S[t-1]·θ, bu yerda β — oqish koeffitsienti, W·X — vaznlangan kirish, S — spayk (1 yoki 0), θ — chegara. Spayk U chegaradan oshganda chiqadi va potensial qaytariladi. Axborot spayk chastotasida (rate coding), spayk vaqtida (temporal/latency coding) yoki populyatsiya kodida ifodalanadi. SNN ni o'qitishning asosiy qiyinligi — spayk funksiyasi differensiallanmaydi; zamonaviy yechim — surrogat gradient (surrogate gradient): to'g'ri o'tishda qattiq chegara, teskari o'tishda silliq yaqinlashish (masalan, arktangens yoki sigmoid hosilasi) ishlatiladi, bu PyTorch avtomatik differensiallash bilan to'liq mos keladi (Eshraghian va boshq., 2023).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Neyromorf tizimlarning real afzalligi siyrak (sparse), hodisaga boy ish yuklamalarida namoyon bo'ladi: hodisali kameralar (DVS) bilan ko'rish, audio uyg'otuvchi so'z, sensor oqimlarida anomaliya, robot boshqaruvi. Intel ma'lumotlariga ko'ra, Loihi ayrim siyrak ish yuklamalarida GPU va CPU ga nisbatan 100–1000 baravar kam energiya sarflaydi, lekin zich matritsali katta modellarda (LLM) ustunlik yo'q. Asosiy cheklovlar — dasturlash modeli yetukligining pastligi (Lava, Nengo, snnTorch), SNN aniqligi odatda an'anaviy tarmoqdan 1–3 punkt past, va ekotizim kichikligi.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Zamonaviy neyromorf chiplar taqqoslamasi:</a:t>
            </a:r>
          </a:p>
          <a:p/>
          <a:p>
            <a:r>
              <a:t>Neyromorf tizimlarning real afzalligi siyrak (sparse), hodisaga boy ish yuklamalarida namoyon bo'ladi: hodisali kameralar (DVS) bilan ko'rish, audio uyg'otuvchi so'z, sensor oqimlarida anomaliya, robot boshqaruvi. Intel ma'lumotlariga ko'ra, Loihi ayrim siyrak ish yuklamalarida GPU va CPU ga nisbatan 100–1000 baravar kam energiya sarflaydi, lekin zich matritsali katta modellarda (LLM) ustunlik yo'q. Asosiy cheklovlar — dasturlash modeli yetukligining pastligi (Lava, Nengo, snnTorch), SNN aniqligi odatda an'anaviy tarmoqdan 1–3 punkt past, va ekotizim kichikligi.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Kvant hisoblashning asosiy birligi kubit superpozitsiya va chalkashlik (entanglement) tufayli n kubit 2^n o'lchovli holat fazosini ifodalaydi. Kvant mashinali o'qitish (Quantum Machine Learning, QML; Biamonte va boshq., 2017) bu fazodan ikki asosiy usulda foydalanadi. Variatsion kvant sxemalar (Variational Quantum Circuits, VQC) da klassik ma'lumot kvant holatiga kodlanadi (feature map, masalan ZZFeatureMap), so'ngra sozlanadigan parametrli qatlamlar (ansatz, masalan RealAmplitudes) qo'llaniladi va o'lchov natijasi klassik optimallashtiruvchi (COBYLA, SPSA, Adam) bilan sozlanadi — bu gibrid kvant-klassik halqa VQE (Peruzzo va boshq., 2014) va QAOA (Farhi va boshq., 2014) algoritmlarining ham asosidir. Kvant yadro usullari (quantum kernel, Havlíček va boshq., 2019) esa kvant holatlar orasidagi ichki ko'paytmani yadro funksiyasi sifatida klassik SVM ga beradi.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Kvant hisoblashning asosiy birligi kubit superpozitsiya va chalkashlik (entanglement) tufayli n kubit 2^n o'lchovli holat fazosini ifodalaydi. Kvant mashinali o'qitish (Quantum Machine Learning, QML; Biamonte va boshq., 2017) bu fazodan ikki asosiy usulda foydalanadi. Variatsion kvant sxemalar (Variational Quantum Circuits, VQC) da klassik ma'lumot kvant holatiga kodlanadi (feature map, masalan ZZFeatureMap), so'ngra sozlanadigan parametrli qatlamlar (ansatz, masalan RealAmplitudes) qo'llaniladi va o'lchov natijasi klassik optimallashtiruvchi (COBYLA, SPSA, Adam) bilan sozlanadi — bu gibrid kvant-klassik halqa VQE (Peruzzo va boshq., 2014) va QAOA (Farhi va boshq., 2014) algoritmlarining ham asosidir. Kvant yadro usullari (quantum kernel, Havlíček va boshq., 2019) esa kvant holatlar orasidagi ichki ko'paytmani yadro funksiyasi sifatida klassik SVM ga beradi.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Joriy apparat holati (2025-yil holatiga): IBM Heron r2 prosessorlari 156 kubit, ikki kubitli eshik xatosi 0,3 % atrofida; IBM 2023-yilda 1 121 kubitli Condor ni ko'rsatdi, lekin strategiyani kubit sonidan sifatga burdi; Google 2024-yil dekabrida 105 kubitli Willow chipida xato tuzatish «chegara ostida» ishlashini — mantiqiy kubit kattalashgan sari xato kamayishini — birinchi marta eksperimental ko'rsatdi; Quantinuum H2 ion-tuzoqli tizimi 56 kubit bilan eng yuqori eshik sifatiga ega. Bularning barchasi NISQ (Noisy Intermediate-Scale Quantum, Preskill 2018) davriga tegishli: xato tuzatilmagan, sxema chuqurligi cheklangan.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QML uchun bu quyidagi amaliy xulosalarni beradi. Birinchidan, hali hech bir real SI masalasida kvant qurilma klassik GPU dan ustun kelgani isbotlanmagan; ko'p QML natijalari simulyatsiyada va kichik o'lchamli ma'lumotlarda olingan. Ikkinchidan, «bepusht platolar» (barren plateaus, McClean va boshq., 2018) muammosi — kubit soni oshgan sari gradientlar eksponensial kichrayadi va o'qitish to'xtaydi — variatsion sxemalarni masshtablashga to'siq. Uchinchidan, klassik ma'lumotni kvant holatiga yuklash (data loading) o'zi qimmat va ko'p holatlarda nazariy tezlashuvni yo'qqa chiqaradi. Shunga qaramay, kvant kimyo, kombinatorik optimallashtirish va kvant ma'lumotlarni (fizik tajriba natijalarini) tahlil qilish yo'nalishlari istiqbolli, va Qiskit, PennyLane, Cirq kabi vositalar muhandislarga bu yo'nalishni arzon simulyatsiyada o'rganish imkonini beradi.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QML uchun bu quyidagi amaliy xulosalarni beradi. Birinchidan, hali hech bir real SI masalasida kvant qurilma klassik GPU dan ustun kelgani isbotlanmagan; ko'p QML natijalari simulyatsiyada va kichik o'lchamli ma'lumotlarda olingan. Ikkinchidan, «bepusht platolar» (barren plateaus, McClean va boshq., 2018) muammosi — kubit soni oshgan sari gradientlar eksponensial kichrayadi va o'qitish to'xtaydi — variatsion sxemalarni masshtablashga to'siq. Uchinchidan, klassik ma'lumotni kvant holatiga yuklash (data loading) o'zi qimmat va ko'p holatlarda nazariy tezlashuvni yo'qqa chiqaradi. Shunga qaramay, kvant kimyo, kombinatorik optimallashtirish va kvant ma'lumotlarni (fizik tajriba natijalarini) tahlil qilish yo'nalishlari istiqbolli, va Qiskit, PennyLane, Cirq kabi vositalar muhandislarga bu yo'nalishni arzon simulyatsiyada o'rganish imkonini beradi.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Fotonik SI tezlatkichlari g'oyasi oddiy: chiziqli algebra — matritsa-vektor ko'paytirish — yorug'lik interferensiyasi orqali amalga oshiriladi. Shen va boshq. (2017) MIT da Mach-Zender interferometrlari (MZI) to'ri yordamida istalgan unitar matritsani optik tarzda ifodalash mumkinligini ko'rsatdi; bunday to'rda ko'paytirish yorug'likning chipdan o'tish vaqtida (pikosekundlar) va deyarli issiqliksiz bajariladi, energiya faqat lazer, modulyatorlar va fotodetektorlarga ketadi. Muqobil arxitektura — mikrohalqali rezonatorlar (microring resonators) bilan to'lqin uzunligi bo'yicha multiplekslash, bu bir vaqtning o'zida ko'p kanalda hisoblash imkonini beradi.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Fotonik SI tezlatkichlari g'oyasi oddiy: chiziqli algebra — matritsa-vektor ko'paytirish — yorug'lik interferensiyasi orqali amalga oshiriladi. Shen va boshq. (2017) MIT da Mach-Zender interferometrlari (MZI) to'ri yordamida istalgan unitar matritsani optik tarzda ifodalash mumkinligini ko'rsatdi; bunday to'rda ko'paytirish yorug'likning chipdan o'tish vaqtida (pikosekundlar) va deyarli issiqliksiz bajariladi, energiya faqat lazer, modulyatorlar va fotodetektorlarga ketadi. Muqobil arxitektura — mikrohalqali rezonatorlar (microring resonators) bilan to'lqin uzunligi bo'yicha multiplekslash, bu bir vaqtning o'zida ko'p kanalda hisoblash imkonini beradi.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Tijorat holati: Lightmatter kompaniyasi Envise fotonik tezlatkichi va Passage optik interkonnektini ishlab chiqdi va 2024-yilda 4 milliard dollardan ortiq baholandi; Lightelligence, Celestial AI va boshqalar ham shu yo'nalishda. Muhim kuzatuv: fotonikaning eng tez tijoratlashayotgan qo'llanilishi hisoblashning o'zi emas, balki interkonnekt — chiplar va raflar orasida ma'lumotni optik uzatish (co-packaged optics), chunki aynan ma'lumot harakati energiya devorining asosiy qismi. NVIDIA 2025-yilda Spectrum-X va Quantum-X fotonik kommutatorlarini e'lon qildi.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Fotonik hisoblashning cheklovlari: analog aniqlik (odatda 4–8 bit samarali), nochiziqli faollashtirish funksiyalari uchun elektr domeniga qaytish zarurati (elektro-optik konvertatsiya energiya va kechikish qo'shadi), haroratga sezgirlik va ishlab chiqarish nomuvofiqliklari, hamda og'irliklarni tez o'zgartirish qiyinligi — shuning uchun fotonika inferens uchun o'qitishdan ko'ra mosroq.</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«Green AI» atamasini Schwartz va hamkasblar (2020) «Red AI» — faqat aniqlikni oshirish uchun cheksiz hisoblash sarflash — ga qarshi qo'yib kiritdilar. Ularning taklifi: ilmiy natijalar bilan birga hisoblash narxini (FLOP, parametrlar, GPU-soat, energiya, CO₂) ham e'lon qilish va samaradorlikni birinchi darajali mezon qilish. Strubell va boshq. (2019) katta Transformer modelini neyron arxitektura qidiruvi bilan o'qitish 284 tonna CO₂ ekvivalenti chiqarishini — besh avtomobilning butun umri davomidagi chiqindisiga teng — hisoblab, muhokamani boshlab berdi.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«Green AI» atamasini Schwartz va hamkasblar (2020) «Red AI» — faqat aniqlikni oshirish uchun cheksiz hisoblash sarflash — ga qarshi qo'yib kiritdilar. Ularning taklifi: ilmiy natijalar bilan birga hisoblash narxini (FLOP, parametrlar, GPU-soat, energiya, CO₂) ham e'lon qilish va samaradorlikni birinchi darajali mezon qilish. Strubell va boshq. (2019) katta Transformer modelini neyron arxitektura qidiruvi bilan o'qitish 284 tonna CO₂ ekvivalenti chiqarishini — besh avtomobilning butun umri davomidagi chiqindisiga teng — hisoblab, muhokamani boshlab berdi.</a:t>
            </a:r>
          </a:p>
          <a:p/>
          <a:p>
            <a:r>
              <a:t>Energiya va uglerod izini baholash formulasi: E = Σ(P_qurilma × t × PUE), CO₂e = E × uglerod_intensivligi, bu yerda PUE (Power Usage Effectiveness) — ma'lumot markazining umumiy iste'molining IT iste'moliga nisbati (zamonaviy giperskeyl markazlarda 1,1–1,2, eski markazlarda 1,6–2,0), uglerod intensivligi esa elektr tarmog'iga bog'liq (Norvegiya gidroenergetikasida ~20 g CO₂/kVt·soat, ko'mirga asoslangan tarmoqlarda 700–900 g). O'zbekiston tarmog'i asosan tabiiy gazga tayanadi, taxminan 450–500 g CO₂/kVt·soat — demak o'qitish joyi va vaqtini tanlash (yashil energiya bo'lgan hududda, past yuklama soatlarida) uglerod izini 10–30 baravar kamaytirishi mumkin, bu Patterson va boshq. (2021) ning asosiy xulosasi.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Green AI ning muhandislik vositalari: M8 da ko'rilgan kvantlash, siyraklashtirish va distillash (energiya sarfini 2–10 baravar kamaytiradi); samarali arxitekturalar (Mixture-of-Experts — har token uchun parametrlarning faqat bir qismi faol); o'qitish rejalarini optimallashtirish (Chinchilla qonuni — ma'lumot va parametrlar muvozanati); energiya o'lchash va hisobot vositalari (CodeCarbon kutubxonasi, nvidia-smi orqali quvvat tortish, MLPerf Power benchmarki); va apparat tanlovi (TPU, Gaudi, domenga xos chiplar). Metrikalar: samarali ish yuklama uchun TOPS/Vt, o'qitish uchun model aniqligiga erishish uchun jami kVt·soat, Green500 ro'yxatidagi GFLOPS/Vt.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Zamonaviy SI superkompyuterlari ikki sinfga bo'linadi. Davlat ilmiy eksaflops tizimlari: Frontier (ORNL, 2022, AMD MI250X, HPL 1,2 eksaflops), Aurora (Argonne, Intel Ponte Vecchio), El Capitan (LLNL, 2024-yil noyabridan TOP500 birinchisi, AMD MI300A APU, HPL 1,74 eksaflops, ~30 MVt) va Yevropaning birinchi eksaflops tizimi JUPITER (Yulix, 2025, NVIDIA Grace Hopper, modulli arxitektura). Ularning SI uchun muhim ko'rsatkichi HPL emas, balki aralash aniqlikdagi HPL-MxP: El Capitan da u 16 eksaflopsdan oshadi. Tijorat SI klasterlari: xAI Colossus (100–200 ming H100/H200), Meta ning ikkita 24 ming H100 li klasteri (2024) va Microsoft/OpenAI/Oracle/SoftBank ning 2025-yil yanvarida e'lon qilingan Stargate loyihasi (500 milliard dollar, bir necha gigavatt). 2024-yildagi Green500 yetakchisi JEDI (JUPITER ning sinov moduli, Grace Hopper) 72,7 GFLOPS/Vt ko'rsatdi — 2014-yilgi eng samarali tizimdan taxminan 15 baravar yuqori.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Zamonaviy SI superkompyuterlari ikki sinfga bo'linadi. Davlat ilmiy eksaflops tizimlari: Frontier (ORNL, 2022, AMD MI250X, HPL 1,2 eksaflops), Aurora (Argonne, Intel Ponte Vecchio), El Capitan (LLNL, 2024-yil noyabridan TOP500 birinchisi, AMD MI300A APU, HPL 1,74 eksaflops, ~30 MVt) va Yevropaning birinchi eksaflops tizimi JUPITER (Yulix, 2025, NVIDIA Grace Hopper, modulli arxitektura). Ularning SI uchun muhim ko'rsatkichi HPL emas, balki aralash aniqlikdagi HPL-MxP: El Capitan da u 16 eksaflopsdan oshadi. Tijorat SI klasterlari: xAI Colossus (100–200 ming H100/H200), Meta ning ikkita 24 ming H100 li klasteri (2024) va Microsoft/OpenAI/Oracle/SoftBank ning 2025-yil yanvarida e'lon qilingan Stargate loyihasi (500 milliard dollar, bir necha gigavatt). 2024-yildagi Green500 yetakchisi JEDI (JUPITER ning sinov moduli, Grace Hopper) 72,7 GFLOPS/Vt ko'rsatdi — 2014-yilgi eng samarali tizimdan taxminan 15 baravar yuqori.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Zamonaviy SI superkompyuterlari ikki sinfga bo'linadi. Davlat ilmiy eksaflops tizimlari: Frontier (ORNL, 2022, AMD MI250X, HPL 1,2 eksaflops), Aurora (Argonne, Intel Ponte Vecchio), El Capitan (LLNL, 2024-yil noyabridan TOP500 birinchisi, AMD MI300A APU, HPL 1,74 eksaflops, ~30 MVt) va Yevropaning birinchi eksaflops tizimi JUPITER (Yulix, 2025, NVIDIA Grace Hopper, modulli arxitektura). Ularning SI uchun muhim ko'rsatkichi HPL emas, balki aralash aniqlikdagi HPL-MxP: El Capitan da u 16 eksaflopsdan oshadi. Tijorat SI klasterlari: xAI Colossus (100–200 ming H100/H200), Meta ning ikkita 24 ming H100 li klasteri (2024) va Microsoft/OpenAI/Oracle/SoftBank ning 2025-yil yanvarida e'lon qilingan Stargate loyihasi (500 milliard dollar, bir necha gigavatt). 2024-yildagi Green500 yetakchisi JEDI (JUPITER ning sinov moduli, Grace Hopper) 72,7 GFLOPS/Vt ko'rsatdi — 2014-yilgi eng samarali tizimdan taxminan 15 baravar yuqori.</a:t>
            </a:r>
          </a:p>
          <a:p/>
          <a:p>
            <a:r>
              <a:t>Bu tizimlarning arxitekturaviy tendensiyalari: CPU va GPU ning yagona paketda birlashishi (Grace Hopper, MI300A) va HBM3e xotirasi (H200 da 141 GB, 4,8 TB/s); rafdan tashqari masshtablanadigan NVLink domenlari (GB200 NVL72 — 72 GPU bitta xotira makonida, 130 TB/s); optik interkonnektga o'tish; suyuq sovutish standart bo'lishi; va energiya iste'moli rejalashtirishning asosiy chegarasi bo'lib qolishi.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Kelajak avlod tezlatkichlari bir nechta yo'nalishda rivojlanmoqda. Pufak (wafer-scale) integratsiya: Cerebras WSE-3 (2024) — 46 225 mm² kremniy, 4 trillion tranzistor, 900 ming yadro, 44 GB chipda SRAM, 21 PB/s xotira o'tkazuvchanligi — xotira devorini butun modelni chipda saqlash orqali yengadi. Ma'lumot oqimli arxitekturalar: Groq LPU (deterministik, SRAM-markazli, LLM inferensida tokeniga past kechikish), SambaNova SN40L. Giperskeyl o'z chiplari: Google TPU v6e Trillium (2024) va TPU v7 Ironwood (2025-yil aprelida e'lon qilingan, 4 614 TFLOPS FP8, 192 GB HBM, 9 216 chipli podda 42,5 eksaflops FP8), AWS Trainium2, Microsoft Maia 100, Meta MTIA. NVIDIA yo'l xaritasi: Blackwell (2024–2025), Blackwell Ultra, keyin Rubin (2026) HBM4 bilan. Umumiy yo'nalish — past aniqlik formatlari (FP8, FP6, FP4 — Blackwell da FP4 20 PFLOPS gacha), siyraklik apparat qo'llovi, xotiraga yaqin hisoblash (processing-in-memory, Samsung HBM-PIM) va chipletlar.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Kelajak avlod tezlatkichlari bir nechta yo'nalishda rivojlanmoqda. Pufak (wafer-scale) integratsiya: Cerebras WSE-3 (2024) — 46 225 mm² kremniy, 4 trillion tranzistor, 900 ming yadro, 44 GB chipda SRAM, 21 PB/s xotira o'tkazuvchanligi — xotira devorini butun modelni chipda saqlash orqali yengadi. Ma'lumot oqimli arxitekturalar: Groq LPU (deterministik, SRAM-markazli, LLM inferensida tokeniga past kechikish), SambaNova SN40L. Giperskeyl o'z chiplari: Google TPU v6e Trillium (2024) va TPU v7 Ironwood (2025-yil aprelida e'lon qilingan, 4 614 TFLOPS FP8, 192 GB HBM, 9 216 chipli podda 42,5 eksaflops FP8), AWS Trainium2, Microsoft Maia 100, Meta MTIA. NVIDIA yo'l xaritasi: Blackwell (2024–2025), Blackwell Ultra, keyin Rubin (2026) HBM4 bilan. Umumiy yo'nalish — past aniqlik formatlari (FP8, FP6, FP4 — Blackwell da FP4 20 PFLOPS gacha), siyraklik apparat qo'llovi, xotiraga yaqin hisoblash (processing-in-memory, Samsung HBM-PIM) va chipletlar.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Taqqoslash jadvali: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6900000" y="1950000"/>
            <a:ext cx="1633333" cy="48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6900000" y="1950000"/>
            <a:ext cx="1633333" cy="2416666"/>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900000" y="1950000"/>
            <a:ext cx="1633333" cy="338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6900000" y="1466666"/>
            <a:ext cx="1633333" cy="193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6900000" y="2433333"/>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900000" y="3400000"/>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6900000" y="1466666"/>
            <a:ext cx="1633333" cy="33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6900000" y="2433333"/>
            <a:ext cx="1633333" cy="241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900000" y="3400000"/>
            <a:ext cx="1633333" cy="145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6900000" y="4366666"/>
            <a:ext cx="1633333" cy="4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900000" y="4850000"/>
            <a:ext cx="1633333" cy="48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533333" y="1466666"/>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533333" y="1466666"/>
            <a:ext cx="1633333" cy="193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533333" y="1466666"/>
            <a:ext cx="1633333" cy="290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33333" y="1466666"/>
            <a:ext cx="1633333" cy="38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8533333" y="1466666"/>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33333" y="2433333"/>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533333" y="2433333"/>
            <a:ext cx="1633333" cy="290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8533333" y="1466666"/>
            <a:ext cx="1633333" cy="193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8533333" y="2433333"/>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33333" y="3400000"/>
            <a:ext cx="1633333"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533333" y="3400000"/>
            <a:ext cx="1633333" cy="966666"/>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8533333" y="1466666"/>
            <a:ext cx="1633333" cy="290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8533333" y="2433333"/>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533333" y="4366666"/>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8533333" y="1466666"/>
            <a:ext cx="1633333" cy="38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8533333" y="2433333"/>
            <a:ext cx="1633333" cy="290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533333" y="3400000"/>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8533333" y="4366666"/>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533333" y="5333333"/>
            <a:ext cx="1633333"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166666" y="1466666"/>
            <a:ext cx="1633334" cy="193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166666" y="1466666"/>
            <a:ext cx="1633334" cy="33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10166666" y="1950000"/>
            <a:ext cx="1633334" cy="48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166666" y="2433333"/>
            <a:ext cx="1633334"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166666" y="2433333"/>
            <a:ext cx="1633334" cy="241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10166666" y="1950000"/>
            <a:ext cx="1633334" cy="145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166666" y="3400000"/>
            <a:ext cx="1633334"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166666" y="3400000"/>
            <a:ext cx="1633334" cy="145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166666" y="4366666"/>
            <a:ext cx="1633334" cy="4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10166666" y="4850000"/>
            <a:ext cx="1633334" cy="48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6805000" y="1855000"/>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805000" y="3305000"/>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805000" y="4755000"/>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438333" y="1371666"/>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438333" y="2338333"/>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438333" y="3305000"/>
            <a:ext cx="190000" cy="190000"/>
          </a:xfrm>
          <a:prstGeom prst="ellipse">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438333" y="4271666"/>
            <a:ext cx="190000" cy="190000"/>
          </a:xfrm>
          <a:prstGeom prst="ellipse">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8438333" y="5238333"/>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0071666" y="1371666"/>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0071666" y="2338333"/>
            <a:ext cx="190000" cy="190000"/>
          </a:xfrm>
          <a:prstGeom prst="ellipse">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0071666" y="3305000"/>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0071666" y="4271666"/>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0071666" y="5238333"/>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1705000" y="1855000"/>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1705000" y="3305000"/>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1705000" y="4755000"/>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700000" y="1350000"/>
            <a:ext cx="3600000" cy="3600000"/>
          </a:xfrm>
          <a:prstGeom prst="ellipse">
            <a:avLst/>
          </a:prstGeom>
          <a:noFill/>
          <a:ln w="381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550000" y="1200000"/>
            <a:ext cx="3900000" cy="3900000"/>
          </a:xfrm>
          <a:prstGeom prst="ellipse">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2e9a7e0d1541c61b.jpg"/>
          <p:cNvPicPr>
            <a:picLocks noChangeAspect="1"/>
          </p:cNvPicPr>
          <p:nvPr/>
        </p:nvPicPr>
        <p:blipFill>
          <a:blip r:embed="rId2"/>
          <a:srcRect t="12500" b="12500"/>
          <a:stretch>
            <a:fillRect/>
          </a:stretch>
        </p:blipFill>
        <p:spPr>
          <a:xfrm>
            <a:off x="7850000" y="1500000"/>
            <a:ext cx="3300000" cy="3300000"/>
          </a:xfrm>
          <a:prstGeom prst="ellipse">
            <a:avLst/>
          </a:prstGeom>
          <a:ln w="19050">
            <a:solidFill>
              <a:srgbClr val="22D3EE"/>
            </a:solidFill>
          </a:ln>
        </p:spPr>
      </p:pic>
      <p:sp>
        <p:nvSpPr>
          <p:cNvPr id="62" name="TextBox 61"/>
          <p:cNvSpPr txBox="1"/>
          <p:nvPr/>
        </p:nvSpPr>
        <p:spPr>
          <a:xfrm>
            <a:off x="6900000" y="6350000"/>
            <a:ext cx="5000000" cy="260000"/>
          </a:xfrm>
          <a:prstGeom prst="rect">
            <a:avLst/>
          </a:prstGeom>
          <a:noFill/>
        </p:spPr>
        <p:txBody>
          <a:bodyPr wrap="square" anchor="t" lIns="50800" rIns="50800">
            <a:spAutoFit/>
          </a:bodyPr>
          <a:lstStyle/>
          <a:p>
            <a:pPr algn="r"/>
            <a:r>
              <a:rPr sz="800" b="0">
                <a:solidFill>
                  <a:srgbClr val="707EAA"/>
                </a:solidFill>
                <a:latin typeface="Segoe UI"/>
              </a:rPr>
              <a:t>Rasm: Dev Jadiya · Wikimedia Commons · CC BY-SA 4.0</a:t>
            </a:r>
          </a:p>
        </p:txBody>
      </p:sp>
      <p:sp>
        <p:nvSpPr>
          <p:cNvPr id="63" name="Rounded Rectangle 62"/>
          <p:cNvSpPr/>
          <p:nvPr/>
        </p:nvSpPr>
        <p:spPr>
          <a:xfrm>
            <a:off x="700000" y="1250000"/>
            <a:ext cx="3400000" cy="400000"/>
          </a:xfrm>
          <a:prstGeom prst="roundRect">
            <a:avLst/>
          </a:prstGeom>
          <a:no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22D3EE"/>
                </a:solidFill>
                <a:latin typeface="Segoe UI"/>
              </a:rPr>
              <a:t>MA'RUZA · M15 · 2 soat</a:t>
            </a:r>
          </a:p>
        </p:txBody>
      </p:sp>
      <p:sp>
        <p:nvSpPr>
          <p:cNvPr id="64" name="TextBox 63"/>
          <p:cNvSpPr txBox="1"/>
          <p:nvPr/>
        </p:nvSpPr>
        <p:spPr>
          <a:xfrm>
            <a:off x="700000" y="650000"/>
            <a:ext cx="6400000" cy="500000"/>
          </a:xfrm>
          <a:prstGeom prst="rect">
            <a:avLst/>
          </a:prstGeom>
          <a:noFill/>
        </p:spPr>
        <p:txBody>
          <a:bodyPr wrap="square" anchor="t" lIns="50800" rIns="50800">
            <a:spAutoFit/>
          </a:bodyPr>
          <a:lstStyle/>
          <a:p>
            <a:pPr algn="l"/>
            <a:r>
              <a:rPr sz="1400" b="0">
                <a:solidFill>
                  <a:srgbClr val="AEBBD9"/>
                </a:solidFill>
                <a:latin typeface="Segoe UI"/>
              </a:rPr>
              <a:t>Sun'iy intellektga asoslangan kompyuter tizimlari muhandisligi</a:t>
            </a:r>
          </a:p>
        </p:txBody>
      </p:sp>
      <p:sp>
        <p:nvSpPr>
          <p:cNvPr id="65" name="TextBox 64"/>
          <p:cNvSpPr txBox="1"/>
          <p:nvPr/>
        </p:nvSpPr>
        <p:spPr>
          <a:xfrm>
            <a:off x="700000" y="1850000"/>
            <a:ext cx="6400000" cy="2700000"/>
          </a:xfrm>
          <a:prstGeom prst="rect">
            <a:avLst/>
          </a:prstGeom>
          <a:noFill/>
        </p:spPr>
        <p:txBody>
          <a:bodyPr wrap="square" anchor="t" lIns="50800" rIns="50800">
            <a:spAutoFit/>
          </a:bodyPr>
          <a:lstStyle/>
          <a:p>
            <a:pPr algn="l"/>
            <a:r>
              <a:rPr sz="2800" b="1">
                <a:solidFill>
                  <a:srgbClr val="E8EEFA"/>
                </a:solidFill>
                <a:latin typeface="Segoe UI"/>
              </a:rPr>
              <a:t>Kelajak avlod sun'iy intellekt hisoblash tizimlari va istiqbolli texnologiyalar</a:t>
            </a:r>
          </a:p>
        </p:txBody>
      </p:sp>
      <p:sp>
        <p:nvSpPr>
          <p:cNvPr id="66" name="Rectangle 65"/>
          <p:cNvSpPr/>
          <p:nvPr/>
        </p:nvSpPr>
        <p:spPr>
          <a:xfrm>
            <a:off x="760000" y="4650000"/>
            <a:ext cx="26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00000" y="4850000"/>
            <a:ext cx="6400000" cy="1200000"/>
          </a:xfrm>
          <a:prstGeom prst="rect">
            <a:avLst/>
          </a:prstGeom>
          <a:noFill/>
        </p:spPr>
        <p:txBody>
          <a:bodyPr wrap="square" anchor="t" lIns="50800" rIns="50800">
            <a:spAutoFit/>
          </a:bodyPr>
          <a:lstStyle/>
          <a:p>
            <a:pPr algn="l"/>
            <a:r>
              <a:rPr sz="1400" b="0">
                <a:solidFill>
                  <a:srgbClr val="AEBBD9"/>
                </a:solidFill>
                <a:latin typeface="Segoe UI"/>
              </a:rPr>
              <a:t>O‘qituvchi: S.Iskandarova, t.f.f.d. (PhD), dotsent</a:t>
            </a:r>
          </a:p>
          <a:p>
            <a:pPr algn="l"/>
            <a:r>
              <a:rPr sz="1400" b="0">
                <a:solidFill>
                  <a:srgbClr val="AEBBD9"/>
                </a:solidFill>
                <a:latin typeface="Segoe UI"/>
              </a:rPr>
              <a:t>2026-2027 o‘quv yili</a:t>
            </a:r>
          </a:p>
          <a:p>
            <a:pPr algn="l"/>
            <a:r>
              <a:rPr sz="1400" b="0">
                <a:solidFill>
                  <a:srgbClr val="AEBBD9"/>
                </a:solidFill>
                <a:latin typeface="Segoe UI"/>
              </a:rPr>
              <a:t>https://aiscan.airi.uz/ktm/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74"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0"/>
                            </p:stCondLst>
                            <p:childTnLst>
                              <p:par>
                                <p:cTn id="152" presetID="10" presetClass="entr" presetSubtype="0"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childTnLst>
                                </p:cTn>
                              </p:par>
                            </p:childTnLst>
                          </p:cTn>
                        </p:par>
                        <p:par>
                          <p:cTn id="155" fill="hold">
                            <p:stCondLst>
                              <p:cond delay="0"/>
                            </p:stCondLst>
                            <p:childTnLst>
                              <p:par>
                                <p:cTn id="156" presetID="10" presetClass="entr" presetSubtype="0" fill="hold" grpId="0" nodeType="after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fade">
                                      <p:cBhvr>
                                        <p:cTn id="158" dur="550"/>
                                        <p:tgtEl>
                                          <p:spTgt spid="41"/>
                                        </p:tgtEl>
                                      </p:cBhvr>
                                    </p:animEffect>
                                  </p:childTnLst>
                                </p:cTn>
                              </p:par>
                            </p:childTnLst>
                          </p:cTn>
                        </p:par>
                        <p:par>
                          <p:cTn id="159" fill="hold">
                            <p:stCondLst>
                              <p:cond delay="0"/>
                            </p:stCondLst>
                            <p:childTnLst>
                              <p:par>
                                <p:cTn id="160" presetID="10" presetClass="entr" presetSubtype="0" fill="hold" grpId="0" nodeType="afterEffect">
                                  <p:stCondLst>
                                    <p:cond delay="0"/>
                                  </p:stCondLst>
                                  <p:childTnLst>
                                    <p:set>
                                      <p:cBhvr>
                                        <p:cTn id="161" dur="1" fill="hold">
                                          <p:stCondLst>
                                            <p:cond delay="0"/>
                                          </p:stCondLst>
                                        </p:cTn>
                                        <p:tgtEl>
                                          <p:spTgt spid="42"/>
                                        </p:tgtEl>
                                        <p:attrNameLst>
                                          <p:attrName>style.visibility</p:attrName>
                                        </p:attrNameLst>
                                      </p:cBhvr>
                                      <p:to>
                                        <p:strVal val="visible"/>
                                      </p:to>
                                    </p:set>
                                    <p:animEffect transition="in" filter="fade">
                                      <p:cBhvr>
                                        <p:cTn id="162" dur="550"/>
                                        <p:tgtEl>
                                          <p:spTgt spid="42"/>
                                        </p:tgtEl>
                                      </p:cBhvr>
                                    </p:animEffect>
                                  </p:childTnLst>
                                </p:cTn>
                              </p:par>
                            </p:childTnLst>
                          </p:cTn>
                        </p:par>
                        <p:par>
                          <p:cTn id="163" fill="hold">
                            <p:stCondLst>
                              <p:cond delay="0"/>
                            </p:stCondLst>
                            <p:childTnLst>
                              <p:par>
                                <p:cTn id="164" presetID="10" presetClass="entr" presetSubtype="0" fill="hold" grpId="0" nodeType="afterEffect">
                                  <p:stCondLst>
                                    <p:cond delay="0"/>
                                  </p:stCondLst>
                                  <p:childTnLst>
                                    <p:set>
                                      <p:cBhvr>
                                        <p:cTn id="165" dur="1" fill="hold">
                                          <p:stCondLst>
                                            <p:cond delay="0"/>
                                          </p:stCondLst>
                                        </p:cTn>
                                        <p:tgtEl>
                                          <p:spTgt spid="43"/>
                                        </p:tgtEl>
                                        <p:attrNameLst>
                                          <p:attrName>style.visibility</p:attrName>
                                        </p:attrNameLst>
                                      </p:cBhvr>
                                      <p:to>
                                        <p:strVal val="visible"/>
                                      </p:to>
                                    </p:set>
                                    <p:animEffect transition="in" filter="fade">
                                      <p:cBhvr>
                                        <p:cTn id="166" dur="550"/>
                                        <p:tgtEl>
                                          <p:spTgt spid="43"/>
                                        </p:tgtEl>
                                      </p:cBhvr>
                                    </p:animEffect>
                                  </p:childTnLst>
                                </p:cTn>
                              </p:par>
                            </p:childTnLst>
                          </p:cTn>
                        </p:par>
                        <p:par>
                          <p:cTn id="167" fill="hold">
                            <p:stCondLst>
                              <p:cond delay="0"/>
                            </p:stCondLst>
                            <p:childTnLst>
                              <p:par>
                                <p:cTn id="168" presetID="10" presetClass="entr" presetSubtype="0" fill="hold" grpId="0" nodeType="afterEffect">
                                  <p:stCondLst>
                                    <p:cond delay="0"/>
                                  </p:stCondLst>
                                  <p:childTnLst>
                                    <p:set>
                                      <p:cBhvr>
                                        <p:cTn id="169" dur="1" fill="hold">
                                          <p:stCondLst>
                                            <p:cond delay="0"/>
                                          </p:stCondLst>
                                        </p:cTn>
                                        <p:tgtEl>
                                          <p:spTgt spid="44"/>
                                        </p:tgtEl>
                                        <p:attrNameLst>
                                          <p:attrName>style.visibility</p:attrName>
                                        </p:attrNameLst>
                                      </p:cBhvr>
                                      <p:to>
                                        <p:strVal val="visible"/>
                                      </p:to>
                                    </p:set>
                                    <p:animEffect transition="in" filter="fade">
                                      <p:cBhvr>
                                        <p:cTn id="170" dur="550"/>
                                        <p:tgtEl>
                                          <p:spTgt spid="44"/>
                                        </p:tgtEl>
                                      </p:cBhvr>
                                    </p:animEffect>
                                  </p:childTnLst>
                                </p:cTn>
                              </p:par>
                            </p:childTnLst>
                          </p:cTn>
                        </p:par>
                        <p:par>
                          <p:cTn id="171" fill="hold">
                            <p:stCondLst>
                              <p:cond delay="0"/>
                            </p:stCondLst>
                            <p:childTnLst>
                              <p:par>
                                <p:cTn id="172" presetID="10" presetClass="entr" presetSubtype="0" fill="hold" grpId="0" nodeType="afterEffect">
                                  <p:stCondLst>
                                    <p:cond delay="0"/>
                                  </p:stCondLst>
                                  <p:childTnLst>
                                    <p:set>
                                      <p:cBhvr>
                                        <p:cTn id="173" dur="1" fill="hold">
                                          <p:stCondLst>
                                            <p:cond delay="0"/>
                                          </p:stCondLst>
                                        </p:cTn>
                                        <p:tgtEl>
                                          <p:spTgt spid="45"/>
                                        </p:tgtEl>
                                        <p:attrNameLst>
                                          <p:attrName>style.visibility</p:attrName>
                                        </p:attrNameLst>
                                      </p:cBhvr>
                                      <p:to>
                                        <p:strVal val="visible"/>
                                      </p:to>
                                    </p:set>
                                    <p:animEffect transition="in" filter="fade">
                                      <p:cBhvr>
                                        <p:cTn id="174" dur="550"/>
                                        <p:tgtEl>
                                          <p:spTgt spid="45"/>
                                        </p:tgtEl>
                                      </p:cBhvr>
                                    </p:animEffect>
                                  </p:childTnLst>
                                </p:cTn>
                              </p:par>
                            </p:childTnLst>
                          </p:cTn>
                        </p:par>
                        <p:par>
                          <p:cTn id="175" fill="hold">
                            <p:stCondLst>
                              <p:cond delay="0"/>
                            </p:stCondLst>
                            <p:childTnLst>
                              <p:par>
                                <p:cTn id="176" presetID="10" presetClass="entr" presetSubtype="0" fill="hold" grpId="0" nodeType="afterEffect">
                                  <p:stCondLst>
                                    <p:cond delay="0"/>
                                  </p:stCondLst>
                                  <p:childTnLst>
                                    <p:set>
                                      <p:cBhvr>
                                        <p:cTn id="177" dur="1" fill="hold">
                                          <p:stCondLst>
                                            <p:cond delay="0"/>
                                          </p:stCondLst>
                                        </p:cTn>
                                        <p:tgtEl>
                                          <p:spTgt spid="46"/>
                                        </p:tgtEl>
                                        <p:attrNameLst>
                                          <p:attrName>style.visibility</p:attrName>
                                        </p:attrNameLst>
                                      </p:cBhvr>
                                      <p:to>
                                        <p:strVal val="visible"/>
                                      </p:to>
                                    </p:set>
                                    <p:animEffect transition="in" filter="fade">
                                      <p:cBhvr>
                                        <p:cTn id="178" dur="550"/>
                                        <p:tgtEl>
                                          <p:spTgt spid="46"/>
                                        </p:tgtEl>
                                      </p:cBhvr>
                                    </p:animEffect>
                                  </p:childTnLst>
                                </p:cTn>
                              </p:par>
                            </p:childTnLst>
                          </p:cTn>
                        </p:par>
                        <p:par>
                          <p:cTn id="179" fill="hold">
                            <p:stCondLst>
                              <p:cond delay="0"/>
                            </p:stCondLst>
                            <p:childTnLst>
                              <p:par>
                                <p:cTn id="180" presetID="10" presetClass="entr" presetSubtype="0" fill="hold" grpId="0" nodeType="afterEffect">
                                  <p:stCondLst>
                                    <p:cond delay="0"/>
                                  </p:stCondLst>
                                  <p:childTnLst>
                                    <p:set>
                                      <p:cBhvr>
                                        <p:cTn id="181" dur="1" fill="hold">
                                          <p:stCondLst>
                                            <p:cond delay="0"/>
                                          </p:stCondLst>
                                        </p:cTn>
                                        <p:tgtEl>
                                          <p:spTgt spid="47"/>
                                        </p:tgtEl>
                                        <p:attrNameLst>
                                          <p:attrName>style.visibility</p:attrName>
                                        </p:attrNameLst>
                                      </p:cBhvr>
                                      <p:to>
                                        <p:strVal val="visible"/>
                                      </p:to>
                                    </p:set>
                                    <p:animEffect transition="in" filter="fade">
                                      <p:cBhvr>
                                        <p:cTn id="182" dur="550"/>
                                        <p:tgtEl>
                                          <p:spTgt spid="47"/>
                                        </p:tgtEl>
                                      </p:cBhvr>
                                    </p:animEffect>
                                  </p:childTnLst>
                                </p:cTn>
                              </p:par>
                            </p:childTnLst>
                          </p:cTn>
                        </p:par>
                        <p:par>
                          <p:cTn id="183" fill="hold">
                            <p:stCondLst>
                              <p:cond delay="0"/>
                            </p:stCondLst>
                            <p:childTnLst>
                              <p:par>
                                <p:cTn id="184" presetID="10" presetClass="entr" presetSubtype="0" fill="hold" grpId="0" nodeType="afterEffect">
                                  <p:stCondLst>
                                    <p:cond delay="0"/>
                                  </p:stCondLst>
                                  <p:childTnLst>
                                    <p:set>
                                      <p:cBhvr>
                                        <p:cTn id="185" dur="1" fill="hold">
                                          <p:stCondLst>
                                            <p:cond delay="0"/>
                                          </p:stCondLst>
                                        </p:cTn>
                                        <p:tgtEl>
                                          <p:spTgt spid="48"/>
                                        </p:tgtEl>
                                        <p:attrNameLst>
                                          <p:attrName>style.visibility</p:attrName>
                                        </p:attrNameLst>
                                      </p:cBhvr>
                                      <p:to>
                                        <p:strVal val="visible"/>
                                      </p:to>
                                    </p:set>
                                    <p:animEffect transition="in" filter="fade">
                                      <p:cBhvr>
                                        <p:cTn id="186" dur="550"/>
                                        <p:tgtEl>
                                          <p:spTgt spid="48"/>
                                        </p:tgtEl>
                                      </p:cBhvr>
                                    </p:animEffect>
                                  </p:childTnLst>
                                </p:cTn>
                              </p:par>
                            </p:childTnLst>
                          </p:cTn>
                        </p:par>
                        <p:par>
                          <p:cTn id="187" fill="hold">
                            <p:stCondLst>
                              <p:cond delay="0"/>
                            </p:stCondLst>
                            <p:childTnLst>
                              <p:par>
                                <p:cTn id="188" presetID="10" presetClass="entr" presetSubtype="0" fill="hold" grpId="0" nodeType="afterEffect">
                                  <p:stCondLst>
                                    <p:cond delay="0"/>
                                  </p:stCondLst>
                                  <p:childTnLst>
                                    <p:set>
                                      <p:cBhvr>
                                        <p:cTn id="189" dur="1" fill="hold">
                                          <p:stCondLst>
                                            <p:cond delay="0"/>
                                          </p:stCondLst>
                                        </p:cTn>
                                        <p:tgtEl>
                                          <p:spTgt spid="49"/>
                                        </p:tgtEl>
                                        <p:attrNameLst>
                                          <p:attrName>style.visibility</p:attrName>
                                        </p:attrNameLst>
                                      </p:cBhvr>
                                      <p:to>
                                        <p:strVal val="visible"/>
                                      </p:to>
                                    </p:set>
                                    <p:animEffect transition="in" filter="fade">
                                      <p:cBhvr>
                                        <p:cTn id="190" dur="550"/>
                                        <p:tgtEl>
                                          <p:spTgt spid="49"/>
                                        </p:tgtEl>
                                      </p:cBhvr>
                                    </p:animEffect>
                                  </p:childTnLst>
                                </p:cTn>
                              </p:par>
                            </p:childTnLst>
                          </p:cTn>
                        </p:par>
                        <p:par>
                          <p:cTn id="191" fill="hold">
                            <p:stCondLst>
                              <p:cond delay="0"/>
                            </p:stCondLst>
                            <p:childTnLst>
                              <p:par>
                                <p:cTn id="192" presetID="10" presetClass="entr" presetSubtype="0" fill="hold" grpId="0" nodeType="afterEffect">
                                  <p:stCondLst>
                                    <p:cond delay="0"/>
                                  </p:stCondLst>
                                  <p:childTnLst>
                                    <p:set>
                                      <p:cBhvr>
                                        <p:cTn id="193" dur="1" fill="hold">
                                          <p:stCondLst>
                                            <p:cond delay="0"/>
                                          </p:stCondLst>
                                        </p:cTn>
                                        <p:tgtEl>
                                          <p:spTgt spid="50"/>
                                        </p:tgtEl>
                                        <p:attrNameLst>
                                          <p:attrName>style.visibility</p:attrName>
                                        </p:attrNameLst>
                                      </p:cBhvr>
                                      <p:to>
                                        <p:strVal val="visible"/>
                                      </p:to>
                                    </p:set>
                                    <p:animEffect transition="in" filter="fade">
                                      <p:cBhvr>
                                        <p:cTn id="194" dur="550"/>
                                        <p:tgtEl>
                                          <p:spTgt spid="50"/>
                                        </p:tgtEl>
                                      </p:cBhvr>
                                    </p:animEffect>
                                  </p:childTnLst>
                                </p:cTn>
                              </p:par>
                            </p:childTnLst>
                          </p:cTn>
                        </p:par>
                        <p:par>
                          <p:cTn id="195" fill="hold">
                            <p:stCondLst>
                              <p:cond delay="0"/>
                            </p:stCondLst>
                            <p:childTnLst>
                              <p:par>
                                <p:cTn id="196" presetID="10" presetClass="entr" presetSubtype="0" fill="hold" grpId="0" nodeType="afterEffect">
                                  <p:stCondLst>
                                    <p:cond delay="0"/>
                                  </p:stCondLst>
                                  <p:childTnLst>
                                    <p:set>
                                      <p:cBhvr>
                                        <p:cTn id="197" dur="1" fill="hold">
                                          <p:stCondLst>
                                            <p:cond delay="0"/>
                                          </p:stCondLst>
                                        </p:cTn>
                                        <p:tgtEl>
                                          <p:spTgt spid="51"/>
                                        </p:tgtEl>
                                        <p:attrNameLst>
                                          <p:attrName>style.visibility</p:attrName>
                                        </p:attrNameLst>
                                      </p:cBhvr>
                                      <p:to>
                                        <p:strVal val="visible"/>
                                      </p:to>
                                    </p:set>
                                    <p:animEffect transition="in" filter="fade">
                                      <p:cBhvr>
                                        <p:cTn id="198" dur="550"/>
                                        <p:tgtEl>
                                          <p:spTgt spid="51"/>
                                        </p:tgtEl>
                                      </p:cBhvr>
                                    </p:animEffect>
                                  </p:childTnLst>
                                </p:cTn>
                              </p:par>
                            </p:childTnLst>
                          </p:cTn>
                        </p:par>
                        <p:par>
                          <p:cTn id="199" fill="hold">
                            <p:stCondLst>
                              <p:cond delay="0"/>
                            </p:stCondLst>
                            <p:childTnLst>
                              <p:par>
                                <p:cTn id="200" presetID="10" presetClass="entr" presetSubtype="0" fill="hold" grpId="0" nodeType="afterEffect">
                                  <p:stCondLst>
                                    <p:cond delay="0"/>
                                  </p:stCondLst>
                                  <p:childTnLst>
                                    <p:set>
                                      <p:cBhvr>
                                        <p:cTn id="201" dur="1" fill="hold">
                                          <p:stCondLst>
                                            <p:cond delay="0"/>
                                          </p:stCondLst>
                                        </p:cTn>
                                        <p:tgtEl>
                                          <p:spTgt spid="52"/>
                                        </p:tgtEl>
                                        <p:attrNameLst>
                                          <p:attrName>style.visibility</p:attrName>
                                        </p:attrNameLst>
                                      </p:cBhvr>
                                      <p:to>
                                        <p:strVal val="visible"/>
                                      </p:to>
                                    </p:set>
                                    <p:animEffect transition="in" filter="fade">
                                      <p:cBhvr>
                                        <p:cTn id="202" dur="550"/>
                                        <p:tgtEl>
                                          <p:spTgt spid="52"/>
                                        </p:tgtEl>
                                      </p:cBhvr>
                                    </p:animEffect>
                                  </p:childTnLst>
                                </p:cTn>
                              </p:par>
                            </p:childTnLst>
                          </p:cTn>
                        </p:par>
                        <p:par>
                          <p:cTn id="203" fill="hold">
                            <p:stCondLst>
                              <p:cond delay="0"/>
                            </p:stCondLst>
                            <p:childTnLst>
                              <p:par>
                                <p:cTn id="204" presetID="10" presetClass="entr" presetSubtype="0" fill="hold" grpId="0" nodeType="afterEffect">
                                  <p:stCondLst>
                                    <p:cond delay="0"/>
                                  </p:stCondLst>
                                  <p:childTnLst>
                                    <p:set>
                                      <p:cBhvr>
                                        <p:cTn id="205" dur="1" fill="hold">
                                          <p:stCondLst>
                                            <p:cond delay="0"/>
                                          </p:stCondLst>
                                        </p:cTn>
                                        <p:tgtEl>
                                          <p:spTgt spid="53"/>
                                        </p:tgtEl>
                                        <p:attrNameLst>
                                          <p:attrName>style.visibility</p:attrName>
                                        </p:attrNameLst>
                                      </p:cBhvr>
                                      <p:to>
                                        <p:strVal val="visible"/>
                                      </p:to>
                                    </p:set>
                                    <p:animEffect transition="in" filter="fade">
                                      <p:cBhvr>
                                        <p:cTn id="206" dur="550"/>
                                        <p:tgtEl>
                                          <p:spTgt spid="53"/>
                                        </p:tgtEl>
                                      </p:cBhvr>
                                    </p:animEffect>
                                  </p:childTnLst>
                                </p:cTn>
                              </p:par>
                            </p:childTnLst>
                          </p:cTn>
                        </p:par>
                        <p:par>
                          <p:cTn id="207" fill="hold">
                            <p:stCondLst>
                              <p:cond delay="0"/>
                            </p:stCondLst>
                            <p:childTnLst>
                              <p:par>
                                <p:cTn id="208" presetID="10" presetClass="entr" presetSubtype="0" fill="hold" grpId="0" nodeType="afterEffect">
                                  <p:stCondLst>
                                    <p:cond delay="0"/>
                                  </p:stCondLst>
                                  <p:childTnLst>
                                    <p:set>
                                      <p:cBhvr>
                                        <p:cTn id="209" dur="1" fill="hold">
                                          <p:stCondLst>
                                            <p:cond delay="0"/>
                                          </p:stCondLst>
                                        </p:cTn>
                                        <p:tgtEl>
                                          <p:spTgt spid="54"/>
                                        </p:tgtEl>
                                        <p:attrNameLst>
                                          <p:attrName>style.visibility</p:attrName>
                                        </p:attrNameLst>
                                      </p:cBhvr>
                                      <p:to>
                                        <p:strVal val="visible"/>
                                      </p:to>
                                    </p:set>
                                    <p:animEffect transition="in" filter="fade">
                                      <p:cBhvr>
                                        <p:cTn id="210" dur="550"/>
                                        <p:tgtEl>
                                          <p:spTgt spid="54"/>
                                        </p:tgtEl>
                                      </p:cBhvr>
                                    </p:animEffect>
                                  </p:childTnLst>
                                </p:cTn>
                              </p:par>
                            </p:childTnLst>
                          </p:cTn>
                        </p:par>
                        <p:par>
                          <p:cTn id="211" fill="hold">
                            <p:stCondLst>
                              <p:cond delay="0"/>
                            </p:stCondLst>
                            <p:childTnLst>
                              <p:par>
                                <p:cTn id="212" presetID="10" presetClass="entr" presetSubtype="0" fill="hold" grpId="0" nodeType="afterEffect">
                                  <p:stCondLst>
                                    <p:cond delay="0"/>
                                  </p:stCondLst>
                                  <p:childTnLst>
                                    <p:set>
                                      <p:cBhvr>
                                        <p:cTn id="213" dur="1" fill="hold">
                                          <p:stCondLst>
                                            <p:cond delay="0"/>
                                          </p:stCondLst>
                                        </p:cTn>
                                        <p:tgtEl>
                                          <p:spTgt spid="55"/>
                                        </p:tgtEl>
                                        <p:attrNameLst>
                                          <p:attrName>style.visibility</p:attrName>
                                        </p:attrNameLst>
                                      </p:cBhvr>
                                      <p:to>
                                        <p:strVal val="visible"/>
                                      </p:to>
                                    </p:set>
                                    <p:animEffect transition="in" filter="fade">
                                      <p:cBhvr>
                                        <p:cTn id="214" dur="550"/>
                                        <p:tgtEl>
                                          <p:spTgt spid="55"/>
                                        </p:tgtEl>
                                      </p:cBhvr>
                                    </p:animEffect>
                                  </p:childTnLst>
                                </p:cTn>
                              </p:par>
                            </p:childTnLst>
                          </p:cTn>
                        </p:par>
                        <p:par>
                          <p:cTn id="215" fill="hold">
                            <p:stCondLst>
                              <p:cond delay="0"/>
                            </p:stCondLst>
                            <p:childTnLst>
                              <p:par>
                                <p:cTn id="216" presetID="10" presetClass="entr" presetSubtype="0" fill="hold" grpId="0" nodeType="afterEffect">
                                  <p:stCondLst>
                                    <p:cond delay="0"/>
                                  </p:stCondLst>
                                  <p:childTnLst>
                                    <p:set>
                                      <p:cBhvr>
                                        <p:cTn id="217" dur="1" fill="hold">
                                          <p:stCondLst>
                                            <p:cond delay="0"/>
                                          </p:stCondLst>
                                        </p:cTn>
                                        <p:tgtEl>
                                          <p:spTgt spid="56"/>
                                        </p:tgtEl>
                                        <p:attrNameLst>
                                          <p:attrName>style.visibility</p:attrName>
                                        </p:attrNameLst>
                                      </p:cBhvr>
                                      <p:to>
                                        <p:strVal val="visible"/>
                                      </p:to>
                                    </p:set>
                                    <p:animEffect transition="in" filter="fade">
                                      <p:cBhvr>
                                        <p:cTn id="218" dur="550"/>
                                        <p:tgtEl>
                                          <p:spTgt spid="56"/>
                                        </p:tgtEl>
                                      </p:cBhvr>
                                    </p:animEffect>
                                  </p:childTnLst>
                                </p:cTn>
                              </p:par>
                            </p:childTnLst>
                          </p:cTn>
                        </p:par>
                        <p:par>
                          <p:cTn id="219" fill="hold">
                            <p:stCondLst>
                              <p:cond delay="0"/>
                            </p:stCondLst>
                            <p:childTnLst>
                              <p:par>
                                <p:cTn id="220" presetID="10" presetClass="entr" presetSubtype="0" fill="hold" grpId="0" nodeType="afterEffect">
                                  <p:stCondLst>
                                    <p:cond delay="0"/>
                                  </p:stCondLst>
                                  <p:childTnLst>
                                    <p:set>
                                      <p:cBhvr>
                                        <p:cTn id="221" dur="1" fill="hold">
                                          <p:stCondLst>
                                            <p:cond delay="0"/>
                                          </p:stCondLst>
                                        </p:cTn>
                                        <p:tgtEl>
                                          <p:spTgt spid="57"/>
                                        </p:tgtEl>
                                        <p:attrNameLst>
                                          <p:attrName>style.visibility</p:attrName>
                                        </p:attrNameLst>
                                      </p:cBhvr>
                                      <p:to>
                                        <p:strVal val="visible"/>
                                      </p:to>
                                    </p:set>
                                    <p:animEffect transition="in" filter="fade">
                                      <p:cBhvr>
                                        <p:cTn id="222" dur="550"/>
                                        <p:tgtEl>
                                          <p:spTgt spid="57"/>
                                        </p:tgtEl>
                                      </p:cBhvr>
                                    </p:animEffect>
                                  </p:childTnLst>
                                </p:cTn>
                              </p:par>
                            </p:childTnLst>
                          </p:cTn>
                        </p:par>
                        <p:par>
                          <p:cTn id="223" fill="hold">
                            <p:stCondLst>
                              <p:cond delay="0"/>
                            </p:stCondLst>
                            <p:childTnLst>
                              <p:par>
                                <p:cTn id="224" presetID="10" presetClass="entr" presetSubtype="0" fill="hold" grpId="0" nodeType="afterEffect">
                                  <p:stCondLst>
                                    <p:cond delay="0"/>
                                  </p:stCondLst>
                                  <p:childTnLst>
                                    <p:set>
                                      <p:cBhvr>
                                        <p:cTn id="225" dur="1" fill="hold">
                                          <p:stCondLst>
                                            <p:cond delay="0"/>
                                          </p:stCondLst>
                                        </p:cTn>
                                        <p:tgtEl>
                                          <p:spTgt spid="58"/>
                                        </p:tgtEl>
                                        <p:attrNameLst>
                                          <p:attrName>style.visibility</p:attrName>
                                        </p:attrNameLst>
                                      </p:cBhvr>
                                      <p:to>
                                        <p:strVal val="visible"/>
                                      </p:to>
                                    </p:set>
                                    <p:animEffect transition="in" filter="fade">
                                      <p:cBhvr>
                                        <p:cTn id="226" dur="550"/>
                                        <p:tgtEl>
                                          <p:spTgt spid="58"/>
                                        </p:tgtEl>
                                      </p:cBhvr>
                                    </p:animEffect>
                                  </p:childTnLst>
                                </p:cTn>
                              </p:par>
                            </p:childTnLst>
                          </p:cTn>
                        </p:par>
                        <p:par>
                          <p:cTn id="227" fill="hold">
                            <p:stCondLst>
                              <p:cond delay="200"/>
                            </p:stCondLst>
                            <p:childTnLst>
                              <p:par>
                                <p:cTn id="228" presetID="53" presetClass="entr" presetSubtype="16" fill="hold" grpId="0" nodeType="afterEffect">
                                  <p:stCondLst>
                                    <p:cond delay="0"/>
                                  </p:stCondLst>
                                  <p:childTnLst>
                                    <p:set>
                                      <p:cBhvr>
                                        <p:cTn id="229" dur="1" fill="hold">
                                          <p:stCondLst>
                                            <p:cond delay="0"/>
                                          </p:stCondLst>
                                        </p:cTn>
                                        <p:tgtEl>
                                          <p:spTgt spid="60"/>
                                        </p:tgtEl>
                                        <p:attrNameLst>
                                          <p:attrName>style.visibility</p:attrName>
                                        </p:attrNameLst>
                                      </p:cBhvr>
                                      <p:to>
                                        <p:strVal val="visible"/>
                                      </p:to>
                                    </p:set>
                                    <p:animEffect transition="in" filter="fade">
                                      <p:cBhvr>
                                        <p:cTn id="230" dur="550"/>
                                        <p:tgtEl>
                                          <p:spTgt spid="60"/>
                                        </p:tgtEl>
                                      </p:cBhvr>
                                    </p:animEffect>
                                    <p:anim calcmode="lin" valueType="num">
                                      <p:cBhvr additive="base">
                                        <p:cTn id="231" dur="550" fill="hold"/>
                                        <p:tgtEl>
                                          <p:spTgt spid="60"/>
                                        </p:tgtEl>
                                        <p:attrNameLst>
                                          <p:attrName>ppt_w</p:attrName>
                                        </p:attrNameLst>
                                      </p:cBhvr>
                                      <p:tavLst>
                                        <p:tav tm="0">
                                          <p:val>
                                            <p:strVal val="0"/>
                                          </p:val>
                                        </p:tav>
                                        <p:tav tm="100000">
                                          <p:val>
                                            <p:strVal val="#ppt_w"/>
                                          </p:val>
                                        </p:tav>
                                      </p:tavLst>
                                    </p:anim>
                                    <p:anim calcmode="lin" valueType="num">
                                      <p:cBhvr additive="base">
                                        <p:cTn id="232" dur="550" fill="hold"/>
                                        <p:tgtEl>
                                          <p:spTgt spid="60"/>
                                        </p:tgtEl>
                                        <p:attrNameLst>
                                          <p:attrName>ppt_h</p:attrName>
                                        </p:attrNameLst>
                                      </p:cBhvr>
                                      <p:tavLst>
                                        <p:tav tm="0">
                                          <p:val>
                                            <p:strVal val="0"/>
                                          </p:val>
                                        </p:tav>
                                        <p:tav tm="100000">
                                          <p:val>
                                            <p:strVal val="#ppt_h"/>
                                          </p:val>
                                        </p:tav>
                                      </p:tavLst>
                                    </p:anim>
                                  </p:childTnLst>
                                </p:cTn>
                              </p:par>
                            </p:childTnLst>
                          </p:cTn>
                        </p:par>
                        <p:par>
                          <p:cTn id="233" fill="hold">
                            <p:stCondLst>
                              <p:cond delay="200"/>
                            </p:stCondLst>
                            <p:childTnLst>
                              <p:par>
                                <p:cTn id="234" presetID="53" presetClass="entr" presetSubtype="16" fill="hold" grpId="0" nodeType="afterEffect">
                                  <p:stCondLst>
                                    <p:cond delay="0"/>
                                  </p:stCondLst>
                                  <p:childTnLst>
                                    <p:set>
                                      <p:cBhvr>
                                        <p:cTn id="235" dur="1" fill="hold">
                                          <p:stCondLst>
                                            <p:cond delay="0"/>
                                          </p:stCondLst>
                                        </p:cTn>
                                        <p:tgtEl>
                                          <p:spTgt spid="59"/>
                                        </p:tgtEl>
                                        <p:attrNameLst>
                                          <p:attrName>style.visibility</p:attrName>
                                        </p:attrNameLst>
                                      </p:cBhvr>
                                      <p:to>
                                        <p:strVal val="visible"/>
                                      </p:to>
                                    </p:set>
                                    <p:animEffect transition="in" filter="fade">
                                      <p:cBhvr>
                                        <p:cTn id="236" dur="550"/>
                                        <p:tgtEl>
                                          <p:spTgt spid="59"/>
                                        </p:tgtEl>
                                      </p:cBhvr>
                                    </p:animEffect>
                                    <p:anim calcmode="lin" valueType="num">
                                      <p:cBhvr additive="base">
                                        <p:cTn id="237" dur="550" fill="hold"/>
                                        <p:tgtEl>
                                          <p:spTgt spid="59"/>
                                        </p:tgtEl>
                                        <p:attrNameLst>
                                          <p:attrName>ppt_w</p:attrName>
                                        </p:attrNameLst>
                                      </p:cBhvr>
                                      <p:tavLst>
                                        <p:tav tm="0">
                                          <p:val>
                                            <p:strVal val="0"/>
                                          </p:val>
                                        </p:tav>
                                        <p:tav tm="100000">
                                          <p:val>
                                            <p:strVal val="#ppt_w"/>
                                          </p:val>
                                        </p:tav>
                                      </p:tavLst>
                                    </p:anim>
                                    <p:anim calcmode="lin" valueType="num">
                                      <p:cBhvr additive="base">
                                        <p:cTn id="238" dur="550" fill="hold"/>
                                        <p:tgtEl>
                                          <p:spTgt spid="59"/>
                                        </p:tgtEl>
                                        <p:attrNameLst>
                                          <p:attrName>ppt_h</p:attrName>
                                        </p:attrNameLst>
                                      </p:cBhvr>
                                      <p:tavLst>
                                        <p:tav tm="0">
                                          <p:val>
                                            <p:strVal val="0"/>
                                          </p:val>
                                        </p:tav>
                                        <p:tav tm="100000">
                                          <p:val>
                                            <p:strVal val="#ppt_h"/>
                                          </p:val>
                                        </p:tav>
                                      </p:tavLst>
                                    </p:anim>
                                  </p:childTnLst>
                                </p:cTn>
                              </p:par>
                            </p:childTnLst>
                          </p:cTn>
                        </p:par>
                        <p:par>
                          <p:cTn id="239" fill="hold">
                            <p:stCondLst>
                              <p:cond delay="200"/>
                            </p:stCondLst>
                            <p:childTnLst>
                              <p:par>
                                <p:cTn id="240" presetID="53" presetClass="entr" presetSubtype="16" fill="hold" grpId="0" nodeType="afterEffect">
                                  <p:stCondLst>
                                    <p:cond delay="0"/>
                                  </p:stCondLst>
                                  <p:childTnLst>
                                    <p:set>
                                      <p:cBhvr>
                                        <p:cTn id="241" dur="1" fill="hold">
                                          <p:stCondLst>
                                            <p:cond delay="0"/>
                                          </p:stCondLst>
                                        </p:cTn>
                                        <p:tgtEl>
                                          <p:spTgt spid="61"/>
                                        </p:tgtEl>
                                        <p:attrNameLst>
                                          <p:attrName>style.visibility</p:attrName>
                                        </p:attrNameLst>
                                      </p:cBhvr>
                                      <p:to>
                                        <p:strVal val="visible"/>
                                      </p:to>
                                    </p:set>
                                    <p:animEffect transition="in" filter="fade">
                                      <p:cBhvr>
                                        <p:cTn id="242" dur="550"/>
                                        <p:tgtEl>
                                          <p:spTgt spid="61"/>
                                        </p:tgtEl>
                                      </p:cBhvr>
                                    </p:animEffect>
                                    <p:anim calcmode="lin" valueType="num">
                                      <p:cBhvr additive="base">
                                        <p:cTn id="243" dur="550" fill="hold"/>
                                        <p:tgtEl>
                                          <p:spTgt spid="61"/>
                                        </p:tgtEl>
                                        <p:attrNameLst>
                                          <p:attrName>ppt_w</p:attrName>
                                        </p:attrNameLst>
                                      </p:cBhvr>
                                      <p:tavLst>
                                        <p:tav tm="0">
                                          <p:val>
                                            <p:strVal val="0"/>
                                          </p:val>
                                        </p:tav>
                                        <p:tav tm="100000">
                                          <p:val>
                                            <p:strVal val="#ppt_w"/>
                                          </p:val>
                                        </p:tav>
                                      </p:tavLst>
                                    </p:anim>
                                    <p:anim calcmode="lin" valueType="num">
                                      <p:cBhvr additive="base">
                                        <p:cTn id="244" dur="550" fill="hold"/>
                                        <p:tgtEl>
                                          <p:spTgt spid="61"/>
                                        </p:tgtEl>
                                        <p:attrNameLst>
                                          <p:attrName>ppt_h</p:attrName>
                                        </p:attrNameLst>
                                      </p:cBhvr>
                                      <p:tavLst>
                                        <p:tav tm="0">
                                          <p:val>
                                            <p:strVal val="0"/>
                                          </p:val>
                                        </p:tav>
                                        <p:tav tm="100000">
                                          <p:val>
                                            <p:strVal val="#ppt_h"/>
                                          </p:val>
                                        </p:tav>
                                      </p:tavLst>
                                    </p:anim>
                                  </p:childTnLst>
                                </p:cTn>
                              </p:par>
                            </p:childTnLst>
                          </p:cTn>
                        </p:par>
                        <p:par>
                          <p:cTn id="245" fill="hold">
                            <p:stCondLst>
                              <p:cond delay="200"/>
                            </p:stCondLst>
                            <p:childTnLst>
                              <p:par>
                                <p:cTn id="246" presetID="10" presetClass="entr" presetSubtype="0" fill="hold" grpId="0" nodeType="afterEffect">
                                  <p:stCondLst>
                                    <p:cond delay="0"/>
                                  </p:stCondLst>
                                  <p:childTnLst>
                                    <p:set>
                                      <p:cBhvr>
                                        <p:cTn id="247" dur="1" fill="hold">
                                          <p:stCondLst>
                                            <p:cond delay="0"/>
                                          </p:stCondLst>
                                        </p:cTn>
                                        <p:tgtEl>
                                          <p:spTgt spid="62"/>
                                        </p:tgtEl>
                                        <p:attrNameLst>
                                          <p:attrName>style.visibility</p:attrName>
                                        </p:attrNameLst>
                                      </p:cBhvr>
                                      <p:to>
                                        <p:strVal val="visible"/>
                                      </p:to>
                                    </p:set>
                                    <p:animEffect transition="in" filter="fade">
                                      <p:cBhvr>
                                        <p:cTn id="248" dur="550"/>
                                        <p:tgtEl>
                                          <p:spTgt spid="62"/>
                                        </p:tgtEl>
                                      </p:cBhvr>
                                    </p:animEffect>
                                  </p:childTnLst>
                                </p:cTn>
                              </p:par>
                            </p:childTnLst>
                          </p:cTn>
                        </p:par>
                        <p:par>
                          <p:cTn id="249" fill="hold">
                            <p:stCondLst>
                              <p:cond delay="350"/>
                            </p:stCondLst>
                            <p:childTnLst>
                              <p:par>
                                <p:cTn id="250" presetID="10" presetClass="entr" presetSubtype="0" fill="hold" grpId="0" nodeType="afterEffect">
                                  <p:stCondLst>
                                    <p:cond delay="0"/>
                                  </p:stCondLst>
                                  <p:childTnLst>
                                    <p:set>
                                      <p:cBhvr>
                                        <p:cTn id="251" dur="1" fill="hold">
                                          <p:stCondLst>
                                            <p:cond delay="0"/>
                                          </p:stCondLst>
                                        </p:cTn>
                                        <p:tgtEl>
                                          <p:spTgt spid="64"/>
                                        </p:tgtEl>
                                        <p:attrNameLst>
                                          <p:attrName>style.visibility</p:attrName>
                                        </p:attrNameLst>
                                      </p:cBhvr>
                                      <p:to>
                                        <p:strVal val="visible"/>
                                      </p:to>
                                    </p:set>
                                    <p:animEffect transition="in" filter="fade">
                                      <p:cBhvr>
                                        <p:cTn id="252" dur="550"/>
                                        <p:tgtEl>
                                          <p:spTgt spid="64"/>
                                        </p:tgtEl>
                                      </p:cBhvr>
                                    </p:animEffect>
                                  </p:childTnLst>
                                </p:cTn>
                              </p:par>
                            </p:childTnLst>
                          </p:cTn>
                        </p:par>
                        <p:par>
                          <p:cTn id="253" fill="hold">
                            <p:stCondLst>
                              <p:cond delay="500"/>
                            </p:stCondLst>
                            <p:childTnLst>
                              <p:par>
                                <p:cTn id="254" presetID="2" presetClass="entr" presetSubtype="8" fill="hold" grpId="0" nodeType="afterEffect">
                                  <p:stCondLst>
                                    <p:cond delay="0"/>
                                  </p:stCondLst>
                                  <p:childTnLst>
                                    <p:set>
                                      <p:cBhvr>
                                        <p:cTn id="255" dur="1" fill="hold">
                                          <p:stCondLst>
                                            <p:cond delay="0"/>
                                          </p:stCondLst>
                                        </p:cTn>
                                        <p:tgtEl>
                                          <p:spTgt spid="63"/>
                                        </p:tgtEl>
                                        <p:attrNameLst>
                                          <p:attrName>style.visibility</p:attrName>
                                        </p:attrNameLst>
                                      </p:cBhvr>
                                      <p:to>
                                        <p:strVal val="visible"/>
                                      </p:to>
                                    </p:set>
                                    <p:anim calcmode="lin" valueType="num">
                                      <p:cBhvr additive="base">
                                        <p:cTn id="257" dur="550" fill="hold"/>
                                        <p:tgtEl>
                                          <p:spTgt spid="63"/>
                                        </p:tgtEl>
                                        <p:attrNameLst>
                                          <p:attrName>ppt_x</p:attrName>
                                        </p:attrNameLst>
                                      </p:cBhvr>
                                      <p:tavLst>
                                        <p:tav tm="0">
                                          <p:val>
                                            <p:strVal val="0-#ppt_w/2"/>
                                          </p:val>
                                        </p:tav>
                                        <p:tav tm="100000">
                                          <p:val>
                                            <p:strVal val="#ppt_x"/>
                                          </p:val>
                                        </p:tav>
                                      </p:tavLst>
                                    </p:anim>
                                    <p:anim calcmode="lin" valueType="num">
                                      <p:cBhvr additive="base">
                                        <p:cTn id="258" dur="550" fill="hold"/>
                                        <p:tgtEl>
                                          <p:spTgt spid="63"/>
                                        </p:tgtEl>
                                        <p:attrNameLst>
                                          <p:attrName>ppt_y</p:attrName>
                                        </p:attrNameLst>
                                      </p:cBhvr>
                                      <p:tavLst>
                                        <p:tav tm="0">
                                          <p:val>
                                            <p:strVal val="#ppt_y"/>
                                          </p:val>
                                        </p:tav>
                                        <p:tav tm="100000">
                                          <p:val>
                                            <p:strVal val="#ppt_y"/>
                                          </p:val>
                                        </p:tav>
                                      </p:tavLst>
                                    </p:anim>
                                  </p:childTnLst>
                                </p:cTn>
                              </p:par>
                            </p:childTnLst>
                          </p:cTn>
                        </p:par>
                        <p:par>
                          <p:cTn id="259" fill="hold">
                            <p:stCondLst>
                              <p:cond delay="650"/>
                            </p:stCondLst>
                            <p:childTnLst>
                              <p:par>
                                <p:cTn id="260" presetID="42" presetClass="entr" presetSubtype="0" fill="hold" grpId="0" nodeType="afterEffect">
                                  <p:stCondLst>
                                    <p:cond delay="0"/>
                                  </p:stCondLst>
                                  <p:childTnLst>
                                    <p:set>
                                      <p:cBhvr>
                                        <p:cTn id="261" dur="1" fill="hold">
                                          <p:stCondLst>
                                            <p:cond delay="0"/>
                                          </p:stCondLst>
                                        </p:cTn>
                                        <p:tgtEl>
                                          <p:spTgt spid="65"/>
                                        </p:tgtEl>
                                        <p:attrNameLst>
                                          <p:attrName>style.visibility</p:attrName>
                                        </p:attrNameLst>
                                      </p:cBhvr>
                                      <p:to>
                                        <p:strVal val="visible"/>
                                      </p:to>
                                    </p:set>
                                    <p:animEffect transition="in" filter="fade">
                                      <p:cBhvr>
                                        <p:cTn id="262" dur="550"/>
                                        <p:tgtEl>
                                          <p:spTgt spid="65"/>
                                        </p:tgtEl>
                                      </p:cBhvr>
                                    </p:animEffect>
                                    <p:anim calcmode="lin" valueType="num">
                                      <p:cBhvr additive="base">
                                        <p:cTn id="263" dur="550" fill="hold"/>
                                        <p:tgtEl>
                                          <p:spTgt spid="65"/>
                                        </p:tgtEl>
                                        <p:attrNameLst>
                                          <p:attrName>ppt_x</p:attrName>
                                        </p:attrNameLst>
                                      </p:cBhvr>
                                      <p:tavLst>
                                        <p:tav tm="0">
                                          <p:val>
                                            <p:strVal val="#ppt_x"/>
                                          </p:val>
                                        </p:tav>
                                        <p:tav tm="100000">
                                          <p:val>
                                            <p:strVal val="#ppt_x"/>
                                          </p:val>
                                        </p:tav>
                                      </p:tavLst>
                                    </p:anim>
                                    <p:anim calcmode="lin" valueType="num">
                                      <p:cBhvr additive="base">
                                        <p:cTn id="264" dur="550" fill="hold"/>
                                        <p:tgtEl>
                                          <p:spTgt spid="65"/>
                                        </p:tgtEl>
                                        <p:attrNameLst>
                                          <p:attrName>ppt_y</p:attrName>
                                        </p:attrNameLst>
                                      </p:cBhvr>
                                      <p:tavLst>
                                        <p:tav tm="0">
                                          <p:val>
                                            <p:strVal val="#ppt_y+.08"/>
                                          </p:val>
                                        </p:tav>
                                        <p:tav tm="100000">
                                          <p:val>
                                            <p:strVal val="#ppt_y"/>
                                          </p:val>
                                        </p:tav>
                                      </p:tavLst>
                                    </p:anim>
                                  </p:childTnLst>
                                </p:cTn>
                              </p:par>
                            </p:childTnLst>
                          </p:cTn>
                        </p:par>
                        <p:par>
                          <p:cTn id="265" fill="hold">
                            <p:stCondLst>
                              <p:cond delay="800"/>
                            </p:stCondLst>
                            <p:childTnLst>
                              <p:par>
                                <p:cTn id="266" presetID="22" presetClass="entr" presetSubtype="8" fill="hold" grpId="0" nodeType="afterEffect">
                                  <p:stCondLst>
                                    <p:cond delay="0"/>
                                  </p:stCondLst>
                                  <p:childTnLst>
                                    <p:set>
                                      <p:cBhvr>
                                        <p:cTn id="267" dur="1" fill="hold">
                                          <p:stCondLst>
                                            <p:cond delay="0"/>
                                          </p:stCondLst>
                                        </p:cTn>
                                        <p:tgtEl>
                                          <p:spTgt spid="66"/>
                                        </p:tgtEl>
                                        <p:attrNameLst>
                                          <p:attrName>style.visibility</p:attrName>
                                        </p:attrNameLst>
                                      </p:cBhvr>
                                      <p:to>
                                        <p:strVal val="visible"/>
                                      </p:to>
                                    </p:set>
                                    <p:animEffect transition="in" filter="wipe(left)">
                                      <p:cBhvr>
                                        <p:cTn id="269" dur="800"/>
                                        <p:tgtEl>
                                          <p:spTgt spid="66"/>
                                        </p:tgtEl>
                                      </p:cBhvr>
                                    </p:animEffect>
                                  </p:childTnLst>
                                </p:cTn>
                              </p:par>
                            </p:childTnLst>
                          </p:cTn>
                        </p:par>
                        <p:par>
                          <p:cTn id="270" fill="hold">
                            <p:stCondLst>
                              <p:cond delay="950"/>
                            </p:stCondLst>
                            <p:childTnLst>
                              <p:par>
                                <p:cTn id="271" presetID="10" presetClass="entr" presetSubtype="0" fill="hold" grpId="0" nodeType="afterEffect">
                                  <p:stCondLst>
                                    <p:cond delay="0"/>
                                  </p:stCondLst>
                                  <p:childTnLst>
                                    <p:set>
                                      <p:cBhvr>
                                        <p:cTn id="272" dur="1" fill="hold">
                                          <p:stCondLst>
                                            <p:cond delay="0"/>
                                          </p:stCondLst>
                                        </p:cTn>
                                        <p:tgtEl>
                                          <p:spTgt spid="67"/>
                                        </p:tgtEl>
                                        <p:attrNameLst>
                                          <p:attrName>style.visibility</p:attrName>
                                        </p:attrNameLst>
                                      </p:cBhvr>
                                      <p:to>
                                        <p:strVal val="visible"/>
                                      </p:to>
                                    </p:set>
                                    <p:animEffect transition="in" filter="fade">
                                      <p:cBhvr>
                                        <p:cTn id="273" dur="55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60" grpId="0" animBg="1"/>
      <p:bldP spid="59" grpId="0" animBg="1"/>
      <p:bldP spid="62" grpId="0" animBg="1"/>
      <p:bldP spid="64" grpId="0" animBg="1"/>
      <p:bldP spid="63" grpId="0" animBg="1"/>
      <p:bldP spid="65" grpId="0" animBg="1"/>
      <p:bldP spid="66" grpId="0" animBg="1"/>
      <p:bldP spid="67"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MA’RUZA REJASI</a:t>
            </a:r>
          </a:p>
        </p:txBody>
      </p:sp>
      <p:sp>
        <p:nvSpPr>
          <p:cNvPr id="17" name="TextBox 16"/>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Reja</a:t>
            </a:r>
          </a:p>
        </p:txBody>
      </p:sp>
      <p:sp>
        <p:nvSpPr>
          <p:cNvPr id="18" name="Rectangle 17"/>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M15 · Kelajak avlod sun'iy intellekt hisoblash tizimlari va istiqbolli texnologiyalar</a:t>
            </a:r>
          </a:p>
        </p:txBody>
      </p:sp>
      <p:sp>
        <p:nvSpPr>
          <p:cNvPr id="20" name="Rounded Rectangle 19"/>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a:t>
            </a:r>
          </a:p>
        </p:txBody>
      </p:sp>
      <p:sp>
        <p:nvSpPr>
          <p:cNvPr id="21" name="Rounded Rectangle 20"/>
          <p:cNvSpPr/>
          <p:nvPr/>
        </p:nvSpPr>
        <p:spPr>
          <a:xfrm>
            <a:off x="550000" y="227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0000" y="2350000"/>
            <a:ext cx="50000" cy="360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60000" y="2350000"/>
            <a:ext cx="360000" cy="36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24" name="TextBox 23"/>
          <p:cNvSpPr txBox="1"/>
          <p:nvPr/>
        </p:nvSpPr>
        <p:spPr>
          <a:xfrm>
            <a:off x="1300000" y="2310000"/>
            <a:ext cx="10250000" cy="440000"/>
          </a:xfrm>
          <a:prstGeom prst="rect">
            <a:avLst/>
          </a:prstGeom>
          <a:noFill/>
        </p:spPr>
        <p:txBody>
          <a:bodyPr wrap="square" anchor="ctr">
            <a:spAutoFit/>
          </a:bodyPr>
          <a:lstStyle/>
          <a:p>
            <a:r>
              <a:rPr sz="1600" b="0">
                <a:solidFill>
                  <a:srgbClr val="E8EEFA"/>
                </a:solidFill>
                <a:latin typeface="Segoe UI"/>
              </a:rPr>
              <a:t>Neyromorf hisoblash (Neuromorphic Computing)</a:t>
            </a:r>
          </a:p>
        </p:txBody>
      </p:sp>
      <p:sp>
        <p:nvSpPr>
          <p:cNvPr id="25" name="Rounded Rectangle 24"/>
          <p:cNvSpPr/>
          <p:nvPr/>
        </p:nvSpPr>
        <p:spPr>
          <a:xfrm>
            <a:off x="550000" y="290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2980000"/>
            <a:ext cx="50000" cy="36000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0000" y="2980000"/>
            <a:ext cx="360000" cy="36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28" name="TextBox 27"/>
          <p:cNvSpPr txBox="1"/>
          <p:nvPr/>
        </p:nvSpPr>
        <p:spPr>
          <a:xfrm>
            <a:off x="1300000" y="2940000"/>
            <a:ext cx="10250000" cy="440000"/>
          </a:xfrm>
          <a:prstGeom prst="rect">
            <a:avLst/>
          </a:prstGeom>
          <a:noFill/>
        </p:spPr>
        <p:txBody>
          <a:bodyPr wrap="square" anchor="ctr">
            <a:spAutoFit/>
          </a:bodyPr>
          <a:lstStyle/>
          <a:p>
            <a:r>
              <a:rPr sz="1600" b="0">
                <a:solidFill>
                  <a:srgbClr val="E8EEFA"/>
                </a:solidFill>
                <a:latin typeface="Segoe UI"/>
              </a:rPr>
              <a:t>Kvant sun'iy intellekt (Quantum AI Computing)</a:t>
            </a:r>
          </a:p>
        </p:txBody>
      </p:sp>
      <p:sp>
        <p:nvSpPr>
          <p:cNvPr id="29" name="Rounded Rectangle 28"/>
          <p:cNvSpPr/>
          <p:nvPr/>
        </p:nvSpPr>
        <p:spPr>
          <a:xfrm>
            <a:off x="550000" y="353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3610000"/>
            <a:ext cx="50000" cy="360000"/>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3610000"/>
            <a:ext cx="360000" cy="36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2" name="TextBox 31"/>
          <p:cNvSpPr txBox="1"/>
          <p:nvPr/>
        </p:nvSpPr>
        <p:spPr>
          <a:xfrm>
            <a:off x="1300000" y="3570000"/>
            <a:ext cx="10250000" cy="440000"/>
          </a:xfrm>
          <a:prstGeom prst="rect">
            <a:avLst/>
          </a:prstGeom>
          <a:noFill/>
        </p:spPr>
        <p:txBody>
          <a:bodyPr wrap="square" anchor="ctr">
            <a:spAutoFit/>
          </a:bodyPr>
          <a:lstStyle/>
          <a:p>
            <a:r>
              <a:rPr sz="1600" b="0">
                <a:solidFill>
                  <a:srgbClr val="E8EEFA"/>
                </a:solidFill>
                <a:latin typeface="Segoe UI"/>
              </a:rPr>
              <a:t>Fotonik hisoblash (Photonic Computing)</a:t>
            </a:r>
          </a:p>
        </p:txBody>
      </p:sp>
      <p:sp>
        <p:nvSpPr>
          <p:cNvPr id="33" name="Rounded Rectangle 32"/>
          <p:cNvSpPr/>
          <p:nvPr/>
        </p:nvSpPr>
        <p:spPr>
          <a:xfrm>
            <a:off x="550000" y="416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50000" y="4240000"/>
            <a:ext cx="50000" cy="3600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60000" y="4240000"/>
            <a:ext cx="360000" cy="36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36" name="TextBox 35"/>
          <p:cNvSpPr txBox="1"/>
          <p:nvPr/>
        </p:nvSpPr>
        <p:spPr>
          <a:xfrm>
            <a:off x="1300000" y="4200000"/>
            <a:ext cx="10250000" cy="440000"/>
          </a:xfrm>
          <a:prstGeom prst="rect">
            <a:avLst/>
          </a:prstGeom>
          <a:noFill/>
        </p:spPr>
        <p:txBody>
          <a:bodyPr wrap="square" anchor="ctr">
            <a:spAutoFit/>
          </a:bodyPr>
          <a:lstStyle/>
          <a:p>
            <a:r>
              <a:rPr sz="1600" b="0">
                <a:solidFill>
                  <a:srgbClr val="E8EEFA"/>
                </a:solidFill>
                <a:latin typeface="Segoe UI"/>
              </a:rPr>
              <a:t>Yashil sun'iy intellekt (Green AI) konsepsiyasi</a:t>
            </a:r>
          </a:p>
        </p:txBody>
      </p:sp>
      <p:sp>
        <p:nvSpPr>
          <p:cNvPr id="37" name="Rounded Rectangle 36"/>
          <p:cNvSpPr/>
          <p:nvPr/>
        </p:nvSpPr>
        <p:spPr>
          <a:xfrm>
            <a:off x="550000" y="479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50000" y="4870000"/>
            <a:ext cx="50000" cy="360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60000" y="4870000"/>
            <a:ext cx="360000" cy="360000"/>
          </a:xfrm>
          <a:prstGeom prst="ellipse">
            <a:avLst/>
          </a:prstGeom>
          <a:no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59E0B"/>
                </a:solidFill>
                <a:latin typeface="Segoe UI"/>
              </a:rPr>
              <a:t>05</a:t>
            </a:r>
          </a:p>
        </p:txBody>
      </p:sp>
      <p:sp>
        <p:nvSpPr>
          <p:cNvPr id="40" name="TextBox 39"/>
          <p:cNvSpPr txBox="1"/>
          <p:nvPr/>
        </p:nvSpPr>
        <p:spPr>
          <a:xfrm>
            <a:off x="1300000" y="4830000"/>
            <a:ext cx="10250000" cy="440000"/>
          </a:xfrm>
          <a:prstGeom prst="rect">
            <a:avLst/>
          </a:prstGeom>
          <a:noFill/>
        </p:spPr>
        <p:txBody>
          <a:bodyPr wrap="square" anchor="ctr">
            <a:spAutoFit/>
          </a:bodyPr>
          <a:lstStyle/>
          <a:p>
            <a:r>
              <a:rPr sz="1600" b="0">
                <a:solidFill>
                  <a:srgbClr val="E8EEFA"/>
                </a:solidFill>
                <a:latin typeface="Segoe UI"/>
              </a:rPr>
              <a:t>Sun'iy intellekt superkompyuterlari va kelajak tezlatkichlari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7"/>
                                        </p:tgtEl>
                                        <p:attrNameLst>
                                          <p:attrName>style.visibility</p:attrName>
                                        </p:attrNameLst>
                                      </p:cBhvr>
                                      <p:to>
                                        <p:strVal val="visible"/>
                                      </p:to>
                                    </p:set>
                                    <p:animEffect transition="in" filter="fade">
                                      <p:cBhvr>
                                        <p:cTn id="6" dur="550"/>
                                        <p:tgtEl>
                                          <p:spTgt spid="17"/>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left)">
                                      <p:cBhvr>
                                        <p:cTn id="11" dur="800"/>
                                        <p:tgtEl>
                                          <p:spTgt spid="18"/>
                                        </p:tgtEl>
                                      </p:cBhvr>
                                    </p:animEffect>
                                  </p:childTnLst>
                                </p:cTn>
                              </p:par>
                            </p:childTnLst>
                          </p:cTn>
                        </p:par>
                        <p:par>
                          <p:cTn id="12" fill="hold">
                            <p:stCondLst>
                              <p:cond delay="200"/>
                            </p:stCondLst>
                            <p:childTnLst>
                              <p:par>
                                <p:cTn id="13" presetID="42" presetClass="entr" presetSubtype="0"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50"/>
                                        <p:tgtEl>
                                          <p:spTgt spid="21"/>
                                        </p:tgtEl>
                                      </p:cBhvr>
                                    </p:animEffect>
                                    <p:anim calcmode="lin" valueType="num">
                                      <p:cBhvr additive="base">
                                        <p:cTn id="16" dur="550" fill="hold"/>
                                        <p:tgtEl>
                                          <p:spTgt spid="21"/>
                                        </p:tgtEl>
                                        <p:attrNameLst>
                                          <p:attrName>ppt_x</p:attrName>
                                        </p:attrNameLst>
                                      </p:cBhvr>
                                      <p:tavLst>
                                        <p:tav tm="0">
                                          <p:val>
                                            <p:strVal val="#ppt_x"/>
                                          </p:val>
                                        </p:tav>
                                        <p:tav tm="100000">
                                          <p:val>
                                            <p:strVal val="#ppt_x"/>
                                          </p:val>
                                        </p:tav>
                                      </p:tavLst>
                                    </p:anim>
                                    <p:anim calcmode="lin" valueType="num">
                                      <p:cBhvr additive="base">
                                        <p:cTn id="17" dur="550" fill="hold"/>
                                        <p:tgtEl>
                                          <p:spTgt spid="21"/>
                                        </p:tgtEl>
                                        <p:attrNameLst>
                                          <p:attrName>ppt_y</p:attrName>
                                        </p:attrNameLst>
                                      </p:cBhvr>
                                      <p:tavLst>
                                        <p:tav tm="0">
                                          <p:val>
                                            <p:strVal val="#ppt_y+.08"/>
                                          </p:val>
                                        </p:tav>
                                        <p:tav tm="100000">
                                          <p:val>
                                            <p:strVal val="#ppt_y"/>
                                          </p:val>
                                        </p:tav>
                                      </p:tavLst>
                                    </p:anim>
                                  </p:childTnLst>
                                </p:cTn>
                              </p:par>
                            </p:childTnLst>
                          </p:cTn>
                        </p:par>
                        <p:par>
                          <p:cTn id="18" fill="hold">
                            <p:stCondLst>
                              <p:cond delay="200"/>
                            </p:stCondLst>
                            <p:childTnLst>
                              <p:par>
                                <p:cTn id="19" presetID="42" presetClass="entr" presetSubtype="0"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50"/>
                                        <p:tgtEl>
                                          <p:spTgt spid="22"/>
                                        </p:tgtEl>
                                      </p:cBhvr>
                                    </p:animEffect>
                                    <p:anim calcmode="lin" valueType="num">
                                      <p:cBhvr additive="base">
                                        <p:cTn id="22" dur="550" fill="hold"/>
                                        <p:tgtEl>
                                          <p:spTgt spid="22"/>
                                        </p:tgtEl>
                                        <p:attrNameLst>
                                          <p:attrName>ppt_x</p:attrName>
                                        </p:attrNameLst>
                                      </p:cBhvr>
                                      <p:tavLst>
                                        <p:tav tm="0">
                                          <p:val>
                                            <p:strVal val="#ppt_x"/>
                                          </p:val>
                                        </p:tav>
                                        <p:tav tm="100000">
                                          <p:val>
                                            <p:strVal val="#ppt_x"/>
                                          </p:val>
                                        </p:tav>
                                      </p:tavLst>
                                    </p:anim>
                                    <p:anim calcmode="lin" valueType="num">
                                      <p:cBhvr additive="base">
                                        <p:cTn id="23" dur="550" fill="hold"/>
                                        <p:tgtEl>
                                          <p:spTgt spid="22"/>
                                        </p:tgtEl>
                                        <p:attrNameLst>
                                          <p:attrName>ppt_y</p:attrName>
                                        </p:attrNameLst>
                                      </p:cBhvr>
                                      <p:tavLst>
                                        <p:tav tm="0">
                                          <p:val>
                                            <p:strVal val="#ppt_y+.08"/>
                                          </p:val>
                                        </p:tav>
                                        <p:tav tm="100000">
                                          <p:val>
                                            <p:strVal val="#ppt_y"/>
                                          </p:val>
                                        </p:tav>
                                      </p:tavLst>
                                    </p:anim>
                                  </p:childTnLst>
                                </p:cTn>
                              </p:par>
                            </p:childTnLst>
                          </p:cTn>
                        </p:par>
                        <p:par>
                          <p:cTn id="24" fill="hold">
                            <p:stCondLst>
                              <p:cond delay="200"/>
                            </p:stCondLst>
                            <p:childTnLst>
                              <p:par>
                                <p:cTn id="25" presetID="53" presetClass="entr" presetSubtype="16" fill="hold" grpId="0"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50"/>
                                        <p:tgtEl>
                                          <p:spTgt spid="23"/>
                                        </p:tgtEl>
                                      </p:cBhvr>
                                    </p:animEffect>
                                    <p:anim calcmode="lin" valueType="num">
                                      <p:cBhvr additive="base">
                                        <p:cTn id="28" dur="550" fill="hold"/>
                                        <p:tgtEl>
                                          <p:spTgt spid="23"/>
                                        </p:tgtEl>
                                        <p:attrNameLst>
                                          <p:attrName>ppt_w</p:attrName>
                                        </p:attrNameLst>
                                      </p:cBhvr>
                                      <p:tavLst>
                                        <p:tav tm="0">
                                          <p:val>
                                            <p:strVal val="0"/>
                                          </p:val>
                                        </p:tav>
                                        <p:tav tm="100000">
                                          <p:val>
                                            <p:strVal val="#ppt_w"/>
                                          </p:val>
                                        </p:tav>
                                      </p:tavLst>
                                    </p:anim>
                                    <p:anim calcmode="lin" valueType="num">
                                      <p:cBhvr additive="base">
                                        <p:cTn id="29" dur="550" fill="hold"/>
                                        <p:tgtEl>
                                          <p:spTgt spid="23"/>
                                        </p:tgtEl>
                                        <p:attrNameLst>
                                          <p:attrName>ppt_h</p:attrName>
                                        </p:attrNameLst>
                                      </p:cBhvr>
                                      <p:tavLst>
                                        <p:tav tm="0">
                                          <p:val>
                                            <p:strVal val="0"/>
                                          </p:val>
                                        </p:tav>
                                        <p:tav tm="100000">
                                          <p:val>
                                            <p:strVal val="#ppt_h"/>
                                          </p:val>
                                        </p:tav>
                                      </p:tavLst>
                                    </p:anim>
                                  </p:childTnLst>
                                </p:cTn>
                              </p:par>
                            </p:childTnLst>
                          </p:cTn>
                        </p:par>
                        <p:par>
                          <p:cTn id="30" fill="hold">
                            <p:stCondLst>
                              <p:cond delay="200"/>
                            </p:stCondLst>
                            <p:childTnLst>
                              <p:par>
                                <p:cTn id="31" presetID="42" presetClass="entr" presetSubtype="0" fill="hold" grpId="0" nodeType="after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550"/>
                                        <p:tgtEl>
                                          <p:spTgt spid="24"/>
                                        </p:tgtEl>
                                      </p:cBhvr>
                                    </p:animEffect>
                                    <p:anim calcmode="lin" valueType="num">
                                      <p:cBhvr additive="base">
                                        <p:cTn id="34" dur="550" fill="hold"/>
                                        <p:tgtEl>
                                          <p:spTgt spid="24"/>
                                        </p:tgtEl>
                                        <p:attrNameLst>
                                          <p:attrName>ppt_x</p:attrName>
                                        </p:attrNameLst>
                                      </p:cBhvr>
                                      <p:tavLst>
                                        <p:tav tm="0">
                                          <p:val>
                                            <p:strVal val="#ppt_x"/>
                                          </p:val>
                                        </p:tav>
                                        <p:tav tm="100000">
                                          <p:val>
                                            <p:strVal val="#ppt_x"/>
                                          </p:val>
                                        </p:tav>
                                      </p:tavLst>
                                    </p:anim>
                                    <p:anim calcmode="lin" valueType="num">
                                      <p:cBhvr additive="base">
                                        <p:cTn id="35" dur="550" fill="hold"/>
                                        <p:tgtEl>
                                          <p:spTgt spid="24"/>
                                        </p:tgtEl>
                                        <p:attrNameLst>
                                          <p:attrName>ppt_y</p:attrName>
                                        </p:attrNameLst>
                                      </p:cBhvr>
                                      <p:tavLst>
                                        <p:tav tm="0">
                                          <p:val>
                                            <p:strVal val="#ppt_y+.08"/>
                                          </p:val>
                                        </p:tav>
                                        <p:tav tm="100000">
                                          <p:val>
                                            <p:strVal val="#ppt_y"/>
                                          </p:val>
                                        </p:tav>
                                      </p:tavLst>
                                    </p:anim>
                                  </p:childTnLst>
                                </p:cTn>
                              </p:par>
                            </p:childTnLst>
                          </p:cTn>
                        </p:par>
                        <p:par>
                          <p:cTn id="36" fill="hold">
                            <p:stCondLst>
                              <p:cond delay="400"/>
                            </p:stCondLst>
                            <p:childTnLst>
                              <p:par>
                                <p:cTn id="37" presetID="42" presetClass="entr" presetSubtype="0" fill="hold" grpId="0" nodeType="after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50"/>
                                        <p:tgtEl>
                                          <p:spTgt spid="25"/>
                                        </p:tgtEl>
                                      </p:cBhvr>
                                    </p:animEffect>
                                    <p:anim calcmode="lin" valueType="num">
                                      <p:cBhvr additive="base">
                                        <p:cTn id="40" dur="550" fill="hold"/>
                                        <p:tgtEl>
                                          <p:spTgt spid="25"/>
                                        </p:tgtEl>
                                        <p:attrNameLst>
                                          <p:attrName>ppt_x</p:attrName>
                                        </p:attrNameLst>
                                      </p:cBhvr>
                                      <p:tavLst>
                                        <p:tav tm="0">
                                          <p:val>
                                            <p:strVal val="#ppt_x"/>
                                          </p:val>
                                        </p:tav>
                                        <p:tav tm="100000">
                                          <p:val>
                                            <p:strVal val="#ppt_x"/>
                                          </p:val>
                                        </p:tav>
                                      </p:tavLst>
                                    </p:anim>
                                    <p:anim calcmode="lin" valueType="num">
                                      <p:cBhvr additive="base">
                                        <p:cTn id="41" dur="550" fill="hold"/>
                                        <p:tgtEl>
                                          <p:spTgt spid="25"/>
                                        </p:tgtEl>
                                        <p:attrNameLst>
                                          <p:attrName>ppt_y</p:attrName>
                                        </p:attrNameLst>
                                      </p:cBhvr>
                                      <p:tavLst>
                                        <p:tav tm="0">
                                          <p:val>
                                            <p:strVal val="#ppt_y+.08"/>
                                          </p:val>
                                        </p:tav>
                                        <p:tav tm="100000">
                                          <p:val>
                                            <p:strVal val="#ppt_y"/>
                                          </p:val>
                                        </p:tav>
                                      </p:tavLst>
                                    </p:anim>
                                  </p:childTnLst>
                                </p:cTn>
                              </p:par>
                            </p:childTnLst>
                          </p:cTn>
                        </p:par>
                        <p:par>
                          <p:cTn id="42" fill="hold">
                            <p:stCondLst>
                              <p:cond delay="400"/>
                            </p:stCondLst>
                            <p:childTnLst>
                              <p:par>
                                <p:cTn id="43" presetID="42" presetClass="entr" presetSubtype="0" fill="hold" grpId="0" nodeType="after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550"/>
                                        <p:tgtEl>
                                          <p:spTgt spid="26"/>
                                        </p:tgtEl>
                                      </p:cBhvr>
                                    </p:animEffect>
                                    <p:anim calcmode="lin" valueType="num">
                                      <p:cBhvr additive="base">
                                        <p:cTn id="46" dur="550" fill="hold"/>
                                        <p:tgtEl>
                                          <p:spTgt spid="26"/>
                                        </p:tgtEl>
                                        <p:attrNameLst>
                                          <p:attrName>ppt_x</p:attrName>
                                        </p:attrNameLst>
                                      </p:cBhvr>
                                      <p:tavLst>
                                        <p:tav tm="0">
                                          <p:val>
                                            <p:strVal val="#ppt_x"/>
                                          </p:val>
                                        </p:tav>
                                        <p:tav tm="100000">
                                          <p:val>
                                            <p:strVal val="#ppt_x"/>
                                          </p:val>
                                        </p:tav>
                                      </p:tavLst>
                                    </p:anim>
                                    <p:anim calcmode="lin" valueType="num">
                                      <p:cBhvr additive="base">
                                        <p:cTn id="47" dur="550" fill="hold"/>
                                        <p:tgtEl>
                                          <p:spTgt spid="26"/>
                                        </p:tgtEl>
                                        <p:attrNameLst>
                                          <p:attrName>ppt_y</p:attrName>
                                        </p:attrNameLst>
                                      </p:cBhvr>
                                      <p:tavLst>
                                        <p:tav tm="0">
                                          <p:val>
                                            <p:strVal val="#ppt_y+.08"/>
                                          </p:val>
                                        </p:tav>
                                        <p:tav tm="100000">
                                          <p:val>
                                            <p:strVal val="#ppt_y"/>
                                          </p:val>
                                        </p:tav>
                                      </p:tavLst>
                                    </p:anim>
                                  </p:childTnLst>
                                </p:cTn>
                              </p:par>
                            </p:childTnLst>
                          </p:cTn>
                        </p:par>
                        <p:par>
                          <p:cTn id="48" fill="hold">
                            <p:stCondLst>
                              <p:cond delay="400"/>
                            </p:stCondLst>
                            <p:childTnLst>
                              <p:par>
                                <p:cTn id="49" presetID="53" presetClass="entr" presetSubtype="16" fill="hold" grpId="0" nodeType="after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550"/>
                                        <p:tgtEl>
                                          <p:spTgt spid="27"/>
                                        </p:tgtEl>
                                      </p:cBhvr>
                                    </p:animEffect>
                                    <p:anim calcmode="lin" valueType="num">
                                      <p:cBhvr additive="base">
                                        <p:cTn id="52" dur="550" fill="hold"/>
                                        <p:tgtEl>
                                          <p:spTgt spid="27"/>
                                        </p:tgtEl>
                                        <p:attrNameLst>
                                          <p:attrName>ppt_w</p:attrName>
                                        </p:attrNameLst>
                                      </p:cBhvr>
                                      <p:tavLst>
                                        <p:tav tm="0">
                                          <p:val>
                                            <p:strVal val="0"/>
                                          </p:val>
                                        </p:tav>
                                        <p:tav tm="100000">
                                          <p:val>
                                            <p:strVal val="#ppt_w"/>
                                          </p:val>
                                        </p:tav>
                                      </p:tavLst>
                                    </p:anim>
                                    <p:anim calcmode="lin" valueType="num">
                                      <p:cBhvr additive="base">
                                        <p:cTn id="53" dur="550" fill="hold"/>
                                        <p:tgtEl>
                                          <p:spTgt spid="27"/>
                                        </p:tgtEl>
                                        <p:attrNameLst>
                                          <p:attrName>ppt_h</p:attrName>
                                        </p:attrNameLst>
                                      </p:cBhvr>
                                      <p:tavLst>
                                        <p:tav tm="0">
                                          <p:val>
                                            <p:strVal val="0"/>
                                          </p:val>
                                        </p:tav>
                                        <p:tav tm="100000">
                                          <p:val>
                                            <p:strVal val="#ppt_h"/>
                                          </p:val>
                                        </p:tav>
                                      </p:tavLst>
                                    </p:anim>
                                  </p:childTnLst>
                                </p:cTn>
                              </p:par>
                            </p:childTnLst>
                          </p:cTn>
                        </p:par>
                        <p:par>
                          <p:cTn id="54" fill="hold">
                            <p:stCondLst>
                              <p:cond delay="400"/>
                            </p:stCondLst>
                            <p:childTnLst>
                              <p:par>
                                <p:cTn id="55" presetID="42" presetClass="entr" presetSubtype="0" fill="hold" grpId="0" nodeType="after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50"/>
                                        <p:tgtEl>
                                          <p:spTgt spid="28"/>
                                        </p:tgtEl>
                                      </p:cBhvr>
                                    </p:animEffect>
                                    <p:anim calcmode="lin" valueType="num">
                                      <p:cBhvr additive="base">
                                        <p:cTn id="58" dur="550" fill="hold"/>
                                        <p:tgtEl>
                                          <p:spTgt spid="28"/>
                                        </p:tgtEl>
                                        <p:attrNameLst>
                                          <p:attrName>ppt_x</p:attrName>
                                        </p:attrNameLst>
                                      </p:cBhvr>
                                      <p:tavLst>
                                        <p:tav tm="0">
                                          <p:val>
                                            <p:strVal val="#ppt_x"/>
                                          </p:val>
                                        </p:tav>
                                        <p:tav tm="100000">
                                          <p:val>
                                            <p:strVal val="#ppt_x"/>
                                          </p:val>
                                        </p:tav>
                                      </p:tavLst>
                                    </p:anim>
                                    <p:anim calcmode="lin" valueType="num">
                                      <p:cBhvr additive="base">
                                        <p:cTn id="59" dur="550" fill="hold"/>
                                        <p:tgtEl>
                                          <p:spTgt spid="28"/>
                                        </p:tgtEl>
                                        <p:attrNameLst>
                                          <p:attrName>ppt_y</p:attrName>
                                        </p:attrNameLst>
                                      </p:cBhvr>
                                      <p:tavLst>
                                        <p:tav tm="0">
                                          <p:val>
                                            <p:strVal val="#ppt_y+.08"/>
                                          </p:val>
                                        </p:tav>
                                        <p:tav tm="100000">
                                          <p:val>
                                            <p:strVal val="#ppt_y"/>
                                          </p:val>
                                        </p:tav>
                                      </p:tavLst>
                                    </p:anim>
                                  </p:childTnLst>
                                </p:cTn>
                              </p:par>
                            </p:childTnLst>
                          </p:cTn>
                        </p:par>
                        <p:par>
                          <p:cTn id="60" fill="hold">
                            <p:stCondLst>
                              <p:cond delay="600"/>
                            </p:stCondLst>
                            <p:childTnLst>
                              <p:par>
                                <p:cTn id="61" presetID="42" presetClass="entr" presetSubtype="0" fill="hold" grpId="0" nodeType="after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fade">
                                      <p:cBhvr>
                                        <p:cTn id="63" dur="550"/>
                                        <p:tgtEl>
                                          <p:spTgt spid="29"/>
                                        </p:tgtEl>
                                      </p:cBhvr>
                                    </p:animEffect>
                                    <p:anim calcmode="lin" valueType="num">
                                      <p:cBhvr additive="base">
                                        <p:cTn id="64" dur="550" fill="hold"/>
                                        <p:tgtEl>
                                          <p:spTgt spid="29"/>
                                        </p:tgtEl>
                                        <p:attrNameLst>
                                          <p:attrName>ppt_x</p:attrName>
                                        </p:attrNameLst>
                                      </p:cBhvr>
                                      <p:tavLst>
                                        <p:tav tm="0">
                                          <p:val>
                                            <p:strVal val="#ppt_x"/>
                                          </p:val>
                                        </p:tav>
                                        <p:tav tm="100000">
                                          <p:val>
                                            <p:strVal val="#ppt_x"/>
                                          </p:val>
                                        </p:tav>
                                      </p:tavLst>
                                    </p:anim>
                                    <p:anim calcmode="lin" valueType="num">
                                      <p:cBhvr additive="base">
                                        <p:cTn id="65" dur="550" fill="hold"/>
                                        <p:tgtEl>
                                          <p:spTgt spid="29"/>
                                        </p:tgtEl>
                                        <p:attrNameLst>
                                          <p:attrName>ppt_y</p:attrName>
                                        </p:attrNameLst>
                                      </p:cBhvr>
                                      <p:tavLst>
                                        <p:tav tm="0">
                                          <p:val>
                                            <p:strVal val="#ppt_y+.08"/>
                                          </p:val>
                                        </p:tav>
                                        <p:tav tm="100000">
                                          <p:val>
                                            <p:strVal val="#ppt_y"/>
                                          </p:val>
                                        </p:tav>
                                      </p:tavLst>
                                    </p:anim>
                                  </p:childTnLst>
                                </p:cTn>
                              </p:par>
                            </p:childTnLst>
                          </p:cTn>
                        </p:par>
                        <p:par>
                          <p:cTn id="66" fill="hold">
                            <p:stCondLst>
                              <p:cond delay="600"/>
                            </p:stCondLst>
                            <p:childTnLst>
                              <p:par>
                                <p:cTn id="67" presetID="42" presetClass="entr" presetSubtype="0" fill="hold" grpId="0" nodeType="after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550"/>
                                        <p:tgtEl>
                                          <p:spTgt spid="30"/>
                                        </p:tgtEl>
                                      </p:cBhvr>
                                    </p:animEffect>
                                    <p:anim calcmode="lin" valueType="num">
                                      <p:cBhvr additive="base">
                                        <p:cTn id="70" dur="550" fill="hold"/>
                                        <p:tgtEl>
                                          <p:spTgt spid="30"/>
                                        </p:tgtEl>
                                        <p:attrNameLst>
                                          <p:attrName>ppt_x</p:attrName>
                                        </p:attrNameLst>
                                      </p:cBhvr>
                                      <p:tavLst>
                                        <p:tav tm="0">
                                          <p:val>
                                            <p:strVal val="#ppt_x"/>
                                          </p:val>
                                        </p:tav>
                                        <p:tav tm="100000">
                                          <p:val>
                                            <p:strVal val="#ppt_x"/>
                                          </p:val>
                                        </p:tav>
                                      </p:tavLst>
                                    </p:anim>
                                    <p:anim calcmode="lin" valueType="num">
                                      <p:cBhvr additive="base">
                                        <p:cTn id="71" dur="550" fill="hold"/>
                                        <p:tgtEl>
                                          <p:spTgt spid="30"/>
                                        </p:tgtEl>
                                        <p:attrNameLst>
                                          <p:attrName>ppt_y</p:attrName>
                                        </p:attrNameLst>
                                      </p:cBhvr>
                                      <p:tavLst>
                                        <p:tav tm="0">
                                          <p:val>
                                            <p:strVal val="#ppt_y+.08"/>
                                          </p:val>
                                        </p:tav>
                                        <p:tav tm="100000">
                                          <p:val>
                                            <p:strVal val="#ppt_y"/>
                                          </p:val>
                                        </p:tav>
                                      </p:tavLst>
                                    </p:anim>
                                  </p:childTnLst>
                                </p:cTn>
                              </p:par>
                            </p:childTnLst>
                          </p:cTn>
                        </p:par>
                        <p:par>
                          <p:cTn id="72" fill="hold">
                            <p:stCondLst>
                              <p:cond delay="600"/>
                            </p:stCondLst>
                            <p:childTnLst>
                              <p:par>
                                <p:cTn id="73" presetID="53" presetClass="entr" presetSubtype="16" fill="hold" grpId="0" nodeType="after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550"/>
                                        <p:tgtEl>
                                          <p:spTgt spid="31"/>
                                        </p:tgtEl>
                                      </p:cBhvr>
                                    </p:animEffect>
                                    <p:anim calcmode="lin" valueType="num">
                                      <p:cBhvr additive="base">
                                        <p:cTn id="76" dur="550" fill="hold"/>
                                        <p:tgtEl>
                                          <p:spTgt spid="31"/>
                                        </p:tgtEl>
                                        <p:attrNameLst>
                                          <p:attrName>ppt_w</p:attrName>
                                        </p:attrNameLst>
                                      </p:cBhvr>
                                      <p:tavLst>
                                        <p:tav tm="0">
                                          <p:val>
                                            <p:strVal val="0"/>
                                          </p:val>
                                        </p:tav>
                                        <p:tav tm="100000">
                                          <p:val>
                                            <p:strVal val="#ppt_w"/>
                                          </p:val>
                                        </p:tav>
                                      </p:tavLst>
                                    </p:anim>
                                    <p:anim calcmode="lin" valueType="num">
                                      <p:cBhvr additive="base">
                                        <p:cTn id="77" dur="550" fill="hold"/>
                                        <p:tgtEl>
                                          <p:spTgt spid="31"/>
                                        </p:tgtEl>
                                        <p:attrNameLst>
                                          <p:attrName>ppt_h</p:attrName>
                                        </p:attrNameLst>
                                      </p:cBhvr>
                                      <p:tavLst>
                                        <p:tav tm="0">
                                          <p:val>
                                            <p:strVal val="0"/>
                                          </p:val>
                                        </p:tav>
                                        <p:tav tm="100000">
                                          <p:val>
                                            <p:strVal val="#ppt_h"/>
                                          </p:val>
                                        </p:tav>
                                      </p:tavLst>
                                    </p:anim>
                                  </p:childTnLst>
                                </p:cTn>
                              </p:par>
                            </p:childTnLst>
                          </p:cTn>
                        </p:par>
                        <p:par>
                          <p:cTn id="78" fill="hold">
                            <p:stCondLst>
                              <p:cond delay="600"/>
                            </p:stCondLst>
                            <p:childTnLst>
                              <p:par>
                                <p:cTn id="79" presetID="42" presetClass="entr" presetSubtype="0" fill="hold" grpId="0" nodeType="afterEffect">
                                  <p:stCondLst>
                                    <p:cond delay="0"/>
                                  </p:stCondLst>
                                  <p:childTnLst>
                                    <p:set>
                                      <p:cBhvr>
                                        <p:cTn id="80" dur="1" fill="hold">
                                          <p:stCondLst>
                                            <p:cond delay="0"/>
                                          </p:stCondLst>
                                        </p:cTn>
                                        <p:tgtEl>
                                          <p:spTgt spid="32"/>
                                        </p:tgtEl>
                                        <p:attrNameLst>
                                          <p:attrName>style.visibility</p:attrName>
                                        </p:attrNameLst>
                                      </p:cBhvr>
                                      <p:to>
                                        <p:strVal val="visible"/>
                                      </p:to>
                                    </p:set>
                                    <p:animEffect transition="in" filter="fade">
                                      <p:cBhvr>
                                        <p:cTn id="81" dur="550"/>
                                        <p:tgtEl>
                                          <p:spTgt spid="32"/>
                                        </p:tgtEl>
                                      </p:cBhvr>
                                    </p:animEffect>
                                    <p:anim calcmode="lin" valueType="num">
                                      <p:cBhvr additive="base">
                                        <p:cTn id="82" dur="550" fill="hold"/>
                                        <p:tgtEl>
                                          <p:spTgt spid="32"/>
                                        </p:tgtEl>
                                        <p:attrNameLst>
                                          <p:attrName>ppt_x</p:attrName>
                                        </p:attrNameLst>
                                      </p:cBhvr>
                                      <p:tavLst>
                                        <p:tav tm="0">
                                          <p:val>
                                            <p:strVal val="#ppt_x"/>
                                          </p:val>
                                        </p:tav>
                                        <p:tav tm="100000">
                                          <p:val>
                                            <p:strVal val="#ppt_x"/>
                                          </p:val>
                                        </p:tav>
                                      </p:tavLst>
                                    </p:anim>
                                    <p:anim calcmode="lin" valueType="num">
                                      <p:cBhvr additive="base">
                                        <p:cTn id="83" dur="550" fill="hold"/>
                                        <p:tgtEl>
                                          <p:spTgt spid="32"/>
                                        </p:tgtEl>
                                        <p:attrNameLst>
                                          <p:attrName>ppt_y</p:attrName>
                                        </p:attrNameLst>
                                      </p:cBhvr>
                                      <p:tavLst>
                                        <p:tav tm="0">
                                          <p:val>
                                            <p:strVal val="#ppt_y+.08"/>
                                          </p:val>
                                        </p:tav>
                                        <p:tav tm="100000">
                                          <p:val>
                                            <p:strVal val="#ppt_y"/>
                                          </p:val>
                                        </p:tav>
                                      </p:tavLst>
                                    </p:anim>
                                  </p:childTnLst>
                                </p:cTn>
                              </p:par>
                            </p:childTnLst>
                          </p:cTn>
                        </p:par>
                        <p:par>
                          <p:cTn id="84" fill="hold">
                            <p:stCondLst>
                              <p:cond delay="800"/>
                            </p:stCondLst>
                            <p:childTnLst>
                              <p:par>
                                <p:cTn id="85" presetID="42" presetClass="entr" presetSubtype="0" fill="hold" grpId="0" nodeType="after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fade">
                                      <p:cBhvr>
                                        <p:cTn id="87" dur="550"/>
                                        <p:tgtEl>
                                          <p:spTgt spid="33"/>
                                        </p:tgtEl>
                                      </p:cBhvr>
                                    </p:animEffect>
                                    <p:anim calcmode="lin" valueType="num">
                                      <p:cBhvr additive="base">
                                        <p:cTn id="88" dur="550" fill="hold"/>
                                        <p:tgtEl>
                                          <p:spTgt spid="33"/>
                                        </p:tgtEl>
                                        <p:attrNameLst>
                                          <p:attrName>ppt_x</p:attrName>
                                        </p:attrNameLst>
                                      </p:cBhvr>
                                      <p:tavLst>
                                        <p:tav tm="0">
                                          <p:val>
                                            <p:strVal val="#ppt_x"/>
                                          </p:val>
                                        </p:tav>
                                        <p:tav tm="100000">
                                          <p:val>
                                            <p:strVal val="#ppt_x"/>
                                          </p:val>
                                        </p:tav>
                                      </p:tavLst>
                                    </p:anim>
                                    <p:anim calcmode="lin" valueType="num">
                                      <p:cBhvr additive="base">
                                        <p:cTn id="89" dur="550" fill="hold"/>
                                        <p:tgtEl>
                                          <p:spTgt spid="33"/>
                                        </p:tgtEl>
                                        <p:attrNameLst>
                                          <p:attrName>ppt_y</p:attrName>
                                        </p:attrNameLst>
                                      </p:cBhvr>
                                      <p:tavLst>
                                        <p:tav tm="0">
                                          <p:val>
                                            <p:strVal val="#ppt_y+.08"/>
                                          </p:val>
                                        </p:tav>
                                        <p:tav tm="100000">
                                          <p:val>
                                            <p:strVal val="#ppt_y"/>
                                          </p:val>
                                        </p:tav>
                                      </p:tavLst>
                                    </p:anim>
                                  </p:childTnLst>
                                </p:cTn>
                              </p:par>
                            </p:childTnLst>
                          </p:cTn>
                        </p:par>
                        <p:par>
                          <p:cTn id="90" fill="hold">
                            <p:stCondLst>
                              <p:cond delay="800"/>
                            </p:stCondLst>
                            <p:childTnLst>
                              <p:par>
                                <p:cTn id="91" presetID="42" presetClass="entr" presetSubtype="0" fill="hold" grpId="0" nodeType="after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550"/>
                                        <p:tgtEl>
                                          <p:spTgt spid="34"/>
                                        </p:tgtEl>
                                      </p:cBhvr>
                                    </p:animEffect>
                                    <p:anim calcmode="lin" valueType="num">
                                      <p:cBhvr additive="base">
                                        <p:cTn id="94" dur="550" fill="hold"/>
                                        <p:tgtEl>
                                          <p:spTgt spid="34"/>
                                        </p:tgtEl>
                                        <p:attrNameLst>
                                          <p:attrName>ppt_x</p:attrName>
                                        </p:attrNameLst>
                                      </p:cBhvr>
                                      <p:tavLst>
                                        <p:tav tm="0">
                                          <p:val>
                                            <p:strVal val="#ppt_x"/>
                                          </p:val>
                                        </p:tav>
                                        <p:tav tm="100000">
                                          <p:val>
                                            <p:strVal val="#ppt_x"/>
                                          </p:val>
                                        </p:tav>
                                      </p:tavLst>
                                    </p:anim>
                                    <p:anim calcmode="lin" valueType="num">
                                      <p:cBhvr additive="base">
                                        <p:cTn id="95" dur="550" fill="hold"/>
                                        <p:tgtEl>
                                          <p:spTgt spid="34"/>
                                        </p:tgtEl>
                                        <p:attrNameLst>
                                          <p:attrName>ppt_y</p:attrName>
                                        </p:attrNameLst>
                                      </p:cBhvr>
                                      <p:tavLst>
                                        <p:tav tm="0">
                                          <p:val>
                                            <p:strVal val="#ppt_y+.08"/>
                                          </p:val>
                                        </p:tav>
                                        <p:tav tm="100000">
                                          <p:val>
                                            <p:strVal val="#ppt_y"/>
                                          </p:val>
                                        </p:tav>
                                      </p:tavLst>
                                    </p:anim>
                                  </p:childTnLst>
                                </p:cTn>
                              </p:par>
                            </p:childTnLst>
                          </p:cTn>
                        </p:par>
                        <p:par>
                          <p:cTn id="96" fill="hold">
                            <p:stCondLst>
                              <p:cond delay="800"/>
                            </p:stCondLst>
                            <p:childTnLst>
                              <p:par>
                                <p:cTn id="97" presetID="53" presetClass="entr" presetSubtype="16" fill="hold" grpId="0" nodeType="afterEffect">
                                  <p:stCondLst>
                                    <p:cond delay="0"/>
                                  </p:stCondLst>
                                  <p:childTnLst>
                                    <p:set>
                                      <p:cBhvr>
                                        <p:cTn id="98" dur="1" fill="hold">
                                          <p:stCondLst>
                                            <p:cond delay="0"/>
                                          </p:stCondLst>
                                        </p:cTn>
                                        <p:tgtEl>
                                          <p:spTgt spid="35"/>
                                        </p:tgtEl>
                                        <p:attrNameLst>
                                          <p:attrName>style.visibility</p:attrName>
                                        </p:attrNameLst>
                                      </p:cBhvr>
                                      <p:to>
                                        <p:strVal val="visible"/>
                                      </p:to>
                                    </p:set>
                                    <p:animEffect transition="in" filter="fade">
                                      <p:cBhvr>
                                        <p:cTn id="99" dur="550"/>
                                        <p:tgtEl>
                                          <p:spTgt spid="35"/>
                                        </p:tgtEl>
                                      </p:cBhvr>
                                    </p:animEffect>
                                    <p:anim calcmode="lin" valueType="num">
                                      <p:cBhvr additive="base">
                                        <p:cTn id="100" dur="550" fill="hold"/>
                                        <p:tgtEl>
                                          <p:spTgt spid="35"/>
                                        </p:tgtEl>
                                        <p:attrNameLst>
                                          <p:attrName>ppt_w</p:attrName>
                                        </p:attrNameLst>
                                      </p:cBhvr>
                                      <p:tavLst>
                                        <p:tav tm="0">
                                          <p:val>
                                            <p:strVal val="0"/>
                                          </p:val>
                                        </p:tav>
                                        <p:tav tm="100000">
                                          <p:val>
                                            <p:strVal val="#ppt_w"/>
                                          </p:val>
                                        </p:tav>
                                      </p:tavLst>
                                    </p:anim>
                                    <p:anim calcmode="lin" valueType="num">
                                      <p:cBhvr additive="base">
                                        <p:cTn id="101" dur="550" fill="hold"/>
                                        <p:tgtEl>
                                          <p:spTgt spid="35"/>
                                        </p:tgtEl>
                                        <p:attrNameLst>
                                          <p:attrName>ppt_h</p:attrName>
                                        </p:attrNameLst>
                                      </p:cBhvr>
                                      <p:tavLst>
                                        <p:tav tm="0">
                                          <p:val>
                                            <p:strVal val="0"/>
                                          </p:val>
                                        </p:tav>
                                        <p:tav tm="100000">
                                          <p:val>
                                            <p:strVal val="#ppt_h"/>
                                          </p:val>
                                        </p:tav>
                                      </p:tavLst>
                                    </p:anim>
                                  </p:childTnLst>
                                </p:cTn>
                              </p:par>
                            </p:childTnLst>
                          </p:cTn>
                        </p:par>
                        <p:par>
                          <p:cTn id="102" fill="hold">
                            <p:stCondLst>
                              <p:cond delay="800"/>
                            </p:stCondLst>
                            <p:childTnLst>
                              <p:par>
                                <p:cTn id="103" presetID="42" presetClass="entr" presetSubtype="0" fill="hold" grpId="0" nodeType="after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550"/>
                                        <p:tgtEl>
                                          <p:spTgt spid="36"/>
                                        </p:tgtEl>
                                      </p:cBhvr>
                                    </p:animEffect>
                                    <p:anim calcmode="lin" valueType="num">
                                      <p:cBhvr additive="base">
                                        <p:cTn id="106" dur="550" fill="hold"/>
                                        <p:tgtEl>
                                          <p:spTgt spid="36"/>
                                        </p:tgtEl>
                                        <p:attrNameLst>
                                          <p:attrName>ppt_x</p:attrName>
                                        </p:attrNameLst>
                                      </p:cBhvr>
                                      <p:tavLst>
                                        <p:tav tm="0">
                                          <p:val>
                                            <p:strVal val="#ppt_x"/>
                                          </p:val>
                                        </p:tav>
                                        <p:tav tm="100000">
                                          <p:val>
                                            <p:strVal val="#ppt_x"/>
                                          </p:val>
                                        </p:tav>
                                      </p:tavLst>
                                    </p:anim>
                                    <p:anim calcmode="lin" valueType="num">
                                      <p:cBhvr additive="base">
                                        <p:cTn id="107" dur="550" fill="hold"/>
                                        <p:tgtEl>
                                          <p:spTgt spid="36"/>
                                        </p:tgtEl>
                                        <p:attrNameLst>
                                          <p:attrName>ppt_y</p:attrName>
                                        </p:attrNameLst>
                                      </p:cBhvr>
                                      <p:tavLst>
                                        <p:tav tm="0">
                                          <p:val>
                                            <p:strVal val="#ppt_y+.08"/>
                                          </p:val>
                                        </p:tav>
                                        <p:tav tm="100000">
                                          <p:val>
                                            <p:strVal val="#ppt_y"/>
                                          </p:val>
                                        </p:tav>
                                      </p:tavLst>
                                    </p:anim>
                                  </p:childTnLst>
                                </p:cTn>
                              </p:par>
                            </p:childTnLst>
                          </p:cTn>
                        </p:par>
                        <p:par>
                          <p:cTn id="108" fill="hold">
                            <p:stCondLst>
                              <p:cond delay="1000"/>
                            </p:stCondLst>
                            <p:childTnLst>
                              <p:par>
                                <p:cTn id="109" presetID="42" presetClass="entr" presetSubtype="0" fill="hold" grpId="0" nodeType="afterEffect">
                                  <p:stCondLst>
                                    <p:cond delay="0"/>
                                  </p:stCondLst>
                                  <p:childTnLst>
                                    <p:set>
                                      <p:cBhvr>
                                        <p:cTn id="110" dur="1" fill="hold">
                                          <p:stCondLst>
                                            <p:cond delay="0"/>
                                          </p:stCondLst>
                                        </p:cTn>
                                        <p:tgtEl>
                                          <p:spTgt spid="37"/>
                                        </p:tgtEl>
                                        <p:attrNameLst>
                                          <p:attrName>style.visibility</p:attrName>
                                        </p:attrNameLst>
                                      </p:cBhvr>
                                      <p:to>
                                        <p:strVal val="visible"/>
                                      </p:to>
                                    </p:set>
                                    <p:animEffect transition="in" filter="fade">
                                      <p:cBhvr>
                                        <p:cTn id="111" dur="550"/>
                                        <p:tgtEl>
                                          <p:spTgt spid="37"/>
                                        </p:tgtEl>
                                      </p:cBhvr>
                                    </p:animEffect>
                                    <p:anim calcmode="lin" valueType="num">
                                      <p:cBhvr additive="base">
                                        <p:cTn id="112" dur="550" fill="hold"/>
                                        <p:tgtEl>
                                          <p:spTgt spid="37"/>
                                        </p:tgtEl>
                                        <p:attrNameLst>
                                          <p:attrName>ppt_x</p:attrName>
                                        </p:attrNameLst>
                                      </p:cBhvr>
                                      <p:tavLst>
                                        <p:tav tm="0">
                                          <p:val>
                                            <p:strVal val="#ppt_x"/>
                                          </p:val>
                                        </p:tav>
                                        <p:tav tm="100000">
                                          <p:val>
                                            <p:strVal val="#ppt_x"/>
                                          </p:val>
                                        </p:tav>
                                      </p:tavLst>
                                    </p:anim>
                                    <p:anim calcmode="lin" valueType="num">
                                      <p:cBhvr additive="base">
                                        <p:cTn id="113" dur="550" fill="hold"/>
                                        <p:tgtEl>
                                          <p:spTgt spid="37"/>
                                        </p:tgtEl>
                                        <p:attrNameLst>
                                          <p:attrName>ppt_y</p:attrName>
                                        </p:attrNameLst>
                                      </p:cBhvr>
                                      <p:tavLst>
                                        <p:tav tm="0">
                                          <p:val>
                                            <p:strVal val="#ppt_y+.08"/>
                                          </p:val>
                                        </p:tav>
                                        <p:tav tm="100000">
                                          <p:val>
                                            <p:strVal val="#ppt_y"/>
                                          </p:val>
                                        </p:tav>
                                      </p:tavLst>
                                    </p:anim>
                                  </p:childTnLst>
                                </p:cTn>
                              </p:par>
                            </p:childTnLst>
                          </p:cTn>
                        </p:par>
                        <p:par>
                          <p:cTn id="114" fill="hold">
                            <p:stCondLst>
                              <p:cond delay="1000"/>
                            </p:stCondLst>
                            <p:childTnLst>
                              <p:par>
                                <p:cTn id="115" presetID="42" presetClass="entr" presetSubtype="0" fill="hold" grpId="0" nodeType="afterEffect">
                                  <p:stCondLst>
                                    <p:cond delay="0"/>
                                  </p:stCondLst>
                                  <p:childTnLst>
                                    <p:set>
                                      <p:cBhvr>
                                        <p:cTn id="116" dur="1" fill="hold">
                                          <p:stCondLst>
                                            <p:cond delay="0"/>
                                          </p:stCondLst>
                                        </p:cTn>
                                        <p:tgtEl>
                                          <p:spTgt spid="38"/>
                                        </p:tgtEl>
                                        <p:attrNameLst>
                                          <p:attrName>style.visibility</p:attrName>
                                        </p:attrNameLst>
                                      </p:cBhvr>
                                      <p:to>
                                        <p:strVal val="visible"/>
                                      </p:to>
                                    </p:set>
                                    <p:animEffect transition="in" filter="fade">
                                      <p:cBhvr>
                                        <p:cTn id="117" dur="550"/>
                                        <p:tgtEl>
                                          <p:spTgt spid="38"/>
                                        </p:tgtEl>
                                      </p:cBhvr>
                                    </p:animEffect>
                                    <p:anim calcmode="lin" valueType="num">
                                      <p:cBhvr additive="base">
                                        <p:cTn id="118" dur="550" fill="hold"/>
                                        <p:tgtEl>
                                          <p:spTgt spid="38"/>
                                        </p:tgtEl>
                                        <p:attrNameLst>
                                          <p:attrName>ppt_x</p:attrName>
                                        </p:attrNameLst>
                                      </p:cBhvr>
                                      <p:tavLst>
                                        <p:tav tm="0">
                                          <p:val>
                                            <p:strVal val="#ppt_x"/>
                                          </p:val>
                                        </p:tav>
                                        <p:tav tm="100000">
                                          <p:val>
                                            <p:strVal val="#ppt_x"/>
                                          </p:val>
                                        </p:tav>
                                      </p:tavLst>
                                    </p:anim>
                                    <p:anim calcmode="lin" valueType="num">
                                      <p:cBhvr additive="base">
                                        <p:cTn id="119" dur="550" fill="hold"/>
                                        <p:tgtEl>
                                          <p:spTgt spid="38"/>
                                        </p:tgtEl>
                                        <p:attrNameLst>
                                          <p:attrName>ppt_y</p:attrName>
                                        </p:attrNameLst>
                                      </p:cBhvr>
                                      <p:tavLst>
                                        <p:tav tm="0">
                                          <p:val>
                                            <p:strVal val="#ppt_y+.08"/>
                                          </p:val>
                                        </p:tav>
                                        <p:tav tm="100000">
                                          <p:val>
                                            <p:strVal val="#ppt_y"/>
                                          </p:val>
                                        </p:tav>
                                      </p:tavLst>
                                    </p:anim>
                                  </p:childTnLst>
                                </p:cTn>
                              </p:par>
                            </p:childTnLst>
                          </p:cTn>
                        </p:par>
                        <p:par>
                          <p:cTn id="120" fill="hold">
                            <p:stCondLst>
                              <p:cond delay="1000"/>
                            </p:stCondLst>
                            <p:childTnLst>
                              <p:par>
                                <p:cTn id="121" presetID="53" presetClass="entr" presetSubtype="16" fill="hold" grpId="0" nodeType="afterEffect">
                                  <p:stCondLst>
                                    <p:cond delay="0"/>
                                  </p:stCondLst>
                                  <p:childTnLst>
                                    <p:set>
                                      <p:cBhvr>
                                        <p:cTn id="122" dur="1" fill="hold">
                                          <p:stCondLst>
                                            <p:cond delay="0"/>
                                          </p:stCondLst>
                                        </p:cTn>
                                        <p:tgtEl>
                                          <p:spTgt spid="39"/>
                                        </p:tgtEl>
                                        <p:attrNameLst>
                                          <p:attrName>style.visibility</p:attrName>
                                        </p:attrNameLst>
                                      </p:cBhvr>
                                      <p:to>
                                        <p:strVal val="visible"/>
                                      </p:to>
                                    </p:set>
                                    <p:animEffect transition="in" filter="fade">
                                      <p:cBhvr>
                                        <p:cTn id="123" dur="550"/>
                                        <p:tgtEl>
                                          <p:spTgt spid="39"/>
                                        </p:tgtEl>
                                      </p:cBhvr>
                                    </p:animEffect>
                                    <p:anim calcmode="lin" valueType="num">
                                      <p:cBhvr additive="base">
                                        <p:cTn id="124" dur="550" fill="hold"/>
                                        <p:tgtEl>
                                          <p:spTgt spid="39"/>
                                        </p:tgtEl>
                                        <p:attrNameLst>
                                          <p:attrName>ppt_w</p:attrName>
                                        </p:attrNameLst>
                                      </p:cBhvr>
                                      <p:tavLst>
                                        <p:tav tm="0">
                                          <p:val>
                                            <p:strVal val="0"/>
                                          </p:val>
                                        </p:tav>
                                        <p:tav tm="100000">
                                          <p:val>
                                            <p:strVal val="#ppt_w"/>
                                          </p:val>
                                        </p:tav>
                                      </p:tavLst>
                                    </p:anim>
                                    <p:anim calcmode="lin" valueType="num">
                                      <p:cBhvr additive="base">
                                        <p:cTn id="125" dur="550" fill="hold"/>
                                        <p:tgtEl>
                                          <p:spTgt spid="39"/>
                                        </p:tgtEl>
                                        <p:attrNameLst>
                                          <p:attrName>ppt_h</p:attrName>
                                        </p:attrNameLst>
                                      </p:cBhvr>
                                      <p:tavLst>
                                        <p:tav tm="0">
                                          <p:val>
                                            <p:strVal val="0"/>
                                          </p:val>
                                        </p:tav>
                                        <p:tav tm="100000">
                                          <p:val>
                                            <p:strVal val="#ppt_h"/>
                                          </p:val>
                                        </p:tav>
                                      </p:tavLst>
                                    </p:anim>
                                  </p:childTnLst>
                                </p:cTn>
                              </p:par>
                            </p:childTnLst>
                          </p:cTn>
                        </p:par>
                        <p:par>
                          <p:cTn id="126" fill="hold">
                            <p:stCondLst>
                              <p:cond delay="1000"/>
                            </p:stCondLst>
                            <p:childTnLst>
                              <p:par>
                                <p:cTn id="127" presetID="42" presetClass="entr" presetSubtype="0" fill="hold" grpId="0" nodeType="afterEffect">
                                  <p:stCondLst>
                                    <p:cond delay="0"/>
                                  </p:stCondLst>
                                  <p:childTnLst>
                                    <p:set>
                                      <p:cBhvr>
                                        <p:cTn id="128" dur="1" fill="hold">
                                          <p:stCondLst>
                                            <p:cond delay="0"/>
                                          </p:stCondLst>
                                        </p:cTn>
                                        <p:tgtEl>
                                          <p:spTgt spid="40"/>
                                        </p:tgtEl>
                                        <p:attrNameLst>
                                          <p:attrName>style.visibility</p:attrName>
                                        </p:attrNameLst>
                                      </p:cBhvr>
                                      <p:to>
                                        <p:strVal val="visible"/>
                                      </p:to>
                                    </p:set>
                                    <p:animEffect transition="in" filter="fade">
                                      <p:cBhvr>
                                        <p:cTn id="129" dur="550"/>
                                        <p:tgtEl>
                                          <p:spTgt spid="40"/>
                                        </p:tgtEl>
                                      </p:cBhvr>
                                    </p:animEffect>
                                    <p:anim calcmode="lin" valueType="num">
                                      <p:cBhvr additive="base">
                                        <p:cTn id="130" dur="550" fill="hold"/>
                                        <p:tgtEl>
                                          <p:spTgt spid="40"/>
                                        </p:tgtEl>
                                        <p:attrNameLst>
                                          <p:attrName>ppt_x</p:attrName>
                                        </p:attrNameLst>
                                      </p:cBhvr>
                                      <p:tavLst>
                                        <p:tav tm="0">
                                          <p:val>
                                            <p:strVal val="#ppt_x"/>
                                          </p:val>
                                        </p:tav>
                                        <p:tav tm="100000">
                                          <p:val>
                                            <p:strVal val="#ppt_x"/>
                                          </p:val>
                                        </p:tav>
                                      </p:tavLst>
                                    </p:anim>
                                    <p:anim calcmode="lin" valueType="num">
                                      <p:cBhvr additive="base">
                                        <p:cTn id="131" dur="550" fill="hold"/>
                                        <p:tgtEl>
                                          <p:spTgt spid="4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040000"/>
            <a:ext cx="1666666"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00000" y="5833333"/>
            <a:ext cx="1666666"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04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38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066666" y="572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733333" y="5040000"/>
            <a:ext cx="1666667"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733333" y="5266666"/>
            <a:ext cx="1666667"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733333" y="5380000"/>
            <a:ext cx="1666667"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707784e21f688437.jpg"/>
          <p:cNvPicPr>
            <a:picLocks noChangeAspect="1"/>
          </p:cNvPicPr>
          <p:nvPr/>
        </p:nvPicPr>
        <p:blipFill>
          <a:blip r:embed="rId2"/>
          <a:srcRect l="20324" r="20324"/>
          <a:stretch>
            <a:fillRect/>
          </a:stretch>
        </p:blipFill>
        <p:spPr>
          <a:xfrm>
            <a:off x="6300000" y="800000"/>
            <a:ext cx="5300000" cy="4950000"/>
          </a:xfrm>
          <a:prstGeom prst="roundRect">
            <a:avLst/>
          </a:prstGeom>
          <a:ln w="19050">
            <a:solidFill>
              <a:srgbClr val="22D3EE"/>
            </a:solidFill>
          </a:ln>
        </p:spPr>
      </p:pic>
      <p:sp>
        <p:nvSpPr>
          <p:cNvPr id="46" name="TextBox 45"/>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DARPA SyNAPSE · Wikimedia Commons · Public domain</a:t>
            </a:r>
          </a:p>
        </p:txBody>
      </p:sp>
      <p:sp>
        <p:nvSpPr>
          <p:cNvPr id="47" name="TextBox 46"/>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01</a:t>
            </a:r>
          </a:p>
        </p:txBody>
      </p:sp>
      <p:sp>
        <p:nvSpPr>
          <p:cNvPr id="48" name="TextBox 47"/>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REJA BANDI</a:t>
            </a:r>
          </a:p>
        </p:txBody>
      </p:sp>
      <p:sp>
        <p:nvSpPr>
          <p:cNvPr id="49" name="TextBox 48"/>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Neyromorf hisoblash (Neuromorphic Computing)</a:t>
            </a:r>
          </a:p>
        </p:txBody>
      </p:sp>
      <p:sp>
        <p:nvSpPr>
          <p:cNvPr id="50" name="Rectangle 49"/>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04"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0"/>
                            </p:stCondLst>
                            <p:childTnLst>
                              <p:par>
                                <p:cTn id="152" presetID="10" presetClass="entr" presetSubtype="0"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childTnLst>
                                </p:cTn>
                              </p:par>
                            </p:childTnLst>
                          </p:cTn>
                        </p:par>
                        <p:par>
                          <p:cTn id="155" fill="hold">
                            <p:stCondLst>
                              <p:cond delay="0"/>
                            </p:stCondLst>
                            <p:childTnLst>
                              <p:par>
                                <p:cTn id="156" presetID="10" presetClass="entr" presetSubtype="0" fill="hold" grpId="0" nodeType="after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fade">
                                      <p:cBhvr>
                                        <p:cTn id="158" dur="550"/>
                                        <p:tgtEl>
                                          <p:spTgt spid="41"/>
                                        </p:tgtEl>
                                      </p:cBhvr>
                                    </p:animEffect>
                                  </p:childTnLst>
                                </p:cTn>
                              </p:par>
                            </p:childTnLst>
                          </p:cTn>
                        </p:par>
                        <p:par>
                          <p:cTn id="159" fill="hold">
                            <p:stCondLst>
                              <p:cond delay="0"/>
                            </p:stCondLst>
                            <p:childTnLst>
                              <p:par>
                                <p:cTn id="160" presetID="10" presetClass="entr" presetSubtype="0" fill="hold" grpId="0" nodeType="afterEffect">
                                  <p:stCondLst>
                                    <p:cond delay="0"/>
                                  </p:stCondLst>
                                  <p:childTnLst>
                                    <p:set>
                                      <p:cBhvr>
                                        <p:cTn id="161" dur="1" fill="hold">
                                          <p:stCondLst>
                                            <p:cond delay="0"/>
                                          </p:stCondLst>
                                        </p:cTn>
                                        <p:tgtEl>
                                          <p:spTgt spid="42"/>
                                        </p:tgtEl>
                                        <p:attrNameLst>
                                          <p:attrName>style.visibility</p:attrName>
                                        </p:attrNameLst>
                                      </p:cBhvr>
                                      <p:to>
                                        <p:strVal val="visible"/>
                                      </p:to>
                                    </p:set>
                                    <p:animEffect transition="in" filter="fade">
                                      <p:cBhvr>
                                        <p:cTn id="162" dur="550"/>
                                        <p:tgtEl>
                                          <p:spTgt spid="42"/>
                                        </p:tgtEl>
                                      </p:cBhvr>
                                    </p:animEffect>
                                  </p:childTnLst>
                                </p:cTn>
                              </p:par>
                            </p:childTnLst>
                          </p:cTn>
                        </p:par>
                        <p:par>
                          <p:cTn id="163" fill="hold">
                            <p:stCondLst>
                              <p:cond delay="0"/>
                            </p:stCondLst>
                            <p:childTnLst>
                              <p:par>
                                <p:cTn id="164" presetID="10" presetClass="entr" presetSubtype="0" fill="hold" grpId="0" nodeType="afterEffect">
                                  <p:stCondLst>
                                    <p:cond delay="0"/>
                                  </p:stCondLst>
                                  <p:childTnLst>
                                    <p:set>
                                      <p:cBhvr>
                                        <p:cTn id="165" dur="1" fill="hold">
                                          <p:stCondLst>
                                            <p:cond delay="0"/>
                                          </p:stCondLst>
                                        </p:cTn>
                                        <p:tgtEl>
                                          <p:spTgt spid="43"/>
                                        </p:tgtEl>
                                        <p:attrNameLst>
                                          <p:attrName>style.visibility</p:attrName>
                                        </p:attrNameLst>
                                      </p:cBhvr>
                                      <p:to>
                                        <p:strVal val="visible"/>
                                      </p:to>
                                    </p:set>
                                    <p:animEffect transition="in" filter="fade">
                                      <p:cBhvr>
                                        <p:cTn id="166" dur="550"/>
                                        <p:tgtEl>
                                          <p:spTgt spid="43"/>
                                        </p:tgtEl>
                                      </p:cBhvr>
                                    </p:animEffect>
                                  </p:childTnLst>
                                </p:cTn>
                              </p:par>
                            </p:childTnLst>
                          </p:cTn>
                        </p:par>
                        <p:par>
                          <p:cTn id="167" fill="hold">
                            <p:stCondLst>
                              <p:cond delay="150"/>
                            </p:stCondLst>
                            <p:childTnLst>
                              <p:par>
                                <p:cTn id="168" presetID="53" presetClass="entr" presetSubtype="16" fill="hold" grpId="0" nodeType="afterEffect">
                                  <p:stCondLst>
                                    <p:cond delay="0"/>
                                  </p:stCondLst>
                                  <p:childTnLst>
                                    <p:set>
                                      <p:cBhvr>
                                        <p:cTn id="169" dur="1" fill="hold">
                                          <p:stCondLst>
                                            <p:cond delay="0"/>
                                          </p:stCondLst>
                                        </p:cTn>
                                        <p:tgtEl>
                                          <p:spTgt spid="44"/>
                                        </p:tgtEl>
                                        <p:attrNameLst>
                                          <p:attrName>style.visibility</p:attrName>
                                        </p:attrNameLst>
                                      </p:cBhvr>
                                      <p:to>
                                        <p:strVal val="visible"/>
                                      </p:to>
                                    </p:set>
                                    <p:animEffect transition="in" filter="fade">
                                      <p:cBhvr>
                                        <p:cTn id="170" dur="550"/>
                                        <p:tgtEl>
                                          <p:spTgt spid="44"/>
                                        </p:tgtEl>
                                      </p:cBhvr>
                                    </p:animEffect>
                                    <p:anim calcmode="lin" valueType="num">
                                      <p:cBhvr additive="base">
                                        <p:cTn id="171" dur="550" fill="hold"/>
                                        <p:tgtEl>
                                          <p:spTgt spid="44"/>
                                        </p:tgtEl>
                                        <p:attrNameLst>
                                          <p:attrName>ppt_w</p:attrName>
                                        </p:attrNameLst>
                                      </p:cBhvr>
                                      <p:tavLst>
                                        <p:tav tm="0">
                                          <p:val>
                                            <p:strVal val="0"/>
                                          </p:val>
                                        </p:tav>
                                        <p:tav tm="100000">
                                          <p:val>
                                            <p:strVal val="#ppt_w"/>
                                          </p:val>
                                        </p:tav>
                                      </p:tavLst>
                                    </p:anim>
                                    <p:anim calcmode="lin" valueType="num">
                                      <p:cBhvr additive="base">
                                        <p:cTn id="172" dur="550" fill="hold"/>
                                        <p:tgtEl>
                                          <p:spTgt spid="44"/>
                                        </p:tgtEl>
                                        <p:attrNameLst>
                                          <p:attrName>ppt_h</p:attrName>
                                        </p:attrNameLst>
                                      </p:cBhvr>
                                      <p:tavLst>
                                        <p:tav tm="0">
                                          <p:val>
                                            <p:strVal val="0"/>
                                          </p:val>
                                        </p:tav>
                                        <p:tav tm="100000">
                                          <p:val>
                                            <p:strVal val="#ppt_h"/>
                                          </p:val>
                                        </p:tav>
                                      </p:tavLst>
                                    </p:anim>
                                  </p:childTnLst>
                                </p:cTn>
                              </p:par>
                            </p:childTnLst>
                          </p:cTn>
                        </p:par>
                        <p:par>
                          <p:cTn id="173" fill="hold">
                            <p:stCondLst>
                              <p:cond delay="150"/>
                            </p:stCondLst>
                            <p:childTnLst>
                              <p:par>
                                <p:cTn id="174" presetID="53" presetClass="entr" presetSubtype="16" fill="hold" grpId="0" nodeType="afterEffect">
                                  <p:stCondLst>
                                    <p:cond delay="0"/>
                                  </p:stCondLst>
                                  <p:childTnLst>
                                    <p:set>
                                      <p:cBhvr>
                                        <p:cTn id="175" dur="1" fill="hold">
                                          <p:stCondLst>
                                            <p:cond delay="0"/>
                                          </p:stCondLst>
                                        </p:cTn>
                                        <p:tgtEl>
                                          <p:spTgt spid="45"/>
                                        </p:tgtEl>
                                        <p:attrNameLst>
                                          <p:attrName>style.visibility</p:attrName>
                                        </p:attrNameLst>
                                      </p:cBhvr>
                                      <p:to>
                                        <p:strVal val="visible"/>
                                      </p:to>
                                    </p:set>
                                    <p:animEffect transition="in" filter="fade">
                                      <p:cBhvr>
                                        <p:cTn id="176" dur="550"/>
                                        <p:tgtEl>
                                          <p:spTgt spid="45"/>
                                        </p:tgtEl>
                                      </p:cBhvr>
                                    </p:animEffect>
                                    <p:anim calcmode="lin" valueType="num">
                                      <p:cBhvr additive="base">
                                        <p:cTn id="177" dur="550" fill="hold"/>
                                        <p:tgtEl>
                                          <p:spTgt spid="45"/>
                                        </p:tgtEl>
                                        <p:attrNameLst>
                                          <p:attrName>ppt_w</p:attrName>
                                        </p:attrNameLst>
                                      </p:cBhvr>
                                      <p:tavLst>
                                        <p:tav tm="0">
                                          <p:val>
                                            <p:strVal val="0"/>
                                          </p:val>
                                        </p:tav>
                                        <p:tav tm="100000">
                                          <p:val>
                                            <p:strVal val="#ppt_w"/>
                                          </p:val>
                                        </p:tav>
                                      </p:tavLst>
                                    </p:anim>
                                    <p:anim calcmode="lin" valueType="num">
                                      <p:cBhvr additive="base">
                                        <p:cTn id="178" dur="550" fill="hold"/>
                                        <p:tgtEl>
                                          <p:spTgt spid="45"/>
                                        </p:tgtEl>
                                        <p:attrNameLst>
                                          <p:attrName>ppt_h</p:attrName>
                                        </p:attrNameLst>
                                      </p:cBhvr>
                                      <p:tavLst>
                                        <p:tav tm="0">
                                          <p:val>
                                            <p:strVal val="0"/>
                                          </p:val>
                                        </p:tav>
                                        <p:tav tm="100000">
                                          <p:val>
                                            <p:strVal val="#ppt_h"/>
                                          </p:val>
                                        </p:tav>
                                      </p:tavLst>
                                    </p:anim>
                                  </p:childTnLst>
                                </p:cTn>
                              </p:par>
                            </p:childTnLst>
                          </p:cTn>
                        </p:par>
                        <p:par>
                          <p:cTn id="179" fill="hold">
                            <p:stCondLst>
                              <p:cond delay="150"/>
                            </p:stCondLst>
                            <p:childTnLst>
                              <p:par>
                                <p:cTn id="180" presetID="10" presetClass="entr" presetSubtype="0" fill="hold" grpId="0" nodeType="afterEffect">
                                  <p:stCondLst>
                                    <p:cond delay="0"/>
                                  </p:stCondLst>
                                  <p:childTnLst>
                                    <p:set>
                                      <p:cBhvr>
                                        <p:cTn id="181" dur="1" fill="hold">
                                          <p:stCondLst>
                                            <p:cond delay="0"/>
                                          </p:stCondLst>
                                        </p:cTn>
                                        <p:tgtEl>
                                          <p:spTgt spid="46"/>
                                        </p:tgtEl>
                                        <p:attrNameLst>
                                          <p:attrName>style.visibility</p:attrName>
                                        </p:attrNameLst>
                                      </p:cBhvr>
                                      <p:to>
                                        <p:strVal val="visible"/>
                                      </p:to>
                                    </p:set>
                                    <p:animEffect transition="in" filter="fade">
                                      <p:cBhvr>
                                        <p:cTn id="182" dur="550"/>
                                        <p:tgtEl>
                                          <p:spTgt spid="46"/>
                                        </p:tgtEl>
                                      </p:cBhvr>
                                    </p:animEffect>
                                  </p:childTnLst>
                                </p:cTn>
                              </p:par>
                            </p:childTnLst>
                          </p:cTn>
                        </p:par>
                        <p:par>
                          <p:cTn id="183" fill="hold">
                            <p:stCondLst>
                              <p:cond delay="350"/>
                            </p:stCondLst>
                            <p:childTnLst>
                              <p:par>
                                <p:cTn id="184" presetID="53" presetClass="entr" presetSubtype="16" fill="hold" grpId="0" nodeType="afterEffect">
                                  <p:stCondLst>
                                    <p:cond delay="0"/>
                                  </p:stCondLst>
                                  <p:childTnLst>
                                    <p:set>
                                      <p:cBhvr>
                                        <p:cTn id="185" dur="1" fill="hold">
                                          <p:stCondLst>
                                            <p:cond delay="0"/>
                                          </p:stCondLst>
                                        </p:cTn>
                                        <p:tgtEl>
                                          <p:spTgt spid="47"/>
                                        </p:tgtEl>
                                        <p:attrNameLst>
                                          <p:attrName>style.visibility</p:attrName>
                                        </p:attrNameLst>
                                      </p:cBhvr>
                                      <p:to>
                                        <p:strVal val="visible"/>
                                      </p:to>
                                    </p:set>
                                    <p:animEffect transition="in" filter="fade">
                                      <p:cBhvr>
                                        <p:cTn id="186" dur="550"/>
                                        <p:tgtEl>
                                          <p:spTgt spid="47"/>
                                        </p:tgtEl>
                                      </p:cBhvr>
                                    </p:animEffect>
                                    <p:anim calcmode="lin" valueType="num">
                                      <p:cBhvr additive="base">
                                        <p:cTn id="187" dur="550" fill="hold"/>
                                        <p:tgtEl>
                                          <p:spTgt spid="47"/>
                                        </p:tgtEl>
                                        <p:attrNameLst>
                                          <p:attrName>ppt_w</p:attrName>
                                        </p:attrNameLst>
                                      </p:cBhvr>
                                      <p:tavLst>
                                        <p:tav tm="0">
                                          <p:val>
                                            <p:strVal val="0"/>
                                          </p:val>
                                        </p:tav>
                                        <p:tav tm="100000">
                                          <p:val>
                                            <p:strVal val="#ppt_w"/>
                                          </p:val>
                                        </p:tav>
                                      </p:tavLst>
                                    </p:anim>
                                    <p:anim calcmode="lin" valueType="num">
                                      <p:cBhvr additive="base">
                                        <p:cTn id="188" dur="550" fill="hold"/>
                                        <p:tgtEl>
                                          <p:spTgt spid="47"/>
                                        </p:tgtEl>
                                        <p:attrNameLst>
                                          <p:attrName>ppt_h</p:attrName>
                                        </p:attrNameLst>
                                      </p:cBhvr>
                                      <p:tavLst>
                                        <p:tav tm="0">
                                          <p:val>
                                            <p:strVal val="0"/>
                                          </p:val>
                                        </p:tav>
                                        <p:tav tm="100000">
                                          <p:val>
                                            <p:strVal val="#ppt_h"/>
                                          </p:val>
                                        </p:tav>
                                      </p:tavLst>
                                    </p:anim>
                                  </p:childTnLst>
                                </p:cTn>
                              </p:par>
                            </p:childTnLst>
                          </p:cTn>
                        </p:par>
                        <p:par>
                          <p:cTn id="189" fill="hold">
                            <p:stCondLst>
                              <p:cond delay="450"/>
                            </p:stCondLst>
                            <p:childTnLst>
                              <p:par>
                                <p:cTn id="190" presetID="10" presetClass="entr" presetSubtype="0" fill="hold" grpId="0" nodeType="afterEffect">
                                  <p:stCondLst>
                                    <p:cond delay="0"/>
                                  </p:stCondLst>
                                  <p:childTnLst>
                                    <p:set>
                                      <p:cBhvr>
                                        <p:cTn id="191" dur="1" fill="hold">
                                          <p:stCondLst>
                                            <p:cond delay="0"/>
                                          </p:stCondLst>
                                        </p:cTn>
                                        <p:tgtEl>
                                          <p:spTgt spid="48"/>
                                        </p:tgtEl>
                                        <p:attrNameLst>
                                          <p:attrName>style.visibility</p:attrName>
                                        </p:attrNameLst>
                                      </p:cBhvr>
                                      <p:to>
                                        <p:strVal val="visible"/>
                                      </p:to>
                                    </p:set>
                                    <p:animEffect transition="in" filter="fade">
                                      <p:cBhvr>
                                        <p:cTn id="192" dur="550"/>
                                        <p:tgtEl>
                                          <p:spTgt spid="48"/>
                                        </p:tgtEl>
                                      </p:cBhvr>
                                    </p:animEffect>
                                  </p:childTnLst>
                                </p:cTn>
                              </p:par>
                            </p:childTnLst>
                          </p:cTn>
                        </p:par>
                        <p:par>
                          <p:cTn id="193" fill="hold">
                            <p:stCondLst>
                              <p:cond delay="550"/>
                            </p:stCondLst>
                            <p:childTnLst>
                              <p:par>
                                <p:cTn id="194" presetID="2" presetClass="entr" presetSubtype="8" fill="hold" grpId="0" nodeType="afterEffect">
                                  <p:stCondLst>
                                    <p:cond delay="0"/>
                                  </p:stCondLst>
                                  <p:childTnLst>
                                    <p:set>
                                      <p:cBhvr>
                                        <p:cTn id="195" dur="1" fill="hold">
                                          <p:stCondLst>
                                            <p:cond delay="0"/>
                                          </p:stCondLst>
                                        </p:cTn>
                                        <p:tgtEl>
                                          <p:spTgt spid="49"/>
                                        </p:tgtEl>
                                        <p:attrNameLst>
                                          <p:attrName>style.visibility</p:attrName>
                                        </p:attrNameLst>
                                      </p:cBhvr>
                                      <p:to>
                                        <p:strVal val="visible"/>
                                      </p:to>
                                    </p:set>
                                    <p:anim calcmode="lin" valueType="num">
                                      <p:cBhvr additive="base">
                                        <p:cTn id="197" dur="550" fill="hold"/>
                                        <p:tgtEl>
                                          <p:spTgt spid="49"/>
                                        </p:tgtEl>
                                        <p:attrNameLst>
                                          <p:attrName>ppt_x</p:attrName>
                                        </p:attrNameLst>
                                      </p:cBhvr>
                                      <p:tavLst>
                                        <p:tav tm="0">
                                          <p:val>
                                            <p:strVal val="0-#ppt_w/2"/>
                                          </p:val>
                                        </p:tav>
                                        <p:tav tm="100000">
                                          <p:val>
                                            <p:strVal val="#ppt_x"/>
                                          </p:val>
                                        </p:tav>
                                      </p:tavLst>
                                    </p:anim>
                                    <p:anim calcmode="lin" valueType="num">
                                      <p:cBhvr additive="base">
                                        <p:cTn id="198" dur="550" fill="hold"/>
                                        <p:tgtEl>
                                          <p:spTgt spid="49"/>
                                        </p:tgtEl>
                                        <p:attrNameLst>
                                          <p:attrName>ppt_y</p:attrName>
                                        </p:attrNameLst>
                                      </p:cBhvr>
                                      <p:tavLst>
                                        <p:tav tm="0">
                                          <p:val>
                                            <p:strVal val="#ppt_y"/>
                                          </p:val>
                                        </p:tav>
                                        <p:tav tm="100000">
                                          <p:val>
                                            <p:strVal val="#ppt_y"/>
                                          </p:val>
                                        </p:tav>
                                      </p:tavLst>
                                    </p:anim>
                                  </p:childTnLst>
                                </p:cTn>
                              </p:par>
                            </p:childTnLst>
                          </p:cTn>
                        </p:par>
                        <p:par>
                          <p:cTn id="199" fill="hold">
                            <p:stCondLst>
                              <p:cond delay="650"/>
                            </p:stCondLst>
                            <p:childTnLst>
                              <p:par>
                                <p:cTn id="200" presetID="22" presetClass="entr" presetSubtype="8" fill="hold" grpId="0" nodeType="afterEffect">
                                  <p:stCondLst>
                                    <p:cond delay="0"/>
                                  </p:stCondLst>
                                  <p:childTnLst>
                                    <p:set>
                                      <p:cBhvr>
                                        <p:cTn id="201" dur="1" fill="hold">
                                          <p:stCondLst>
                                            <p:cond delay="0"/>
                                          </p:stCondLst>
                                        </p:cTn>
                                        <p:tgtEl>
                                          <p:spTgt spid="50"/>
                                        </p:tgtEl>
                                        <p:attrNameLst>
                                          <p:attrName>style.visibility</p:attrName>
                                        </p:attrNameLst>
                                      </p:cBhvr>
                                      <p:to>
                                        <p:strVal val="visible"/>
                                      </p:to>
                                    </p:set>
                                    <p:animEffect transition="in" filter="wipe(left)">
                                      <p:cBhvr>
                                        <p:cTn id="203" dur="8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6" grpId="0" animBg="1"/>
      <p:bldP spid="47" grpId="0" animBg="1"/>
      <p:bldP spid="48" grpId="0" animBg="1"/>
      <p:bldP spid="49" grpId="0" animBg="1"/>
      <p:bldP spid="50"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1-REJA</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Neyromorf hisoblash (Neuromorphic Computing)</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M15 · Kelajak avlod sun'iy intellekt hisoblash tizimlari va istiqbolli texnologiyalar</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4</a:t>
            </a:r>
          </a:p>
        </p:txBody>
      </p:sp>
      <p:sp>
        <p:nvSpPr>
          <p:cNvPr id="25" name="Rounded Rectangle 24"/>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e348030a72849322.jpg"/>
          <p:cNvPicPr>
            <a:picLocks noChangeAspect="1"/>
          </p:cNvPicPr>
          <p:nvPr/>
        </p:nvPicPr>
        <p:blipFill>
          <a:blip r:embed="rId2"/>
          <a:srcRect t="15034" b="15034"/>
          <a:stretch>
            <a:fillRect/>
          </a:stretch>
        </p:blipFill>
        <p:spPr>
          <a:xfrm>
            <a:off x="7620000" y="1430000"/>
            <a:ext cx="4050000" cy="4250000"/>
          </a:xfrm>
          <a:prstGeom prst="roundRect">
            <a:avLst/>
          </a:prstGeom>
          <a:ln w="19050">
            <a:solidFill>
              <a:srgbClr val="22D3EE"/>
            </a:solidFill>
          </a:ln>
        </p:spPr>
      </p:pic>
      <p:sp>
        <p:nvSpPr>
          <p:cNvPr id="27" name="TextBox 26"/>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Ragsxl · Wikimedia Commons · CC BY-SA 4.0</a:t>
            </a:r>
          </a:p>
        </p:txBody>
      </p:sp>
      <p:sp>
        <p:nvSpPr>
          <p:cNvPr id="28" name="Rounded Rectangle 27"/>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9" name="Rounded Rectangle 28"/>
          <p:cNvSpPr/>
          <p:nvPr/>
        </p:nvSpPr>
        <p:spPr>
          <a:xfrm>
            <a:off x="550000" y="2451520"/>
            <a:ext cx="6750000" cy="2676960"/>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2531520"/>
            <a:ext cx="50000" cy="251696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359000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2" name="TextBox 31"/>
          <p:cNvSpPr txBox="1"/>
          <p:nvPr/>
        </p:nvSpPr>
        <p:spPr>
          <a:xfrm>
            <a:off x="1300000" y="2491520"/>
            <a:ext cx="5900000" cy="2596960"/>
          </a:xfrm>
          <a:prstGeom prst="rect">
            <a:avLst/>
          </a:prstGeom>
          <a:noFill/>
        </p:spPr>
        <p:txBody>
          <a:bodyPr wrap="square" anchor="ctr">
            <a:spAutoFit/>
          </a:bodyPr>
          <a:lstStyle/>
          <a:p>
            <a:r>
              <a:rPr sz="1500" b="1">
                <a:solidFill>
                  <a:srgbClr val="E8EEFA"/>
                </a:solidFill>
                <a:latin typeface="Segoe UI"/>
              </a:rPr>
              <a:t>Neyromorf muhandislik atamasini 1980-yillar oxirida Karver Mid (Carver Mead) Kaltexda kiritgan: u analog CMOS sxemalar bilan biologik neyronlarning dinamikasini bevosita taqlid qilishni taklif qilgan.</a:t>
            </a:r>
          </a:p>
          <a:p>
            <a:pPr>
              <a:spcBef>
                <a:spcPts val="400"/>
              </a:spcBef>
            </a:pPr>
            <a:r>
              <a:rPr sz="1400">
                <a:solidFill>
                  <a:srgbClr val="AEBBD9"/>
                </a:solidFill>
                <a:latin typeface="Segoe UI"/>
              </a:rPr>
              <a:t>Zamonaviy neyromorf tizimlar uchta tamoyilga tayanadi. Birinchisi — hodisaga asoslangan (event-driven) ishlov: neyron faqat kirish potensiali chegaradan oshganda spayk (spike) chiqaradi, aks holda hech narsa hisoblanmaydi va energiya sarflanmaydi; an'anaviy tarmoqda esa har qatlam har kirish uchun to'liq hisoblanadi.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ppt_w</p:attrName>
                                        </p:attrNameLst>
                                      </p:cBhvr>
                                      <p:tavLst>
                                        <p:tav tm="0">
                                          <p:val>
                                            <p:strVal val="0"/>
                                          </p:val>
                                        </p:tav>
                                        <p:tav tm="100000">
                                          <p:val>
                                            <p:strVal val="#ppt_w"/>
                                          </p:val>
                                        </p:tav>
                                      </p:tavLst>
                                    </p:anim>
                                    <p:anim calcmode="lin" valueType="num">
                                      <p:cBhvr additive="base">
                                        <p:cTn id="17" dur="550" fill="hold"/>
                                        <p:tgtEl>
                                          <p:spTgt spid="25"/>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anim calcmode="lin" valueType="num">
                                      <p:cBhvr additive="base">
                                        <p:cTn id="22" dur="550" fill="hold"/>
                                        <p:tgtEl>
                                          <p:spTgt spid="26"/>
                                        </p:tgtEl>
                                        <p:attrNameLst>
                                          <p:attrName>ppt_w</p:attrName>
                                        </p:attrNameLst>
                                      </p:cBhvr>
                                      <p:tavLst>
                                        <p:tav tm="0">
                                          <p:val>
                                            <p:strVal val="0"/>
                                          </p:val>
                                        </p:tav>
                                        <p:tav tm="100000">
                                          <p:val>
                                            <p:strVal val="#ppt_w"/>
                                          </p:val>
                                        </p:tav>
                                      </p:tavLst>
                                    </p:anim>
                                    <p:anim calcmode="lin" valueType="num">
                                      <p:cBhvr additive="base">
                                        <p:cTn id="23" dur="550" fill="hold"/>
                                        <p:tgtEl>
                                          <p:spTgt spid="26"/>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50"/>
                                        <p:tgtEl>
                                          <p:spTgt spid="28"/>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50"/>
                                        <p:tgtEl>
                                          <p:spTgt spid="27"/>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50"/>
                                        <p:tgtEl>
                                          <p:spTgt spid="29"/>
                                        </p:tgtEl>
                                      </p:cBhvr>
                                    </p:animEffect>
                                    <p:anim calcmode="lin" valueType="num">
                                      <p:cBhvr additive="base">
                                        <p:cTn id="36" dur="550" fill="hold"/>
                                        <p:tgtEl>
                                          <p:spTgt spid="29"/>
                                        </p:tgtEl>
                                        <p:attrNameLst>
                                          <p:attrName>ppt_x</p:attrName>
                                        </p:attrNameLst>
                                      </p:cBhvr>
                                      <p:tavLst>
                                        <p:tav tm="0">
                                          <p:val>
                                            <p:strVal val="#ppt_x"/>
                                          </p:val>
                                        </p:tav>
                                        <p:tav tm="100000">
                                          <p:val>
                                            <p:strVal val="#ppt_x"/>
                                          </p:val>
                                        </p:tav>
                                      </p:tavLst>
                                    </p:anim>
                                    <p:anim calcmode="lin" valueType="num">
                                      <p:cBhvr additive="base">
                                        <p:cTn id="37" dur="550" fill="hold"/>
                                        <p:tgtEl>
                                          <p:spTgt spid="29"/>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50"/>
                                        <p:tgtEl>
                                          <p:spTgt spid="30"/>
                                        </p:tgtEl>
                                      </p:cBhvr>
                                    </p:animEffect>
                                    <p:anim calcmode="lin" valueType="num">
                                      <p:cBhvr additive="base">
                                        <p:cTn id="42" dur="550" fill="hold"/>
                                        <p:tgtEl>
                                          <p:spTgt spid="30"/>
                                        </p:tgtEl>
                                        <p:attrNameLst>
                                          <p:attrName>ppt_x</p:attrName>
                                        </p:attrNameLst>
                                      </p:cBhvr>
                                      <p:tavLst>
                                        <p:tav tm="0">
                                          <p:val>
                                            <p:strVal val="#ppt_x"/>
                                          </p:val>
                                        </p:tav>
                                        <p:tav tm="100000">
                                          <p:val>
                                            <p:strVal val="#ppt_x"/>
                                          </p:val>
                                        </p:tav>
                                      </p:tavLst>
                                    </p:anim>
                                    <p:anim calcmode="lin" valueType="num">
                                      <p:cBhvr additive="base">
                                        <p:cTn id="43" dur="550" fill="hold"/>
                                        <p:tgtEl>
                                          <p:spTgt spid="30"/>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50"/>
                                        <p:tgtEl>
                                          <p:spTgt spid="31"/>
                                        </p:tgtEl>
                                      </p:cBhvr>
                                    </p:animEffect>
                                    <p:anim calcmode="lin" valueType="num">
                                      <p:cBhvr additive="base">
                                        <p:cTn id="48" dur="550" fill="hold"/>
                                        <p:tgtEl>
                                          <p:spTgt spid="31"/>
                                        </p:tgtEl>
                                        <p:attrNameLst>
                                          <p:attrName>ppt_w</p:attrName>
                                        </p:attrNameLst>
                                      </p:cBhvr>
                                      <p:tavLst>
                                        <p:tav tm="0">
                                          <p:val>
                                            <p:strVal val="0"/>
                                          </p:val>
                                        </p:tav>
                                        <p:tav tm="100000">
                                          <p:val>
                                            <p:strVal val="#ppt_w"/>
                                          </p:val>
                                        </p:tav>
                                      </p:tavLst>
                                    </p:anim>
                                    <p:anim calcmode="lin" valueType="num">
                                      <p:cBhvr additive="base">
                                        <p:cTn id="49" dur="550" fill="hold"/>
                                        <p:tgtEl>
                                          <p:spTgt spid="31"/>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50"/>
                                        <p:tgtEl>
                                          <p:spTgt spid="32"/>
                                        </p:tgtEl>
                                      </p:cBhvr>
                                    </p:animEffect>
                                    <p:anim calcmode="lin" valueType="num">
                                      <p:cBhvr additive="base">
                                        <p:cTn id="54" dur="550" fill="hold"/>
                                        <p:tgtEl>
                                          <p:spTgt spid="32"/>
                                        </p:tgtEl>
                                        <p:attrNameLst>
                                          <p:attrName>ppt_x</p:attrName>
                                        </p:attrNameLst>
                                      </p:cBhvr>
                                      <p:tavLst>
                                        <p:tav tm="0">
                                          <p:val>
                                            <p:strVal val="#ppt_x"/>
                                          </p:val>
                                        </p:tav>
                                        <p:tav tm="100000">
                                          <p:val>
                                            <p:strVal val="#ppt_x"/>
                                          </p:val>
                                        </p:tav>
                                      </p:tavLst>
                                    </p:anim>
                                    <p:anim calcmode="lin" valueType="num">
                                      <p:cBhvr additive="base">
                                        <p:cTn id="55" dur="550" fill="hold"/>
                                        <p:tgtEl>
                                          <p:spTgt spid="3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8" grpId="0" animBg="1"/>
      <p:bldP spid="27" grpId="0" animBg="1"/>
      <p:bldP spid="29" grpId="0" animBg="1"/>
      <p:bldP spid="30" grpId="0" animBg="1"/>
      <p:bldP spid="31" grpId="0" animBg="1"/>
      <p:bldP spid="32"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1-REJA</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Neyromorf hisoblash (Neuromorphic Computing)</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M15 · Kelajak avlod sun'iy intellekt hisoblash tizimlari va istiqbolli texnologiyalar</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5</a:t>
            </a:r>
          </a:p>
        </p:txBody>
      </p:sp>
      <p:sp>
        <p:nvSpPr>
          <p:cNvPr id="25" name="Rounded Rectangle 24"/>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e87ecdb5a0ebb08f.jpg"/>
          <p:cNvPicPr>
            <a:picLocks noChangeAspect="1"/>
          </p:cNvPicPr>
          <p:nvPr/>
        </p:nvPicPr>
        <p:blipFill>
          <a:blip r:embed="rId2"/>
          <a:srcRect l="1171" r="1171"/>
          <a:stretch>
            <a:fillRect/>
          </a:stretch>
        </p:blipFill>
        <p:spPr>
          <a:xfrm>
            <a:off x="7620000" y="1430000"/>
            <a:ext cx="4050000" cy="4250000"/>
          </a:xfrm>
          <a:prstGeom prst="roundRect">
            <a:avLst/>
          </a:prstGeom>
          <a:ln w="19050">
            <a:solidFill>
              <a:srgbClr val="22D3EE"/>
            </a:solidFill>
          </a:ln>
        </p:spPr>
      </p:pic>
      <p:sp>
        <p:nvSpPr>
          <p:cNvPr id="27" name="TextBox 26"/>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André Karwath aka Aka · Wikimedia Commons · CC BY-SA 2.5</a:t>
            </a:r>
          </a:p>
        </p:txBody>
      </p:sp>
      <p:sp>
        <p:nvSpPr>
          <p:cNvPr id="28" name="Rounded Rectangle 27"/>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9" name="Rounded Rectangle 28"/>
          <p:cNvSpPr/>
          <p:nvPr/>
        </p:nvSpPr>
        <p:spPr>
          <a:xfrm>
            <a:off x="550000" y="1661544"/>
            <a:ext cx="6750000" cy="207345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1741544"/>
            <a:ext cx="50000" cy="191345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2498272"/>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2" name="TextBox 31"/>
          <p:cNvSpPr txBox="1"/>
          <p:nvPr/>
        </p:nvSpPr>
        <p:spPr>
          <a:xfrm>
            <a:off x="1300000" y="1701544"/>
            <a:ext cx="5900000" cy="1993456"/>
          </a:xfrm>
          <a:prstGeom prst="rect">
            <a:avLst/>
          </a:prstGeom>
          <a:noFill/>
        </p:spPr>
        <p:txBody>
          <a:bodyPr wrap="square" anchor="ctr">
            <a:spAutoFit/>
          </a:bodyPr>
          <a:lstStyle/>
          <a:p>
            <a:r>
              <a:rPr sz="1400" b="1">
                <a:solidFill>
                  <a:srgbClr val="E8EEFA"/>
                </a:solidFill>
                <a:latin typeface="Segoe UI"/>
              </a:rPr>
              <a:t>Ikkinchisi — xotira va hisoblashning yaqinlashuvi: sinaptik og'irliklar neyron yadrosi yonida saqlanadi, fon Neyman shinasi orqali tashilmaydi.</a:t>
            </a:r>
          </a:p>
          <a:p>
            <a:pPr>
              <a:spcBef>
                <a:spcPts val="400"/>
              </a:spcBef>
            </a:pPr>
            <a:r>
              <a:rPr sz="1300">
                <a:solidFill>
                  <a:srgbClr val="AEBBD9"/>
                </a:solidFill>
                <a:latin typeface="Segoe UI"/>
              </a:rPr>
              <a:t>Uchinchisi — asinxron, mahalliy aloqa: yadrolar umumiy soat signalisiz, faqat spayk paketlari (odatda AER — Address-Event Representation protokoli) bilan muloqot qiladi.</a:t>
            </a:r>
          </a:p>
        </p:txBody>
      </p:sp>
      <p:sp>
        <p:nvSpPr>
          <p:cNvPr id="33" name="Rounded Rectangle 32"/>
          <p:cNvSpPr/>
          <p:nvPr/>
        </p:nvSpPr>
        <p:spPr>
          <a:xfrm>
            <a:off x="550000" y="3845000"/>
            <a:ext cx="6750000" cy="207345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50000" y="3925000"/>
            <a:ext cx="50000" cy="1913456"/>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60000" y="4681728"/>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6" name="TextBox 35"/>
          <p:cNvSpPr txBox="1"/>
          <p:nvPr/>
        </p:nvSpPr>
        <p:spPr>
          <a:xfrm>
            <a:off x="1300000" y="3885000"/>
            <a:ext cx="5900000" cy="1993456"/>
          </a:xfrm>
          <a:prstGeom prst="rect">
            <a:avLst/>
          </a:prstGeom>
          <a:noFill/>
        </p:spPr>
        <p:txBody>
          <a:bodyPr wrap="square" anchor="ctr">
            <a:spAutoFit/>
          </a:bodyPr>
          <a:lstStyle/>
          <a:p>
            <a:r>
              <a:rPr sz="1400" b="1">
                <a:solidFill>
                  <a:srgbClr val="E8EEFA"/>
                </a:solidFill>
                <a:latin typeface="Segoe UI"/>
              </a:rPr>
              <a:t>Asosiy neyron modeli — oqish-integratsiya-otilish (Leaky Integrate-and-Fire, LIF) neyroni: membrana potensiali U[t] = β·U[t-1] + W·X[t] - S[t-1]·θ, bu yerda β — oqish koeffitsienti, W·X — vaznlangan kirish, S — spayk (1 yoki 0), θ — chegara.</a:t>
            </a:r>
          </a:p>
          <a:p>
            <a:pPr>
              <a:spcBef>
                <a:spcPts val="400"/>
              </a:spcBef>
            </a:pPr>
            <a:r>
              <a:rPr sz="1300">
                <a:solidFill>
                  <a:srgbClr val="AEBBD9"/>
                </a:solidFill>
                <a:latin typeface="Segoe UI"/>
              </a:rPr>
              <a:t>Spayk U chegaradan oshganda chiqadi va potensial qaytariladi. Axborot spayk chastotasida (rate coding), spayk vaqtida (temporal/latency coding) yoki populyatsiya kodida ifodalanadi.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ppt_w</p:attrName>
                                        </p:attrNameLst>
                                      </p:cBhvr>
                                      <p:tavLst>
                                        <p:tav tm="0">
                                          <p:val>
                                            <p:strVal val="0"/>
                                          </p:val>
                                        </p:tav>
                                        <p:tav tm="100000">
                                          <p:val>
                                            <p:strVal val="#ppt_w"/>
                                          </p:val>
                                        </p:tav>
                                      </p:tavLst>
                                    </p:anim>
                                    <p:anim calcmode="lin" valueType="num">
                                      <p:cBhvr additive="base">
                                        <p:cTn id="17" dur="550" fill="hold"/>
                                        <p:tgtEl>
                                          <p:spTgt spid="25"/>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anim calcmode="lin" valueType="num">
                                      <p:cBhvr additive="base">
                                        <p:cTn id="22" dur="550" fill="hold"/>
                                        <p:tgtEl>
                                          <p:spTgt spid="26"/>
                                        </p:tgtEl>
                                        <p:attrNameLst>
                                          <p:attrName>ppt_w</p:attrName>
                                        </p:attrNameLst>
                                      </p:cBhvr>
                                      <p:tavLst>
                                        <p:tav tm="0">
                                          <p:val>
                                            <p:strVal val="0"/>
                                          </p:val>
                                        </p:tav>
                                        <p:tav tm="100000">
                                          <p:val>
                                            <p:strVal val="#ppt_w"/>
                                          </p:val>
                                        </p:tav>
                                      </p:tavLst>
                                    </p:anim>
                                    <p:anim calcmode="lin" valueType="num">
                                      <p:cBhvr additive="base">
                                        <p:cTn id="23" dur="550" fill="hold"/>
                                        <p:tgtEl>
                                          <p:spTgt spid="26"/>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50"/>
                                        <p:tgtEl>
                                          <p:spTgt spid="28"/>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50"/>
                                        <p:tgtEl>
                                          <p:spTgt spid="27"/>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50"/>
                                        <p:tgtEl>
                                          <p:spTgt spid="29"/>
                                        </p:tgtEl>
                                      </p:cBhvr>
                                    </p:animEffect>
                                    <p:anim calcmode="lin" valueType="num">
                                      <p:cBhvr additive="base">
                                        <p:cTn id="36" dur="550" fill="hold"/>
                                        <p:tgtEl>
                                          <p:spTgt spid="29"/>
                                        </p:tgtEl>
                                        <p:attrNameLst>
                                          <p:attrName>ppt_x</p:attrName>
                                        </p:attrNameLst>
                                      </p:cBhvr>
                                      <p:tavLst>
                                        <p:tav tm="0">
                                          <p:val>
                                            <p:strVal val="#ppt_x"/>
                                          </p:val>
                                        </p:tav>
                                        <p:tav tm="100000">
                                          <p:val>
                                            <p:strVal val="#ppt_x"/>
                                          </p:val>
                                        </p:tav>
                                      </p:tavLst>
                                    </p:anim>
                                    <p:anim calcmode="lin" valueType="num">
                                      <p:cBhvr additive="base">
                                        <p:cTn id="37" dur="550" fill="hold"/>
                                        <p:tgtEl>
                                          <p:spTgt spid="29"/>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50"/>
                                        <p:tgtEl>
                                          <p:spTgt spid="30"/>
                                        </p:tgtEl>
                                      </p:cBhvr>
                                    </p:animEffect>
                                    <p:anim calcmode="lin" valueType="num">
                                      <p:cBhvr additive="base">
                                        <p:cTn id="42" dur="550" fill="hold"/>
                                        <p:tgtEl>
                                          <p:spTgt spid="30"/>
                                        </p:tgtEl>
                                        <p:attrNameLst>
                                          <p:attrName>ppt_x</p:attrName>
                                        </p:attrNameLst>
                                      </p:cBhvr>
                                      <p:tavLst>
                                        <p:tav tm="0">
                                          <p:val>
                                            <p:strVal val="#ppt_x"/>
                                          </p:val>
                                        </p:tav>
                                        <p:tav tm="100000">
                                          <p:val>
                                            <p:strVal val="#ppt_x"/>
                                          </p:val>
                                        </p:tav>
                                      </p:tavLst>
                                    </p:anim>
                                    <p:anim calcmode="lin" valueType="num">
                                      <p:cBhvr additive="base">
                                        <p:cTn id="43" dur="550" fill="hold"/>
                                        <p:tgtEl>
                                          <p:spTgt spid="30"/>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50"/>
                                        <p:tgtEl>
                                          <p:spTgt spid="31"/>
                                        </p:tgtEl>
                                      </p:cBhvr>
                                    </p:animEffect>
                                    <p:anim calcmode="lin" valueType="num">
                                      <p:cBhvr additive="base">
                                        <p:cTn id="48" dur="550" fill="hold"/>
                                        <p:tgtEl>
                                          <p:spTgt spid="31"/>
                                        </p:tgtEl>
                                        <p:attrNameLst>
                                          <p:attrName>ppt_w</p:attrName>
                                        </p:attrNameLst>
                                      </p:cBhvr>
                                      <p:tavLst>
                                        <p:tav tm="0">
                                          <p:val>
                                            <p:strVal val="0"/>
                                          </p:val>
                                        </p:tav>
                                        <p:tav tm="100000">
                                          <p:val>
                                            <p:strVal val="#ppt_w"/>
                                          </p:val>
                                        </p:tav>
                                      </p:tavLst>
                                    </p:anim>
                                    <p:anim calcmode="lin" valueType="num">
                                      <p:cBhvr additive="base">
                                        <p:cTn id="49" dur="550" fill="hold"/>
                                        <p:tgtEl>
                                          <p:spTgt spid="31"/>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50"/>
                                        <p:tgtEl>
                                          <p:spTgt spid="32"/>
                                        </p:tgtEl>
                                      </p:cBhvr>
                                    </p:animEffect>
                                    <p:anim calcmode="lin" valueType="num">
                                      <p:cBhvr additive="base">
                                        <p:cTn id="54" dur="550" fill="hold"/>
                                        <p:tgtEl>
                                          <p:spTgt spid="32"/>
                                        </p:tgtEl>
                                        <p:attrNameLst>
                                          <p:attrName>ppt_x</p:attrName>
                                        </p:attrNameLst>
                                      </p:cBhvr>
                                      <p:tavLst>
                                        <p:tav tm="0">
                                          <p:val>
                                            <p:strVal val="#ppt_x"/>
                                          </p:val>
                                        </p:tav>
                                        <p:tav tm="100000">
                                          <p:val>
                                            <p:strVal val="#ppt_x"/>
                                          </p:val>
                                        </p:tav>
                                      </p:tavLst>
                                    </p:anim>
                                    <p:anim calcmode="lin" valueType="num">
                                      <p:cBhvr additive="base">
                                        <p:cTn id="55" dur="550" fill="hold"/>
                                        <p:tgtEl>
                                          <p:spTgt spid="32"/>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fade">
                                      <p:cBhvr>
                                        <p:cTn id="59" dur="550"/>
                                        <p:tgtEl>
                                          <p:spTgt spid="33"/>
                                        </p:tgtEl>
                                      </p:cBhvr>
                                    </p:animEffect>
                                    <p:anim calcmode="lin" valueType="num">
                                      <p:cBhvr additive="base">
                                        <p:cTn id="60" dur="550" fill="hold"/>
                                        <p:tgtEl>
                                          <p:spTgt spid="33"/>
                                        </p:tgtEl>
                                        <p:attrNameLst>
                                          <p:attrName>ppt_x</p:attrName>
                                        </p:attrNameLst>
                                      </p:cBhvr>
                                      <p:tavLst>
                                        <p:tav tm="0">
                                          <p:val>
                                            <p:strVal val="#ppt_x"/>
                                          </p:val>
                                        </p:tav>
                                        <p:tav tm="100000">
                                          <p:val>
                                            <p:strVal val="#ppt_x"/>
                                          </p:val>
                                        </p:tav>
                                      </p:tavLst>
                                    </p:anim>
                                    <p:anim calcmode="lin" valueType="num">
                                      <p:cBhvr additive="base">
                                        <p:cTn id="61" dur="550" fill="hold"/>
                                        <p:tgtEl>
                                          <p:spTgt spid="33"/>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550"/>
                                        <p:tgtEl>
                                          <p:spTgt spid="34"/>
                                        </p:tgtEl>
                                      </p:cBhvr>
                                    </p:animEffect>
                                    <p:anim calcmode="lin" valueType="num">
                                      <p:cBhvr additive="base">
                                        <p:cTn id="66" dur="550" fill="hold"/>
                                        <p:tgtEl>
                                          <p:spTgt spid="34"/>
                                        </p:tgtEl>
                                        <p:attrNameLst>
                                          <p:attrName>ppt_x</p:attrName>
                                        </p:attrNameLst>
                                      </p:cBhvr>
                                      <p:tavLst>
                                        <p:tav tm="0">
                                          <p:val>
                                            <p:strVal val="#ppt_x"/>
                                          </p:val>
                                        </p:tav>
                                        <p:tav tm="100000">
                                          <p:val>
                                            <p:strVal val="#ppt_x"/>
                                          </p:val>
                                        </p:tav>
                                      </p:tavLst>
                                    </p:anim>
                                    <p:anim calcmode="lin" valueType="num">
                                      <p:cBhvr additive="base">
                                        <p:cTn id="67" dur="550" fill="hold"/>
                                        <p:tgtEl>
                                          <p:spTgt spid="34"/>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550"/>
                                        <p:tgtEl>
                                          <p:spTgt spid="35"/>
                                        </p:tgtEl>
                                      </p:cBhvr>
                                    </p:animEffect>
                                    <p:anim calcmode="lin" valueType="num">
                                      <p:cBhvr additive="base">
                                        <p:cTn id="72" dur="550" fill="hold"/>
                                        <p:tgtEl>
                                          <p:spTgt spid="35"/>
                                        </p:tgtEl>
                                        <p:attrNameLst>
                                          <p:attrName>ppt_w</p:attrName>
                                        </p:attrNameLst>
                                      </p:cBhvr>
                                      <p:tavLst>
                                        <p:tav tm="0">
                                          <p:val>
                                            <p:strVal val="0"/>
                                          </p:val>
                                        </p:tav>
                                        <p:tav tm="100000">
                                          <p:val>
                                            <p:strVal val="#ppt_w"/>
                                          </p:val>
                                        </p:tav>
                                      </p:tavLst>
                                    </p:anim>
                                    <p:anim calcmode="lin" valueType="num">
                                      <p:cBhvr additive="base">
                                        <p:cTn id="73" dur="550" fill="hold"/>
                                        <p:tgtEl>
                                          <p:spTgt spid="35"/>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fade">
                                      <p:cBhvr>
                                        <p:cTn id="77" dur="550"/>
                                        <p:tgtEl>
                                          <p:spTgt spid="36"/>
                                        </p:tgtEl>
                                      </p:cBhvr>
                                    </p:animEffect>
                                    <p:anim calcmode="lin" valueType="num">
                                      <p:cBhvr additive="base">
                                        <p:cTn id="78" dur="550" fill="hold"/>
                                        <p:tgtEl>
                                          <p:spTgt spid="36"/>
                                        </p:tgtEl>
                                        <p:attrNameLst>
                                          <p:attrName>ppt_x</p:attrName>
                                        </p:attrNameLst>
                                      </p:cBhvr>
                                      <p:tavLst>
                                        <p:tav tm="0">
                                          <p:val>
                                            <p:strVal val="#ppt_x"/>
                                          </p:val>
                                        </p:tav>
                                        <p:tav tm="100000">
                                          <p:val>
                                            <p:strVal val="#ppt_x"/>
                                          </p:val>
                                        </p:tav>
                                      </p:tavLst>
                                    </p:anim>
                                    <p:anim calcmode="lin" valueType="num">
                                      <p:cBhvr additive="base">
                                        <p:cTn id="79" dur="550" fill="hold"/>
                                        <p:tgtEl>
                                          <p:spTgt spid="3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8" grpId="0" animBg="1"/>
      <p:bldP spid="27"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1-REJA</a:t>
            </a:r>
          </a:p>
        </p:txBody>
      </p:sp>
      <p:sp>
        <p:nvSpPr>
          <p:cNvPr id="19" name="TextBox 18"/>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Neyromorf hisoblash (Neuromorphic Computing)</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M15 · Kelajak avlod sun'iy intellekt hisoblash tizimlari va istiqbolli texnologiyalar</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6</a:t>
            </a:r>
          </a:p>
        </p:txBody>
      </p:sp>
      <p:sp>
        <p:nvSpPr>
          <p:cNvPr id="23" name="Rounded Rectangle 22"/>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dc795e4eb7c0b0f9.jpg"/>
          <p:cNvPicPr>
            <a:picLocks noChangeAspect="1"/>
          </p:cNvPicPr>
          <p:nvPr/>
        </p:nvPicPr>
        <p:blipFill>
          <a:blip r:embed="rId2"/>
          <a:srcRect l="18248" r="18248"/>
          <a:stretch>
            <a:fillRect/>
          </a:stretch>
        </p:blipFill>
        <p:spPr>
          <a:xfrm>
            <a:off x="7620000" y="1430000"/>
            <a:ext cx="4050000" cy="4250000"/>
          </a:xfrm>
          <a:prstGeom prst="roundRect">
            <a:avLst/>
          </a:prstGeom>
          <a:ln w="19050">
            <a:solidFill>
              <a:srgbClr val="22D3EE"/>
            </a:solidFill>
          </a:ln>
        </p:spPr>
      </p:pic>
      <p:sp>
        <p:nvSpPr>
          <p:cNvPr id="25" name="TextBox 24"/>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Idaho National Laboratory · Wikimedia Commons · CC BY 2.0</a:t>
            </a:r>
          </a:p>
        </p:txBody>
      </p:sp>
      <p:sp>
        <p:nvSpPr>
          <p:cNvPr id="26" name="Rounded Rectangle 25"/>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7" name="Rounded Rectangle 26"/>
          <p:cNvSpPr/>
          <p:nvPr/>
        </p:nvSpPr>
        <p:spPr>
          <a:xfrm>
            <a:off x="550000" y="2417992"/>
            <a:ext cx="6750000" cy="274401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2497992"/>
            <a:ext cx="50000" cy="2584016"/>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3590000"/>
            <a:ext cx="400000" cy="40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30" name="TextBox 29"/>
          <p:cNvSpPr txBox="1"/>
          <p:nvPr/>
        </p:nvSpPr>
        <p:spPr>
          <a:xfrm>
            <a:off x="1300000" y="2457992"/>
            <a:ext cx="5900000" cy="2664016"/>
          </a:xfrm>
          <a:prstGeom prst="rect">
            <a:avLst/>
          </a:prstGeom>
          <a:noFill/>
        </p:spPr>
        <p:txBody>
          <a:bodyPr wrap="square" anchor="ctr">
            <a:spAutoFit/>
          </a:bodyPr>
          <a:lstStyle/>
          <a:p>
            <a:r>
              <a:rPr sz="1700" b="1">
                <a:solidFill>
                  <a:srgbClr val="E8EEFA"/>
                </a:solidFill>
                <a:latin typeface="Segoe UI"/>
              </a:rPr>
              <a:t>Neyromorf tizimlarning real afzalligi siyrak (sparse), hodisaga boy ish yuklamalarida namoyon bo'ladi: hodisali kameralar (DVS) bilan ko'rish, audio uyg'otuvchi so'z, sensor oqimlarida anomaliya, robot boshqaruvi.</a:t>
            </a:r>
          </a:p>
          <a:p>
            <a:pPr>
              <a:spcBef>
                <a:spcPts val="400"/>
              </a:spcBef>
            </a:pPr>
            <a:r>
              <a:rPr sz="1600">
                <a:solidFill>
                  <a:srgbClr val="AEBBD9"/>
                </a:solidFill>
                <a:latin typeface="Segoe UI"/>
              </a:rPr>
              <a:t>Intel ma'lumotlariga ko'ra, Loihi ayrim siyrak ish yuklamalarida GPU va CPU ga nisbatan 100–1000 baravar kam energiya sarflaydi, lekin zich matritsali katta modellarda (LLM) ustunlik yo'q.</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ppt_w</p:attrName>
                                        </p:attrNameLst>
                                      </p:cBhvr>
                                      <p:tavLst>
                                        <p:tav tm="0">
                                          <p:val>
                                            <p:strVal val="0"/>
                                          </p:val>
                                        </p:tav>
                                        <p:tav tm="100000">
                                          <p:val>
                                            <p:strVal val="#ppt_w"/>
                                          </p:val>
                                        </p:tav>
                                      </p:tavLst>
                                    </p:anim>
                                    <p:anim calcmode="lin" valueType="num">
                                      <p:cBhvr additive="base">
                                        <p:cTn id="23" dur="55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50"/>
                                        <p:tgtEl>
                                          <p:spTgt spid="25"/>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50"/>
                                        <p:tgtEl>
                                          <p:spTgt spid="27"/>
                                        </p:tgtEl>
                                      </p:cBhvr>
                                    </p:animEffect>
                                    <p:anim calcmode="lin" valueType="num">
                                      <p:cBhvr additive="base">
                                        <p:cTn id="36" dur="550" fill="hold"/>
                                        <p:tgtEl>
                                          <p:spTgt spid="27"/>
                                        </p:tgtEl>
                                        <p:attrNameLst>
                                          <p:attrName>ppt_x</p:attrName>
                                        </p:attrNameLst>
                                      </p:cBhvr>
                                      <p:tavLst>
                                        <p:tav tm="0">
                                          <p:val>
                                            <p:strVal val="#ppt_x"/>
                                          </p:val>
                                        </p:tav>
                                        <p:tav tm="100000">
                                          <p:val>
                                            <p:strVal val="#ppt_x"/>
                                          </p:val>
                                        </p:tav>
                                      </p:tavLst>
                                    </p:anim>
                                    <p:anim calcmode="lin" valueType="num">
                                      <p:cBhvr additive="base">
                                        <p:cTn id="37" dur="550" fill="hold"/>
                                        <p:tgtEl>
                                          <p:spTgt spid="27"/>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additive="base">
                                        <p:cTn id="42" dur="550" fill="hold"/>
                                        <p:tgtEl>
                                          <p:spTgt spid="28"/>
                                        </p:tgtEl>
                                        <p:attrNameLst>
                                          <p:attrName>ppt_x</p:attrName>
                                        </p:attrNameLst>
                                      </p:cBhvr>
                                      <p:tavLst>
                                        <p:tav tm="0">
                                          <p:val>
                                            <p:strVal val="#ppt_x"/>
                                          </p:val>
                                        </p:tav>
                                        <p:tav tm="100000">
                                          <p:val>
                                            <p:strVal val="#ppt_x"/>
                                          </p:val>
                                        </p:tav>
                                      </p:tavLst>
                                    </p:anim>
                                    <p:anim calcmode="lin" valueType="num">
                                      <p:cBhvr additive="base">
                                        <p:cTn id="43" dur="550" fill="hold"/>
                                        <p:tgtEl>
                                          <p:spTgt spid="28"/>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50"/>
                                        <p:tgtEl>
                                          <p:spTgt spid="29"/>
                                        </p:tgtEl>
                                      </p:cBhvr>
                                    </p:animEffect>
                                    <p:anim calcmode="lin" valueType="num">
                                      <p:cBhvr additive="base">
                                        <p:cTn id="48" dur="550" fill="hold"/>
                                        <p:tgtEl>
                                          <p:spTgt spid="29"/>
                                        </p:tgtEl>
                                        <p:attrNameLst>
                                          <p:attrName>ppt_w</p:attrName>
                                        </p:attrNameLst>
                                      </p:cBhvr>
                                      <p:tavLst>
                                        <p:tav tm="0">
                                          <p:val>
                                            <p:strVal val="0"/>
                                          </p:val>
                                        </p:tav>
                                        <p:tav tm="100000">
                                          <p:val>
                                            <p:strVal val="#ppt_w"/>
                                          </p:val>
                                        </p:tav>
                                      </p:tavLst>
                                    </p:anim>
                                    <p:anim calcmode="lin" valueType="num">
                                      <p:cBhvr additive="base">
                                        <p:cTn id="49" dur="550" fill="hold"/>
                                        <p:tgtEl>
                                          <p:spTgt spid="29"/>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50"/>
                                        <p:tgtEl>
                                          <p:spTgt spid="30"/>
                                        </p:tgtEl>
                                      </p:cBhvr>
                                    </p:animEffect>
                                    <p:anim calcmode="lin" valueType="num">
                                      <p:cBhvr additive="base">
                                        <p:cTn id="54" dur="550" fill="hold"/>
                                        <p:tgtEl>
                                          <p:spTgt spid="30"/>
                                        </p:tgtEl>
                                        <p:attrNameLst>
                                          <p:attrName>ppt_x</p:attrName>
                                        </p:attrNameLst>
                                      </p:cBhvr>
                                      <p:tavLst>
                                        <p:tav tm="0">
                                          <p:val>
                                            <p:strVal val="#ppt_x"/>
                                          </p:val>
                                        </p:tav>
                                        <p:tav tm="100000">
                                          <p:val>
                                            <p:strVal val="#ppt_x"/>
                                          </p:val>
                                        </p:tav>
                                      </p:tavLst>
                                    </p:anim>
                                    <p:anim calcmode="lin" valueType="num">
                                      <p:cBhvr additive="base">
                                        <p:cTn id="55" dur="550" fill="hold"/>
                                        <p:tgtEl>
                                          <p:spTgt spid="3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6" grpId="0" animBg="1"/>
      <p:bldP spid="25" grpId="0" animBg="1"/>
      <p:bldP spid="27" grpId="0" animBg="1"/>
      <p:bldP spid="28" grpId="0" animBg="1"/>
      <p:bldP spid="29" grpId="0" animBg="1"/>
      <p:bldP spid="30"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1-REJA</a:t>
            </a:r>
          </a:p>
        </p:txBody>
      </p:sp>
      <p:sp>
        <p:nvSpPr>
          <p:cNvPr id="23" name="TextBox 22"/>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Neyromorf hisoblash (Neuromorphic Computing)</a:t>
            </a:r>
          </a:p>
        </p:txBody>
      </p:sp>
      <p:sp>
        <p:nvSpPr>
          <p:cNvPr id="24" name="Rectangle 23"/>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M15 · Kelajak avlod sun'iy intellekt hisoblash tizimlari va istiqbolli texnologiyalar</a:t>
            </a:r>
          </a:p>
        </p:txBody>
      </p:sp>
      <p:sp>
        <p:nvSpPr>
          <p:cNvPr id="26" name="Rounded Rectangle 25"/>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7</a:t>
            </a:r>
          </a:p>
        </p:txBody>
      </p:sp>
      <p:graphicFrame>
        <p:nvGraphicFramePr>
          <p:cNvPr id="27" name="Table 26"/>
          <p:cNvGraphicFramePr>
            <a:graphicFrameLocks noGrp="1"/>
          </p:cNvGraphicFramePr>
          <p:nvPr/>
        </p:nvGraphicFramePr>
        <p:xfrm>
          <a:off x="550000" y="1400000"/>
          <a:ext cx="11100000" cy="3640000"/>
        </p:xfrm>
        <a:graphic>
          <a:graphicData uri="http://schemas.openxmlformats.org/drawingml/2006/table">
            <a:tbl>
              <a:tblPr firstRow="1" bandRow="1">
                <a:tableStyleId>{5C22544A-7EE6-4342-B048-85BDC9FD1C3A}</a:tableStyleId>
              </a:tblPr>
              <a:tblGrid>
                <a:gridCol w="2220000"/>
                <a:gridCol w="2220000"/>
                <a:gridCol w="2220000"/>
                <a:gridCol w="2220000"/>
                <a:gridCol w="2220000"/>
              </a:tblGrid>
              <a:tr h="520000">
                <a:tc>
                  <a:txBody>
                    <a:bodyPr/>
                    <a:lstStyle/>
                    <a:p>
                      <a:r>
                        <a:rPr sz="1200" b="1">
                          <a:solidFill>
                            <a:srgbClr val="22D3EE"/>
                          </a:solidFill>
                          <a:latin typeface="Segoe UI"/>
                        </a:rPr>
                        <a:t>Chip / tizim</a:t>
                      </a:r>
                    </a:p>
                  </a:txBody>
                  <a:tcPr>
                    <a:solidFill>
                      <a:srgbClr val="1C2755"/>
                    </a:solidFill>
                  </a:tcPr>
                </a:tc>
                <a:tc>
                  <a:txBody>
                    <a:bodyPr/>
                    <a:lstStyle/>
                    <a:p>
                      <a:r>
                        <a:rPr sz="1200" b="1">
                          <a:solidFill>
                            <a:srgbClr val="22D3EE"/>
                          </a:solidFill>
                          <a:latin typeface="Segoe UI"/>
                        </a:rPr>
                        <a:t>Yil</a:t>
                      </a:r>
                    </a:p>
                  </a:txBody>
                  <a:tcPr>
                    <a:solidFill>
                      <a:srgbClr val="1C2755"/>
                    </a:solidFill>
                  </a:tcPr>
                </a:tc>
                <a:tc>
                  <a:txBody>
                    <a:bodyPr/>
                    <a:lstStyle/>
                    <a:p>
                      <a:r>
                        <a:rPr sz="1200" b="1">
                          <a:solidFill>
                            <a:srgbClr val="22D3EE"/>
                          </a:solidFill>
                          <a:latin typeface="Segoe UI"/>
                        </a:rPr>
                        <a:t>Neyron / sinaps (chipda)</a:t>
                      </a:r>
                    </a:p>
                  </a:txBody>
                  <a:tcPr>
                    <a:solidFill>
                      <a:srgbClr val="1C2755"/>
                    </a:solidFill>
                  </a:tcPr>
                </a:tc>
                <a:tc>
                  <a:txBody>
                    <a:bodyPr/>
                    <a:lstStyle/>
                    <a:p>
                      <a:r>
                        <a:rPr sz="1200" b="1">
                          <a:solidFill>
                            <a:srgbClr val="22D3EE"/>
                          </a:solidFill>
                          <a:latin typeface="Segoe UI"/>
                        </a:rPr>
                        <a:t>Xususiyat</a:t>
                      </a:r>
                    </a:p>
                  </a:txBody>
                  <a:tcPr>
                    <a:solidFill>
                      <a:srgbClr val="1C2755"/>
                    </a:solidFill>
                  </a:tcPr>
                </a:tc>
                <a:tc>
                  <a:txBody>
                    <a:bodyPr/>
                    <a:lstStyle/>
                    <a:p>
                      <a:r>
                        <a:rPr sz="1200" b="1">
                          <a:solidFill>
                            <a:srgbClr val="22D3EE"/>
                          </a:solidFill>
                          <a:latin typeface="Segoe UI"/>
                        </a:rPr>
                        <a:t>Quvvat</a:t>
                      </a:r>
                    </a:p>
                  </a:txBody>
                  <a:tcPr>
                    <a:solidFill>
                      <a:srgbClr val="1C2755"/>
                    </a:solidFill>
                  </a:tcPr>
                </a:tc>
              </a:tr>
              <a:tr h="520000">
                <a:tc>
                  <a:txBody>
                    <a:bodyPr/>
                    <a:lstStyle/>
                    <a:p>
                      <a:r>
                        <a:rPr sz="1200" b="0">
                          <a:solidFill>
                            <a:srgbClr val="E8EEFA"/>
                          </a:solidFill>
                          <a:latin typeface="Segoe UI"/>
                        </a:rPr>
                        <a:t>IBM TrueNorth</a:t>
                      </a:r>
                    </a:p>
                  </a:txBody>
                  <a:tcPr>
                    <a:solidFill>
                      <a:srgbClr val="111834"/>
                    </a:solidFill>
                  </a:tcPr>
                </a:tc>
                <a:tc>
                  <a:txBody>
                    <a:bodyPr/>
                    <a:lstStyle/>
                    <a:p>
                      <a:r>
                        <a:rPr sz="1200" b="0">
                          <a:solidFill>
                            <a:srgbClr val="E8EEFA"/>
                          </a:solidFill>
                          <a:latin typeface="Segoe UI"/>
                        </a:rPr>
                        <a:t>2014</a:t>
                      </a:r>
                    </a:p>
                  </a:txBody>
                  <a:tcPr>
                    <a:solidFill>
                      <a:srgbClr val="111834"/>
                    </a:solidFill>
                  </a:tcPr>
                </a:tc>
                <a:tc>
                  <a:txBody>
                    <a:bodyPr/>
                    <a:lstStyle/>
                    <a:p>
                      <a:r>
                        <a:rPr sz="1200" b="0">
                          <a:solidFill>
                            <a:srgbClr val="E8EEFA"/>
                          </a:solidFill>
                          <a:latin typeface="Segoe UI"/>
                        </a:rPr>
                        <a:t>1 mln / 256 mln</a:t>
                      </a:r>
                    </a:p>
                  </a:txBody>
                  <a:tcPr>
                    <a:solidFill>
                      <a:srgbClr val="111834"/>
                    </a:solidFill>
                  </a:tcPr>
                </a:tc>
                <a:tc>
                  <a:txBody>
                    <a:bodyPr/>
                    <a:lstStyle/>
                    <a:p>
                      <a:r>
                        <a:rPr sz="1200" b="0">
                          <a:solidFill>
                            <a:srgbClr val="E8EEFA"/>
                          </a:solidFill>
                          <a:latin typeface="Segoe UI"/>
                        </a:rPr>
                        <a:t>4096 yadro, raqamli, fiksirlangan dinamika</a:t>
                      </a:r>
                    </a:p>
                  </a:txBody>
                  <a:tcPr>
                    <a:solidFill>
                      <a:srgbClr val="111834"/>
                    </a:solidFill>
                  </a:tcPr>
                </a:tc>
                <a:tc>
                  <a:txBody>
                    <a:bodyPr/>
                    <a:lstStyle/>
                    <a:p>
                      <a:r>
                        <a:rPr sz="1200" b="0">
                          <a:solidFill>
                            <a:srgbClr val="E8EEFA"/>
                          </a:solidFill>
                          <a:latin typeface="Segoe UI"/>
                        </a:rPr>
                        <a:t>~70 mVt (real vaqt video)</a:t>
                      </a:r>
                    </a:p>
                  </a:txBody>
                  <a:tcPr>
                    <a:solidFill>
                      <a:srgbClr val="111834"/>
                    </a:solidFill>
                  </a:tcPr>
                </a:tc>
              </a:tr>
              <a:tr h="520000">
                <a:tc>
                  <a:txBody>
                    <a:bodyPr/>
                    <a:lstStyle/>
                    <a:p>
                      <a:r>
                        <a:rPr sz="1200" b="0">
                          <a:solidFill>
                            <a:srgbClr val="E8EEFA"/>
                          </a:solidFill>
                          <a:latin typeface="Segoe UI"/>
                        </a:rPr>
                        <a:t>Intel Loihi 2</a:t>
                      </a:r>
                    </a:p>
                  </a:txBody>
                  <a:tcPr>
                    <a:solidFill>
                      <a:srgbClr val="161F40"/>
                    </a:solidFill>
                  </a:tcPr>
                </a:tc>
                <a:tc>
                  <a:txBody>
                    <a:bodyPr/>
                    <a:lstStyle/>
                    <a:p>
                      <a:r>
                        <a:rPr sz="1200" b="0">
                          <a:solidFill>
                            <a:srgbClr val="E8EEFA"/>
                          </a:solidFill>
                          <a:latin typeface="Segoe UI"/>
                        </a:rPr>
                        <a:t>2021</a:t>
                      </a:r>
                    </a:p>
                  </a:txBody>
                  <a:tcPr>
                    <a:solidFill>
                      <a:srgbClr val="161F40"/>
                    </a:solidFill>
                  </a:tcPr>
                </a:tc>
                <a:tc>
                  <a:txBody>
                    <a:bodyPr/>
                    <a:lstStyle/>
                    <a:p>
                      <a:r>
                        <a:rPr sz="1200" b="0">
                          <a:solidFill>
                            <a:srgbClr val="E8EEFA"/>
                          </a:solidFill>
                          <a:latin typeface="Segoe UI"/>
                        </a:rPr>
                        <a:t>1 mln / 120 mln gacha</a:t>
                      </a:r>
                    </a:p>
                  </a:txBody>
                  <a:tcPr>
                    <a:solidFill>
                      <a:srgbClr val="161F40"/>
                    </a:solidFill>
                  </a:tcPr>
                </a:tc>
                <a:tc>
                  <a:txBody>
                    <a:bodyPr/>
                    <a:lstStyle/>
                    <a:p>
                      <a:r>
                        <a:rPr sz="1200" b="0">
                          <a:solidFill>
                            <a:srgbClr val="E8EEFA"/>
                          </a:solidFill>
                          <a:latin typeface="Segoe UI"/>
                        </a:rPr>
                        <a:t>Intel 4 texnologiyasi, dasturlanadigan neyron modeli, chipda o'qitish</a:t>
                      </a:r>
                    </a:p>
                  </a:txBody>
                  <a:tcPr>
                    <a:solidFill>
                      <a:srgbClr val="161F40"/>
                    </a:solidFill>
                  </a:tcPr>
                </a:tc>
                <a:tc>
                  <a:txBody>
                    <a:bodyPr/>
                    <a:lstStyle/>
                    <a:p>
                      <a:r>
                        <a:rPr sz="1200" b="0">
                          <a:solidFill>
                            <a:srgbClr val="E8EEFA"/>
                          </a:solidFill>
                          <a:latin typeface="Segoe UI"/>
                        </a:rPr>
                        <a:t>1 Vt atrofida (yuklamaga bog'liq)</a:t>
                      </a:r>
                    </a:p>
                  </a:txBody>
                  <a:tcPr>
                    <a:solidFill>
                      <a:srgbClr val="161F40"/>
                    </a:solidFill>
                  </a:tcPr>
                </a:tc>
              </a:tr>
              <a:tr h="520000">
                <a:tc>
                  <a:txBody>
                    <a:bodyPr/>
                    <a:lstStyle/>
                    <a:p>
                      <a:r>
                        <a:rPr sz="1200" b="0">
                          <a:solidFill>
                            <a:srgbClr val="E8EEFA"/>
                          </a:solidFill>
                          <a:latin typeface="Segoe UI"/>
                        </a:rPr>
                        <a:t>Intel Hala Point</a:t>
                      </a:r>
                    </a:p>
                  </a:txBody>
                  <a:tcPr>
                    <a:solidFill>
                      <a:srgbClr val="111834"/>
                    </a:solidFill>
                  </a:tcPr>
                </a:tc>
                <a:tc>
                  <a:txBody>
                    <a:bodyPr/>
                    <a:lstStyle/>
                    <a:p>
                      <a:r>
                        <a:rPr sz="1200" b="0">
                          <a:solidFill>
                            <a:srgbClr val="E8EEFA"/>
                          </a:solidFill>
                          <a:latin typeface="Segoe UI"/>
                        </a:rPr>
                        <a:t>2024</a:t>
                      </a:r>
                    </a:p>
                  </a:txBody>
                  <a:tcPr>
                    <a:solidFill>
                      <a:srgbClr val="111834"/>
                    </a:solidFill>
                  </a:tcPr>
                </a:tc>
                <a:tc>
                  <a:txBody>
                    <a:bodyPr/>
                    <a:lstStyle/>
                    <a:p>
                      <a:r>
                        <a:rPr sz="1200" b="0">
                          <a:solidFill>
                            <a:srgbClr val="E8EEFA"/>
                          </a:solidFill>
                          <a:latin typeface="Segoe UI"/>
                        </a:rPr>
                        <a:t>1,15 mlrd / 128 mlrd (1152 Loihi 2)</a:t>
                      </a:r>
                    </a:p>
                  </a:txBody>
                  <a:tcPr>
                    <a:solidFill>
                      <a:srgbClr val="111834"/>
                    </a:solidFill>
                  </a:tcPr>
                </a:tc>
                <a:tc>
                  <a:txBody>
                    <a:bodyPr/>
                    <a:lstStyle/>
                    <a:p>
                      <a:r>
                        <a:rPr sz="1200" b="0">
                          <a:solidFill>
                            <a:srgbClr val="E8EEFA"/>
                          </a:solidFill>
                          <a:latin typeface="Segoe UI"/>
                        </a:rPr>
                        <a:t>eng yirik neyromorf tizim, Sandia laboratoriyasi</a:t>
                      </a:r>
                    </a:p>
                  </a:txBody>
                  <a:tcPr>
                    <a:solidFill>
                      <a:srgbClr val="111834"/>
                    </a:solidFill>
                  </a:tcPr>
                </a:tc>
                <a:tc>
                  <a:txBody>
                    <a:bodyPr/>
                    <a:lstStyle/>
                    <a:p>
                      <a:r>
                        <a:rPr sz="1200" b="0">
                          <a:solidFill>
                            <a:srgbClr val="E8EEFA"/>
                          </a:solidFill>
                          <a:latin typeface="Segoe UI"/>
                        </a:rPr>
                        <a:t>~2,6 kVt</a:t>
                      </a:r>
                    </a:p>
                  </a:txBody>
                  <a:tcPr>
                    <a:solidFill>
                      <a:srgbClr val="111834"/>
                    </a:solidFill>
                  </a:tcPr>
                </a:tc>
              </a:tr>
              <a:tr h="520000">
                <a:tc>
                  <a:txBody>
                    <a:bodyPr/>
                    <a:lstStyle/>
                    <a:p>
                      <a:r>
                        <a:rPr sz="1200" b="0">
                          <a:solidFill>
                            <a:srgbClr val="E8EEFA"/>
                          </a:solidFill>
                          <a:latin typeface="Segoe UI"/>
                        </a:rPr>
                        <a:t>SpiNNaker2 (TU Drezden)</a:t>
                      </a:r>
                    </a:p>
                  </a:txBody>
                  <a:tcPr>
                    <a:solidFill>
                      <a:srgbClr val="161F40"/>
                    </a:solidFill>
                  </a:tcPr>
                </a:tc>
                <a:tc>
                  <a:txBody>
                    <a:bodyPr/>
                    <a:lstStyle/>
                    <a:p>
                      <a:r>
                        <a:rPr sz="1200" b="0">
                          <a:solidFill>
                            <a:srgbClr val="E8EEFA"/>
                          </a:solidFill>
                          <a:latin typeface="Segoe UI"/>
                        </a:rPr>
                        <a:t>2021–2024</a:t>
                      </a:r>
                    </a:p>
                  </a:txBody>
                  <a:tcPr>
                    <a:solidFill>
                      <a:srgbClr val="161F40"/>
                    </a:solidFill>
                  </a:tcPr>
                </a:tc>
                <a:tc>
                  <a:txBody>
                    <a:bodyPr/>
                    <a:lstStyle/>
                    <a:p>
                      <a:r>
                        <a:rPr sz="1200" b="0">
                          <a:solidFill>
                            <a:srgbClr val="E8EEFA"/>
                          </a:solidFill>
                          <a:latin typeface="Segoe UI"/>
                        </a:rPr>
                        <a:t>152 ARM yadro / chip, millionlab chip tizimlari</a:t>
                      </a:r>
                    </a:p>
                  </a:txBody>
                  <a:tcPr>
                    <a:solidFill>
                      <a:srgbClr val="161F40"/>
                    </a:solidFill>
                  </a:tcPr>
                </a:tc>
                <a:tc>
                  <a:txBody>
                    <a:bodyPr/>
                    <a:lstStyle/>
                    <a:p>
                      <a:r>
                        <a:rPr sz="1200" b="0">
                          <a:solidFill>
                            <a:srgbClr val="E8EEFA"/>
                          </a:solidFill>
                          <a:latin typeface="Segoe UI"/>
                        </a:rPr>
                        <a:t>dasturiy neyronlar, moslashuvchan</a:t>
                      </a:r>
                    </a:p>
                  </a:txBody>
                  <a:tcPr>
                    <a:solidFill>
                      <a:srgbClr val="161F40"/>
                    </a:solidFill>
                  </a:tcPr>
                </a:tc>
                <a:tc>
                  <a:txBody>
                    <a:bodyPr/>
                    <a:lstStyle/>
                    <a:p>
                      <a:r>
                        <a:rPr sz="1200" b="0">
                          <a:solidFill>
                            <a:srgbClr val="E8EEFA"/>
                          </a:solidFill>
                          <a:latin typeface="Segoe UI"/>
                        </a:rPr>
                        <a:t>tizimga bog'liq</a:t>
                      </a:r>
                    </a:p>
                  </a:txBody>
                  <a:tcPr>
                    <a:solidFill>
                      <a:srgbClr val="161F40"/>
                    </a:solidFill>
                  </a:tcPr>
                </a:tc>
              </a:tr>
              <a:tr h="520000">
                <a:tc>
                  <a:txBody>
                    <a:bodyPr/>
                    <a:lstStyle/>
                    <a:p>
                      <a:r>
                        <a:rPr sz="1200" b="0">
                          <a:solidFill>
                            <a:srgbClr val="E8EEFA"/>
                          </a:solidFill>
                          <a:latin typeface="Segoe UI"/>
                        </a:rPr>
                        <a:t>BrainScaleS-2 (Haydelberg)</a:t>
                      </a:r>
                    </a:p>
                  </a:txBody>
                  <a:tcPr>
                    <a:solidFill>
                      <a:srgbClr val="111834"/>
                    </a:solidFill>
                  </a:tcPr>
                </a:tc>
                <a:tc>
                  <a:txBody>
                    <a:bodyPr/>
                    <a:lstStyle/>
                    <a:p>
                      <a:r>
                        <a:rPr sz="1200" b="0">
                          <a:solidFill>
                            <a:srgbClr val="E8EEFA"/>
                          </a:solidFill>
                          <a:latin typeface="Segoe UI"/>
                        </a:rPr>
                        <a:t>2020</a:t>
                      </a:r>
                    </a:p>
                  </a:txBody>
                  <a:tcPr>
                    <a:solidFill>
                      <a:srgbClr val="111834"/>
                    </a:solidFill>
                  </a:tcPr>
                </a:tc>
                <a:tc>
                  <a:txBody>
                    <a:bodyPr/>
                    <a:lstStyle/>
                    <a:p>
                      <a:r>
                        <a:rPr sz="1200" b="0">
                          <a:solidFill>
                            <a:srgbClr val="E8EEFA"/>
                          </a:solidFill>
                          <a:latin typeface="Segoe UI"/>
                        </a:rPr>
                        <a:t>512 analog neyron / chip</a:t>
                      </a:r>
                    </a:p>
                  </a:txBody>
                  <a:tcPr>
                    <a:solidFill>
                      <a:srgbClr val="111834"/>
                    </a:solidFill>
                  </a:tcPr>
                </a:tc>
                <a:tc>
                  <a:txBody>
                    <a:bodyPr/>
                    <a:lstStyle/>
                    <a:p>
                      <a:r>
                        <a:rPr sz="1200" b="0">
                          <a:solidFill>
                            <a:srgbClr val="E8EEFA"/>
                          </a:solidFill>
                          <a:latin typeface="Segoe UI"/>
                        </a:rPr>
                        <a:t>analog, biologiyadan 1000 marta tez</a:t>
                      </a:r>
                    </a:p>
                  </a:txBody>
                  <a:tcPr>
                    <a:solidFill>
                      <a:srgbClr val="111834"/>
                    </a:solidFill>
                  </a:tcPr>
                </a:tc>
                <a:tc>
                  <a:txBody>
                    <a:bodyPr/>
                    <a:lstStyle/>
                    <a:p>
                      <a:r>
                        <a:rPr sz="1200" b="0">
                          <a:solidFill>
                            <a:srgbClr val="E8EEFA"/>
                          </a:solidFill>
                          <a:latin typeface="Segoe UI"/>
                        </a:rPr>
                        <a:t>o'nlab mVt</a:t>
                      </a:r>
                    </a:p>
                  </a:txBody>
                  <a:tcPr>
                    <a:solidFill>
                      <a:srgbClr val="111834"/>
                    </a:solidFill>
                  </a:tcPr>
                </a:tc>
              </a:tr>
              <a:tr h="520000">
                <a:tc>
                  <a:txBody>
                    <a:bodyPr/>
                    <a:lstStyle/>
                    <a:p>
                      <a:r>
                        <a:rPr sz="1200" b="0">
                          <a:solidFill>
                            <a:srgbClr val="E8EEFA"/>
                          </a:solidFill>
                          <a:latin typeface="Segoe UI"/>
                        </a:rPr>
                        <a:t>IBM NorthPole</a:t>
                      </a:r>
                    </a:p>
                  </a:txBody>
                  <a:tcPr>
                    <a:solidFill>
                      <a:srgbClr val="161F40"/>
                    </a:solidFill>
                  </a:tcPr>
                </a:tc>
                <a:tc>
                  <a:txBody>
                    <a:bodyPr/>
                    <a:lstStyle/>
                    <a:p>
                      <a:r>
                        <a:rPr sz="1200" b="0">
                          <a:solidFill>
                            <a:srgbClr val="E8EEFA"/>
                          </a:solidFill>
                          <a:latin typeface="Segoe UI"/>
                        </a:rPr>
                        <a:t>2023</a:t>
                      </a:r>
                    </a:p>
                  </a:txBody>
                  <a:tcPr>
                    <a:solidFill>
                      <a:srgbClr val="161F40"/>
                    </a:solidFill>
                  </a:tcPr>
                </a:tc>
                <a:tc>
                  <a:txBody>
                    <a:bodyPr/>
                    <a:lstStyle/>
                    <a:p>
                      <a:r>
                        <a:rPr sz="1200" b="0">
                          <a:solidFill>
                            <a:srgbClr val="E8EEFA"/>
                          </a:solidFill>
                          <a:latin typeface="Segoe UI"/>
                        </a:rPr>
                        <a:t>256 yadro, 224 MB chipda xotira</a:t>
                      </a:r>
                    </a:p>
                  </a:txBody>
                  <a:tcPr>
                    <a:solidFill>
                      <a:srgbClr val="161F40"/>
                    </a:solidFill>
                  </a:tcPr>
                </a:tc>
                <a:tc>
                  <a:txBody>
                    <a:bodyPr/>
                    <a:lstStyle/>
                    <a:p>
                      <a:r>
                        <a:rPr sz="1200" b="0">
                          <a:solidFill>
                            <a:srgbClr val="E8EEFA"/>
                          </a:solidFill>
                          <a:latin typeface="Segoe UI"/>
                        </a:rPr>
                        <a:t>neyromorfdan ilhomlangan, lekin an'anaviy DNN inferensi</a:t>
                      </a:r>
                    </a:p>
                  </a:txBody>
                  <a:tcPr>
                    <a:solidFill>
                      <a:srgbClr val="161F40"/>
                    </a:solidFill>
                  </a:tcPr>
                </a:tc>
                <a:tc>
                  <a:txBody>
                    <a:bodyPr/>
                    <a:lstStyle/>
                    <a:p>
                      <a:r>
                        <a:rPr sz="1200" b="0">
                          <a:solidFill>
                            <a:srgbClr val="E8EEFA"/>
                          </a:solidFill>
                          <a:latin typeface="Segoe UI"/>
                        </a:rPr>
                        <a:t>ResNet-50 da V100 dan 25 marta energiya samarali (IBM bahosi)</a:t>
                      </a:r>
                    </a:p>
                  </a:txBody>
                  <a:tcPr>
                    <a:solidFill>
                      <a:srgbClr val="161F40"/>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3"/>
                                        </p:tgtEl>
                                        <p:attrNameLst>
                                          <p:attrName>style.visibility</p:attrName>
                                        </p:attrNameLst>
                                      </p:cBhvr>
                                      <p:to>
                                        <p:strVal val="visible"/>
                                      </p:to>
                                    </p:set>
                                    <p:animEffect transition="in" filter="fade">
                                      <p:cBhvr>
                                        <p:cTn id="6" dur="550"/>
                                        <p:tgtEl>
                                          <p:spTgt spid="2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left)">
                                      <p:cBhvr>
                                        <p:cTn id="11" dur="800"/>
                                        <p:tgtEl>
                                          <p:spTgt spid="24"/>
                                        </p:tgtEl>
                                      </p:cBhvr>
                                    </p:animEffect>
                                  </p:childTnLst>
                                </p:cTn>
                              </p:par>
                            </p:childTnLst>
                          </p:cTn>
                        </p:par>
                        <p:par>
                          <p:cTn id="12" fill="hold">
                            <p:stCondLst>
                              <p:cond delay="200"/>
                            </p:stCondLst>
                            <p:childTnLst>
                              <p:par>
                                <p:cTn id="13" presetID="22" presetClass="entr" presetSubtype="8" fill="hold" grpId="0"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6" dur="8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066666" y="504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66666" y="538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066666" y="572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33333" y="5040000"/>
            <a:ext cx="1666667"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733333" y="5266666"/>
            <a:ext cx="1666667"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733333" y="5380000"/>
            <a:ext cx="1666667"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733333" y="5833333"/>
            <a:ext cx="1666667"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bee55313e8607cfd.jpg"/>
          <p:cNvPicPr>
            <a:picLocks noChangeAspect="1"/>
          </p:cNvPicPr>
          <p:nvPr/>
        </p:nvPicPr>
        <p:blipFill>
          <a:blip r:embed="rId2"/>
          <a:srcRect t="14976" b="14976"/>
          <a:stretch>
            <a:fillRect/>
          </a:stretch>
        </p:blipFill>
        <p:spPr>
          <a:xfrm>
            <a:off x="6300000" y="800000"/>
            <a:ext cx="5300000" cy="4950000"/>
          </a:xfrm>
          <a:prstGeom prst="roundRect">
            <a:avLst/>
          </a:prstGeom>
          <a:ln w="19050">
            <a:solidFill>
              <a:srgbClr val="22D3EE"/>
            </a:solidFill>
          </a:ln>
        </p:spPr>
      </p:pic>
      <p:sp>
        <p:nvSpPr>
          <p:cNvPr id="42" name="TextBox 41"/>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Dev Jadiya · Wikimedia Commons · CC BY-SA 4.0</a:t>
            </a:r>
          </a:p>
        </p:txBody>
      </p:sp>
      <p:sp>
        <p:nvSpPr>
          <p:cNvPr id="43" name="TextBox 42"/>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02</a:t>
            </a:r>
          </a:p>
        </p:txBody>
      </p:sp>
      <p:sp>
        <p:nvSpPr>
          <p:cNvPr id="44" name="TextBox 43"/>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REJA BANDI</a:t>
            </a:r>
          </a:p>
        </p:txBody>
      </p:sp>
      <p:sp>
        <p:nvSpPr>
          <p:cNvPr id="45" name="TextBox 44"/>
          <p:cNvSpPr txBox="1"/>
          <p:nvPr/>
        </p:nvSpPr>
        <p:spPr>
          <a:xfrm>
            <a:off x="600000" y="2650000"/>
            <a:ext cx="5400000" cy="1800000"/>
          </a:xfrm>
          <a:prstGeom prst="rect">
            <a:avLst/>
          </a:prstGeom>
          <a:noFill/>
        </p:spPr>
        <p:txBody>
          <a:bodyPr wrap="square" anchor="t" lIns="50800" rIns="50800">
            <a:spAutoFit/>
          </a:bodyPr>
          <a:lstStyle/>
          <a:p>
            <a:pPr algn="l"/>
            <a:r>
              <a:rPr sz="2600" b="1">
                <a:solidFill>
                  <a:srgbClr val="E8EEFA"/>
                </a:solidFill>
                <a:latin typeface="Segoe UI"/>
              </a:rPr>
              <a:t>Kvant sun'iy intellekt (Quantum AI Computing)</a:t>
            </a:r>
          </a:p>
        </p:txBody>
      </p:sp>
      <p:sp>
        <p:nvSpPr>
          <p:cNvPr id="46" name="Rectangle 45"/>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88"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150"/>
                            </p:stCondLst>
                            <p:childTnLst>
                              <p:par>
                                <p:cTn id="152" presetID="53" presetClass="entr" presetSubtype="16"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anim calcmode="lin" valueType="num">
                                      <p:cBhvr additive="base">
                                        <p:cTn id="155" dur="550" fill="hold"/>
                                        <p:tgtEl>
                                          <p:spTgt spid="40"/>
                                        </p:tgtEl>
                                        <p:attrNameLst>
                                          <p:attrName>ppt_w</p:attrName>
                                        </p:attrNameLst>
                                      </p:cBhvr>
                                      <p:tavLst>
                                        <p:tav tm="0">
                                          <p:val>
                                            <p:strVal val="0"/>
                                          </p:val>
                                        </p:tav>
                                        <p:tav tm="100000">
                                          <p:val>
                                            <p:strVal val="#ppt_w"/>
                                          </p:val>
                                        </p:tav>
                                      </p:tavLst>
                                    </p:anim>
                                    <p:anim calcmode="lin" valueType="num">
                                      <p:cBhvr additive="base">
                                        <p:cTn id="156" dur="550" fill="hold"/>
                                        <p:tgtEl>
                                          <p:spTgt spid="40"/>
                                        </p:tgtEl>
                                        <p:attrNameLst>
                                          <p:attrName>ppt_h</p:attrName>
                                        </p:attrNameLst>
                                      </p:cBhvr>
                                      <p:tavLst>
                                        <p:tav tm="0">
                                          <p:val>
                                            <p:strVal val="0"/>
                                          </p:val>
                                        </p:tav>
                                        <p:tav tm="100000">
                                          <p:val>
                                            <p:strVal val="#ppt_h"/>
                                          </p:val>
                                        </p:tav>
                                      </p:tavLst>
                                    </p:anim>
                                  </p:childTnLst>
                                </p:cTn>
                              </p:par>
                            </p:childTnLst>
                          </p:cTn>
                        </p:par>
                        <p:par>
                          <p:cTn id="157" fill="hold">
                            <p:stCondLst>
                              <p:cond delay="150"/>
                            </p:stCondLst>
                            <p:childTnLst>
                              <p:par>
                                <p:cTn id="158" presetID="53" presetClass="entr" presetSubtype="16" fill="hold" grpId="0" nodeType="afterEffect">
                                  <p:stCondLst>
                                    <p:cond delay="0"/>
                                  </p:stCondLst>
                                  <p:childTnLst>
                                    <p:set>
                                      <p:cBhvr>
                                        <p:cTn id="159" dur="1" fill="hold">
                                          <p:stCondLst>
                                            <p:cond delay="0"/>
                                          </p:stCondLst>
                                        </p:cTn>
                                        <p:tgtEl>
                                          <p:spTgt spid="41"/>
                                        </p:tgtEl>
                                        <p:attrNameLst>
                                          <p:attrName>style.visibility</p:attrName>
                                        </p:attrNameLst>
                                      </p:cBhvr>
                                      <p:to>
                                        <p:strVal val="visible"/>
                                      </p:to>
                                    </p:set>
                                    <p:animEffect transition="in" filter="fade">
                                      <p:cBhvr>
                                        <p:cTn id="160" dur="550"/>
                                        <p:tgtEl>
                                          <p:spTgt spid="41"/>
                                        </p:tgtEl>
                                      </p:cBhvr>
                                    </p:animEffect>
                                    <p:anim calcmode="lin" valueType="num">
                                      <p:cBhvr additive="base">
                                        <p:cTn id="161" dur="550" fill="hold"/>
                                        <p:tgtEl>
                                          <p:spTgt spid="41"/>
                                        </p:tgtEl>
                                        <p:attrNameLst>
                                          <p:attrName>ppt_w</p:attrName>
                                        </p:attrNameLst>
                                      </p:cBhvr>
                                      <p:tavLst>
                                        <p:tav tm="0">
                                          <p:val>
                                            <p:strVal val="0"/>
                                          </p:val>
                                        </p:tav>
                                        <p:tav tm="100000">
                                          <p:val>
                                            <p:strVal val="#ppt_w"/>
                                          </p:val>
                                        </p:tav>
                                      </p:tavLst>
                                    </p:anim>
                                    <p:anim calcmode="lin" valueType="num">
                                      <p:cBhvr additive="base">
                                        <p:cTn id="162" dur="550" fill="hold"/>
                                        <p:tgtEl>
                                          <p:spTgt spid="41"/>
                                        </p:tgtEl>
                                        <p:attrNameLst>
                                          <p:attrName>ppt_h</p:attrName>
                                        </p:attrNameLst>
                                      </p:cBhvr>
                                      <p:tavLst>
                                        <p:tav tm="0">
                                          <p:val>
                                            <p:strVal val="0"/>
                                          </p:val>
                                        </p:tav>
                                        <p:tav tm="100000">
                                          <p:val>
                                            <p:strVal val="#ppt_h"/>
                                          </p:val>
                                        </p:tav>
                                      </p:tavLst>
                                    </p:anim>
                                  </p:childTnLst>
                                </p:cTn>
                              </p:par>
                            </p:childTnLst>
                          </p:cTn>
                        </p:par>
                        <p:par>
                          <p:cTn id="163" fill="hold">
                            <p:stCondLst>
                              <p:cond delay="150"/>
                            </p:stCondLst>
                            <p:childTnLst>
                              <p:par>
                                <p:cTn id="164" presetID="10" presetClass="entr" presetSubtype="0" fill="hold" grpId="0" nodeType="afterEffect">
                                  <p:stCondLst>
                                    <p:cond delay="0"/>
                                  </p:stCondLst>
                                  <p:childTnLst>
                                    <p:set>
                                      <p:cBhvr>
                                        <p:cTn id="165" dur="1" fill="hold">
                                          <p:stCondLst>
                                            <p:cond delay="0"/>
                                          </p:stCondLst>
                                        </p:cTn>
                                        <p:tgtEl>
                                          <p:spTgt spid="42"/>
                                        </p:tgtEl>
                                        <p:attrNameLst>
                                          <p:attrName>style.visibility</p:attrName>
                                        </p:attrNameLst>
                                      </p:cBhvr>
                                      <p:to>
                                        <p:strVal val="visible"/>
                                      </p:to>
                                    </p:set>
                                    <p:animEffect transition="in" filter="fade">
                                      <p:cBhvr>
                                        <p:cTn id="166" dur="550"/>
                                        <p:tgtEl>
                                          <p:spTgt spid="42"/>
                                        </p:tgtEl>
                                      </p:cBhvr>
                                    </p:animEffect>
                                  </p:childTnLst>
                                </p:cTn>
                              </p:par>
                            </p:childTnLst>
                          </p:cTn>
                        </p:par>
                        <p:par>
                          <p:cTn id="167" fill="hold">
                            <p:stCondLst>
                              <p:cond delay="350"/>
                            </p:stCondLst>
                            <p:childTnLst>
                              <p:par>
                                <p:cTn id="168" presetID="53" presetClass="entr" presetSubtype="16" fill="hold" grpId="0" nodeType="afterEffect">
                                  <p:stCondLst>
                                    <p:cond delay="0"/>
                                  </p:stCondLst>
                                  <p:childTnLst>
                                    <p:set>
                                      <p:cBhvr>
                                        <p:cTn id="169" dur="1" fill="hold">
                                          <p:stCondLst>
                                            <p:cond delay="0"/>
                                          </p:stCondLst>
                                        </p:cTn>
                                        <p:tgtEl>
                                          <p:spTgt spid="43"/>
                                        </p:tgtEl>
                                        <p:attrNameLst>
                                          <p:attrName>style.visibility</p:attrName>
                                        </p:attrNameLst>
                                      </p:cBhvr>
                                      <p:to>
                                        <p:strVal val="visible"/>
                                      </p:to>
                                    </p:set>
                                    <p:animEffect transition="in" filter="fade">
                                      <p:cBhvr>
                                        <p:cTn id="170" dur="550"/>
                                        <p:tgtEl>
                                          <p:spTgt spid="43"/>
                                        </p:tgtEl>
                                      </p:cBhvr>
                                    </p:animEffect>
                                    <p:anim calcmode="lin" valueType="num">
                                      <p:cBhvr additive="base">
                                        <p:cTn id="171" dur="550" fill="hold"/>
                                        <p:tgtEl>
                                          <p:spTgt spid="43"/>
                                        </p:tgtEl>
                                        <p:attrNameLst>
                                          <p:attrName>ppt_w</p:attrName>
                                        </p:attrNameLst>
                                      </p:cBhvr>
                                      <p:tavLst>
                                        <p:tav tm="0">
                                          <p:val>
                                            <p:strVal val="0"/>
                                          </p:val>
                                        </p:tav>
                                        <p:tav tm="100000">
                                          <p:val>
                                            <p:strVal val="#ppt_w"/>
                                          </p:val>
                                        </p:tav>
                                      </p:tavLst>
                                    </p:anim>
                                    <p:anim calcmode="lin" valueType="num">
                                      <p:cBhvr additive="base">
                                        <p:cTn id="172" dur="550" fill="hold"/>
                                        <p:tgtEl>
                                          <p:spTgt spid="43"/>
                                        </p:tgtEl>
                                        <p:attrNameLst>
                                          <p:attrName>ppt_h</p:attrName>
                                        </p:attrNameLst>
                                      </p:cBhvr>
                                      <p:tavLst>
                                        <p:tav tm="0">
                                          <p:val>
                                            <p:strVal val="0"/>
                                          </p:val>
                                        </p:tav>
                                        <p:tav tm="100000">
                                          <p:val>
                                            <p:strVal val="#ppt_h"/>
                                          </p:val>
                                        </p:tav>
                                      </p:tavLst>
                                    </p:anim>
                                  </p:childTnLst>
                                </p:cTn>
                              </p:par>
                            </p:childTnLst>
                          </p:cTn>
                        </p:par>
                        <p:par>
                          <p:cTn id="173" fill="hold">
                            <p:stCondLst>
                              <p:cond delay="450"/>
                            </p:stCondLst>
                            <p:childTnLst>
                              <p:par>
                                <p:cTn id="174" presetID="10" presetClass="entr" presetSubtype="0" fill="hold" grpId="0" nodeType="afterEffect">
                                  <p:stCondLst>
                                    <p:cond delay="0"/>
                                  </p:stCondLst>
                                  <p:childTnLst>
                                    <p:set>
                                      <p:cBhvr>
                                        <p:cTn id="175" dur="1" fill="hold">
                                          <p:stCondLst>
                                            <p:cond delay="0"/>
                                          </p:stCondLst>
                                        </p:cTn>
                                        <p:tgtEl>
                                          <p:spTgt spid="44"/>
                                        </p:tgtEl>
                                        <p:attrNameLst>
                                          <p:attrName>style.visibility</p:attrName>
                                        </p:attrNameLst>
                                      </p:cBhvr>
                                      <p:to>
                                        <p:strVal val="visible"/>
                                      </p:to>
                                    </p:set>
                                    <p:animEffect transition="in" filter="fade">
                                      <p:cBhvr>
                                        <p:cTn id="176" dur="550"/>
                                        <p:tgtEl>
                                          <p:spTgt spid="44"/>
                                        </p:tgtEl>
                                      </p:cBhvr>
                                    </p:animEffect>
                                  </p:childTnLst>
                                </p:cTn>
                              </p:par>
                            </p:childTnLst>
                          </p:cTn>
                        </p:par>
                        <p:par>
                          <p:cTn id="177" fill="hold">
                            <p:stCondLst>
                              <p:cond delay="550"/>
                            </p:stCondLst>
                            <p:childTnLst>
                              <p:par>
                                <p:cTn id="178" presetID="2" presetClass="entr" presetSubtype="8" fill="hold" grpId="0" nodeType="afterEffect">
                                  <p:stCondLst>
                                    <p:cond delay="0"/>
                                  </p:stCondLst>
                                  <p:childTnLst>
                                    <p:set>
                                      <p:cBhvr>
                                        <p:cTn id="179" dur="1" fill="hold">
                                          <p:stCondLst>
                                            <p:cond delay="0"/>
                                          </p:stCondLst>
                                        </p:cTn>
                                        <p:tgtEl>
                                          <p:spTgt spid="45"/>
                                        </p:tgtEl>
                                        <p:attrNameLst>
                                          <p:attrName>style.visibility</p:attrName>
                                        </p:attrNameLst>
                                      </p:cBhvr>
                                      <p:to>
                                        <p:strVal val="visible"/>
                                      </p:to>
                                    </p:set>
                                    <p:anim calcmode="lin" valueType="num">
                                      <p:cBhvr additive="base">
                                        <p:cTn id="181" dur="550" fill="hold"/>
                                        <p:tgtEl>
                                          <p:spTgt spid="45"/>
                                        </p:tgtEl>
                                        <p:attrNameLst>
                                          <p:attrName>ppt_x</p:attrName>
                                        </p:attrNameLst>
                                      </p:cBhvr>
                                      <p:tavLst>
                                        <p:tav tm="0">
                                          <p:val>
                                            <p:strVal val="0-#ppt_w/2"/>
                                          </p:val>
                                        </p:tav>
                                        <p:tav tm="100000">
                                          <p:val>
                                            <p:strVal val="#ppt_x"/>
                                          </p:val>
                                        </p:tav>
                                      </p:tavLst>
                                    </p:anim>
                                    <p:anim calcmode="lin" valueType="num">
                                      <p:cBhvr additive="base">
                                        <p:cTn id="182" dur="550" fill="hold"/>
                                        <p:tgtEl>
                                          <p:spTgt spid="45"/>
                                        </p:tgtEl>
                                        <p:attrNameLst>
                                          <p:attrName>ppt_y</p:attrName>
                                        </p:attrNameLst>
                                      </p:cBhvr>
                                      <p:tavLst>
                                        <p:tav tm="0">
                                          <p:val>
                                            <p:strVal val="#ppt_y"/>
                                          </p:val>
                                        </p:tav>
                                        <p:tav tm="100000">
                                          <p:val>
                                            <p:strVal val="#ppt_y"/>
                                          </p:val>
                                        </p:tav>
                                      </p:tavLst>
                                    </p:anim>
                                  </p:childTnLst>
                                </p:cTn>
                              </p:par>
                            </p:childTnLst>
                          </p:cTn>
                        </p:par>
                        <p:par>
                          <p:cTn id="183" fill="hold">
                            <p:stCondLst>
                              <p:cond delay="650"/>
                            </p:stCondLst>
                            <p:childTnLst>
                              <p:par>
                                <p:cTn id="184" presetID="22" presetClass="entr" presetSubtype="8" fill="hold" grpId="0" nodeType="afterEffect">
                                  <p:stCondLst>
                                    <p:cond delay="0"/>
                                  </p:stCondLst>
                                  <p:childTnLst>
                                    <p:set>
                                      <p:cBhvr>
                                        <p:cTn id="185" dur="1" fill="hold">
                                          <p:stCondLst>
                                            <p:cond delay="0"/>
                                          </p:stCondLst>
                                        </p:cTn>
                                        <p:tgtEl>
                                          <p:spTgt spid="46"/>
                                        </p:tgtEl>
                                        <p:attrNameLst>
                                          <p:attrName>style.visibility</p:attrName>
                                        </p:attrNameLst>
                                      </p:cBhvr>
                                      <p:to>
                                        <p:strVal val="visible"/>
                                      </p:to>
                                    </p:set>
                                    <p:animEffect transition="in" filter="wipe(left)">
                                      <p:cBhvr>
                                        <p:cTn id="187" dur="8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2" grpId="0" animBg="1"/>
      <p:bldP spid="43" grpId="0" animBg="1"/>
      <p:bldP spid="44" grpId="0" animBg="1"/>
      <p:bldP spid="45" grpId="0" animBg="1"/>
      <p:bldP spid="46"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2-REJA</a:t>
            </a:r>
          </a:p>
        </p:txBody>
      </p:sp>
      <p:sp>
        <p:nvSpPr>
          <p:cNvPr id="22" name="TextBox 21"/>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Kvant sun'iy intellekt (Quantum AI Computing)</a:t>
            </a:r>
          </a:p>
        </p:txBody>
      </p:sp>
      <p:sp>
        <p:nvSpPr>
          <p:cNvPr id="23" name="Rectangle 22"/>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M15 · Kelajak avlod sun'iy intellekt hisoblash tizimlari va istiqbolli texnologiyalar</a:t>
            </a:r>
          </a:p>
        </p:txBody>
      </p:sp>
      <p:sp>
        <p:nvSpPr>
          <p:cNvPr id="25" name="Rounded Rectangle 24"/>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9</a:t>
            </a:r>
          </a:p>
        </p:txBody>
      </p:sp>
      <p:sp>
        <p:nvSpPr>
          <p:cNvPr id="26" name="Rounded Rectangle 25"/>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0e43d4784e59c9c8.jpg"/>
          <p:cNvPicPr>
            <a:picLocks noChangeAspect="1"/>
          </p:cNvPicPr>
          <p:nvPr/>
        </p:nvPicPr>
        <p:blipFill>
          <a:blip r:embed="rId2"/>
          <a:srcRect l="23199" r="23199"/>
          <a:stretch>
            <a:fillRect/>
          </a:stretch>
        </p:blipFill>
        <p:spPr>
          <a:xfrm>
            <a:off x="7620000" y="1430000"/>
            <a:ext cx="4050000" cy="4250000"/>
          </a:xfrm>
          <a:prstGeom prst="roundRect">
            <a:avLst/>
          </a:prstGeom>
          <a:ln w="19050">
            <a:solidFill>
              <a:srgbClr val="22D3EE"/>
            </a:solidFill>
          </a:ln>
        </p:spPr>
      </p:pic>
      <p:sp>
        <p:nvSpPr>
          <p:cNvPr id="28" name="TextBox 27"/>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Niftyfiftycat · Wikimedia Commons · CC BY-SA 4.0</a:t>
            </a:r>
          </a:p>
        </p:txBody>
      </p:sp>
      <p:sp>
        <p:nvSpPr>
          <p:cNvPr id="29" name="Rounded Rectangle 28"/>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30" name="Rounded Rectangle 29"/>
          <p:cNvSpPr/>
          <p:nvPr/>
        </p:nvSpPr>
        <p:spPr>
          <a:xfrm>
            <a:off x="550000" y="1527432"/>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1607432"/>
            <a:ext cx="50000" cy="204756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0000" y="2431216"/>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3" name="TextBox 32"/>
          <p:cNvSpPr txBox="1"/>
          <p:nvPr/>
        </p:nvSpPr>
        <p:spPr>
          <a:xfrm>
            <a:off x="1300000" y="1567432"/>
            <a:ext cx="5900000" cy="2127568"/>
          </a:xfrm>
          <a:prstGeom prst="rect">
            <a:avLst/>
          </a:prstGeom>
          <a:noFill/>
        </p:spPr>
        <p:txBody>
          <a:bodyPr wrap="square" anchor="ctr">
            <a:spAutoFit/>
          </a:bodyPr>
          <a:lstStyle/>
          <a:p>
            <a:r>
              <a:rPr sz="1500" b="1">
                <a:solidFill>
                  <a:srgbClr val="E8EEFA"/>
                </a:solidFill>
                <a:latin typeface="Segoe UI"/>
              </a:rPr>
              <a:t>Kvant hisoblashning asosiy birligi kubit superpozitsiya va chalkashlik (entanglement) tufayli n kubit 2^n o'lchovli holat fazosini ifodalaydi.</a:t>
            </a:r>
          </a:p>
          <a:p>
            <a:pPr>
              <a:spcBef>
                <a:spcPts val="400"/>
              </a:spcBef>
            </a:pPr>
            <a:r>
              <a:rPr sz="1400">
                <a:solidFill>
                  <a:srgbClr val="AEBBD9"/>
                </a:solidFill>
                <a:latin typeface="Segoe UI"/>
              </a:rPr>
              <a:t>Kvant mashinali o'qitish (Quantum Machine Learning, QML; Biamonte va boshq., 2017) bu fazodan ikki asosiy usulda foydalanadi.</a:t>
            </a:r>
          </a:p>
        </p:txBody>
      </p:sp>
      <p:sp>
        <p:nvSpPr>
          <p:cNvPr id="34" name="Rounded Rectangle 33"/>
          <p:cNvSpPr/>
          <p:nvPr/>
        </p:nvSpPr>
        <p:spPr>
          <a:xfrm>
            <a:off x="550000" y="3845000"/>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0000" y="3925000"/>
            <a:ext cx="50000" cy="20475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0000" y="4748784"/>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7" name="TextBox 36"/>
          <p:cNvSpPr txBox="1"/>
          <p:nvPr/>
        </p:nvSpPr>
        <p:spPr>
          <a:xfrm>
            <a:off x="1300000" y="3885000"/>
            <a:ext cx="5900000" cy="2127568"/>
          </a:xfrm>
          <a:prstGeom prst="rect">
            <a:avLst/>
          </a:prstGeom>
          <a:noFill/>
        </p:spPr>
        <p:txBody>
          <a:bodyPr wrap="square" anchor="ctr">
            <a:spAutoFit/>
          </a:bodyPr>
          <a:lstStyle/>
          <a:p>
            <a:r>
              <a:rPr sz="1500" b="1">
                <a:solidFill>
                  <a:srgbClr val="E8EEFA"/>
                </a:solidFill>
                <a:latin typeface="Segoe UI"/>
              </a:rPr>
              <a:t>Variatsion kvant sxemalar (Variational Quantum Circuits, VQC) da klassik ma'lumot kvant holatiga kodlanadi (feature map, masalan ZZFeatureMap), so'ngra sozlanadigan parametrli qatlamlar (ansatz, masalan RealAmplitudes) qo'llaniladi va o'lchov natijasi klassik…</a:t>
            </a:r>
          </a:p>
          <a:p>
            <a:pPr>
              <a:spcBef>
                <a:spcPts val="400"/>
              </a:spcBef>
            </a:pPr>
            <a:r>
              <a:rPr sz="1400">
                <a:solidFill>
                  <a:srgbClr val="AEBBD9"/>
                </a:solidFill>
                <a:latin typeface="Segoe UI"/>
              </a:rPr>
              <a:t>Kvant yadro usullari (quantum kernel, Havlíček va boshq., 2019) esa kvant holatlar orasidagi ichki ko'paytmani yadro funksiyasi sifatida klassik SVM ga beradi.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50"/>
                                        <p:tgtEl>
                                          <p:spTgt spid="22"/>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1" dur="800"/>
                                        <p:tgtEl>
                                          <p:spTgt spid="23"/>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50"/>
                                        <p:tgtEl>
                                          <p:spTgt spid="26"/>
                                        </p:tgtEl>
                                      </p:cBhvr>
                                    </p:animEffect>
                                    <p:anim calcmode="lin" valueType="num">
                                      <p:cBhvr additive="base">
                                        <p:cTn id="16" dur="550" fill="hold"/>
                                        <p:tgtEl>
                                          <p:spTgt spid="26"/>
                                        </p:tgtEl>
                                        <p:attrNameLst>
                                          <p:attrName>ppt_w</p:attrName>
                                        </p:attrNameLst>
                                      </p:cBhvr>
                                      <p:tavLst>
                                        <p:tav tm="0">
                                          <p:val>
                                            <p:strVal val="0"/>
                                          </p:val>
                                        </p:tav>
                                        <p:tav tm="100000">
                                          <p:val>
                                            <p:strVal val="#ppt_w"/>
                                          </p:val>
                                        </p:tav>
                                      </p:tavLst>
                                    </p:anim>
                                    <p:anim calcmode="lin" valueType="num">
                                      <p:cBhvr additive="base">
                                        <p:cTn id="17" dur="550" fill="hold"/>
                                        <p:tgtEl>
                                          <p:spTgt spid="26"/>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50"/>
                                        <p:tgtEl>
                                          <p:spTgt spid="27"/>
                                        </p:tgtEl>
                                      </p:cBhvr>
                                    </p:animEffect>
                                    <p:anim calcmode="lin" valueType="num">
                                      <p:cBhvr additive="base">
                                        <p:cTn id="22" dur="550" fill="hold"/>
                                        <p:tgtEl>
                                          <p:spTgt spid="27"/>
                                        </p:tgtEl>
                                        <p:attrNameLst>
                                          <p:attrName>ppt_w</p:attrName>
                                        </p:attrNameLst>
                                      </p:cBhvr>
                                      <p:tavLst>
                                        <p:tav tm="0">
                                          <p:val>
                                            <p:strVal val="0"/>
                                          </p:val>
                                        </p:tav>
                                        <p:tav tm="100000">
                                          <p:val>
                                            <p:strVal val="#ppt_w"/>
                                          </p:val>
                                        </p:tav>
                                      </p:tavLst>
                                    </p:anim>
                                    <p:anim calcmode="lin" valueType="num">
                                      <p:cBhvr additive="base">
                                        <p:cTn id="23" dur="550" fill="hold"/>
                                        <p:tgtEl>
                                          <p:spTgt spid="27"/>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50"/>
                                        <p:tgtEl>
                                          <p:spTgt spid="29"/>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50"/>
                                        <p:tgtEl>
                                          <p:spTgt spid="28"/>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50"/>
                                        <p:tgtEl>
                                          <p:spTgt spid="30"/>
                                        </p:tgtEl>
                                      </p:cBhvr>
                                    </p:animEffect>
                                    <p:anim calcmode="lin" valueType="num">
                                      <p:cBhvr additive="base">
                                        <p:cTn id="36" dur="550" fill="hold"/>
                                        <p:tgtEl>
                                          <p:spTgt spid="30"/>
                                        </p:tgtEl>
                                        <p:attrNameLst>
                                          <p:attrName>ppt_x</p:attrName>
                                        </p:attrNameLst>
                                      </p:cBhvr>
                                      <p:tavLst>
                                        <p:tav tm="0">
                                          <p:val>
                                            <p:strVal val="#ppt_x"/>
                                          </p:val>
                                        </p:tav>
                                        <p:tav tm="100000">
                                          <p:val>
                                            <p:strVal val="#ppt_x"/>
                                          </p:val>
                                        </p:tav>
                                      </p:tavLst>
                                    </p:anim>
                                    <p:anim calcmode="lin" valueType="num">
                                      <p:cBhvr additive="base">
                                        <p:cTn id="37" dur="550" fill="hold"/>
                                        <p:tgtEl>
                                          <p:spTgt spid="30"/>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50"/>
                                        <p:tgtEl>
                                          <p:spTgt spid="31"/>
                                        </p:tgtEl>
                                      </p:cBhvr>
                                    </p:animEffect>
                                    <p:anim calcmode="lin" valueType="num">
                                      <p:cBhvr additive="base">
                                        <p:cTn id="42" dur="550" fill="hold"/>
                                        <p:tgtEl>
                                          <p:spTgt spid="31"/>
                                        </p:tgtEl>
                                        <p:attrNameLst>
                                          <p:attrName>ppt_x</p:attrName>
                                        </p:attrNameLst>
                                      </p:cBhvr>
                                      <p:tavLst>
                                        <p:tav tm="0">
                                          <p:val>
                                            <p:strVal val="#ppt_x"/>
                                          </p:val>
                                        </p:tav>
                                        <p:tav tm="100000">
                                          <p:val>
                                            <p:strVal val="#ppt_x"/>
                                          </p:val>
                                        </p:tav>
                                      </p:tavLst>
                                    </p:anim>
                                    <p:anim calcmode="lin" valueType="num">
                                      <p:cBhvr additive="base">
                                        <p:cTn id="43" dur="550" fill="hold"/>
                                        <p:tgtEl>
                                          <p:spTgt spid="31"/>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550"/>
                                        <p:tgtEl>
                                          <p:spTgt spid="32"/>
                                        </p:tgtEl>
                                      </p:cBhvr>
                                    </p:animEffect>
                                    <p:anim calcmode="lin" valueType="num">
                                      <p:cBhvr additive="base">
                                        <p:cTn id="48" dur="550" fill="hold"/>
                                        <p:tgtEl>
                                          <p:spTgt spid="32"/>
                                        </p:tgtEl>
                                        <p:attrNameLst>
                                          <p:attrName>ppt_w</p:attrName>
                                        </p:attrNameLst>
                                      </p:cBhvr>
                                      <p:tavLst>
                                        <p:tav tm="0">
                                          <p:val>
                                            <p:strVal val="0"/>
                                          </p:val>
                                        </p:tav>
                                        <p:tav tm="100000">
                                          <p:val>
                                            <p:strVal val="#ppt_w"/>
                                          </p:val>
                                        </p:tav>
                                      </p:tavLst>
                                    </p:anim>
                                    <p:anim calcmode="lin" valueType="num">
                                      <p:cBhvr additive="base">
                                        <p:cTn id="49" dur="550" fill="hold"/>
                                        <p:tgtEl>
                                          <p:spTgt spid="32"/>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50"/>
                                        <p:tgtEl>
                                          <p:spTgt spid="33"/>
                                        </p:tgtEl>
                                      </p:cBhvr>
                                    </p:animEffect>
                                    <p:anim calcmode="lin" valueType="num">
                                      <p:cBhvr additive="base">
                                        <p:cTn id="54" dur="550" fill="hold"/>
                                        <p:tgtEl>
                                          <p:spTgt spid="33"/>
                                        </p:tgtEl>
                                        <p:attrNameLst>
                                          <p:attrName>ppt_x</p:attrName>
                                        </p:attrNameLst>
                                      </p:cBhvr>
                                      <p:tavLst>
                                        <p:tav tm="0">
                                          <p:val>
                                            <p:strVal val="#ppt_x"/>
                                          </p:val>
                                        </p:tav>
                                        <p:tav tm="100000">
                                          <p:val>
                                            <p:strVal val="#ppt_x"/>
                                          </p:val>
                                        </p:tav>
                                      </p:tavLst>
                                    </p:anim>
                                    <p:anim calcmode="lin" valueType="num">
                                      <p:cBhvr additive="base">
                                        <p:cTn id="55" dur="550" fill="hold"/>
                                        <p:tgtEl>
                                          <p:spTgt spid="33"/>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550"/>
                                        <p:tgtEl>
                                          <p:spTgt spid="34"/>
                                        </p:tgtEl>
                                      </p:cBhvr>
                                    </p:animEffect>
                                    <p:anim calcmode="lin" valueType="num">
                                      <p:cBhvr additive="base">
                                        <p:cTn id="60" dur="550" fill="hold"/>
                                        <p:tgtEl>
                                          <p:spTgt spid="34"/>
                                        </p:tgtEl>
                                        <p:attrNameLst>
                                          <p:attrName>ppt_x</p:attrName>
                                        </p:attrNameLst>
                                      </p:cBhvr>
                                      <p:tavLst>
                                        <p:tav tm="0">
                                          <p:val>
                                            <p:strVal val="#ppt_x"/>
                                          </p:val>
                                        </p:tav>
                                        <p:tav tm="100000">
                                          <p:val>
                                            <p:strVal val="#ppt_x"/>
                                          </p:val>
                                        </p:tav>
                                      </p:tavLst>
                                    </p:anim>
                                    <p:anim calcmode="lin" valueType="num">
                                      <p:cBhvr additive="base">
                                        <p:cTn id="61" dur="550" fill="hold"/>
                                        <p:tgtEl>
                                          <p:spTgt spid="34"/>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550"/>
                                        <p:tgtEl>
                                          <p:spTgt spid="35"/>
                                        </p:tgtEl>
                                      </p:cBhvr>
                                    </p:animEffect>
                                    <p:anim calcmode="lin" valueType="num">
                                      <p:cBhvr additive="base">
                                        <p:cTn id="66" dur="550" fill="hold"/>
                                        <p:tgtEl>
                                          <p:spTgt spid="35"/>
                                        </p:tgtEl>
                                        <p:attrNameLst>
                                          <p:attrName>ppt_x</p:attrName>
                                        </p:attrNameLst>
                                      </p:cBhvr>
                                      <p:tavLst>
                                        <p:tav tm="0">
                                          <p:val>
                                            <p:strVal val="#ppt_x"/>
                                          </p:val>
                                        </p:tav>
                                        <p:tav tm="100000">
                                          <p:val>
                                            <p:strVal val="#ppt_x"/>
                                          </p:val>
                                        </p:tav>
                                      </p:tavLst>
                                    </p:anim>
                                    <p:anim calcmode="lin" valueType="num">
                                      <p:cBhvr additive="base">
                                        <p:cTn id="67" dur="550" fill="hold"/>
                                        <p:tgtEl>
                                          <p:spTgt spid="35"/>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fade">
                                      <p:cBhvr>
                                        <p:cTn id="71" dur="550"/>
                                        <p:tgtEl>
                                          <p:spTgt spid="36"/>
                                        </p:tgtEl>
                                      </p:cBhvr>
                                    </p:animEffect>
                                    <p:anim calcmode="lin" valueType="num">
                                      <p:cBhvr additive="base">
                                        <p:cTn id="72" dur="550" fill="hold"/>
                                        <p:tgtEl>
                                          <p:spTgt spid="36"/>
                                        </p:tgtEl>
                                        <p:attrNameLst>
                                          <p:attrName>ppt_w</p:attrName>
                                        </p:attrNameLst>
                                      </p:cBhvr>
                                      <p:tavLst>
                                        <p:tav tm="0">
                                          <p:val>
                                            <p:strVal val="0"/>
                                          </p:val>
                                        </p:tav>
                                        <p:tav tm="100000">
                                          <p:val>
                                            <p:strVal val="#ppt_w"/>
                                          </p:val>
                                        </p:tav>
                                      </p:tavLst>
                                    </p:anim>
                                    <p:anim calcmode="lin" valueType="num">
                                      <p:cBhvr additive="base">
                                        <p:cTn id="73" dur="550" fill="hold"/>
                                        <p:tgtEl>
                                          <p:spTgt spid="36"/>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550"/>
                                        <p:tgtEl>
                                          <p:spTgt spid="37"/>
                                        </p:tgtEl>
                                      </p:cBhvr>
                                    </p:animEffect>
                                    <p:anim calcmode="lin" valueType="num">
                                      <p:cBhvr additive="base">
                                        <p:cTn id="78" dur="550" fill="hold"/>
                                        <p:tgtEl>
                                          <p:spTgt spid="37"/>
                                        </p:tgtEl>
                                        <p:attrNameLst>
                                          <p:attrName>ppt_x</p:attrName>
                                        </p:attrNameLst>
                                      </p:cBhvr>
                                      <p:tavLst>
                                        <p:tav tm="0">
                                          <p:val>
                                            <p:strVal val="#ppt_x"/>
                                          </p:val>
                                        </p:tav>
                                        <p:tav tm="100000">
                                          <p:val>
                                            <p:strVal val="#ppt_x"/>
                                          </p:val>
                                        </p:tav>
                                      </p:tavLst>
                                    </p:anim>
                                    <p:anim calcmode="lin" valueType="num">
                                      <p:cBhvr additive="base">
                                        <p:cTn id="79" dur="550" fill="hold"/>
                                        <p:tgtEl>
                                          <p:spTgt spid="3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6" grpId="0" animBg="1"/>
      <p:bldP spid="29" grpId="0" animBg="1"/>
      <p:bldP spid="28"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2-REJA</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Kvant sun'iy intellekt (Quantum AI Computing)</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M15 · Kelajak avlod sun'iy intellekt hisoblash tizimlari va istiqbolli texnologiyalar</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10</a:t>
            </a:r>
          </a:p>
        </p:txBody>
      </p:sp>
      <p:sp>
        <p:nvSpPr>
          <p:cNvPr id="25" name="Rounded Rectangle 24"/>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3245d42fba5a5c9c.jpg"/>
          <p:cNvPicPr>
            <a:picLocks noChangeAspect="1"/>
          </p:cNvPicPr>
          <p:nvPr/>
        </p:nvPicPr>
        <p:blipFill>
          <a:blip r:embed="rId2"/>
          <a:srcRect l="18434" r="18434"/>
          <a:stretch>
            <a:fillRect/>
          </a:stretch>
        </p:blipFill>
        <p:spPr>
          <a:xfrm>
            <a:off x="7620000" y="1430000"/>
            <a:ext cx="4050000" cy="4250000"/>
          </a:xfrm>
          <a:prstGeom prst="roundRect">
            <a:avLst/>
          </a:prstGeom>
          <a:ln w="19050">
            <a:solidFill>
              <a:srgbClr val="22D3EE"/>
            </a:solidFill>
          </a:ln>
        </p:spPr>
      </p:pic>
      <p:sp>
        <p:nvSpPr>
          <p:cNvPr id="27" name="TextBox 26"/>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Argonne National Laboratory's Flickr page · Wikimedia Commons · CC BY-SA 2.0</a:t>
            </a:r>
          </a:p>
        </p:txBody>
      </p:sp>
      <p:sp>
        <p:nvSpPr>
          <p:cNvPr id="28" name="Rounded Rectangle 27"/>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9" name="Rounded Rectangle 28"/>
          <p:cNvSpPr/>
          <p:nvPr/>
        </p:nvSpPr>
        <p:spPr>
          <a:xfrm>
            <a:off x="550000" y="2417992"/>
            <a:ext cx="6750000" cy="274401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2497992"/>
            <a:ext cx="50000" cy="2584016"/>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3590000"/>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2" name="TextBox 31"/>
          <p:cNvSpPr txBox="1"/>
          <p:nvPr/>
        </p:nvSpPr>
        <p:spPr>
          <a:xfrm>
            <a:off x="1300000" y="2457992"/>
            <a:ext cx="5900000" cy="2664016"/>
          </a:xfrm>
          <a:prstGeom prst="rect">
            <a:avLst/>
          </a:prstGeom>
          <a:noFill/>
        </p:spPr>
        <p:txBody>
          <a:bodyPr wrap="square" anchor="ctr">
            <a:spAutoFit/>
          </a:bodyPr>
          <a:lstStyle/>
          <a:p>
            <a:r>
              <a:rPr sz="1700" b="1">
                <a:solidFill>
                  <a:srgbClr val="E8EEFA"/>
                </a:solidFill>
                <a:latin typeface="Segoe UI"/>
              </a:rPr>
              <a:t>Joriy apparat holati (2025-yil holatiga): IBM Heron r2 prosessorlari 156 kubit, ikki kubitli eshik xatosi 0,3 % atrofida; IBM 2023-yilda 1 121 kubitli Condor ni ko'rsatdi, lekin strategiyani kubit sonidan sifatga burdi; Google 2024-yil dekabrida 105 kubitli…</a:t>
            </a:r>
          </a:p>
          <a:p>
            <a:pPr>
              <a:spcBef>
                <a:spcPts val="400"/>
              </a:spcBef>
            </a:pPr>
            <a:r>
              <a:rPr sz="1600">
                <a:solidFill>
                  <a:srgbClr val="AEBBD9"/>
                </a:solidFill>
                <a:latin typeface="Segoe UI"/>
              </a:rPr>
              <a:t>Bularning barchasi NISQ (Noisy Intermediate-Scale Quantum, Preskill 2018) davriga tegishli: xato tuzatilmagan, sxema chuqurligi cheklangan.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ppt_w</p:attrName>
                                        </p:attrNameLst>
                                      </p:cBhvr>
                                      <p:tavLst>
                                        <p:tav tm="0">
                                          <p:val>
                                            <p:strVal val="0"/>
                                          </p:val>
                                        </p:tav>
                                        <p:tav tm="100000">
                                          <p:val>
                                            <p:strVal val="#ppt_w"/>
                                          </p:val>
                                        </p:tav>
                                      </p:tavLst>
                                    </p:anim>
                                    <p:anim calcmode="lin" valueType="num">
                                      <p:cBhvr additive="base">
                                        <p:cTn id="17" dur="550" fill="hold"/>
                                        <p:tgtEl>
                                          <p:spTgt spid="25"/>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anim calcmode="lin" valueType="num">
                                      <p:cBhvr additive="base">
                                        <p:cTn id="22" dur="550" fill="hold"/>
                                        <p:tgtEl>
                                          <p:spTgt spid="26"/>
                                        </p:tgtEl>
                                        <p:attrNameLst>
                                          <p:attrName>ppt_w</p:attrName>
                                        </p:attrNameLst>
                                      </p:cBhvr>
                                      <p:tavLst>
                                        <p:tav tm="0">
                                          <p:val>
                                            <p:strVal val="0"/>
                                          </p:val>
                                        </p:tav>
                                        <p:tav tm="100000">
                                          <p:val>
                                            <p:strVal val="#ppt_w"/>
                                          </p:val>
                                        </p:tav>
                                      </p:tavLst>
                                    </p:anim>
                                    <p:anim calcmode="lin" valueType="num">
                                      <p:cBhvr additive="base">
                                        <p:cTn id="23" dur="550" fill="hold"/>
                                        <p:tgtEl>
                                          <p:spTgt spid="26"/>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50"/>
                                        <p:tgtEl>
                                          <p:spTgt spid="28"/>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50"/>
                                        <p:tgtEl>
                                          <p:spTgt spid="27"/>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50"/>
                                        <p:tgtEl>
                                          <p:spTgt spid="29"/>
                                        </p:tgtEl>
                                      </p:cBhvr>
                                    </p:animEffect>
                                    <p:anim calcmode="lin" valueType="num">
                                      <p:cBhvr additive="base">
                                        <p:cTn id="36" dur="550" fill="hold"/>
                                        <p:tgtEl>
                                          <p:spTgt spid="29"/>
                                        </p:tgtEl>
                                        <p:attrNameLst>
                                          <p:attrName>ppt_x</p:attrName>
                                        </p:attrNameLst>
                                      </p:cBhvr>
                                      <p:tavLst>
                                        <p:tav tm="0">
                                          <p:val>
                                            <p:strVal val="#ppt_x"/>
                                          </p:val>
                                        </p:tav>
                                        <p:tav tm="100000">
                                          <p:val>
                                            <p:strVal val="#ppt_x"/>
                                          </p:val>
                                        </p:tav>
                                      </p:tavLst>
                                    </p:anim>
                                    <p:anim calcmode="lin" valueType="num">
                                      <p:cBhvr additive="base">
                                        <p:cTn id="37" dur="550" fill="hold"/>
                                        <p:tgtEl>
                                          <p:spTgt spid="29"/>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50"/>
                                        <p:tgtEl>
                                          <p:spTgt spid="30"/>
                                        </p:tgtEl>
                                      </p:cBhvr>
                                    </p:animEffect>
                                    <p:anim calcmode="lin" valueType="num">
                                      <p:cBhvr additive="base">
                                        <p:cTn id="42" dur="550" fill="hold"/>
                                        <p:tgtEl>
                                          <p:spTgt spid="30"/>
                                        </p:tgtEl>
                                        <p:attrNameLst>
                                          <p:attrName>ppt_x</p:attrName>
                                        </p:attrNameLst>
                                      </p:cBhvr>
                                      <p:tavLst>
                                        <p:tav tm="0">
                                          <p:val>
                                            <p:strVal val="#ppt_x"/>
                                          </p:val>
                                        </p:tav>
                                        <p:tav tm="100000">
                                          <p:val>
                                            <p:strVal val="#ppt_x"/>
                                          </p:val>
                                        </p:tav>
                                      </p:tavLst>
                                    </p:anim>
                                    <p:anim calcmode="lin" valueType="num">
                                      <p:cBhvr additive="base">
                                        <p:cTn id="43" dur="550" fill="hold"/>
                                        <p:tgtEl>
                                          <p:spTgt spid="30"/>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50"/>
                                        <p:tgtEl>
                                          <p:spTgt spid="31"/>
                                        </p:tgtEl>
                                      </p:cBhvr>
                                    </p:animEffect>
                                    <p:anim calcmode="lin" valueType="num">
                                      <p:cBhvr additive="base">
                                        <p:cTn id="48" dur="550" fill="hold"/>
                                        <p:tgtEl>
                                          <p:spTgt spid="31"/>
                                        </p:tgtEl>
                                        <p:attrNameLst>
                                          <p:attrName>ppt_w</p:attrName>
                                        </p:attrNameLst>
                                      </p:cBhvr>
                                      <p:tavLst>
                                        <p:tav tm="0">
                                          <p:val>
                                            <p:strVal val="0"/>
                                          </p:val>
                                        </p:tav>
                                        <p:tav tm="100000">
                                          <p:val>
                                            <p:strVal val="#ppt_w"/>
                                          </p:val>
                                        </p:tav>
                                      </p:tavLst>
                                    </p:anim>
                                    <p:anim calcmode="lin" valueType="num">
                                      <p:cBhvr additive="base">
                                        <p:cTn id="49" dur="550" fill="hold"/>
                                        <p:tgtEl>
                                          <p:spTgt spid="31"/>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50"/>
                                        <p:tgtEl>
                                          <p:spTgt spid="32"/>
                                        </p:tgtEl>
                                      </p:cBhvr>
                                    </p:animEffect>
                                    <p:anim calcmode="lin" valueType="num">
                                      <p:cBhvr additive="base">
                                        <p:cTn id="54" dur="550" fill="hold"/>
                                        <p:tgtEl>
                                          <p:spTgt spid="32"/>
                                        </p:tgtEl>
                                        <p:attrNameLst>
                                          <p:attrName>ppt_x</p:attrName>
                                        </p:attrNameLst>
                                      </p:cBhvr>
                                      <p:tavLst>
                                        <p:tav tm="0">
                                          <p:val>
                                            <p:strVal val="#ppt_x"/>
                                          </p:val>
                                        </p:tav>
                                        <p:tav tm="100000">
                                          <p:val>
                                            <p:strVal val="#ppt_x"/>
                                          </p:val>
                                        </p:tav>
                                      </p:tavLst>
                                    </p:anim>
                                    <p:anim calcmode="lin" valueType="num">
                                      <p:cBhvr additive="base">
                                        <p:cTn id="55" dur="550" fill="hold"/>
                                        <p:tgtEl>
                                          <p:spTgt spid="3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8" grpId="0" animBg="1"/>
      <p:bldP spid="27" grpId="0" animBg="1"/>
      <p:bldP spid="29" grpId="0" animBg="1"/>
      <p:bldP spid="30" grpId="0" animBg="1"/>
      <p:bldP spid="31" grpId="0" animBg="1"/>
      <p:bldP spid="32"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2-REJA</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Kvant sun'iy intellekt (Quantum AI Computing)</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M15 · Kelajak avlod sun'iy intellekt hisoblash tizimlari va istiqbolli texnologiyalar</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11</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2849e30d2e7eb567.jpg"/>
          <p:cNvPicPr>
            <a:picLocks noChangeAspect="1"/>
          </p:cNvPicPr>
          <p:nvPr/>
        </p:nvPicPr>
        <p:blipFill>
          <a:blip r:embed="rId2"/>
          <a:srcRect l="18024" r="18024"/>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Physics Department Ateneo de Manila University · Wikimedia Commons · CC BY 2.0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2283880"/>
            <a:ext cx="6750000" cy="3012240"/>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2363880"/>
            <a:ext cx="50000" cy="285224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3590000"/>
            <a:ext cx="400000" cy="40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31" name="TextBox 30"/>
          <p:cNvSpPr txBox="1"/>
          <p:nvPr/>
        </p:nvSpPr>
        <p:spPr>
          <a:xfrm>
            <a:off x="1300000" y="2323880"/>
            <a:ext cx="5900000" cy="2932240"/>
          </a:xfrm>
          <a:prstGeom prst="rect">
            <a:avLst/>
          </a:prstGeom>
          <a:noFill/>
        </p:spPr>
        <p:txBody>
          <a:bodyPr wrap="square" anchor="ctr">
            <a:spAutoFit/>
          </a:bodyPr>
          <a:lstStyle/>
          <a:p>
            <a:r>
              <a:rPr sz="1700" b="1">
                <a:solidFill>
                  <a:srgbClr val="E8EEFA"/>
                </a:solidFill>
                <a:latin typeface="Segoe UI"/>
              </a:rPr>
              <a:t>QML uchun bu quyidagi amaliy xulosalarni beradi.</a:t>
            </a:r>
          </a:p>
          <a:p>
            <a:pPr>
              <a:spcBef>
                <a:spcPts val="400"/>
              </a:spcBef>
            </a:pPr>
            <a:r>
              <a:rPr sz="1600">
                <a:solidFill>
                  <a:srgbClr val="AEBBD9"/>
                </a:solidFill>
                <a:latin typeface="Segoe UI"/>
              </a:rPr>
              <a:t>Birinchidan, hali hech bir real SI masalasida kvant qurilma klassik GPU dan ustun kelgani isbotlanmagan; ko'p QML natijalari simulyatsiyada va kichik o'lchamli ma'lumotlarda olingan. Ikkinchidan, «bepusht platolar» (barren plateaus, McClean va boshq., 2018) muammosi — kubit soni oshgan sari gradientlar eksponensial kichrayadi va o'qitish to'xtaydi — variatsion sxemalarni masshtablashga to'siq.</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2-REJA</a:t>
            </a:r>
          </a:p>
        </p:txBody>
      </p:sp>
      <p:sp>
        <p:nvSpPr>
          <p:cNvPr id="22" name="TextBox 21"/>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Kvant sun'iy intellekt (Quantum AI Computing)</a:t>
            </a:r>
          </a:p>
        </p:txBody>
      </p:sp>
      <p:sp>
        <p:nvSpPr>
          <p:cNvPr id="23" name="Rectangle 22"/>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M15 · Kelajak avlod sun'iy intellekt hisoblash tizimlari va istiqbolli texnologiyalar</a:t>
            </a:r>
          </a:p>
        </p:txBody>
      </p:sp>
      <p:sp>
        <p:nvSpPr>
          <p:cNvPr id="25" name="Rounded Rectangle 24"/>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12</a:t>
            </a:r>
          </a:p>
        </p:txBody>
      </p:sp>
      <p:sp>
        <p:nvSpPr>
          <p:cNvPr id="26" name="Rounded Rectangle 25"/>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e348030a72849322.jpg"/>
          <p:cNvPicPr>
            <a:picLocks noChangeAspect="1"/>
          </p:cNvPicPr>
          <p:nvPr/>
        </p:nvPicPr>
        <p:blipFill>
          <a:blip r:embed="rId2"/>
          <a:srcRect t="15034" b="15034"/>
          <a:stretch>
            <a:fillRect/>
          </a:stretch>
        </p:blipFill>
        <p:spPr>
          <a:xfrm>
            <a:off x="7620000" y="1430000"/>
            <a:ext cx="4050000" cy="4250000"/>
          </a:xfrm>
          <a:prstGeom prst="roundRect">
            <a:avLst/>
          </a:prstGeom>
          <a:ln w="19050">
            <a:solidFill>
              <a:srgbClr val="22D3EE"/>
            </a:solidFill>
          </a:ln>
        </p:spPr>
      </p:pic>
      <p:sp>
        <p:nvSpPr>
          <p:cNvPr id="28" name="TextBox 27"/>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Ragsxl · Wikimedia Commons · CC BY-SA 4.0</a:t>
            </a:r>
          </a:p>
        </p:txBody>
      </p:sp>
      <p:sp>
        <p:nvSpPr>
          <p:cNvPr id="29" name="Rounded Rectangle 28"/>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30" name="Rounded Rectangle 29"/>
          <p:cNvSpPr/>
          <p:nvPr/>
        </p:nvSpPr>
        <p:spPr>
          <a:xfrm>
            <a:off x="550000" y="2552104"/>
            <a:ext cx="6750000" cy="247579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2632104"/>
            <a:ext cx="50000" cy="23157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0000" y="3590000"/>
            <a:ext cx="400000" cy="400000"/>
          </a:xfrm>
          <a:prstGeom prst="ellipse">
            <a:avLst/>
          </a:prstGeom>
          <a:no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59E0B"/>
                </a:solidFill>
                <a:latin typeface="Segoe UI"/>
              </a:rPr>
              <a:t>05</a:t>
            </a:r>
          </a:p>
        </p:txBody>
      </p:sp>
      <p:sp>
        <p:nvSpPr>
          <p:cNvPr id="33" name="TextBox 32"/>
          <p:cNvSpPr txBox="1"/>
          <p:nvPr/>
        </p:nvSpPr>
        <p:spPr>
          <a:xfrm>
            <a:off x="1300000" y="2592104"/>
            <a:ext cx="5900000" cy="2395792"/>
          </a:xfrm>
          <a:prstGeom prst="rect">
            <a:avLst/>
          </a:prstGeom>
          <a:noFill/>
        </p:spPr>
        <p:txBody>
          <a:bodyPr wrap="square" anchor="ctr">
            <a:spAutoFit/>
          </a:bodyPr>
          <a:lstStyle/>
          <a:p>
            <a:r>
              <a:rPr sz="1700" b="1">
                <a:solidFill>
                  <a:srgbClr val="E8EEFA"/>
                </a:solidFill>
                <a:latin typeface="Segoe UI"/>
              </a:rPr>
              <a:t>Uchinchidan, klassik ma'lumotni kvant holatiga yuklash (data loading) o'zi qimmat va ko'p holatlarda nazariy tezlashuvni yo'qqa chiqaradi.</a:t>
            </a:r>
          </a:p>
          <a:p>
            <a:pPr>
              <a:spcBef>
                <a:spcPts val="400"/>
              </a:spcBef>
            </a:pPr>
            <a:r>
              <a:rPr sz="1600">
                <a:solidFill>
                  <a:srgbClr val="AEBBD9"/>
                </a:solidFill>
                <a:latin typeface="Segoe UI"/>
              </a:rPr>
              <a:t>Shunga qaramay, kvant kimyo, kombinatorik optimallashtirish va kvant ma'lumotlarni (fizik tajriba natijalarini) tahlil qilish yo'nalishlari istiqbolli, va Qiskit, PennyLane, Cirq kabi vositalar muhandislarga bu yo'nalishni arzon simulyatsiyada o'rganish imkonini beradi.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50"/>
                                        <p:tgtEl>
                                          <p:spTgt spid="22"/>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1" dur="800"/>
                                        <p:tgtEl>
                                          <p:spTgt spid="23"/>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50"/>
                                        <p:tgtEl>
                                          <p:spTgt spid="26"/>
                                        </p:tgtEl>
                                      </p:cBhvr>
                                    </p:animEffect>
                                    <p:anim calcmode="lin" valueType="num">
                                      <p:cBhvr additive="base">
                                        <p:cTn id="16" dur="550" fill="hold"/>
                                        <p:tgtEl>
                                          <p:spTgt spid="26"/>
                                        </p:tgtEl>
                                        <p:attrNameLst>
                                          <p:attrName>ppt_w</p:attrName>
                                        </p:attrNameLst>
                                      </p:cBhvr>
                                      <p:tavLst>
                                        <p:tav tm="0">
                                          <p:val>
                                            <p:strVal val="0"/>
                                          </p:val>
                                        </p:tav>
                                        <p:tav tm="100000">
                                          <p:val>
                                            <p:strVal val="#ppt_w"/>
                                          </p:val>
                                        </p:tav>
                                      </p:tavLst>
                                    </p:anim>
                                    <p:anim calcmode="lin" valueType="num">
                                      <p:cBhvr additive="base">
                                        <p:cTn id="17" dur="550" fill="hold"/>
                                        <p:tgtEl>
                                          <p:spTgt spid="26"/>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50"/>
                                        <p:tgtEl>
                                          <p:spTgt spid="27"/>
                                        </p:tgtEl>
                                      </p:cBhvr>
                                    </p:animEffect>
                                    <p:anim calcmode="lin" valueType="num">
                                      <p:cBhvr additive="base">
                                        <p:cTn id="22" dur="550" fill="hold"/>
                                        <p:tgtEl>
                                          <p:spTgt spid="27"/>
                                        </p:tgtEl>
                                        <p:attrNameLst>
                                          <p:attrName>ppt_w</p:attrName>
                                        </p:attrNameLst>
                                      </p:cBhvr>
                                      <p:tavLst>
                                        <p:tav tm="0">
                                          <p:val>
                                            <p:strVal val="0"/>
                                          </p:val>
                                        </p:tav>
                                        <p:tav tm="100000">
                                          <p:val>
                                            <p:strVal val="#ppt_w"/>
                                          </p:val>
                                        </p:tav>
                                      </p:tavLst>
                                    </p:anim>
                                    <p:anim calcmode="lin" valueType="num">
                                      <p:cBhvr additive="base">
                                        <p:cTn id="23" dur="550" fill="hold"/>
                                        <p:tgtEl>
                                          <p:spTgt spid="27"/>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50"/>
                                        <p:tgtEl>
                                          <p:spTgt spid="29"/>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50"/>
                                        <p:tgtEl>
                                          <p:spTgt spid="28"/>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50"/>
                                        <p:tgtEl>
                                          <p:spTgt spid="30"/>
                                        </p:tgtEl>
                                      </p:cBhvr>
                                    </p:animEffect>
                                    <p:anim calcmode="lin" valueType="num">
                                      <p:cBhvr additive="base">
                                        <p:cTn id="36" dur="550" fill="hold"/>
                                        <p:tgtEl>
                                          <p:spTgt spid="30"/>
                                        </p:tgtEl>
                                        <p:attrNameLst>
                                          <p:attrName>ppt_x</p:attrName>
                                        </p:attrNameLst>
                                      </p:cBhvr>
                                      <p:tavLst>
                                        <p:tav tm="0">
                                          <p:val>
                                            <p:strVal val="#ppt_x"/>
                                          </p:val>
                                        </p:tav>
                                        <p:tav tm="100000">
                                          <p:val>
                                            <p:strVal val="#ppt_x"/>
                                          </p:val>
                                        </p:tav>
                                      </p:tavLst>
                                    </p:anim>
                                    <p:anim calcmode="lin" valueType="num">
                                      <p:cBhvr additive="base">
                                        <p:cTn id="37" dur="550" fill="hold"/>
                                        <p:tgtEl>
                                          <p:spTgt spid="30"/>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50"/>
                                        <p:tgtEl>
                                          <p:spTgt spid="31"/>
                                        </p:tgtEl>
                                      </p:cBhvr>
                                    </p:animEffect>
                                    <p:anim calcmode="lin" valueType="num">
                                      <p:cBhvr additive="base">
                                        <p:cTn id="42" dur="550" fill="hold"/>
                                        <p:tgtEl>
                                          <p:spTgt spid="31"/>
                                        </p:tgtEl>
                                        <p:attrNameLst>
                                          <p:attrName>ppt_x</p:attrName>
                                        </p:attrNameLst>
                                      </p:cBhvr>
                                      <p:tavLst>
                                        <p:tav tm="0">
                                          <p:val>
                                            <p:strVal val="#ppt_x"/>
                                          </p:val>
                                        </p:tav>
                                        <p:tav tm="100000">
                                          <p:val>
                                            <p:strVal val="#ppt_x"/>
                                          </p:val>
                                        </p:tav>
                                      </p:tavLst>
                                    </p:anim>
                                    <p:anim calcmode="lin" valueType="num">
                                      <p:cBhvr additive="base">
                                        <p:cTn id="43" dur="550" fill="hold"/>
                                        <p:tgtEl>
                                          <p:spTgt spid="31"/>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550"/>
                                        <p:tgtEl>
                                          <p:spTgt spid="32"/>
                                        </p:tgtEl>
                                      </p:cBhvr>
                                    </p:animEffect>
                                    <p:anim calcmode="lin" valueType="num">
                                      <p:cBhvr additive="base">
                                        <p:cTn id="48" dur="550" fill="hold"/>
                                        <p:tgtEl>
                                          <p:spTgt spid="32"/>
                                        </p:tgtEl>
                                        <p:attrNameLst>
                                          <p:attrName>ppt_w</p:attrName>
                                        </p:attrNameLst>
                                      </p:cBhvr>
                                      <p:tavLst>
                                        <p:tav tm="0">
                                          <p:val>
                                            <p:strVal val="0"/>
                                          </p:val>
                                        </p:tav>
                                        <p:tav tm="100000">
                                          <p:val>
                                            <p:strVal val="#ppt_w"/>
                                          </p:val>
                                        </p:tav>
                                      </p:tavLst>
                                    </p:anim>
                                    <p:anim calcmode="lin" valueType="num">
                                      <p:cBhvr additive="base">
                                        <p:cTn id="49" dur="550" fill="hold"/>
                                        <p:tgtEl>
                                          <p:spTgt spid="32"/>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50"/>
                                        <p:tgtEl>
                                          <p:spTgt spid="33"/>
                                        </p:tgtEl>
                                      </p:cBhvr>
                                    </p:animEffect>
                                    <p:anim calcmode="lin" valueType="num">
                                      <p:cBhvr additive="base">
                                        <p:cTn id="54" dur="550" fill="hold"/>
                                        <p:tgtEl>
                                          <p:spTgt spid="33"/>
                                        </p:tgtEl>
                                        <p:attrNameLst>
                                          <p:attrName>ppt_x</p:attrName>
                                        </p:attrNameLst>
                                      </p:cBhvr>
                                      <p:tavLst>
                                        <p:tav tm="0">
                                          <p:val>
                                            <p:strVal val="#ppt_x"/>
                                          </p:val>
                                        </p:tav>
                                        <p:tav tm="100000">
                                          <p:val>
                                            <p:strVal val="#ppt_x"/>
                                          </p:val>
                                        </p:tav>
                                      </p:tavLst>
                                    </p:anim>
                                    <p:anim calcmode="lin" valueType="num">
                                      <p:cBhvr additive="base">
                                        <p:cTn id="55" dur="550" fill="hold"/>
                                        <p:tgtEl>
                                          <p:spTgt spid="3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6" grpId="0" animBg="1"/>
      <p:bldP spid="29" grpId="0" animBg="1"/>
      <p:bldP spid="28" grpId="0" animBg="1"/>
      <p:bldP spid="30" grpId="0" animBg="1"/>
      <p:bldP spid="31" grpId="0" animBg="1"/>
      <p:bldP spid="32" grpId="0" animBg="1"/>
      <p:bldP spid="33"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00000" y="5833333"/>
            <a:ext cx="1666666"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066666" y="504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066666" y="572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733333" y="5040000"/>
            <a:ext cx="1666667"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733333" y="5380000"/>
            <a:ext cx="1666667"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733333" y="5833333"/>
            <a:ext cx="1666667"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40967a81f9344f37.jpg"/>
          <p:cNvPicPr>
            <a:picLocks noChangeAspect="1"/>
          </p:cNvPicPr>
          <p:nvPr/>
        </p:nvPicPr>
        <p:blipFill>
          <a:blip r:embed="rId2"/>
          <a:srcRect l="647" r="647"/>
          <a:stretch>
            <a:fillRect/>
          </a:stretch>
        </p:blipFill>
        <p:spPr>
          <a:xfrm>
            <a:off x="6300000" y="800000"/>
            <a:ext cx="5300000" cy="4950000"/>
          </a:xfrm>
          <a:prstGeom prst="roundRect">
            <a:avLst/>
          </a:prstGeom>
          <a:ln w="19050">
            <a:solidFill>
              <a:srgbClr val="22D3EE"/>
            </a:solidFill>
          </a:ln>
        </p:spPr>
      </p:pic>
      <p:sp>
        <p:nvSpPr>
          <p:cNvPr id="41" name="TextBox 40"/>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Ehsanshahoseini · Wikimedia Commons · CC BY-SA 4.0</a:t>
            </a:r>
          </a:p>
        </p:txBody>
      </p:sp>
      <p:sp>
        <p:nvSpPr>
          <p:cNvPr id="42" name="TextBox 41"/>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03</a:t>
            </a:r>
          </a:p>
        </p:txBody>
      </p:sp>
      <p:sp>
        <p:nvSpPr>
          <p:cNvPr id="43" name="TextBox 42"/>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REJA BANDI</a:t>
            </a:r>
          </a:p>
        </p:txBody>
      </p:sp>
      <p:sp>
        <p:nvSpPr>
          <p:cNvPr id="44" name="TextBox 43"/>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Fotonik hisoblash (Photonic Computing)</a:t>
            </a:r>
          </a:p>
        </p:txBody>
      </p:sp>
      <p:sp>
        <p:nvSpPr>
          <p:cNvPr id="45" name="Rectangle 44"/>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84"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150"/>
                            </p:stCondLst>
                            <p:childTnLst>
                              <p:par>
                                <p:cTn id="148" presetID="53" presetClass="entr" presetSubtype="16"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anim calcmode="lin" valueType="num">
                                      <p:cBhvr additive="base">
                                        <p:cTn id="151" dur="550" fill="hold"/>
                                        <p:tgtEl>
                                          <p:spTgt spid="39"/>
                                        </p:tgtEl>
                                        <p:attrNameLst>
                                          <p:attrName>ppt_w</p:attrName>
                                        </p:attrNameLst>
                                      </p:cBhvr>
                                      <p:tavLst>
                                        <p:tav tm="0">
                                          <p:val>
                                            <p:strVal val="0"/>
                                          </p:val>
                                        </p:tav>
                                        <p:tav tm="100000">
                                          <p:val>
                                            <p:strVal val="#ppt_w"/>
                                          </p:val>
                                        </p:tav>
                                      </p:tavLst>
                                    </p:anim>
                                    <p:anim calcmode="lin" valueType="num">
                                      <p:cBhvr additive="base">
                                        <p:cTn id="152" dur="550" fill="hold"/>
                                        <p:tgtEl>
                                          <p:spTgt spid="39"/>
                                        </p:tgtEl>
                                        <p:attrNameLst>
                                          <p:attrName>ppt_h</p:attrName>
                                        </p:attrNameLst>
                                      </p:cBhvr>
                                      <p:tavLst>
                                        <p:tav tm="0">
                                          <p:val>
                                            <p:strVal val="0"/>
                                          </p:val>
                                        </p:tav>
                                        <p:tav tm="100000">
                                          <p:val>
                                            <p:strVal val="#ppt_h"/>
                                          </p:val>
                                        </p:tav>
                                      </p:tavLst>
                                    </p:anim>
                                  </p:childTnLst>
                                </p:cTn>
                              </p:par>
                            </p:childTnLst>
                          </p:cTn>
                        </p:par>
                        <p:par>
                          <p:cTn id="153" fill="hold">
                            <p:stCondLst>
                              <p:cond delay="150"/>
                            </p:stCondLst>
                            <p:childTnLst>
                              <p:par>
                                <p:cTn id="154" presetID="53" presetClass="entr" presetSubtype="16" fill="hold" grpId="0" nodeType="afterEffect">
                                  <p:stCondLst>
                                    <p:cond delay="0"/>
                                  </p:stCondLst>
                                  <p:childTnLst>
                                    <p:set>
                                      <p:cBhvr>
                                        <p:cTn id="155" dur="1" fill="hold">
                                          <p:stCondLst>
                                            <p:cond delay="0"/>
                                          </p:stCondLst>
                                        </p:cTn>
                                        <p:tgtEl>
                                          <p:spTgt spid="40"/>
                                        </p:tgtEl>
                                        <p:attrNameLst>
                                          <p:attrName>style.visibility</p:attrName>
                                        </p:attrNameLst>
                                      </p:cBhvr>
                                      <p:to>
                                        <p:strVal val="visible"/>
                                      </p:to>
                                    </p:set>
                                    <p:animEffect transition="in" filter="fade">
                                      <p:cBhvr>
                                        <p:cTn id="156" dur="550"/>
                                        <p:tgtEl>
                                          <p:spTgt spid="40"/>
                                        </p:tgtEl>
                                      </p:cBhvr>
                                    </p:animEffect>
                                    <p:anim calcmode="lin" valueType="num">
                                      <p:cBhvr additive="base">
                                        <p:cTn id="157" dur="550" fill="hold"/>
                                        <p:tgtEl>
                                          <p:spTgt spid="40"/>
                                        </p:tgtEl>
                                        <p:attrNameLst>
                                          <p:attrName>ppt_w</p:attrName>
                                        </p:attrNameLst>
                                      </p:cBhvr>
                                      <p:tavLst>
                                        <p:tav tm="0">
                                          <p:val>
                                            <p:strVal val="0"/>
                                          </p:val>
                                        </p:tav>
                                        <p:tav tm="100000">
                                          <p:val>
                                            <p:strVal val="#ppt_w"/>
                                          </p:val>
                                        </p:tav>
                                      </p:tavLst>
                                    </p:anim>
                                    <p:anim calcmode="lin" valueType="num">
                                      <p:cBhvr additive="base">
                                        <p:cTn id="158" dur="550" fill="hold"/>
                                        <p:tgtEl>
                                          <p:spTgt spid="40"/>
                                        </p:tgtEl>
                                        <p:attrNameLst>
                                          <p:attrName>ppt_h</p:attrName>
                                        </p:attrNameLst>
                                      </p:cBhvr>
                                      <p:tavLst>
                                        <p:tav tm="0">
                                          <p:val>
                                            <p:strVal val="0"/>
                                          </p:val>
                                        </p:tav>
                                        <p:tav tm="100000">
                                          <p:val>
                                            <p:strVal val="#ppt_h"/>
                                          </p:val>
                                        </p:tav>
                                      </p:tavLst>
                                    </p:anim>
                                  </p:childTnLst>
                                </p:cTn>
                              </p:par>
                            </p:childTnLst>
                          </p:cTn>
                        </p:par>
                        <p:par>
                          <p:cTn id="159" fill="hold">
                            <p:stCondLst>
                              <p:cond delay="150"/>
                            </p:stCondLst>
                            <p:childTnLst>
                              <p:par>
                                <p:cTn id="160" presetID="10" presetClass="entr" presetSubtype="0" fill="hold" grpId="0" nodeType="afterEffect">
                                  <p:stCondLst>
                                    <p:cond delay="0"/>
                                  </p:stCondLst>
                                  <p:childTnLst>
                                    <p:set>
                                      <p:cBhvr>
                                        <p:cTn id="161" dur="1" fill="hold">
                                          <p:stCondLst>
                                            <p:cond delay="0"/>
                                          </p:stCondLst>
                                        </p:cTn>
                                        <p:tgtEl>
                                          <p:spTgt spid="41"/>
                                        </p:tgtEl>
                                        <p:attrNameLst>
                                          <p:attrName>style.visibility</p:attrName>
                                        </p:attrNameLst>
                                      </p:cBhvr>
                                      <p:to>
                                        <p:strVal val="visible"/>
                                      </p:to>
                                    </p:set>
                                    <p:animEffect transition="in" filter="fade">
                                      <p:cBhvr>
                                        <p:cTn id="162" dur="550"/>
                                        <p:tgtEl>
                                          <p:spTgt spid="41"/>
                                        </p:tgtEl>
                                      </p:cBhvr>
                                    </p:animEffect>
                                  </p:childTnLst>
                                </p:cTn>
                              </p:par>
                            </p:childTnLst>
                          </p:cTn>
                        </p:par>
                        <p:par>
                          <p:cTn id="163" fill="hold">
                            <p:stCondLst>
                              <p:cond delay="350"/>
                            </p:stCondLst>
                            <p:childTnLst>
                              <p:par>
                                <p:cTn id="164" presetID="53" presetClass="entr" presetSubtype="16" fill="hold" grpId="0" nodeType="afterEffect">
                                  <p:stCondLst>
                                    <p:cond delay="0"/>
                                  </p:stCondLst>
                                  <p:childTnLst>
                                    <p:set>
                                      <p:cBhvr>
                                        <p:cTn id="165" dur="1" fill="hold">
                                          <p:stCondLst>
                                            <p:cond delay="0"/>
                                          </p:stCondLst>
                                        </p:cTn>
                                        <p:tgtEl>
                                          <p:spTgt spid="42"/>
                                        </p:tgtEl>
                                        <p:attrNameLst>
                                          <p:attrName>style.visibility</p:attrName>
                                        </p:attrNameLst>
                                      </p:cBhvr>
                                      <p:to>
                                        <p:strVal val="visible"/>
                                      </p:to>
                                    </p:set>
                                    <p:animEffect transition="in" filter="fade">
                                      <p:cBhvr>
                                        <p:cTn id="166" dur="550"/>
                                        <p:tgtEl>
                                          <p:spTgt spid="42"/>
                                        </p:tgtEl>
                                      </p:cBhvr>
                                    </p:animEffect>
                                    <p:anim calcmode="lin" valueType="num">
                                      <p:cBhvr additive="base">
                                        <p:cTn id="167" dur="550" fill="hold"/>
                                        <p:tgtEl>
                                          <p:spTgt spid="42"/>
                                        </p:tgtEl>
                                        <p:attrNameLst>
                                          <p:attrName>ppt_w</p:attrName>
                                        </p:attrNameLst>
                                      </p:cBhvr>
                                      <p:tavLst>
                                        <p:tav tm="0">
                                          <p:val>
                                            <p:strVal val="0"/>
                                          </p:val>
                                        </p:tav>
                                        <p:tav tm="100000">
                                          <p:val>
                                            <p:strVal val="#ppt_w"/>
                                          </p:val>
                                        </p:tav>
                                      </p:tavLst>
                                    </p:anim>
                                    <p:anim calcmode="lin" valueType="num">
                                      <p:cBhvr additive="base">
                                        <p:cTn id="168" dur="550" fill="hold"/>
                                        <p:tgtEl>
                                          <p:spTgt spid="42"/>
                                        </p:tgtEl>
                                        <p:attrNameLst>
                                          <p:attrName>ppt_h</p:attrName>
                                        </p:attrNameLst>
                                      </p:cBhvr>
                                      <p:tavLst>
                                        <p:tav tm="0">
                                          <p:val>
                                            <p:strVal val="0"/>
                                          </p:val>
                                        </p:tav>
                                        <p:tav tm="100000">
                                          <p:val>
                                            <p:strVal val="#ppt_h"/>
                                          </p:val>
                                        </p:tav>
                                      </p:tavLst>
                                    </p:anim>
                                  </p:childTnLst>
                                </p:cTn>
                              </p:par>
                            </p:childTnLst>
                          </p:cTn>
                        </p:par>
                        <p:par>
                          <p:cTn id="169" fill="hold">
                            <p:stCondLst>
                              <p:cond delay="450"/>
                            </p:stCondLst>
                            <p:childTnLst>
                              <p:par>
                                <p:cTn id="170" presetID="10" presetClass="entr" presetSubtype="0" fill="hold" grpId="0" nodeType="afterEffect">
                                  <p:stCondLst>
                                    <p:cond delay="0"/>
                                  </p:stCondLst>
                                  <p:childTnLst>
                                    <p:set>
                                      <p:cBhvr>
                                        <p:cTn id="171" dur="1" fill="hold">
                                          <p:stCondLst>
                                            <p:cond delay="0"/>
                                          </p:stCondLst>
                                        </p:cTn>
                                        <p:tgtEl>
                                          <p:spTgt spid="43"/>
                                        </p:tgtEl>
                                        <p:attrNameLst>
                                          <p:attrName>style.visibility</p:attrName>
                                        </p:attrNameLst>
                                      </p:cBhvr>
                                      <p:to>
                                        <p:strVal val="visible"/>
                                      </p:to>
                                    </p:set>
                                    <p:animEffect transition="in" filter="fade">
                                      <p:cBhvr>
                                        <p:cTn id="172" dur="550"/>
                                        <p:tgtEl>
                                          <p:spTgt spid="43"/>
                                        </p:tgtEl>
                                      </p:cBhvr>
                                    </p:animEffect>
                                  </p:childTnLst>
                                </p:cTn>
                              </p:par>
                            </p:childTnLst>
                          </p:cTn>
                        </p:par>
                        <p:par>
                          <p:cTn id="173" fill="hold">
                            <p:stCondLst>
                              <p:cond delay="550"/>
                            </p:stCondLst>
                            <p:childTnLst>
                              <p:par>
                                <p:cTn id="174" presetID="2" presetClass="entr" presetSubtype="8" fill="hold" grpId="0" nodeType="afterEffect">
                                  <p:stCondLst>
                                    <p:cond delay="0"/>
                                  </p:stCondLst>
                                  <p:childTnLst>
                                    <p:set>
                                      <p:cBhvr>
                                        <p:cTn id="175" dur="1" fill="hold">
                                          <p:stCondLst>
                                            <p:cond delay="0"/>
                                          </p:stCondLst>
                                        </p:cTn>
                                        <p:tgtEl>
                                          <p:spTgt spid="44"/>
                                        </p:tgtEl>
                                        <p:attrNameLst>
                                          <p:attrName>style.visibility</p:attrName>
                                        </p:attrNameLst>
                                      </p:cBhvr>
                                      <p:to>
                                        <p:strVal val="visible"/>
                                      </p:to>
                                    </p:set>
                                    <p:anim calcmode="lin" valueType="num">
                                      <p:cBhvr additive="base">
                                        <p:cTn id="177" dur="550" fill="hold"/>
                                        <p:tgtEl>
                                          <p:spTgt spid="44"/>
                                        </p:tgtEl>
                                        <p:attrNameLst>
                                          <p:attrName>ppt_x</p:attrName>
                                        </p:attrNameLst>
                                      </p:cBhvr>
                                      <p:tavLst>
                                        <p:tav tm="0">
                                          <p:val>
                                            <p:strVal val="0-#ppt_w/2"/>
                                          </p:val>
                                        </p:tav>
                                        <p:tav tm="100000">
                                          <p:val>
                                            <p:strVal val="#ppt_x"/>
                                          </p:val>
                                        </p:tav>
                                      </p:tavLst>
                                    </p:anim>
                                    <p:anim calcmode="lin" valueType="num">
                                      <p:cBhvr additive="base">
                                        <p:cTn id="178" dur="550" fill="hold"/>
                                        <p:tgtEl>
                                          <p:spTgt spid="44"/>
                                        </p:tgtEl>
                                        <p:attrNameLst>
                                          <p:attrName>ppt_y</p:attrName>
                                        </p:attrNameLst>
                                      </p:cBhvr>
                                      <p:tavLst>
                                        <p:tav tm="0">
                                          <p:val>
                                            <p:strVal val="#ppt_y"/>
                                          </p:val>
                                        </p:tav>
                                        <p:tav tm="100000">
                                          <p:val>
                                            <p:strVal val="#ppt_y"/>
                                          </p:val>
                                        </p:tav>
                                      </p:tavLst>
                                    </p:anim>
                                  </p:childTnLst>
                                </p:cTn>
                              </p:par>
                            </p:childTnLst>
                          </p:cTn>
                        </p:par>
                        <p:par>
                          <p:cTn id="179" fill="hold">
                            <p:stCondLst>
                              <p:cond delay="650"/>
                            </p:stCondLst>
                            <p:childTnLst>
                              <p:par>
                                <p:cTn id="180" presetID="22" presetClass="entr" presetSubtype="8" fill="hold" grpId="0" nodeType="afterEffect">
                                  <p:stCondLst>
                                    <p:cond delay="0"/>
                                  </p:stCondLst>
                                  <p:childTnLst>
                                    <p:set>
                                      <p:cBhvr>
                                        <p:cTn id="181" dur="1" fill="hold">
                                          <p:stCondLst>
                                            <p:cond delay="0"/>
                                          </p:stCondLst>
                                        </p:cTn>
                                        <p:tgtEl>
                                          <p:spTgt spid="45"/>
                                        </p:tgtEl>
                                        <p:attrNameLst>
                                          <p:attrName>style.visibility</p:attrName>
                                        </p:attrNameLst>
                                      </p:cBhvr>
                                      <p:to>
                                        <p:strVal val="visible"/>
                                      </p:to>
                                    </p:set>
                                    <p:animEffect transition="in" filter="wipe(left)">
                                      <p:cBhvr>
                                        <p:cTn id="183" dur="8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1" grpId="0" animBg="1"/>
      <p:bldP spid="42" grpId="0" animBg="1"/>
      <p:bldP spid="43" grpId="0" animBg="1"/>
      <p:bldP spid="44" grpId="0" animBg="1"/>
      <p:bldP spid="45"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3-REJA</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Fotonik hisoblash (Photonic Computing)</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M15 · Kelajak avlod sun'iy intellekt hisoblash tizimlari va istiqbolli texnologiyalar</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14</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e87ecdb5a0ebb08f.jpg"/>
          <p:cNvPicPr>
            <a:picLocks noChangeAspect="1"/>
          </p:cNvPicPr>
          <p:nvPr/>
        </p:nvPicPr>
        <p:blipFill>
          <a:blip r:embed="rId2"/>
          <a:srcRect l="1171" r="1171"/>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André Karwath aka Aka · Wikimedia Commons · CC BY-SA 2.5</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2568868"/>
            <a:ext cx="6750000" cy="244226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2648868"/>
            <a:ext cx="50000" cy="228226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359000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1" name="TextBox 30"/>
          <p:cNvSpPr txBox="1"/>
          <p:nvPr/>
        </p:nvSpPr>
        <p:spPr>
          <a:xfrm>
            <a:off x="1300000" y="2608868"/>
            <a:ext cx="5900000" cy="2362264"/>
          </a:xfrm>
          <a:prstGeom prst="rect">
            <a:avLst/>
          </a:prstGeom>
          <a:noFill/>
        </p:spPr>
        <p:txBody>
          <a:bodyPr wrap="square" anchor="ctr">
            <a:spAutoFit/>
          </a:bodyPr>
          <a:lstStyle/>
          <a:p>
            <a:r>
              <a:rPr sz="1500" b="1">
                <a:solidFill>
                  <a:srgbClr val="E8EEFA"/>
                </a:solidFill>
                <a:latin typeface="Segoe UI"/>
              </a:rPr>
              <a:t>Fotonik SI tezlatkichlari g'oyasi oddiy: chiziqli algebra — matritsa-vektor ko'paytirish — yorug'lik interferensiyasi orqali amalga oshiriladi.</a:t>
            </a:r>
          </a:p>
          <a:p>
            <a:pPr>
              <a:spcBef>
                <a:spcPts val="400"/>
              </a:spcBef>
            </a:pPr>
            <a:r>
              <a:rPr sz="1400">
                <a:solidFill>
                  <a:srgbClr val="AEBBD9"/>
                </a:solidFill>
                <a:latin typeface="Segoe UI"/>
              </a:rPr>
              <a:t>Shen va boshq. (2017) MIT da Mach-Zender interferometrlari (MZI) to'ri yordamida istalgan unitar matritsani optik tarzda ifodalash mumkinligini ko'rsatdi; bunday to'rda ko'paytirish yorug'likning chipdan o'tish vaqtida (pikosekundlar) va deyarli issiqliksiz bajariladi, energiya faqat lazer, modulyatorlar va fotodetektorlarga ketadi.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3-REJA</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Fotonik hisoblash (Photonic Computing)</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M15 · Kelajak avlod sun'iy intellekt hisoblash tizimlari va istiqbolli texnologiyalar</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15</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dc795e4eb7c0b0f9.jpg"/>
          <p:cNvPicPr>
            <a:picLocks noChangeAspect="1"/>
          </p:cNvPicPr>
          <p:nvPr/>
        </p:nvPicPr>
        <p:blipFill>
          <a:blip r:embed="rId2"/>
          <a:srcRect l="18248" r="18248"/>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Idaho National Laboratory · Wikimedia Commons · CC BY 2.0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2568868"/>
            <a:ext cx="6750000" cy="244226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2648868"/>
            <a:ext cx="50000" cy="22822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3590000"/>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1" name="TextBox 30"/>
          <p:cNvSpPr txBox="1"/>
          <p:nvPr/>
        </p:nvSpPr>
        <p:spPr>
          <a:xfrm>
            <a:off x="1300000" y="2608868"/>
            <a:ext cx="5900000" cy="2362264"/>
          </a:xfrm>
          <a:prstGeom prst="rect">
            <a:avLst/>
          </a:prstGeom>
          <a:noFill/>
        </p:spPr>
        <p:txBody>
          <a:bodyPr wrap="square" anchor="ctr">
            <a:spAutoFit/>
          </a:bodyPr>
          <a:lstStyle/>
          <a:p>
            <a:r>
              <a:rPr sz="1500" b="1">
                <a:solidFill>
                  <a:srgbClr val="E8EEFA"/>
                </a:solidFill>
                <a:latin typeface="Segoe UI"/>
              </a:rPr>
              <a:t>Tijorat holati: Lightmatter kompaniyasi Envise fotonik tezlatkichi va Passage optik interkonnektini ishlab chiqdi va 2024-yilda 4 milliard dollardan ortiq baholandi; Lightelligence, Celestial AI va boshqalar ham shu yo'nalishda.</a:t>
            </a:r>
          </a:p>
          <a:p>
            <a:pPr>
              <a:spcBef>
                <a:spcPts val="400"/>
              </a:spcBef>
            </a:pPr>
            <a:r>
              <a:rPr sz="1400">
                <a:solidFill>
                  <a:srgbClr val="AEBBD9"/>
                </a:solidFill>
                <a:latin typeface="Segoe UI"/>
              </a:rPr>
              <a:t>Muhim kuzatuv: fotonikaning eng tez tijoratlashayotgan qo'llanilishi hisoblashning o'zi emas, balki interkonnekt — chiplar va raflar orasida ma'lumotni optik uzatish (co-packaged optics), chunki aynan ma'lumot harakati energiya devorining asosiy qismi.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3-REJA</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Fotonik hisoblash (Photonic Computing)</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M15 · Kelajak avlod sun'iy intellekt hisoblash tizimlari va istiqbolli texnologiyalar</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16</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0e43d4784e59c9c8.jpg"/>
          <p:cNvPicPr>
            <a:picLocks noChangeAspect="1"/>
          </p:cNvPicPr>
          <p:nvPr/>
        </p:nvPicPr>
        <p:blipFill>
          <a:blip r:embed="rId2"/>
          <a:srcRect l="23199" r="23199"/>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Niftyfiftycat · Wikimedia Commons · CC BY-SA 4.0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2820328"/>
            <a:ext cx="6750000" cy="193934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2900328"/>
            <a:ext cx="50000" cy="1779344"/>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3590000"/>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1" name="TextBox 30"/>
          <p:cNvSpPr txBox="1"/>
          <p:nvPr/>
        </p:nvSpPr>
        <p:spPr>
          <a:xfrm>
            <a:off x="1300000" y="2860328"/>
            <a:ext cx="5900000" cy="1859344"/>
          </a:xfrm>
          <a:prstGeom prst="rect">
            <a:avLst/>
          </a:prstGeom>
          <a:noFill/>
        </p:spPr>
        <p:txBody>
          <a:bodyPr wrap="square" anchor="ctr">
            <a:spAutoFit/>
          </a:bodyPr>
          <a:lstStyle/>
          <a:p>
            <a:r>
              <a:rPr sz="1600" b="0">
                <a:solidFill>
                  <a:srgbClr val="E8EEFA"/>
                </a:solidFill>
                <a:latin typeface="Segoe UI"/>
              </a:rPr>
              <a:t>Fotonik hisoblashning cheklovlari: analog aniqlik (odatda 4–8 bit samarali), nochiziqli faollashtirish funksiyalari uchun elektr domeniga qaytish zarurati (elektro-optik konvertatsiya energiya va kechikish qo'shadi), haroratga sezgirlik va ishlab chiqarish…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00000" y="5040000"/>
            <a:ext cx="1666666"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00000" y="5833333"/>
            <a:ext cx="1666666"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733333" y="5380000"/>
            <a:ext cx="1666667"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733333" y="5833333"/>
            <a:ext cx="1666667"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c634ee3afb43311d.jpg"/>
          <p:cNvPicPr>
            <a:picLocks noChangeAspect="1"/>
          </p:cNvPicPr>
          <p:nvPr/>
        </p:nvPicPr>
        <p:blipFill>
          <a:blip r:embed="rId2"/>
          <a:srcRect l="14324" r="14324"/>
          <a:stretch>
            <a:fillRect/>
          </a:stretch>
        </p:blipFill>
        <p:spPr>
          <a:xfrm>
            <a:off x="6300000" y="800000"/>
            <a:ext cx="5300000" cy="4950000"/>
          </a:xfrm>
          <a:prstGeom prst="roundRect">
            <a:avLst/>
          </a:prstGeom>
          <a:ln w="19050">
            <a:solidFill>
              <a:srgbClr val="22D3EE"/>
            </a:solidFill>
          </a:ln>
        </p:spPr>
      </p:pic>
      <p:sp>
        <p:nvSpPr>
          <p:cNvPr id="40" name="TextBox 39"/>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Grendelkhan · Wikimedia Commons · CC BY-SA 4.0</a:t>
            </a:r>
          </a:p>
        </p:txBody>
      </p:sp>
      <p:sp>
        <p:nvSpPr>
          <p:cNvPr id="41" name="TextBox 40"/>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04</a:t>
            </a:r>
          </a:p>
        </p:txBody>
      </p:sp>
      <p:sp>
        <p:nvSpPr>
          <p:cNvPr id="42" name="TextBox 41"/>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REJA BANDI</a:t>
            </a:r>
          </a:p>
        </p:txBody>
      </p:sp>
      <p:sp>
        <p:nvSpPr>
          <p:cNvPr id="43" name="TextBox 42"/>
          <p:cNvSpPr txBox="1"/>
          <p:nvPr/>
        </p:nvSpPr>
        <p:spPr>
          <a:xfrm>
            <a:off x="600000" y="2650000"/>
            <a:ext cx="5400000" cy="1800000"/>
          </a:xfrm>
          <a:prstGeom prst="rect">
            <a:avLst/>
          </a:prstGeom>
          <a:noFill/>
        </p:spPr>
        <p:txBody>
          <a:bodyPr wrap="square" anchor="t" lIns="50800" rIns="50800">
            <a:spAutoFit/>
          </a:bodyPr>
          <a:lstStyle/>
          <a:p>
            <a:pPr algn="l"/>
            <a:r>
              <a:rPr sz="2600" b="1">
                <a:solidFill>
                  <a:srgbClr val="E8EEFA"/>
                </a:solidFill>
                <a:latin typeface="Segoe UI"/>
              </a:rPr>
              <a:t>Yashil sun'iy intellekt (Green AI) konsepsiyasi</a:t>
            </a:r>
          </a:p>
        </p:txBody>
      </p:sp>
      <p:sp>
        <p:nvSpPr>
          <p:cNvPr id="44" name="Rectangle 43"/>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150"/>
                            </p:stCondLst>
                            <p:childTnLst>
                              <p:par>
                                <p:cTn id="144" presetID="53" presetClass="entr" presetSubtype="16"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anim calcmode="lin" valueType="num">
                                      <p:cBhvr additive="base">
                                        <p:cTn id="147" dur="550" fill="hold"/>
                                        <p:tgtEl>
                                          <p:spTgt spid="38"/>
                                        </p:tgtEl>
                                        <p:attrNameLst>
                                          <p:attrName>ppt_w</p:attrName>
                                        </p:attrNameLst>
                                      </p:cBhvr>
                                      <p:tavLst>
                                        <p:tav tm="0">
                                          <p:val>
                                            <p:strVal val="0"/>
                                          </p:val>
                                        </p:tav>
                                        <p:tav tm="100000">
                                          <p:val>
                                            <p:strVal val="#ppt_w"/>
                                          </p:val>
                                        </p:tav>
                                      </p:tavLst>
                                    </p:anim>
                                    <p:anim calcmode="lin" valueType="num">
                                      <p:cBhvr additive="base">
                                        <p:cTn id="148" dur="550" fill="hold"/>
                                        <p:tgtEl>
                                          <p:spTgt spid="38"/>
                                        </p:tgtEl>
                                        <p:attrNameLst>
                                          <p:attrName>ppt_h</p:attrName>
                                        </p:attrNameLst>
                                      </p:cBhvr>
                                      <p:tavLst>
                                        <p:tav tm="0">
                                          <p:val>
                                            <p:strVal val="0"/>
                                          </p:val>
                                        </p:tav>
                                        <p:tav tm="100000">
                                          <p:val>
                                            <p:strVal val="#ppt_h"/>
                                          </p:val>
                                        </p:tav>
                                      </p:tavLst>
                                    </p:anim>
                                  </p:childTnLst>
                                </p:cTn>
                              </p:par>
                            </p:childTnLst>
                          </p:cTn>
                        </p:par>
                        <p:par>
                          <p:cTn id="149" fill="hold">
                            <p:stCondLst>
                              <p:cond delay="150"/>
                            </p:stCondLst>
                            <p:childTnLst>
                              <p:par>
                                <p:cTn id="150" presetID="53" presetClass="entr" presetSubtype="16" fill="hold" grpId="0" nodeType="afterEffect">
                                  <p:stCondLst>
                                    <p:cond delay="0"/>
                                  </p:stCondLst>
                                  <p:childTnLst>
                                    <p:set>
                                      <p:cBhvr>
                                        <p:cTn id="151" dur="1" fill="hold">
                                          <p:stCondLst>
                                            <p:cond delay="0"/>
                                          </p:stCondLst>
                                        </p:cTn>
                                        <p:tgtEl>
                                          <p:spTgt spid="39"/>
                                        </p:tgtEl>
                                        <p:attrNameLst>
                                          <p:attrName>style.visibility</p:attrName>
                                        </p:attrNameLst>
                                      </p:cBhvr>
                                      <p:to>
                                        <p:strVal val="visible"/>
                                      </p:to>
                                    </p:set>
                                    <p:animEffect transition="in" filter="fade">
                                      <p:cBhvr>
                                        <p:cTn id="152" dur="550"/>
                                        <p:tgtEl>
                                          <p:spTgt spid="39"/>
                                        </p:tgtEl>
                                      </p:cBhvr>
                                    </p:animEffect>
                                    <p:anim calcmode="lin" valueType="num">
                                      <p:cBhvr additive="base">
                                        <p:cTn id="153" dur="550" fill="hold"/>
                                        <p:tgtEl>
                                          <p:spTgt spid="39"/>
                                        </p:tgtEl>
                                        <p:attrNameLst>
                                          <p:attrName>ppt_w</p:attrName>
                                        </p:attrNameLst>
                                      </p:cBhvr>
                                      <p:tavLst>
                                        <p:tav tm="0">
                                          <p:val>
                                            <p:strVal val="0"/>
                                          </p:val>
                                        </p:tav>
                                        <p:tav tm="100000">
                                          <p:val>
                                            <p:strVal val="#ppt_w"/>
                                          </p:val>
                                        </p:tav>
                                      </p:tavLst>
                                    </p:anim>
                                    <p:anim calcmode="lin" valueType="num">
                                      <p:cBhvr additive="base">
                                        <p:cTn id="154" dur="550" fill="hold"/>
                                        <p:tgtEl>
                                          <p:spTgt spid="39"/>
                                        </p:tgtEl>
                                        <p:attrNameLst>
                                          <p:attrName>ppt_h</p:attrName>
                                        </p:attrNameLst>
                                      </p:cBhvr>
                                      <p:tavLst>
                                        <p:tav tm="0">
                                          <p:val>
                                            <p:strVal val="0"/>
                                          </p:val>
                                        </p:tav>
                                        <p:tav tm="100000">
                                          <p:val>
                                            <p:strVal val="#ppt_h"/>
                                          </p:val>
                                        </p:tav>
                                      </p:tavLst>
                                    </p:anim>
                                  </p:childTnLst>
                                </p:cTn>
                              </p:par>
                            </p:childTnLst>
                          </p:cTn>
                        </p:par>
                        <p:par>
                          <p:cTn id="155" fill="hold">
                            <p:stCondLst>
                              <p:cond delay="150"/>
                            </p:stCondLst>
                            <p:childTnLst>
                              <p:par>
                                <p:cTn id="156" presetID="10" presetClass="entr" presetSubtype="0" fill="hold" grpId="0" nodeType="afterEffect">
                                  <p:stCondLst>
                                    <p:cond delay="0"/>
                                  </p:stCondLst>
                                  <p:childTnLst>
                                    <p:set>
                                      <p:cBhvr>
                                        <p:cTn id="157" dur="1" fill="hold">
                                          <p:stCondLst>
                                            <p:cond delay="0"/>
                                          </p:stCondLst>
                                        </p:cTn>
                                        <p:tgtEl>
                                          <p:spTgt spid="40"/>
                                        </p:tgtEl>
                                        <p:attrNameLst>
                                          <p:attrName>style.visibility</p:attrName>
                                        </p:attrNameLst>
                                      </p:cBhvr>
                                      <p:to>
                                        <p:strVal val="visible"/>
                                      </p:to>
                                    </p:set>
                                    <p:animEffect transition="in" filter="fade">
                                      <p:cBhvr>
                                        <p:cTn id="158" dur="550"/>
                                        <p:tgtEl>
                                          <p:spTgt spid="40"/>
                                        </p:tgtEl>
                                      </p:cBhvr>
                                    </p:animEffect>
                                  </p:childTnLst>
                                </p:cTn>
                              </p:par>
                            </p:childTnLst>
                          </p:cTn>
                        </p:par>
                        <p:par>
                          <p:cTn id="159" fill="hold">
                            <p:stCondLst>
                              <p:cond delay="350"/>
                            </p:stCondLst>
                            <p:childTnLst>
                              <p:par>
                                <p:cTn id="160" presetID="53" presetClass="entr" presetSubtype="16" fill="hold" grpId="0" nodeType="afterEffect">
                                  <p:stCondLst>
                                    <p:cond delay="0"/>
                                  </p:stCondLst>
                                  <p:childTnLst>
                                    <p:set>
                                      <p:cBhvr>
                                        <p:cTn id="161" dur="1" fill="hold">
                                          <p:stCondLst>
                                            <p:cond delay="0"/>
                                          </p:stCondLst>
                                        </p:cTn>
                                        <p:tgtEl>
                                          <p:spTgt spid="41"/>
                                        </p:tgtEl>
                                        <p:attrNameLst>
                                          <p:attrName>style.visibility</p:attrName>
                                        </p:attrNameLst>
                                      </p:cBhvr>
                                      <p:to>
                                        <p:strVal val="visible"/>
                                      </p:to>
                                    </p:set>
                                    <p:animEffect transition="in" filter="fade">
                                      <p:cBhvr>
                                        <p:cTn id="162" dur="550"/>
                                        <p:tgtEl>
                                          <p:spTgt spid="41"/>
                                        </p:tgtEl>
                                      </p:cBhvr>
                                    </p:animEffect>
                                    <p:anim calcmode="lin" valueType="num">
                                      <p:cBhvr additive="base">
                                        <p:cTn id="163" dur="550" fill="hold"/>
                                        <p:tgtEl>
                                          <p:spTgt spid="41"/>
                                        </p:tgtEl>
                                        <p:attrNameLst>
                                          <p:attrName>ppt_w</p:attrName>
                                        </p:attrNameLst>
                                      </p:cBhvr>
                                      <p:tavLst>
                                        <p:tav tm="0">
                                          <p:val>
                                            <p:strVal val="0"/>
                                          </p:val>
                                        </p:tav>
                                        <p:tav tm="100000">
                                          <p:val>
                                            <p:strVal val="#ppt_w"/>
                                          </p:val>
                                        </p:tav>
                                      </p:tavLst>
                                    </p:anim>
                                    <p:anim calcmode="lin" valueType="num">
                                      <p:cBhvr additive="base">
                                        <p:cTn id="164" dur="550" fill="hold"/>
                                        <p:tgtEl>
                                          <p:spTgt spid="41"/>
                                        </p:tgtEl>
                                        <p:attrNameLst>
                                          <p:attrName>ppt_h</p:attrName>
                                        </p:attrNameLst>
                                      </p:cBhvr>
                                      <p:tavLst>
                                        <p:tav tm="0">
                                          <p:val>
                                            <p:strVal val="0"/>
                                          </p:val>
                                        </p:tav>
                                        <p:tav tm="100000">
                                          <p:val>
                                            <p:strVal val="#ppt_h"/>
                                          </p:val>
                                        </p:tav>
                                      </p:tavLst>
                                    </p:anim>
                                  </p:childTnLst>
                                </p:cTn>
                              </p:par>
                            </p:childTnLst>
                          </p:cTn>
                        </p:par>
                        <p:par>
                          <p:cTn id="165" fill="hold">
                            <p:stCondLst>
                              <p:cond delay="450"/>
                            </p:stCondLst>
                            <p:childTnLst>
                              <p:par>
                                <p:cTn id="166" presetID="10" presetClass="entr" presetSubtype="0" fill="hold" grpId="0" nodeType="afterEffect">
                                  <p:stCondLst>
                                    <p:cond delay="0"/>
                                  </p:stCondLst>
                                  <p:childTnLst>
                                    <p:set>
                                      <p:cBhvr>
                                        <p:cTn id="167" dur="1" fill="hold">
                                          <p:stCondLst>
                                            <p:cond delay="0"/>
                                          </p:stCondLst>
                                        </p:cTn>
                                        <p:tgtEl>
                                          <p:spTgt spid="42"/>
                                        </p:tgtEl>
                                        <p:attrNameLst>
                                          <p:attrName>style.visibility</p:attrName>
                                        </p:attrNameLst>
                                      </p:cBhvr>
                                      <p:to>
                                        <p:strVal val="visible"/>
                                      </p:to>
                                    </p:set>
                                    <p:animEffect transition="in" filter="fade">
                                      <p:cBhvr>
                                        <p:cTn id="168" dur="550"/>
                                        <p:tgtEl>
                                          <p:spTgt spid="42"/>
                                        </p:tgtEl>
                                      </p:cBhvr>
                                    </p:animEffect>
                                  </p:childTnLst>
                                </p:cTn>
                              </p:par>
                            </p:childTnLst>
                          </p:cTn>
                        </p:par>
                        <p:par>
                          <p:cTn id="169" fill="hold">
                            <p:stCondLst>
                              <p:cond delay="550"/>
                            </p:stCondLst>
                            <p:childTnLst>
                              <p:par>
                                <p:cTn id="170" presetID="2" presetClass="entr" presetSubtype="8" fill="hold" grpId="0" nodeType="afterEffect">
                                  <p:stCondLst>
                                    <p:cond delay="0"/>
                                  </p:stCondLst>
                                  <p:childTnLst>
                                    <p:set>
                                      <p:cBhvr>
                                        <p:cTn id="171" dur="1" fill="hold">
                                          <p:stCondLst>
                                            <p:cond delay="0"/>
                                          </p:stCondLst>
                                        </p:cTn>
                                        <p:tgtEl>
                                          <p:spTgt spid="43"/>
                                        </p:tgtEl>
                                        <p:attrNameLst>
                                          <p:attrName>style.visibility</p:attrName>
                                        </p:attrNameLst>
                                      </p:cBhvr>
                                      <p:to>
                                        <p:strVal val="visible"/>
                                      </p:to>
                                    </p:set>
                                    <p:anim calcmode="lin" valueType="num">
                                      <p:cBhvr additive="base">
                                        <p:cTn id="173" dur="550" fill="hold"/>
                                        <p:tgtEl>
                                          <p:spTgt spid="43"/>
                                        </p:tgtEl>
                                        <p:attrNameLst>
                                          <p:attrName>ppt_x</p:attrName>
                                        </p:attrNameLst>
                                      </p:cBhvr>
                                      <p:tavLst>
                                        <p:tav tm="0">
                                          <p:val>
                                            <p:strVal val="0-#ppt_w/2"/>
                                          </p:val>
                                        </p:tav>
                                        <p:tav tm="100000">
                                          <p:val>
                                            <p:strVal val="#ppt_x"/>
                                          </p:val>
                                        </p:tav>
                                      </p:tavLst>
                                    </p:anim>
                                    <p:anim calcmode="lin" valueType="num">
                                      <p:cBhvr additive="base">
                                        <p:cTn id="174" dur="550" fill="hold"/>
                                        <p:tgtEl>
                                          <p:spTgt spid="43"/>
                                        </p:tgtEl>
                                        <p:attrNameLst>
                                          <p:attrName>ppt_y</p:attrName>
                                        </p:attrNameLst>
                                      </p:cBhvr>
                                      <p:tavLst>
                                        <p:tav tm="0">
                                          <p:val>
                                            <p:strVal val="#ppt_y"/>
                                          </p:val>
                                        </p:tav>
                                        <p:tav tm="100000">
                                          <p:val>
                                            <p:strVal val="#ppt_y"/>
                                          </p:val>
                                        </p:tav>
                                      </p:tavLst>
                                    </p:anim>
                                  </p:childTnLst>
                                </p:cTn>
                              </p:par>
                            </p:childTnLst>
                          </p:cTn>
                        </p:par>
                        <p:par>
                          <p:cTn id="175" fill="hold">
                            <p:stCondLst>
                              <p:cond delay="650"/>
                            </p:stCondLst>
                            <p:childTnLst>
                              <p:par>
                                <p:cTn id="176" presetID="22" presetClass="entr" presetSubtype="8" fill="hold" grpId="0" nodeType="afterEffect">
                                  <p:stCondLst>
                                    <p:cond delay="0"/>
                                  </p:stCondLst>
                                  <p:childTnLst>
                                    <p:set>
                                      <p:cBhvr>
                                        <p:cTn id="177" dur="1" fill="hold">
                                          <p:stCondLst>
                                            <p:cond delay="0"/>
                                          </p:stCondLst>
                                        </p:cTn>
                                        <p:tgtEl>
                                          <p:spTgt spid="44"/>
                                        </p:tgtEl>
                                        <p:attrNameLst>
                                          <p:attrName>style.visibility</p:attrName>
                                        </p:attrNameLst>
                                      </p:cBhvr>
                                      <p:to>
                                        <p:strVal val="visible"/>
                                      </p:to>
                                    </p:set>
                                    <p:animEffect transition="in" filter="wipe(left)">
                                      <p:cBhvr>
                                        <p:cTn id="179" dur="8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40" grpId="0" animBg="1"/>
      <p:bldP spid="41" grpId="0" animBg="1"/>
      <p:bldP spid="42" grpId="0" animBg="1"/>
      <p:bldP spid="43" grpId="0" animBg="1"/>
      <p:bldP spid="44"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4-REJA</a:t>
            </a:r>
          </a:p>
        </p:txBody>
      </p:sp>
      <p:sp>
        <p:nvSpPr>
          <p:cNvPr id="19" name="TextBox 18"/>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Yashil sun'iy intellekt (Green AI) konsepsiyasi</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M15 · Kelajak avlod sun'iy intellekt hisoblash tizimlari va istiqbolli texnologiyalar</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18</a:t>
            </a:r>
          </a:p>
        </p:txBody>
      </p:sp>
      <p:sp>
        <p:nvSpPr>
          <p:cNvPr id="23" name="Rounded Rectangle 22"/>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3245d42fba5a5c9c.jpg"/>
          <p:cNvPicPr>
            <a:picLocks noChangeAspect="1"/>
          </p:cNvPicPr>
          <p:nvPr/>
        </p:nvPicPr>
        <p:blipFill>
          <a:blip r:embed="rId2"/>
          <a:srcRect l="18434" r="18434"/>
          <a:stretch>
            <a:fillRect/>
          </a:stretch>
        </p:blipFill>
        <p:spPr>
          <a:xfrm>
            <a:off x="7620000" y="1430000"/>
            <a:ext cx="4050000" cy="4250000"/>
          </a:xfrm>
          <a:prstGeom prst="roundRect">
            <a:avLst/>
          </a:prstGeom>
          <a:ln w="19050">
            <a:solidFill>
              <a:srgbClr val="22D3EE"/>
            </a:solidFill>
          </a:ln>
        </p:spPr>
      </p:pic>
      <p:sp>
        <p:nvSpPr>
          <p:cNvPr id="25" name="TextBox 24"/>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Argonne National Laboratory's Flickr page · Wikimedia Commons · CC BY-SA 2.0</a:t>
            </a:r>
          </a:p>
        </p:txBody>
      </p:sp>
      <p:sp>
        <p:nvSpPr>
          <p:cNvPr id="26" name="Rounded Rectangle 25"/>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7" name="Rounded Rectangle 26"/>
          <p:cNvSpPr/>
          <p:nvPr/>
        </p:nvSpPr>
        <p:spPr>
          <a:xfrm>
            <a:off x="550000" y="1996824"/>
            <a:ext cx="6750000" cy="173817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2076824"/>
            <a:ext cx="50000" cy="157817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2665912"/>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0" name="TextBox 29"/>
          <p:cNvSpPr txBox="1"/>
          <p:nvPr/>
        </p:nvSpPr>
        <p:spPr>
          <a:xfrm>
            <a:off x="1300000" y="2036824"/>
            <a:ext cx="5900000" cy="1658176"/>
          </a:xfrm>
          <a:prstGeom prst="rect">
            <a:avLst/>
          </a:prstGeom>
          <a:noFill/>
        </p:spPr>
        <p:txBody>
          <a:bodyPr wrap="square" anchor="ctr">
            <a:spAutoFit/>
          </a:bodyPr>
          <a:lstStyle/>
          <a:p>
            <a:r>
              <a:rPr sz="1500" b="1">
                <a:solidFill>
                  <a:srgbClr val="E8EEFA"/>
                </a:solidFill>
                <a:latin typeface="Segoe UI"/>
              </a:rPr>
              <a:t>«Green AI» atamasini Schwartz va hamkasblar (2020) «Red AI» — faqat aniqlikni oshirish uchun cheksiz hisoblash sarflash — ga qarshi qo'yib kiritdilar.</a:t>
            </a:r>
          </a:p>
          <a:p>
            <a:pPr>
              <a:spcBef>
                <a:spcPts val="400"/>
              </a:spcBef>
            </a:pPr>
            <a:r>
              <a:rPr sz="1400">
                <a:solidFill>
                  <a:srgbClr val="AEBBD9"/>
                </a:solidFill>
                <a:latin typeface="Segoe UI"/>
              </a:rPr>
              <a:t>Ularning taklifi: ilmiy natijalar bilan birga hisoblash narxini (FLOP, parametrlar, GPU-soat, energiya, CO₂) ham e'lon qilish va samaradorlikni birinchi darajali mezon qilish.</a:t>
            </a:r>
          </a:p>
        </p:txBody>
      </p:sp>
      <p:sp>
        <p:nvSpPr>
          <p:cNvPr id="31" name="Rounded Rectangle 30"/>
          <p:cNvSpPr/>
          <p:nvPr/>
        </p:nvSpPr>
        <p:spPr>
          <a:xfrm>
            <a:off x="550000" y="3845000"/>
            <a:ext cx="6750000" cy="173817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0000" y="3925000"/>
            <a:ext cx="50000" cy="157817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0000" y="4514088"/>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4" name="TextBox 33"/>
          <p:cNvSpPr txBox="1"/>
          <p:nvPr/>
        </p:nvSpPr>
        <p:spPr>
          <a:xfrm>
            <a:off x="1300000" y="3885000"/>
            <a:ext cx="5900000" cy="1658176"/>
          </a:xfrm>
          <a:prstGeom prst="rect">
            <a:avLst/>
          </a:prstGeom>
          <a:noFill/>
        </p:spPr>
        <p:txBody>
          <a:bodyPr wrap="square" anchor="ctr">
            <a:spAutoFit/>
          </a:bodyPr>
          <a:lstStyle/>
          <a:p>
            <a:r>
              <a:rPr sz="1400" b="0">
                <a:solidFill>
                  <a:srgbClr val="E8EEFA"/>
                </a:solidFill>
                <a:latin typeface="Segoe UI"/>
              </a:rPr>
              <a:t>Energiya va uglerod izini baholash formulasi: E = Σ(P_qurilma × t × PUE), CO₂e = E × uglerod_intensivligi, bu yerda PUE (Power Usage Effectiveness) — ma'lumot markazining umumiy iste'molining IT iste'moliga nisbati (zamonaviy giperskeyl markazlarda 1,1–1,2…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ppt_w</p:attrName>
                                        </p:attrNameLst>
                                      </p:cBhvr>
                                      <p:tavLst>
                                        <p:tav tm="0">
                                          <p:val>
                                            <p:strVal val="0"/>
                                          </p:val>
                                        </p:tav>
                                        <p:tav tm="100000">
                                          <p:val>
                                            <p:strVal val="#ppt_w"/>
                                          </p:val>
                                        </p:tav>
                                      </p:tavLst>
                                    </p:anim>
                                    <p:anim calcmode="lin" valueType="num">
                                      <p:cBhvr additive="base">
                                        <p:cTn id="23" dur="55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50"/>
                                        <p:tgtEl>
                                          <p:spTgt spid="25"/>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50"/>
                                        <p:tgtEl>
                                          <p:spTgt spid="27"/>
                                        </p:tgtEl>
                                      </p:cBhvr>
                                    </p:animEffect>
                                    <p:anim calcmode="lin" valueType="num">
                                      <p:cBhvr additive="base">
                                        <p:cTn id="36" dur="550" fill="hold"/>
                                        <p:tgtEl>
                                          <p:spTgt spid="27"/>
                                        </p:tgtEl>
                                        <p:attrNameLst>
                                          <p:attrName>ppt_x</p:attrName>
                                        </p:attrNameLst>
                                      </p:cBhvr>
                                      <p:tavLst>
                                        <p:tav tm="0">
                                          <p:val>
                                            <p:strVal val="#ppt_x"/>
                                          </p:val>
                                        </p:tav>
                                        <p:tav tm="100000">
                                          <p:val>
                                            <p:strVal val="#ppt_x"/>
                                          </p:val>
                                        </p:tav>
                                      </p:tavLst>
                                    </p:anim>
                                    <p:anim calcmode="lin" valueType="num">
                                      <p:cBhvr additive="base">
                                        <p:cTn id="37" dur="550" fill="hold"/>
                                        <p:tgtEl>
                                          <p:spTgt spid="27"/>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additive="base">
                                        <p:cTn id="42" dur="550" fill="hold"/>
                                        <p:tgtEl>
                                          <p:spTgt spid="28"/>
                                        </p:tgtEl>
                                        <p:attrNameLst>
                                          <p:attrName>ppt_x</p:attrName>
                                        </p:attrNameLst>
                                      </p:cBhvr>
                                      <p:tavLst>
                                        <p:tav tm="0">
                                          <p:val>
                                            <p:strVal val="#ppt_x"/>
                                          </p:val>
                                        </p:tav>
                                        <p:tav tm="100000">
                                          <p:val>
                                            <p:strVal val="#ppt_x"/>
                                          </p:val>
                                        </p:tav>
                                      </p:tavLst>
                                    </p:anim>
                                    <p:anim calcmode="lin" valueType="num">
                                      <p:cBhvr additive="base">
                                        <p:cTn id="43" dur="550" fill="hold"/>
                                        <p:tgtEl>
                                          <p:spTgt spid="28"/>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50"/>
                                        <p:tgtEl>
                                          <p:spTgt spid="29"/>
                                        </p:tgtEl>
                                      </p:cBhvr>
                                    </p:animEffect>
                                    <p:anim calcmode="lin" valueType="num">
                                      <p:cBhvr additive="base">
                                        <p:cTn id="48" dur="550" fill="hold"/>
                                        <p:tgtEl>
                                          <p:spTgt spid="29"/>
                                        </p:tgtEl>
                                        <p:attrNameLst>
                                          <p:attrName>ppt_w</p:attrName>
                                        </p:attrNameLst>
                                      </p:cBhvr>
                                      <p:tavLst>
                                        <p:tav tm="0">
                                          <p:val>
                                            <p:strVal val="0"/>
                                          </p:val>
                                        </p:tav>
                                        <p:tav tm="100000">
                                          <p:val>
                                            <p:strVal val="#ppt_w"/>
                                          </p:val>
                                        </p:tav>
                                      </p:tavLst>
                                    </p:anim>
                                    <p:anim calcmode="lin" valueType="num">
                                      <p:cBhvr additive="base">
                                        <p:cTn id="49" dur="550" fill="hold"/>
                                        <p:tgtEl>
                                          <p:spTgt spid="29"/>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50"/>
                                        <p:tgtEl>
                                          <p:spTgt spid="30"/>
                                        </p:tgtEl>
                                      </p:cBhvr>
                                    </p:animEffect>
                                    <p:anim calcmode="lin" valueType="num">
                                      <p:cBhvr additive="base">
                                        <p:cTn id="54" dur="550" fill="hold"/>
                                        <p:tgtEl>
                                          <p:spTgt spid="30"/>
                                        </p:tgtEl>
                                        <p:attrNameLst>
                                          <p:attrName>ppt_x</p:attrName>
                                        </p:attrNameLst>
                                      </p:cBhvr>
                                      <p:tavLst>
                                        <p:tav tm="0">
                                          <p:val>
                                            <p:strVal val="#ppt_x"/>
                                          </p:val>
                                        </p:tav>
                                        <p:tav tm="100000">
                                          <p:val>
                                            <p:strVal val="#ppt_x"/>
                                          </p:val>
                                        </p:tav>
                                      </p:tavLst>
                                    </p:anim>
                                    <p:anim calcmode="lin" valueType="num">
                                      <p:cBhvr additive="base">
                                        <p:cTn id="55" dur="550" fill="hold"/>
                                        <p:tgtEl>
                                          <p:spTgt spid="30"/>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50"/>
                                        <p:tgtEl>
                                          <p:spTgt spid="31"/>
                                        </p:tgtEl>
                                      </p:cBhvr>
                                    </p:animEffect>
                                    <p:anim calcmode="lin" valueType="num">
                                      <p:cBhvr additive="base">
                                        <p:cTn id="60" dur="550" fill="hold"/>
                                        <p:tgtEl>
                                          <p:spTgt spid="31"/>
                                        </p:tgtEl>
                                        <p:attrNameLst>
                                          <p:attrName>ppt_x</p:attrName>
                                        </p:attrNameLst>
                                      </p:cBhvr>
                                      <p:tavLst>
                                        <p:tav tm="0">
                                          <p:val>
                                            <p:strVal val="#ppt_x"/>
                                          </p:val>
                                        </p:tav>
                                        <p:tav tm="100000">
                                          <p:val>
                                            <p:strVal val="#ppt_x"/>
                                          </p:val>
                                        </p:tav>
                                      </p:tavLst>
                                    </p:anim>
                                    <p:anim calcmode="lin" valueType="num">
                                      <p:cBhvr additive="base">
                                        <p:cTn id="61" dur="550" fill="hold"/>
                                        <p:tgtEl>
                                          <p:spTgt spid="31"/>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5" dur="550"/>
                                        <p:tgtEl>
                                          <p:spTgt spid="32"/>
                                        </p:tgtEl>
                                      </p:cBhvr>
                                    </p:animEffect>
                                    <p:anim calcmode="lin" valueType="num">
                                      <p:cBhvr additive="base">
                                        <p:cTn id="66" dur="550" fill="hold"/>
                                        <p:tgtEl>
                                          <p:spTgt spid="32"/>
                                        </p:tgtEl>
                                        <p:attrNameLst>
                                          <p:attrName>ppt_x</p:attrName>
                                        </p:attrNameLst>
                                      </p:cBhvr>
                                      <p:tavLst>
                                        <p:tav tm="0">
                                          <p:val>
                                            <p:strVal val="#ppt_x"/>
                                          </p:val>
                                        </p:tav>
                                        <p:tav tm="100000">
                                          <p:val>
                                            <p:strVal val="#ppt_x"/>
                                          </p:val>
                                        </p:tav>
                                      </p:tavLst>
                                    </p:anim>
                                    <p:anim calcmode="lin" valueType="num">
                                      <p:cBhvr additive="base">
                                        <p:cTn id="67" dur="550" fill="hold"/>
                                        <p:tgtEl>
                                          <p:spTgt spid="32"/>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550"/>
                                        <p:tgtEl>
                                          <p:spTgt spid="33"/>
                                        </p:tgtEl>
                                      </p:cBhvr>
                                    </p:animEffect>
                                    <p:anim calcmode="lin" valueType="num">
                                      <p:cBhvr additive="base">
                                        <p:cTn id="72" dur="550" fill="hold"/>
                                        <p:tgtEl>
                                          <p:spTgt spid="33"/>
                                        </p:tgtEl>
                                        <p:attrNameLst>
                                          <p:attrName>ppt_w</p:attrName>
                                        </p:attrNameLst>
                                      </p:cBhvr>
                                      <p:tavLst>
                                        <p:tav tm="0">
                                          <p:val>
                                            <p:strVal val="0"/>
                                          </p:val>
                                        </p:tav>
                                        <p:tav tm="100000">
                                          <p:val>
                                            <p:strVal val="#ppt_w"/>
                                          </p:val>
                                        </p:tav>
                                      </p:tavLst>
                                    </p:anim>
                                    <p:anim calcmode="lin" valueType="num">
                                      <p:cBhvr additive="base">
                                        <p:cTn id="73" dur="550" fill="hold"/>
                                        <p:tgtEl>
                                          <p:spTgt spid="33"/>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550"/>
                                        <p:tgtEl>
                                          <p:spTgt spid="34"/>
                                        </p:tgtEl>
                                      </p:cBhvr>
                                    </p:animEffect>
                                    <p:anim calcmode="lin" valueType="num">
                                      <p:cBhvr additive="base">
                                        <p:cTn id="78" dur="550" fill="hold"/>
                                        <p:tgtEl>
                                          <p:spTgt spid="34"/>
                                        </p:tgtEl>
                                        <p:attrNameLst>
                                          <p:attrName>ppt_x</p:attrName>
                                        </p:attrNameLst>
                                      </p:cBhvr>
                                      <p:tavLst>
                                        <p:tav tm="0">
                                          <p:val>
                                            <p:strVal val="#ppt_x"/>
                                          </p:val>
                                        </p:tav>
                                        <p:tav tm="100000">
                                          <p:val>
                                            <p:strVal val="#ppt_x"/>
                                          </p:val>
                                        </p:tav>
                                      </p:tavLst>
                                    </p:anim>
                                    <p:anim calcmode="lin" valueType="num">
                                      <p:cBhvr additive="base">
                                        <p:cTn id="79" dur="550" fill="hold"/>
                                        <p:tgtEl>
                                          <p:spTgt spid="3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6" grpId="0" animBg="1"/>
      <p:bldP spid="25"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4-REJA</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Yashil sun'iy intellekt (Green AI) konsepsiyasi</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M15 · Kelajak avlod sun'iy intellekt hisoblash tizimlari va istiqbolli texnologiyalar</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19</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2849e30d2e7eb567.jpg"/>
          <p:cNvPicPr>
            <a:picLocks noChangeAspect="1"/>
          </p:cNvPicPr>
          <p:nvPr/>
        </p:nvPicPr>
        <p:blipFill>
          <a:blip r:embed="rId2"/>
          <a:srcRect l="18024" r="18024"/>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Physics Department Ateneo de Manila University · Wikimedia Commons · CC BY 2.0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2417992"/>
            <a:ext cx="6750000" cy="274401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2497992"/>
            <a:ext cx="50000" cy="2584016"/>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3590000"/>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1" name="TextBox 30"/>
          <p:cNvSpPr txBox="1"/>
          <p:nvPr/>
        </p:nvSpPr>
        <p:spPr>
          <a:xfrm>
            <a:off x="1300000" y="2457992"/>
            <a:ext cx="5900000" cy="2664016"/>
          </a:xfrm>
          <a:prstGeom prst="rect">
            <a:avLst/>
          </a:prstGeom>
          <a:noFill/>
        </p:spPr>
        <p:txBody>
          <a:bodyPr wrap="square" anchor="ctr">
            <a:spAutoFit/>
          </a:bodyPr>
          <a:lstStyle/>
          <a:p>
            <a:r>
              <a:rPr sz="1700" b="1">
                <a:solidFill>
                  <a:srgbClr val="E8EEFA"/>
                </a:solidFill>
                <a:latin typeface="Segoe UI"/>
              </a:rPr>
              <a:t>Green AI ning muhandislik vositalari: M8 da ko'rilgan kvantlash, siyraklashtirish va distillash (energiya sarfini 2–10 baravar kamaytiradi); samarali arxitekturalar (Mixture-of-Experts — har token uchun parametrlarning faqat bir qismi faol); o'qitish…</a:t>
            </a:r>
          </a:p>
          <a:p>
            <a:pPr>
              <a:spcBef>
                <a:spcPts val="400"/>
              </a:spcBef>
            </a:pPr>
            <a:r>
              <a:rPr sz="1600">
                <a:solidFill>
                  <a:srgbClr val="AEBBD9"/>
                </a:solidFill>
                <a:latin typeface="Segoe UI"/>
              </a:rPr>
              <a:t>Metrikalar: samarali ish yuklama uchun TOPS/Vt, o'qitish uchun model aniqligiga erishish uchun jami kVt·soat, Green500 ro'yxatidagi GFLOPS/Vt.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00000" y="5833333"/>
            <a:ext cx="1666666"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066666" y="504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066666" y="572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733333" y="5040000"/>
            <a:ext cx="1666667"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733333" y="5266666"/>
            <a:ext cx="1666667"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33333" y="5380000"/>
            <a:ext cx="1666667"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733333" y="5833333"/>
            <a:ext cx="1666667"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c3d02c4532fdfd6a.jpg"/>
          <p:cNvPicPr>
            <a:picLocks noChangeAspect="1"/>
          </p:cNvPicPr>
          <p:nvPr/>
        </p:nvPicPr>
        <p:blipFill>
          <a:blip r:embed="rId2"/>
          <a:srcRect l="12258" r="12258"/>
          <a:stretch>
            <a:fillRect/>
          </a:stretch>
        </p:blipFill>
        <p:spPr>
          <a:xfrm>
            <a:off x="6300000" y="800000"/>
            <a:ext cx="5300000" cy="4950000"/>
          </a:xfrm>
          <a:prstGeom prst="roundRect">
            <a:avLst/>
          </a:prstGeom>
          <a:ln w="19050">
            <a:solidFill>
              <a:srgbClr val="22D3EE"/>
            </a:solidFill>
          </a:ln>
        </p:spPr>
      </p:pic>
      <p:sp>
        <p:nvSpPr>
          <p:cNvPr id="41" name="TextBox 40"/>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Lawrence Livermore National Laboratory · Wikimedia Commons · Public domain</a:t>
            </a:r>
          </a:p>
        </p:txBody>
      </p:sp>
      <p:sp>
        <p:nvSpPr>
          <p:cNvPr id="42" name="TextBox 41"/>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05</a:t>
            </a:r>
          </a:p>
        </p:txBody>
      </p:sp>
      <p:sp>
        <p:nvSpPr>
          <p:cNvPr id="43" name="TextBox 42"/>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REJA BANDI</a:t>
            </a:r>
          </a:p>
        </p:txBody>
      </p:sp>
      <p:sp>
        <p:nvSpPr>
          <p:cNvPr id="44" name="TextBox 43"/>
          <p:cNvSpPr txBox="1"/>
          <p:nvPr/>
        </p:nvSpPr>
        <p:spPr>
          <a:xfrm>
            <a:off x="600000" y="2650000"/>
            <a:ext cx="5400000" cy="1800000"/>
          </a:xfrm>
          <a:prstGeom prst="rect">
            <a:avLst/>
          </a:prstGeom>
          <a:noFill/>
        </p:spPr>
        <p:txBody>
          <a:bodyPr wrap="square" anchor="t" lIns="50800" rIns="50800">
            <a:spAutoFit/>
          </a:bodyPr>
          <a:lstStyle/>
          <a:p>
            <a:pPr algn="l"/>
            <a:r>
              <a:rPr sz="2600" b="1">
                <a:solidFill>
                  <a:srgbClr val="E8EEFA"/>
                </a:solidFill>
                <a:latin typeface="Segoe UI"/>
              </a:rPr>
              <a:t>Sun'iy intellekt superkompyuterlari va kelajak tezlatkichlari</a:t>
            </a:r>
          </a:p>
        </p:txBody>
      </p:sp>
      <p:sp>
        <p:nvSpPr>
          <p:cNvPr id="45" name="Rectangle 44"/>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84"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150"/>
                            </p:stCondLst>
                            <p:childTnLst>
                              <p:par>
                                <p:cTn id="148" presetID="53" presetClass="entr" presetSubtype="16"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anim calcmode="lin" valueType="num">
                                      <p:cBhvr additive="base">
                                        <p:cTn id="151" dur="550" fill="hold"/>
                                        <p:tgtEl>
                                          <p:spTgt spid="39"/>
                                        </p:tgtEl>
                                        <p:attrNameLst>
                                          <p:attrName>ppt_w</p:attrName>
                                        </p:attrNameLst>
                                      </p:cBhvr>
                                      <p:tavLst>
                                        <p:tav tm="0">
                                          <p:val>
                                            <p:strVal val="0"/>
                                          </p:val>
                                        </p:tav>
                                        <p:tav tm="100000">
                                          <p:val>
                                            <p:strVal val="#ppt_w"/>
                                          </p:val>
                                        </p:tav>
                                      </p:tavLst>
                                    </p:anim>
                                    <p:anim calcmode="lin" valueType="num">
                                      <p:cBhvr additive="base">
                                        <p:cTn id="152" dur="550" fill="hold"/>
                                        <p:tgtEl>
                                          <p:spTgt spid="39"/>
                                        </p:tgtEl>
                                        <p:attrNameLst>
                                          <p:attrName>ppt_h</p:attrName>
                                        </p:attrNameLst>
                                      </p:cBhvr>
                                      <p:tavLst>
                                        <p:tav tm="0">
                                          <p:val>
                                            <p:strVal val="0"/>
                                          </p:val>
                                        </p:tav>
                                        <p:tav tm="100000">
                                          <p:val>
                                            <p:strVal val="#ppt_h"/>
                                          </p:val>
                                        </p:tav>
                                      </p:tavLst>
                                    </p:anim>
                                  </p:childTnLst>
                                </p:cTn>
                              </p:par>
                            </p:childTnLst>
                          </p:cTn>
                        </p:par>
                        <p:par>
                          <p:cTn id="153" fill="hold">
                            <p:stCondLst>
                              <p:cond delay="150"/>
                            </p:stCondLst>
                            <p:childTnLst>
                              <p:par>
                                <p:cTn id="154" presetID="53" presetClass="entr" presetSubtype="16" fill="hold" grpId="0" nodeType="afterEffect">
                                  <p:stCondLst>
                                    <p:cond delay="0"/>
                                  </p:stCondLst>
                                  <p:childTnLst>
                                    <p:set>
                                      <p:cBhvr>
                                        <p:cTn id="155" dur="1" fill="hold">
                                          <p:stCondLst>
                                            <p:cond delay="0"/>
                                          </p:stCondLst>
                                        </p:cTn>
                                        <p:tgtEl>
                                          <p:spTgt spid="40"/>
                                        </p:tgtEl>
                                        <p:attrNameLst>
                                          <p:attrName>style.visibility</p:attrName>
                                        </p:attrNameLst>
                                      </p:cBhvr>
                                      <p:to>
                                        <p:strVal val="visible"/>
                                      </p:to>
                                    </p:set>
                                    <p:animEffect transition="in" filter="fade">
                                      <p:cBhvr>
                                        <p:cTn id="156" dur="550"/>
                                        <p:tgtEl>
                                          <p:spTgt spid="40"/>
                                        </p:tgtEl>
                                      </p:cBhvr>
                                    </p:animEffect>
                                    <p:anim calcmode="lin" valueType="num">
                                      <p:cBhvr additive="base">
                                        <p:cTn id="157" dur="550" fill="hold"/>
                                        <p:tgtEl>
                                          <p:spTgt spid="40"/>
                                        </p:tgtEl>
                                        <p:attrNameLst>
                                          <p:attrName>ppt_w</p:attrName>
                                        </p:attrNameLst>
                                      </p:cBhvr>
                                      <p:tavLst>
                                        <p:tav tm="0">
                                          <p:val>
                                            <p:strVal val="0"/>
                                          </p:val>
                                        </p:tav>
                                        <p:tav tm="100000">
                                          <p:val>
                                            <p:strVal val="#ppt_w"/>
                                          </p:val>
                                        </p:tav>
                                      </p:tavLst>
                                    </p:anim>
                                    <p:anim calcmode="lin" valueType="num">
                                      <p:cBhvr additive="base">
                                        <p:cTn id="158" dur="550" fill="hold"/>
                                        <p:tgtEl>
                                          <p:spTgt spid="40"/>
                                        </p:tgtEl>
                                        <p:attrNameLst>
                                          <p:attrName>ppt_h</p:attrName>
                                        </p:attrNameLst>
                                      </p:cBhvr>
                                      <p:tavLst>
                                        <p:tav tm="0">
                                          <p:val>
                                            <p:strVal val="0"/>
                                          </p:val>
                                        </p:tav>
                                        <p:tav tm="100000">
                                          <p:val>
                                            <p:strVal val="#ppt_h"/>
                                          </p:val>
                                        </p:tav>
                                      </p:tavLst>
                                    </p:anim>
                                  </p:childTnLst>
                                </p:cTn>
                              </p:par>
                            </p:childTnLst>
                          </p:cTn>
                        </p:par>
                        <p:par>
                          <p:cTn id="159" fill="hold">
                            <p:stCondLst>
                              <p:cond delay="150"/>
                            </p:stCondLst>
                            <p:childTnLst>
                              <p:par>
                                <p:cTn id="160" presetID="10" presetClass="entr" presetSubtype="0" fill="hold" grpId="0" nodeType="afterEffect">
                                  <p:stCondLst>
                                    <p:cond delay="0"/>
                                  </p:stCondLst>
                                  <p:childTnLst>
                                    <p:set>
                                      <p:cBhvr>
                                        <p:cTn id="161" dur="1" fill="hold">
                                          <p:stCondLst>
                                            <p:cond delay="0"/>
                                          </p:stCondLst>
                                        </p:cTn>
                                        <p:tgtEl>
                                          <p:spTgt spid="41"/>
                                        </p:tgtEl>
                                        <p:attrNameLst>
                                          <p:attrName>style.visibility</p:attrName>
                                        </p:attrNameLst>
                                      </p:cBhvr>
                                      <p:to>
                                        <p:strVal val="visible"/>
                                      </p:to>
                                    </p:set>
                                    <p:animEffect transition="in" filter="fade">
                                      <p:cBhvr>
                                        <p:cTn id="162" dur="550"/>
                                        <p:tgtEl>
                                          <p:spTgt spid="41"/>
                                        </p:tgtEl>
                                      </p:cBhvr>
                                    </p:animEffect>
                                  </p:childTnLst>
                                </p:cTn>
                              </p:par>
                            </p:childTnLst>
                          </p:cTn>
                        </p:par>
                        <p:par>
                          <p:cTn id="163" fill="hold">
                            <p:stCondLst>
                              <p:cond delay="350"/>
                            </p:stCondLst>
                            <p:childTnLst>
                              <p:par>
                                <p:cTn id="164" presetID="53" presetClass="entr" presetSubtype="16" fill="hold" grpId="0" nodeType="afterEffect">
                                  <p:stCondLst>
                                    <p:cond delay="0"/>
                                  </p:stCondLst>
                                  <p:childTnLst>
                                    <p:set>
                                      <p:cBhvr>
                                        <p:cTn id="165" dur="1" fill="hold">
                                          <p:stCondLst>
                                            <p:cond delay="0"/>
                                          </p:stCondLst>
                                        </p:cTn>
                                        <p:tgtEl>
                                          <p:spTgt spid="42"/>
                                        </p:tgtEl>
                                        <p:attrNameLst>
                                          <p:attrName>style.visibility</p:attrName>
                                        </p:attrNameLst>
                                      </p:cBhvr>
                                      <p:to>
                                        <p:strVal val="visible"/>
                                      </p:to>
                                    </p:set>
                                    <p:animEffect transition="in" filter="fade">
                                      <p:cBhvr>
                                        <p:cTn id="166" dur="550"/>
                                        <p:tgtEl>
                                          <p:spTgt spid="42"/>
                                        </p:tgtEl>
                                      </p:cBhvr>
                                    </p:animEffect>
                                    <p:anim calcmode="lin" valueType="num">
                                      <p:cBhvr additive="base">
                                        <p:cTn id="167" dur="550" fill="hold"/>
                                        <p:tgtEl>
                                          <p:spTgt spid="42"/>
                                        </p:tgtEl>
                                        <p:attrNameLst>
                                          <p:attrName>ppt_w</p:attrName>
                                        </p:attrNameLst>
                                      </p:cBhvr>
                                      <p:tavLst>
                                        <p:tav tm="0">
                                          <p:val>
                                            <p:strVal val="0"/>
                                          </p:val>
                                        </p:tav>
                                        <p:tav tm="100000">
                                          <p:val>
                                            <p:strVal val="#ppt_w"/>
                                          </p:val>
                                        </p:tav>
                                      </p:tavLst>
                                    </p:anim>
                                    <p:anim calcmode="lin" valueType="num">
                                      <p:cBhvr additive="base">
                                        <p:cTn id="168" dur="550" fill="hold"/>
                                        <p:tgtEl>
                                          <p:spTgt spid="42"/>
                                        </p:tgtEl>
                                        <p:attrNameLst>
                                          <p:attrName>ppt_h</p:attrName>
                                        </p:attrNameLst>
                                      </p:cBhvr>
                                      <p:tavLst>
                                        <p:tav tm="0">
                                          <p:val>
                                            <p:strVal val="0"/>
                                          </p:val>
                                        </p:tav>
                                        <p:tav tm="100000">
                                          <p:val>
                                            <p:strVal val="#ppt_h"/>
                                          </p:val>
                                        </p:tav>
                                      </p:tavLst>
                                    </p:anim>
                                  </p:childTnLst>
                                </p:cTn>
                              </p:par>
                            </p:childTnLst>
                          </p:cTn>
                        </p:par>
                        <p:par>
                          <p:cTn id="169" fill="hold">
                            <p:stCondLst>
                              <p:cond delay="450"/>
                            </p:stCondLst>
                            <p:childTnLst>
                              <p:par>
                                <p:cTn id="170" presetID="10" presetClass="entr" presetSubtype="0" fill="hold" grpId="0" nodeType="afterEffect">
                                  <p:stCondLst>
                                    <p:cond delay="0"/>
                                  </p:stCondLst>
                                  <p:childTnLst>
                                    <p:set>
                                      <p:cBhvr>
                                        <p:cTn id="171" dur="1" fill="hold">
                                          <p:stCondLst>
                                            <p:cond delay="0"/>
                                          </p:stCondLst>
                                        </p:cTn>
                                        <p:tgtEl>
                                          <p:spTgt spid="43"/>
                                        </p:tgtEl>
                                        <p:attrNameLst>
                                          <p:attrName>style.visibility</p:attrName>
                                        </p:attrNameLst>
                                      </p:cBhvr>
                                      <p:to>
                                        <p:strVal val="visible"/>
                                      </p:to>
                                    </p:set>
                                    <p:animEffect transition="in" filter="fade">
                                      <p:cBhvr>
                                        <p:cTn id="172" dur="550"/>
                                        <p:tgtEl>
                                          <p:spTgt spid="43"/>
                                        </p:tgtEl>
                                      </p:cBhvr>
                                    </p:animEffect>
                                  </p:childTnLst>
                                </p:cTn>
                              </p:par>
                            </p:childTnLst>
                          </p:cTn>
                        </p:par>
                        <p:par>
                          <p:cTn id="173" fill="hold">
                            <p:stCondLst>
                              <p:cond delay="550"/>
                            </p:stCondLst>
                            <p:childTnLst>
                              <p:par>
                                <p:cTn id="174" presetID="2" presetClass="entr" presetSubtype="8" fill="hold" grpId="0" nodeType="afterEffect">
                                  <p:stCondLst>
                                    <p:cond delay="0"/>
                                  </p:stCondLst>
                                  <p:childTnLst>
                                    <p:set>
                                      <p:cBhvr>
                                        <p:cTn id="175" dur="1" fill="hold">
                                          <p:stCondLst>
                                            <p:cond delay="0"/>
                                          </p:stCondLst>
                                        </p:cTn>
                                        <p:tgtEl>
                                          <p:spTgt spid="44"/>
                                        </p:tgtEl>
                                        <p:attrNameLst>
                                          <p:attrName>style.visibility</p:attrName>
                                        </p:attrNameLst>
                                      </p:cBhvr>
                                      <p:to>
                                        <p:strVal val="visible"/>
                                      </p:to>
                                    </p:set>
                                    <p:anim calcmode="lin" valueType="num">
                                      <p:cBhvr additive="base">
                                        <p:cTn id="177" dur="550" fill="hold"/>
                                        <p:tgtEl>
                                          <p:spTgt spid="44"/>
                                        </p:tgtEl>
                                        <p:attrNameLst>
                                          <p:attrName>ppt_x</p:attrName>
                                        </p:attrNameLst>
                                      </p:cBhvr>
                                      <p:tavLst>
                                        <p:tav tm="0">
                                          <p:val>
                                            <p:strVal val="0-#ppt_w/2"/>
                                          </p:val>
                                        </p:tav>
                                        <p:tav tm="100000">
                                          <p:val>
                                            <p:strVal val="#ppt_x"/>
                                          </p:val>
                                        </p:tav>
                                      </p:tavLst>
                                    </p:anim>
                                    <p:anim calcmode="lin" valueType="num">
                                      <p:cBhvr additive="base">
                                        <p:cTn id="178" dur="550" fill="hold"/>
                                        <p:tgtEl>
                                          <p:spTgt spid="44"/>
                                        </p:tgtEl>
                                        <p:attrNameLst>
                                          <p:attrName>ppt_y</p:attrName>
                                        </p:attrNameLst>
                                      </p:cBhvr>
                                      <p:tavLst>
                                        <p:tav tm="0">
                                          <p:val>
                                            <p:strVal val="#ppt_y"/>
                                          </p:val>
                                        </p:tav>
                                        <p:tav tm="100000">
                                          <p:val>
                                            <p:strVal val="#ppt_y"/>
                                          </p:val>
                                        </p:tav>
                                      </p:tavLst>
                                    </p:anim>
                                  </p:childTnLst>
                                </p:cTn>
                              </p:par>
                            </p:childTnLst>
                          </p:cTn>
                        </p:par>
                        <p:par>
                          <p:cTn id="179" fill="hold">
                            <p:stCondLst>
                              <p:cond delay="650"/>
                            </p:stCondLst>
                            <p:childTnLst>
                              <p:par>
                                <p:cTn id="180" presetID="22" presetClass="entr" presetSubtype="8" fill="hold" grpId="0" nodeType="afterEffect">
                                  <p:stCondLst>
                                    <p:cond delay="0"/>
                                  </p:stCondLst>
                                  <p:childTnLst>
                                    <p:set>
                                      <p:cBhvr>
                                        <p:cTn id="181" dur="1" fill="hold">
                                          <p:stCondLst>
                                            <p:cond delay="0"/>
                                          </p:stCondLst>
                                        </p:cTn>
                                        <p:tgtEl>
                                          <p:spTgt spid="45"/>
                                        </p:tgtEl>
                                        <p:attrNameLst>
                                          <p:attrName>style.visibility</p:attrName>
                                        </p:attrNameLst>
                                      </p:cBhvr>
                                      <p:to>
                                        <p:strVal val="visible"/>
                                      </p:to>
                                    </p:set>
                                    <p:animEffect transition="in" filter="wipe(left)">
                                      <p:cBhvr>
                                        <p:cTn id="183" dur="8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1" grpId="0" animBg="1"/>
      <p:bldP spid="42" grpId="0" animBg="1"/>
      <p:bldP spid="43" grpId="0" animBg="1"/>
      <p:bldP spid="44" grpId="0" animBg="1"/>
      <p:bldP spid="45"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5-REJA</a:t>
            </a:r>
          </a:p>
        </p:txBody>
      </p:sp>
      <p:sp>
        <p:nvSpPr>
          <p:cNvPr id="23" name="TextBox 22"/>
          <p:cNvSpPr txBox="1"/>
          <p:nvPr/>
        </p:nvSpPr>
        <p:spPr>
          <a:xfrm>
            <a:off x="500000" y="400000"/>
            <a:ext cx="9800000" cy="650000"/>
          </a:xfrm>
          <a:prstGeom prst="rect">
            <a:avLst/>
          </a:prstGeom>
          <a:noFill/>
        </p:spPr>
        <p:txBody>
          <a:bodyPr wrap="square" anchor="ctr" lIns="50800" rIns="50800">
            <a:spAutoFit/>
          </a:bodyPr>
          <a:lstStyle/>
          <a:p>
            <a:pPr algn="l"/>
            <a:r>
              <a:rPr sz="2100" b="1">
                <a:solidFill>
                  <a:srgbClr val="E8EEFA"/>
                </a:solidFill>
                <a:latin typeface="Segoe UI"/>
              </a:rPr>
              <a:t>Sun'iy intellekt superkompyuterlari va kelajak tezlatkichlari</a:t>
            </a:r>
          </a:p>
        </p:txBody>
      </p:sp>
      <p:sp>
        <p:nvSpPr>
          <p:cNvPr id="24" name="Rectangle 23"/>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M15 · Kelajak avlod sun'iy intellekt hisoblash tizimlari va istiqbolli texnologiyalar</a:t>
            </a:r>
          </a:p>
        </p:txBody>
      </p:sp>
      <p:sp>
        <p:nvSpPr>
          <p:cNvPr id="26" name="Rounded Rectangle 25"/>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21</a:t>
            </a:r>
          </a:p>
        </p:txBody>
      </p:sp>
      <p:sp>
        <p:nvSpPr>
          <p:cNvPr id="27" name="Rounded Rectangle 26"/>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e348030a72849322.jpg"/>
          <p:cNvPicPr>
            <a:picLocks noChangeAspect="1"/>
          </p:cNvPicPr>
          <p:nvPr/>
        </p:nvPicPr>
        <p:blipFill>
          <a:blip r:embed="rId2"/>
          <a:srcRect t="15034" b="15034"/>
          <a:stretch>
            <a:fillRect/>
          </a:stretch>
        </p:blipFill>
        <p:spPr>
          <a:xfrm>
            <a:off x="7620000" y="1430000"/>
            <a:ext cx="4050000" cy="4250000"/>
          </a:xfrm>
          <a:prstGeom prst="roundRect">
            <a:avLst/>
          </a:prstGeom>
          <a:ln w="19050">
            <a:solidFill>
              <a:srgbClr val="22D3EE"/>
            </a:solidFill>
          </a:ln>
        </p:spPr>
      </p:pic>
      <p:sp>
        <p:nvSpPr>
          <p:cNvPr id="29" name="TextBox 28"/>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Ragsxl · Wikimedia Commons · CC BY-SA 4.0</a:t>
            </a:r>
          </a:p>
        </p:txBody>
      </p:sp>
      <p:sp>
        <p:nvSpPr>
          <p:cNvPr id="30" name="Rounded Rectangle 29"/>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31" name="Rounded Rectangle 30"/>
          <p:cNvSpPr/>
          <p:nvPr/>
        </p:nvSpPr>
        <p:spPr>
          <a:xfrm>
            <a:off x="550000" y="2451520"/>
            <a:ext cx="6750000" cy="2676960"/>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0000" y="2531520"/>
            <a:ext cx="50000" cy="251696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0000" y="359000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4" name="TextBox 33"/>
          <p:cNvSpPr txBox="1"/>
          <p:nvPr/>
        </p:nvSpPr>
        <p:spPr>
          <a:xfrm>
            <a:off x="1300000" y="2491520"/>
            <a:ext cx="5900000" cy="2596960"/>
          </a:xfrm>
          <a:prstGeom prst="rect">
            <a:avLst/>
          </a:prstGeom>
          <a:noFill/>
        </p:spPr>
        <p:txBody>
          <a:bodyPr wrap="square" anchor="ctr">
            <a:spAutoFit/>
          </a:bodyPr>
          <a:lstStyle/>
          <a:p>
            <a:r>
              <a:rPr sz="1500" b="1">
                <a:solidFill>
                  <a:srgbClr val="E8EEFA"/>
                </a:solidFill>
                <a:latin typeface="Segoe UI"/>
              </a:rPr>
              <a:t>Zamonaviy SI superkompyuterlari ikki sinfga bo'linadi.</a:t>
            </a:r>
          </a:p>
          <a:p>
            <a:pPr>
              <a:spcBef>
                <a:spcPts val="400"/>
              </a:spcBef>
            </a:pPr>
            <a:r>
              <a:rPr sz="1400">
                <a:solidFill>
                  <a:srgbClr val="AEBBD9"/>
                </a:solidFill>
                <a:latin typeface="Segoe UI"/>
              </a:rPr>
              <a:t>Davlat ilmiy eksaflops tizimlari: Frontier (ORNL, 2022, AMD MI250X, HPL 1,2 eksaflops), Aurora (Argonne, Intel Ponte Vecchio), El Capitan (LLNL, 2024-yil noyabridan TOP500 birinchisi, AMD MI300A APU, HPL 1,74 eksaflops, ~30 MVt) va Yevropaning birinchi eksaflops tizimi JUPITER (Yulix, 2025, NVIDIA Grace Hopper, modulli arxitektura). Ularning SI uchun muhim ko'rsatkichi HPL emas, balki aralash aniqlikdagi HPL-MxP: El Capitan da u 16 eksaflopsdan oshadi.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3"/>
                                        </p:tgtEl>
                                        <p:attrNameLst>
                                          <p:attrName>style.visibility</p:attrName>
                                        </p:attrNameLst>
                                      </p:cBhvr>
                                      <p:to>
                                        <p:strVal val="visible"/>
                                      </p:to>
                                    </p:set>
                                    <p:animEffect transition="in" filter="fade">
                                      <p:cBhvr>
                                        <p:cTn id="6" dur="550"/>
                                        <p:tgtEl>
                                          <p:spTgt spid="2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left)">
                                      <p:cBhvr>
                                        <p:cTn id="11" dur="800"/>
                                        <p:tgtEl>
                                          <p:spTgt spid="24"/>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50"/>
                                        <p:tgtEl>
                                          <p:spTgt spid="27"/>
                                        </p:tgtEl>
                                      </p:cBhvr>
                                    </p:animEffect>
                                    <p:anim calcmode="lin" valueType="num">
                                      <p:cBhvr additive="base">
                                        <p:cTn id="16" dur="550" fill="hold"/>
                                        <p:tgtEl>
                                          <p:spTgt spid="27"/>
                                        </p:tgtEl>
                                        <p:attrNameLst>
                                          <p:attrName>ppt_w</p:attrName>
                                        </p:attrNameLst>
                                      </p:cBhvr>
                                      <p:tavLst>
                                        <p:tav tm="0">
                                          <p:val>
                                            <p:strVal val="0"/>
                                          </p:val>
                                        </p:tav>
                                        <p:tav tm="100000">
                                          <p:val>
                                            <p:strVal val="#ppt_w"/>
                                          </p:val>
                                        </p:tav>
                                      </p:tavLst>
                                    </p:anim>
                                    <p:anim calcmode="lin" valueType="num">
                                      <p:cBhvr additive="base">
                                        <p:cTn id="17" dur="550" fill="hold"/>
                                        <p:tgtEl>
                                          <p:spTgt spid="27"/>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50"/>
                                        <p:tgtEl>
                                          <p:spTgt spid="28"/>
                                        </p:tgtEl>
                                      </p:cBhvr>
                                    </p:animEffect>
                                    <p:anim calcmode="lin" valueType="num">
                                      <p:cBhvr additive="base">
                                        <p:cTn id="22" dur="550" fill="hold"/>
                                        <p:tgtEl>
                                          <p:spTgt spid="28"/>
                                        </p:tgtEl>
                                        <p:attrNameLst>
                                          <p:attrName>ppt_w</p:attrName>
                                        </p:attrNameLst>
                                      </p:cBhvr>
                                      <p:tavLst>
                                        <p:tav tm="0">
                                          <p:val>
                                            <p:strVal val="0"/>
                                          </p:val>
                                        </p:tav>
                                        <p:tav tm="100000">
                                          <p:val>
                                            <p:strVal val="#ppt_w"/>
                                          </p:val>
                                        </p:tav>
                                      </p:tavLst>
                                    </p:anim>
                                    <p:anim calcmode="lin" valueType="num">
                                      <p:cBhvr additive="base">
                                        <p:cTn id="23" dur="550" fill="hold"/>
                                        <p:tgtEl>
                                          <p:spTgt spid="28"/>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50"/>
                                        <p:tgtEl>
                                          <p:spTgt spid="30"/>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550"/>
                                        <p:tgtEl>
                                          <p:spTgt spid="29"/>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550"/>
                                        <p:tgtEl>
                                          <p:spTgt spid="31"/>
                                        </p:tgtEl>
                                      </p:cBhvr>
                                    </p:animEffect>
                                    <p:anim calcmode="lin" valueType="num">
                                      <p:cBhvr additive="base">
                                        <p:cTn id="36" dur="550" fill="hold"/>
                                        <p:tgtEl>
                                          <p:spTgt spid="31"/>
                                        </p:tgtEl>
                                        <p:attrNameLst>
                                          <p:attrName>ppt_x</p:attrName>
                                        </p:attrNameLst>
                                      </p:cBhvr>
                                      <p:tavLst>
                                        <p:tav tm="0">
                                          <p:val>
                                            <p:strVal val="#ppt_x"/>
                                          </p:val>
                                        </p:tav>
                                        <p:tav tm="100000">
                                          <p:val>
                                            <p:strVal val="#ppt_x"/>
                                          </p:val>
                                        </p:tav>
                                      </p:tavLst>
                                    </p:anim>
                                    <p:anim calcmode="lin" valueType="num">
                                      <p:cBhvr additive="base">
                                        <p:cTn id="37" dur="550" fill="hold"/>
                                        <p:tgtEl>
                                          <p:spTgt spid="31"/>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fade">
                                      <p:cBhvr>
                                        <p:cTn id="41" dur="550"/>
                                        <p:tgtEl>
                                          <p:spTgt spid="32"/>
                                        </p:tgtEl>
                                      </p:cBhvr>
                                    </p:animEffect>
                                    <p:anim calcmode="lin" valueType="num">
                                      <p:cBhvr additive="base">
                                        <p:cTn id="42" dur="550" fill="hold"/>
                                        <p:tgtEl>
                                          <p:spTgt spid="32"/>
                                        </p:tgtEl>
                                        <p:attrNameLst>
                                          <p:attrName>ppt_x</p:attrName>
                                        </p:attrNameLst>
                                      </p:cBhvr>
                                      <p:tavLst>
                                        <p:tav tm="0">
                                          <p:val>
                                            <p:strVal val="#ppt_x"/>
                                          </p:val>
                                        </p:tav>
                                        <p:tav tm="100000">
                                          <p:val>
                                            <p:strVal val="#ppt_x"/>
                                          </p:val>
                                        </p:tav>
                                      </p:tavLst>
                                    </p:anim>
                                    <p:anim calcmode="lin" valueType="num">
                                      <p:cBhvr additive="base">
                                        <p:cTn id="43" dur="550" fill="hold"/>
                                        <p:tgtEl>
                                          <p:spTgt spid="32"/>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550"/>
                                        <p:tgtEl>
                                          <p:spTgt spid="33"/>
                                        </p:tgtEl>
                                      </p:cBhvr>
                                    </p:animEffect>
                                    <p:anim calcmode="lin" valueType="num">
                                      <p:cBhvr additive="base">
                                        <p:cTn id="48" dur="550" fill="hold"/>
                                        <p:tgtEl>
                                          <p:spTgt spid="33"/>
                                        </p:tgtEl>
                                        <p:attrNameLst>
                                          <p:attrName>ppt_w</p:attrName>
                                        </p:attrNameLst>
                                      </p:cBhvr>
                                      <p:tavLst>
                                        <p:tav tm="0">
                                          <p:val>
                                            <p:strVal val="0"/>
                                          </p:val>
                                        </p:tav>
                                        <p:tav tm="100000">
                                          <p:val>
                                            <p:strVal val="#ppt_w"/>
                                          </p:val>
                                        </p:tav>
                                      </p:tavLst>
                                    </p:anim>
                                    <p:anim calcmode="lin" valueType="num">
                                      <p:cBhvr additive="base">
                                        <p:cTn id="49" dur="550" fill="hold"/>
                                        <p:tgtEl>
                                          <p:spTgt spid="33"/>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fade">
                                      <p:cBhvr>
                                        <p:cTn id="53" dur="550"/>
                                        <p:tgtEl>
                                          <p:spTgt spid="34"/>
                                        </p:tgtEl>
                                      </p:cBhvr>
                                    </p:animEffect>
                                    <p:anim calcmode="lin" valueType="num">
                                      <p:cBhvr additive="base">
                                        <p:cTn id="54" dur="550" fill="hold"/>
                                        <p:tgtEl>
                                          <p:spTgt spid="34"/>
                                        </p:tgtEl>
                                        <p:attrNameLst>
                                          <p:attrName>ppt_x</p:attrName>
                                        </p:attrNameLst>
                                      </p:cBhvr>
                                      <p:tavLst>
                                        <p:tav tm="0">
                                          <p:val>
                                            <p:strVal val="#ppt_x"/>
                                          </p:val>
                                        </p:tav>
                                        <p:tav tm="100000">
                                          <p:val>
                                            <p:strVal val="#ppt_x"/>
                                          </p:val>
                                        </p:tav>
                                      </p:tavLst>
                                    </p:anim>
                                    <p:anim calcmode="lin" valueType="num">
                                      <p:cBhvr additive="base">
                                        <p:cTn id="55" dur="550" fill="hold"/>
                                        <p:tgtEl>
                                          <p:spTgt spid="3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7" grpId="0" animBg="1"/>
      <p:bldP spid="30" grpId="0" animBg="1"/>
      <p:bldP spid="29" grpId="0" animBg="1"/>
      <p:bldP spid="31" grpId="0" animBg="1"/>
      <p:bldP spid="32" grpId="0" animBg="1"/>
      <p:bldP spid="33" grpId="0" animBg="1"/>
      <p:bldP spid="34"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5-REJA</a:t>
            </a:r>
          </a:p>
        </p:txBody>
      </p:sp>
      <p:sp>
        <p:nvSpPr>
          <p:cNvPr id="19" name="TextBox 18"/>
          <p:cNvSpPr txBox="1"/>
          <p:nvPr/>
        </p:nvSpPr>
        <p:spPr>
          <a:xfrm>
            <a:off x="500000" y="400000"/>
            <a:ext cx="9800000" cy="650000"/>
          </a:xfrm>
          <a:prstGeom prst="rect">
            <a:avLst/>
          </a:prstGeom>
          <a:noFill/>
        </p:spPr>
        <p:txBody>
          <a:bodyPr wrap="square" anchor="ctr" lIns="50800" rIns="50800">
            <a:spAutoFit/>
          </a:bodyPr>
          <a:lstStyle/>
          <a:p>
            <a:pPr algn="l"/>
            <a:r>
              <a:rPr sz="2100" b="1">
                <a:solidFill>
                  <a:srgbClr val="E8EEFA"/>
                </a:solidFill>
                <a:latin typeface="Segoe UI"/>
              </a:rPr>
              <a:t>Sun'iy intellekt superkompyuterlari va kelajak tezlatkichlari</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M15 · Kelajak avlod sun'iy intellekt hisoblash tizimlari va istiqbolli texnologiyalar</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22</a:t>
            </a:r>
          </a:p>
        </p:txBody>
      </p:sp>
      <p:sp>
        <p:nvSpPr>
          <p:cNvPr id="23" name="Rounded Rectangle 22"/>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e87ecdb5a0ebb08f.jpg"/>
          <p:cNvPicPr>
            <a:picLocks noChangeAspect="1"/>
          </p:cNvPicPr>
          <p:nvPr/>
        </p:nvPicPr>
        <p:blipFill>
          <a:blip r:embed="rId2"/>
          <a:srcRect l="1171" r="1171"/>
          <a:stretch>
            <a:fillRect/>
          </a:stretch>
        </p:blipFill>
        <p:spPr>
          <a:xfrm>
            <a:off x="7620000" y="1430000"/>
            <a:ext cx="4050000" cy="4250000"/>
          </a:xfrm>
          <a:prstGeom prst="roundRect">
            <a:avLst/>
          </a:prstGeom>
          <a:ln w="19050">
            <a:solidFill>
              <a:srgbClr val="22D3EE"/>
            </a:solidFill>
          </a:ln>
        </p:spPr>
      </p:pic>
      <p:sp>
        <p:nvSpPr>
          <p:cNvPr id="25" name="TextBox 24"/>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André Karwath aka Aka · Wikimedia Commons · CC BY-SA 2.5</a:t>
            </a:r>
          </a:p>
        </p:txBody>
      </p:sp>
      <p:sp>
        <p:nvSpPr>
          <p:cNvPr id="26" name="Rounded Rectangle 25"/>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7" name="Rounded Rectangle 26"/>
          <p:cNvSpPr/>
          <p:nvPr/>
        </p:nvSpPr>
        <p:spPr>
          <a:xfrm>
            <a:off x="550000" y="1527432"/>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1607432"/>
            <a:ext cx="50000" cy="20475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2431216"/>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0" name="TextBox 29"/>
          <p:cNvSpPr txBox="1"/>
          <p:nvPr/>
        </p:nvSpPr>
        <p:spPr>
          <a:xfrm>
            <a:off x="1300000" y="1567432"/>
            <a:ext cx="5900000" cy="2127568"/>
          </a:xfrm>
          <a:prstGeom prst="rect">
            <a:avLst/>
          </a:prstGeom>
          <a:noFill/>
        </p:spPr>
        <p:txBody>
          <a:bodyPr wrap="square" anchor="ctr">
            <a:spAutoFit/>
          </a:bodyPr>
          <a:lstStyle/>
          <a:p>
            <a:r>
              <a:rPr sz="1500" b="1">
                <a:solidFill>
                  <a:srgbClr val="E8EEFA"/>
                </a:solidFill>
                <a:latin typeface="Segoe UI"/>
              </a:rPr>
              <a:t>Tijorat SI klasterlari: xAI Colossus (100–200 ming H100/H200), Meta ning ikkita 24 ming H100 li klasteri (2024) va Microsoft/OpenAI/Oracle/SoftBank ning 2025-yil yanvarida e'lon qilingan Stargate loyihasi (500 milliard dollar, bir necha gigavatt).</a:t>
            </a:r>
          </a:p>
          <a:p>
            <a:pPr>
              <a:spcBef>
                <a:spcPts val="400"/>
              </a:spcBef>
            </a:pPr>
            <a:r>
              <a:rPr sz="1400">
                <a:solidFill>
                  <a:srgbClr val="AEBBD9"/>
                </a:solidFill>
                <a:latin typeface="Segoe UI"/>
              </a:rPr>
              <a:t>2024-yildagi Green500 yetakchisi JEDI (JUPITER ning sinov moduli, Grace Hopper) 72,7 GFLOPS/Vt ko'rsatdi — 2014-yilgi eng samarali tizimdan taxminan 15 baravar yuqori.</a:t>
            </a:r>
          </a:p>
        </p:txBody>
      </p:sp>
      <p:sp>
        <p:nvSpPr>
          <p:cNvPr id="31" name="Rounded Rectangle 30"/>
          <p:cNvSpPr/>
          <p:nvPr/>
        </p:nvSpPr>
        <p:spPr>
          <a:xfrm>
            <a:off x="550000" y="3845000"/>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0000" y="3925000"/>
            <a:ext cx="50000" cy="2047568"/>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0000" y="4748784"/>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4" name="TextBox 33"/>
          <p:cNvSpPr txBox="1"/>
          <p:nvPr/>
        </p:nvSpPr>
        <p:spPr>
          <a:xfrm>
            <a:off x="1300000" y="3885000"/>
            <a:ext cx="5900000" cy="2127568"/>
          </a:xfrm>
          <a:prstGeom prst="rect">
            <a:avLst/>
          </a:prstGeom>
          <a:noFill/>
        </p:spPr>
        <p:txBody>
          <a:bodyPr wrap="square" anchor="ctr">
            <a:spAutoFit/>
          </a:bodyPr>
          <a:lstStyle/>
          <a:p>
            <a:r>
              <a:rPr sz="1400" b="0">
                <a:solidFill>
                  <a:srgbClr val="E8EEFA"/>
                </a:solidFill>
                <a:latin typeface="Segoe UI"/>
              </a:rPr>
              <a:t>Bu tizimlarning arxitekturaviy tendensiyalari: CPU va GPU ning yagona paketda birlashishi (Grace Hopper, MI300A) va HBM3e xotirasi (H200 da 141 GB, 4,8 TB/s); rafdan tashqari masshtablanadigan NVLink domenlari (GB200 NVL72 — 72 GPU bitta xotira makonida, 130…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ppt_w</p:attrName>
                                        </p:attrNameLst>
                                      </p:cBhvr>
                                      <p:tavLst>
                                        <p:tav tm="0">
                                          <p:val>
                                            <p:strVal val="0"/>
                                          </p:val>
                                        </p:tav>
                                        <p:tav tm="100000">
                                          <p:val>
                                            <p:strVal val="#ppt_w"/>
                                          </p:val>
                                        </p:tav>
                                      </p:tavLst>
                                    </p:anim>
                                    <p:anim calcmode="lin" valueType="num">
                                      <p:cBhvr additive="base">
                                        <p:cTn id="23" dur="55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50"/>
                                        <p:tgtEl>
                                          <p:spTgt spid="25"/>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50"/>
                                        <p:tgtEl>
                                          <p:spTgt spid="27"/>
                                        </p:tgtEl>
                                      </p:cBhvr>
                                    </p:animEffect>
                                    <p:anim calcmode="lin" valueType="num">
                                      <p:cBhvr additive="base">
                                        <p:cTn id="36" dur="550" fill="hold"/>
                                        <p:tgtEl>
                                          <p:spTgt spid="27"/>
                                        </p:tgtEl>
                                        <p:attrNameLst>
                                          <p:attrName>ppt_x</p:attrName>
                                        </p:attrNameLst>
                                      </p:cBhvr>
                                      <p:tavLst>
                                        <p:tav tm="0">
                                          <p:val>
                                            <p:strVal val="#ppt_x"/>
                                          </p:val>
                                        </p:tav>
                                        <p:tav tm="100000">
                                          <p:val>
                                            <p:strVal val="#ppt_x"/>
                                          </p:val>
                                        </p:tav>
                                      </p:tavLst>
                                    </p:anim>
                                    <p:anim calcmode="lin" valueType="num">
                                      <p:cBhvr additive="base">
                                        <p:cTn id="37" dur="550" fill="hold"/>
                                        <p:tgtEl>
                                          <p:spTgt spid="27"/>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additive="base">
                                        <p:cTn id="42" dur="550" fill="hold"/>
                                        <p:tgtEl>
                                          <p:spTgt spid="28"/>
                                        </p:tgtEl>
                                        <p:attrNameLst>
                                          <p:attrName>ppt_x</p:attrName>
                                        </p:attrNameLst>
                                      </p:cBhvr>
                                      <p:tavLst>
                                        <p:tav tm="0">
                                          <p:val>
                                            <p:strVal val="#ppt_x"/>
                                          </p:val>
                                        </p:tav>
                                        <p:tav tm="100000">
                                          <p:val>
                                            <p:strVal val="#ppt_x"/>
                                          </p:val>
                                        </p:tav>
                                      </p:tavLst>
                                    </p:anim>
                                    <p:anim calcmode="lin" valueType="num">
                                      <p:cBhvr additive="base">
                                        <p:cTn id="43" dur="550" fill="hold"/>
                                        <p:tgtEl>
                                          <p:spTgt spid="28"/>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50"/>
                                        <p:tgtEl>
                                          <p:spTgt spid="29"/>
                                        </p:tgtEl>
                                      </p:cBhvr>
                                    </p:animEffect>
                                    <p:anim calcmode="lin" valueType="num">
                                      <p:cBhvr additive="base">
                                        <p:cTn id="48" dur="550" fill="hold"/>
                                        <p:tgtEl>
                                          <p:spTgt spid="29"/>
                                        </p:tgtEl>
                                        <p:attrNameLst>
                                          <p:attrName>ppt_w</p:attrName>
                                        </p:attrNameLst>
                                      </p:cBhvr>
                                      <p:tavLst>
                                        <p:tav tm="0">
                                          <p:val>
                                            <p:strVal val="0"/>
                                          </p:val>
                                        </p:tav>
                                        <p:tav tm="100000">
                                          <p:val>
                                            <p:strVal val="#ppt_w"/>
                                          </p:val>
                                        </p:tav>
                                      </p:tavLst>
                                    </p:anim>
                                    <p:anim calcmode="lin" valueType="num">
                                      <p:cBhvr additive="base">
                                        <p:cTn id="49" dur="550" fill="hold"/>
                                        <p:tgtEl>
                                          <p:spTgt spid="29"/>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50"/>
                                        <p:tgtEl>
                                          <p:spTgt spid="30"/>
                                        </p:tgtEl>
                                      </p:cBhvr>
                                    </p:animEffect>
                                    <p:anim calcmode="lin" valueType="num">
                                      <p:cBhvr additive="base">
                                        <p:cTn id="54" dur="550" fill="hold"/>
                                        <p:tgtEl>
                                          <p:spTgt spid="30"/>
                                        </p:tgtEl>
                                        <p:attrNameLst>
                                          <p:attrName>ppt_x</p:attrName>
                                        </p:attrNameLst>
                                      </p:cBhvr>
                                      <p:tavLst>
                                        <p:tav tm="0">
                                          <p:val>
                                            <p:strVal val="#ppt_x"/>
                                          </p:val>
                                        </p:tav>
                                        <p:tav tm="100000">
                                          <p:val>
                                            <p:strVal val="#ppt_x"/>
                                          </p:val>
                                        </p:tav>
                                      </p:tavLst>
                                    </p:anim>
                                    <p:anim calcmode="lin" valueType="num">
                                      <p:cBhvr additive="base">
                                        <p:cTn id="55" dur="550" fill="hold"/>
                                        <p:tgtEl>
                                          <p:spTgt spid="30"/>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50"/>
                                        <p:tgtEl>
                                          <p:spTgt spid="31"/>
                                        </p:tgtEl>
                                      </p:cBhvr>
                                    </p:animEffect>
                                    <p:anim calcmode="lin" valueType="num">
                                      <p:cBhvr additive="base">
                                        <p:cTn id="60" dur="550" fill="hold"/>
                                        <p:tgtEl>
                                          <p:spTgt spid="31"/>
                                        </p:tgtEl>
                                        <p:attrNameLst>
                                          <p:attrName>ppt_x</p:attrName>
                                        </p:attrNameLst>
                                      </p:cBhvr>
                                      <p:tavLst>
                                        <p:tav tm="0">
                                          <p:val>
                                            <p:strVal val="#ppt_x"/>
                                          </p:val>
                                        </p:tav>
                                        <p:tav tm="100000">
                                          <p:val>
                                            <p:strVal val="#ppt_x"/>
                                          </p:val>
                                        </p:tav>
                                      </p:tavLst>
                                    </p:anim>
                                    <p:anim calcmode="lin" valueType="num">
                                      <p:cBhvr additive="base">
                                        <p:cTn id="61" dur="550" fill="hold"/>
                                        <p:tgtEl>
                                          <p:spTgt spid="31"/>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5" dur="550"/>
                                        <p:tgtEl>
                                          <p:spTgt spid="32"/>
                                        </p:tgtEl>
                                      </p:cBhvr>
                                    </p:animEffect>
                                    <p:anim calcmode="lin" valueType="num">
                                      <p:cBhvr additive="base">
                                        <p:cTn id="66" dur="550" fill="hold"/>
                                        <p:tgtEl>
                                          <p:spTgt spid="32"/>
                                        </p:tgtEl>
                                        <p:attrNameLst>
                                          <p:attrName>ppt_x</p:attrName>
                                        </p:attrNameLst>
                                      </p:cBhvr>
                                      <p:tavLst>
                                        <p:tav tm="0">
                                          <p:val>
                                            <p:strVal val="#ppt_x"/>
                                          </p:val>
                                        </p:tav>
                                        <p:tav tm="100000">
                                          <p:val>
                                            <p:strVal val="#ppt_x"/>
                                          </p:val>
                                        </p:tav>
                                      </p:tavLst>
                                    </p:anim>
                                    <p:anim calcmode="lin" valueType="num">
                                      <p:cBhvr additive="base">
                                        <p:cTn id="67" dur="550" fill="hold"/>
                                        <p:tgtEl>
                                          <p:spTgt spid="32"/>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550"/>
                                        <p:tgtEl>
                                          <p:spTgt spid="33"/>
                                        </p:tgtEl>
                                      </p:cBhvr>
                                    </p:animEffect>
                                    <p:anim calcmode="lin" valueType="num">
                                      <p:cBhvr additive="base">
                                        <p:cTn id="72" dur="550" fill="hold"/>
                                        <p:tgtEl>
                                          <p:spTgt spid="33"/>
                                        </p:tgtEl>
                                        <p:attrNameLst>
                                          <p:attrName>ppt_w</p:attrName>
                                        </p:attrNameLst>
                                      </p:cBhvr>
                                      <p:tavLst>
                                        <p:tav tm="0">
                                          <p:val>
                                            <p:strVal val="0"/>
                                          </p:val>
                                        </p:tav>
                                        <p:tav tm="100000">
                                          <p:val>
                                            <p:strVal val="#ppt_w"/>
                                          </p:val>
                                        </p:tav>
                                      </p:tavLst>
                                    </p:anim>
                                    <p:anim calcmode="lin" valueType="num">
                                      <p:cBhvr additive="base">
                                        <p:cTn id="73" dur="550" fill="hold"/>
                                        <p:tgtEl>
                                          <p:spTgt spid="33"/>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550"/>
                                        <p:tgtEl>
                                          <p:spTgt spid="34"/>
                                        </p:tgtEl>
                                      </p:cBhvr>
                                    </p:animEffect>
                                    <p:anim calcmode="lin" valueType="num">
                                      <p:cBhvr additive="base">
                                        <p:cTn id="78" dur="550" fill="hold"/>
                                        <p:tgtEl>
                                          <p:spTgt spid="34"/>
                                        </p:tgtEl>
                                        <p:attrNameLst>
                                          <p:attrName>ppt_x</p:attrName>
                                        </p:attrNameLst>
                                      </p:cBhvr>
                                      <p:tavLst>
                                        <p:tav tm="0">
                                          <p:val>
                                            <p:strVal val="#ppt_x"/>
                                          </p:val>
                                        </p:tav>
                                        <p:tav tm="100000">
                                          <p:val>
                                            <p:strVal val="#ppt_x"/>
                                          </p:val>
                                        </p:tav>
                                      </p:tavLst>
                                    </p:anim>
                                    <p:anim calcmode="lin" valueType="num">
                                      <p:cBhvr additive="base">
                                        <p:cTn id="79" dur="550" fill="hold"/>
                                        <p:tgtEl>
                                          <p:spTgt spid="3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6" grpId="0" animBg="1"/>
      <p:bldP spid="25"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5-REJA</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100" b="1">
                <a:solidFill>
                  <a:srgbClr val="E8EEFA"/>
                </a:solidFill>
                <a:latin typeface="Segoe UI"/>
              </a:rPr>
              <a:t>Sun'iy intellekt superkompyuterlari va kelajak tezlatkichlari</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M15 · Kelajak avlod sun'iy intellekt hisoblash tizimlari va istiqbolli texnologiyalar</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23</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dc795e4eb7c0b0f9.jpg"/>
          <p:cNvPicPr>
            <a:picLocks noChangeAspect="1"/>
          </p:cNvPicPr>
          <p:nvPr/>
        </p:nvPicPr>
        <p:blipFill>
          <a:blip r:embed="rId2"/>
          <a:srcRect l="18248" r="18248"/>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Idaho National Laboratory · Wikimedia Commons · CC BY 2.0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2417992"/>
            <a:ext cx="6750000" cy="274401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2497992"/>
            <a:ext cx="50000" cy="2584016"/>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3590000"/>
            <a:ext cx="400000" cy="40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31" name="TextBox 30"/>
          <p:cNvSpPr txBox="1"/>
          <p:nvPr/>
        </p:nvSpPr>
        <p:spPr>
          <a:xfrm>
            <a:off x="1300000" y="2457992"/>
            <a:ext cx="5900000" cy="2664016"/>
          </a:xfrm>
          <a:prstGeom prst="rect">
            <a:avLst/>
          </a:prstGeom>
          <a:noFill/>
        </p:spPr>
        <p:txBody>
          <a:bodyPr wrap="square" anchor="ctr">
            <a:spAutoFit/>
          </a:bodyPr>
          <a:lstStyle/>
          <a:p>
            <a:r>
              <a:rPr sz="1700" b="1">
                <a:solidFill>
                  <a:srgbClr val="E8EEFA"/>
                </a:solidFill>
                <a:latin typeface="Segoe UI"/>
              </a:rPr>
              <a:t>Kelajak avlod tezlatkichlari bir nechta yo'nalishda rivojlanmoqda.</a:t>
            </a:r>
          </a:p>
          <a:p>
            <a:pPr>
              <a:spcBef>
                <a:spcPts val="400"/>
              </a:spcBef>
            </a:pPr>
            <a:r>
              <a:rPr sz="1600">
                <a:solidFill>
                  <a:srgbClr val="AEBBD9"/>
                </a:solidFill>
                <a:latin typeface="Segoe UI"/>
              </a:rPr>
              <a:t>Pufak (wafer-scale) integratsiya: Cerebras WSE-3 (2024) — 46 225 mm² kremniy, 4 trillion tranzistor, 900 ming yadro, 44 GB chipda SRAM, 21 PB/s xotira o'tkazuvchanligi — xotira devorini butun modelni chipda saqlash orqali yengadi. Ma'lumot oqimli arxitekturalar: Groq LPU (deterministik, SRAM-markazli, LLM inferensida tokeniga past kechikish), SambaNova SN40L.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5-REJA</a:t>
            </a:r>
          </a:p>
        </p:txBody>
      </p:sp>
      <p:sp>
        <p:nvSpPr>
          <p:cNvPr id="23" name="TextBox 22"/>
          <p:cNvSpPr txBox="1"/>
          <p:nvPr/>
        </p:nvSpPr>
        <p:spPr>
          <a:xfrm>
            <a:off x="500000" y="400000"/>
            <a:ext cx="9800000" cy="650000"/>
          </a:xfrm>
          <a:prstGeom prst="rect">
            <a:avLst/>
          </a:prstGeom>
          <a:noFill/>
        </p:spPr>
        <p:txBody>
          <a:bodyPr wrap="square" anchor="ctr" lIns="50800" rIns="50800">
            <a:spAutoFit/>
          </a:bodyPr>
          <a:lstStyle/>
          <a:p>
            <a:pPr algn="l"/>
            <a:r>
              <a:rPr sz="2100" b="1">
                <a:solidFill>
                  <a:srgbClr val="E8EEFA"/>
                </a:solidFill>
                <a:latin typeface="Segoe UI"/>
              </a:rPr>
              <a:t>Sun'iy intellekt superkompyuterlari va kelajak tezlatkichlari</a:t>
            </a:r>
          </a:p>
        </p:txBody>
      </p:sp>
      <p:sp>
        <p:nvSpPr>
          <p:cNvPr id="24" name="Rectangle 23"/>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M15 · Kelajak avlod sun'iy intellekt hisoblash tizimlari va istiqbolli texnologiyalar</a:t>
            </a:r>
          </a:p>
        </p:txBody>
      </p:sp>
      <p:sp>
        <p:nvSpPr>
          <p:cNvPr id="26" name="Rounded Rectangle 25"/>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24</a:t>
            </a:r>
          </a:p>
        </p:txBody>
      </p:sp>
      <p:sp>
        <p:nvSpPr>
          <p:cNvPr id="27" name="Rounded Rectangle 26"/>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0e43d4784e59c9c8.jpg"/>
          <p:cNvPicPr>
            <a:picLocks noChangeAspect="1"/>
          </p:cNvPicPr>
          <p:nvPr/>
        </p:nvPicPr>
        <p:blipFill>
          <a:blip r:embed="rId2"/>
          <a:srcRect l="23199" r="23199"/>
          <a:stretch>
            <a:fillRect/>
          </a:stretch>
        </p:blipFill>
        <p:spPr>
          <a:xfrm>
            <a:off x="7620000" y="1430000"/>
            <a:ext cx="4050000" cy="4250000"/>
          </a:xfrm>
          <a:prstGeom prst="roundRect">
            <a:avLst/>
          </a:prstGeom>
          <a:ln w="19050">
            <a:solidFill>
              <a:srgbClr val="22D3EE"/>
            </a:solidFill>
          </a:ln>
        </p:spPr>
      </p:pic>
      <p:sp>
        <p:nvSpPr>
          <p:cNvPr id="29" name="TextBox 28"/>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Niftyfiftycat · Wikimedia Commons · CC BY-SA 4.0</a:t>
            </a:r>
          </a:p>
        </p:txBody>
      </p:sp>
      <p:sp>
        <p:nvSpPr>
          <p:cNvPr id="30" name="Rounded Rectangle 29"/>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31" name="Rounded Rectangle 30"/>
          <p:cNvSpPr/>
          <p:nvPr/>
        </p:nvSpPr>
        <p:spPr>
          <a:xfrm>
            <a:off x="550000" y="2451520"/>
            <a:ext cx="6750000" cy="2676960"/>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0000" y="2531520"/>
            <a:ext cx="50000" cy="2516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0000" y="3590000"/>
            <a:ext cx="400000" cy="400000"/>
          </a:xfrm>
          <a:prstGeom prst="ellipse">
            <a:avLst/>
          </a:prstGeom>
          <a:no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59E0B"/>
                </a:solidFill>
                <a:latin typeface="Segoe UI"/>
              </a:rPr>
              <a:t>05</a:t>
            </a:r>
          </a:p>
        </p:txBody>
      </p:sp>
      <p:sp>
        <p:nvSpPr>
          <p:cNvPr id="34" name="TextBox 33"/>
          <p:cNvSpPr txBox="1"/>
          <p:nvPr/>
        </p:nvSpPr>
        <p:spPr>
          <a:xfrm>
            <a:off x="1300000" y="2491520"/>
            <a:ext cx="5900000" cy="2596960"/>
          </a:xfrm>
          <a:prstGeom prst="rect">
            <a:avLst/>
          </a:prstGeom>
          <a:noFill/>
        </p:spPr>
        <p:txBody>
          <a:bodyPr wrap="square" anchor="ctr">
            <a:spAutoFit/>
          </a:bodyPr>
          <a:lstStyle/>
          <a:p>
            <a:r>
              <a:rPr sz="1500" b="1">
                <a:solidFill>
                  <a:srgbClr val="E8EEFA"/>
                </a:solidFill>
                <a:latin typeface="Segoe UI"/>
              </a:rPr>
              <a:t>Giperskeyl o'z chiplari: Google TPU v6e Trillium (2024) va TPU v7 Ironwood (2025-yil aprelida e'lon qilingan, 4 614 TFLOPS FP8, 192 GB HBM, 9 216 chipli podda 42,5 eksaflops FP8), AWS Trainium2, Microsoft Maia 100, Meta MTIA.</a:t>
            </a:r>
          </a:p>
          <a:p>
            <a:pPr>
              <a:spcBef>
                <a:spcPts val="400"/>
              </a:spcBef>
            </a:pPr>
            <a:r>
              <a:rPr sz="1400">
                <a:solidFill>
                  <a:srgbClr val="AEBBD9"/>
                </a:solidFill>
                <a:latin typeface="Segoe UI"/>
              </a:rPr>
              <a:t>NVIDIA yo'l xaritasi: Blackwell (2024–2025), Blackwell Ultra, keyin Rubin (2026) HBM4 bilan. Umumiy yo'nalish — past aniqlik formatlari (FP8, FP6, FP4 — Blackwell da FP4 20 PFLOPS gacha), siyraklik apparat qo'llovi, xotiraga yaqin hisoblash (processing-in-memory, Samsung HBM-PIM) va chipletlar.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3"/>
                                        </p:tgtEl>
                                        <p:attrNameLst>
                                          <p:attrName>style.visibility</p:attrName>
                                        </p:attrNameLst>
                                      </p:cBhvr>
                                      <p:to>
                                        <p:strVal val="visible"/>
                                      </p:to>
                                    </p:set>
                                    <p:animEffect transition="in" filter="fade">
                                      <p:cBhvr>
                                        <p:cTn id="6" dur="550"/>
                                        <p:tgtEl>
                                          <p:spTgt spid="2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left)">
                                      <p:cBhvr>
                                        <p:cTn id="11" dur="800"/>
                                        <p:tgtEl>
                                          <p:spTgt spid="24"/>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50"/>
                                        <p:tgtEl>
                                          <p:spTgt spid="27"/>
                                        </p:tgtEl>
                                      </p:cBhvr>
                                    </p:animEffect>
                                    <p:anim calcmode="lin" valueType="num">
                                      <p:cBhvr additive="base">
                                        <p:cTn id="16" dur="550" fill="hold"/>
                                        <p:tgtEl>
                                          <p:spTgt spid="27"/>
                                        </p:tgtEl>
                                        <p:attrNameLst>
                                          <p:attrName>ppt_w</p:attrName>
                                        </p:attrNameLst>
                                      </p:cBhvr>
                                      <p:tavLst>
                                        <p:tav tm="0">
                                          <p:val>
                                            <p:strVal val="0"/>
                                          </p:val>
                                        </p:tav>
                                        <p:tav tm="100000">
                                          <p:val>
                                            <p:strVal val="#ppt_w"/>
                                          </p:val>
                                        </p:tav>
                                      </p:tavLst>
                                    </p:anim>
                                    <p:anim calcmode="lin" valueType="num">
                                      <p:cBhvr additive="base">
                                        <p:cTn id="17" dur="550" fill="hold"/>
                                        <p:tgtEl>
                                          <p:spTgt spid="27"/>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50"/>
                                        <p:tgtEl>
                                          <p:spTgt spid="28"/>
                                        </p:tgtEl>
                                      </p:cBhvr>
                                    </p:animEffect>
                                    <p:anim calcmode="lin" valueType="num">
                                      <p:cBhvr additive="base">
                                        <p:cTn id="22" dur="550" fill="hold"/>
                                        <p:tgtEl>
                                          <p:spTgt spid="28"/>
                                        </p:tgtEl>
                                        <p:attrNameLst>
                                          <p:attrName>ppt_w</p:attrName>
                                        </p:attrNameLst>
                                      </p:cBhvr>
                                      <p:tavLst>
                                        <p:tav tm="0">
                                          <p:val>
                                            <p:strVal val="0"/>
                                          </p:val>
                                        </p:tav>
                                        <p:tav tm="100000">
                                          <p:val>
                                            <p:strVal val="#ppt_w"/>
                                          </p:val>
                                        </p:tav>
                                      </p:tavLst>
                                    </p:anim>
                                    <p:anim calcmode="lin" valueType="num">
                                      <p:cBhvr additive="base">
                                        <p:cTn id="23" dur="550" fill="hold"/>
                                        <p:tgtEl>
                                          <p:spTgt spid="28"/>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50"/>
                                        <p:tgtEl>
                                          <p:spTgt spid="30"/>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550"/>
                                        <p:tgtEl>
                                          <p:spTgt spid="29"/>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550"/>
                                        <p:tgtEl>
                                          <p:spTgt spid="31"/>
                                        </p:tgtEl>
                                      </p:cBhvr>
                                    </p:animEffect>
                                    <p:anim calcmode="lin" valueType="num">
                                      <p:cBhvr additive="base">
                                        <p:cTn id="36" dur="550" fill="hold"/>
                                        <p:tgtEl>
                                          <p:spTgt spid="31"/>
                                        </p:tgtEl>
                                        <p:attrNameLst>
                                          <p:attrName>ppt_x</p:attrName>
                                        </p:attrNameLst>
                                      </p:cBhvr>
                                      <p:tavLst>
                                        <p:tav tm="0">
                                          <p:val>
                                            <p:strVal val="#ppt_x"/>
                                          </p:val>
                                        </p:tav>
                                        <p:tav tm="100000">
                                          <p:val>
                                            <p:strVal val="#ppt_x"/>
                                          </p:val>
                                        </p:tav>
                                      </p:tavLst>
                                    </p:anim>
                                    <p:anim calcmode="lin" valueType="num">
                                      <p:cBhvr additive="base">
                                        <p:cTn id="37" dur="550" fill="hold"/>
                                        <p:tgtEl>
                                          <p:spTgt spid="31"/>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fade">
                                      <p:cBhvr>
                                        <p:cTn id="41" dur="550"/>
                                        <p:tgtEl>
                                          <p:spTgt spid="32"/>
                                        </p:tgtEl>
                                      </p:cBhvr>
                                    </p:animEffect>
                                    <p:anim calcmode="lin" valueType="num">
                                      <p:cBhvr additive="base">
                                        <p:cTn id="42" dur="550" fill="hold"/>
                                        <p:tgtEl>
                                          <p:spTgt spid="32"/>
                                        </p:tgtEl>
                                        <p:attrNameLst>
                                          <p:attrName>ppt_x</p:attrName>
                                        </p:attrNameLst>
                                      </p:cBhvr>
                                      <p:tavLst>
                                        <p:tav tm="0">
                                          <p:val>
                                            <p:strVal val="#ppt_x"/>
                                          </p:val>
                                        </p:tav>
                                        <p:tav tm="100000">
                                          <p:val>
                                            <p:strVal val="#ppt_x"/>
                                          </p:val>
                                        </p:tav>
                                      </p:tavLst>
                                    </p:anim>
                                    <p:anim calcmode="lin" valueType="num">
                                      <p:cBhvr additive="base">
                                        <p:cTn id="43" dur="550" fill="hold"/>
                                        <p:tgtEl>
                                          <p:spTgt spid="32"/>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550"/>
                                        <p:tgtEl>
                                          <p:spTgt spid="33"/>
                                        </p:tgtEl>
                                      </p:cBhvr>
                                    </p:animEffect>
                                    <p:anim calcmode="lin" valueType="num">
                                      <p:cBhvr additive="base">
                                        <p:cTn id="48" dur="550" fill="hold"/>
                                        <p:tgtEl>
                                          <p:spTgt spid="33"/>
                                        </p:tgtEl>
                                        <p:attrNameLst>
                                          <p:attrName>ppt_w</p:attrName>
                                        </p:attrNameLst>
                                      </p:cBhvr>
                                      <p:tavLst>
                                        <p:tav tm="0">
                                          <p:val>
                                            <p:strVal val="0"/>
                                          </p:val>
                                        </p:tav>
                                        <p:tav tm="100000">
                                          <p:val>
                                            <p:strVal val="#ppt_w"/>
                                          </p:val>
                                        </p:tav>
                                      </p:tavLst>
                                    </p:anim>
                                    <p:anim calcmode="lin" valueType="num">
                                      <p:cBhvr additive="base">
                                        <p:cTn id="49" dur="550" fill="hold"/>
                                        <p:tgtEl>
                                          <p:spTgt spid="33"/>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fade">
                                      <p:cBhvr>
                                        <p:cTn id="53" dur="550"/>
                                        <p:tgtEl>
                                          <p:spTgt spid="34"/>
                                        </p:tgtEl>
                                      </p:cBhvr>
                                    </p:animEffect>
                                    <p:anim calcmode="lin" valueType="num">
                                      <p:cBhvr additive="base">
                                        <p:cTn id="54" dur="550" fill="hold"/>
                                        <p:tgtEl>
                                          <p:spTgt spid="34"/>
                                        </p:tgtEl>
                                        <p:attrNameLst>
                                          <p:attrName>ppt_x</p:attrName>
                                        </p:attrNameLst>
                                      </p:cBhvr>
                                      <p:tavLst>
                                        <p:tav tm="0">
                                          <p:val>
                                            <p:strVal val="#ppt_x"/>
                                          </p:val>
                                        </p:tav>
                                        <p:tav tm="100000">
                                          <p:val>
                                            <p:strVal val="#ppt_x"/>
                                          </p:val>
                                        </p:tav>
                                      </p:tavLst>
                                    </p:anim>
                                    <p:anim calcmode="lin" valueType="num">
                                      <p:cBhvr additive="base">
                                        <p:cTn id="55" dur="550" fill="hold"/>
                                        <p:tgtEl>
                                          <p:spTgt spid="3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7" grpId="0" animBg="1"/>
      <p:bldP spid="30" grpId="0" animBg="1"/>
      <p:bldP spid="29" grpId="0" animBg="1"/>
      <p:bldP spid="31" grpId="0" animBg="1"/>
      <p:bldP spid="32" grpId="0" animBg="1"/>
      <p:bldP spid="33" grpId="0" animBg="1"/>
      <p:bldP spid="34"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5-REJA</a:t>
            </a:r>
          </a:p>
        </p:txBody>
      </p:sp>
      <p:sp>
        <p:nvSpPr>
          <p:cNvPr id="17" name="TextBox 16"/>
          <p:cNvSpPr txBox="1"/>
          <p:nvPr/>
        </p:nvSpPr>
        <p:spPr>
          <a:xfrm>
            <a:off x="500000" y="400000"/>
            <a:ext cx="9800000" cy="650000"/>
          </a:xfrm>
          <a:prstGeom prst="rect">
            <a:avLst/>
          </a:prstGeom>
          <a:noFill/>
        </p:spPr>
        <p:txBody>
          <a:bodyPr wrap="square" anchor="ctr" lIns="50800" rIns="50800">
            <a:spAutoFit/>
          </a:bodyPr>
          <a:lstStyle/>
          <a:p>
            <a:pPr algn="l"/>
            <a:r>
              <a:rPr sz="2100" b="1">
                <a:solidFill>
                  <a:srgbClr val="E8EEFA"/>
                </a:solidFill>
                <a:latin typeface="Segoe UI"/>
              </a:rPr>
              <a:t>Sun'iy intellekt superkompyuterlari va kelajak tezlatkichlari</a:t>
            </a:r>
          </a:p>
        </p:txBody>
      </p:sp>
      <p:sp>
        <p:nvSpPr>
          <p:cNvPr id="18" name="Rectangle 17"/>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M15 · Kelajak avlod sun'iy intellekt hisoblash tizimlari va istiqbolli texnologiyalar</a:t>
            </a:r>
          </a:p>
        </p:txBody>
      </p:sp>
      <p:sp>
        <p:nvSpPr>
          <p:cNvPr id="20" name="Rounded Rectangle 19"/>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25</a:t>
            </a:r>
          </a:p>
        </p:txBody>
      </p:sp>
      <p:graphicFrame>
        <p:nvGraphicFramePr>
          <p:cNvPr id="21" name="Table 20"/>
          <p:cNvGraphicFramePr>
            <a:graphicFrameLocks noGrp="1"/>
          </p:cNvGraphicFramePr>
          <p:nvPr/>
        </p:nvGraphicFramePr>
        <p:xfrm>
          <a:off x="550000" y="1400000"/>
          <a:ext cx="11100000" cy="3120000"/>
        </p:xfrm>
        <a:graphic>
          <a:graphicData uri="http://schemas.openxmlformats.org/drawingml/2006/table">
            <a:tbl>
              <a:tblPr firstRow="1" bandRow="1">
                <a:tableStyleId>{5C22544A-7EE6-4342-B048-85BDC9FD1C3A}</a:tableStyleId>
              </a:tblPr>
              <a:tblGrid>
                <a:gridCol w="2220000"/>
                <a:gridCol w="2220000"/>
                <a:gridCol w="2220000"/>
                <a:gridCol w="2220000"/>
                <a:gridCol w="2220000"/>
              </a:tblGrid>
              <a:tr h="520000">
                <a:tc>
                  <a:txBody>
                    <a:bodyPr/>
                    <a:lstStyle/>
                    <a:p>
                      <a:r>
                        <a:rPr sz="1400" b="1">
                          <a:solidFill>
                            <a:srgbClr val="22D3EE"/>
                          </a:solidFill>
                          <a:latin typeface="Segoe UI"/>
                        </a:rPr>
                        <a:t>Paradigma</a:t>
                      </a:r>
                    </a:p>
                  </a:txBody>
                  <a:tcPr>
                    <a:solidFill>
                      <a:srgbClr val="1C2755"/>
                    </a:solidFill>
                  </a:tcPr>
                </a:tc>
                <a:tc>
                  <a:txBody>
                    <a:bodyPr/>
                    <a:lstStyle/>
                    <a:p>
                      <a:r>
                        <a:rPr sz="1400" b="1">
                          <a:solidFill>
                            <a:srgbClr val="22D3EE"/>
                          </a:solidFill>
                          <a:latin typeface="Segoe UI"/>
                        </a:rPr>
                        <a:t>Asosiy ustunlik</a:t>
                      </a:r>
                    </a:p>
                  </a:txBody>
                  <a:tcPr>
                    <a:solidFill>
                      <a:srgbClr val="1C2755"/>
                    </a:solidFill>
                  </a:tcPr>
                </a:tc>
                <a:tc>
                  <a:txBody>
                    <a:bodyPr/>
                    <a:lstStyle/>
                    <a:p>
                      <a:r>
                        <a:rPr sz="1400" b="1">
                          <a:solidFill>
                            <a:srgbClr val="22D3EE"/>
                          </a:solidFill>
                          <a:latin typeface="Segoe UI"/>
                        </a:rPr>
                        <a:t>Yetuklik (2025)</a:t>
                      </a:r>
                    </a:p>
                  </a:txBody>
                  <a:tcPr>
                    <a:solidFill>
                      <a:srgbClr val="1C2755"/>
                    </a:solidFill>
                  </a:tcPr>
                </a:tc>
                <a:tc>
                  <a:txBody>
                    <a:bodyPr/>
                    <a:lstStyle/>
                    <a:p>
                      <a:r>
                        <a:rPr sz="1400" b="1">
                          <a:solidFill>
                            <a:srgbClr val="22D3EE"/>
                          </a:solidFill>
                          <a:latin typeface="Segoe UI"/>
                        </a:rPr>
                        <a:t>Mos ish yuklama</a:t>
                      </a:r>
                    </a:p>
                  </a:txBody>
                  <a:tcPr>
                    <a:solidFill>
                      <a:srgbClr val="1C2755"/>
                    </a:solidFill>
                  </a:tcPr>
                </a:tc>
                <a:tc>
                  <a:txBody>
                    <a:bodyPr/>
                    <a:lstStyle/>
                    <a:p>
                      <a:r>
                        <a:rPr sz="1400" b="1">
                          <a:solidFill>
                            <a:srgbClr val="22D3EE"/>
                          </a:solidFill>
                          <a:latin typeface="Segoe UI"/>
                        </a:rPr>
                        <a:t>Asosiy to'siq</a:t>
                      </a:r>
                    </a:p>
                  </a:txBody>
                  <a:tcPr>
                    <a:solidFill>
                      <a:srgbClr val="1C2755"/>
                    </a:solidFill>
                  </a:tcPr>
                </a:tc>
              </a:tr>
              <a:tr h="520000">
                <a:tc>
                  <a:txBody>
                    <a:bodyPr/>
                    <a:lstStyle/>
                    <a:p>
                      <a:r>
                        <a:rPr sz="1400" b="0">
                          <a:solidFill>
                            <a:srgbClr val="E8EEFA"/>
                          </a:solidFill>
                          <a:latin typeface="Segoe UI"/>
                        </a:rPr>
                        <a:t>GPU / TPU (raqamli, zich)</a:t>
                      </a:r>
                    </a:p>
                  </a:txBody>
                  <a:tcPr>
                    <a:solidFill>
                      <a:srgbClr val="111834"/>
                    </a:solidFill>
                  </a:tcPr>
                </a:tc>
                <a:tc>
                  <a:txBody>
                    <a:bodyPr/>
                    <a:lstStyle/>
                    <a:p>
                      <a:r>
                        <a:rPr sz="1400" b="0">
                          <a:solidFill>
                            <a:srgbClr val="E8EEFA"/>
                          </a:solidFill>
                          <a:latin typeface="Segoe UI"/>
                        </a:rPr>
                        <a:t>ekotizim, umumiylik</a:t>
                      </a:r>
                    </a:p>
                  </a:txBody>
                  <a:tcPr>
                    <a:solidFill>
                      <a:srgbClr val="111834"/>
                    </a:solidFill>
                  </a:tcPr>
                </a:tc>
                <a:tc>
                  <a:txBody>
                    <a:bodyPr/>
                    <a:lstStyle/>
                    <a:p>
                      <a:r>
                        <a:rPr sz="1400" b="0">
                          <a:solidFill>
                            <a:srgbClr val="E8EEFA"/>
                          </a:solidFill>
                          <a:latin typeface="Segoe UI"/>
                        </a:rPr>
                        <a:t>ishlab chiqarish</a:t>
                      </a:r>
                    </a:p>
                  </a:txBody>
                  <a:tcPr>
                    <a:solidFill>
                      <a:srgbClr val="111834"/>
                    </a:solidFill>
                  </a:tcPr>
                </a:tc>
                <a:tc>
                  <a:txBody>
                    <a:bodyPr/>
                    <a:lstStyle/>
                    <a:p>
                      <a:r>
                        <a:rPr sz="1400" b="0">
                          <a:solidFill>
                            <a:srgbClr val="E8EEFA"/>
                          </a:solidFill>
                          <a:latin typeface="Segoe UI"/>
                        </a:rPr>
                        <a:t>o'qitish, LLM inferens</a:t>
                      </a:r>
                    </a:p>
                  </a:txBody>
                  <a:tcPr>
                    <a:solidFill>
                      <a:srgbClr val="111834"/>
                    </a:solidFill>
                  </a:tcPr>
                </a:tc>
                <a:tc>
                  <a:txBody>
                    <a:bodyPr/>
                    <a:lstStyle/>
                    <a:p>
                      <a:r>
                        <a:rPr sz="1400" b="0">
                          <a:solidFill>
                            <a:srgbClr val="E8EEFA"/>
                          </a:solidFill>
                          <a:latin typeface="Segoe UI"/>
                        </a:rPr>
                        <a:t>energiya, xotira devori</a:t>
                      </a:r>
                    </a:p>
                  </a:txBody>
                  <a:tcPr>
                    <a:solidFill>
                      <a:srgbClr val="111834"/>
                    </a:solidFill>
                  </a:tcPr>
                </a:tc>
              </a:tr>
              <a:tr h="520000">
                <a:tc>
                  <a:txBody>
                    <a:bodyPr/>
                    <a:lstStyle/>
                    <a:p>
                      <a:r>
                        <a:rPr sz="1400" b="0">
                          <a:solidFill>
                            <a:srgbClr val="E8EEFA"/>
                          </a:solidFill>
                          <a:latin typeface="Segoe UI"/>
                        </a:rPr>
                        <a:t>Neyromorf</a:t>
                      </a:r>
                    </a:p>
                  </a:txBody>
                  <a:tcPr>
                    <a:solidFill>
                      <a:srgbClr val="161F40"/>
                    </a:solidFill>
                  </a:tcPr>
                </a:tc>
                <a:tc>
                  <a:txBody>
                    <a:bodyPr/>
                    <a:lstStyle/>
                    <a:p>
                      <a:r>
                        <a:rPr sz="1400" b="0">
                          <a:solidFill>
                            <a:srgbClr val="E8EEFA"/>
                          </a:solidFill>
                          <a:latin typeface="Segoe UI"/>
                        </a:rPr>
                        <a:t>siyrak, hodisali, ultra-past quvvat</a:t>
                      </a:r>
                    </a:p>
                  </a:txBody>
                  <a:tcPr>
                    <a:solidFill>
                      <a:srgbClr val="161F40"/>
                    </a:solidFill>
                  </a:tcPr>
                </a:tc>
                <a:tc>
                  <a:txBody>
                    <a:bodyPr/>
                    <a:lstStyle/>
                    <a:p>
                      <a:r>
                        <a:rPr sz="1400" b="0">
                          <a:solidFill>
                            <a:srgbClr val="E8EEFA"/>
                          </a:solidFill>
                          <a:latin typeface="Segoe UI"/>
                        </a:rPr>
                        <a:t>tadqiqot / erta mahsulot</a:t>
                      </a:r>
                    </a:p>
                  </a:txBody>
                  <a:tcPr>
                    <a:solidFill>
                      <a:srgbClr val="161F40"/>
                    </a:solidFill>
                  </a:tcPr>
                </a:tc>
                <a:tc>
                  <a:txBody>
                    <a:bodyPr/>
                    <a:lstStyle/>
                    <a:p>
                      <a:r>
                        <a:rPr sz="1400" b="0">
                          <a:solidFill>
                            <a:srgbClr val="E8EEFA"/>
                          </a:solidFill>
                          <a:latin typeface="Segoe UI"/>
                        </a:rPr>
                        <a:t>chekka sensorlar, robototexnika</a:t>
                      </a:r>
                    </a:p>
                  </a:txBody>
                  <a:tcPr>
                    <a:solidFill>
                      <a:srgbClr val="161F40"/>
                    </a:solidFill>
                  </a:tcPr>
                </a:tc>
                <a:tc>
                  <a:txBody>
                    <a:bodyPr/>
                    <a:lstStyle/>
                    <a:p>
                      <a:r>
                        <a:rPr sz="1400" b="0">
                          <a:solidFill>
                            <a:srgbClr val="E8EEFA"/>
                          </a:solidFill>
                          <a:latin typeface="Segoe UI"/>
                        </a:rPr>
                        <a:t>dasturlash, aniqlik</a:t>
                      </a:r>
                    </a:p>
                  </a:txBody>
                  <a:tcPr>
                    <a:solidFill>
                      <a:srgbClr val="161F40"/>
                    </a:solidFill>
                  </a:tcPr>
                </a:tc>
              </a:tr>
              <a:tr h="520000">
                <a:tc>
                  <a:txBody>
                    <a:bodyPr/>
                    <a:lstStyle/>
                    <a:p>
                      <a:r>
                        <a:rPr sz="1400" b="0">
                          <a:solidFill>
                            <a:srgbClr val="E8EEFA"/>
                          </a:solidFill>
                          <a:latin typeface="Segoe UI"/>
                        </a:rPr>
                        <a:t>Kvant</a:t>
                      </a:r>
                    </a:p>
                  </a:txBody>
                  <a:tcPr>
                    <a:solidFill>
                      <a:srgbClr val="111834"/>
                    </a:solidFill>
                  </a:tcPr>
                </a:tc>
                <a:tc>
                  <a:txBody>
                    <a:bodyPr/>
                    <a:lstStyle/>
                    <a:p>
                      <a:r>
                        <a:rPr sz="1400" b="0">
                          <a:solidFill>
                            <a:srgbClr val="E8EEFA"/>
                          </a:solidFill>
                          <a:latin typeface="Segoe UI"/>
                        </a:rPr>
                        <a:t>eksponensial holat fazosi</a:t>
                      </a:r>
                    </a:p>
                  </a:txBody>
                  <a:tcPr>
                    <a:solidFill>
                      <a:srgbClr val="111834"/>
                    </a:solidFill>
                  </a:tcPr>
                </a:tc>
                <a:tc>
                  <a:txBody>
                    <a:bodyPr/>
                    <a:lstStyle/>
                    <a:p>
                      <a:r>
                        <a:rPr sz="1400" b="0">
                          <a:solidFill>
                            <a:srgbClr val="E8EEFA"/>
                          </a:solidFill>
                          <a:latin typeface="Segoe UI"/>
                        </a:rPr>
                        <a:t>NISQ, xato tuzatish boshlanmoqda</a:t>
                      </a:r>
                    </a:p>
                  </a:txBody>
                  <a:tcPr>
                    <a:solidFill>
                      <a:srgbClr val="111834"/>
                    </a:solidFill>
                  </a:tcPr>
                </a:tc>
                <a:tc>
                  <a:txBody>
                    <a:bodyPr/>
                    <a:lstStyle/>
                    <a:p>
                      <a:r>
                        <a:rPr sz="1400" b="0">
                          <a:solidFill>
                            <a:srgbClr val="E8EEFA"/>
                          </a:solidFill>
                          <a:latin typeface="Segoe UI"/>
                        </a:rPr>
                        <a:t>kimyo, optimallashtirish</a:t>
                      </a:r>
                    </a:p>
                  </a:txBody>
                  <a:tcPr>
                    <a:solidFill>
                      <a:srgbClr val="111834"/>
                    </a:solidFill>
                  </a:tcPr>
                </a:tc>
                <a:tc>
                  <a:txBody>
                    <a:bodyPr/>
                    <a:lstStyle/>
                    <a:p>
                      <a:r>
                        <a:rPr sz="1400" b="0">
                          <a:solidFill>
                            <a:srgbClr val="E8EEFA"/>
                          </a:solidFill>
                          <a:latin typeface="Segoe UI"/>
                        </a:rPr>
                        <a:t>shovqin, ma'lumot yuklash</a:t>
                      </a:r>
                    </a:p>
                  </a:txBody>
                  <a:tcPr>
                    <a:solidFill>
                      <a:srgbClr val="111834"/>
                    </a:solidFill>
                  </a:tcPr>
                </a:tc>
              </a:tr>
              <a:tr h="520000">
                <a:tc>
                  <a:txBody>
                    <a:bodyPr/>
                    <a:lstStyle/>
                    <a:p>
                      <a:r>
                        <a:rPr sz="1400" b="0">
                          <a:solidFill>
                            <a:srgbClr val="E8EEFA"/>
                          </a:solidFill>
                          <a:latin typeface="Segoe UI"/>
                        </a:rPr>
                        <a:t>Fotonik</a:t>
                      </a:r>
                    </a:p>
                  </a:txBody>
                  <a:tcPr>
                    <a:solidFill>
                      <a:srgbClr val="161F40"/>
                    </a:solidFill>
                  </a:tcPr>
                </a:tc>
                <a:tc>
                  <a:txBody>
                    <a:bodyPr/>
                    <a:lstStyle/>
                    <a:p>
                      <a:r>
                        <a:rPr sz="1400" b="0">
                          <a:solidFill>
                            <a:srgbClr val="E8EEFA"/>
                          </a:solidFill>
                          <a:latin typeface="Segoe UI"/>
                        </a:rPr>
                        <a:t>tezlik, past issiqlik, interkonnekt</a:t>
                      </a:r>
                    </a:p>
                  </a:txBody>
                  <a:tcPr>
                    <a:solidFill>
                      <a:srgbClr val="161F40"/>
                    </a:solidFill>
                  </a:tcPr>
                </a:tc>
                <a:tc>
                  <a:txBody>
                    <a:bodyPr/>
                    <a:lstStyle/>
                    <a:p>
                      <a:r>
                        <a:rPr sz="1400" b="0">
                          <a:solidFill>
                            <a:srgbClr val="E8EEFA"/>
                          </a:solidFill>
                          <a:latin typeface="Segoe UI"/>
                        </a:rPr>
                        <a:t>erta mahsulot</a:t>
                      </a:r>
                    </a:p>
                  </a:txBody>
                  <a:tcPr>
                    <a:solidFill>
                      <a:srgbClr val="161F40"/>
                    </a:solidFill>
                  </a:tcPr>
                </a:tc>
                <a:tc>
                  <a:txBody>
                    <a:bodyPr/>
                    <a:lstStyle/>
                    <a:p>
                      <a:r>
                        <a:rPr sz="1400" b="0">
                          <a:solidFill>
                            <a:srgbClr val="E8EEFA"/>
                          </a:solidFill>
                          <a:latin typeface="Segoe UI"/>
                        </a:rPr>
                        <a:t>inferens, aloqa</a:t>
                      </a:r>
                    </a:p>
                  </a:txBody>
                  <a:tcPr>
                    <a:solidFill>
                      <a:srgbClr val="161F40"/>
                    </a:solidFill>
                  </a:tcPr>
                </a:tc>
                <a:tc>
                  <a:txBody>
                    <a:bodyPr/>
                    <a:lstStyle/>
                    <a:p>
                      <a:r>
                        <a:rPr sz="1400" b="0">
                          <a:solidFill>
                            <a:srgbClr val="E8EEFA"/>
                          </a:solidFill>
                          <a:latin typeface="Segoe UI"/>
                        </a:rPr>
                        <a:t>analog aniqlik, nochiziqlik</a:t>
                      </a:r>
                    </a:p>
                  </a:txBody>
                  <a:tcPr>
                    <a:solidFill>
                      <a:srgbClr val="161F40"/>
                    </a:solidFill>
                  </a:tcPr>
                </a:tc>
              </a:tr>
              <a:tr h="520000">
                <a:tc>
                  <a:txBody>
                    <a:bodyPr/>
                    <a:lstStyle/>
                    <a:p>
                      <a:r>
                        <a:rPr sz="1400" b="0">
                          <a:solidFill>
                            <a:srgbClr val="E8EEFA"/>
                          </a:solidFill>
                          <a:latin typeface="Segoe UI"/>
                        </a:rPr>
                        <a:t>Wafer-scale / dataflow</a:t>
                      </a:r>
                    </a:p>
                  </a:txBody>
                  <a:tcPr>
                    <a:solidFill>
                      <a:srgbClr val="111834"/>
                    </a:solidFill>
                  </a:tcPr>
                </a:tc>
                <a:tc>
                  <a:txBody>
                    <a:bodyPr/>
                    <a:lstStyle/>
                    <a:p>
                      <a:r>
                        <a:rPr sz="1400" b="0">
                          <a:solidFill>
                            <a:srgbClr val="E8EEFA"/>
                          </a:solidFill>
                          <a:latin typeface="Segoe UI"/>
                        </a:rPr>
                        <a:t>chipda xotira, determinizm</a:t>
                      </a:r>
                    </a:p>
                  </a:txBody>
                  <a:tcPr>
                    <a:solidFill>
                      <a:srgbClr val="111834"/>
                    </a:solidFill>
                  </a:tcPr>
                </a:tc>
                <a:tc>
                  <a:txBody>
                    <a:bodyPr/>
                    <a:lstStyle/>
                    <a:p>
                      <a:r>
                        <a:rPr sz="1400" b="0">
                          <a:solidFill>
                            <a:srgbClr val="E8EEFA"/>
                          </a:solidFill>
                          <a:latin typeface="Segoe UI"/>
                        </a:rPr>
                        <a:t>ishlab chiqarish (tor)</a:t>
                      </a:r>
                    </a:p>
                  </a:txBody>
                  <a:tcPr>
                    <a:solidFill>
                      <a:srgbClr val="111834"/>
                    </a:solidFill>
                  </a:tcPr>
                </a:tc>
                <a:tc>
                  <a:txBody>
                    <a:bodyPr/>
                    <a:lstStyle/>
                    <a:p>
                      <a:r>
                        <a:rPr sz="1400" b="0">
                          <a:solidFill>
                            <a:srgbClr val="E8EEFA"/>
                          </a:solidFill>
                          <a:latin typeface="Segoe UI"/>
                        </a:rPr>
                        <a:t>LLM inferens, ba'zi o'qitish</a:t>
                      </a:r>
                    </a:p>
                  </a:txBody>
                  <a:tcPr>
                    <a:solidFill>
                      <a:srgbClr val="111834"/>
                    </a:solidFill>
                  </a:tcPr>
                </a:tc>
                <a:tc>
                  <a:txBody>
                    <a:bodyPr/>
                    <a:lstStyle/>
                    <a:p>
                      <a:r>
                        <a:rPr sz="1400" b="0">
                          <a:solidFill>
                            <a:srgbClr val="E8EEFA"/>
                          </a:solidFill>
                          <a:latin typeface="Segoe UI"/>
                        </a:rPr>
                        <a:t>narx, moslashuvchanlik</a:t>
                      </a:r>
                    </a:p>
                  </a:txBody>
                  <a:tcPr>
                    <a:solidFill>
                      <a:srgbClr val="111834"/>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7"/>
                                        </p:tgtEl>
                                        <p:attrNameLst>
                                          <p:attrName>style.visibility</p:attrName>
                                        </p:attrNameLst>
                                      </p:cBhvr>
                                      <p:to>
                                        <p:strVal val="visible"/>
                                      </p:to>
                                    </p:set>
                                    <p:animEffect transition="in" filter="fade">
                                      <p:cBhvr>
                                        <p:cTn id="6" dur="550"/>
                                        <p:tgtEl>
                                          <p:spTgt spid="17"/>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left)">
                                      <p:cBhvr>
                                        <p:cTn id="11" dur="800"/>
                                        <p:tgtEl>
                                          <p:spTgt spid="18"/>
                                        </p:tgtEl>
                                      </p:cBhvr>
                                    </p:animEffect>
                                  </p:childTnLst>
                                </p:cTn>
                              </p:par>
                            </p:childTnLst>
                          </p:cTn>
                        </p:par>
                        <p:par>
                          <p:cTn id="12" fill="hold">
                            <p:stCondLst>
                              <p:cond delay="200"/>
                            </p:stCondLst>
                            <p:childTnLst>
                              <p:par>
                                <p:cTn id="13" presetID="22" presetClass="entr" presetSubtype="8"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ipe(left)">
                                      <p:cBhvr>
                                        <p:cTn id="16" dur="8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36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800000" y="766666"/>
            <a:ext cx="2650000" cy="1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00000" y="900000"/>
            <a:ext cx="2650000" cy="40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00000" y="900000"/>
            <a:ext cx="2650000" cy="66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800000" y="766666"/>
            <a:ext cx="2650000" cy="5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800000" y="1033333"/>
            <a:ext cx="2650000" cy="26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800000" y="1300000"/>
            <a:ext cx="2650000"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00000" y="1300000"/>
            <a:ext cx="2650000" cy="26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800000" y="766666"/>
            <a:ext cx="2650000" cy="9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800000" y="1300000"/>
            <a:ext cx="2650000" cy="40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800000" y="1566666"/>
            <a:ext cx="2650000" cy="1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00000" y="1700000"/>
            <a:ext cx="2650000" cy="1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450000" y="766666"/>
            <a:ext cx="2650000" cy="19047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450000" y="766666"/>
            <a:ext cx="2650000" cy="41904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450000" y="766666"/>
            <a:ext cx="2650000" cy="64761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450000" y="957142"/>
            <a:ext cx="2650000" cy="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450000" y="1033333"/>
            <a:ext cx="2650000" cy="38095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450000" y="1033333"/>
            <a:ext cx="2650000" cy="60952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450000" y="728571"/>
            <a:ext cx="2650000" cy="57142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450000" y="957142"/>
            <a:ext cx="2650000" cy="34285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450000" y="1300000"/>
            <a:ext cx="2650000" cy="11428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450000" y="1300000"/>
            <a:ext cx="2650000" cy="34285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450000" y="728571"/>
            <a:ext cx="2650000" cy="8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450000" y="957142"/>
            <a:ext cx="2650000" cy="60952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450000" y="1414285"/>
            <a:ext cx="2650000" cy="15238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450000" y="1566666"/>
            <a:ext cx="2650000" cy="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450000" y="1566666"/>
            <a:ext cx="2650000" cy="3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450000" y="957142"/>
            <a:ext cx="2650000" cy="8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450000" y="1185714"/>
            <a:ext cx="2650000" cy="64761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450000" y="1414285"/>
            <a:ext cx="2650000" cy="41904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450000" y="1642857"/>
            <a:ext cx="2650000" cy="19047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100000" y="728571"/>
            <a:ext cx="2650000" cy="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100000" y="728571"/>
            <a:ext cx="2650000" cy="57142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100000" y="728571"/>
            <a:ext cx="2650000" cy="11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6100000" y="766666"/>
            <a:ext cx="2650000" cy="19047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100000" y="957142"/>
            <a:ext cx="2650000" cy="34285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100000" y="957142"/>
            <a:ext cx="2650000" cy="8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6100000" y="766666"/>
            <a:ext cx="2650000" cy="41904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100000" y="1185714"/>
            <a:ext cx="2650000" cy="38095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100000" y="1185714"/>
            <a:ext cx="2650000" cy="64761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6100000" y="766666"/>
            <a:ext cx="2650000" cy="64761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6100000" y="1033333"/>
            <a:ext cx="2650000" cy="38095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100000" y="1414285"/>
            <a:ext cx="2650000" cy="15238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100000" y="1414285"/>
            <a:ext cx="2650000" cy="41904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6100000" y="1033333"/>
            <a:ext cx="2650000" cy="60952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6100000" y="1300000"/>
            <a:ext cx="2650000" cy="34285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6100000" y="1566666"/>
            <a:ext cx="2650000" cy="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6100000" y="766666"/>
            <a:ext cx="2650000" cy="11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6100000" y="1033333"/>
            <a:ext cx="2650000" cy="8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6100000" y="1300000"/>
            <a:ext cx="2650000" cy="57142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6100000" y="1566666"/>
            <a:ext cx="2650000" cy="3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6100000" y="1833333"/>
            <a:ext cx="2650000" cy="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750000" y="766666"/>
            <a:ext cx="2650000" cy="1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8750000" y="766666"/>
            <a:ext cx="2650000" cy="5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8750000" y="766666"/>
            <a:ext cx="2650000" cy="9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750000" y="1033333"/>
            <a:ext cx="2650000" cy="26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750000" y="1033333"/>
            <a:ext cx="2650000" cy="66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8750000" y="900000"/>
            <a:ext cx="2650000" cy="40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750000" y="1300000"/>
            <a:ext cx="2650000"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8750000" y="1300000"/>
            <a:ext cx="2650000" cy="40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8750000" y="900000"/>
            <a:ext cx="2650000" cy="66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8750000" y="1566666"/>
            <a:ext cx="2650000" cy="1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8750000" y="900000"/>
            <a:ext cx="2650000" cy="9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8750000" y="1300000"/>
            <a:ext cx="2650000" cy="5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8750000" y="1700000"/>
            <a:ext cx="2650000" cy="1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67" name="Oval 66"/>
          <p:cNvSpPr/>
          <p:nvPr/>
        </p:nvSpPr>
        <p:spPr>
          <a:xfrm>
            <a:off x="730000" y="8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730000" y="12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730000" y="16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3380000" y="6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3380000" y="9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3380000" y="12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3380000" y="14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3380000" y="1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6030000" y="658571"/>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6030000" y="887142"/>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030000" y="1115714"/>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6030000" y="1344285"/>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6030000" y="1572857"/>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6030000" y="1801428"/>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8680000" y="6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8680000" y="9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8680000" y="12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8680000" y="14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8680000" y="1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11330000" y="8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1330000" y="12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1330000" y="16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00000" y="2500000"/>
            <a:ext cx="10800000" cy="1100000"/>
          </a:xfrm>
          <a:prstGeom prst="rect">
            <a:avLst/>
          </a:prstGeom>
          <a:noFill/>
        </p:spPr>
        <p:txBody>
          <a:bodyPr wrap="square" anchor="t" lIns="50800" rIns="50800">
            <a:spAutoFit/>
          </a:bodyPr>
          <a:lstStyle/>
          <a:p>
            <a:pPr algn="ctr"/>
            <a:r>
              <a:rPr sz="4400" b="1">
                <a:solidFill>
                  <a:srgbClr val="E8EEFA"/>
                </a:solidFill>
                <a:latin typeface="Segoe UI"/>
              </a:rPr>
              <a:t>E’tiboringiz uchun rahmat!</a:t>
            </a:r>
          </a:p>
        </p:txBody>
      </p:sp>
      <p:sp>
        <p:nvSpPr>
          <p:cNvPr id="90" name="Rectangle 89"/>
          <p:cNvSpPr/>
          <p:nvPr/>
        </p:nvSpPr>
        <p:spPr>
          <a:xfrm>
            <a:off x="4800000" y="3650000"/>
            <a:ext cx="26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00000" y="3850000"/>
            <a:ext cx="10800000" cy="500000"/>
          </a:xfrm>
          <a:prstGeom prst="rect">
            <a:avLst/>
          </a:prstGeom>
          <a:noFill/>
        </p:spPr>
        <p:txBody>
          <a:bodyPr wrap="square" anchor="t" lIns="50800" rIns="50800">
            <a:spAutoFit/>
          </a:bodyPr>
          <a:lstStyle/>
          <a:p>
            <a:pPr algn="ctr"/>
            <a:r>
              <a:rPr sz="2600" b="1">
                <a:solidFill>
                  <a:srgbClr val="22D3EE"/>
                </a:solidFill>
                <a:latin typeface="Segoe UI"/>
              </a:rPr>
              <a:t>Savollar?</a:t>
            </a:r>
          </a:p>
        </p:txBody>
      </p:sp>
      <p:sp>
        <p:nvSpPr>
          <p:cNvPr id="92" name="TextBox 91"/>
          <p:cNvSpPr txBox="1"/>
          <p:nvPr/>
        </p:nvSpPr>
        <p:spPr>
          <a:xfrm>
            <a:off x="1200000" y="4800000"/>
            <a:ext cx="9800000" cy="800000"/>
          </a:xfrm>
          <a:prstGeom prst="rect">
            <a:avLst/>
          </a:prstGeom>
          <a:noFill/>
        </p:spPr>
        <p:txBody>
          <a:bodyPr wrap="square" anchor="t" lIns="50800" rIns="50800">
            <a:spAutoFit/>
          </a:bodyPr>
          <a:lstStyle/>
          <a:p>
            <a:pPr algn="ctr"/>
            <a:r>
              <a:rPr sz="1400" b="0">
                <a:solidFill>
                  <a:srgbClr val="AEBBD9"/>
                </a:solidFill>
                <a:latin typeface="Segoe UI"/>
              </a:rPr>
              <a:t>Mavzu matni va materiallar: https://aiscan.airi.uz/ktm/#/c/mis2104/mavzu/M15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68"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0"/>
                            </p:stCondLst>
                            <p:childTnLst>
                              <p:par>
                                <p:cTn id="152" presetID="10" presetClass="entr" presetSubtype="0"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childTnLst>
                                </p:cTn>
                              </p:par>
                            </p:childTnLst>
                          </p:cTn>
                        </p:par>
                        <p:par>
                          <p:cTn id="155" fill="hold">
                            <p:stCondLst>
                              <p:cond delay="0"/>
                            </p:stCondLst>
                            <p:childTnLst>
                              <p:par>
                                <p:cTn id="156" presetID="10" presetClass="entr" presetSubtype="0" fill="hold" grpId="0" nodeType="after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fade">
                                      <p:cBhvr>
                                        <p:cTn id="158" dur="550"/>
                                        <p:tgtEl>
                                          <p:spTgt spid="41"/>
                                        </p:tgtEl>
                                      </p:cBhvr>
                                    </p:animEffect>
                                  </p:childTnLst>
                                </p:cTn>
                              </p:par>
                            </p:childTnLst>
                          </p:cTn>
                        </p:par>
                        <p:par>
                          <p:cTn id="159" fill="hold">
                            <p:stCondLst>
                              <p:cond delay="0"/>
                            </p:stCondLst>
                            <p:childTnLst>
                              <p:par>
                                <p:cTn id="160" presetID="10" presetClass="entr" presetSubtype="0" fill="hold" grpId="0" nodeType="afterEffect">
                                  <p:stCondLst>
                                    <p:cond delay="0"/>
                                  </p:stCondLst>
                                  <p:childTnLst>
                                    <p:set>
                                      <p:cBhvr>
                                        <p:cTn id="161" dur="1" fill="hold">
                                          <p:stCondLst>
                                            <p:cond delay="0"/>
                                          </p:stCondLst>
                                        </p:cTn>
                                        <p:tgtEl>
                                          <p:spTgt spid="42"/>
                                        </p:tgtEl>
                                        <p:attrNameLst>
                                          <p:attrName>style.visibility</p:attrName>
                                        </p:attrNameLst>
                                      </p:cBhvr>
                                      <p:to>
                                        <p:strVal val="visible"/>
                                      </p:to>
                                    </p:set>
                                    <p:animEffect transition="in" filter="fade">
                                      <p:cBhvr>
                                        <p:cTn id="162" dur="550"/>
                                        <p:tgtEl>
                                          <p:spTgt spid="42"/>
                                        </p:tgtEl>
                                      </p:cBhvr>
                                    </p:animEffect>
                                  </p:childTnLst>
                                </p:cTn>
                              </p:par>
                            </p:childTnLst>
                          </p:cTn>
                        </p:par>
                        <p:par>
                          <p:cTn id="163" fill="hold">
                            <p:stCondLst>
                              <p:cond delay="0"/>
                            </p:stCondLst>
                            <p:childTnLst>
                              <p:par>
                                <p:cTn id="164" presetID="10" presetClass="entr" presetSubtype="0" fill="hold" grpId="0" nodeType="afterEffect">
                                  <p:stCondLst>
                                    <p:cond delay="0"/>
                                  </p:stCondLst>
                                  <p:childTnLst>
                                    <p:set>
                                      <p:cBhvr>
                                        <p:cTn id="165" dur="1" fill="hold">
                                          <p:stCondLst>
                                            <p:cond delay="0"/>
                                          </p:stCondLst>
                                        </p:cTn>
                                        <p:tgtEl>
                                          <p:spTgt spid="43"/>
                                        </p:tgtEl>
                                        <p:attrNameLst>
                                          <p:attrName>style.visibility</p:attrName>
                                        </p:attrNameLst>
                                      </p:cBhvr>
                                      <p:to>
                                        <p:strVal val="visible"/>
                                      </p:to>
                                    </p:set>
                                    <p:animEffect transition="in" filter="fade">
                                      <p:cBhvr>
                                        <p:cTn id="166" dur="550"/>
                                        <p:tgtEl>
                                          <p:spTgt spid="43"/>
                                        </p:tgtEl>
                                      </p:cBhvr>
                                    </p:animEffect>
                                  </p:childTnLst>
                                </p:cTn>
                              </p:par>
                            </p:childTnLst>
                          </p:cTn>
                        </p:par>
                        <p:par>
                          <p:cTn id="167" fill="hold">
                            <p:stCondLst>
                              <p:cond delay="0"/>
                            </p:stCondLst>
                            <p:childTnLst>
                              <p:par>
                                <p:cTn id="168" presetID="10" presetClass="entr" presetSubtype="0" fill="hold" grpId="0" nodeType="afterEffect">
                                  <p:stCondLst>
                                    <p:cond delay="0"/>
                                  </p:stCondLst>
                                  <p:childTnLst>
                                    <p:set>
                                      <p:cBhvr>
                                        <p:cTn id="169" dur="1" fill="hold">
                                          <p:stCondLst>
                                            <p:cond delay="0"/>
                                          </p:stCondLst>
                                        </p:cTn>
                                        <p:tgtEl>
                                          <p:spTgt spid="44"/>
                                        </p:tgtEl>
                                        <p:attrNameLst>
                                          <p:attrName>style.visibility</p:attrName>
                                        </p:attrNameLst>
                                      </p:cBhvr>
                                      <p:to>
                                        <p:strVal val="visible"/>
                                      </p:to>
                                    </p:set>
                                    <p:animEffect transition="in" filter="fade">
                                      <p:cBhvr>
                                        <p:cTn id="170" dur="550"/>
                                        <p:tgtEl>
                                          <p:spTgt spid="44"/>
                                        </p:tgtEl>
                                      </p:cBhvr>
                                    </p:animEffect>
                                  </p:childTnLst>
                                </p:cTn>
                              </p:par>
                            </p:childTnLst>
                          </p:cTn>
                        </p:par>
                        <p:par>
                          <p:cTn id="171" fill="hold">
                            <p:stCondLst>
                              <p:cond delay="0"/>
                            </p:stCondLst>
                            <p:childTnLst>
                              <p:par>
                                <p:cTn id="172" presetID="10" presetClass="entr" presetSubtype="0" fill="hold" grpId="0" nodeType="afterEffect">
                                  <p:stCondLst>
                                    <p:cond delay="0"/>
                                  </p:stCondLst>
                                  <p:childTnLst>
                                    <p:set>
                                      <p:cBhvr>
                                        <p:cTn id="173" dur="1" fill="hold">
                                          <p:stCondLst>
                                            <p:cond delay="0"/>
                                          </p:stCondLst>
                                        </p:cTn>
                                        <p:tgtEl>
                                          <p:spTgt spid="45"/>
                                        </p:tgtEl>
                                        <p:attrNameLst>
                                          <p:attrName>style.visibility</p:attrName>
                                        </p:attrNameLst>
                                      </p:cBhvr>
                                      <p:to>
                                        <p:strVal val="visible"/>
                                      </p:to>
                                    </p:set>
                                    <p:animEffect transition="in" filter="fade">
                                      <p:cBhvr>
                                        <p:cTn id="174" dur="550"/>
                                        <p:tgtEl>
                                          <p:spTgt spid="45"/>
                                        </p:tgtEl>
                                      </p:cBhvr>
                                    </p:animEffect>
                                  </p:childTnLst>
                                </p:cTn>
                              </p:par>
                            </p:childTnLst>
                          </p:cTn>
                        </p:par>
                        <p:par>
                          <p:cTn id="175" fill="hold">
                            <p:stCondLst>
                              <p:cond delay="0"/>
                            </p:stCondLst>
                            <p:childTnLst>
                              <p:par>
                                <p:cTn id="176" presetID="10" presetClass="entr" presetSubtype="0" fill="hold" grpId="0" nodeType="afterEffect">
                                  <p:stCondLst>
                                    <p:cond delay="0"/>
                                  </p:stCondLst>
                                  <p:childTnLst>
                                    <p:set>
                                      <p:cBhvr>
                                        <p:cTn id="177" dur="1" fill="hold">
                                          <p:stCondLst>
                                            <p:cond delay="0"/>
                                          </p:stCondLst>
                                        </p:cTn>
                                        <p:tgtEl>
                                          <p:spTgt spid="46"/>
                                        </p:tgtEl>
                                        <p:attrNameLst>
                                          <p:attrName>style.visibility</p:attrName>
                                        </p:attrNameLst>
                                      </p:cBhvr>
                                      <p:to>
                                        <p:strVal val="visible"/>
                                      </p:to>
                                    </p:set>
                                    <p:animEffect transition="in" filter="fade">
                                      <p:cBhvr>
                                        <p:cTn id="178" dur="550"/>
                                        <p:tgtEl>
                                          <p:spTgt spid="46"/>
                                        </p:tgtEl>
                                      </p:cBhvr>
                                    </p:animEffect>
                                  </p:childTnLst>
                                </p:cTn>
                              </p:par>
                            </p:childTnLst>
                          </p:cTn>
                        </p:par>
                        <p:par>
                          <p:cTn id="179" fill="hold">
                            <p:stCondLst>
                              <p:cond delay="0"/>
                            </p:stCondLst>
                            <p:childTnLst>
                              <p:par>
                                <p:cTn id="180" presetID="10" presetClass="entr" presetSubtype="0" fill="hold" grpId="0" nodeType="afterEffect">
                                  <p:stCondLst>
                                    <p:cond delay="0"/>
                                  </p:stCondLst>
                                  <p:childTnLst>
                                    <p:set>
                                      <p:cBhvr>
                                        <p:cTn id="181" dur="1" fill="hold">
                                          <p:stCondLst>
                                            <p:cond delay="0"/>
                                          </p:stCondLst>
                                        </p:cTn>
                                        <p:tgtEl>
                                          <p:spTgt spid="47"/>
                                        </p:tgtEl>
                                        <p:attrNameLst>
                                          <p:attrName>style.visibility</p:attrName>
                                        </p:attrNameLst>
                                      </p:cBhvr>
                                      <p:to>
                                        <p:strVal val="visible"/>
                                      </p:to>
                                    </p:set>
                                    <p:animEffect transition="in" filter="fade">
                                      <p:cBhvr>
                                        <p:cTn id="182" dur="550"/>
                                        <p:tgtEl>
                                          <p:spTgt spid="47"/>
                                        </p:tgtEl>
                                      </p:cBhvr>
                                    </p:animEffect>
                                  </p:childTnLst>
                                </p:cTn>
                              </p:par>
                            </p:childTnLst>
                          </p:cTn>
                        </p:par>
                        <p:par>
                          <p:cTn id="183" fill="hold">
                            <p:stCondLst>
                              <p:cond delay="0"/>
                            </p:stCondLst>
                            <p:childTnLst>
                              <p:par>
                                <p:cTn id="184" presetID="10" presetClass="entr" presetSubtype="0" fill="hold" grpId="0" nodeType="afterEffect">
                                  <p:stCondLst>
                                    <p:cond delay="0"/>
                                  </p:stCondLst>
                                  <p:childTnLst>
                                    <p:set>
                                      <p:cBhvr>
                                        <p:cTn id="185" dur="1" fill="hold">
                                          <p:stCondLst>
                                            <p:cond delay="0"/>
                                          </p:stCondLst>
                                        </p:cTn>
                                        <p:tgtEl>
                                          <p:spTgt spid="48"/>
                                        </p:tgtEl>
                                        <p:attrNameLst>
                                          <p:attrName>style.visibility</p:attrName>
                                        </p:attrNameLst>
                                      </p:cBhvr>
                                      <p:to>
                                        <p:strVal val="visible"/>
                                      </p:to>
                                    </p:set>
                                    <p:animEffect transition="in" filter="fade">
                                      <p:cBhvr>
                                        <p:cTn id="186" dur="550"/>
                                        <p:tgtEl>
                                          <p:spTgt spid="48"/>
                                        </p:tgtEl>
                                      </p:cBhvr>
                                    </p:animEffect>
                                  </p:childTnLst>
                                </p:cTn>
                              </p:par>
                            </p:childTnLst>
                          </p:cTn>
                        </p:par>
                        <p:par>
                          <p:cTn id="187" fill="hold">
                            <p:stCondLst>
                              <p:cond delay="0"/>
                            </p:stCondLst>
                            <p:childTnLst>
                              <p:par>
                                <p:cTn id="188" presetID="10" presetClass="entr" presetSubtype="0" fill="hold" grpId="0" nodeType="afterEffect">
                                  <p:stCondLst>
                                    <p:cond delay="0"/>
                                  </p:stCondLst>
                                  <p:childTnLst>
                                    <p:set>
                                      <p:cBhvr>
                                        <p:cTn id="189" dur="1" fill="hold">
                                          <p:stCondLst>
                                            <p:cond delay="0"/>
                                          </p:stCondLst>
                                        </p:cTn>
                                        <p:tgtEl>
                                          <p:spTgt spid="49"/>
                                        </p:tgtEl>
                                        <p:attrNameLst>
                                          <p:attrName>style.visibility</p:attrName>
                                        </p:attrNameLst>
                                      </p:cBhvr>
                                      <p:to>
                                        <p:strVal val="visible"/>
                                      </p:to>
                                    </p:set>
                                    <p:animEffect transition="in" filter="fade">
                                      <p:cBhvr>
                                        <p:cTn id="190" dur="550"/>
                                        <p:tgtEl>
                                          <p:spTgt spid="49"/>
                                        </p:tgtEl>
                                      </p:cBhvr>
                                    </p:animEffect>
                                  </p:childTnLst>
                                </p:cTn>
                              </p:par>
                            </p:childTnLst>
                          </p:cTn>
                        </p:par>
                        <p:par>
                          <p:cTn id="191" fill="hold">
                            <p:stCondLst>
                              <p:cond delay="0"/>
                            </p:stCondLst>
                            <p:childTnLst>
                              <p:par>
                                <p:cTn id="192" presetID="10" presetClass="entr" presetSubtype="0" fill="hold" grpId="0" nodeType="afterEffect">
                                  <p:stCondLst>
                                    <p:cond delay="0"/>
                                  </p:stCondLst>
                                  <p:childTnLst>
                                    <p:set>
                                      <p:cBhvr>
                                        <p:cTn id="193" dur="1" fill="hold">
                                          <p:stCondLst>
                                            <p:cond delay="0"/>
                                          </p:stCondLst>
                                        </p:cTn>
                                        <p:tgtEl>
                                          <p:spTgt spid="50"/>
                                        </p:tgtEl>
                                        <p:attrNameLst>
                                          <p:attrName>style.visibility</p:attrName>
                                        </p:attrNameLst>
                                      </p:cBhvr>
                                      <p:to>
                                        <p:strVal val="visible"/>
                                      </p:to>
                                    </p:set>
                                    <p:animEffect transition="in" filter="fade">
                                      <p:cBhvr>
                                        <p:cTn id="194" dur="550"/>
                                        <p:tgtEl>
                                          <p:spTgt spid="50"/>
                                        </p:tgtEl>
                                      </p:cBhvr>
                                    </p:animEffect>
                                  </p:childTnLst>
                                </p:cTn>
                              </p:par>
                            </p:childTnLst>
                          </p:cTn>
                        </p:par>
                        <p:par>
                          <p:cTn id="195" fill="hold">
                            <p:stCondLst>
                              <p:cond delay="0"/>
                            </p:stCondLst>
                            <p:childTnLst>
                              <p:par>
                                <p:cTn id="196" presetID="10" presetClass="entr" presetSubtype="0" fill="hold" grpId="0" nodeType="afterEffect">
                                  <p:stCondLst>
                                    <p:cond delay="0"/>
                                  </p:stCondLst>
                                  <p:childTnLst>
                                    <p:set>
                                      <p:cBhvr>
                                        <p:cTn id="197" dur="1" fill="hold">
                                          <p:stCondLst>
                                            <p:cond delay="0"/>
                                          </p:stCondLst>
                                        </p:cTn>
                                        <p:tgtEl>
                                          <p:spTgt spid="51"/>
                                        </p:tgtEl>
                                        <p:attrNameLst>
                                          <p:attrName>style.visibility</p:attrName>
                                        </p:attrNameLst>
                                      </p:cBhvr>
                                      <p:to>
                                        <p:strVal val="visible"/>
                                      </p:to>
                                    </p:set>
                                    <p:animEffect transition="in" filter="fade">
                                      <p:cBhvr>
                                        <p:cTn id="198" dur="550"/>
                                        <p:tgtEl>
                                          <p:spTgt spid="51"/>
                                        </p:tgtEl>
                                      </p:cBhvr>
                                    </p:animEffect>
                                  </p:childTnLst>
                                </p:cTn>
                              </p:par>
                            </p:childTnLst>
                          </p:cTn>
                        </p:par>
                        <p:par>
                          <p:cTn id="199" fill="hold">
                            <p:stCondLst>
                              <p:cond delay="0"/>
                            </p:stCondLst>
                            <p:childTnLst>
                              <p:par>
                                <p:cTn id="200" presetID="10" presetClass="entr" presetSubtype="0" fill="hold" grpId="0" nodeType="afterEffect">
                                  <p:stCondLst>
                                    <p:cond delay="0"/>
                                  </p:stCondLst>
                                  <p:childTnLst>
                                    <p:set>
                                      <p:cBhvr>
                                        <p:cTn id="201" dur="1" fill="hold">
                                          <p:stCondLst>
                                            <p:cond delay="0"/>
                                          </p:stCondLst>
                                        </p:cTn>
                                        <p:tgtEl>
                                          <p:spTgt spid="52"/>
                                        </p:tgtEl>
                                        <p:attrNameLst>
                                          <p:attrName>style.visibility</p:attrName>
                                        </p:attrNameLst>
                                      </p:cBhvr>
                                      <p:to>
                                        <p:strVal val="visible"/>
                                      </p:to>
                                    </p:set>
                                    <p:animEffect transition="in" filter="fade">
                                      <p:cBhvr>
                                        <p:cTn id="202" dur="550"/>
                                        <p:tgtEl>
                                          <p:spTgt spid="52"/>
                                        </p:tgtEl>
                                      </p:cBhvr>
                                    </p:animEffect>
                                  </p:childTnLst>
                                </p:cTn>
                              </p:par>
                            </p:childTnLst>
                          </p:cTn>
                        </p:par>
                        <p:par>
                          <p:cTn id="203" fill="hold">
                            <p:stCondLst>
                              <p:cond delay="0"/>
                            </p:stCondLst>
                            <p:childTnLst>
                              <p:par>
                                <p:cTn id="204" presetID="10" presetClass="entr" presetSubtype="0" fill="hold" grpId="0" nodeType="afterEffect">
                                  <p:stCondLst>
                                    <p:cond delay="0"/>
                                  </p:stCondLst>
                                  <p:childTnLst>
                                    <p:set>
                                      <p:cBhvr>
                                        <p:cTn id="205" dur="1" fill="hold">
                                          <p:stCondLst>
                                            <p:cond delay="0"/>
                                          </p:stCondLst>
                                        </p:cTn>
                                        <p:tgtEl>
                                          <p:spTgt spid="53"/>
                                        </p:tgtEl>
                                        <p:attrNameLst>
                                          <p:attrName>style.visibility</p:attrName>
                                        </p:attrNameLst>
                                      </p:cBhvr>
                                      <p:to>
                                        <p:strVal val="visible"/>
                                      </p:to>
                                    </p:set>
                                    <p:animEffect transition="in" filter="fade">
                                      <p:cBhvr>
                                        <p:cTn id="206" dur="550"/>
                                        <p:tgtEl>
                                          <p:spTgt spid="53"/>
                                        </p:tgtEl>
                                      </p:cBhvr>
                                    </p:animEffect>
                                  </p:childTnLst>
                                </p:cTn>
                              </p:par>
                            </p:childTnLst>
                          </p:cTn>
                        </p:par>
                        <p:par>
                          <p:cTn id="207" fill="hold">
                            <p:stCondLst>
                              <p:cond delay="0"/>
                            </p:stCondLst>
                            <p:childTnLst>
                              <p:par>
                                <p:cTn id="208" presetID="10" presetClass="entr" presetSubtype="0" fill="hold" grpId="0" nodeType="afterEffect">
                                  <p:stCondLst>
                                    <p:cond delay="0"/>
                                  </p:stCondLst>
                                  <p:childTnLst>
                                    <p:set>
                                      <p:cBhvr>
                                        <p:cTn id="209" dur="1" fill="hold">
                                          <p:stCondLst>
                                            <p:cond delay="0"/>
                                          </p:stCondLst>
                                        </p:cTn>
                                        <p:tgtEl>
                                          <p:spTgt spid="54"/>
                                        </p:tgtEl>
                                        <p:attrNameLst>
                                          <p:attrName>style.visibility</p:attrName>
                                        </p:attrNameLst>
                                      </p:cBhvr>
                                      <p:to>
                                        <p:strVal val="visible"/>
                                      </p:to>
                                    </p:set>
                                    <p:animEffect transition="in" filter="fade">
                                      <p:cBhvr>
                                        <p:cTn id="210" dur="550"/>
                                        <p:tgtEl>
                                          <p:spTgt spid="54"/>
                                        </p:tgtEl>
                                      </p:cBhvr>
                                    </p:animEffect>
                                  </p:childTnLst>
                                </p:cTn>
                              </p:par>
                            </p:childTnLst>
                          </p:cTn>
                        </p:par>
                        <p:par>
                          <p:cTn id="211" fill="hold">
                            <p:stCondLst>
                              <p:cond delay="0"/>
                            </p:stCondLst>
                            <p:childTnLst>
                              <p:par>
                                <p:cTn id="212" presetID="10" presetClass="entr" presetSubtype="0" fill="hold" grpId="0" nodeType="afterEffect">
                                  <p:stCondLst>
                                    <p:cond delay="0"/>
                                  </p:stCondLst>
                                  <p:childTnLst>
                                    <p:set>
                                      <p:cBhvr>
                                        <p:cTn id="213" dur="1" fill="hold">
                                          <p:stCondLst>
                                            <p:cond delay="0"/>
                                          </p:stCondLst>
                                        </p:cTn>
                                        <p:tgtEl>
                                          <p:spTgt spid="55"/>
                                        </p:tgtEl>
                                        <p:attrNameLst>
                                          <p:attrName>style.visibility</p:attrName>
                                        </p:attrNameLst>
                                      </p:cBhvr>
                                      <p:to>
                                        <p:strVal val="visible"/>
                                      </p:to>
                                    </p:set>
                                    <p:animEffect transition="in" filter="fade">
                                      <p:cBhvr>
                                        <p:cTn id="214" dur="550"/>
                                        <p:tgtEl>
                                          <p:spTgt spid="55"/>
                                        </p:tgtEl>
                                      </p:cBhvr>
                                    </p:animEffect>
                                  </p:childTnLst>
                                </p:cTn>
                              </p:par>
                            </p:childTnLst>
                          </p:cTn>
                        </p:par>
                        <p:par>
                          <p:cTn id="215" fill="hold">
                            <p:stCondLst>
                              <p:cond delay="0"/>
                            </p:stCondLst>
                            <p:childTnLst>
                              <p:par>
                                <p:cTn id="216" presetID="10" presetClass="entr" presetSubtype="0" fill="hold" grpId="0" nodeType="afterEffect">
                                  <p:stCondLst>
                                    <p:cond delay="0"/>
                                  </p:stCondLst>
                                  <p:childTnLst>
                                    <p:set>
                                      <p:cBhvr>
                                        <p:cTn id="217" dur="1" fill="hold">
                                          <p:stCondLst>
                                            <p:cond delay="0"/>
                                          </p:stCondLst>
                                        </p:cTn>
                                        <p:tgtEl>
                                          <p:spTgt spid="56"/>
                                        </p:tgtEl>
                                        <p:attrNameLst>
                                          <p:attrName>style.visibility</p:attrName>
                                        </p:attrNameLst>
                                      </p:cBhvr>
                                      <p:to>
                                        <p:strVal val="visible"/>
                                      </p:to>
                                    </p:set>
                                    <p:animEffect transition="in" filter="fade">
                                      <p:cBhvr>
                                        <p:cTn id="218" dur="550"/>
                                        <p:tgtEl>
                                          <p:spTgt spid="56"/>
                                        </p:tgtEl>
                                      </p:cBhvr>
                                    </p:animEffect>
                                  </p:childTnLst>
                                </p:cTn>
                              </p:par>
                            </p:childTnLst>
                          </p:cTn>
                        </p:par>
                        <p:par>
                          <p:cTn id="219" fill="hold">
                            <p:stCondLst>
                              <p:cond delay="0"/>
                            </p:stCondLst>
                            <p:childTnLst>
                              <p:par>
                                <p:cTn id="220" presetID="10" presetClass="entr" presetSubtype="0" fill="hold" grpId="0" nodeType="afterEffect">
                                  <p:stCondLst>
                                    <p:cond delay="0"/>
                                  </p:stCondLst>
                                  <p:childTnLst>
                                    <p:set>
                                      <p:cBhvr>
                                        <p:cTn id="221" dur="1" fill="hold">
                                          <p:stCondLst>
                                            <p:cond delay="0"/>
                                          </p:stCondLst>
                                        </p:cTn>
                                        <p:tgtEl>
                                          <p:spTgt spid="57"/>
                                        </p:tgtEl>
                                        <p:attrNameLst>
                                          <p:attrName>style.visibility</p:attrName>
                                        </p:attrNameLst>
                                      </p:cBhvr>
                                      <p:to>
                                        <p:strVal val="visible"/>
                                      </p:to>
                                    </p:set>
                                    <p:animEffect transition="in" filter="fade">
                                      <p:cBhvr>
                                        <p:cTn id="222" dur="550"/>
                                        <p:tgtEl>
                                          <p:spTgt spid="57"/>
                                        </p:tgtEl>
                                      </p:cBhvr>
                                    </p:animEffect>
                                  </p:childTnLst>
                                </p:cTn>
                              </p:par>
                            </p:childTnLst>
                          </p:cTn>
                        </p:par>
                        <p:par>
                          <p:cTn id="223" fill="hold">
                            <p:stCondLst>
                              <p:cond delay="0"/>
                            </p:stCondLst>
                            <p:childTnLst>
                              <p:par>
                                <p:cTn id="224" presetID="10" presetClass="entr" presetSubtype="0" fill="hold" grpId="0" nodeType="afterEffect">
                                  <p:stCondLst>
                                    <p:cond delay="0"/>
                                  </p:stCondLst>
                                  <p:childTnLst>
                                    <p:set>
                                      <p:cBhvr>
                                        <p:cTn id="225" dur="1" fill="hold">
                                          <p:stCondLst>
                                            <p:cond delay="0"/>
                                          </p:stCondLst>
                                        </p:cTn>
                                        <p:tgtEl>
                                          <p:spTgt spid="58"/>
                                        </p:tgtEl>
                                        <p:attrNameLst>
                                          <p:attrName>style.visibility</p:attrName>
                                        </p:attrNameLst>
                                      </p:cBhvr>
                                      <p:to>
                                        <p:strVal val="visible"/>
                                      </p:to>
                                    </p:set>
                                    <p:animEffect transition="in" filter="fade">
                                      <p:cBhvr>
                                        <p:cTn id="226" dur="550"/>
                                        <p:tgtEl>
                                          <p:spTgt spid="58"/>
                                        </p:tgtEl>
                                      </p:cBhvr>
                                    </p:animEffect>
                                  </p:childTnLst>
                                </p:cTn>
                              </p:par>
                            </p:childTnLst>
                          </p:cTn>
                        </p:par>
                        <p:par>
                          <p:cTn id="227" fill="hold">
                            <p:stCondLst>
                              <p:cond delay="0"/>
                            </p:stCondLst>
                            <p:childTnLst>
                              <p:par>
                                <p:cTn id="228" presetID="10" presetClass="entr" presetSubtype="0" fill="hold" grpId="0" nodeType="afterEffect">
                                  <p:stCondLst>
                                    <p:cond delay="0"/>
                                  </p:stCondLst>
                                  <p:childTnLst>
                                    <p:set>
                                      <p:cBhvr>
                                        <p:cTn id="229" dur="1" fill="hold">
                                          <p:stCondLst>
                                            <p:cond delay="0"/>
                                          </p:stCondLst>
                                        </p:cTn>
                                        <p:tgtEl>
                                          <p:spTgt spid="59"/>
                                        </p:tgtEl>
                                        <p:attrNameLst>
                                          <p:attrName>style.visibility</p:attrName>
                                        </p:attrNameLst>
                                      </p:cBhvr>
                                      <p:to>
                                        <p:strVal val="visible"/>
                                      </p:to>
                                    </p:set>
                                    <p:animEffect transition="in" filter="fade">
                                      <p:cBhvr>
                                        <p:cTn id="230" dur="550"/>
                                        <p:tgtEl>
                                          <p:spTgt spid="59"/>
                                        </p:tgtEl>
                                      </p:cBhvr>
                                    </p:animEffect>
                                  </p:childTnLst>
                                </p:cTn>
                              </p:par>
                            </p:childTnLst>
                          </p:cTn>
                        </p:par>
                        <p:par>
                          <p:cTn id="231" fill="hold">
                            <p:stCondLst>
                              <p:cond delay="0"/>
                            </p:stCondLst>
                            <p:childTnLst>
                              <p:par>
                                <p:cTn id="232" presetID="10" presetClass="entr" presetSubtype="0" fill="hold" grpId="0" nodeType="afterEffect">
                                  <p:stCondLst>
                                    <p:cond delay="0"/>
                                  </p:stCondLst>
                                  <p:childTnLst>
                                    <p:set>
                                      <p:cBhvr>
                                        <p:cTn id="233" dur="1" fill="hold">
                                          <p:stCondLst>
                                            <p:cond delay="0"/>
                                          </p:stCondLst>
                                        </p:cTn>
                                        <p:tgtEl>
                                          <p:spTgt spid="60"/>
                                        </p:tgtEl>
                                        <p:attrNameLst>
                                          <p:attrName>style.visibility</p:attrName>
                                        </p:attrNameLst>
                                      </p:cBhvr>
                                      <p:to>
                                        <p:strVal val="visible"/>
                                      </p:to>
                                    </p:set>
                                    <p:animEffect transition="in" filter="fade">
                                      <p:cBhvr>
                                        <p:cTn id="234" dur="550"/>
                                        <p:tgtEl>
                                          <p:spTgt spid="60"/>
                                        </p:tgtEl>
                                      </p:cBhvr>
                                    </p:animEffect>
                                  </p:childTnLst>
                                </p:cTn>
                              </p:par>
                            </p:childTnLst>
                          </p:cTn>
                        </p:par>
                        <p:par>
                          <p:cTn id="235" fill="hold">
                            <p:stCondLst>
                              <p:cond delay="0"/>
                            </p:stCondLst>
                            <p:childTnLst>
                              <p:par>
                                <p:cTn id="236" presetID="10" presetClass="entr" presetSubtype="0" fill="hold" grpId="0" nodeType="afterEffect">
                                  <p:stCondLst>
                                    <p:cond delay="0"/>
                                  </p:stCondLst>
                                  <p:childTnLst>
                                    <p:set>
                                      <p:cBhvr>
                                        <p:cTn id="237" dur="1" fill="hold">
                                          <p:stCondLst>
                                            <p:cond delay="0"/>
                                          </p:stCondLst>
                                        </p:cTn>
                                        <p:tgtEl>
                                          <p:spTgt spid="61"/>
                                        </p:tgtEl>
                                        <p:attrNameLst>
                                          <p:attrName>style.visibility</p:attrName>
                                        </p:attrNameLst>
                                      </p:cBhvr>
                                      <p:to>
                                        <p:strVal val="visible"/>
                                      </p:to>
                                    </p:set>
                                    <p:animEffect transition="in" filter="fade">
                                      <p:cBhvr>
                                        <p:cTn id="238" dur="550"/>
                                        <p:tgtEl>
                                          <p:spTgt spid="61"/>
                                        </p:tgtEl>
                                      </p:cBhvr>
                                    </p:animEffect>
                                  </p:childTnLst>
                                </p:cTn>
                              </p:par>
                            </p:childTnLst>
                          </p:cTn>
                        </p:par>
                        <p:par>
                          <p:cTn id="239" fill="hold">
                            <p:stCondLst>
                              <p:cond delay="0"/>
                            </p:stCondLst>
                            <p:childTnLst>
                              <p:par>
                                <p:cTn id="240" presetID="10" presetClass="entr" presetSubtype="0" fill="hold" grpId="0" nodeType="afterEffect">
                                  <p:stCondLst>
                                    <p:cond delay="0"/>
                                  </p:stCondLst>
                                  <p:childTnLst>
                                    <p:set>
                                      <p:cBhvr>
                                        <p:cTn id="241" dur="1" fill="hold">
                                          <p:stCondLst>
                                            <p:cond delay="0"/>
                                          </p:stCondLst>
                                        </p:cTn>
                                        <p:tgtEl>
                                          <p:spTgt spid="62"/>
                                        </p:tgtEl>
                                        <p:attrNameLst>
                                          <p:attrName>style.visibility</p:attrName>
                                        </p:attrNameLst>
                                      </p:cBhvr>
                                      <p:to>
                                        <p:strVal val="visible"/>
                                      </p:to>
                                    </p:set>
                                    <p:animEffect transition="in" filter="fade">
                                      <p:cBhvr>
                                        <p:cTn id="242" dur="550"/>
                                        <p:tgtEl>
                                          <p:spTgt spid="62"/>
                                        </p:tgtEl>
                                      </p:cBhvr>
                                    </p:animEffect>
                                  </p:childTnLst>
                                </p:cTn>
                              </p:par>
                            </p:childTnLst>
                          </p:cTn>
                        </p:par>
                        <p:par>
                          <p:cTn id="243" fill="hold">
                            <p:stCondLst>
                              <p:cond delay="0"/>
                            </p:stCondLst>
                            <p:childTnLst>
                              <p:par>
                                <p:cTn id="244" presetID="10" presetClass="entr" presetSubtype="0" fill="hold" grpId="0" nodeType="afterEffect">
                                  <p:stCondLst>
                                    <p:cond delay="0"/>
                                  </p:stCondLst>
                                  <p:childTnLst>
                                    <p:set>
                                      <p:cBhvr>
                                        <p:cTn id="245" dur="1" fill="hold">
                                          <p:stCondLst>
                                            <p:cond delay="0"/>
                                          </p:stCondLst>
                                        </p:cTn>
                                        <p:tgtEl>
                                          <p:spTgt spid="63"/>
                                        </p:tgtEl>
                                        <p:attrNameLst>
                                          <p:attrName>style.visibility</p:attrName>
                                        </p:attrNameLst>
                                      </p:cBhvr>
                                      <p:to>
                                        <p:strVal val="visible"/>
                                      </p:to>
                                    </p:set>
                                    <p:animEffect transition="in" filter="fade">
                                      <p:cBhvr>
                                        <p:cTn id="246" dur="550"/>
                                        <p:tgtEl>
                                          <p:spTgt spid="63"/>
                                        </p:tgtEl>
                                      </p:cBhvr>
                                    </p:animEffect>
                                  </p:childTnLst>
                                </p:cTn>
                              </p:par>
                            </p:childTnLst>
                          </p:cTn>
                        </p:par>
                        <p:par>
                          <p:cTn id="247" fill="hold">
                            <p:stCondLst>
                              <p:cond delay="0"/>
                            </p:stCondLst>
                            <p:childTnLst>
                              <p:par>
                                <p:cTn id="248" presetID="10" presetClass="entr" presetSubtype="0" fill="hold" grpId="0" nodeType="afterEffect">
                                  <p:stCondLst>
                                    <p:cond delay="0"/>
                                  </p:stCondLst>
                                  <p:childTnLst>
                                    <p:set>
                                      <p:cBhvr>
                                        <p:cTn id="249" dur="1" fill="hold">
                                          <p:stCondLst>
                                            <p:cond delay="0"/>
                                          </p:stCondLst>
                                        </p:cTn>
                                        <p:tgtEl>
                                          <p:spTgt spid="64"/>
                                        </p:tgtEl>
                                        <p:attrNameLst>
                                          <p:attrName>style.visibility</p:attrName>
                                        </p:attrNameLst>
                                      </p:cBhvr>
                                      <p:to>
                                        <p:strVal val="visible"/>
                                      </p:to>
                                    </p:set>
                                    <p:animEffect transition="in" filter="fade">
                                      <p:cBhvr>
                                        <p:cTn id="250" dur="550"/>
                                        <p:tgtEl>
                                          <p:spTgt spid="64"/>
                                        </p:tgtEl>
                                      </p:cBhvr>
                                    </p:animEffect>
                                  </p:childTnLst>
                                </p:cTn>
                              </p:par>
                            </p:childTnLst>
                          </p:cTn>
                        </p:par>
                        <p:par>
                          <p:cTn id="251" fill="hold">
                            <p:stCondLst>
                              <p:cond delay="0"/>
                            </p:stCondLst>
                            <p:childTnLst>
                              <p:par>
                                <p:cTn id="252" presetID="10" presetClass="entr" presetSubtype="0" fill="hold" grpId="0" nodeType="afterEffect">
                                  <p:stCondLst>
                                    <p:cond delay="0"/>
                                  </p:stCondLst>
                                  <p:childTnLst>
                                    <p:set>
                                      <p:cBhvr>
                                        <p:cTn id="253" dur="1" fill="hold">
                                          <p:stCondLst>
                                            <p:cond delay="0"/>
                                          </p:stCondLst>
                                        </p:cTn>
                                        <p:tgtEl>
                                          <p:spTgt spid="65"/>
                                        </p:tgtEl>
                                        <p:attrNameLst>
                                          <p:attrName>style.visibility</p:attrName>
                                        </p:attrNameLst>
                                      </p:cBhvr>
                                      <p:to>
                                        <p:strVal val="visible"/>
                                      </p:to>
                                    </p:set>
                                    <p:animEffect transition="in" filter="fade">
                                      <p:cBhvr>
                                        <p:cTn id="254" dur="550"/>
                                        <p:tgtEl>
                                          <p:spTgt spid="65"/>
                                        </p:tgtEl>
                                      </p:cBhvr>
                                    </p:animEffect>
                                  </p:childTnLst>
                                </p:cTn>
                              </p:par>
                            </p:childTnLst>
                          </p:cTn>
                        </p:par>
                        <p:par>
                          <p:cTn id="255" fill="hold">
                            <p:stCondLst>
                              <p:cond delay="0"/>
                            </p:stCondLst>
                            <p:childTnLst>
                              <p:par>
                                <p:cTn id="256" presetID="10" presetClass="entr" presetSubtype="0" fill="hold" grpId="0" nodeType="afterEffect">
                                  <p:stCondLst>
                                    <p:cond delay="0"/>
                                  </p:stCondLst>
                                  <p:childTnLst>
                                    <p:set>
                                      <p:cBhvr>
                                        <p:cTn id="257" dur="1" fill="hold">
                                          <p:stCondLst>
                                            <p:cond delay="0"/>
                                          </p:stCondLst>
                                        </p:cTn>
                                        <p:tgtEl>
                                          <p:spTgt spid="66"/>
                                        </p:tgtEl>
                                        <p:attrNameLst>
                                          <p:attrName>style.visibility</p:attrName>
                                        </p:attrNameLst>
                                      </p:cBhvr>
                                      <p:to>
                                        <p:strVal val="visible"/>
                                      </p:to>
                                    </p:set>
                                    <p:animEffect transition="in" filter="fade">
                                      <p:cBhvr>
                                        <p:cTn id="258" dur="550"/>
                                        <p:tgtEl>
                                          <p:spTgt spid="66"/>
                                        </p:tgtEl>
                                      </p:cBhvr>
                                    </p:animEffect>
                                  </p:childTnLst>
                                </p:cTn>
                              </p:par>
                            </p:childTnLst>
                          </p:cTn>
                        </p:par>
                        <p:par>
                          <p:cTn id="259" fill="hold">
                            <p:stCondLst>
                              <p:cond delay="0"/>
                            </p:stCondLst>
                            <p:childTnLst>
                              <p:par>
                                <p:cTn id="260" presetID="10" presetClass="entr" presetSubtype="0" fill="hold" grpId="0" nodeType="afterEffect">
                                  <p:stCondLst>
                                    <p:cond delay="0"/>
                                  </p:stCondLst>
                                  <p:childTnLst>
                                    <p:set>
                                      <p:cBhvr>
                                        <p:cTn id="261" dur="1" fill="hold">
                                          <p:stCondLst>
                                            <p:cond delay="0"/>
                                          </p:stCondLst>
                                        </p:cTn>
                                        <p:tgtEl>
                                          <p:spTgt spid="67"/>
                                        </p:tgtEl>
                                        <p:attrNameLst>
                                          <p:attrName>style.visibility</p:attrName>
                                        </p:attrNameLst>
                                      </p:cBhvr>
                                      <p:to>
                                        <p:strVal val="visible"/>
                                      </p:to>
                                    </p:set>
                                    <p:animEffect transition="in" filter="fade">
                                      <p:cBhvr>
                                        <p:cTn id="262" dur="550"/>
                                        <p:tgtEl>
                                          <p:spTgt spid="67"/>
                                        </p:tgtEl>
                                      </p:cBhvr>
                                    </p:animEffect>
                                  </p:childTnLst>
                                </p:cTn>
                              </p:par>
                            </p:childTnLst>
                          </p:cTn>
                        </p:par>
                        <p:par>
                          <p:cTn id="263" fill="hold">
                            <p:stCondLst>
                              <p:cond delay="0"/>
                            </p:stCondLst>
                            <p:childTnLst>
                              <p:par>
                                <p:cTn id="264" presetID="10" presetClass="entr" presetSubtype="0" fill="hold" grpId="0" nodeType="afterEffect">
                                  <p:stCondLst>
                                    <p:cond delay="0"/>
                                  </p:stCondLst>
                                  <p:childTnLst>
                                    <p:set>
                                      <p:cBhvr>
                                        <p:cTn id="265" dur="1" fill="hold">
                                          <p:stCondLst>
                                            <p:cond delay="0"/>
                                          </p:stCondLst>
                                        </p:cTn>
                                        <p:tgtEl>
                                          <p:spTgt spid="68"/>
                                        </p:tgtEl>
                                        <p:attrNameLst>
                                          <p:attrName>style.visibility</p:attrName>
                                        </p:attrNameLst>
                                      </p:cBhvr>
                                      <p:to>
                                        <p:strVal val="visible"/>
                                      </p:to>
                                    </p:set>
                                    <p:animEffect transition="in" filter="fade">
                                      <p:cBhvr>
                                        <p:cTn id="266" dur="550"/>
                                        <p:tgtEl>
                                          <p:spTgt spid="68"/>
                                        </p:tgtEl>
                                      </p:cBhvr>
                                    </p:animEffect>
                                  </p:childTnLst>
                                </p:cTn>
                              </p:par>
                            </p:childTnLst>
                          </p:cTn>
                        </p:par>
                        <p:par>
                          <p:cTn id="267" fill="hold">
                            <p:stCondLst>
                              <p:cond delay="0"/>
                            </p:stCondLst>
                            <p:childTnLst>
                              <p:par>
                                <p:cTn id="268" presetID="10" presetClass="entr" presetSubtype="0" fill="hold" grpId="0" nodeType="afterEffect">
                                  <p:stCondLst>
                                    <p:cond delay="0"/>
                                  </p:stCondLst>
                                  <p:childTnLst>
                                    <p:set>
                                      <p:cBhvr>
                                        <p:cTn id="269" dur="1" fill="hold">
                                          <p:stCondLst>
                                            <p:cond delay="0"/>
                                          </p:stCondLst>
                                        </p:cTn>
                                        <p:tgtEl>
                                          <p:spTgt spid="69"/>
                                        </p:tgtEl>
                                        <p:attrNameLst>
                                          <p:attrName>style.visibility</p:attrName>
                                        </p:attrNameLst>
                                      </p:cBhvr>
                                      <p:to>
                                        <p:strVal val="visible"/>
                                      </p:to>
                                    </p:set>
                                    <p:animEffect transition="in" filter="fade">
                                      <p:cBhvr>
                                        <p:cTn id="270" dur="550"/>
                                        <p:tgtEl>
                                          <p:spTgt spid="69"/>
                                        </p:tgtEl>
                                      </p:cBhvr>
                                    </p:animEffect>
                                  </p:childTnLst>
                                </p:cTn>
                              </p:par>
                            </p:childTnLst>
                          </p:cTn>
                        </p:par>
                        <p:par>
                          <p:cTn id="271" fill="hold">
                            <p:stCondLst>
                              <p:cond delay="0"/>
                            </p:stCondLst>
                            <p:childTnLst>
                              <p:par>
                                <p:cTn id="272" presetID="10" presetClass="entr" presetSubtype="0" fill="hold" grpId="0" nodeType="afterEffect">
                                  <p:stCondLst>
                                    <p:cond delay="0"/>
                                  </p:stCondLst>
                                  <p:childTnLst>
                                    <p:set>
                                      <p:cBhvr>
                                        <p:cTn id="273" dur="1" fill="hold">
                                          <p:stCondLst>
                                            <p:cond delay="0"/>
                                          </p:stCondLst>
                                        </p:cTn>
                                        <p:tgtEl>
                                          <p:spTgt spid="70"/>
                                        </p:tgtEl>
                                        <p:attrNameLst>
                                          <p:attrName>style.visibility</p:attrName>
                                        </p:attrNameLst>
                                      </p:cBhvr>
                                      <p:to>
                                        <p:strVal val="visible"/>
                                      </p:to>
                                    </p:set>
                                    <p:animEffect transition="in" filter="fade">
                                      <p:cBhvr>
                                        <p:cTn id="274" dur="550"/>
                                        <p:tgtEl>
                                          <p:spTgt spid="70"/>
                                        </p:tgtEl>
                                      </p:cBhvr>
                                    </p:animEffect>
                                  </p:childTnLst>
                                </p:cTn>
                              </p:par>
                            </p:childTnLst>
                          </p:cTn>
                        </p:par>
                        <p:par>
                          <p:cTn id="275" fill="hold">
                            <p:stCondLst>
                              <p:cond delay="0"/>
                            </p:stCondLst>
                            <p:childTnLst>
                              <p:par>
                                <p:cTn id="276" presetID="10" presetClass="entr" presetSubtype="0" fill="hold" grpId="0" nodeType="afterEffect">
                                  <p:stCondLst>
                                    <p:cond delay="0"/>
                                  </p:stCondLst>
                                  <p:childTnLst>
                                    <p:set>
                                      <p:cBhvr>
                                        <p:cTn id="277" dur="1" fill="hold">
                                          <p:stCondLst>
                                            <p:cond delay="0"/>
                                          </p:stCondLst>
                                        </p:cTn>
                                        <p:tgtEl>
                                          <p:spTgt spid="71"/>
                                        </p:tgtEl>
                                        <p:attrNameLst>
                                          <p:attrName>style.visibility</p:attrName>
                                        </p:attrNameLst>
                                      </p:cBhvr>
                                      <p:to>
                                        <p:strVal val="visible"/>
                                      </p:to>
                                    </p:set>
                                    <p:animEffect transition="in" filter="fade">
                                      <p:cBhvr>
                                        <p:cTn id="278" dur="550"/>
                                        <p:tgtEl>
                                          <p:spTgt spid="71"/>
                                        </p:tgtEl>
                                      </p:cBhvr>
                                    </p:animEffect>
                                  </p:childTnLst>
                                </p:cTn>
                              </p:par>
                            </p:childTnLst>
                          </p:cTn>
                        </p:par>
                        <p:par>
                          <p:cTn id="279" fill="hold">
                            <p:stCondLst>
                              <p:cond delay="0"/>
                            </p:stCondLst>
                            <p:childTnLst>
                              <p:par>
                                <p:cTn id="280" presetID="10" presetClass="entr" presetSubtype="0" fill="hold" grpId="0" nodeType="afterEffect">
                                  <p:stCondLst>
                                    <p:cond delay="0"/>
                                  </p:stCondLst>
                                  <p:childTnLst>
                                    <p:set>
                                      <p:cBhvr>
                                        <p:cTn id="281" dur="1" fill="hold">
                                          <p:stCondLst>
                                            <p:cond delay="0"/>
                                          </p:stCondLst>
                                        </p:cTn>
                                        <p:tgtEl>
                                          <p:spTgt spid="72"/>
                                        </p:tgtEl>
                                        <p:attrNameLst>
                                          <p:attrName>style.visibility</p:attrName>
                                        </p:attrNameLst>
                                      </p:cBhvr>
                                      <p:to>
                                        <p:strVal val="visible"/>
                                      </p:to>
                                    </p:set>
                                    <p:animEffect transition="in" filter="fade">
                                      <p:cBhvr>
                                        <p:cTn id="282" dur="550"/>
                                        <p:tgtEl>
                                          <p:spTgt spid="72"/>
                                        </p:tgtEl>
                                      </p:cBhvr>
                                    </p:animEffect>
                                  </p:childTnLst>
                                </p:cTn>
                              </p:par>
                            </p:childTnLst>
                          </p:cTn>
                        </p:par>
                        <p:par>
                          <p:cTn id="283" fill="hold">
                            <p:stCondLst>
                              <p:cond delay="0"/>
                            </p:stCondLst>
                            <p:childTnLst>
                              <p:par>
                                <p:cTn id="284" presetID="10" presetClass="entr" presetSubtype="0" fill="hold" grpId="0" nodeType="afterEffect">
                                  <p:stCondLst>
                                    <p:cond delay="0"/>
                                  </p:stCondLst>
                                  <p:childTnLst>
                                    <p:set>
                                      <p:cBhvr>
                                        <p:cTn id="285" dur="1" fill="hold">
                                          <p:stCondLst>
                                            <p:cond delay="0"/>
                                          </p:stCondLst>
                                        </p:cTn>
                                        <p:tgtEl>
                                          <p:spTgt spid="73"/>
                                        </p:tgtEl>
                                        <p:attrNameLst>
                                          <p:attrName>style.visibility</p:attrName>
                                        </p:attrNameLst>
                                      </p:cBhvr>
                                      <p:to>
                                        <p:strVal val="visible"/>
                                      </p:to>
                                    </p:set>
                                    <p:animEffect transition="in" filter="fade">
                                      <p:cBhvr>
                                        <p:cTn id="286" dur="550"/>
                                        <p:tgtEl>
                                          <p:spTgt spid="73"/>
                                        </p:tgtEl>
                                      </p:cBhvr>
                                    </p:animEffect>
                                  </p:childTnLst>
                                </p:cTn>
                              </p:par>
                            </p:childTnLst>
                          </p:cTn>
                        </p:par>
                        <p:par>
                          <p:cTn id="287" fill="hold">
                            <p:stCondLst>
                              <p:cond delay="0"/>
                            </p:stCondLst>
                            <p:childTnLst>
                              <p:par>
                                <p:cTn id="288" presetID="10" presetClass="entr" presetSubtype="0" fill="hold" grpId="0" nodeType="afterEffect">
                                  <p:stCondLst>
                                    <p:cond delay="0"/>
                                  </p:stCondLst>
                                  <p:childTnLst>
                                    <p:set>
                                      <p:cBhvr>
                                        <p:cTn id="289" dur="1" fill="hold">
                                          <p:stCondLst>
                                            <p:cond delay="0"/>
                                          </p:stCondLst>
                                        </p:cTn>
                                        <p:tgtEl>
                                          <p:spTgt spid="74"/>
                                        </p:tgtEl>
                                        <p:attrNameLst>
                                          <p:attrName>style.visibility</p:attrName>
                                        </p:attrNameLst>
                                      </p:cBhvr>
                                      <p:to>
                                        <p:strVal val="visible"/>
                                      </p:to>
                                    </p:set>
                                    <p:animEffect transition="in" filter="fade">
                                      <p:cBhvr>
                                        <p:cTn id="290" dur="550"/>
                                        <p:tgtEl>
                                          <p:spTgt spid="74"/>
                                        </p:tgtEl>
                                      </p:cBhvr>
                                    </p:animEffect>
                                  </p:childTnLst>
                                </p:cTn>
                              </p:par>
                            </p:childTnLst>
                          </p:cTn>
                        </p:par>
                        <p:par>
                          <p:cTn id="291" fill="hold">
                            <p:stCondLst>
                              <p:cond delay="0"/>
                            </p:stCondLst>
                            <p:childTnLst>
                              <p:par>
                                <p:cTn id="292" presetID="10" presetClass="entr" presetSubtype="0" fill="hold" grpId="0" nodeType="afterEffect">
                                  <p:stCondLst>
                                    <p:cond delay="0"/>
                                  </p:stCondLst>
                                  <p:childTnLst>
                                    <p:set>
                                      <p:cBhvr>
                                        <p:cTn id="293" dur="1" fill="hold">
                                          <p:stCondLst>
                                            <p:cond delay="0"/>
                                          </p:stCondLst>
                                        </p:cTn>
                                        <p:tgtEl>
                                          <p:spTgt spid="75"/>
                                        </p:tgtEl>
                                        <p:attrNameLst>
                                          <p:attrName>style.visibility</p:attrName>
                                        </p:attrNameLst>
                                      </p:cBhvr>
                                      <p:to>
                                        <p:strVal val="visible"/>
                                      </p:to>
                                    </p:set>
                                    <p:animEffect transition="in" filter="fade">
                                      <p:cBhvr>
                                        <p:cTn id="294" dur="550"/>
                                        <p:tgtEl>
                                          <p:spTgt spid="75"/>
                                        </p:tgtEl>
                                      </p:cBhvr>
                                    </p:animEffect>
                                  </p:childTnLst>
                                </p:cTn>
                              </p:par>
                            </p:childTnLst>
                          </p:cTn>
                        </p:par>
                        <p:par>
                          <p:cTn id="295" fill="hold">
                            <p:stCondLst>
                              <p:cond delay="0"/>
                            </p:stCondLst>
                            <p:childTnLst>
                              <p:par>
                                <p:cTn id="296" presetID="10" presetClass="entr" presetSubtype="0" fill="hold" grpId="0" nodeType="afterEffect">
                                  <p:stCondLst>
                                    <p:cond delay="0"/>
                                  </p:stCondLst>
                                  <p:childTnLst>
                                    <p:set>
                                      <p:cBhvr>
                                        <p:cTn id="297" dur="1" fill="hold">
                                          <p:stCondLst>
                                            <p:cond delay="0"/>
                                          </p:stCondLst>
                                        </p:cTn>
                                        <p:tgtEl>
                                          <p:spTgt spid="76"/>
                                        </p:tgtEl>
                                        <p:attrNameLst>
                                          <p:attrName>style.visibility</p:attrName>
                                        </p:attrNameLst>
                                      </p:cBhvr>
                                      <p:to>
                                        <p:strVal val="visible"/>
                                      </p:to>
                                    </p:set>
                                    <p:animEffect transition="in" filter="fade">
                                      <p:cBhvr>
                                        <p:cTn id="298" dur="550"/>
                                        <p:tgtEl>
                                          <p:spTgt spid="76"/>
                                        </p:tgtEl>
                                      </p:cBhvr>
                                    </p:animEffect>
                                  </p:childTnLst>
                                </p:cTn>
                              </p:par>
                            </p:childTnLst>
                          </p:cTn>
                        </p:par>
                        <p:par>
                          <p:cTn id="299" fill="hold">
                            <p:stCondLst>
                              <p:cond delay="0"/>
                            </p:stCondLst>
                            <p:childTnLst>
                              <p:par>
                                <p:cTn id="300" presetID="10" presetClass="entr" presetSubtype="0" fill="hold" grpId="0" nodeType="afterEffect">
                                  <p:stCondLst>
                                    <p:cond delay="0"/>
                                  </p:stCondLst>
                                  <p:childTnLst>
                                    <p:set>
                                      <p:cBhvr>
                                        <p:cTn id="301" dur="1" fill="hold">
                                          <p:stCondLst>
                                            <p:cond delay="0"/>
                                          </p:stCondLst>
                                        </p:cTn>
                                        <p:tgtEl>
                                          <p:spTgt spid="77"/>
                                        </p:tgtEl>
                                        <p:attrNameLst>
                                          <p:attrName>style.visibility</p:attrName>
                                        </p:attrNameLst>
                                      </p:cBhvr>
                                      <p:to>
                                        <p:strVal val="visible"/>
                                      </p:to>
                                    </p:set>
                                    <p:animEffect transition="in" filter="fade">
                                      <p:cBhvr>
                                        <p:cTn id="302" dur="550"/>
                                        <p:tgtEl>
                                          <p:spTgt spid="77"/>
                                        </p:tgtEl>
                                      </p:cBhvr>
                                    </p:animEffect>
                                  </p:childTnLst>
                                </p:cTn>
                              </p:par>
                            </p:childTnLst>
                          </p:cTn>
                        </p:par>
                        <p:par>
                          <p:cTn id="303" fill="hold">
                            <p:stCondLst>
                              <p:cond delay="0"/>
                            </p:stCondLst>
                            <p:childTnLst>
                              <p:par>
                                <p:cTn id="304" presetID="10" presetClass="entr" presetSubtype="0" fill="hold" grpId="0" nodeType="afterEffect">
                                  <p:stCondLst>
                                    <p:cond delay="0"/>
                                  </p:stCondLst>
                                  <p:childTnLst>
                                    <p:set>
                                      <p:cBhvr>
                                        <p:cTn id="305" dur="1" fill="hold">
                                          <p:stCondLst>
                                            <p:cond delay="0"/>
                                          </p:stCondLst>
                                        </p:cTn>
                                        <p:tgtEl>
                                          <p:spTgt spid="78"/>
                                        </p:tgtEl>
                                        <p:attrNameLst>
                                          <p:attrName>style.visibility</p:attrName>
                                        </p:attrNameLst>
                                      </p:cBhvr>
                                      <p:to>
                                        <p:strVal val="visible"/>
                                      </p:to>
                                    </p:set>
                                    <p:animEffect transition="in" filter="fade">
                                      <p:cBhvr>
                                        <p:cTn id="306" dur="550"/>
                                        <p:tgtEl>
                                          <p:spTgt spid="78"/>
                                        </p:tgtEl>
                                      </p:cBhvr>
                                    </p:animEffect>
                                  </p:childTnLst>
                                </p:cTn>
                              </p:par>
                            </p:childTnLst>
                          </p:cTn>
                        </p:par>
                        <p:par>
                          <p:cTn id="307" fill="hold">
                            <p:stCondLst>
                              <p:cond delay="0"/>
                            </p:stCondLst>
                            <p:childTnLst>
                              <p:par>
                                <p:cTn id="308" presetID="10" presetClass="entr" presetSubtype="0" fill="hold" grpId="0" nodeType="afterEffect">
                                  <p:stCondLst>
                                    <p:cond delay="0"/>
                                  </p:stCondLst>
                                  <p:childTnLst>
                                    <p:set>
                                      <p:cBhvr>
                                        <p:cTn id="309" dur="1" fill="hold">
                                          <p:stCondLst>
                                            <p:cond delay="0"/>
                                          </p:stCondLst>
                                        </p:cTn>
                                        <p:tgtEl>
                                          <p:spTgt spid="79"/>
                                        </p:tgtEl>
                                        <p:attrNameLst>
                                          <p:attrName>style.visibility</p:attrName>
                                        </p:attrNameLst>
                                      </p:cBhvr>
                                      <p:to>
                                        <p:strVal val="visible"/>
                                      </p:to>
                                    </p:set>
                                    <p:animEffect transition="in" filter="fade">
                                      <p:cBhvr>
                                        <p:cTn id="310" dur="550"/>
                                        <p:tgtEl>
                                          <p:spTgt spid="79"/>
                                        </p:tgtEl>
                                      </p:cBhvr>
                                    </p:animEffect>
                                  </p:childTnLst>
                                </p:cTn>
                              </p:par>
                            </p:childTnLst>
                          </p:cTn>
                        </p:par>
                        <p:par>
                          <p:cTn id="311" fill="hold">
                            <p:stCondLst>
                              <p:cond delay="0"/>
                            </p:stCondLst>
                            <p:childTnLst>
                              <p:par>
                                <p:cTn id="312" presetID="10" presetClass="entr" presetSubtype="0" fill="hold" grpId="0" nodeType="afterEffect">
                                  <p:stCondLst>
                                    <p:cond delay="0"/>
                                  </p:stCondLst>
                                  <p:childTnLst>
                                    <p:set>
                                      <p:cBhvr>
                                        <p:cTn id="313" dur="1" fill="hold">
                                          <p:stCondLst>
                                            <p:cond delay="0"/>
                                          </p:stCondLst>
                                        </p:cTn>
                                        <p:tgtEl>
                                          <p:spTgt spid="80"/>
                                        </p:tgtEl>
                                        <p:attrNameLst>
                                          <p:attrName>style.visibility</p:attrName>
                                        </p:attrNameLst>
                                      </p:cBhvr>
                                      <p:to>
                                        <p:strVal val="visible"/>
                                      </p:to>
                                    </p:set>
                                    <p:animEffect transition="in" filter="fade">
                                      <p:cBhvr>
                                        <p:cTn id="314" dur="550"/>
                                        <p:tgtEl>
                                          <p:spTgt spid="80"/>
                                        </p:tgtEl>
                                      </p:cBhvr>
                                    </p:animEffect>
                                  </p:childTnLst>
                                </p:cTn>
                              </p:par>
                            </p:childTnLst>
                          </p:cTn>
                        </p:par>
                        <p:par>
                          <p:cTn id="315" fill="hold">
                            <p:stCondLst>
                              <p:cond delay="0"/>
                            </p:stCondLst>
                            <p:childTnLst>
                              <p:par>
                                <p:cTn id="316" presetID="10" presetClass="entr" presetSubtype="0" fill="hold" grpId="0" nodeType="afterEffect">
                                  <p:stCondLst>
                                    <p:cond delay="0"/>
                                  </p:stCondLst>
                                  <p:childTnLst>
                                    <p:set>
                                      <p:cBhvr>
                                        <p:cTn id="317" dur="1" fill="hold">
                                          <p:stCondLst>
                                            <p:cond delay="0"/>
                                          </p:stCondLst>
                                        </p:cTn>
                                        <p:tgtEl>
                                          <p:spTgt spid="81"/>
                                        </p:tgtEl>
                                        <p:attrNameLst>
                                          <p:attrName>style.visibility</p:attrName>
                                        </p:attrNameLst>
                                      </p:cBhvr>
                                      <p:to>
                                        <p:strVal val="visible"/>
                                      </p:to>
                                    </p:set>
                                    <p:animEffect transition="in" filter="fade">
                                      <p:cBhvr>
                                        <p:cTn id="318" dur="550"/>
                                        <p:tgtEl>
                                          <p:spTgt spid="81"/>
                                        </p:tgtEl>
                                      </p:cBhvr>
                                    </p:animEffect>
                                  </p:childTnLst>
                                </p:cTn>
                              </p:par>
                            </p:childTnLst>
                          </p:cTn>
                        </p:par>
                        <p:par>
                          <p:cTn id="319" fill="hold">
                            <p:stCondLst>
                              <p:cond delay="0"/>
                            </p:stCondLst>
                            <p:childTnLst>
                              <p:par>
                                <p:cTn id="320" presetID="10" presetClass="entr" presetSubtype="0" fill="hold" grpId="0" nodeType="afterEffect">
                                  <p:stCondLst>
                                    <p:cond delay="0"/>
                                  </p:stCondLst>
                                  <p:childTnLst>
                                    <p:set>
                                      <p:cBhvr>
                                        <p:cTn id="321" dur="1" fill="hold">
                                          <p:stCondLst>
                                            <p:cond delay="0"/>
                                          </p:stCondLst>
                                        </p:cTn>
                                        <p:tgtEl>
                                          <p:spTgt spid="82"/>
                                        </p:tgtEl>
                                        <p:attrNameLst>
                                          <p:attrName>style.visibility</p:attrName>
                                        </p:attrNameLst>
                                      </p:cBhvr>
                                      <p:to>
                                        <p:strVal val="visible"/>
                                      </p:to>
                                    </p:set>
                                    <p:animEffect transition="in" filter="fade">
                                      <p:cBhvr>
                                        <p:cTn id="322" dur="550"/>
                                        <p:tgtEl>
                                          <p:spTgt spid="82"/>
                                        </p:tgtEl>
                                      </p:cBhvr>
                                    </p:animEffect>
                                  </p:childTnLst>
                                </p:cTn>
                              </p:par>
                            </p:childTnLst>
                          </p:cTn>
                        </p:par>
                        <p:par>
                          <p:cTn id="323" fill="hold">
                            <p:stCondLst>
                              <p:cond delay="0"/>
                            </p:stCondLst>
                            <p:childTnLst>
                              <p:par>
                                <p:cTn id="324" presetID="10" presetClass="entr" presetSubtype="0" fill="hold" grpId="0" nodeType="afterEffect">
                                  <p:stCondLst>
                                    <p:cond delay="0"/>
                                  </p:stCondLst>
                                  <p:childTnLst>
                                    <p:set>
                                      <p:cBhvr>
                                        <p:cTn id="325" dur="1" fill="hold">
                                          <p:stCondLst>
                                            <p:cond delay="0"/>
                                          </p:stCondLst>
                                        </p:cTn>
                                        <p:tgtEl>
                                          <p:spTgt spid="83"/>
                                        </p:tgtEl>
                                        <p:attrNameLst>
                                          <p:attrName>style.visibility</p:attrName>
                                        </p:attrNameLst>
                                      </p:cBhvr>
                                      <p:to>
                                        <p:strVal val="visible"/>
                                      </p:to>
                                    </p:set>
                                    <p:animEffect transition="in" filter="fade">
                                      <p:cBhvr>
                                        <p:cTn id="326" dur="550"/>
                                        <p:tgtEl>
                                          <p:spTgt spid="83"/>
                                        </p:tgtEl>
                                      </p:cBhvr>
                                    </p:animEffect>
                                  </p:childTnLst>
                                </p:cTn>
                              </p:par>
                            </p:childTnLst>
                          </p:cTn>
                        </p:par>
                        <p:par>
                          <p:cTn id="327" fill="hold">
                            <p:stCondLst>
                              <p:cond delay="0"/>
                            </p:stCondLst>
                            <p:childTnLst>
                              <p:par>
                                <p:cTn id="328" presetID="10" presetClass="entr" presetSubtype="0" fill="hold" grpId="0" nodeType="afterEffect">
                                  <p:stCondLst>
                                    <p:cond delay="0"/>
                                  </p:stCondLst>
                                  <p:childTnLst>
                                    <p:set>
                                      <p:cBhvr>
                                        <p:cTn id="329" dur="1" fill="hold">
                                          <p:stCondLst>
                                            <p:cond delay="0"/>
                                          </p:stCondLst>
                                        </p:cTn>
                                        <p:tgtEl>
                                          <p:spTgt spid="84"/>
                                        </p:tgtEl>
                                        <p:attrNameLst>
                                          <p:attrName>style.visibility</p:attrName>
                                        </p:attrNameLst>
                                      </p:cBhvr>
                                      <p:to>
                                        <p:strVal val="visible"/>
                                      </p:to>
                                    </p:set>
                                    <p:animEffect transition="in" filter="fade">
                                      <p:cBhvr>
                                        <p:cTn id="330" dur="550"/>
                                        <p:tgtEl>
                                          <p:spTgt spid="84"/>
                                        </p:tgtEl>
                                      </p:cBhvr>
                                    </p:animEffect>
                                  </p:childTnLst>
                                </p:cTn>
                              </p:par>
                            </p:childTnLst>
                          </p:cTn>
                        </p:par>
                        <p:par>
                          <p:cTn id="331" fill="hold">
                            <p:stCondLst>
                              <p:cond delay="0"/>
                            </p:stCondLst>
                            <p:childTnLst>
                              <p:par>
                                <p:cTn id="332" presetID="10" presetClass="entr" presetSubtype="0" fill="hold" grpId="0" nodeType="afterEffect">
                                  <p:stCondLst>
                                    <p:cond delay="0"/>
                                  </p:stCondLst>
                                  <p:childTnLst>
                                    <p:set>
                                      <p:cBhvr>
                                        <p:cTn id="333" dur="1" fill="hold">
                                          <p:stCondLst>
                                            <p:cond delay="0"/>
                                          </p:stCondLst>
                                        </p:cTn>
                                        <p:tgtEl>
                                          <p:spTgt spid="85"/>
                                        </p:tgtEl>
                                        <p:attrNameLst>
                                          <p:attrName>style.visibility</p:attrName>
                                        </p:attrNameLst>
                                      </p:cBhvr>
                                      <p:to>
                                        <p:strVal val="visible"/>
                                      </p:to>
                                    </p:set>
                                    <p:animEffect transition="in" filter="fade">
                                      <p:cBhvr>
                                        <p:cTn id="334" dur="550"/>
                                        <p:tgtEl>
                                          <p:spTgt spid="85"/>
                                        </p:tgtEl>
                                      </p:cBhvr>
                                    </p:animEffect>
                                  </p:childTnLst>
                                </p:cTn>
                              </p:par>
                            </p:childTnLst>
                          </p:cTn>
                        </p:par>
                        <p:par>
                          <p:cTn id="335" fill="hold">
                            <p:stCondLst>
                              <p:cond delay="0"/>
                            </p:stCondLst>
                            <p:childTnLst>
                              <p:par>
                                <p:cTn id="336" presetID="10" presetClass="entr" presetSubtype="0" fill="hold" grpId="0" nodeType="afterEffect">
                                  <p:stCondLst>
                                    <p:cond delay="0"/>
                                  </p:stCondLst>
                                  <p:childTnLst>
                                    <p:set>
                                      <p:cBhvr>
                                        <p:cTn id="337" dur="1" fill="hold">
                                          <p:stCondLst>
                                            <p:cond delay="0"/>
                                          </p:stCondLst>
                                        </p:cTn>
                                        <p:tgtEl>
                                          <p:spTgt spid="86"/>
                                        </p:tgtEl>
                                        <p:attrNameLst>
                                          <p:attrName>style.visibility</p:attrName>
                                        </p:attrNameLst>
                                      </p:cBhvr>
                                      <p:to>
                                        <p:strVal val="visible"/>
                                      </p:to>
                                    </p:set>
                                    <p:animEffect transition="in" filter="fade">
                                      <p:cBhvr>
                                        <p:cTn id="338" dur="550"/>
                                        <p:tgtEl>
                                          <p:spTgt spid="86"/>
                                        </p:tgtEl>
                                      </p:cBhvr>
                                    </p:animEffect>
                                  </p:childTnLst>
                                </p:cTn>
                              </p:par>
                            </p:childTnLst>
                          </p:cTn>
                        </p:par>
                        <p:par>
                          <p:cTn id="339" fill="hold">
                            <p:stCondLst>
                              <p:cond delay="0"/>
                            </p:stCondLst>
                            <p:childTnLst>
                              <p:par>
                                <p:cTn id="340" presetID="10" presetClass="entr" presetSubtype="0" fill="hold" grpId="0" nodeType="afterEffect">
                                  <p:stCondLst>
                                    <p:cond delay="0"/>
                                  </p:stCondLst>
                                  <p:childTnLst>
                                    <p:set>
                                      <p:cBhvr>
                                        <p:cTn id="341" dur="1" fill="hold">
                                          <p:stCondLst>
                                            <p:cond delay="0"/>
                                          </p:stCondLst>
                                        </p:cTn>
                                        <p:tgtEl>
                                          <p:spTgt spid="87"/>
                                        </p:tgtEl>
                                        <p:attrNameLst>
                                          <p:attrName>style.visibility</p:attrName>
                                        </p:attrNameLst>
                                      </p:cBhvr>
                                      <p:to>
                                        <p:strVal val="visible"/>
                                      </p:to>
                                    </p:set>
                                    <p:animEffect transition="in" filter="fade">
                                      <p:cBhvr>
                                        <p:cTn id="342" dur="550"/>
                                        <p:tgtEl>
                                          <p:spTgt spid="87"/>
                                        </p:tgtEl>
                                      </p:cBhvr>
                                    </p:animEffect>
                                  </p:childTnLst>
                                </p:cTn>
                              </p:par>
                            </p:childTnLst>
                          </p:cTn>
                        </p:par>
                        <p:par>
                          <p:cTn id="343" fill="hold">
                            <p:stCondLst>
                              <p:cond delay="0"/>
                            </p:stCondLst>
                            <p:childTnLst>
                              <p:par>
                                <p:cTn id="344" presetID="10" presetClass="entr" presetSubtype="0" fill="hold" grpId="0" nodeType="afterEffect">
                                  <p:stCondLst>
                                    <p:cond delay="0"/>
                                  </p:stCondLst>
                                  <p:childTnLst>
                                    <p:set>
                                      <p:cBhvr>
                                        <p:cTn id="345" dur="1" fill="hold">
                                          <p:stCondLst>
                                            <p:cond delay="0"/>
                                          </p:stCondLst>
                                        </p:cTn>
                                        <p:tgtEl>
                                          <p:spTgt spid="88"/>
                                        </p:tgtEl>
                                        <p:attrNameLst>
                                          <p:attrName>style.visibility</p:attrName>
                                        </p:attrNameLst>
                                      </p:cBhvr>
                                      <p:to>
                                        <p:strVal val="visible"/>
                                      </p:to>
                                    </p:set>
                                    <p:animEffect transition="in" filter="fade">
                                      <p:cBhvr>
                                        <p:cTn id="346" dur="550"/>
                                        <p:tgtEl>
                                          <p:spTgt spid="88"/>
                                        </p:tgtEl>
                                      </p:cBhvr>
                                    </p:animEffect>
                                  </p:childTnLst>
                                </p:cTn>
                              </p:par>
                            </p:childTnLst>
                          </p:cTn>
                        </p:par>
                        <p:par>
                          <p:cTn id="347" fill="hold">
                            <p:stCondLst>
                              <p:cond delay="200"/>
                            </p:stCondLst>
                            <p:childTnLst>
                              <p:par>
                                <p:cTn id="348" presetID="53" presetClass="entr" presetSubtype="16" fill="hold" grpId="0" nodeType="afterEffect">
                                  <p:stCondLst>
                                    <p:cond delay="0"/>
                                  </p:stCondLst>
                                  <p:childTnLst>
                                    <p:set>
                                      <p:cBhvr>
                                        <p:cTn id="349" dur="1" fill="hold">
                                          <p:stCondLst>
                                            <p:cond delay="0"/>
                                          </p:stCondLst>
                                        </p:cTn>
                                        <p:tgtEl>
                                          <p:spTgt spid="89"/>
                                        </p:tgtEl>
                                        <p:attrNameLst>
                                          <p:attrName>style.visibility</p:attrName>
                                        </p:attrNameLst>
                                      </p:cBhvr>
                                      <p:to>
                                        <p:strVal val="visible"/>
                                      </p:to>
                                    </p:set>
                                    <p:animEffect transition="in" filter="fade">
                                      <p:cBhvr>
                                        <p:cTn id="350" dur="550"/>
                                        <p:tgtEl>
                                          <p:spTgt spid="89"/>
                                        </p:tgtEl>
                                      </p:cBhvr>
                                    </p:animEffect>
                                    <p:anim calcmode="lin" valueType="num">
                                      <p:cBhvr additive="base">
                                        <p:cTn id="351" dur="550" fill="hold"/>
                                        <p:tgtEl>
                                          <p:spTgt spid="89"/>
                                        </p:tgtEl>
                                        <p:attrNameLst>
                                          <p:attrName>ppt_w</p:attrName>
                                        </p:attrNameLst>
                                      </p:cBhvr>
                                      <p:tavLst>
                                        <p:tav tm="0">
                                          <p:val>
                                            <p:strVal val="0"/>
                                          </p:val>
                                        </p:tav>
                                        <p:tav tm="100000">
                                          <p:val>
                                            <p:strVal val="#ppt_w"/>
                                          </p:val>
                                        </p:tav>
                                      </p:tavLst>
                                    </p:anim>
                                    <p:anim calcmode="lin" valueType="num">
                                      <p:cBhvr additive="base">
                                        <p:cTn id="352" dur="550" fill="hold"/>
                                        <p:tgtEl>
                                          <p:spTgt spid="89"/>
                                        </p:tgtEl>
                                        <p:attrNameLst>
                                          <p:attrName>ppt_h</p:attrName>
                                        </p:attrNameLst>
                                      </p:cBhvr>
                                      <p:tavLst>
                                        <p:tav tm="0">
                                          <p:val>
                                            <p:strVal val="0"/>
                                          </p:val>
                                        </p:tav>
                                        <p:tav tm="100000">
                                          <p:val>
                                            <p:strVal val="#ppt_h"/>
                                          </p:val>
                                        </p:tav>
                                      </p:tavLst>
                                    </p:anim>
                                  </p:childTnLst>
                                </p:cTn>
                              </p:par>
                            </p:childTnLst>
                          </p:cTn>
                        </p:par>
                        <p:par>
                          <p:cTn id="353" fill="hold">
                            <p:stCondLst>
                              <p:cond delay="350"/>
                            </p:stCondLst>
                            <p:childTnLst>
                              <p:par>
                                <p:cTn id="354" presetID="22" presetClass="entr" presetSubtype="8" fill="hold" grpId="0" nodeType="afterEffect">
                                  <p:stCondLst>
                                    <p:cond delay="0"/>
                                  </p:stCondLst>
                                  <p:childTnLst>
                                    <p:set>
                                      <p:cBhvr>
                                        <p:cTn id="355" dur="1" fill="hold">
                                          <p:stCondLst>
                                            <p:cond delay="0"/>
                                          </p:stCondLst>
                                        </p:cTn>
                                        <p:tgtEl>
                                          <p:spTgt spid="90"/>
                                        </p:tgtEl>
                                        <p:attrNameLst>
                                          <p:attrName>style.visibility</p:attrName>
                                        </p:attrNameLst>
                                      </p:cBhvr>
                                      <p:to>
                                        <p:strVal val="visible"/>
                                      </p:to>
                                    </p:set>
                                    <p:animEffect transition="in" filter="wipe(left)">
                                      <p:cBhvr>
                                        <p:cTn id="357" dur="800"/>
                                        <p:tgtEl>
                                          <p:spTgt spid="90"/>
                                        </p:tgtEl>
                                      </p:cBhvr>
                                    </p:animEffect>
                                  </p:childTnLst>
                                </p:cTn>
                              </p:par>
                            </p:childTnLst>
                          </p:cTn>
                        </p:par>
                        <p:par>
                          <p:cTn id="358" fill="hold">
                            <p:stCondLst>
                              <p:cond delay="500"/>
                            </p:stCondLst>
                            <p:childTnLst>
                              <p:par>
                                <p:cTn id="359" presetID="42" presetClass="entr" presetSubtype="0" fill="hold" grpId="0" nodeType="afterEffect">
                                  <p:stCondLst>
                                    <p:cond delay="0"/>
                                  </p:stCondLst>
                                  <p:childTnLst>
                                    <p:set>
                                      <p:cBhvr>
                                        <p:cTn id="360" dur="1" fill="hold">
                                          <p:stCondLst>
                                            <p:cond delay="0"/>
                                          </p:stCondLst>
                                        </p:cTn>
                                        <p:tgtEl>
                                          <p:spTgt spid="91"/>
                                        </p:tgtEl>
                                        <p:attrNameLst>
                                          <p:attrName>style.visibility</p:attrName>
                                        </p:attrNameLst>
                                      </p:cBhvr>
                                      <p:to>
                                        <p:strVal val="visible"/>
                                      </p:to>
                                    </p:set>
                                    <p:animEffect transition="in" filter="fade">
                                      <p:cBhvr>
                                        <p:cTn id="361" dur="550"/>
                                        <p:tgtEl>
                                          <p:spTgt spid="91"/>
                                        </p:tgtEl>
                                      </p:cBhvr>
                                    </p:animEffect>
                                    <p:anim calcmode="lin" valueType="num">
                                      <p:cBhvr additive="base">
                                        <p:cTn id="362" dur="550" fill="hold"/>
                                        <p:tgtEl>
                                          <p:spTgt spid="91"/>
                                        </p:tgtEl>
                                        <p:attrNameLst>
                                          <p:attrName>ppt_x</p:attrName>
                                        </p:attrNameLst>
                                      </p:cBhvr>
                                      <p:tavLst>
                                        <p:tav tm="0">
                                          <p:val>
                                            <p:strVal val="#ppt_x"/>
                                          </p:val>
                                        </p:tav>
                                        <p:tav tm="100000">
                                          <p:val>
                                            <p:strVal val="#ppt_x"/>
                                          </p:val>
                                        </p:tav>
                                      </p:tavLst>
                                    </p:anim>
                                    <p:anim calcmode="lin" valueType="num">
                                      <p:cBhvr additive="base">
                                        <p:cTn id="363" dur="550" fill="hold"/>
                                        <p:tgtEl>
                                          <p:spTgt spid="91"/>
                                        </p:tgtEl>
                                        <p:attrNameLst>
                                          <p:attrName>ppt_y</p:attrName>
                                        </p:attrNameLst>
                                      </p:cBhvr>
                                      <p:tavLst>
                                        <p:tav tm="0">
                                          <p:val>
                                            <p:strVal val="#ppt_y+.08"/>
                                          </p:val>
                                        </p:tav>
                                        <p:tav tm="100000">
                                          <p:val>
                                            <p:strVal val="#ppt_y"/>
                                          </p:val>
                                        </p:tav>
                                      </p:tavLst>
                                    </p:anim>
                                  </p:childTnLst>
                                </p:cTn>
                              </p:par>
                            </p:childTnLst>
                          </p:cTn>
                        </p:par>
                        <p:par>
                          <p:cTn id="364" fill="hold">
                            <p:stCondLst>
                              <p:cond delay="650"/>
                            </p:stCondLst>
                            <p:childTnLst>
                              <p:par>
                                <p:cTn id="365" presetID="10" presetClass="entr" presetSubtype="0" fill="hold" grpId="0" nodeType="afterEffect">
                                  <p:stCondLst>
                                    <p:cond delay="0"/>
                                  </p:stCondLst>
                                  <p:childTnLst>
                                    <p:set>
                                      <p:cBhvr>
                                        <p:cTn id="366" dur="1" fill="hold">
                                          <p:stCondLst>
                                            <p:cond delay="0"/>
                                          </p:stCondLst>
                                        </p:cTn>
                                        <p:tgtEl>
                                          <p:spTgt spid="92"/>
                                        </p:tgtEl>
                                        <p:attrNameLst>
                                          <p:attrName>style.visibility</p:attrName>
                                        </p:attrNameLst>
                                      </p:cBhvr>
                                      <p:to>
                                        <p:strVal val="visible"/>
                                      </p:to>
                                    </p:set>
                                    <p:animEffect transition="in" filter="fade">
                                      <p:cBhvr>
                                        <p:cTn id="367" dur="55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
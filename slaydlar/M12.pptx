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MLOps — ML tizimlarini ishlab chiqish (Dev) va ekspluatatsiya qilish (Ops) o'rtasidagi devorni yo'qotuvchi, avtomatlashtirish, monitoring va hamkorlikka asoslangan amaliyotlar to'plami. Uning asosiy tamoyillari: hamma narsa versiyalanadi (kod, ma'lumot, model, konfiguratsiya, muhit); hamma narsa takrorlanuvchan (bir xil kirish → bir xil model); hamma narsa testlanadi (ma'lumot sifati, model sifati, infratuzilma); hamma narsa avtomatlashtiriladi (qo'lda bosqich — xato manbai); hamma narsa kuzatiladi (ishlab chiqarishdagi model — tirik obyekt). ML hayot sikli bosqichlari — masala qo'yish, ma'lumot yig'ish va tayyorlash, xususiyatlar muhandisligi, o'qitish va baholash, validatsiya, joylashtirish, monitoring, qayta o'qitish — MLOps'da chiziqli emas, tsiklik: monitoring natijasi yangi o'qitishni ishga tushiradi.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MLOps — ML tizimlarini ishlab chiqish (Dev) va ekspluatatsiya qilish (Ops) o'rtasidagi devorni yo'qotuvchi, avtomatlashtirish, monitoring va hamkorlikka asoslangan amaliyotlar to'plami. Uning asosiy tamoyillari: hamma narsa versiyalanadi (kod, ma'lumot, model, konfiguratsiya, muhit); hamma narsa takrorlanuvchan (bir xil kirish → bir xil model); hamma narsa testlanadi (ma'lumot sifati, model sifati, infratuzilma); hamma narsa avtomatlashtiriladi (qo'lda bosqich — xato manbai); hamma narsa kuzatiladi (ishlab chiqarishdagi model — tirik obyekt). ML hayot sikli bosqichlari — masala qo'yish, ma'lumot yig'ish va tayyorlash, xususiyatlar muhandisligi, o'qitish va baholash, validatsiya, joylashtirish, monitoring, qayta o'qitish — MLOps'da chiziqli emas, tsiklik: monitoring natijasi yangi o'qitishni ishga tushiradi.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MLOps — ML tizimlarini ishlab chiqish (Dev) va ekspluatatsiya qilish (Ops) o'rtasidagi devorni yo'qotuvchi, avtomatlashtirish, monitoring va hamkorlikka asoslangan amaliyotlar to'plami. Uning asosiy tamoyillari: hamma narsa versiyalanadi (kod, ma'lumot, model, konfiguratsiya, muhit); hamma narsa takrorlanuvchan (bir xil kirish → bir xil model); hamma narsa testlanadi (ma'lumot sifati, model sifati, infratuzilma); hamma narsa avtomatlashtiriladi (qo'lda bosqich — xato manbai); hamma narsa kuzatiladi (ishlab chiqarishdagi model — tirik obyekt). ML hayot sikli bosqichlari — masala qo'yish, ma'lumot yig'ish va tayyorlash, xususiyatlar muhandisligi, o'qitish va baholash, validatsiya, joylashtirish, monitoring, qayta o'qitish — MLOps'da chiziqli emas, tsiklik: monitoring natijasi yangi o'qitishni ishga tushiradi.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Cloud'ning keng tarqalgan tasnifi uch yetuklik darajasini ajratadi. 0-daraja — qo'lda jarayon: ma'lumotlar olimi daftarda model o'qitadi, og'irliklar faylini muhandisga beradi, u qo'lda joylashtiradi; o'qitish va joylashtirish o'rtasida haftalar, monitoring yo'q, model tez eskiradi. 1-daraja — ML konveyerini avtomatlashtirish: o'qitish konveyeri (ma'lumot validatsiyasi → tayyorlash → o'qitish → baholash → validatsiya) kod sifatida yoziladi va yangi ma'lumot yoki trigger bo'yicha avtomatik ishga tushadi (CT); eksperiment va ishlab chiqarish bir xil konveyerdan foydalanadi; model reestri va xususiyatlar ombori (feature store) paydo bo'ladi. 2-daraja — CI/CD konveyerini avtomatlashtirish: konveyerning o'zi ham avtomatik testlanadi va joylashtiriladi; yangi konveyer kodi push qilinganda u yig'iladi, testlanadi, sinov muhitiga chiqadi, so'ngra ishlab chiqarishga — model ham, konveyer ham uzluksiz yetkaziladi. Ko'pchilik tashkilotlar 0 va 1 o'rtasida; 2-daraja kuniga ko'p model yangilovchi yirik platformalarga xos.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Cloud'ning keng tarqalgan tasnifi uch yetuklik darajasini ajratadi. 0-daraja — qo'lda jarayon: ma'lumotlar olimi daftarda model o'qitadi, og'irliklar faylini muhandisga beradi, u qo'lda joylashtiradi; o'qitish va joylashtirish o'rtasida haftalar, monitoring yo'q, model tez eskiradi. 1-daraja — ML konveyerini avtomatlashtirish: o'qitish konveyeri (ma'lumot validatsiyasi → tayyorlash → o'qitish → baholash → validatsiya) kod sifatida yoziladi va yangi ma'lumot yoki trigger bo'yicha avtomatik ishga tushadi (CT); eksperiment va ishlab chiqarish bir xil konveyerdan foydalanadi; model reestri va xususiyatlar ombori (feature store) paydo bo'ladi. 2-daraja — CI/CD konveyerini avtomatlashtirish: konveyerning o'zi ham avtomatik testlanadi va joylashtiriladi; yangi konveyer kodi push qilinganda u yig'iladi, testlanadi, sinov muhitiga chiqadi, so'ngra ishlab chiqarishga — model ham, konveyer ham uzluksiz yetkaziladi. Ko'pchilik tashkilotlar 0 va 1 o'rtasida; 2-daraja kuniga ko'p model yangilovchi yirik platformalarga xos.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reestri (Model Registry) — o'qitilgan modellarning markazlashgan, versiyalangan ombori bo'lib, har model uchun uning kelib chiqishini (lineage: qaysi kod commit'i, qaysi ma'lumot versiyasi, qaysi giperparametrlar, qaysi muhit), baholash ko'rsatkichlarini, artefaktlarni (og'irliklar, preprocessing obyekti, sxema) va hayot sikli holatini saqlaydi. U ikki savolga javob beradi: «Hozir ishlab chiqarishda qaysi model ishlayapti va u qayerdan kelgan?» va «Bu modelni kim, qachon, qanday asosda tasdiqlagan?». Reestrsiz tashkilot «model_final_v3_new2.pt» fayllar botqog'ida qoladi.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reestri (Model Registry) — o'qitilgan modellarning markazlashgan, versiyalangan ombori bo'lib, har model uchun uning kelib chiqishini (lineage: qaysi kod commit'i, qaysi ma'lumot versiyasi, qaysi giperparametrlar, qaysi muhit), baholash ko'rsatkichlarini, artefaktlarni (og'irliklar, preprocessing obyekti, sxema) va hayot sikli holatini saqlaydi. U ikki savolga javob beradi: «Hozir ishlab chiqarishda qaysi model ishlayapti va u qayerdan kelgan?» va «Bu modelni kim, qachon, qanday asosda tasdiqlagan?». Reestrsiz tashkilot «model_final_v3_new2.pt» fayllar botqog'ida qoladi.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MLflow — eng keng tarqalgan ochiq vosita; u to'rt komponentdan iborat. Tracking — har o'qitish ishga tushirilishi (run) uchun parametrlar, metrikalar (vaqt bo'yicha), artefaktlar va teglar yoziladi, veb-interfeysda solishtiriladi. Models — modelni freymvorkdan mustaqil formatda («flavor»: pytorch, sklearn, onnx, pyfunc) MLmodel metama'lumot fayli, muhit talablari (conda.yaml, requirements.txt) va kirish-chiqish sxemasi (signature) bilan paketlaydi — bu keyinchalik uni istalgan serverda yuklash imkonini beradi. Model Registry — nomlangan modellar va ularning versiyalari; har versiya bosqich (Staging, Production, Archived) yoki yangi versiyalarda «alias» (masalan, champion, challenger) bilan belgilanadi; o'tish tarixi va izohlar saqlanadi. Projects — takrorlanuvchan ishga tushirish uchun paket formati. MLflow'ning muqobillari: Weights &amp; Biases (bulutli, vizualizatsiyaga boy), Neptune, ClearML, bulut provayderlarining reestrlari (SageMaker, Vertex AI). Ma'lumotlarni versiyalash uchun DVC (Data Version Control) Git bilan birga ishlaydi: katta fayllar obyekt saqlashda, Git'da esa ularning xeshlari; dvc repro konveyerni faqat o'zgargan bosqichlardan qayta hisoblaydi.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MLflow — eng keng tarqalgan ochiq vosita; u to'rt komponentdan iborat. Tracking — har o'qitish ishga tushirilishi (run) uchun parametrlar, metrikalar (vaqt bo'yicha), artefaktlar va teglar yoziladi, veb-interfeysda solishtiriladi. Models — modelni freymvorkdan mustaqil formatda («flavor»: pytorch, sklearn, onnx, pyfunc) MLmodel metama'lumot fayli, muhit talablari (conda.yaml, requirements.txt) va kirish-chiqish sxemasi (signature) bilan paketlaydi — bu keyinchalik uni istalgan serverda yuklash imkonini beradi. Model Registry — nomlangan modellar va ularning versiyalari; har versiya bosqich (Staging, Production, Archived) yoki yangi versiyalarda «alias» (masalan, champion, challenger) bilan belgilanadi; o'tish tarixi va izohlar saqlanadi. Projects — takrorlanuvchan ishga tushirish uchun paket formati. MLflow'ning muqobillari: Weights &amp; Biases (bulutli, vizualizatsiyaga boy), Neptune, ClearML, bulut provayderlarining reestrlari (SageMaker, Vertex AI). Ma'lumotlarni versiyalash uchun DVC (Data Version Control) Git bilan birga ishlaydi: katta fayllar obyekt saqlashda, Git'da esa ularning xeshlari; dvc repro konveyerni faqat o'zgargan bosqichlardan qayta hisoblaydi.</a:t>
            </a:r>
          </a:p>
          <a:p/>
          <a:p>
            <a:r>
              <a:t>Model reestriga «model kartasi» (model card) ham biriktiriladi — modelning maqsadi, o'qitish ma'lumotlari, baholash natijalari (jumladan, kichik guruhlar bo'yicha), cheklovlari va etik mulohazalari haqida hujjat; ISO/IEC 42001 va EU AI Act kabi me'yoriy hujjatlar yuqori xavfli tizimlar uchun aynan shunday hujjatlashtirishni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 loyihasida uzluksiz integratsiya kod testlaridan ancha keng. Breck va hamkasblarining «ML Test Score» (Google, 2017) ro'yxati to'rt guruhni ajratadi: ma'lumot testlari (xususiyat taqsimoti kutilganga mos, sxema buzilmagan, maxfiy xususiyatlar yo'q, xususiyat narxi foydasiga arziydi), model testlari (sifat chegaradan yuqori, oddiy bazadan yaxshi, kichik guruhlar bo'yicha adolatli, giperparametrlar sozlangan, eskirmagan), infratuzilma testlari (o'qitish takrorlanuvchan, konveyer integratsiya testi, modelni orqaga qaytarish mumkin, xizmat ko'rsatish kodi o'qitish kodi bilan bir xil natija beradi — «training-serving skew» yo'q), monitoring testlari. Amaliyotda CI konveyeri (GitHub Actions, GitLab CI, Jenkins) quyidagi bosqichlarni bajaradi: lint va birlik testlari (pytest), ma'lumot sxemasi validatsiyasi (Great Expectations, Pandera), kichik to'plamda «tutun» o'qitish (smoke training — konveyer buzilmaganini tekshirish), model sifatini chegara bilan solishtirish, Docker obrazini yig'ish va reestrga yuborish, sinov muhitiga joylashtirish, integratsiya testi (API'ga so'rov → kutilgan javob), kechikish benchmark'i.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 loyihasida uzluksiz integratsiya kod testlaridan ancha keng. Breck va hamkasblarining «ML Test Score» (Google, 2017) ro'yxati to'rt guruhni ajratadi: ma'lumot testlari (xususiyat taqsimoti kutilganga mos, sxema buzilmagan, maxfiy xususiyatlar yo'q, xususiyat narxi foydasiga arziydi), model testlari (sifat chegaradan yuqori, oddiy bazadan yaxshi, kichik guruhlar bo'yicha adolatli, giperparametrlar sozlangan, eskirmagan), infratuzilma testlari (o'qitish takrorlanuvchan, konveyer integratsiya testi, modelni orqaga qaytarish mumkin, xizmat ko'rsatish kodi o'qitish kodi bilan bir xil natija beradi — «training-serving skew» yo'q), monitoring testlari. Amaliyotda CI konveyeri (GitHub Actions, GitLab CI, Jenkins) quyidagi bosqichlarni bajaradi: lint va birlik testlari (pytest), ma'lumot sxemasi validatsiyasi (Great Expectations, Pandera), kichik to'plamda «tutun» o'qitish (smoke training — konveyer buzilmaganini tekshirish), model sifatini chegara bilan solishtirish, Docker obrazini yig'ish va reestrga yuborish, sinov muhitiga joylashtirish, integratsiya testi (API'ga so'rov → kutilgan javob), kechikish benchmark'i.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Uzluksiz yetkazish ML'da «model validatsiyasi darvozasi» bilan to'ldiriladi: yangi model avtomatik ravishda ishlab chiqarishga chiqmaydi, u oldin joriy «chempion» bilan bir xil test to'plamida solishtiriladi, kichik guruhlar bo'yicha sifati tekshiriladi, kechikish va xotira talablariga mosligi o'lchanadi; faqat barcha mezonlardan o'tsa — avtomatik yoki inson tasdig'i bilan — joylashtiriladi. Uzluksiz o'qitish (CT) esa konveyerni triggerlar bo'yicha ishga tushiradi: jadval (har kecha), yangi ma'lumot hajmi (10 000 yangi yorliq), monitoring signali (drift aniqlandi, sifat tushdi), qo'lda. CT konveyeri odatda orkestrator — Kubeflow Pipelines, Apache Airflow, Argo Workflows, Prefect, Metaflow — ustida quriladi; har bosqich konteyner, bosqichlar orasidagi artefaktlar obyekt saqlashda.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Joylashtirish rejimi ish yukiga qarab tanlanadi. Partiyali inferens (batch): model jadval bo'yicha katta to'plamda bashorat qiladi, natija bazaga yoziladi — tavsiyalar, risk skoringi; eng oddiy, kechikish talabi yo'q, GPU to'liq yuklanadi. Onlayn inferens (online, real-time): so'rov–javob API (REST/gRPC), kechikish byudjeti o'nlab millisekund — firibgarlikni aniqlash, qidiruv. Oqimli inferens (streaming): Kafka kabi oqimdan hodisalar o'qiladi va natija boshqa oqimga yoziladi — sensorlar, loglar. Chekka joylashtirish (edge): model qurilmada (telefon, Jetson, brauzer) — maxfiylik, oflayn ishlash, kechikish; yangilash murakkab (M6). Ko'p tizimlar gibrid: partiyali xususiyatlar + onlayn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Joylashtirish rejimi ish yukiga qarab tanlanadi. Partiyali inferens (batch): model jadval bo'yicha katta to'plamda bashorat qiladi, natija bazaga yoziladi — tavsiyalar, risk skoringi; eng oddiy, kechikish talabi yo'q, GPU to'liq yuklanadi. Onlayn inferens (online, real-time): so'rov–javob API (REST/gRPC), kechikish byudjeti o'nlab millisekund — firibgarlikni aniqlash, qidiruv. Oqimli inferens (streaming): Kafka kabi oqimdan hodisalar o'qiladi va natija boshqa oqimga yoziladi — sensorlar, loglar. Chekka joylashtirish (edge): model qurilmada (telefon, Jetson, brauzer) — maxfiylik, oflayn ishlash, kechikish; yangilash murakkab (M6). Ko'p tizimlar gibrid: partiyali xususiyatlar + onlayn model.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Onlayn xizmat ko'rsatish uchun vositalar: oddiy FastAPI/Flask ilovasi (to'liq nazorat, kichik yuk uchun yetarli), TorchServe va TensorFlow Serving (freymvorkka xos, versiyalash va partiyalash bilan), NVIDIA Triton Inference Server (ko'p freymvork, dinamik partiyalash, ansambl, GPU'da bir nechta model), KServe va Seldon Core (Kubernetes ustida model xizmatlari uchun standart: avtomasshtablash, kanareyka, transformerlar), BentoML (Python-markaziy paketlash). Kubernetes (M7) joylashtirish platformasi sifatida: Deployment — nusxalar va yangilanish, Service/Ingress — tarmoq, HorizontalPodAutoscaler — yuk bo'yicha masshtablash, GPU Operator — drayver va qurilma plaginlari, nvidia.com/gpu resurs so'rovi.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Yangi versiyani chiqarish strategiyalari xavfni boshqaradi. Qayta yaratish (recreate): eski to'xtatiladi, yangi ishga tushadi — to'xtash vaqti bor. Dumalab yangilash (rolling update): podlar birin-ketin almashtiriladi — Kubernetes standarti, lekin ikki versiya bir vaqtda ishlaydi. Ko'k-yashil (blue-green): yangi versiya to'liq parallel ko'tariladi, trafik bir zumda o'tkaziladi, muammo bo'lsa bir zumda qaytariladi — ikki barobar resurs. Kanareyka (canary): trafikning 1–5 foizi yangi versiyaga, ko'rsatkichlar kuzatiladi, bosqichma-bosqich 100 foizgacha — eng keng tarqalgan ML strategiyasi, chunki model sifati faqat real trafikda to'liq ko'rinadi. Soya rejimi (shadow): yangi model barcha so'rovlarni oladi, lekin javobi foydalanuvchiga bormaydi, faqat yoziladi va solishtiriladi — xavfsiz, lekin ikki barobar hisoblash. A/B test: foydalanuvchilar guruhlarga bo'linib, biznes ko'rsatkich (konversiya, qolish) statistik solishtiriladi — model sifatining yakuniy o'lchovi, lekin haftalar talab qiladi. Har qanday strategiyada orqaga qaytarish (rollback) bir buyruq bilan bo'lishi va reestrdagi oldingi versiyaga aniq bog'lanishi kerak.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Yangi versiyani chiqarish strategiyalari xavfni boshqaradi. Qayta yaratish (recreate): eski to'xtatiladi, yangi ishga tushadi — to'xtash vaqti bor. Dumalab yangilash (rolling update): podlar birin-ketin almashtiriladi — Kubernetes standarti, lekin ikki versiya bir vaqtda ishlaydi. Ko'k-yashil (blue-green): yangi versiya to'liq parallel ko'tariladi, trafik bir zumda o'tkaziladi, muammo bo'lsa bir zumda qaytariladi — ikki barobar resurs. Kanareyka (canary): trafikning 1–5 foizi yangi versiyaga, ko'rsatkichlar kuzatiladi, bosqichma-bosqich 100 foizgacha — eng keng tarqalgan ML strategiyasi, chunki model sifati faqat real trafikda to'liq ko'rinadi. Soya rejimi (shadow): yangi model barcha so'rovlarni oladi, lekin javobi foydalanuvchiga bormaydi, faqat yoziladi va solishtiriladi — xavfsiz, lekin ikki barobar hisoblash. A/B test: foydalanuvchilar guruhlarga bo'linib, biznes ko'rsatkich (konversiya, qolish) statistik solishtiriladi — model sifatining yakuniy o'lchovi, lekin haftalar talab qiladi. Har qanday strategiyada orqaga qaytarish (rollback) bir buyruq bilan bo'lishi va reestrdagi oldingi versiyaga aniq bog'lanishi kerak.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Ishlab chiqarishdagi model uch qatlamda kuzatiladi. Operatsion qatlam — an'anaviy: so'rovlar soni, kechikish foizillari, xato darajasi, GPU bandligi va xotira, navbat uzunligi; vositalar — Prometheus (metrikalar), Grafana (panellar), Alertmanager (ogohlantirish), OpenTelemetry (izlar). Ma'lumot qatlami — kirish xususiyatlari va bashoratlar taqsimoti: yetishmayotgan qiymatlar, diapazondan chiqish, yangi kategoriyalar, taqsimot siljishi. Sifat qatlami — haqiqiy yorliqlar bilan solishtirish: aniqlik, F1, AUC, biznes ko'rsatkich; muammo shundaki, yorliqlar ko'pincha kechikib (kredit qaytarilmasligi — oylar) yoki umuman kelmaydi, shuning uchun ma'lumot qatlami sifat muammolarining erta ogohlantiruvchisi vazifasini bajaradi.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Ishlab chiqarishdagi model uch qatlamda kuzatiladi. Operatsion qatlam — an'anaviy: so'rovlar soni, kechikish foizillari, xato darajasi, GPU bandligi va xotira, navbat uzunligi; vositalar — Prometheus (metrikalar), Grafana (panellar), Alertmanager (ogohlantirish), OpenTelemetry (izlar). Ma'lumot qatlami — kirish xususiyatlari va bashoratlar taqsimoti: yetishmayotgan qiymatlar, diapazondan chiqish, yangi kategoriyalar, taqsimot siljishi. Sifat qatlami — haqiqiy yorliqlar bilan solishtirish: aniqlik, F1, AUC, biznes ko'rsatkich; muammo shundaki, yorliqlar ko'pincha kechikib (kredit qaytarilmasligi — oylar) yoki umuman kelmaydi, shuning uchun ma'lumot qatlami sifat muammolarining erta ogohlantiruvchisi vazifasini bajaradi.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Siljish (drift) turlari: ma'lumot siljishi (data drift, covariate shift) — kirish taqsimoti P(X) o'zgaradi, bog'liqlik P(Y|X) o'zgarmaydi (yangi mintaqadan foydalanuvchilar); konsepsiya siljishi (concept drift) — P(Y|X) o'zgaradi (pandemiya iste'mol odatlarini o'zgartirdi, firibgarlar yangi usul topdi) — eng xavfli, chunki kirish bir xil ko'rinadi, javob esa noto'g'ri; yorliq siljishi (label/prior shift) — P(Y) o'zgaradi; bashorat siljishi (prediction drift) — model chiqishi taqsimoti o'zgaradi, yorliqsiz kuzatiladigan bilvosita belgi. Siljish keskin (sudden), bosqichma-bosqich (gradual), tiklanuvchi (recurring, mavsumiy) bo'lishi mumkin.</a:t>
            </a:r>
          </a:p>
          <a:p/>
          <a:p>
            <a:r>
              <a:t>Aniqlash usullari — mos yozuvlar (reference, odatda o'qitish yoki validatsiya to'plami) va joriy oyna (current, oxirgi kun/hafta) taqsimotlarini statistik solishtirish. Uzluksiz xususiyatlar uchun: Kolmogorov–Smirnov testi (ikki empirik taqsimot funksiyasi orasidagi maksimal farq, p &lt; 0,05 siljish belgisi; katta tanlamalarda juda sezgir), Populyatsiya barqarorlik indeksi (Population Stability Index, PSI): xususiyat B ta chelakka bo'linadi, PSI = Σ (p_i − q_i) · ln(p_i / q_i), bu yerda p_i, q_i — joriy va mos yozuvlar ulushlari; amaliy chegaralar: &lt; 0,1 — barqaror, 0,1–0,25 — o'rtacha siljish, &gt; 0,25 — sezilarli; Wasserstein masofasi (siljish «hajmi»ni birliklarda beradi), Jensen–Shannon divergensiyasi (simmetrik, chegaralangan). Kategorial xususiyatlar uchun: xi-kvadrat testi, PSI, JS. Ko'p o'lchamli yondashuv: «domen tasniflagichi» — mos yozuvlar va joriy namunalarni ajratishga o'qitilgan model; agar uning AUC'si 0,5 dan sezilarli katta bo'lsa, siljish bor, xususiyat muhimligi esa qaysi xususiyat siljiganini ko'rsatadi. Evidently kutubxonasi bu testlarni xususiyat turiga va tanlama hajmiga qarab avtomatik tanlaydi (kichik tanlamalarda KS/xi-kvadrat, katta — Wasserstein/JS), HTML hisobot va JSON natija beradi va Prometheus/Grafana bilan birlashtiriladi. Muqobillar: NannyML (yorliqsiz sifatni baholash), Alibi Detect, WhyLabs, Arize, bulut provayderlarining monitoring xizmatlari.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Aniqlash usullari — mos yozuvlar (reference, odatda o'qitish yoki validatsiya to'plami) va joriy oyna (current, oxirgi kun/hafta) taqsimotlarini statistik solishtirish. Uzluksiz xususiyatlar uchun: Kolmogorov–Smirnov testi (ikki empirik taqsimot funksiyasi orasidagi maksimal farq, p &lt; 0,05 siljish belgisi; katta tanlamalarda juda sezgir), Populyatsiya barqarorlik indeksi (Population Stability Index, PSI): xususiyat B ta chelakka bo'linadi, PSI = Σ (p_i − q_i) · ln(p_i / q_i), bu yerda p_i, q_i — joriy va mos yozuvlar ulushlari; amaliy chegaralar: &lt; 0,1 — barqaror, 0,1–0,25 — o'rtacha siljish, &gt; 0,25 — sezilarli; Wasserstein masofasi (siljish «hajmi»ni birliklarda beradi), Jensen–Shannon divergensiyasi (simmetrik, chegaralangan). Kategorial xususiyatlar uchun: xi-kvadrat testi, PSI, JS. Ko'p o'lchamli yondashuv: «domen tasniflagichi» — mos yozuvlar va joriy namunalarni ajratishga o'qitilgan model; agar uning AUC'si 0,5 dan sezilarli katta bo'lsa, siljish bor, xususiyat muhimligi esa qaysi xususiyat siljiganini ko'rsatadi. Evidently kutubxonasi bu testlarni xususiyat turiga va tanlama hajmiga qarab avtomatik tanlaydi (kichik tanlamalarda KS/xi-kvadrat, katta — Wasserstein/JS), HTML hisobot va JSON natija beradi va Prometheus/Grafana bilan birlashtiriladi. Muqobillar: NannyML (yorliqsiz sifatni baholash), Alibi Detect, WhyLabs, Arize, bulut provayderlarining monitoring xizmatlari.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Siljish aniqlangach nima qilish kerak — bu ham loyihalash qarori: ogohlantirish va inson tahlili; avtomatik qayta o'qitish (CT trigger); zaxira modelga yoki qoidaga o'tish; bashoratga ishonchsizlik belgisi qo'yish. Avtomatik qayta o'qitish faqat yorliqlar tez keladigan va validatsiya darvozasi kuchli bo'lgan tizimlarda xavfsiz; aks holda siljish zaharlangan ma'lumotdan (M9) kelib chiqqan bo'lsa, qayta o'qitish uni modelga «qonuniylashtiradi».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infratuzilmasi — GPU tugunlari, klaster, saqlash, tarmoq, reestr, monitoring — ham kod sifatida boshqarilishi kerak (Infrastructure as Code, IaC). Terraform yoki Pulumi bulut resurslarini (GPU instanslar, Kubernetes klaster, obyekt saqlash, IAM rollari) deklarativ fayllarda tavsiflaydi va plan/apply bilan takrorlanuvchan yaratadi; Ansible — serverlarni sozlash. Kubernetes'da NVIDIA GPU Operator drayver, konteyner ish vaqti, qurilma plagini, DCGM monitoring eksportchisini avtomatik o'rnatadi; MIG (multi-instance GPU) A100/H100 ni 7 tagacha izolyatsiyalangan bo'lakka bo'lib, kichik modellarga alohida GPU resurs beradi. GitOps (ArgoCD, Flux): Kubernetes manifestlari Git'da, klaster holati Git bilan avtomatik sinxronlanadi — joylashtirish git push, orqaga qaytarish git revert. Xususiyatlar ombori (feature store: Feast, Tecton) o'qitish va xizmat ko'rsatish uchun bir xil xususiyat hisobini ta'minlab, training-serving skew'ni yo'qotadi. Sirlar (API kalitlari, ma'lumot bazasi parollari) kod va obrazlarda emas, sir boshqaruvchida (Vault, Kubernetes Secrets + tashqi operator). Narxni boshqarish (FinOps): GPU band bo'lish darajasi, spot instanslar, avtomasshtablash va nolga tushirish (scale-to-zero) — inferens xizmatlarida GPU'ning 30–40 foiz band bo'lishi odatiy va eng katta xarajat manbai.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infratuzilmasi — GPU tugunlari, klaster, saqlash, tarmoq, reestr, monitoring — ham kod sifatida boshqarilishi kerak (Infrastructure as Code, IaC). Terraform yoki Pulumi bulut resurslarini (GPU instanslar, Kubernetes klaster, obyekt saqlash, IAM rollari) deklarativ fayllarda tavsiflaydi va plan/apply bilan takrorlanuvchan yaratadi; Ansible — serverlarni sozlash. Kubernetes'da NVIDIA GPU Operator drayver, konteyner ish vaqti, qurilma plagini, DCGM monitoring eksportchisini avtomatik o'rnatadi; MIG (multi-instance GPU) A100/H100 ni 7 tagacha izolyatsiyalangan bo'lakka bo'lib, kichik modellarga alohida GPU resurs beradi. GitOps (ArgoCD, Flux): Kubernetes manifestlari Git'da, klaster holati Git bilan avtomatik sinxronlanadi — joylashtirish git push, orqaga qaytarish git revert. Xususiyatlar ombori (feature store: Feast, Tecton) o'qitish va xizmat ko'rsatish uchun bir xil xususiyat hisobini ta'minlab, training-serving skew'ni yo'qotadi. Sirlar (API kalitlari, ma'lumot bazasi parollari) kod va obrazlarda emas, sir boshqaruvchida (Vault, Kubernetes Secrets + tashqi operator). Narxni boshqarish (FinOps): GPU band bo'lish darajasi, spot instanslar, avtomasshtablash va nolga tushirish (scale-to-zero) — inferens xizmatlarida GPU'ning 30–40 foiz band bo'lishi odatiy va eng katta xarajat manbai.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infratuzilmasi — GPU tugunlari, klaster, saqlash, tarmoq, reestr, monitoring — ham kod sifatida boshqarilishi kerak (Infrastructure as Code, IaC). Terraform yoki Pulumi bulut resurslarini (GPU instanslar, Kubernetes klaster, obyekt saqlash, IAM rollari) deklarativ fayllarda tavsiflaydi va plan/apply bilan takrorlanuvchan yaratadi; Ansible — serverlarni sozlash. Kubernetes'da NVIDIA GPU Operator drayver, konteyner ish vaqti, qurilma plagini, DCGM monitoring eksportchisini avtomatik o'rnatadi; MIG (multi-instance GPU) A100/H100 ni 7 tagacha izolyatsiyalangan bo'lakka bo'lib, kichik modellarga alohida GPU resurs beradi. GitOps (ArgoCD, Flux): Kubernetes manifestlari Git'da, klaster holati Git bilan avtomatik sinxronlanadi — joylashtirish git push, orqaga qaytarish git revert. Xususiyatlar ombori (feature store: Feast, Tecton) o'qitish va xizmat ko'rsatish uchun bir xil xususiyat hisobini ta'minlab, training-serving skew'ni yo'qotadi. Sirlar (API kalitlari, ma'lumot bazasi parollari) kod va obrazlarda emas, sir boshqaruvchida (Vault, Kubernetes Secrets + tashqi operator). Narxni boshqarish (FinOps): GPU band bo'lish darajasi, spot instanslar, avtomasshtablash va nolga tushirish (scale-to-zero) — inferens xizmatlarida GPU'ning 30–40 foiz band bo'lishi odatiy va eng katta xarajat manbai.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7" name="Picture 66" descr="ebe15880353e1ac5.jpg"/>
          <p:cNvPicPr>
            <a:picLocks noChangeAspect="1"/>
          </p:cNvPicPr>
          <p:nvPr/>
        </p:nvPicPr>
        <p:blipFill>
          <a:blip r:embed="rId2"/>
          <a:srcRect l="16680" r="16680"/>
          <a:stretch>
            <a:fillRect/>
          </a:stretch>
        </p:blipFill>
        <p:spPr>
          <a:xfrm>
            <a:off x="7850000" y="1500000"/>
            <a:ext cx="3300000" cy="3300000"/>
          </a:xfrm>
          <a:prstGeom prst="ellipse">
            <a:avLst/>
          </a:prstGeom>
          <a:ln w="19050">
            <a:solidFill>
              <a:srgbClr val="22D3EE"/>
            </a:solidFill>
          </a:ln>
        </p:spPr>
      </p:pic>
      <p:sp>
        <p:nvSpPr>
          <p:cNvPr id="68" name="TextBox 67"/>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Marek Ślusarczyk (Tupungato) Photo portfolio · Wikimedia Commons · CC BY 3.0</a:t>
            </a:r>
          </a:p>
        </p:txBody>
      </p:sp>
      <p:sp>
        <p:nvSpPr>
          <p:cNvPr id="69" name="Rounded Rectangle 68"/>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M12 · 2 soat</a:t>
            </a:r>
          </a:p>
        </p:txBody>
      </p:sp>
      <p:sp>
        <p:nvSpPr>
          <p:cNvPr id="70" name="TextBox 69"/>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71" name="TextBox 70"/>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Ekspluatatsiya qilish texnologiyalari (MLOps)</a:t>
            </a:r>
          </a:p>
        </p:txBody>
      </p:sp>
      <p:sp>
        <p:nvSpPr>
          <p:cNvPr id="72" name="Rectangle 71"/>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9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200"/>
                            </p:stCondLst>
                            <p:childTnLst>
                              <p:par>
                                <p:cTn id="252" presetID="53" presetClass="entr" presetSubtype="16" fill="hold" grpId="0" nodeType="afterEffect">
                                  <p:stCondLst>
                                    <p:cond delay="0"/>
                                  </p:stCondLst>
                                  <p:childTnLst>
                                    <p:set>
                                      <p:cBhvr>
                                        <p:cTn id="253" dur="1" fill="hold">
                                          <p:stCondLst>
                                            <p:cond delay="0"/>
                                          </p:stCondLst>
                                        </p:cTn>
                                        <p:tgtEl>
                                          <p:spTgt spid="66"/>
                                        </p:tgtEl>
                                        <p:attrNameLst>
                                          <p:attrName>style.visibility</p:attrName>
                                        </p:attrNameLst>
                                      </p:cBhvr>
                                      <p:to>
                                        <p:strVal val="visible"/>
                                      </p:to>
                                    </p:set>
                                    <p:animEffect transition="in" filter="fade">
                                      <p:cBhvr>
                                        <p:cTn id="254" dur="550"/>
                                        <p:tgtEl>
                                          <p:spTgt spid="66"/>
                                        </p:tgtEl>
                                      </p:cBhvr>
                                    </p:animEffect>
                                    <p:anim calcmode="lin" valueType="num">
                                      <p:cBhvr additive="base">
                                        <p:cTn id="255" dur="550" fill="hold"/>
                                        <p:tgtEl>
                                          <p:spTgt spid="66"/>
                                        </p:tgtEl>
                                        <p:attrNameLst>
                                          <p:attrName>ppt_w</p:attrName>
                                        </p:attrNameLst>
                                      </p:cBhvr>
                                      <p:tavLst>
                                        <p:tav tm="0">
                                          <p:val>
                                            <p:strVal val="0"/>
                                          </p:val>
                                        </p:tav>
                                        <p:tav tm="100000">
                                          <p:val>
                                            <p:strVal val="#ppt_w"/>
                                          </p:val>
                                        </p:tav>
                                      </p:tavLst>
                                    </p:anim>
                                    <p:anim calcmode="lin" valueType="num">
                                      <p:cBhvr additive="base">
                                        <p:cTn id="256" dur="550" fill="hold"/>
                                        <p:tgtEl>
                                          <p:spTgt spid="66"/>
                                        </p:tgtEl>
                                        <p:attrNameLst>
                                          <p:attrName>ppt_h</p:attrName>
                                        </p:attrNameLst>
                                      </p:cBhvr>
                                      <p:tavLst>
                                        <p:tav tm="0">
                                          <p:val>
                                            <p:strVal val="0"/>
                                          </p:val>
                                        </p:tav>
                                        <p:tav tm="100000">
                                          <p:val>
                                            <p:strVal val="#ppt_h"/>
                                          </p:val>
                                        </p:tav>
                                      </p:tavLst>
                                    </p:anim>
                                  </p:childTnLst>
                                </p:cTn>
                              </p:par>
                            </p:childTnLst>
                          </p:cTn>
                        </p:par>
                        <p:par>
                          <p:cTn id="257" fill="hold">
                            <p:stCondLst>
                              <p:cond delay="200"/>
                            </p:stCondLst>
                            <p:childTnLst>
                              <p:par>
                                <p:cTn id="258" presetID="53" presetClass="entr" presetSubtype="16" fill="hold" grpId="0" nodeType="afterEffect">
                                  <p:stCondLst>
                                    <p:cond delay="0"/>
                                  </p:stCondLst>
                                  <p:childTnLst>
                                    <p:set>
                                      <p:cBhvr>
                                        <p:cTn id="259" dur="1" fill="hold">
                                          <p:stCondLst>
                                            <p:cond delay="0"/>
                                          </p:stCondLst>
                                        </p:cTn>
                                        <p:tgtEl>
                                          <p:spTgt spid="65"/>
                                        </p:tgtEl>
                                        <p:attrNameLst>
                                          <p:attrName>style.visibility</p:attrName>
                                        </p:attrNameLst>
                                      </p:cBhvr>
                                      <p:to>
                                        <p:strVal val="visible"/>
                                      </p:to>
                                    </p:set>
                                    <p:animEffect transition="in" filter="fade">
                                      <p:cBhvr>
                                        <p:cTn id="260" dur="550"/>
                                        <p:tgtEl>
                                          <p:spTgt spid="65"/>
                                        </p:tgtEl>
                                      </p:cBhvr>
                                    </p:animEffect>
                                    <p:anim calcmode="lin" valueType="num">
                                      <p:cBhvr additive="base">
                                        <p:cTn id="261" dur="550" fill="hold"/>
                                        <p:tgtEl>
                                          <p:spTgt spid="65"/>
                                        </p:tgtEl>
                                        <p:attrNameLst>
                                          <p:attrName>ppt_w</p:attrName>
                                        </p:attrNameLst>
                                      </p:cBhvr>
                                      <p:tavLst>
                                        <p:tav tm="0">
                                          <p:val>
                                            <p:strVal val="0"/>
                                          </p:val>
                                        </p:tav>
                                        <p:tav tm="100000">
                                          <p:val>
                                            <p:strVal val="#ppt_w"/>
                                          </p:val>
                                        </p:tav>
                                      </p:tavLst>
                                    </p:anim>
                                    <p:anim calcmode="lin" valueType="num">
                                      <p:cBhvr additive="base">
                                        <p:cTn id="262" dur="550" fill="hold"/>
                                        <p:tgtEl>
                                          <p:spTgt spid="65"/>
                                        </p:tgtEl>
                                        <p:attrNameLst>
                                          <p:attrName>ppt_h</p:attrName>
                                        </p:attrNameLst>
                                      </p:cBhvr>
                                      <p:tavLst>
                                        <p:tav tm="0">
                                          <p:val>
                                            <p:strVal val="0"/>
                                          </p:val>
                                        </p:tav>
                                        <p:tav tm="100000">
                                          <p:val>
                                            <p:strVal val="#ppt_h"/>
                                          </p:val>
                                        </p:tav>
                                      </p:tavLst>
                                    </p:anim>
                                  </p:childTnLst>
                                </p:cTn>
                              </p:par>
                            </p:childTnLst>
                          </p:cTn>
                        </p:par>
                        <p:par>
                          <p:cTn id="263" fill="hold">
                            <p:stCondLst>
                              <p:cond delay="200"/>
                            </p:stCondLst>
                            <p:childTnLst>
                              <p:par>
                                <p:cTn id="264" presetID="53" presetClass="entr" presetSubtype="16" fill="hold" grpId="0" nodeType="afterEffect">
                                  <p:stCondLst>
                                    <p:cond delay="0"/>
                                  </p:stCondLst>
                                  <p:childTnLst>
                                    <p:set>
                                      <p:cBhvr>
                                        <p:cTn id="265" dur="1" fill="hold">
                                          <p:stCondLst>
                                            <p:cond delay="0"/>
                                          </p:stCondLst>
                                        </p:cTn>
                                        <p:tgtEl>
                                          <p:spTgt spid="67"/>
                                        </p:tgtEl>
                                        <p:attrNameLst>
                                          <p:attrName>style.visibility</p:attrName>
                                        </p:attrNameLst>
                                      </p:cBhvr>
                                      <p:to>
                                        <p:strVal val="visible"/>
                                      </p:to>
                                    </p:set>
                                    <p:animEffect transition="in" filter="fade">
                                      <p:cBhvr>
                                        <p:cTn id="266" dur="550"/>
                                        <p:tgtEl>
                                          <p:spTgt spid="67"/>
                                        </p:tgtEl>
                                      </p:cBhvr>
                                    </p:animEffect>
                                    <p:anim calcmode="lin" valueType="num">
                                      <p:cBhvr additive="base">
                                        <p:cTn id="267" dur="550" fill="hold"/>
                                        <p:tgtEl>
                                          <p:spTgt spid="67"/>
                                        </p:tgtEl>
                                        <p:attrNameLst>
                                          <p:attrName>ppt_w</p:attrName>
                                        </p:attrNameLst>
                                      </p:cBhvr>
                                      <p:tavLst>
                                        <p:tav tm="0">
                                          <p:val>
                                            <p:strVal val="0"/>
                                          </p:val>
                                        </p:tav>
                                        <p:tav tm="100000">
                                          <p:val>
                                            <p:strVal val="#ppt_w"/>
                                          </p:val>
                                        </p:tav>
                                      </p:tavLst>
                                    </p:anim>
                                    <p:anim calcmode="lin" valueType="num">
                                      <p:cBhvr additive="base">
                                        <p:cTn id="268" dur="550" fill="hold"/>
                                        <p:tgtEl>
                                          <p:spTgt spid="67"/>
                                        </p:tgtEl>
                                        <p:attrNameLst>
                                          <p:attrName>ppt_h</p:attrName>
                                        </p:attrNameLst>
                                      </p:cBhvr>
                                      <p:tavLst>
                                        <p:tav tm="0">
                                          <p:val>
                                            <p:strVal val="0"/>
                                          </p:val>
                                        </p:tav>
                                        <p:tav tm="100000">
                                          <p:val>
                                            <p:strVal val="#ppt_h"/>
                                          </p:val>
                                        </p:tav>
                                      </p:tavLst>
                                    </p:anim>
                                  </p:childTnLst>
                                </p:cTn>
                              </p:par>
                            </p:childTnLst>
                          </p:cTn>
                        </p:par>
                        <p:par>
                          <p:cTn id="269" fill="hold">
                            <p:stCondLst>
                              <p:cond delay="200"/>
                            </p:stCondLst>
                            <p:childTnLst>
                              <p:par>
                                <p:cTn id="270" presetID="10" presetClass="entr" presetSubtype="0" fill="hold" grpId="0" nodeType="afterEffect">
                                  <p:stCondLst>
                                    <p:cond delay="0"/>
                                  </p:stCondLst>
                                  <p:childTnLst>
                                    <p:set>
                                      <p:cBhvr>
                                        <p:cTn id="271" dur="1" fill="hold">
                                          <p:stCondLst>
                                            <p:cond delay="0"/>
                                          </p:stCondLst>
                                        </p:cTn>
                                        <p:tgtEl>
                                          <p:spTgt spid="68"/>
                                        </p:tgtEl>
                                        <p:attrNameLst>
                                          <p:attrName>style.visibility</p:attrName>
                                        </p:attrNameLst>
                                      </p:cBhvr>
                                      <p:to>
                                        <p:strVal val="visible"/>
                                      </p:to>
                                    </p:set>
                                    <p:animEffect transition="in" filter="fade">
                                      <p:cBhvr>
                                        <p:cTn id="272" dur="550"/>
                                        <p:tgtEl>
                                          <p:spTgt spid="68"/>
                                        </p:tgtEl>
                                      </p:cBhvr>
                                    </p:animEffect>
                                  </p:childTnLst>
                                </p:cTn>
                              </p:par>
                            </p:childTnLst>
                          </p:cTn>
                        </p:par>
                        <p:par>
                          <p:cTn id="273" fill="hold">
                            <p:stCondLst>
                              <p:cond delay="350"/>
                            </p:stCondLst>
                            <p:childTnLst>
                              <p:par>
                                <p:cTn id="274" presetID="10" presetClass="entr" presetSubtype="0" fill="hold" grpId="0" nodeType="afterEffect">
                                  <p:stCondLst>
                                    <p:cond delay="0"/>
                                  </p:stCondLst>
                                  <p:childTnLst>
                                    <p:set>
                                      <p:cBhvr>
                                        <p:cTn id="275" dur="1" fill="hold">
                                          <p:stCondLst>
                                            <p:cond delay="0"/>
                                          </p:stCondLst>
                                        </p:cTn>
                                        <p:tgtEl>
                                          <p:spTgt spid="70"/>
                                        </p:tgtEl>
                                        <p:attrNameLst>
                                          <p:attrName>style.visibility</p:attrName>
                                        </p:attrNameLst>
                                      </p:cBhvr>
                                      <p:to>
                                        <p:strVal val="visible"/>
                                      </p:to>
                                    </p:set>
                                    <p:animEffect transition="in" filter="fade">
                                      <p:cBhvr>
                                        <p:cTn id="276" dur="550"/>
                                        <p:tgtEl>
                                          <p:spTgt spid="70"/>
                                        </p:tgtEl>
                                      </p:cBhvr>
                                    </p:animEffect>
                                  </p:childTnLst>
                                </p:cTn>
                              </p:par>
                            </p:childTnLst>
                          </p:cTn>
                        </p:par>
                        <p:par>
                          <p:cTn id="277" fill="hold">
                            <p:stCondLst>
                              <p:cond delay="500"/>
                            </p:stCondLst>
                            <p:childTnLst>
                              <p:par>
                                <p:cTn id="278" presetID="2" presetClass="entr" presetSubtype="8" fill="hold" grpId="0" nodeType="afterEffect">
                                  <p:stCondLst>
                                    <p:cond delay="0"/>
                                  </p:stCondLst>
                                  <p:childTnLst>
                                    <p:set>
                                      <p:cBhvr>
                                        <p:cTn id="279" dur="1" fill="hold">
                                          <p:stCondLst>
                                            <p:cond delay="0"/>
                                          </p:stCondLst>
                                        </p:cTn>
                                        <p:tgtEl>
                                          <p:spTgt spid="69"/>
                                        </p:tgtEl>
                                        <p:attrNameLst>
                                          <p:attrName>style.visibility</p:attrName>
                                        </p:attrNameLst>
                                      </p:cBhvr>
                                      <p:to>
                                        <p:strVal val="visible"/>
                                      </p:to>
                                    </p:set>
                                    <p:anim calcmode="lin" valueType="num">
                                      <p:cBhvr additive="base">
                                        <p:cTn id="281" dur="550" fill="hold"/>
                                        <p:tgtEl>
                                          <p:spTgt spid="69"/>
                                        </p:tgtEl>
                                        <p:attrNameLst>
                                          <p:attrName>ppt_x</p:attrName>
                                        </p:attrNameLst>
                                      </p:cBhvr>
                                      <p:tavLst>
                                        <p:tav tm="0">
                                          <p:val>
                                            <p:strVal val="0-#ppt_w/2"/>
                                          </p:val>
                                        </p:tav>
                                        <p:tav tm="100000">
                                          <p:val>
                                            <p:strVal val="#ppt_x"/>
                                          </p:val>
                                        </p:tav>
                                      </p:tavLst>
                                    </p:anim>
                                    <p:anim calcmode="lin" valueType="num">
                                      <p:cBhvr additive="base">
                                        <p:cTn id="282" dur="550" fill="hold"/>
                                        <p:tgtEl>
                                          <p:spTgt spid="69"/>
                                        </p:tgtEl>
                                        <p:attrNameLst>
                                          <p:attrName>ppt_y</p:attrName>
                                        </p:attrNameLst>
                                      </p:cBhvr>
                                      <p:tavLst>
                                        <p:tav tm="0">
                                          <p:val>
                                            <p:strVal val="#ppt_y"/>
                                          </p:val>
                                        </p:tav>
                                        <p:tav tm="100000">
                                          <p:val>
                                            <p:strVal val="#ppt_y"/>
                                          </p:val>
                                        </p:tav>
                                      </p:tavLst>
                                    </p:anim>
                                  </p:childTnLst>
                                </p:cTn>
                              </p:par>
                            </p:childTnLst>
                          </p:cTn>
                        </p:par>
                        <p:par>
                          <p:cTn id="283" fill="hold">
                            <p:stCondLst>
                              <p:cond delay="650"/>
                            </p:stCondLst>
                            <p:childTnLst>
                              <p:par>
                                <p:cTn id="284" presetID="42" presetClass="entr" presetSubtype="0" fill="hold" grpId="0" nodeType="afterEffect">
                                  <p:stCondLst>
                                    <p:cond delay="0"/>
                                  </p:stCondLst>
                                  <p:childTnLst>
                                    <p:set>
                                      <p:cBhvr>
                                        <p:cTn id="285" dur="1" fill="hold">
                                          <p:stCondLst>
                                            <p:cond delay="0"/>
                                          </p:stCondLst>
                                        </p:cTn>
                                        <p:tgtEl>
                                          <p:spTgt spid="71"/>
                                        </p:tgtEl>
                                        <p:attrNameLst>
                                          <p:attrName>style.visibility</p:attrName>
                                        </p:attrNameLst>
                                      </p:cBhvr>
                                      <p:to>
                                        <p:strVal val="visible"/>
                                      </p:to>
                                    </p:set>
                                    <p:animEffect transition="in" filter="fade">
                                      <p:cBhvr>
                                        <p:cTn id="286" dur="550"/>
                                        <p:tgtEl>
                                          <p:spTgt spid="71"/>
                                        </p:tgtEl>
                                      </p:cBhvr>
                                    </p:animEffect>
                                    <p:anim calcmode="lin" valueType="num">
                                      <p:cBhvr additive="base">
                                        <p:cTn id="287" dur="550" fill="hold"/>
                                        <p:tgtEl>
                                          <p:spTgt spid="71"/>
                                        </p:tgtEl>
                                        <p:attrNameLst>
                                          <p:attrName>ppt_x</p:attrName>
                                        </p:attrNameLst>
                                      </p:cBhvr>
                                      <p:tavLst>
                                        <p:tav tm="0">
                                          <p:val>
                                            <p:strVal val="#ppt_x"/>
                                          </p:val>
                                        </p:tav>
                                        <p:tav tm="100000">
                                          <p:val>
                                            <p:strVal val="#ppt_x"/>
                                          </p:val>
                                        </p:tav>
                                      </p:tavLst>
                                    </p:anim>
                                    <p:anim calcmode="lin" valueType="num">
                                      <p:cBhvr additive="base">
                                        <p:cTn id="288" dur="550" fill="hold"/>
                                        <p:tgtEl>
                                          <p:spTgt spid="71"/>
                                        </p:tgtEl>
                                        <p:attrNameLst>
                                          <p:attrName>ppt_y</p:attrName>
                                        </p:attrNameLst>
                                      </p:cBhvr>
                                      <p:tavLst>
                                        <p:tav tm="0">
                                          <p:val>
                                            <p:strVal val="#ppt_y+.08"/>
                                          </p:val>
                                        </p:tav>
                                        <p:tav tm="100000">
                                          <p:val>
                                            <p:strVal val="#ppt_y"/>
                                          </p:val>
                                        </p:tav>
                                      </p:tavLst>
                                    </p:anim>
                                  </p:childTnLst>
                                </p:cTn>
                              </p:par>
                            </p:childTnLst>
                          </p:cTn>
                        </p:par>
                        <p:par>
                          <p:cTn id="289" fill="hold">
                            <p:stCondLst>
                              <p:cond delay="800"/>
                            </p:stCondLst>
                            <p:childTnLst>
                              <p:par>
                                <p:cTn id="290" presetID="22" presetClass="entr" presetSubtype="8" fill="hold" grpId="0" nodeType="afterEffect">
                                  <p:stCondLst>
                                    <p:cond delay="0"/>
                                  </p:stCondLst>
                                  <p:childTnLst>
                                    <p:set>
                                      <p:cBhvr>
                                        <p:cTn id="291" dur="1" fill="hold">
                                          <p:stCondLst>
                                            <p:cond delay="0"/>
                                          </p:stCondLst>
                                        </p:cTn>
                                        <p:tgtEl>
                                          <p:spTgt spid="72"/>
                                        </p:tgtEl>
                                        <p:attrNameLst>
                                          <p:attrName>style.visibility</p:attrName>
                                        </p:attrNameLst>
                                      </p:cBhvr>
                                      <p:to>
                                        <p:strVal val="visible"/>
                                      </p:to>
                                    </p:set>
                                    <p:animEffect transition="in" filter="wipe(left)">
                                      <p:cBhvr>
                                        <p:cTn id="293" dur="800"/>
                                        <p:tgtEl>
                                          <p:spTgt spid="72"/>
                                        </p:tgtEl>
                                      </p:cBhvr>
                                    </p:animEffect>
                                  </p:childTnLst>
                                </p:cTn>
                              </p:par>
                            </p:childTnLst>
                          </p:cTn>
                        </p:par>
                        <p:par>
                          <p:cTn id="294" fill="hold">
                            <p:stCondLst>
                              <p:cond delay="950"/>
                            </p:stCondLst>
                            <p:childTnLst>
                              <p:par>
                                <p:cTn id="295" presetID="10" presetClass="entr" presetSubtype="0" fill="hold" grpId="0" nodeType="afterEffect">
                                  <p:stCondLst>
                                    <p:cond delay="0"/>
                                  </p:stCondLst>
                                  <p:childTnLst>
                                    <p:set>
                                      <p:cBhvr>
                                        <p:cTn id="296" dur="1" fill="hold">
                                          <p:stCondLst>
                                            <p:cond delay="0"/>
                                          </p:stCondLst>
                                        </p:cTn>
                                        <p:tgtEl>
                                          <p:spTgt spid="73"/>
                                        </p:tgtEl>
                                        <p:attrNameLst>
                                          <p:attrName>style.visibility</p:attrName>
                                        </p:attrNameLst>
                                      </p:cBhvr>
                                      <p:to>
                                        <p:strVal val="visible"/>
                                      </p:to>
                                    </p:set>
                                    <p:animEffect transition="in" filter="fade">
                                      <p:cBhvr>
                                        <p:cTn id="297" dur="55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6" grpId="0" animBg="1"/>
      <p:bldP spid="65" grpId="0" animBg="1"/>
      <p:bldP spid="68" grpId="0" animBg="1"/>
      <p:bldP spid="70" grpId="0" animBg="1"/>
      <p:bldP spid="69" grpId="0" animBg="1"/>
      <p:bldP spid="71" grpId="0" animBg="1"/>
      <p:bldP spid="72" grpId="0" animBg="1"/>
      <p:bldP spid="7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6" name="Rounded Rectangle 25"/>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MLOps konsepsiyasi va yetuklik darajalari</a:t>
            </a:r>
          </a:p>
        </p:txBody>
      </p:sp>
      <p:sp>
        <p:nvSpPr>
          <p:cNvPr id="30" name="Rounded Rectangle 29"/>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Eksperimentlarni kuzatish va Model Registry</a:t>
            </a:r>
          </a:p>
        </p:txBody>
      </p:sp>
      <p:sp>
        <p:nvSpPr>
          <p:cNvPr id="34" name="Rounded Rectangle 33"/>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7" name="TextBox 36"/>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CI/CD va uzluksiz o'qitish (CT)</a:t>
            </a:r>
          </a:p>
        </p:txBody>
      </p:sp>
      <p:sp>
        <p:nvSpPr>
          <p:cNvPr id="38" name="Rounded Rectangle 37"/>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41" name="TextBox 40"/>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Model Deployment: rejimlar va strategiyalar</a:t>
            </a:r>
          </a:p>
        </p:txBody>
      </p:sp>
      <p:sp>
        <p:nvSpPr>
          <p:cNvPr id="42" name="Rounded Rectangle 41"/>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5" name="TextBox 44"/>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Monitoring va Drift Detection</a:t>
            </a:r>
          </a:p>
        </p:txBody>
      </p:sp>
      <p:sp>
        <p:nvSpPr>
          <p:cNvPr id="46" name="Rounded Rectangle 45"/>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9" name="TextBox 48"/>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Infratuzilmani avtomatlashtirish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ppt_x</p:attrName>
                                        </p:attrNameLst>
                                      </p:cBhvr>
                                      <p:tavLst>
                                        <p:tav tm="0">
                                          <p:val>
                                            <p:strVal val="#ppt_x"/>
                                          </p:val>
                                        </p:tav>
                                        <p:tav tm="100000">
                                          <p:val>
                                            <p:strVal val="#ppt_x"/>
                                          </p:val>
                                        </p:tav>
                                      </p:tavLst>
                                    </p:anim>
                                    <p:anim calcmode="lin" valueType="num">
                                      <p:cBhvr additive="base">
                                        <p:cTn id="17" dur="550" fill="hold"/>
                                        <p:tgtEl>
                                          <p:spTgt spid="26"/>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ppt_x</p:attrName>
                                        </p:attrNameLst>
                                      </p:cBhvr>
                                      <p:tavLst>
                                        <p:tav tm="0">
                                          <p:val>
                                            <p:strVal val="#ppt_x"/>
                                          </p:val>
                                        </p:tav>
                                        <p:tav tm="100000">
                                          <p:val>
                                            <p:strVal val="#ppt_x"/>
                                          </p:val>
                                        </p:tav>
                                      </p:tavLst>
                                    </p:anim>
                                    <p:anim calcmode="lin" valueType="num">
                                      <p:cBhvr additive="base">
                                        <p:cTn id="23" dur="550" fill="hold"/>
                                        <p:tgtEl>
                                          <p:spTgt spid="27"/>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ppt_w</p:attrName>
                                        </p:attrNameLst>
                                      </p:cBhvr>
                                      <p:tavLst>
                                        <p:tav tm="0">
                                          <p:val>
                                            <p:strVal val="0"/>
                                          </p:val>
                                        </p:tav>
                                        <p:tav tm="100000">
                                          <p:val>
                                            <p:strVal val="#ppt_w"/>
                                          </p:val>
                                        </p:tav>
                                      </p:tavLst>
                                    </p:anim>
                                    <p:anim calcmode="lin" valueType="num">
                                      <p:cBhvr additive="base">
                                        <p:cTn id="29" dur="550" fill="hold"/>
                                        <p:tgtEl>
                                          <p:spTgt spid="28"/>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50"/>
                                        <p:tgtEl>
                                          <p:spTgt spid="29"/>
                                        </p:tgtEl>
                                      </p:cBhvr>
                                    </p:animEffect>
                                    <p:anim calcmode="lin" valueType="num">
                                      <p:cBhvr additive="base">
                                        <p:cTn id="34" dur="550" fill="hold"/>
                                        <p:tgtEl>
                                          <p:spTgt spid="29"/>
                                        </p:tgtEl>
                                        <p:attrNameLst>
                                          <p:attrName>ppt_x</p:attrName>
                                        </p:attrNameLst>
                                      </p:cBhvr>
                                      <p:tavLst>
                                        <p:tav tm="0">
                                          <p:val>
                                            <p:strVal val="#ppt_x"/>
                                          </p:val>
                                        </p:tav>
                                        <p:tav tm="100000">
                                          <p:val>
                                            <p:strVal val="#ppt_x"/>
                                          </p:val>
                                        </p:tav>
                                      </p:tavLst>
                                    </p:anim>
                                    <p:anim calcmode="lin" valueType="num">
                                      <p:cBhvr additive="base">
                                        <p:cTn id="35" dur="550" fill="hold"/>
                                        <p:tgtEl>
                                          <p:spTgt spid="29"/>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50"/>
                                        <p:tgtEl>
                                          <p:spTgt spid="30"/>
                                        </p:tgtEl>
                                      </p:cBhvr>
                                    </p:animEffect>
                                    <p:anim calcmode="lin" valueType="num">
                                      <p:cBhvr additive="base">
                                        <p:cTn id="40" dur="550" fill="hold"/>
                                        <p:tgtEl>
                                          <p:spTgt spid="30"/>
                                        </p:tgtEl>
                                        <p:attrNameLst>
                                          <p:attrName>ppt_x</p:attrName>
                                        </p:attrNameLst>
                                      </p:cBhvr>
                                      <p:tavLst>
                                        <p:tav tm="0">
                                          <p:val>
                                            <p:strVal val="#ppt_x"/>
                                          </p:val>
                                        </p:tav>
                                        <p:tav tm="100000">
                                          <p:val>
                                            <p:strVal val="#ppt_x"/>
                                          </p:val>
                                        </p:tav>
                                      </p:tavLst>
                                    </p:anim>
                                    <p:anim calcmode="lin" valueType="num">
                                      <p:cBhvr additive="base">
                                        <p:cTn id="41" dur="550" fill="hold"/>
                                        <p:tgtEl>
                                          <p:spTgt spid="30"/>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550"/>
                                        <p:tgtEl>
                                          <p:spTgt spid="31"/>
                                        </p:tgtEl>
                                      </p:cBhvr>
                                    </p:animEffect>
                                    <p:anim calcmode="lin" valueType="num">
                                      <p:cBhvr additive="base">
                                        <p:cTn id="46" dur="550" fill="hold"/>
                                        <p:tgtEl>
                                          <p:spTgt spid="31"/>
                                        </p:tgtEl>
                                        <p:attrNameLst>
                                          <p:attrName>ppt_x</p:attrName>
                                        </p:attrNameLst>
                                      </p:cBhvr>
                                      <p:tavLst>
                                        <p:tav tm="0">
                                          <p:val>
                                            <p:strVal val="#ppt_x"/>
                                          </p:val>
                                        </p:tav>
                                        <p:tav tm="100000">
                                          <p:val>
                                            <p:strVal val="#ppt_x"/>
                                          </p:val>
                                        </p:tav>
                                      </p:tavLst>
                                    </p:anim>
                                    <p:anim calcmode="lin" valueType="num">
                                      <p:cBhvr additive="base">
                                        <p:cTn id="47" dur="550" fill="hold"/>
                                        <p:tgtEl>
                                          <p:spTgt spid="31"/>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550"/>
                                        <p:tgtEl>
                                          <p:spTgt spid="32"/>
                                        </p:tgtEl>
                                      </p:cBhvr>
                                    </p:animEffect>
                                    <p:anim calcmode="lin" valueType="num">
                                      <p:cBhvr additive="base">
                                        <p:cTn id="52" dur="550" fill="hold"/>
                                        <p:tgtEl>
                                          <p:spTgt spid="32"/>
                                        </p:tgtEl>
                                        <p:attrNameLst>
                                          <p:attrName>ppt_w</p:attrName>
                                        </p:attrNameLst>
                                      </p:cBhvr>
                                      <p:tavLst>
                                        <p:tav tm="0">
                                          <p:val>
                                            <p:strVal val="0"/>
                                          </p:val>
                                        </p:tav>
                                        <p:tav tm="100000">
                                          <p:val>
                                            <p:strVal val="#ppt_w"/>
                                          </p:val>
                                        </p:tav>
                                      </p:tavLst>
                                    </p:anim>
                                    <p:anim calcmode="lin" valueType="num">
                                      <p:cBhvr additive="base">
                                        <p:cTn id="53" dur="550" fill="hold"/>
                                        <p:tgtEl>
                                          <p:spTgt spid="32"/>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550"/>
                                        <p:tgtEl>
                                          <p:spTgt spid="33"/>
                                        </p:tgtEl>
                                      </p:cBhvr>
                                    </p:animEffect>
                                    <p:anim calcmode="lin" valueType="num">
                                      <p:cBhvr additive="base">
                                        <p:cTn id="58" dur="550" fill="hold"/>
                                        <p:tgtEl>
                                          <p:spTgt spid="33"/>
                                        </p:tgtEl>
                                        <p:attrNameLst>
                                          <p:attrName>ppt_x</p:attrName>
                                        </p:attrNameLst>
                                      </p:cBhvr>
                                      <p:tavLst>
                                        <p:tav tm="0">
                                          <p:val>
                                            <p:strVal val="#ppt_x"/>
                                          </p:val>
                                        </p:tav>
                                        <p:tav tm="100000">
                                          <p:val>
                                            <p:strVal val="#ppt_x"/>
                                          </p:val>
                                        </p:tav>
                                      </p:tavLst>
                                    </p:anim>
                                    <p:anim calcmode="lin" valueType="num">
                                      <p:cBhvr additive="base">
                                        <p:cTn id="59" dur="550" fill="hold"/>
                                        <p:tgtEl>
                                          <p:spTgt spid="33"/>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4"/>
                                        </p:tgtEl>
                                        <p:attrNameLst>
                                          <p:attrName>style.visibility</p:attrName>
                                        </p:attrNameLst>
                                      </p:cBhvr>
                                      <p:to>
                                        <p:strVal val="visible"/>
                                      </p:to>
                                    </p:set>
                                    <p:animEffect transition="in" filter="fade">
                                      <p:cBhvr>
                                        <p:cTn id="63" dur="550"/>
                                        <p:tgtEl>
                                          <p:spTgt spid="34"/>
                                        </p:tgtEl>
                                      </p:cBhvr>
                                    </p:animEffect>
                                    <p:anim calcmode="lin" valueType="num">
                                      <p:cBhvr additive="base">
                                        <p:cTn id="64" dur="550" fill="hold"/>
                                        <p:tgtEl>
                                          <p:spTgt spid="34"/>
                                        </p:tgtEl>
                                        <p:attrNameLst>
                                          <p:attrName>ppt_x</p:attrName>
                                        </p:attrNameLst>
                                      </p:cBhvr>
                                      <p:tavLst>
                                        <p:tav tm="0">
                                          <p:val>
                                            <p:strVal val="#ppt_x"/>
                                          </p:val>
                                        </p:tav>
                                        <p:tav tm="100000">
                                          <p:val>
                                            <p:strVal val="#ppt_x"/>
                                          </p:val>
                                        </p:tav>
                                      </p:tavLst>
                                    </p:anim>
                                    <p:anim calcmode="lin" valueType="num">
                                      <p:cBhvr additive="base">
                                        <p:cTn id="65" dur="550" fill="hold"/>
                                        <p:tgtEl>
                                          <p:spTgt spid="34"/>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fade">
                                      <p:cBhvr>
                                        <p:cTn id="69" dur="550"/>
                                        <p:tgtEl>
                                          <p:spTgt spid="35"/>
                                        </p:tgtEl>
                                      </p:cBhvr>
                                    </p:animEffect>
                                    <p:anim calcmode="lin" valueType="num">
                                      <p:cBhvr additive="base">
                                        <p:cTn id="70" dur="550" fill="hold"/>
                                        <p:tgtEl>
                                          <p:spTgt spid="35"/>
                                        </p:tgtEl>
                                        <p:attrNameLst>
                                          <p:attrName>ppt_x</p:attrName>
                                        </p:attrNameLst>
                                      </p:cBhvr>
                                      <p:tavLst>
                                        <p:tav tm="0">
                                          <p:val>
                                            <p:strVal val="#ppt_x"/>
                                          </p:val>
                                        </p:tav>
                                        <p:tav tm="100000">
                                          <p:val>
                                            <p:strVal val="#ppt_x"/>
                                          </p:val>
                                        </p:tav>
                                      </p:tavLst>
                                    </p:anim>
                                    <p:anim calcmode="lin" valueType="num">
                                      <p:cBhvr additive="base">
                                        <p:cTn id="71" dur="550" fill="hold"/>
                                        <p:tgtEl>
                                          <p:spTgt spid="35"/>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550"/>
                                        <p:tgtEl>
                                          <p:spTgt spid="36"/>
                                        </p:tgtEl>
                                      </p:cBhvr>
                                    </p:animEffect>
                                    <p:anim calcmode="lin" valueType="num">
                                      <p:cBhvr additive="base">
                                        <p:cTn id="76" dur="550" fill="hold"/>
                                        <p:tgtEl>
                                          <p:spTgt spid="36"/>
                                        </p:tgtEl>
                                        <p:attrNameLst>
                                          <p:attrName>ppt_w</p:attrName>
                                        </p:attrNameLst>
                                      </p:cBhvr>
                                      <p:tavLst>
                                        <p:tav tm="0">
                                          <p:val>
                                            <p:strVal val="0"/>
                                          </p:val>
                                        </p:tav>
                                        <p:tav tm="100000">
                                          <p:val>
                                            <p:strVal val="#ppt_w"/>
                                          </p:val>
                                        </p:tav>
                                      </p:tavLst>
                                    </p:anim>
                                    <p:anim calcmode="lin" valueType="num">
                                      <p:cBhvr additive="base">
                                        <p:cTn id="77" dur="550" fill="hold"/>
                                        <p:tgtEl>
                                          <p:spTgt spid="36"/>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550"/>
                                        <p:tgtEl>
                                          <p:spTgt spid="37"/>
                                        </p:tgtEl>
                                      </p:cBhvr>
                                    </p:animEffect>
                                    <p:anim calcmode="lin" valueType="num">
                                      <p:cBhvr additive="base">
                                        <p:cTn id="82" dur="550" fill="hold"/>
                                        <p:tgtEl>
                                          <p:spTgt spid="37"/>
                                        </p:tgtEl>
                                        <p:attrNameLst>
                                          <p:attrName>ppt_x</p:attrName>
                                        </p:attrNameLst>
                                      </p:cBhvr>
                                      <p:tavLst>
                                        <p:tav tm="0">
                                          <p:val>
                                            <p:strVal val="#ppt_x"/>
                                          </p:val>
                                        </p:tav>
                                        <p:tav tm="100000">
                                          <p:val>
                                            <p:strVal val="#ppt_x"/>
                                          </p:val>
                                        </p:tav>
                                      </p:tavLst>
                                    </p:anim>
                                    <p:anim calcmode="lin" valueType="num">
                                      <p:cBhvr additive="base">
                                        <p:cTn id="83" dur="550" fill="hold"/>
                                        <p:tgtEl>
                                          <p:spTgt spid="37"/>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550"/>
                                        <p:tgtEl>
                                          <p:spTgt spid="38"/>
                                        </p:tgtEl>
                                      </p:cBhvr>
                                    </p:animEffect>
                                    <p:anim calcmode="lin" valueType="num">
                                      <p:cBhvr additive="base">
                                        <p:cTn id="88" dur="550" fill="hold"/>
                                        <p:tgtEl>
                                          <p:spTgt spid="38"/>
                                        </p:tgtEl>
                                        <p:attrNameLst>
                                          <p:attrName>ppt_x</p:attrName>
                                        </p:attrNameLst>
                                      </p:cBhvr>
                                      <p:tavLst>
                                        <p:tav tm="0">
                                          <p:val>
                                            <p:strVal val="#ppt_x"/>
                                          </p:val>
                                        </p:tav>
                                        <p:tav tm="100000">
                                          <p:val>
                                            <p:strVal val="#ppt_x"/>
                                          </p:val>
                                        </p:tav>
                                      </p:tavLst>
                                    </p:anim>
                                    <p:anim calcmode="lin" valueType="num">
                                      <p:cBhvr additive="base">
                                        <p:cTn id="89" dur="550" fill="hold"/>
                                        <p:tgtEl>
                                          <p:spTgt spid="38"/>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9"/>
                                        </p:tgtEl>
                                        <p:attrNameLst>
                                          <p:attrName>style.visibility</p:attrName>
                                        </p:attrNameLst>
                                      </p:cBhvr>
                                      <p:to>
                                        <p:strVal val="visible"/>
                                      </p:to>
                                    </p:set>
                                    <p:animEffect transition="in" filter="fade">
                                      <p:cBhvr>
                                        <p:cTn id="93" dur="550"/>
                                        <p:tgtEl>
                                          <p:spTgt spid="39"/>
                                        </p:tgtEl>
                                      </p:cBhvr>
                                    </p:animEffect>
                                    <p:anim calcmode="lin" valueType="num">
                                      <p:cBhvr additive="base">
                                        <p:cTn id="94" dur="550" fill="hold"/>
                                        <p:tgtEl>
                                          <p:spTgt spid="39"/>
                                        </p:tgtEl>
                                        <p:attrNameLst>
                                          <p:attrName>ppt_x</p:attrName>
                                        </p:attrNameLst>
                                      </p:cBhvr>
                                      <p:tavLst>
                                        <p:tav tm="0">
                                          <p:val>
                                            <p:strVal val="#ppt_x"/>
                                          </p:val>
                                        </p:tav>
                                        <p:tav tm="100000">
                                          <p:val>
                                            <p:strVal val="#ppt_x"/>
                                          </p:val>
                                        </p:tav>
                                      </p:tavLst>
                                    </p:anim>
                                    <p:anim calcmode="lin" valueType="num">
                                      <p:cBhvr additive="base">
                                        <p:cTn id="95" dur="550" fill="hold"/>
                                        <p:tgtEl>
                                          <p:spTgt spid="39"/>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40"/>
                                        </p:tgtEl>
                                        <p:attrNameLst>
                                          <p:attrName>style.visibility</p:attrName>
                                        </p:attrNameLst>
                                      </p:cBhvr>
                                      <p:to>
                                        <p:strVal val="visible"/>
                                      </p:to>
                                    </p:set>
                                    <p:animEffect transition="in" filter="fade">
                                      <p:cBhvr>
                                        <p:cTn id="99" dur="550"/>
                                        <p:tgtEl>
                                          <p:spTgt spid="40"/>
                                        </p:tgtEl>
                                      </p:cBhvr>
                                    </p:animEffect>
                                    <p:anim calcmode="lin" valueType="num">
                                      <p:cBhvr additive="base">
                                        <p:cTn id="100" dur="550" fill="hold"/>
                                        <p:tgtEl>
                                          <p:spTgt spid="40"/>
                                        </p:tgtEl>
                                        <p:attrNameLst>
                                          <p:attrName>ppt_w</p:attrName>
                                        </p:attrNameLst>
                                      </p:cBhvr>
                                      <p:tavLst>
                                        <p:tav tm="0">
                                          <p:val>
                                            <p:strVal val="0"/>
                                          </p:val>
                                        </p:tav>
                                        <p:tav tm="100000">
                                          <p:val>
                                            <p:strVal val="#ppt_w"/>
                                          </p:val>
                                        </p:tav>
                                      </p:tavLst>
                                    </p:anim>
                                    <p:anim calcmode="lin" valueType="num">
                                      <p:cBhvr additive="base">
                                        <p:cTn id="101" dur="550" fill="hold"/>
                                        <p:tgtEl>
                                          <p:spTgt spid="40"/>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41"/>
                                        </p:tgtEl>
                                        <p:attrNameLst>
                                          <p:attrName>style.visibility</p:attrName>
                                        </p:attrNameLst>
                                      </p:cBhvr>
                                      <p:to>
                                        <p:strVal val="visible"/>
                                      </p:to>
                                    </p:set>
                                    <p:animEffect transition="in" filter="fade">
                                      <p:cBhvr>
                                        <p:cTn id="105" dur="550"/>
                                        <p:tgtEl>
                                          <p:spTgt spid="41"/>
                                        </p:tgtEl>
                                      </p:cBhvr>
                                    </p:animEffect>
                                    <p:anim calcmode="lin" valueType="num">
                                      <p:cBhvr additive="base">
                                        <p:cTn id="106" dur="550" fill="hold"/>
                                        <p:tgtEl>
                                          <p:spTgt spid="41"/>
                                        </p:tgtEl>
                                        <p:attrNameLst>
                                          <p:attrName>ppt_x</p:attrName>
                                        </p:attrNameLst>
                                      </p:cBhvr>
                                      <p:tavLst>
                                        <p:tav tm="0">
                                          <p:val>
                                            <p:strVal val="#ppt_x"/>
                                          </p:val>
                                        </p:tav>
                                        <p:tav tm="100000">
                                          <p:val>
                                            <p:strVal val="#ppt_x"/>
                                          </p:val>
                                        </p:tav>
                                      </p:tavLst>
                                    </p:anim>
                                    <p:anim calcmode="lin" valueType="num">
                                      <p:cBhvr additive="base">
                                        <p:cTn id="107" dur="550" fill="hold"/>
                                        <p:tgtEl>
                                          <p:spTgt spid="41"/>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550"/>
                                        <p:tgtEl>
                                          <p:spTgt spid="42"/>
                                        </p:tgtEl>
                                      </p:cBhvr>
                                    </p:animEffect>
                                    <p:anim calcmode="lin" valueType="num">
                                      <p:cBhvr additive="base">
                                        <p:cTn id="112" dur="550" fill="hold"/>
                                        <p:tgtEl>
                                          <p:spTgt spid="42"/>
                                        </p:tgtEl>
                                        <p:attrNameLst>
                                          <p:attrName>ppt_x</p:attrName>
                                        </p:attrNameLst>
                                      </p:cBhvr>
                                      <p:tavLst>
                                        <p:tav tm="0">
                                          <p:val>
                                            <p:strVal val="#ppt_x"/>
                                          </p:val>
                                        </p:tav>
                                        <p:tav tm="100000">
                                          <p:val>
                                            <p:strVal val="#ppt_x"/>
                                          </p:val>
                                        </p:tav>
                                      </p:tavLst>
                                    </p:anim>
                                    <p:anim calcmode="lin" valueType="num">
                                      <p:cBhvr additive="base">
                                        <p:cTn id="113" dur="550" fill="hold"/>
                                        <p:tgtEl>
                                          <p:spTgt spid="42"/>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3"/>
                                        </p:tgtEl>
                                        <p:attrNameLst>
                                          <p:attrName>style.visibility</p:attrName>
                                        </p:attrNameLst>
                                      </p:cBhvr>
                                      <p:to>
                                        <p:strVal val="visible"/>
                                      </p:to>
                                    </p:set>
                                    <p:animEffect transition="in" filter="fade">
                                      <p:cBhvr>
                                        <p:cTn id="117" dur="550"/>
                                        <p:tgtEl>
                                          <p:spTgt spid="43"/>
                                        </p:tgtEl>
                                      </p:cBhvr>
                                    </p:animEffect>
                                    <p:anim calcmode="lin" valueType="num">
                                      <p:cBhvr additive="base">
                                        <p:cTn id="118" dur="550" fill="hold"/>
                                        <p:tgtEl>
                                          <p:spTgt spid="43"/>
                                        </p:tgtEl>
                                        <p:attrNameLst>
                                          <p:attrName>ppt_x</p:attrName>
                                        </p:attrNameLst>
                                      </p:cBhvr>
                                      <p:tavLst>
                                        <p:tav tm="0">
                                          <p:val>
                                            <p:strVal val="#ppt_x"/>
                                          </p:val>
                                        </p:tav>
                                        <p:tav tm="100000">
                                          <p:val>
                                            <p:strVal val="#ppt_x"/>
                                          </p:val>
                                        </p:tav>
                                      </p:tavLst>
                                    </p:anim>
                                    <p:anim calcmode="lin" valueType="num">
                                      <p:cBhvr additive="base">
                                        <p:cTn id="119" dur="550" fill="hold"/>
                                        <p:tgtEl>
                                          <p:spTgt spid="43"/>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50"/>
                                        <p:tgtEl>
                                          <p:spTgt spid="44"/>
                                        </p:tgtEl>
                                      </p:cBhvr>
                                    </p:animEffect>
                                    <p:anim calcmode="lin" valueType="num">
                                      <p:cBhvr additive="base">
                                        <p:cTn id="124" dur="550" fill="hold"/>
                                        <p:tgtEl>
                                          <p:spTgt spid="44"/>
                                        </p:tgtEl>
                                        <p:attrNameLst>
                                          <p:attrName>ppt_w</p:attrName>
                                        </p:attrNameLst>
                                      </p:cBhvr>
                                      <p:tavLst>
                                        <p:tav tm="0">
                                          <p:val>
                                            <p:strVal val="0"/>
                                          </p:val>
                                        </p:tav>
                                        <p:tav tm="100000">
                                          <p:val>
                                            <p:strVal val="#ppt_w"/>
                                          </p:val>
                                        </p:tav>
                                      </p:tavLst>
                                    </p:anim>
                                    <p:anim calcmode="lin" valueType="num">
                                      <p:cBhvr additive="base">
                                        <p:cTn id="125" dur="550" fill="hold"/>
                                        <p:tgtEl>
                                          <p:spTgt spid="44"/>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5"/>
                                        </p:tgtEl>
                                        <p:attrNameLst>
                                          <p:attrName>style.visibility</p:attrName>
                                        </p:attrNameLst>
                                      </p:cBhvr>
                                      <p:to>
                                        <p:strVal val="visible"/>
                                      </p:to>
                                    </p:set>
                                    <p:animEffect transition="in" filter="fade">
                                      <p:cBhvr>
                                        <p:cTn id="129" dur="550"/>
                                        <p:tgtEl>
                                          <p:spTgt spid="45"/>
                                        </p:tgtEl>
                                      </p:cBhvr>
                                    </p:animEffect>
                                    <p:anim calcmode="lin" valueType="num">
                                      <p:cBhvr additive="base">
                                        <p:cTn id="130" dur="550" fill="hold"/>
                                        <p:tgtEl>
                                          <p:spTgt spid="45"/>
                                        </p:tgtEl>
                                        <p:attrNameLst>
                                          <p:attrName>ppt_x</p:attrName>
                                        </p:attrNameLst>
                                      </p:cBhvr>
                                      <p:tavLst>
                                        <p:tav tm="0">
                                          <p:val>
                                            <p:strVal val="#ppt_x"/>
                                          </p:val>
                                        </p:tav>
                                        <p:tav tm="100000">
                                          <p:val>
                                            <p:strVal val="#ppt_x"/>
                                          </p:val>
                                        </p:tav>
                                      </p:tavLst>
                                    </p:anim>
                                    <p:anim calcmode="lin" valueType="num">
                                      <p:cBhvr additive="base">
                                        <p:cTn id="131" dur="550" fill="hold"/>
                                        <p:tgtEl>
                                          <p:spTgt spid="45"/>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550"/>
                                        <p:tgtEl>
                                          <p:spTgt spid="46"/>
                                        </p:tgtEl>
                                      </p:cBhvr>
                                    </p:animEffect>
                                    <p:anim calcmode="lin" valueType="num">
                                      <p:cBhvr additive="base">
                                        <p:cTn id="136" dur="550" fill="hold"/>
                                        <p:tgtEl>
                                          <p:spTgt spid="46"/>
                                        </p:tgtEl>
                                        <p:attrNameLst>
                                          <p:attrName>ppt_x</p:attrName>
                                        </p:attrNameLst>
                                      </p:cBhvr>
                                      <p:tavLst>
                                        <p:tav tm="0">
                                          <p:val>
                                            <p:strVal val="#ppt_x"/>
                                          </p:val>
                                        </p:tav>
                                        <p:tav tm="100000">
                                          <p:val>
                                            <p:strVal val="#ppt_x"/>
                                          </p:val>
                                        </p:tav>
                                      </p:tavLst>
                                    </p:anim>
                                    <p:anim calcmode="lin" valueType="num">
                                      <p:cBhvr additive="base">
                                        <p:cTn id="137" dur="550" fill="hold"/>
                                        <p:tgtEl>
                                          <p:spTgt spid="46"/>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7"/>
                                        </p:tgtEl>
                                        <p:attrNameLst>
                                          <p:attrName>style.visibility</p:attrName>
                                        </p:attrNameLst>
                                      </p:cBhvr>
                                      <p:to>
                                        <p:strVal val="visible"/>
                                      </p:to>
                                    </p:set>
                                    <p:animEffect transition="in" filter="fade">
                                      <p:cBhvr>
                                        <p:cTn id="141" dur="550"/>
                                        <p:tgtEl>
                                          <p:spTgt spid="47"/>
                                        </p:tgtEl>
                                      </p:cBhvr>
                                    </p:animEffect>
                                    <p:anim calcmode="lin" valueType="num">
                                      <p:cBhvr additive="base">
                                        <p:cTn id="142" dur="550" fill="hold"/>
                                        <p:tgtEl>
                                          <p:spTgt spid="47"/>
                                        </p:tgtEl>
                                        <p:attrNameLst>
                                          <p:attrName>ppt_x</p:attrName>
                                        </p:attrNameLst>
                                      </p:cBhvr>
                                      <p:tavLst>
                                        <p:tav tm="0">
                                          <p:val>
                                            <p:strVal val="#ppt_x"/>
                                          </p:val>
                                        </p:tav>
                                        <p:tav tm="100000">
                                          <p:val>
                                            <p:strVal val="#ppt_x"/>
                                          </p:val>
                                        </p:tav>
                                      </p:tavLst>
                                    </p:anim>
                                    <p:anim calcmode="lin" valueType="num">
                                      <p:cBhvr additive="base">
                                        <p:cTn id="143" dur="550" fill="hold"/>
                                        <p:tgtEl>
                                          <p:spTgt spid="47"/>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8"/>
                                        </p:tgtEl>
                                        <p:attrNameLst>
                                          <p:attrName>style.visibility</p:attrName>
                                        </p:attrNameLst>
                                      </p:cBhvr>
                                      <p:to>
                                        <p:strVal val="visible"/>
                                      </p:to>
                                    </p:set>
                                    <p:animEffect transition="in" filter="fade">
                                      <p:cBhvr>
                                        <p:cTn id="147" dur="550"/>
                                        <p:tgtEl>
                                          <p:spTgt spid="48"/>
                                        </p:tgtEl>
                                      </p:cBhvr>
                                    </p:animEffect>
                                    <p:anim calcmode="lin" valueType="num">
                                      <p:cBhvr additive="base">
                                        <p:cTn id="148" dur="550" fill="hold"/>
                                        <p:tgtEl>
                                          <p:spTgt spid="48"/>
                                        </p:tgtEl>
                                        <p:attrNameLst>
                                          <p:attrName>ppt_w</p:attrName>
                                        </p:attrNameLst>
                                      </p:cBhvr>
                                      <p:tavLst>
                                        <p:tav tm="0">
                                          <p:val>
                                            <p:strVal val="0"/>
                                          </p:val>
                                        </p:tav>
                                        <p:tav tm="100000">
                                          <p:val>
                                            <p:strVal val="#ppt_w"/>
                                          </p:val>
                                        </p:tav>
                                      </p:tavLst>
                                    </p:anim>
                                    <p:anim calcmode="lin" valueType="num">
                                      <p:cBhvr additive="base">
                                        <p:cTn id="149" dur="550" fill="hold"/>
                                        <p:tgtEl>
                                          <p:spTgt spid="48"/>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9"/>
                                        </p:tgtEl>
                                        <p:attrNameLst>
                                          <p:attrName>style.visibility</p:attrName>
                                        </p:attrNameLst>
                                      </p:cBhvr>
                                      <p:to>
                                        <p:strVal val="visible"/>
                                      </p:to>
                                    </p:set>
                                    <p:animEffect transition="in" filter="fade">
                                      <p:cBhvr>
                                        <p:cTn id="153" dur="550"/>
                                        <p:tgtEl>
                                          <p:spTgt spid="49"/>
                                        </p:tgtEl>
                                      </p:cBhvr>
                                    </p:animEffect>
                                    <p:anim calcmode="lin" valueType="num">
                                      <p:cBhvr additive="base">
                                        <p:cTn id="154" dur="550" fill="hold"/>
                                        <p:tgtEl>
                                          <p:spTgt spid="49"/>
                                        </p:tgtEl>
                                        <p:attrNameLst>
                                          <p:attrName>ppt_x</p:attrName>
                                        </p:attrNameLst>
                                      </p:cBhvr>
                                      <p:tavLst>
                                        <p:tav tm="0">
                                          <p:val>
                                            <p:strVal val="#ppt_x"/>
                                          </p:val>
                                        </p:tav>
                                        <p:tav tm="100000">
                                          <p:val>
                                            <p:strVal val="#ppt_x"/>
                                          </p:val>
                                        </p:tav>
                                      </p:tavLst>
                                    </p:anim>
                                    <p:anim calcmode="lin" valueType="num">
                                      <p:cBhvr additive="base">
                                        <p:cTn id="155" dur="550" fill="hold"/>
                                        <p:tgtEl>
                                          <p:spTgt spid="4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8232e614fe9cbcf3.jpg"/>
          <p:cNvPicPr>
            <a:picLocks noChangeAspect="1"/>
          </p:cNvPicPr>
          <p:nvPr/>
        </p:nvPicPr>
        <p:blipFill>
          <a:blip r:embed="rId2"/>
          <a:srcRect l="6210" r="6210"/>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Cristiano Breuel · Wikimedia Commons · CC BY-SA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MLOps konsepsiyasi va yetuklik darajalari</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MLOps konsepsiyasi va yetuklik darajalari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168552"/>
            <a:ext cx="50000" cy="124289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3128552"/>
            <a:ext cx="5900000" cy="1322896"/>
          </a:xfrm>
          <a:prstGeom prst="rect">
            <a:avLst/>
          </a:prstGeom>
          <a:noFill/>
        </p:spPr>
        <p:txBody>
          <a:bodyPr wrap="square" anchor="ctr">
            <a:spAutoFit/>
          </a:bodyPr>
          <a:lstStyle/>
          <a:p>
            <a:r>
              <a:rPr sz="1600" b="0">
                <a:solidFill>
                  <a:srgbClr val="E8EEFA"/>
                </a:solidFill>
                <a:latin typeface="Segoe UI"/>
              </a:rPr>
              <a:t>MLOps — ML tizimlarini ishlab chiqish (Dev) va ekspluatatsiya qilish (Ops) o'rtasidagi devorni yo'qotuvchi, avtomatlashtirish, monitoring va hamkorlikka asoslangan amaliyotlar to'plami.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MLOps konsepsiyasi va yetuklik darajalari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5d6b53ec07018a81.jpg"/>
          <p:cNvPicPr>
            <a:picLocks noChangeAspect="1"/>
          </p:cNvPicPr>
          <p:nvPr/>
        </p:nvPicPr>
        <p:blipFill>
          <a:blip r:embed="rId2"/>
          <a:srcRect t="10935" b="1093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Brian Snelson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531520"/>
            <a:ext cx="50000" cy="25169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Uning asosiy tamoyillari: hamma narsa versiyalanadi (kod, ma'lumot, model, konfiguratsiya, muhit); hamma narsa takrorlanuvchan (bir xil kirish → bir xil model); hamma narsa testlanadi (ma'lumot sifati, model sifati, infratuzilma); hamma narsa…</a:t>
            </a:r>
          </a:p>
          <a:p>
            <a:pPr>
              <a:spcBef>
                <a:spcPts val="400"/>
              </a:spcBef>
            </a:pPr>
            <a:r>
              <a:rPr sz="1400">
                <a:solidFill>
                  <a:srgbClr val="AEBBD9"/>
                </a:solidFill>
                <a:latin typeface="Segoe UI"/>
              </a:rPr>
              <a:t>ML hayot sikli bosqichlari — masala qo'yish, ma'lumot yig'ish va tayyorlash, xususiyatlar muhandisligi, o'qitish va baholash, validatsiya, joylashtirish, monitoring, qayta o'qitish — MLOps'da chiziqli emas, tsiklik: monitoring natijasi yangi o'qitishni ishga tushiradi.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MLOps konsepsiyasi va yetuklik darajalari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db7dd8c38e7b47a4.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Tsinkala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076824"/>
            <a:ext cx="50000" cy="157817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91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Google Cloud'ning keng tarqalgan tasnifi uch yetuklik darajasini ajratadi.</a:t>
            </a:r>
          </a:p>
          <a:p>
            <a:pPr>
              <a:spcBef>
                <a:spcPts val="400"/>
              </a:spcBef>
            </a:pPr>
            <a:r>
              <a:rPr sz="1400">
                <a:solidFill>
                  <a:srgbClr val="AEBBD9"/>
                </a:solidFill>
                <a:latin typeface="Segoe UI"/>
              </a:rPr>
              <a:t>0-daraja — qo'lda jarayon: ma'lumotlar olimi daftarda model o'qitadi, og'irliklar faylini muhandisga beradi, u qo'lda joylashtiradi; o'qitish va joylashtirish o'rtasida haftalar, monitoring yo'q, model tez eskiradi.</a:t>
            </a:r>
          </a:p>
        </p:txBody>
      </p:sp>
      <p:sp>
        <p:nvSpPr>
          <p:cNvPr id="32" name="Rounded Rectangle 31"/>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7817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1408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5" name="TextBox 34"/>
          <p:cNvSpPr txBox="1"/>
          <p:nvPr/>
        </p:nvSpPr>
        <p:spPr>
          <a:xfrm>
            <a:off x="1300000" y="3885000"/>
            <a:ext cx="5900000" cy="1658176"/>
          </a:xfrm>
          <a:prstGeom prst="rect">
            <a:avLst/>
          </a:prstGeom>
          <a:noFill/>
        </p:spPr>
        <p:txBody>
          <a:bodyPr wrap="square" anchor="ctr">
            <a:spAutoFit/>
          </a:bodyPr>
          <a:lstStyle/>
          <a:p>
            <a:r>
              <a:rPr sz="1400" b="0">
                <a:solidFill>
                  <a:srgbClr val="E8EEFA"/>
                </a:solidFill>
                <a:latin typeface="Segoe UI"/>
              </a:rPr>
              <a:t>1-daraja — ML konveyerini avtomatlashtirish: o'qitish konveyeri (ma'lumot validatsiyasi → tayyorlash → o'qitish → baholash → validatsiya) kod sifatida yoziladi va yangi ma'lumot yoki trigger bo'yicha avtomatik ishga tushadi (CT); eksperiment va ishlab…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MLOps konsepsiyasi va yetuklik darajalari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graphicFrame>
        <p:nvGraphicFramePr>
          <p:cNvPr id="24" name="Table 23"/>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Jihat</a:t>
                      </a:r>
                    </a:p>
                  </a:txBody>
                  <a:tcPr>
                    <a:solidFill>
                      <a:srgbClr val="1C2755"/>
                    </a:solidFill>
                  </a:tcPr>
                </a:tc>
                <a:tc>
                  <a:txBody>
                    <a:bodyPr/>
                    <a:lstStyle/>
                    <a:p>
                      <a:r>
                        <a:rPr sz="1200" b="1">
                          <a:solidFill>
                            <a:srgbClr val="22D3EE"/>
                          </a:solidFill>
                          <a:latin typeface="Segoe UI"/>
                        </a:rPr>
                        <a:t>DevOps</a:t>
                      </a:r>
                    </a:p>
                  </a:txBody>
                  <a:tcPr>
                    <a:solidFill>
                      <a:srgbClr val="1C2755"/>
                    </a:solidFill>
                  </a:tcPr>
                </a:tc>
                <a:tc>
                  <a:txBody>
                    <a:bodyPr/>
                    <a:lstStyle/>
                    <a:p>
                      <a:r>
                        <a:rPr sz="1200" b="1">
                          <a:solidFill>
                            <a:srgbClr val="22D3EE"/>
                          </a:solidFill>
                          <a:latin typeface="Segoe UI"/>
                        </a:rPr>
                        <a:t>MLOps qo'shimchasi</a:t>
                      </a:r>
                    </a:p>
                  </a:txBody>
                  <a:tcPr>
                    <a:solidFill>
                      <a:srgbClr val="1C2755"/>
                    </a:solidFill>
                  </a:tcPr>
                </a:tc>
              </a:tr>
              <a:tr h="520000">
                <a:tc>
                  <a:txBody>
                    <a:bodyPr/>
                    <a:lstStyle/>
                    <a:p>
                      <a:r>
                        <a:rPr sz="1200" b="0">
                          <a:solidFill>
                            <a:srgbClr val="E8EEFA"/>
                          </a:solidFill>
                          <a:latin typeface="Segoe UI"/>
                        </a:rPr>
                        <a:t>Versiyalash</a:t>
                      </a:r>
                    </a:p>
                  </a:txBody>
                  <a:tcPr>
                    <a:solidFill>
                      <a:srgbClr val="111834"/>
                    </a:solidFill>
                  </a:tcPr>
                </a:tc>
                <a:tc>
                  <a:txBody>
                    <a:bodyPr/>
                    <a:lstStyle/>
                    <a:p>
                      <a:r>
                        <a:rPr sz="1200" b="0">
                          <a:solidFill>
                            <a:srgbClr val="E8EEFA"/>
                          </a:solidFill>
                          <a:latin typeface="Segoe UI"/>
                        </a:rPr>
                        <a:t>Kod (Git)</a:t>
                      </a:r>
                    </a:p>
                  </a:txBody>
                  <a:tcPr>
                    <a:solidFill>
                      <a:srgbClr val="111834"/>
                    </a:solidFill>
                  </a:tcPr>
                </a:tc>
                <a:tc>
                  <a:txBody>
                    <a:bodyPr/>
                    <a:lstStyle/>
                    <a:p>
                      <a:r>
                        <a:rPr sz="1200" b="0">
                          <a:solidFill>
                            <a:srgbClr val="E8EEFA"/>
                          </a:solidFill>
                          <a:latin typeface="Segoe UI"/>
                        </a:rPr>
                        <a:t>+ ma'lumot (DVC, LakeFS), + model (reestr), + muhit</a:t>
                      </a:r>
                    </a:p>
                  </a:txBody>
                  <a:tcPr>
                    <a:solidFill>
                      <a:srgbClr val="111834"/>
                    </a:solidFill>
                  </a:tcPr>
                </a:tc>
              </a:tr>
              <a:tr h="520000">
                <a:tc>
                  <a:txBody>
                    <a:bodyPr/>
                    <a:lstStyle/>
                    <a:p>
                      <a:r>
                        <a:rPr sz="1200" b="0">
                          <a:solidFill>
                            <a:srgbClr val="E8EEFA"/>
                          </a:solidFill>
                          <a:latin typeface="Segoe UI"/>
                        </a:rPr>
                        <a:t>Test</a:t>
                      </a:r>
                    </a:p>
                  </a:txBody>
                  <a:tcPr>
                    <a:solidFill>
                      <a:srgbClr val="161F40"/>
                    </a:solidFill>
                  </a:tcPr>
                </a:tc>
                <a:tc>
                  <a:txBody>
                    <a:bodyPr/>
                    <a:lstStyle/>
                    <a:p>
                      <a:r>
                        <a:rPr sz="1200" b="0">
                          <a:solidFill>
                            <a:srgbClr val="E8EEFA"/>
                          </a:solidFill>
                          <a:latin typeface="Segoe UI"/>
                        </a:rPr>
                        <a:t>Birlik, integratsiya</a:t>
                      </a:r>
                    </a:p>
                  </a:txBody>
                  <a:tcPr>
                    <a:solidFill>
                      <a:srgbClr val="161F40"/>
                    </a:solidFill>
                  </a:tcPr>
                </a:tc>
                <a:tc>
                  <a:txBody>
                    <a:bodyPr/>
                    <a:lstStyle/>
                    <a:p>
                      <a:r>
                        <a:rPr sz="1200" b="0">
                          <a:solidFill>
                            <a:srgbClr val="E8EEFA"/>
                          </a:solidFill>
                          <a:latin typeface="Segoe UI"/>
                        </a:rPr>
                        <a:t>+ ma'lumot sxemasi/taqsimoti, + model sifati chegaralari, + adolatlilik, + unumdorlik</a:t>
                      </a:r>
                    </a:p>
                  </a:txBody>
                  <a:tcPr>
                    <a:solidFill>
                      <a:srgbClr val="161F40"/>
                    </a:solidFill>
                  </a:tcPr>
                </a:tc>
              </a:tr>
              <a:tr h="520000">
                <a:tc>
                  <a:txBody>
                    <a:bodyPr/>
                    <a:lstStyle/>
                    <a:p>
                      <a:r>
                        <a:rPr sz="1200" b="0">
                          <a:solidFill>
                            <a:srgbClr val="E8EEFA"/>
                          </a:solidFill>
                          <a:latin typeface="Segoe UI"/>
                        </a:rPr>
                        <a:t>CI/CD</a:t>
                      </a:r>
                    </a:p>
                  </a:txBody>
                  <a:tcPr>
                    <a:solidFill>
                      <a:srgbClr val="111834"/>
                    </a:solidFill>
                  </a:tcPr>
                </a:tc>
                <a:tc>
                  <a:txBody>
                    <a:bodyPr/>
                    <a:lstStyle/>
                    <a:p>
                      <a:r>
                        <a:rPr sz="1200" b="0">
                          <a:solidFill>
                            <a:srgbClr val="E8EEFA"/>
                          </a:solidFill>
                          <a:latin typeface="Segoe UI"/>
                        </a:rPr>
                        <a:t>Yig'ish, test, joylashtirish</a:t>
                      </a:r>
                    </a:p>
                  </a:txBody>
                  <a:tcPr>
                    <a:solidFill>
                      <a:srgbClr val="111834"/>
                    </a:solidFill>
                  </a:tcPr>
                </a:tc>
                <a:tc>
                  <a:txBody>
                    <a:bodyPr/>
                    <a:lstStyle/>
                    <a:p>
                      <a:r>
                        <a:rPr sz="1200" b="0">
                          <a:solidFill>
                            <a:srgbClr val="E8EEFA"/>
                          </a:solidFill>
                          <a:latin typeface="Segoe UI"/>
                        </a:rPr>
                        <a:t>+ CT (qayta o'qitish), + model validatsiyasi darvozasi</a:t>
                      </a:r>
                    </a:p>
                  </a:txBody>
                  <a:tcPr>
                    <a:solidFill>
                      <a:srgbClr val="111834"/>
                    </a:solidFill>
                  </a:tcPr>
                </a:tc>
              </a:tr>
              <a:tr h="520000">
                <a:tc>
                  <a:txBody>
                    <a:bodyPr/>
                    <a:lstStyle/>
                    <a:p>
                      <a:r>
                        <a:rPr sz="1200" b="0">
                          <a:solidFill>
                            <a:srgbClr val="E8EEFA"/>
                          </a:solidFill>
                          <a:latin typeface="Segoe UI"/>
                        </a:rPr>
                        <a:t>Monitoring</a:t>
                      </a:r>
                    </a:p>
                  </a:txBody>
                  <a:tcPr>
                    <a:solidFill>
                      <a:srgbClr val="161F40"/>
                    </a:solidFill>
                  </a:tcPr>
                </a:tc>
                <a:tc>
                  <a:txBody>
                    <a:bodyPr/>
                    <a:lstStyle/>
                    <a:p>
                      <a:r>
                        <a:rPr sz="1200" b="0">
                          <a:solidFill>
                            <a:srgbClr val="E8EEFA"/>
                          </a:solidFill>
                          <a:latin typeface="Segoe UI"/>
                        </a:rPr>
                        <a:t>CPU, xotira, xatolar, kechikish</a:t>
                      </a:r>
                    </a:p>
                  </a:txBody>
                  <a:tcPr>
                    <a:solidFill>
                      <a:srgbClr val="161F40"/>
                    </a:solidFill>
                  </a:tcPr>
                </a:tc>
                <a:tc>
                  <a:txBody>
                    <a:bodyPr/>
                    <a:lstStyle/>
                    <a:p>
                      <a:r>
                        <a:rPr sz="1200" b="0">
                          <a:solidFill>
                            <a:srgbClr val="E8EEFA"/>
                          </a:solidFill>
                          <a:latin typeface="Segoe UI"/>
                        </a:rPr>
                        <a:t>+ ma'lumot/konsepsiya siljishi, + bashorat sifati, + kechikkan yorliqlar</a:t>
                      </a:r>
                    </a:p>
                  </a:txBody>
                  <a:tcPr>
                    <a:solidFill>
                      <a:srgbClr val="161F40"/>
                    </a:solidFill>
                  </a:tcPr>
                </a:tc>
              </a:tr>
              <a:tr h="520000">
                <a:tc>
                  <a:txBody>
                    <a:bodyPr/>
                    <a:lstStyle/>
                    <a:p>
                      <a:r>
                        <a:rPr sz="1200" b="0">
                          <a:solidFill>
                            <a:srgbClr val="E8EEFA"/>
                          </a:solidFill>
                          <a:latin typeface="Segoe UI"/>
                        </a:rPr>
                        <a:t>Jamoa</a:t>
                      </a:r>
                    </a:p>
                  </a:txBody>
                  <a:tcPr>
                    <a:solidFill>
                      <a:srgbClr val="111834"/>
                    </a:solidFill>
                  </a:tcPr>
                </a:tc>
                <a:tc>
                  <a:txBody>
                    <a:bodyPr/>
                    <a:lstStyle/>
                    <a:p>
                      <a:r>
                        <a:rPr sz="1200" b="0">
                          <a:solidFill>
                            <a:srgbClr val="E8EEFA"/>
                          </a:solidFill>
                          <a:latin typeface="Segoe UI"/>
                        </a:rPr>
                        <a:t>Dasturchi + operatsiya</a:t>
                      </a:r>
                    </a:p>
                  </a:txBody>
                  <a:tcPr>
                    <a:solidFill>
                      <a:srgbClr val="111834"/>
                    </a:solidFill>
                  </a:tcPr>
                </a:tc>
                <a:tc>
                  <a:txBody>
                    <a:bodyPr/>
                    <a:lstStyle/>
                    <a:p>
                      <a:r>
                        <a:rPr sz="1200" b="0">
                          <a:solidFill>
                            <a:srgbClr val="E8EEFA"/>
                          </a:solidFill>
                          <a:latin typeface="Segoe UI"/>
                        </a:rPr>
                        <a:t>+ ma'lumotlar olimi + ma'lumot muhandisi + domen eksperti</a:t>
                      </a:r>
                    </a:p>
                  </a:txBody>
                  <a:tcPr>
                    <a:solidFill>
                      <a:srgbClr val="111834"/>
                    </a:solidFill>
                  </a:tcPr>
                </a:tc>
              </a:tr>
              <a:tr h="520000">
                <a:tc>
                  <a:txBody>
                    <a:bodyPr/>
                    <a:lstStyle/>
                    <a:p>
                      <a:r>
                        <a:rPr sz="1200" b="0">
                          <a:solidFill>
                            <a:srgbClr val="E8EEFA"/>
                          </a:solidFill>
                          <a:latin typeface="Segoe UI"/>
                        </a:rPr>
                        <a:t>Artefakt</a:t>
                      </a:r>
                    </a:p>
                  </a:txBody>
                  <a:tcPr>
                    <a:solidFill>
                      <a:srgbClr val="161F40"/>
                    </a:solidFill>
                  </a:tcPr>
                </a:tc>
                <a:tc>
                  <a:txBody>
                    <a:bodyPr/>
                    <a:lstStyle/>
                    <a:p>
                      <a:r>
                        <a:rPr sz="1200" b="0">
                          <a:solidFill>
                            <a:srgbClr val="E8EEFA"/>
                          </a:solidFill>
                          <a:latin typeface="Segoe UI"/>
                        </a:rPr>
                        <a:t>Konteyner obrazi</a:t>
                      </a:r>
                    </a:p>
                  </a:txBody>
                  <a:tcPr>
                    <a:solidFill>
                      <a:srgbClr val="161F40"/>
                    </a:solidFill>
                  </a:tcPr>
                </a:tc>
                <a:tc>
                  <a:txBody>
                    <a:bodyPr/>
                    <a:lstStyle/>
                    <a:p>
                      <a:r>
                        <a:rPr sz="1200" b="0">
                          <a:solidFill>
                            <a:srgbClr val="E8EEFA"/>
                          </a:solidFill>
                          <a:latin typeface="Segoe UI"/>
                        </a:rPr>
                        <a:t>Konteyner + model fayli + xususiyatlar ta'rifi + ma'lumot versiyasi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4d11da5573bfb187.jpg"/>
          <p:cNvPicPr>
            <a:picLocks noChangeAspect="1"/>
          </p:cNvPicPr>
          <p:nvPr/>
        </p:nvPicPr>
        <p:blipFill>
          <a:blip r:embed="rId2"/>
          <a:srcRect l="5792" r="5792"/>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User:SSethi (WMF) and Claude · Wikimedia Commons · Public domain</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Eksperimentlarni kuzatish va Model Registry</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Eksperimentlarni kuzatish va Model Registry</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54d6804aef81697.jpg"/>
          <p:cNvPicPr>
            <a:picLocks noChangeAspect="1"/>
          </p:cNvPicPr>
          <p:nvPr/>
        </p:nvPicPr>
        <p:blipFill>
          <a:blip r:embed="rId2"/>
          <a:srcRect l="18359" r="18359"/>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Derrick Coetzee from Berkeley, CA, USA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Model reestri (Model Registry) — o'qitilgan modellarning markazlashgan, versiyalangan ombori bo'lib, har model uchun uning kelib chiqishini (lineage: qaysi kod commit'i, qaysi ma'lumot versiyasi, qaysi giperparametrlar, qaysi muhit), baholash…</a:t>
            </a:r>
          </a:p>
          <a:p>
            <a:pPr>
              <a:spcBef>
                <a:spcPts val="400"/>
              </a:spcBef>
            </a:pPr>
            <a:r>
              <a:rPr sz="1400">
                <a:solidFill>
                  <a:srgbClr val="AEBBD9"/>
                </a:solidFill>
                <a:latin typeface="Segoe UI"/>
              </a:rPr>
              <a:t>U ikki savolga javob beradi: «Hozir ishlab chiqarishda qaysi model ishlayapti va u qayerdan kelgan?» va «Bu modelni kim, qachon, qanday asosda tasdiqlagan?». Reestrsiz tashkilot «model_final_v3_new2.pt» fayllar botqog'ida qoladi.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Eksperimentlarni kuzatish va Model Registry</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59fd96ed267653c9.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Masdestructive · Wikimedia Commons · CC BY-SA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531520"/>
            <a:ext cx="50000" cy="25169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MLflow — eng keng tarqalgan ochiq vosita; u to'rt komponentdan iborat.</a:t>
            </a:r>
          </a:p>
          <a:p>
            <a:pPr>
              <a:spcBef>
                <a:spcPts val="400"/>
              </a:spcBef>
            </a:pPr>
            <a:r>
              <a:rPr sz="1400">
                <a:solidFill>
                  <a:srgbClr val="AEBBD9"/>
                </a:solidFill>
                <a:latin typeface="Segoe UI"/>
              </a:rPr>
              <a:t>Tracking — har o'qitish ishga tushirilishi (run) uchun parametrlar, metrikalar (vaqt bo'yicha), artefaktlar va teglar yoziladi, veb-interfeysda solishtiriladi. Models — modelni freymvorkdan mustaqil formatda («flavor»: pytorch, sklearn, onnx, pyfunc) MLmodel metama'lumot fayli, muhit talablari (conda.yaml, requirements.txt) va kirish-chiqish sxemasi (signature) bilan paketlaydi — bu keyinchalik uni istalgan serverda yuklash imkonini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Eksperimentlarni kuzatish va Model Registry</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741544"/>
            <a:ext cx="50000" cy="191345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9827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Model Registry — nomlangan modellar va ularning versiyalari; har versiya bosqich (Staging, Production, Archived) yoki yangi versiyalarda «alias» (masalan, champion, challenger) bilan belgilanadi; o'tish tarixi va izohlar saqlanadi.</a:t>
            </a:r>
          </a:p>
          <a:p>
            <a:pPr>
              <a:spcBef>
                <a:spcPts val="400"/>
              </a:spcBef>
            </a:pPr>
            <a:r>
              <a:rPr sz="1300">
                <a:solidFill>
                  <a:srgbClr val="AEBBD9"/>
                </a:solidFill>
                <a:latin typeface="Segoe UI"/>
              </a:rPr>
              <a:t>Projects — takrorlanuvchan ishga tushirish uchun paket formati. MLflow'ning muqobillari: Weights &amp; Biases (bulutli, vizualizatsiyaga boy), Neptune, ClearML, bulut provayderlarining reestrlari (SageMaker, Vertex AI).</a:t>
            </a:r>
          </a:p>
        </p:txBody>
      </p:sp>
      <p:sp>
        <p:nvSpPr>
          <p:cNvPr id="33" name="Rounded Rectangle 32"/>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91345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8172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6" name="TextBox 35"/>
          <p:cNvSpPr txBox="1"/>
          <p:nvPr/>
        </p:nvSpPr>
        <p:spPr>
          <a:xfrm>
            <a:off x="1300000" y="3885000"/>
            <a:ext cx="5900000" cy="1993456"/>
          </a:xfrm>
          <a:prstGeom prst="rect">
            <a:avLst/>
          </a:prstGeom>
          <a:noFill/>
        </p:spPr>
        <p:txBody>
          <a:bodyPr wrap="square" anchor="ctr">
            <a:spAutoFit/>
          </a:bodyPr>
          <a:lstStyle/>
          <a:p>
            <a:r>
              <a:rPr sz="1300" b="0">
                <a:solidFill>
                  <a:srgbClr val="E8EEFA"/>
                </a:solidFill>
                <a:latin typeface="Segoe UI"/>
              </a:rPr>
              <a:t>Model reestriga «model kartasi» (model card) ham biriktiriladi — modelning maqsadi, o'qitish ma'lumotlari, baholash natijalari (jumladan, kichik guruhlar bo'yicha), cheklovlari va etik mulohazalari haqida hujjat; ISO/IEC 42001 va EU AI Act kabi me'yoriy…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de4dd7c58b18f36f.jpg"/>
          <p:cNvPicPr>
            <a:picLocks noChangeAspect="1"/>
          </p:cNvPicPr>
          <p:nvPr/>
        </p:nvPicPr>
        <p:blipFill>
          <a:blip r:embed="rId2"/>
          <a:srcRect l="14282" r="14282"/>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Arunvrparavur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CI/CD va uzluksiz o'qitish (CT)</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CI/CD va uzluksiz o'qitish (CT)</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95656"/>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75656"/>
            <a:ext cx="50000" cy="177934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56532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835656"/>
            <a:ext cx="5900000" cy="1859344"/>
          </a:xfrm>
          <a:prstGeom prst="rect">
            <a:avLst/>
          </a:prstGeom>
          <a:noFill/>
        </p:spPr>
        <p:txBody>
          <a:bodyPr wrap="square" anchor="ctr">
            <a:spAutoFit/>
          </a:bodyPr>
          <a:lstStyle/>
          <a:p>
            <a:r>
              <a:rPr sz="1600" b="0">
                <a:solidFill>
                  <a:srgbClr val="E8EEFA"/>
                </a:solidFill>
                <a:latin typeface="Segoe UI"/>
              </a:rPr>
              <a:t>ML loyihasida uzluksiz integratsiya kod testlaridan ancha keng.</a:t>
            </a:r>
          </a:p>
        </p:txBody>
      </p:sp>
      <p:sp>
        <p:nvSpPr>
          <p:cNvPr id="32" name="Rounded Rectangle 31"/>
          <p:cNvSpPr/>
          <p:nvPr/>
        </p:nvSpPr>
        <p:spPr>
          <a:xfrm>
            <a:off x="550000" y="3845000"/>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77934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1467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859344"/>
          </a:xfrm>
          <a:prstGeom prst="rect">
            <a:avLst/>
          </a:prstGeom>
          <a:noFill/>
        </p:spPr>
        <p:txBody>
          <a:bodyPr wrap="square" anchor="ctr">
            <a:spAutoFit/>
          </a:bodyPr>
          <a:lstStyle/>
          <a:p>
            <a:r>
              <a:rPr sz="1600" b="0">
                <a:solidFill>
                  <a:srgbClr val="E8EEFA"/>
                </a:solidFill>
                <a:latin typeface="Segoe UI"/>
              </a:rPr>
              <a:t>Breck va hamkasblarining «ML Test Score» (Google, 2017) ro'yxati to'rt guruhni ajratadi: ma'lumot testlari (xususiyat taqsimoti kutilganga mos, sxema buzilmagan, maxfiy xususiyatlar yo'q, xususiyat narxi foydasiga arziydi), model testlari (sifat chegaradan…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CI/CD va uzluksiz o'qitish (CT)</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5d6b53ec07018a81.jpg"/>
          <p:cNvPicPr>
            <a:picLocks noChangeAspect="1"/>
          </p:cNvPicPr>
          <p:nvPr/>
        </p:nvPicPr>
        <p:blipFill>
          <a:blip r:embed="rId2"/>
          <a:srcRect t="10935" b="1093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Brian Snelson · Wikimedia Commons · CC BY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Uzluksiz yetkazish ML'da «model validatsiyasi darvozasi» bilan to'ldiriladi: yangi model avtomatik ravishda ishlab chiqarishga chiqmaydi, u oldin joriy «chempion» bilan bir xil test to'plamida solishtiriladi, kichik guruhlar bo'yicha sifati tekshiriladi…</a:t>
            </a:r>
          </a:p>
          <a:p>
            <a:pPr>
              <a:spcBef>
                <a:spcPts val="400"/>
              </a:spcBef>
            </a:pPr>
            <a:r>
              <a:rPr sz="1400">
                <a:solidFill>
                  <a:srgbClr val="AEBBD9"/>
                </a:solidFill>
                <a:latin typeface="Segoe UI"/>
              </a:rPr>
              <a:t>Uzluksiz o'qitish (CT) esa konveyerni triggerlar bo'yicha ishga tushiradi: jadval (har kecha), yangi ma'lumot hajmi (10 000 yangi yorliq), monitoring signali (drift aniqlandi, sifat tushdi), qo'lda.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584fb9d108a417d9.jpg"/>
          <p:cNvPicPr>
            <a:picLocks noChangeAspect="1"/>
          </p:cNvPicPr>
          <p:nvPr/>
        </p:nvPicPr>
        <p:blipFill>
          <a:blip r:embed="rId2"/>
          <a:srcRect t="18880" b="18880"/>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NASA · Wikimedia Commons · Public domain</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Model Deployment: rejimlar va strategiyalar</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Model Deployment: rejimlar va strategiyalar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db7dd8c38e7b47a4.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Tsinkala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Joylashtirish rejimi ish yukiga qarab tanlanadi.</a:t>
            </a:r>
          </a:p>
          <a:p>
            <a:pPr>
              <a:spcBef>
                <a:spcPts val="400"/>
              </a:spcBef>
            </a:pPr>
            <a:r>
              <a:rPr sz="1400">
                <a:solidFill>
                  <a:srgbClr val="AEBBD9"/>
                </a:solidFill>
                <a:latin typeface="Segoe UI"/>
              </a:rPr>
              <a:t>Partiyali inferens (batch): model jadval bo'yicha katta to'plamda bashorat qiladi, natija bazaga yoziladi — tavsiyalar, risk skoringi; eng oddiy, kechikish talabi yo'q, GPU to'liq yuklanadi. Onlayn inferens (online, real-time): so'rov–javob API (REST/gRPC), kechikish byudjeti o'nlab millisekund — firibgarlikni aniqlash, qidiruv. Oqimli inferens (streaming): Kafka kabi oqimdan hodisalar o'qiladi va natija boshqa oqimga yoziladi — sensorlar, loglar.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Model Deployment: rejimlar va strategiyalar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454d6804aef81697.jpg"/>
          <p:cNvPicPr>
            <a:picLocks noChangeAspect="1"/>
          </p:cNvPicPr>
          <p:nvPr/>
        </p:nvPicPr>
        <p:blipFill>
          <a:blip r:embed="rId2"/>
          <a:srcRect l="18359" r="1835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Derrick Coetzee from Berkeley, CA, USA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Onlayn xizmat ko'rsatish uchun vositalar: oddiy FastAPI/Flask ilovasi (to'liq nazorat, kichik yuk uchun yetarli), TorchServe va TensorFlow Serving (freymvorkka xos, versiyalash va partiyalash bilan), NVIDIA Triton Inference Server (ko'p freymvork, dinamik…</a:t>
            </a:r>
          </a:p>
          <a:p>
            <a:pPr>
              <a:spcBef>
                <a:spcPts val="400"/>
              </a:spcBef>
            </a:pPr>
            <a:r>
              <a:rPr sz="1400">
                <a:solidFill>
                  <a:srgbClr val="AEBBD9"/>
                </a:solidFill>
                <a:latin typeface="Segoe UI"/>
              </a:rPr>
              <a:t>Kubernetes (M7) joylashtirish platformasi sifatida: Deployment — nusxalar va yangilanish, Service/Ingress — tarmoq, HorizontalPodAutoscaler — yuk bo'yicha masshtablash, GPU Operator — drayver va qurilma plaginlari, nvidia.com/gpu resurs so'rovi.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Model Deployment: rejimlar va strategiyalar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59fd96ed267653c9.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Masdestructive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Yangi versiyani chiqarish strategiyalari xavfni boshqaradi.</a:t>
            </a:r>
          </a:p>
          <a:p>
            <a:pPr>
              <a:spcBef>
                <a:spcPts val="400"/>
              </a:spcBef>
            </a:pPr>
            <a:r>
              <a:rPr sz="1600">
                <a:solidFill>
                  <a:srgbClr val="AEBBD9"/>
                </a:solidFill>
                <a:latin typeface="Segoe UI"/>
              </a:rPr>
              <a:t>Qayta yaratish (recreate): eski to'xtatiladi, yangi ishga tushadi — to'xtash vaqti bor. Dumalab yangilash (rolling update): podlar birin-ketin almashtiriladi — Kubernetes standarti, lekin ikki versiya bir vaqtda ishlaydi. Ko'k-yashil (blue-green): yangi versiya to'liq parallel ko'tariladi, trafik bir zumda o'tkaziladi, muammo bo'lsa bir zumda qaytariladi — ikki barobar resurs.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Model Deployment: rejimlar va strategiyalar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Kanareyka (canary): trafikning 1–5 foizi yangi versiyaga, ko'rsatkichlar kuzatiladi, bosqichma-bosqich 100 foizgacha — eng keng tarqalgan ML strategiyasi, chunki model sifati faqat real trafikda to'liq ko'rinadi.</a:t>
            </a:r>
          </a:p>
          <a:p>
            <a:pPr>
              <a:spcBef>
                <a:spcPts val="400"/>
              </a:spcBef>
            </a:pPr>
            <a:r>
              <a:rPr sz="1600">
                <a:solidFill>
                  <a:srgbClr val="AEBBD9"/>
                </a:solidFill>
                <a:latin typeface="Segoe UI"/>
              </a:rPr>
              <a:t>Soya rejimi (shadow): yangi model barcha so'rovlarni oladi, lekin javobi foydalanuvchiga bormaydi, faqat yoziladi va solishtiriladi — xavfsiz, lekin ikki barobar hisoblash.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540502ee1b48bc7f.jpg"/>
          <p:cNvPicPr>
            <a:picLocks noChangeAspect="1"/>
          </p:cNvPicPr>
          <p:nvPr/>
        </p:nvPicPr>
        <p:blipFill>
          <a:blip r:embed="rId2"/>
          <a:srcRect l="16540" r="16540"/>
          <a:stretch>
            <a:fillRect/>
          </a:stretch>
        </p:blipFill>
        <p:spPr>
          <a:xfrm>
            <a:off x="6300000" y="800000"/>
            <a:ext cx="5300000" cy="4950000"/>
          </a:xfrm>
          <a:prstGeom prst="roundRect">
            <a:avLst/>
          </a:prstGeom>
          <a:ln w="19050">
            <a:solidFill>
              <a:srgbClr val="22D3EE"/>
            </a:solidFill>
          </a:ln>
        </p:spPr>
      </p:pic>
      <p:sp>
        <p:nvSpPr>
          <p:cNvPr id="45" name="TextBox 44"/>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Tomorrowi0 · Wikimedia Commons · CC BY-SA 4.0</a:t>
            </a:r>
          </a:p>
        </p:txBody>
      </p:sp>
      <p:sp>
        <p:nvSpPr>
          <p:cNvPr id="46" name="TextBox 45"/>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7" name="TextBox 46"/>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8" name="TextBox 47"/>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Monitoring va Drift Detection</a:t>
            </a:r>
          </a:p>
        </p:txBody>
      </p:sp>
      <p:sp>
        <p:nvSpPr>
          <p:cNvPr id="49" name="Rectangle 48"/>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150"/>
                            </p:stCondLst>
                            <p:childTnLst>
                              <p:par>
                                <p:cTn id="164" presetID="53" presetClass="entr" presetSubtype="16"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anim calcmode="lin" valueType="num">
                                      <p:cBhvr additive="base">
                                        <p:cTn id="167" dur="550" fill="hold"/>
                                        <p:tgtEl>
                                          <p:spTgt spid="43"/>
                                        </p:tgtEl>
                                        <p:attrNameLst>
                                          <p:attrName>ppt_w</p:attrName>
                                        </p:attrNameLst>
                                      </p:cBhvr>
                                      <p:tavLst>
                                        <p:tav tm="0">
                                          <p:val>
                                            <p:strVal val="0"/>
                                          </p:val>
                                        </p:tav>
                                        <p:tav tm="100000">
                                          <p:val>
                                            <p:strVal val="#ppt_w"/>
                                          </p:val>
                                        </p:tav>
                                      </p:tavLst>
                                    </p:anim>
                                    <p:anim calcmode="lin" valueType="num">
                                      <p:cBhvr additive="base">
                                        <p:cTn id="168" dur="550" fill="hold"/>
                                        <p:tgtEl>
                                          <p:spTgt spid="43"/>
                                        </p:tgtEl>
                                        <p:attrNameLst>
                                          <p:attrName>ppt_h</p:attrName>
                                        </p:attrNameLst>
                                      </p:cBhvr>
                                      <p:tavLst>
                                        <p:tav tm="0">
                                          <p:val>
                                            <p:strVal val="0"/>
                                          </p:val>
                                        </p:tav>
                                        <p:tav tm="100000">
                                          <p:val>
                                            <p:strVal val="#ppt_h"/>
                                          </p:val>
                                        </p:tav>
                                      </p:tavLst>
                                    </p:anim>
                                  </p:childTnLst>
                                </p:cTn>
                              </p:par>
                            </p:childTnLst>
                          </p:cTn>
                        </p:par>
                        <p:par>
                          <p:cTn id="169" fill="hold">
                            <p:stCondLst>
                              <p:cond delay="150"/>
                            </p:stCondLst>
                            <p:childTnLst>
                              <p:par>
                                <p:cTn id="170" presetID="53" presetClass="entr" presetSubtype="16" fill="hold" grpId="0" nodeType="afterEffect">
                                  <p:stCondLst>
                                    <p:cond delay="0"/>
                                  </p:stCondLst>
                                  <p:childTnLst>
                                    <p:set>
                                      <p:cBhvr>
                                        <p:cTn id="171" dur="1" fill="hold">
                                          <p:stCondLst>
                                            <p:cond delay="0"/>
                                          </p:stCondLst>
                                        </p:cTn>
                                        <p:tgtEl>
                                          <p:spTgt spid="44"/>
                                        </p:tgtEl>
                                        <p:attrNameLst>
                                          <p:attrName>style.visibility</p:attrName>
                                        </p:attrNameLst>
                                      </p:cBhvr>
                                      <p:to>
                                        <p:strVal val="visible"/>
                                      </p:to>
                                    </p:set>
                                    <p:animEffect transition="in" filter="fade">
                                      <p:cBhvr>
                                        <p:cTn id="172" dur="550"/>
                                        <p:tgtEl>
                                          <p:spTgt spid="44"/>
                                        </p:tgtEl>
                                      </p:cBhvr>
                                    </p:animEffect>
                                    <p:anim calcmode="lin" valueType="num">
                                      <p:cBhvr additive="base">
                                        <p:cTn id="173" dur="550" fill="hold"/>
                                        <p:tgtEl>
                                          <p:spTgt spid="44"/>
                                        </p:tgtEl>
                                        <p:attrNameLst>
                                          <p:attrName>ppt_w</p:attrName>
                                        </p:attrNameLst>
                                      </p:cBhvr>
                                      <p:tavLst>
                                        <p:tav tm="0">
                                          <p:val>
                                            <p:strVal val="0"/>
                                          </p:val>
                                        </p:tav>
                                        <p:tav tm="100000">
                                          <p:val>
                                            <p:strVal val="#ppt_w"/>
                                          </p:val>
                                        </p:tav>
                                      </p:tavLst>
                                    </p:anim>
                                    <p:anim calcmode="lin" valueType="num">
                                      <p:cBhvr additive="base">
                                        <p:cTn id="174" dur="550" fill="hold"/>
                                        <p:tgtEl>
                                          <p:spTgt spid="44"/>
                                        </p:tgtEl>
                                        <p:attrNameLst>
                                          <p:attrName>ppt_h</p:attrName>
                                        </p:attrNameLst>
                                      </p:cBhvr>
                                      <p:tavLst>
                                        <p:tav tm="0">
                                          <p:val>
                                            <p:strVal val="0"/>
                                          </p:val>
                                        </p:tav>
                                        <p:tav tm="100000">
                                          <p:val>
                                            <p:strVal val="#ppt_h"/>
                                          </p:val>
                                        </p:tav>
                                      </p:tavLst>
                                    </p:anim>
                                  </p:childTnLst>
                                </p:cTn>
                              </p:par>
                            </p:childTnLst>
                          </p:cTn>
                        </p:par>
                        <p:par>
                          <p:cTn id="175" fill="hold">
                            <p:stCondLst>
                              <p:cond delay="150"/>
                            </p:stCondLst>
                            <p:childTnLst>
                              <p:par>
                                <p:cTn id="176" presetID="10" presetClass="entr" presetSubtype="0"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childTnLst>
                                </p:cTn>
                              </p:par>
                            </p:childTnLst>
                          </p:cTn>
                        </p:par>
                        <p:par>
                          <p:cTn id="179" fill="hold">
                            <p:stCondLst>
                              <p:cond delay="350"/>
                            </p:stCondLst>
                            <p:childTnLst>
                              <p:par>
                                <p:cTn id="180" presetID="53" presetClass="entr" presetSubtype="16"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anim calcmode="lin" valueType="num">
                                      <p:cBhvr additive="base">
                                        <p:cTn id="183" dur="550" fill="hold"/>
                                        <p:tgtEl>
                                          <p:spTgt spid="46"/>
                                        </p:tgtEl>
                                        <p:attrNameLst>
                                          <p:attrName>ppt_w</p:attrName>
                                        </p:attrNameLst>
                                      </p:cBhvr>
                                      <p:tavLst>
                                        <p:tav tm="0">
                                          <p:val>
                                            <p:strVal val="0"/>
                                          </p:val>
                                        </p:tav>
                                        <p:tav tm="100000">
                                          <p:val>
                                            <p:strVal val="#ppt_w"/>
                                          </p:val>
                                        </p:tav>
                                      </p:tavLst>
                                    </p:anim>
                                    <p:anim calcmode="lin" valueType="num">
                                      <p:cBhvr additive="base">
                                        <p:cTn id="184" dur="550" fill="hold"/>
                                        <p:tgtEl>
                                          <p:spTgt spid="46"/>
                                        </p:tgtEl>
                                        <p:attrNameLst>
                                          <p:attrName>ppt_h</p:attrName>
                                        </p:attrNameLst>
                                      </p:cBhvr>
                                      <p:tavLst>
                                        <p:tav tm="0">
                                          <p:val>
                                            <p:strVal val="0"/>
                                          </p:val>
                                        </p:tav>
                                        <p:tav tm="100000">
                                          <p:val>
                                            <p:strVal val="#ppt_h"/>
                                          </p:val>
                                        </p:tav>
                                      </p:tavLst>
                                    </p:anim>
                                  </p:childTnLst>
                                </p:cTn>
                              </p:par>
                            </p:childTnLst>
                          </p:cTn>
                        </p:par>
                        <p:par>
                          <p:cTn id="185" fill="hold">
                            <p:stCondLst>
                              <p:cond delay="450"/>
                            </p:stCondLst>
                            <p:childTnLst>
                              <p:par>
                                <p:cTn id="186" presetID="10" presetClass="entr" presetSubtype="0"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Effect transition="in" filter="fade">
                                      <p:cBhvr>
                                        <p:cTn id="188" dur="550"/>
                                        <p:tgtEl>
                                          <p:spTgt spid="47"/>
                                        </p:tgtEl>
                                      </p:cBhvr>
                                    </p:animEffect>
                                  </p:childTnLst>
                                </p:cTn>
                              </p:par>
                            </p:childTnLst>
                          </p:cTn>
                        </p:par>
                        <p:par>
                          <p:cTn id="189" fill="hold">
                            <p:stCondLst>
                              <p:cond delay="550"/>
                            </p:stCondLst>
                            <p:childTnLst>
                              <p:par>
                                <p:cTn id="190" presetID="2" presetClass="entr" presetSubtype="8"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 calcmode="lin" valueType="num">
                                      <p:cBhvr additive="base">
                                        <p:cTn id="193" dur="550" fill="hold"/>
                                        <p:tgtEl>
                                          <p:spTgt spid="48"/>
                                        </p:tgtEl>
                                        <p:attrNameLst>
                                          <p:attrName>ppt_x</p:attrName>
                                        </p:attrNameLst>
                                      </p:cBhvr>
                                      <p:tavLst>
                                        <p:tav tm="0">
                                          <p:val>
                                            <p:strVal val="0-#ppt_w/2"/>
                                          </p:val>
                                        </p:tav>
                                        <p:tav tm="100000">
                                          <p:val>
                                            <p:strVal val="#ppt_x"/>
                                          </p:val>
                                        </p:tav>
                                      </p:tavLst>
                                    </p:anim>
                                    <p:anim calcmode="lin" valueType="num">
                                      <p:cBhvr additive="base">
                                        <p:cTn id="194" dur="550" fill="hold"/>
                                        <p:tgtEl>
                                          <p:spTgt spid="48"/>
                                        </p:tgtEl>
                                        <p:attrNameLst>
                                          <p:attrName>ppt_y</p:attrName>
                                        </p:attrNameLst>
                                      </p:cBhvr>
                                      <p:tavLst>
                                        <p:tav tm="0">
                                          <p:val>
                                            <p:strVal val="#ppt_y"/>
                                          </p:val>
                                        </p:tav>
                                        <p:tav tm="100000">
                                          <p:val>
                                            <p:strVal val="#ppt_y"/>
                                          </p:val>
                                        </p:tav>
                                      </p:tavLst>
                                    </p:anim>
                                  </p:childTnLst>
                                </p:cTn>
                              </p:par>
                            </p:childTnLst>
                          </p:cTn>
                        </p:par>
                        <p:par>
                          <p:cTn id="195" fill="hold">
                            <p:stCondLst>
                              <p:cond delay="650"/>
                            </p:stCondLst>
                            <p:childTnLst>
                              <p:par>
                                <p:cTn id="196" presetID="22" presetClass="entr" presetSubtype="8" fill="hold" grpId="0" nodeType="afterEffect">
                                  <p:stCondLst>
                                    <p:cond delay="0"/>
                                  </p:stCondLst>
                                  <p:childTnLst>
                                    <p:set>
                                      <p:cBhvr>
                                        <p:cTn id="197" dur="1" fill="hold">
                                          <p:stCondLst>
                                            <p:cond delay="0"/>
                                          </p:stCondLst>
                                        </p:cTn>
                                        <p:tgtEl>
                                          <p:spTgt spid="49"/>
                                        </p:tgtEl>
                                        <p:attrNameLst>
                                          <p:attrName>style.visibility</p:attrName>
                                        </p:attrNameLst>
                                      </p:cBhvr>
                                      <p:to>
                                        <p:strVal val="visible"/>
                                      </p:to>
                                    </p:set>
                                    <p:animEffect transition="in" filter="wipe(left)">
                                      <p:cBhvr>
                                        <p:cTn id="199" dur="8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6" grpId="0" animBg="1"/>
      <p:bldP spid="47" grpId="0" animBg="1"/>
      <p:bldP spid="48" grpId="0" animBg="1"/>
      <p:bldP spid="49"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Monitoring va Drift Detection</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283880"/>
            <a:ext cx="6750000" cy="301224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363880"/>
            <a:ext cx="50000" cy="285224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323880"/>
            <a:ext cx="5900000" cy="2932240"/>
          </a:xfrm>
          <a:prstGeom prst="rect">
            <a:avLst/>
          </a:prstGeom>
          <a:noFill/>
        </p:spPr>
        <p:txBody>
          <a:bodyPr wrap="square" anchor="ctr">
            <a:spAutoFit/>
          </a:bodyPr>
          <a:lstStyle/>
          <a:p>
            <a:r>
              <a:rPr sz="1700" b="1">
                <a:solidFill>
                  <a:srgbClr val="E8EEFA"/>
                </a:solidFill>
                <a:latin typeface="Segoe UI"/>
              </a:rPr>
              <a:t>Ishlab chiqarishdagi model uch qatlamda kuzatiladi.</a:t>
            </a:r>
          </a:p>
          <a:p>
            <a:pPr>
              <a:spcBef>
                <a:spcPts val="400"/>
              </a:spcBef>
            </a:pPr>
            <a:r>
              <a:rPr sz="1600">
                <a:solidFill>
                  <a:srgbClr val="AEBBD9"/>
                </a:solidFill>
                <a:latin typeface="Segoe UI"/>
              </a:rPr>
              <a:t>Operatsion qatlam — an'anaviy: so'rovlar soni, kechikish foizillari, xato darajasi, GPU bandligi va xotira, navbat uzunligi; vositalar — Prometheus (metrikalar), Grafana (panellar), Alertmanager (ogohlantirish), OpenTelemetry (izlar). Ma'lumot qatlami — kirish xususiyatlari va bashoratlar taqsimoti: yetishmayotgan qiymatlar, diapazondan chiqish, yangi kategoriyalar, taqsimot siljishi.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Monitoring va Drift Detection</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5d6b53ec07018a81.jpg"/>
          <p:cNvPicPr>
            <a:picLocks noChangeAspect="1"/>
          </p:cNvPicPr>
          <p:nvPr/>
        </p:nvPicPr>
        <p:blipFill>
          <a:blip r:embed="rId2"/>
          <a:srcRect t="10935" b="1093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Brian Snelson · Wikimedia Commons · CC BY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42128"/>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54856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Siljish (drift) turlari: ma'lumot siljishi (data drift, covariate shift) — kirish taqsimoti P(X) o'zgaradi, bog'liqlik P(Y|X) o'zgarmaydi (yangi mintaqadan foydalanuvchilar); konsepsiya siljishi (concept drift) — P(Y|X) o'zgaradi (pandemiya iste'mol…</a:t>
            </a:r>
          </a:p>
          <a:p>
            <a:pPr>
              <a:spcBef>
                <a:spcPts val="400"/>
              </a:spcBef>
            </a:pPr>
            <a:r>
              <a:rPr sz="1400">
                <a:solidFill>
                  <a:srgbClr val="AEBBD9"/>
                </a:solidFill>
                <a:latin typeface="Segoe UI"/>
              </a:rPr>
              <a:t>Siljish keskin (sudden), bosqichma-bosqich (gradual), tiklanuvchi (recurring, mavsumiy) bo'lishi mumkin.</a:t>
            </a:r>
          </a:p>
        </p:txBody>
      </p:sp>
      <p:sp>
        <p:nvSpPr>
          <p:cNvPr id="31" name="Rounded Rectangle 30"/>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81287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3143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3885000"/>
            <a:ext cx="5900000" cy="1892872"/>
          </a:xfrm>
          <a:prstGeom prst="rect">
            <a:avLst/>
          </a:prstGeom>
          <a:noFill/>
        </p:spPr>
        <p:txBody>
          <a:bodyPr wrap="square" anchor="ctr">
            <a:spAutoFit/>
          </a:bodyPr>
          <a:lstStyle/>
          <a:p>
            <a:r>
              <a:rPr sz="1400" b="0">
                <a:solidFill>
                  <a:srgbClr val="E8EEFA"/>
                </a:solidFill>
                <a:latin typeface="Segoe UI"/>
              </a:rPr>
              <a:t>Aniqlash usullari — mos yozuvlar (reference, odatda o'qitish yoki validatsiya to'plami) va joriy oyna (current, oxirgi kun/hafta) taqsimotlarini statistik solishtirish.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Monitoring va Drift Detection</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db7dd8c38e7b47a4.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Tsinkala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Uzluksiz xususiyatlar uchun: Kolmogorov–Smirnov testi (ikki empirik taqsimot funksiyasi orasidagi maksimal farq, p &lt; 0,05 siljish belgisi; katta tanlamalarda juda sezgir), Populyatsiya barqarorlik indeksi (Population Stability Index, PSI): xususiyat B ta…</a:t>
            </a:r>
          </a:p>
          <a:p>
            <a:pPr>
              <a:spcBef>
                <a:spcPts val="400"/>
              </a:spcBef>
            </a:pPr>
            <a:r>
              <a:rPr sz="1600">
                <a:solidFill>
                  <a:srgbClr val="AEBBD9"/>
                </a:solidFill>
                <a:latin typeface="Segoe UI"/>
              </a:rPr>
              <a:t>Kategorial xususiyatlar uchun: xi-kvadrat testi, PSI, JS.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Monitoring va Drift Detection</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54d6804aef81697.jpg"/>
          <p:cNvPicPr>
            <a:picLocks noChangeAspect="1"/>
          </p:cNvPicPr>
          <p:nvPr/>
        </p:nvPicPr>
        <p:blipFill>
          <a:blip r:embed="rId2"/>
          <a:srcRect l="18359" r="18359"/>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Derrick Coetzee from Berkeley, CA, USA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283880"/>
            <a:ext cx="6750000" cy="301224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363880"/>
            <a:ext cx="50000" cy="2852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2" name="TextBox 31"/>
          <p:cNvSpPr txBox="1"/>
          <p:nvPr/>
        </p:nvSpPr>
        <p:spPr>
          <a:xfrm>
            <a:off x="1300000" y="2323880"/>
            <a:ext cx="5900000" cy="2932240"/>
          </a:xfrm>
          <a:prstGeom prst="rect">
            <a:avLst/>
          </a:prstGeom>
          <a:noFill/>
        </p:spPr>
        <p:txBody>
          <a:bodyPr wrap="square" anchor="ctr">
            <a:spAutoFit/>
          </a:bodyPr>
          <a:lstStyle/>
          <a:p>
            <a:r>
              <a:rPr sz="1700" b="1">
                <a:solidFill>
                  <a:srgbClr val="E8EEFA"/>
                </a:solidFill>
                <a:latin typeface="Segoe UI"/>
              </a:rPr>
              <a:t>Siljish aniqlangach nima qilish kerak — bu ham loyihalash qarori: ogohlantirish va inson tahlili; avtomatik qayta o'qitish (CT trigger); zaxira modelga yoki qoidaga o'tish; bashoratga ishonchsizlik belgisi qo'yish.</a:t>
            </a:r>
          </a:p>
          <a:p>
            <a:pPr>
              <a:spcBef>
                <a:spcPts val="400"/>
              </a:spcBef>
            </a:pPr>
            <a:r>
              <a:rPr sz="1600">
                <a:solidFill>
                  <a:srgbClr val="AEBBD9"/>
                </a:solidFill>
                <a:latin typeface="Segoe UI"/>
              </a:rPr>
              <a:t>Avtomatik qayta o'qitish faqat yorliqlar tez keladigan va validatsiya darvozasi kuchli bo'lgan tizimlarda xavfsiz; aks holda siljish zaharlangan ma'lumotdan (M9) kelib chiqqan bo'lsa, qayta o'qitish uni modelga «qonuniylashtiradi».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a60d4eb086b77012.jpg"/>
          <p:cNvPicPr>
            <a:picLocks noChangeAspect="1"/>
          </p:cNvPicPr>
          <p:nvPr/>
        </p:nvPicPr>
        <p:blipFill>
          <a:blip r:embed="rId2"/>
          <a:srcRect t="1607" b="1607"/>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Pouria · Wikimedia Commons · CC BY-SA 4.0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Infratuzilmani avtomatlashtirish</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Infratuzilmani avtomatlashtirish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59fd96ed267653c9.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Masdestructive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AI infratuzilmasi — GPU tugunlari, klaster, saqlash, tarmoq, reestr, monitoring — ham kod sifatida boshqarilishi kerak (Infrastructure as Code, IaC).</a:t>
            </a:r>
          </a:p>
          <a:p>
            <a:pPr>
              <a:spcBef>
                <a:spcPts val="400"/>
              </a:spcBef>
            </a:pPr>
            <a:r>
              <a:rPr sz="1600">
                <a:solidFill>
                  <a:srgbClr val="AEBBD9"/>
                </a:solidFill>
                <a:latin typeface="Segoe UI"/>
              </a:rPr>
              <a:t>Terraform yoki Pulumi bulut resurslarini (GPU instanslar, Kubernetes klaster, obyekt saqlash, IAM rollari) deklarativ fayllarda tavsiflaydi va plan/apply bilan takrorlanuvchan yaratadi; Ansible — serverlarni sozlash.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Infratuzilmani avtomatlashtirish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497992"/>
            <a:ext cx="50000" cy="258401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Kubernetes'da NVIDIA GPU Operator drayver, konteyner ish vaqti, qurilma plagini, DCGM monitoring eksportchisini avtomatik o'rnatadi; MIG (multi-instance GPU) A100/H100 ni 7 tagacha izolyatsiyalangan bo'lakka bo'lib, kichik modellarga alohida GPU resurs beradi.</a:t>
            </a:r>
          </a:p>
          <a:p>
            <a:pPr>
              <a:spcBef>
                <a:spcPts val="400"/>
              </a:spcBef>
            </a:pPr>
            <a:r>
              <a:rPr sz="1600">
                <a:solidFill>
                  <a:srgbClr val="AEBBD9"/>
                </a:solidFill>
                <a:latin typeface="Segoe UI"/>
              </a:rPr>
              <a:t>GitOps (ArgoCD, Flux): Kubernetes manifestlari Git'da, klaster holati Git bilan avtomatik sinxronlanadi — joylashtirish git push, orqaga qaytarish git revert.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6" name="Oval 75"/>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9" name="Rectangle 98"/>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101" name="TextBox 100"/>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https://aiscan.airi.uz/ktm/#/c/mis2104/mavzu/M12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0"/>
                            </p:stCondLst>
                            <p:childTnLst>
                              <p:par>
                                <p:cTn id="372" presetID="10" presetClass="entr" presetSubtype="0"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childTnLst>
                                </p:cTn>
                              </p:par>
                            </p:childTnLst>
                          </p:cTn>
                        </p:par>
                        <p:par>
                          <p:cTn id="375" fill="hold">
                            <p:stCondLst>
                              <p:cond delay="0"/>
                            </p:stCondLst>
                            <p:childTnLst>
                              <p:par>
                                <p:cTn id="376" presetID="10" presetClass="entr" presetSubtype="0" fill="hold" grpId="0" nodeType="afterEffect">
                                  <p:stCondLst>
                                    <p:cond delay="0"/>
                                  </p:stCondLst>
                                  <p:childTnLst>
                                    <p:set>
                                      <p:cBhvr>
                                        <p:cTn id="377" dur="1" fill="hold">
                                          <p:stCondLst>
                                            <p:cond delay="0"/>
                                          </p:stCondLst>
                                        </p:cTn>
                                        <p:tgtEl>
                                          <p:spTgt spid="96"/>
                                        </p:tgtEl>
                                        <p:attrNameLst>
                                          <p:attrName>style.visibility</p:attrName>
                                        </p:attrNameLst>
                                      </p:cBhvr>
                                      <p:to>
                                        <p:strVal val="visible"/>
                                      </p:to>
                                    </p:set>
                                    <p:animEffect transition="in" filter="fade">
                                      <p:cBhvr>
                                        <p:cTn id="378" dur="550"/>
                                        <p:tgtEl>
                                          <p:spTgt spid="96"/>
                                        </p:tgtEl>
                                      </p:cBhvr>
                                    </p:animEffect>
                                  </p:childTnLst>
                                </p:cTn>
                              </p:par>
                            </p:childTnLst>
                          </p:cTn>
                        </p:par>
                        <p:par>
                          <p:cTn id="379" fill="hold">
                            <p:stCondLst>
                              <p:cond delay="0"/>
                            </p:stCondLst>
                            <p:childTnLst>
                              <p:par>
                                <p:cTn id="380" presetID="10" presetClass="entr" presetSubtype="0" fill="hold" grpId="0" nodeType="afterEffect">
                                  <p:stCondLst>
                                    <p:cond delay="0"/>
                                  </p:stCondLst>
                                  <p:childTnLst>
                                    <p:set>
                                      <p:cBhvr>
                                        <p:cTn id="381" dur="1" fill="hold">
                                          <p:stCondLst>
                                            <p:cond delay="0"/>
                                          </p:stCondLst>
                                        </p:cTn>
                                        <p:tgtEl>
                                          <p:spTgt spid="97"/>
                                        </p:tgtEl>
                                        <p:attrNameLst>
                                          <p:attrName>style.visibility</p:attrName>
                                        </p:attrNameLst>
                                      </p:cBhvr>
                                      <p:to>
                                        <p:strVal val="visible"/>
                                      </p:to>
                                    </p:set>
                                    <p:animEffect transition="in" filter="fade">
                                      <p:cBhvr>
                                        <p:cTn id="382" dur="550"/>
                                        <p:tgtEl>
                                          <p:spTgt spid="97"/>
                                        </p:tgtEl>
                                      </p:cBhvr>
                                    </p:animEffect>
                                  </p:childTnLst>
                                </p:cTn>
                              </p:par>
                            </p:childTnLst>
                          </p:cTn>
                        </p:par>
                        <p:par>
                          <p:cTn id="383" fill="hold">
                            <p:stCondLst>
                              <p:cond delay="200"/>
                            </p:stCondLst>
                            <p:childTnLst>
                              <p:par>
                                <p:cTn id="384" presetID="53" presetClass="entr" presetSubtype="16" fill="hold" grpId="0" nodeType="afterEffect">
                                  <p:stCondLst>
                                    <p:cond delay="0"/>
                                  </p:stCondLst>
                                  <p:childTnLst>
                                    <p:set>
                                      <p:cBhvr>
                                        <p:cTn id="385" dur="1" fill="hold">
                                          <p:stCondLst>
                                            <p:cond delay="0"/>
                                          </p:stCondLst>
                                        </p:cTn>
                                        <p:tgtEl>
                                          <p:spTgt spid="98"/>
                                        </p:tgtEl>
                                        <p:attrNameLst>
                                          <p:attrName>style.visibility</p:attrName>
                                        </p:attrNameLst>
                                      </p:cBhvr>
                                      <p:to>
                                        <p:strVal val="visible"/>
                                      </p:to>
                                    </p:set>
                                    <p:animEffect transition="in" filter="fade">
                                      <p:cBhvr>
                                        <p:cTn id="386" dur="550"/>
                                        <p:tgtEl>
                                          <p:spTgt spid="98"/>
                                        </p:tgtEl>
                                      </p:cBhvr>
                                    </p:animEffect>
                                    <p:anim calcmode="lin" valueType="num">
                                      <p:cBhvr additive="base">
                                        <p:cTn id="387" dur="550" fill="hold"/>
                                        <p:tgtEl>
                                          <p:spTgt spid="98"/>
                                        </p:tgtEl>
                                        <p:attrNameLst>
                                          <p:attrName>ppt_w</p:attrName>
                                        </p:attrNameLst>
                                      </p:cBhvr>
                                      <p:tavLst>
                                        <p:tav tm="0">
                                          <p:val>
                                            <p:strVal val="0"/>
                                          </p:val>
                                        </p:tav>
                                        <p:tav tm="100000">
                                          <p:val>
                                            <p:strVal val="#ppt_w"/>
                                          </p:val>
                                        </p:tav>
                                      </p:tavLst>
                                    </p:anim>
                                    <p:anim calcmode="lin" valueType="num">
                                      <p:cBhvr additive="base">
                                        <p:cTn id="388" dur="550" fill="hold"/>
                                        <p:tgtEl>
                                          <p:spTgt spid="98"/>
                                        </p:tgtEl>
                                        <p:attrNameLst>
                                          <p:attrName>ppt_h</p:attrName>
                                        </p:attrNameLst>
                                      </p:cBhvr>
                                      <p:tavLst>
                                        <p:tav tm="0">
                                          <p:val>
                                            <p:strVal val="0"/>
                                          </p:val>
                                        </p:tav>
                                        <p:tav tm="100000">
                                          <p:val>
                                            <p:strVal val="#ppt_h"/>
                                          </p:val>
                                        </p:tav>
                                      </p:tavLst>
                                    </p:anim>
                                  </p:childTnLst>
                                </p:cTn>
                              </p:par>
                            </p:childTnLst>
                          </p:cTn>
                        </p:par>
                        <p:par>
                          <p:cTn id="389" fill="hold">
                            <p:stCondLst>
                              <p:cond delay="350"/>
                            </p:stCondLst>
                            <p:childTnLst>
                              <p:par>
                                <p:cTn id="390" presetID="22" presetClass="entr" presetSubtype="8" fill="hold" grpId="0" nodeType="afterEffect">
                                  <p:stCondLst>
                                    <p:cond delay="0"/>
                                  </p:stCondLst>
                                  <p:childTnLst>
                                    <p:set>
                                      <p:cBhvr>
                                        <p:cTn id="391" dur="1" fill="hold">
                                          <p:stCondLst>
                                            <p:cond delay="0"/>
                                          </p:stCondLst>
                                        </p:cTn>
                                        <p:tgtEl>
                                          <p:spTgt spid="99"/>
                                        </p:tgtEl>
                                        <p:attrNameLst>
                                          <p:attrName>style.visibility</p:attrName>
                                        </p:attrNameLst>
                                      </p:cBhvr>
                                      <p:to>
                                        <p:strVal val="visible"/>
                                      </p:to>
                                    </p:set>
                                    <p:animEffect transition="in" filter="wipe(left)">
                                      <p:cBhvr>
                                        <p:cTn id="393" dur="800"/>
                                        <p:tgtEl>
                                          <p:spTgt spid="99"/>
                                        </p:tgtEl>
                                      </p:cBhvr>
                                    </p:animEffect>
                                  </p:childTnLst>
                                </p:cTn>
                              </p:par>
                            </p:childTnLst>
                          </p:cTn>
                        </p:par>
                        <p:par>
                          <p:cTn id="394" fill="hold">
                            <p:stCondLst>
                              <p:cond delay="500"/>
                            </p:stCondLst>
                            <p:childTnLst>
                              <p:par>
                                <p:cTn id="395" presetID="42" presetClass="entr" presetSubtype="0" fill="hold" grpId="0" nodeType="afterEffect">
                                  <p:stCondLst>
                                    <p:cond delay="0"/>
                                  </p:stCondLst>
                                  <p:childTnLst>
                                    <p:set>
                                      <p:cBhvr>
                                        <p:cTn id="396" dur="1" fill="hold">
                                          <p:stCondLst>
                                            <p:cond delay="0"/>
                                          </p:stCondLst>
                                        </p:cTn>
                                        <p:tgtEl>
                                          <p:spTgt spid="100"/>
                                        </p:tgtEl>
                                        <p:attrNameLst>
                                          <p:attrName>style.visibility</p:attrName>
                                        </p:attrNameLst>
                                      </p:cBhvr>
                                      <p:to>
                                        <p:strVal val="visible"/>
                                      </p:to>
                                    </p:set>
                                    <p:animEffect transition="in" filter="fade">
                                      <p:cBhvr>
                                        <p:cTn id="397" dur="550"/>
                                        <p:tgtEl>
                                          <p:spTgt spid="100"/>
                                        </p:tgtEl>
                                      </p:cBhvr>
                                    </p:animEffect>
                                    <p:anim calcmode="lin" valueType="num">
                                      <p:cBhvr additive="base">
                                        <p:cTn id="398" dur="550" fill="hold"/>
                                        <p:tgtEl>
                                          <p:spTgt spid="100"/>
                                        </p:tgtEl>
                                        <p:attrNameLst>
                                          <p:attrName>ppt_x</p:attrName>
                                        </p:attrNameLst>
                                      </p:cBhvr>
                                      <p:tavLst>
                                        <p:tav tm="0">
                                          <p:val>
                                            <p:strVal val="#ppt_x"/>
                                          </p:val>
                                        </p:tav>
                                        <p:tav tm="100000">
                                          <p:val>
                                            <p:strVal val="#ppt_x"/>
                                          </p:val>
                                        </p:tav>
                                      </p:tavLst>
                                    </p:anim>
                                    <p:anim calcmode="lin" valueType="num">
                                      <p:cBhvr additive="base">
                                        <p:cTn id="399" dur="550" fill="hold"/>
                                        <p:tgtEl>
                                          <p:spTgt spid="100"/>
                                        </p:tgtEl>
                                        <p:attrNameLst>
                                          <p:attrName>ppt_y</p:attrName>
                                        </p:attrNameLst>
                                      </p:cBhvr>
                                      <p:tavLst>
                                        <p:tav tm="0">
                                          <p:val>
                                            <p:strVal val="#ppt_y+.08"/>
                                          </p:val>
                                        </p:tav>
                                        <p:tav tm="100000">
                                          <p:val>
                                            <p:strVal val="#ppt_y"/>
                                          </p:val>
                                        </p:tav>
                                      </p:tavLst>
                                    </p:anim>
                                  </p:childTnLst>
                                </p:cTn>
                              </p:par>
                            </p:childTnLst>
                          </p:cTn>
                        </p:par>
                        <p:par>
                          <p:cTn id="400" fill="hold">
                            <p:stCondLst>
                              <p:cond delay="650"/>
                            </p:stCondLst>
                            <p:childTnLst>
                              <p:par>
                                <p:cTn id="401" presetID="10" presetClass="entr" presetSubtype="0" fill="hold" grpId="0" nodeType="afterEffect">
                                  <p:stCondLst>
                                    <p:cond delay="0"/>
                                  </p:stCondLst>
                                  <p:childTnLst>
                                    <p:set>
                                      <p:cBhvr>
                                        <p:cTn id="402" dur="1" fill="hold">
                                          <p:stCondLst>
                                            <p:cond delay="0"/>
                                          </p:stCondLst>
                                        </p:cTn>
                                        <p:tgtEl>
                                          <p:spTgt spid="101"/>
                                        </p:tgtEl>
                                        <p:attrNameLst>
                                          <p:attrName>style.visibility</p:attrName>
                                        </p:attrNameLst>
                                      </p:cBhvr>
                                      <p:to>
                                        <p:strVal val="visible"/>
                                      </p:to>
                                    </p:set>
                                    <p:animEffect transition="in" filter="fade">
                                      <p:cBhvr>
                                        <p:cTn id="403" dur="550"/>
                                        <p:tgtEl>
                                          <p:spTgt spid="1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
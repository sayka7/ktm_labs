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modelini laboratoriya natijasidan ishonchli, kuzatiladigan va uzluksiz yangilanadigan ishlab chiqarish xizmatiga aylantiruvchi muhandislik amaliyotlari majmuasi — MLOps (Machine Learning Operations) — bilan tizimli tanishishdir. Oldingi mavzularda biz modelni qanday tez, xavfsiz va samarali qilishni ko'rdik; biroq sanoat tajribasi ko'rsatadiki, AI loyihalarining katta qismi ishlab chiqarishga yetib bormaydi yoki yetib borgach tez orada eskiradi. Buning sababi algoritm emas, balki jarayon: model versiyalari yo'qoladi, o'qitish takrorlanmaydi, joylashtirish qo'lda bajariladi, ma'lumot taqsimoti o'zgarganini hech kim payqamaydi. MLOps aynan shu jarayon muammolarini DevOps tamoyillari va ML'ga xos vositalar bilan hal qiladi.</a:t>
            </a:r>
          </a:p>
          <a:p/>
          <a:p>
            <a:r>
              <a:t>Mavzuni o'zlashtirgach talaba:</a:t>
            </a:r>
          </a:p>
          <a:p/>
          <a:p>
            <a:r>
              <a:t>MLOps konsepsiyasini, uning DevOps'dan farqlarini va yetuklik darajalarini (qo'lda jarayon, avtomatlashtirilgan o'qitish konveyeri, to'liq CI/CD/CT) tavsiflay oladi hamda ML tizimlaridagi «yashirin texnik qarz» manbalarini aniqlay oladi.</a:t>
            </a:r>
          </a:p>
          <a:p/>
          <a:p>
            <a:r>
              <a:t>Eksperimentlarni kuzatish va model reestri (Model Registry) vositalaridan (MLflow) foydalanib, model hayot siklini — versiya, kelib chiqish (lineage), bosqich, tasdiqlash — boshqara oladi.</a:t>
            </a:r>
          </a:p>
          <a:p/>
          <a:p>
            <a:r>
              <a:t>ML loyihasi uchun CI/CD konveyerini (GitHub Actions) loyihalay oladi: kod, ma'lumot va model testlari, konteyner yig'ish, avtomatik joylashtirish, uzluksiz o'qitish (continuous training, CT).</a:t>
            </a:r>
          </a:p>
          <a:p/>
          <a:p>
            <a:r>
              <a:t>Model joylashtirish (deployment) strategiyalarini — partiyali, onlayn, oqimli, chekka; ko'k-yashil, kanareyka, soya rejimi — taqqoslab, Kubernetes'da amalga oshira oladi.</a:t>
            </a:r>
          </a:p>
          <a:p/>
          <a:p>
            <a:r>
              <a:t>Ishlab chiqarishdagi modelni kuzatish (monitoring) tizimini qura oladi: operatsion va sifat ko'rsatkichlari, ma'lumot va konsepsiya siljishini (drift) statistik testlar va Evidently kutubxonasi bilan aniqlash, qayta o'qitish triggerlari.</a:t>
            </a:r>
          </a:p>
          <a:p/>
          <a:p>
            <a:r>
              <a:t>AI infratuzilmasini kod sifatida (Infrastructure as Code) avtomatlashtirish tamoyillarini — Terraform, Kubernetes operatorlari, GitOps — tushuntira oladi.</a:t>
            </a:r>
          </a:p>
          <a:p/>
          <a:p>
            <a:r>
              <a:t>Mavzu fanning TN6 (AI xizmatlarini ekspluatatsiya qilish va boshqarish) va TN3 (tizimlarni loyihalash) natijalariga bevosita xizmat qiladi; A4 va A7 amaliy mashg'ulotlari hamda 1- va 4-mustaqil ta'lim topshiriqlari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modelini laboratoriya natijasidan ishonchli, kuzatiladigan va uzluksiz yangilanadigan ishlab chiqarish xizmatiga aylantiruvchi muhandislik amaliyotlari majmuasi — MLOps (Machine Learning Operations) — bilan tizimli tanishishdir. Oldingi mavzularda biz modelni qanday tez, xavfsiz va samarali qilishni ko'rdik; biroq sanoat tajribasi ko'rsatadiki, AI loyihalarining katta qismi ishlab chiqarishga yetib bormaydi yoki yetib borgach tez orada eskiradi. Buning sababi algoritm emas, balki jarayon: model versiyalari yo'qoladi, o'qitish takrorlanmaydi, joylashtirish qo'lda bajariladi, ma'lumot taqsimoti o'zgarganini hech kim payqamaydi. MLOps aynan shu jarayon muammolarini DevOps tamoyillari va ML'ga xos vositalar bilan hal qiladi.</a:t>
            </a:r>
          </a:p>
          <a:p/>
          <a:p>
            <a:r>
              <a:t>Mavzuni o'zlashtirgach talaba:</a:t>
            </a:r>
          </a:p>
          <a:p/>
          <a:p>
            <a:r>
              <a:t>MLOps konsepsiyasini, uning DevOps'dan farqlarini va yetuklik darajalarini (qo'lda jarayon, avtomatlashtirilgan o'qitish konveyeri, to'liq CI/CD/CT) tavsiflay oladi hamda ML tizimlaridagi «yashirin texnik qarz» manbalarini aniqlay oladi.</a:t>
            </a:r>
          </a:p>
          <a:p/>
          <a:p>
            <a:r>
              <a:t>Eksperimentlarni kuzatish va model reestri (Model Registry) vositalaridan (MLflow) foydalanib, model hayot siklini — versiya, kelib chiqish (lineage), bosqich, tasdiqlash — boshqara oladi.</a:t>
            </a:r>
          </a:p>
          <a:p/>
          <a:p>
            <a:r>
              <a:t>ML loyihasi uchun CI/CD konveyerini (GitHub Actions) loyihalay oladi: kod, ma'lumot va model testlari, konteyner yig'ish, avtomatik joylashtirish, uzluksiz o'qitish (continuous training, CT).</a:t>
            </a:r>
          </a:p>
          <a:p/>
          <a:p>
            <a:r>
              <a:t>Model joylashtirish (deployment) strategiyalarini — partiyali, onlayn, oqimli, chekka; ko'k-yashil, kanareyka, soya rejimi — taqqoslab, Kubernetes'da amalga oshira oladi.</a:t>
            </a:r>
          </a:p>
          <a:p/>
          <a:p>
            <a:r>
              <a:t>Ishlab chiqarishdagi modelni kuzatish (monitoring) tizimini qura oladi: operatsion va sifat ko'rsatkichlari, ma'lumot va konsepsiya siljishini (drift) statistik testlar va Evidently kutubxonasi bilan aniqlash, qayta o'qitish triggerlari.</a:t>
            </a:r>
          </a:p>
          <a:p/>
          <a:p>
            <a:r>
              <a:t>AI infratuzilmasini kod sifatida (Infrastructure as Code) avtomatlashtirish tamoyillarini — Terraform, Kubernetes operatorlari, GitOps — tushuntira oladi.</a:t>
            </a:r>
          </a:p>
          <a:p/>
          <a:p>
            <a:r>
              <a:t>Mavzu fanning TN6 (AI xizmatlarini ekspluatatsiya qilish va boshqarish) va TN3 (tizimlarni loyihalash) natijalariga bevosita xizmat qiladi; A4 va A7 amaliy mashg'ulotlari hamda 1- va 4-mustaqil ta'lim topshiriqlari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2015-yilda Google muhandislari Sculley va hamkasblari «Hidden Technical Debt in Machine Learning Systems» maqolasida mashhur rasmni keltirdilar: ishlab chiqarish ML tizimida modelning o'zi — kichik qora kvadrat, uning atrofida esa ma'lumot yig'ish, xususiyatlarni ajratish, konfiguratsiya, resurslarni boshqarish, xizmat ko'rsatish infratuzilmasi, monitoring kabi o'nlab marta katta bloklar. Ular ML tizimlarida an'anaviy dasturiy ta'minotga xos bo'lmagan qarz turlarini sanab o'tdilar: chegaralar yemirilishi (o'zgaruvchilar bir-biriga bog'lanib ketishi — «CACE: Changing Anything Changes Everything»), ma'lumotlarga bog'liqlik kodga bog'liqlikdan ko'ra xavfliroq ekani, teskari aloqa sikllari (model o'z kelajak o'qitish ma'lumotiga ta'sir qiladi), konfiguratsiya qarzi. O'n yil o'tib bu kuzatuvlar MLOps fanining asosiy motivatsiyasi bo'lib qolmoqda.</a:t>
            </a:r>
          </a:p>
          <a:p/>
          <a:p>
            <a:r>
              <a:t>Sanoat statistikasi muammoning ko'lamini ko'rsatadi: turli so'rovnomalarga ko'ra, ML modellarining sezilarli qismi hech qachon ishlab chiqarishga yetmaydi, yetib borganlarining ham ko'pchiligi muntazam yangilanmaydi. Sabab oddiy: ma'lumotlar olimining noutbukidagi Jupyter daftari — bu mahsulot emas. Mahsulot bo'lishi uchun model versiyalanishi, uning qaysi ma'lumot va qaysi kod bilan o'qitilgani ma'lum bo'lishi, u avtomatik testlardan o'tishi, konteynerga o'ralib, bir necha daqiqada yangilanadigan va zarur bo'lsa orqaga qaytariladigan tarzda joylashtirilishi, uning har bir bashorati va kirish ma'lumotlari kuzatilishi kerak. Netflix tavsiya tizimi, Uber'ning Michelangelo platformasi, Amazon ombor logistikasi — bu tizimlar kuniga yuzlab model versiyalarini o'qitadi va joylashtiradi; bu faqat to'liq avtomatlashtirilgan konveyer bilan mumkin.</a:t>
            </a:r>
          </a:p>
          <a:p/>
          <a:p>
            <a:r>
              <a:t>ML tizimining o'ziga xosligi shundaki, u uch o'qda o'zgaradi: kod, ma'lumot va model. An'anaviy DevOps faqat kodni versiyalaydi va testlaydi. ML'da esa kod o'zgarmasdan ham ma'lumot o'zgarishi modelni buzadi; model o'zgarmasdan ham dunyo o'zgarishi (konsepsiya siljishi) uning sifatini pasaytiradi. Shuning uchun MLOps DevOps'ning CI (uzluksiz integratsiya) va CD (uzluksiz yetkazish) tushunchalariga uchinchisini — CT (uzluksiz o'qitish) — va to'rtinchisini — CM (uzluksiz monitoring) — qo'shadi. Bu ma'ruza ana shu to'rt tsiklni bir-biriga bog'langan yaxlit tizim sifatida ko'rib chiqadi va har birini haqiqiy vositalar bilan amalda ko'rsatadi.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MLOps — ML tizimlarini ishlab chiqish (Dev) va ekspluatatsiya qilish (Ops) o'rtasidagi devorni yo'qotuvchi, avtomatlashtirish, monitoring va hamkorlikka asoslangan amaliyotlar to'plami. Uning asosiy tamoyillari: hamma narsa versiyalanadi (kod, ma'lumot, model, konfiguratsiya, muhit); hamma narsa takrorlanuvchan (bir xil kirish → bir xil model); hamma narsa testlanadi (ma'lumot sifati, model sifati, infratuzilma); hamma narsa avtomatlashtiriladi (qo'lda bosqich — xato manbai); hamma narsa kuzatiladi (ishlab chiqarishdagi model — tirik obyekt). ML hayot sikli bosqichlari — masala qo'yish, ma'lumot yig'ish va tayyorlash, xususiyatlar muhandisligi, o'qitish va baholash, validatsiya, joylashtirish, monitoring, qayta o'qitish — MLOps'da chiziqli emas, tsiklik: monitoring natijasi yangi o'qitishni ishga tushiradi.</a:t>
            </a:r>
          </a:p>
          <a:p/>
          <a:p>
            <a:r>
              <a:t>Google Cloud'ning keng tarqalgan tasnifi uch yetuklik darajasini ajratadi. 0-daraja — qo'lda jarayon: ma'lumotlar olimi daftarda model o'qitadi, og'irliklar faylini muhandisga beradi, u qo'lda joylashtiradi; o'qitish va joylashtirish o'rtasida haftalar, monitoring yo'q, model tez eskiradi. 1-daraja — ML konveyerini avtomatlashtirish: o'qitish konveyeri (ma'lumot validatsiyasi → tayyorlash → o'qitish → baholash → validatsiya) kod sifatida yoziladi va yangi ma'lumot yoki trigger bo'yicha avtomatik ishga tushadi (CT); eksperiment va ishlab chiqarish bir xil konveyerdan foydalanadi; model reestri va xususiyatlar ombori (feature store) paydo bo'ladi. 2-daraja — CI/CD konveyerini avtomatlashtirish: konveyerning o'zi ham avtomatik testlanadi va joylashtiriladi; yangi konveyer kodi push qilinganda u yig'iladi, testlanadi, sinov muhitiga chiqadi, so'ngra ishlab chiqarishga — model ham, konveyer ham uzluksiz yetkaziladi. Ko'pchilik tashkilotlar 0 va 1 o'rtasida; 2-daraja kuniga ko'p model yangilovchi yirik platformalarga xos.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reestri (Model Registry) — o'qitilgan modellarning markazlashgan, versiyalangan ombori bo'lib, har model uchun uning kelib chiqishini (lineage: qaysi kod commit'i, qaysi ma'lumot versiyasi, qaysi giperparametrlar, qaysi muhit), baholash ko'rsatkichlarini, artefaktlarni (og'irliklar, preprocessing obyekti, sxema) va hayot sikli holatini saqlaydi. U ikki savolga javob beradi: «Hozir ishlab chiqarishda qaysi model ishlayapti va u qayerdan kelgan?» va «Bu modelni kim, qachon, qanday asosda tasdiqlagan?». Reestrsiz tashkilot «model_final_v3_new2.pt» fayllar botqog'ida qoladi.</a:t>
            </a:r>
          </a:p>
          <a:p/>
          <a:p>
            <a:r>
              <a:t>MLflow — eng keng tarqalgan ochiq vosita; u to'rt komponentdan iborat. Tracking — har o'qitish ishga tushirilishi (run) uchun parametrlar, metrikalar (vaqt bo'yicha), artefaktlar va teglar yoziladi, veb-interfeysda solishtiriladi. Models — modelni freymvorkdan mustaqil formatda («flavor»: pytorch, sklearn, onnx, pyfunc) MLmodel metama'lumot fayli, muhit talablari (conda.yaml, requirements.txt) va kirish-chiqish sxemasi (signature) bilan paketlaydi — bu keyinchalik uni istalgan serverda yuklash imkonini beradi. Model Registry — nomlangan modellar va ularning versiyalari; har versiya bosqich (Staging, Production, Archived) yoki yangi versiyalarda «alias» (masalan, champion, challenger) bilan belgilanadi; o'tish tarixi va izohlar saqlanadi. Projects — takrorlanuvchan ishga tushirish uchun paket formati. MLflow'ning muqobillari: Weights &amp; Biases (bulutli, vizualizatsiyaga boy), Neptune, ClearML, bulut provayderlarining reestrlari (SageMaker, Vertex AI). Ma'lumotlarni versiyalash uchun DVC (Data Version Control) Git bilan birga ishlaydi: katta fayllar obyekt saqlashda, Git'da esa ularning xeshlari; dvc repro konveyerni faqat o'zgargan bosqichlardan qayta hisoblaydi.</a:t>
            </a:r>
          </a:p>
          <a:p/>
          <a:p>
            <a:r>
              <a:t>Model reestriga «model kartasi» (model card) ham biriktiriladi — modelning maqsadi, o'qitish ma'lumotlari, baholash natijalari (jumladan, kichik guruhlar bo'yicha), cheklovlari va etik mulohazalari haqida hujjat; ISO/IEC 42001 va EU AI Act kabi me'yoriy hujjatlar yuqori xavfli tizimlar uchun aynan shunday hujjatlashtirishni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 loyihasida uzluksiz integratsiya kod testlaridan ancha keng. Breck va hamkasblarining «ML Test Score» (Google, 2017) ro'yxati to'rt guruhni ajratadi: ma'lumot testlari (xususiyat taqsimoti kutilganga mos, sxema buzilmagan, maxfiy xususiyatlar yo'q, xususiyat narxi foydasiga arziydi), model testlari (sifat chegaradan yuqori, oddiy bazadan yaxshi, kichik guruhlar bo'yicha adolatli, giperparametrlar sozlangan, eskirmagan), infratuzilma testlari (o'qitish takrorlanuvchan, konveyer integratsiya testi, modelni orqaga qaytarish mumkin, xizmat ko'rsatish kodi o'qitish kodi bilan bir xil natija beradi — «training-serving skew» yo'q), monitoring testlari. Amaliyotda CI konveyeri (GitHub Actions, GitLab CI, Jenkins) quyidagi bosqichlarni bajaradi: lint va birlik testlari (pytest), ma'lumot sxemasi validatsiyasi (Great Expectations, Pandera), kichik to'plamda «tutun» o'qitish (smoke training — konveyer buzilmaganini tekshirish), model sifatini chegara bilan solishtirish, Docker obrazini yig'ish va reestrga yuborish, sinov muhitiga joylashtirish, integratsiya testi (API'ga so'rov → kutilgan javob), kechikish benchmark'i.</a:t>
            </a:r>
          </a:p>
          <a:p/>
          <a:p>
            <a:r>
              <a:t>Uzluksiz yetkazish ML'da «model validatsiyasi darvozasi» bilan to'ldiriladi: yangi model avtomatik ravishda ishlab chiqarishga chiqmaydi, u oldin joriy «chempion» bilan bir xil test to'plamida solishtiriladi, kichik guruhlar bo'yicha sifati tekshiriladi, kechikish va xotira talablariga mosligi o'lchanadi; faqat barcha mezonlardan o'tsa — avtomatik yoki inson tasdig'i bilan — joylashtiriladi. Uzluksiz o'qitish (CT) esa konveyerni triggerlar bo'yicha ishga tushiradi: jadval (har kecha), yangi ma'lumot hajmi (10 000 yangi yorliq), monitoring signali (drift aniqlandi, sifat tushdi), qo'lda. CT konveyeri odatda orkestrator — Kubeflow Pipelines, Apache Airflow, Argo Workflows, Prefect, Metaflow — ustida quriladi; har bosqich konteyner, bosqichlar orasidagi artefaktlar obyekt saqlashda.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Joylashtirish rejimi ish yukiga qarab tanlanadi. Partiyali inferens (batch): model jadval bo'yicha katta to'plamda bashorat qiladi, natija bazaga yoziladi — tavsiyalar, risk skoringi; eng oddiy, kechikish talabi yo'q, GPU to'liq yuklanadi. Onlayn inferens (online, real-time): so'rov–javob API (REST/gRPC), kechikish byudjeti o'nlab millisekund — firibgarlikni aniqlash, qidiruv. Oqimli inferens (streaming): Kafka kabi oqimdan hodisalar o'qiladi va natija boshqa oqimga yoziladi — sensorlar, loglar. Chekka joylashtirish (edge): model qurilmada (telefon, Jetson, brauzer) — maxfiylik, oflayn ishlash, kechikish; yangilash murakkab (M6). Ko'p tizimlar gibrid: partiyali xususiyatlar + onlayn model.</a:t>
            </a:r>
          </a:p>
          <a:p/>
          <a:p>
            <a:r>
              <a:t>Onlayn xizmat ko'rsatish uchun vositalar: oddiy FastAPI/Flask ilovasi (to'liq nazorat, kichik yuk uchun yetarli), TorchServe va TensorFlow Serving (freymvorkka xos, versiyalash va partiyalash bilan), NVIDIA Triton Inference Server (ko'p freymvork, dinamik partiyalash, ansambl, GPU'da bir nechta model), KServe va Seldon Core (Kubernetes ustida model xizmatlari uchun standart: avtomasshtablash, kanareyka, transformerlar), BentoML (Python-markaziy paketlash). Kubernetes (M7) joylashtirish platformasi sifatida: Deployment — nusxalar va yangilanish, Service/Ingress — tarmoq, HorizontalPodAutoscaler — yuk bo'yicha masshtablash, GPU Operator — drayver va qurilma plaginlari, nvidia.com/gpu resurs so'rovi.</a:t>
            </a:r>
          </a:p>
          <a:p/>
          <a:p>
            <a:r>
              <a:t>Yangi versiyani chiqarish strategiyalari xavfni boshqaradi. Qayta yaratish (recreate): eski to'xtatiladi, yangi ishga tushadi — to'xtash vaqti bor. Dumalab yangilash (rolling update): podlar birin-ketin almashtiriladi — Kubernetes standarti, lekin ikki versiya bir vaqtda ishlaydi. Ko'k-yashil (blue-green): yangi versiya to'liq parallel ko'tariladi, trafik bir zumda o'tkaziladi, muammo bo'lsa bir zumda qaytariladi — ikki barobar resurs. Kanareyka (canary): trafikning 1–5 foizi yangi versiyaga, ko'rsatkichlar kuzatiladi, bosqichma-bosqich 100 foizgacha — eng keng tarqalgan ML strategiyasi, chunki model sifati faqat real trafikda to'liq ko'rinadi. Soya rejimi (shadow): yangi model barcha so'rovlarni oladi, lekin javobi foydalanuvchiga bormaydi, faqat yoziladi va solishtiriladi — xavfsiz, lekin ikki barobar hisoblash. A/B test: foydalanuvchilar guruhlarga bo'linib, biznes ko'rsatkich (konversiya, qolish) statistik solishtiriladi — model sifatining yakuniy o'lchovi, lekin haftalar talab qiladi. Har qanday strategiyada orqaga qaytarish (rollback) bir buyruq bilan bo'lishi va reestrdagi oldingi versiyaga aniq bog'lanishi kerak.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Ishlab chiqarishdagi model uch qatlamda kuzatiladi. Operatsion qatlam — an'anaviy: so'rovlar soni, kechikish foizillari, xato darajasi, GPU bandligi va xotira, navbat uzunligi; vositalar — Prometheus (metrikalar), Grafana (panellar), Alertmanager (ogohlantirish), OpenTelemetry (izlar). Ma'lumot qatlami — kirish xususiyatlari va bashoratlar taqsimoti: yetishmayotgan qiymatlar, diapazondan chiqish, yangi kategoriyalar, taqsimot siljishi. Sifat qatlami — haqiqiy yorliqlar bilan solishtirish: aniqlik, F1, AUC, biznes ko'rsatkich; muammo shundaki, yorliqlar ko'pincha kechikib (kredit qaytarilmasligi — oylar) yoki umuman kelmaydi, shuning uchun ma'lumot qatlami sifat muammolarining erta ogohlantiruvchisi vazifasini bajaradi.</a:t>
            </a:r>
          </a:p>
          <a:p/>
          <a:p>
            <a:r>
              <a:t>Siljish (drift) turlari: ma'lumot siljishi (data drift, covariate shift) — kirish taqsimoti P(X) o'zgaradi, bog'liqlik P(Y|X) o'zgarmaydi (yangi mintaqadan foydalanuvchilar); konsepsiya siljishi (concept drift) — P(Y|X) o'zgaradi (pandemiya iste'mol odatlarini o'zgartirdi, firibgarlar yangi usul topdi) — eng xavfli, chunki kirish bir xil ko'rinadi, javob esa noto'g'ri; yorliq siljishi (label/prior shift) — P(Y) o'zgaradi; bashorat siljishi (prediction drift) — model chiqishi taqsimoti o'zgaradi, yorliqsiz kuzatiladigan bilvosita belgi. Siljish keskin (sudden), bosqichma-bosqich (gradual), tiklanuvchi (recurring, mavsumiy) bo'lishi mumkin.</a:t>
            </a:r>
          </a:p>
          <a:p/>
          <a:p>
            <a:r>
              <a:t>Aniqlash usullari — mos yozuvlar (reference, odatda o'qitish yoki validatsiya to'plami) va joriy oyna (current, oxirgi kun/hafta) taqsimotlarini statistik solishtirish. Uzluksiz xususiyatlar uchun: Kolmogorov–Smirnov testi (ikki empirik taqsimot funksiyasi orasidagi maksimal farq, p &lt; 0,05 siljish belgisi; katta tanlamalarda juda sezgir), Populyatsiya barqarorlik indeksi (Population Stability Index, PSI): xususiyat B ta chelakka bo'linadi, PSI = Σ (p_i − q_i) · ln(p_i / q_i), bu yerda p_i, q_i — joriy va mos yozuvlar ulushlari; amaliy chegaralar: &lt; 0,1 — barqaror, 0,1–0,25 — o'rtacha siljish, &gt; 0,25 — sezilarli; Wasserstein masofasi (siljish «hajmi»ni birliklarda beradi), Jensen–Shannon divergensiyasi (simmetrik, chegaralangan). Kategorial xususiyatlar uchun: xi-kvadrat testi, PSI, JS. Ko'p o'lchamli yondashuv: «domen tasniflagichi» — mos yozuvlar va joriy namunalarni ajratishga o'qitilgan model; agar uning AUC'si 0,5 dan sezilarli katta bo'lsa, siljish bor, xususiyat muhimligi esa qaysi xususiyat siljiganini ko'rsatadi. Evidently kutubxonasi bu testlarni xususiyat turiga va tanlama hajmiga qarab avtomatik tanlaydi (kichik tanlamalarda KS/xi-kvadrat, katta — Wasserstein/JS), HTML hisobot va JSON natija beradi va Prometheus/Grafana bilan birlashtiriladi. Muqobillar: NannyML (yorliqsiz sifatni baholash), Alibi Detect, WhyLabs, Arize, bulut provayderlarining monitoring xizmatlari.</a:t>
            </a:r>
          </a:p>
          <a:p/>
          <a:p>
            <a:r>
              <a:t>Siljish aniqlangach nima qilish kerak — bu ham loyihalash qarori: ogohlantirish va inson tahlili; avtomatik qayta o'qitish (CT trigger); zaxira modelga yoki qoidaga o'tish; bashoratga ishonchsizlik belgisi qo'yish. Avtomatik qayta o'qitish faqat yorliqlar tez keladigan va validatsiya darvozasi kuchli bo'lgan tizimlarda xavfsiz; aks holda siljish zaharlangan ma'lumotdan (M9) kelib chiqqan bo'lsa, qayta o'qitish uni modelga «qonuniylashtiradi».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infratuzilmasi — GPU tugunlari, klaster, saqlash, tarmoq, reestr, monitoring — ham kod sifatida boshqarilishi kerak (Infrastructure as Code, IaC). Terraform yoki Pulumi bulut resurslarini (GPU instanslar, Kubernetes klaster, obyekt saqlash, IAM rollari) deklarativ fayllarda tavsiflaydi va plan/apply bilan takrorlanuvchan yaratadi; Ansible — serverlarni sozlash. Kubernetes'da NVIDIA GPU Operator drayver, konteyner ish vaqti, qurilma plagini, DCGM monitoring eksportchisini avtomatik o'rnatadi; MIG (multi-instance GPU) A100/H100 ni 7 tagacha izolyatsiyalangan bo'lakka bo'lib, kichik modellarga alohida GPU resurs beradi. GitOps (ArgoCD, Flux): Kubernetes manifestlari Git'da, klaster holati Git bilan avtomatik sinxronlanadi — joylashtirish git push, orqaga qaytarish git revert. Xususiyatlar ombori (feature store: Feast, Tecton) o'qitish va xizmat ko'rsatish uchun bir xil xususiyat hisobini ta'minlab, training-serving skew'ni yo'qotadi. Sirlar (API kalitlari, ma'lumot bazasi parollari) kod va obrazlarda emas, sir boshqaruvchida (Vault, Kubernetes Secrets + tashqi operator). Narxni boshqarish (FinOps): GPU band bo'lish darajasi, spot instanslar, avtomasshtablash va nolga tushirish (scale-to-zero) — inferens xizmatlarida GPU'ning 30–40 foiz band bo'lishi odatiy va eng katta xarajat manbai.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Misolda biz tasniflash modelining to'liq MLOps siklini kichik, lekin haqiqiy vositalarda quramiz: MLflow bilan eksperimentlar va reestr, pytest testlari va GitHub Actions CI, Docker + FastAPI inferens xizmati va Kubernetes kanareyka joylashtirish, Prometheus metrikalari, Evidently va statistik testlar bilan drift aniqlash, qayta o'qitish triggeri. Ma'lumot sifatida ochiq tabular to'plam (masalan, scikit-learn fetch_openml("adult") — daromad bashorati) olinadi, model — gradient boosting; g'oya chuqur modellarga bir xil o'tadi.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ishga tushirish parametrlar, metrikalar (jumladan kichik guruhlar bo'yicha F1 — adolatlilik darvozasi uchun), Git commit tegi va modelning o'zi bilan MLflow serveriga yoziladi; infer_signature kirish-chiqish sxemasini saqlaydi — keyinchalik xizmat noto'g'ri ustunli so'rovni rad etadi. registered_model_name modelni reestrga yangi versiya sifatida qo'shadi. Kutilgan natija: AUC ≈ 0,92–0,93, F1 ≈ 0,70–0,72 (taxminiy, bu to'plam uchun odatiy). MLflow interfeysida (mlflow ui) ishga tushirishlar jadvalda solishtiriladi.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yangi versiya avtomatik «ishlab chiqarish»ga chiqmaydi — u joriy chempion bilan solishtiriladi (0,002 AUC chidamlilik tasodifiy tebranish uchun), minimal F1 va kichik guruhlar orasidagi F1 farqi chegarasidan o'tishi kerak. O'tsa — challenger aliasini oladi va kanareykaga tayyor; champion aliasini u faqat kanareyka muvaffaqiyatli tugagach, odam yoki avtomat orqali oladi. Reestr har o'tishni kim va qachon qilganini saqlaydi.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konveyer har push, pull request va har kecha soat 2 da (CT jadvali) ishga tushadi. Bosqichlar: MLflow xizmat konteyneri ko'tariladi, o'qitish bajariladi, to'rt turdagi test — ma'lumot sxemasi (Pandera), sifat chegarasi, takrorlanuvchanlik, training-serving skew — o'tadi, validatsiya darvozasi (promote.py) yangi versiyani chempion bilan solishtiradi. Faqat main da va faqat testlar o'tganda Docker obrazi yig'ilib GitHub Container Registry'ga yuboriladi va kanareyka manifestiga yangi teg yoziladi — GitOps vositasi (ArgoCD) uni klasterga sinxronlaydi. Haqiqiy loyihada o'qitish GPU'li self-hosted runner'da yoki Kubeflow/Airflow konveyerida bajariladi, CI esa uni ishga tushiradi va natijani kutadi.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stabil Deployment (9 nusxa, track: stable, @champion) va kanareyka (1 nusxa, @challenger) bir xil Service ostida — Kubernetes trafikni nusxalar soniga proporsional taqsimlaydi, ya'ni ≈ 10 foiz kanareykaga. Metrikalar version yorlig'i bilan ajratilgani uchun Grafana'da ikki versiyaning kechikishi, xato darajasi va bashorat taqsimoti yonma-yon ko'rinadi. Agar kanareykaning p99 kechikishi yoki bashorat taqsimoti stabildan keskin farq qilsa — replicas: 0 bilan bir zumda o'chiriladi; yaxshi bo'lsa — champion aliasi yangi versiyaga ko'chiriladi va stabil podlar dumalab yangilanadi. Aniqroq foiz boshqaruvi uchun Istio/Argo Rollouts ishlatiladi. Kutilgan ko'rsatkichlar (taxminiy): bitta satr uchun p50 ≈ 3–5 ms, p99 ≈ 15–25 ms, 1 CPU'da ≈ 300–500 so'rov/s; GPU modellari uchun shu naqsh nvidia.com/gpu: 1 resurs so'rovi bilan.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skript har kecha Kubernetes CronJob sifatida ishlaydi, kunlik bashorat loglaridan kirish xususiyatlarini oladi va mos yozuvlar to'plami bilan solishtiradi. KS testi p-qiymati va PSI har asosiy xususiyat uchun hisoblanadi; prediction_psi bashorat taqsimotining kun ichidagi barqarorligini ko'rsatadi (yorliqsiz erta belgi). Evidently esa barcha ustunlar uchun test tanlaydi, HTML hisobot (taqsimot grafiklari bilan) va dataset_drift bayrog'ini beradi (standart: ustunlarning 50 foizidan ko'pi siljisa). Siljishni sun'iy ko'rsatish uchun joriy to'plamda age ni 5 yilga surib yoki hours-per-week ga shovqin qo'shib sinab ko'ring: KS p 10⁻²⁰ darajaga tushadi, PSI 0,3 dan oshadi, Evidently ustunni «drifted» deb belgilaydi. Muhim ogohlantirish: 100 000 ta namunada KS testi 1 foizlik farqni ham «statistik ahamiyatli» deb topadi — shuning uchun amaliyotda p-qiymat bilan birga PSI yoki Wasserstein kabi «ta'sir hajmi» o'lchovi va biznes chegarasi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tsikl yopildi — monitoring natijasi CI/CT konveyerini qayta ishga tushiradi, u yangi ma'lumotda o'qitadi, testlar va validatsiya darvozasidan o'tkazadi, kanareykaga chiqaradi. Prometheus qoidalari operatsion (p99 kechikish 50 ms dan oshsa) va bashorat siljishi (0,5 dan past ball ulushi mos yozuvlar 0,76 dan 8 punktdan ko'p farq qilsa) uchun ogohlantiradi. E'tibor bering: qayta o'qitish avtomatik ishga tushadi, lekin ishlab chiqarishga chiqish hali ham darvoza va kanareyka orqali — bu zaharlangan yoki buzilgan ma'lumotdan himoya.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Qurilgan tizimning holati: har o'qitish takrorlanuvchan va reestrda kelib chiqishi bilan saqlanadi; yangi versiya avtomatik testlar va chempion bilan solishtirish darvozasidan o'tadi; joylashtirish Git orqali, 10 foizlik kanareyka bilan, metrikalar versiya bo'yicha ajratilgan; drift har kecha tekshiriladi va chegaradan oshsa qayta o'qitish ishga tushadi. Vaqt ko'rsatkichlari (taxminiy): CI konveyeri bu kichik modelda 4–6 daqiqa (o'qitish 40 soniya, testlar 1 daqiqa, obraz yig'ish 2 daqiqa); kod o'zgarishidan kanareykagacha 10 daqiqa; kanareyka kuzatuvi 1–24 soat (biznes qaroriga bog'liq); drift aniqlanishidan yangi chempiongacha kamida bir kecha. Chuqur model uchun o'qitish soatlar oladi va GPU runner talab qiladi, lekin naqsh o'zgarmaydi.</a:t>
            </a:r>
          </a:p>
          <a:p/>
          <a:p>
            <a:r>
              <a:t>Tahlil: birinchidan, validatsiya darvozasi — eng muhim komponent; usiz CT konveyeri yomon modelni avtomatik ravishda ishlab chiqarishga olib chiqadi. Darvoza mezonlari (chidamlilik 0,002 AUC, adolatlilik farqi 0,10) domen bilan birga belgilanishi kerak. Ikkinchidan, drift aniqlash — signal, hukm emas: KS testi katta tanlamalarda doimo «siljish» deydi, shuning uchun PSI/Wasserstein chegaralari va bir necha kun ketma-ket kuzatish qoidasi kerak; bashorat siljishi esa yorliq kelmaganda sifat muammosining yagona erta belgisi. Uchinchidan, kanareykaning 10 foizi nusxalar soni bilan qo'pol boshqariladi; Argo Rollouts yoki Istio bilan 1 foizdan boshlab avtomatik tahlil (Prometheus so'rovlari bo'yicha) va avtomatik orqaga qaytarish mumkin.</a:t>
            </a:r>
          </a:p>
          <a:p/>
          <a:p>
            <a:r>
              <a:t>Cheklovlar: bashorat loglari fayl orqali yig'ildi — ishlab chiqarishda Kafka yoki obyekt saqlash + ma'lumot ombori; haqiqiy yorliqlar bilan sifat monitoringi ko'rsatilmadi (u yorliqlarni bashorat identifikatori bilan birlashtirishni talab qiladi); xususiyatlar ombori va ma'lumot versiyalash (DVC) misolga kiritilmadi; sirlar GitHub Secrets'da — kattaroq tizimda Vault. Muqobil yondashuvlar: Kubeflow Pipelines yoki Airflow bilan o'qitish konveyeri (bosqichlar kesh va parallel), KServe bilan model xizmati (avtomasshtablash, nolga tushirish, kanareyka ichki), bulut platformalari (SageMaker Pipelines, Vertex AI) — tezroq boshlash, lekin provayderga bog'lanish; NannyML bilan yorliqsiz sifat baholash.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Daftardan to'g'ridan-to'g'ri ishlab chiqarishga. Jupyter daftaridagi kod takrorlanmaydi va testlanmaydi; o'qitish skript yoki konveyer bosqichi bo'lsin, daftar faqat tadqiqot uchun.</a:t>
            </a:r>
          </a:p>
          <a:p/>
          <a:p>
            <a:r>
              <a:t>Modelni versiyalab, ma'lumot va preprocessing'ni versiyalamaslik. Model faylining o'zi qayta tiklash uchun yetarli emas; ma'lumot xeshi/versiyasi, xususiyat kodi va muhit reestrda bog'langan bo'lishi kerak. Training-serving skew — preprocessing'ning ikki nusxasi — eng ko'p uchraydigan yashirin xato; bitta kod, bitta test.</a:t>
            </a:r>
          </a:p>
          <a:p/>
          <a:p>
            <a:r>
              <a:t>Avtomatik qayta o'qitishni validatsiya darvozasisiz yoqish. Siljish zaharlangan yoki buzilgan ma'lumotdan bo'lishi mumkin; darvoza, kanareyka va inson tasdig'i (yuqori xavfli tizimlarda) majburiy.</a:t>
            </a:r>
          </a:p>
          <a:p/>
          <a:p>
            <a:r>
              <a:t>Faqat operatsion metrikalarni kuzatish. Xizmat 200 OK qaytaradi, kechikish yaxshi — lekin model bir oydan beri noto'g'ri bashorat qilmoqda. Kirish va bashorat taqsimotlarini, iloji bo'lsa yorliqli sifatni kuzating.</a:t>
            </a:r>
          </a:p>
          <a:p/>
          <a:p>
            <a:r>
              <a:t>KS testi p &lt; 0,05 ni avtomatik trigger qilish. Katta tanlamalarda bu har kuni ishga tushadi; ta'sir hajmi (PSI, Wasserstein), bir necha oyna ketma-ketligi va ustunlar ulushi chegarasidan foydalaning.</a:t>
            </a:r>
          </a:p>
          <a:p/>
          <a:p>
            <a:r>
              <a:t>Orqaga qaytarish yo'lini sinab ko'rmaslik. Rollback bir buyruq bo'lishi va reestrdagi aniq versiyaga bog'lanishi kerak; uni muntazam mashq qiling (chaos muhandisligi).</a:t>
            </a:r>
          </a:p>
          <a:p/>
          <a:p>
            <a:r>
              <a:t>Sirlar va ma'lumot yo'llarini kod yoki obrazga yozish. Sir boshqaruvchi va muhit o'zgaruvchilari; obrazlar ommaviy reestrda bo'lsa, ichidagi har narsa ochiq deb hisoblang.</a:t>
            </a:r>
          </a:p>
          <a:p/>
          <a:p>
            <a:r>
              <a:t>Barcha metrikalarni yagona «aniqlik» bilan cheklash. Kichik guruhlar bo'yicha sifat, kalibrlash, kechikish, xotira, narx — darvozaning bir qismi; aks holda adolatsiz yoki qimmat model o'tib ketadi.</a:t>
            </a:r>
          </a:p>
          <a:p/>
          <a:p>
            <a:r>
              <a:t>MLOps'ni vosita xaridi deb bilish. Platforma jarayonni almashtirmaydi; avval versiyalash, test, darvoza, monitoring qoidalari — keyin vosita.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Daftardan to'g'ridan-to'g'ri ishlab chiqarishga. Jupyter daftaridagi kod takrorlanmaydi va testlanmaydi; o'qitish skript yoki konveyer bosqichi bo'lsin, daftar faqat tadqiqot uchun.</a:t>
            </a:r>
          </a:p>
          <a:p/>
          <a:p>
            <a:r>
              <a:t>Modelni versiyalab, ma'lumot va preprocessing'ni versiyalamaslik. Model faylining o'zi qayta tiklash uchun yetarli emas; ma'lumot xeshi/versiyasi, xususiyat kodi va muhit reestrda bog'langan bo'lishi kerak. Training-serving skew — preprocessing'ning ikki nusxasi — eng ko'p uchraydigan yashirin xato; bitta kod, bitta test.</a:t>
            </a:r>
          </a:p>
          <a:p/>
          <a:p>
            <a:r>
              <a:t>Avtomatik qayta o'qitishni validatsiya darvozasisiz yoqish. Siljish zaharlangan yoki buzilgan ma'lumotdan bo'lishi mumkin; darvoza, kanareyka va inson tasdig'i (yuqori xavfli tizimlarda) majburiy.</a:t>
            </a:r>
          </a:p>
          <a:p/>
          <a:p>
            <a:r>
              <a:t>Faqat operatsion metrikalarni kuzatish. Xizmat 200 OK qaytaradi, kechikish yaxshi — lekin model bir oydan beri noto'g'ri bashorat qilmoqda. Kirish va bashorat taqsimotlarini, iloji bo'lsa yorliqli sifatni kuzating.</a:t>
            </a:r>
          </a:p>
          <a:p/>
          <a:p>
            <a:r>
              <a:t>KS testi p &lt; 0,05 ni avtomatik trigger qilish. Katta tanlamalarda bu har kuni ishga tushadi; ta'sir hajmi (PSI, Wasserstein), bir necha oyna ketma-ketligi va ustunlar ulushi chegarasidan foydalaning.</a:t>
            </a:r>
          </a:p>
          <a:p/>
          <a:p>
            <a:r>
              <a:t>Orqaga qaytarish yo'lini sinab ko'rmaslik. Rollback bir buyruq bo'lishi va reestrdagi aniq versiyaga bog'lanishi kerak; uni muntazam mashq qiling (chaos muhandisligi).</a:t>
            </a:r>
          </a:p>
          <a:p/>
          <a:p>
            <a:r>
              <a:t>Sirlar va ma'lumot yo'llarini kod yoki obrazga yozish. Sir boshqaruvchi va muhit o'zgaruvchilari; obrazlar ommaviy reestrda bo'lsa, ichidagi har narsa ochiq deb hisoblang.</a:t>
            </a:r>
          </a:p>
          <a:p/>
          <a:p>
            <a:r>
              <a:t>Barcha metrikalarni yagona «aniqlik» bilan cheklash. Kichik guruhlar bo'yicha sifat, kalibrlash, kechikish, xotira, narx — darvozaning bir qismi; aks holda adolatsiz yoki qimmat model o'tib ketadi.</a:t>
            </a:r>
          </a:p>
          <a:p/>
          <a:p>
            <a:r>
              <a:t>MLOps'ni vosita xaridi deb bilish. Platforma jarayonni almashtirmaydi; avval versiyalash, test, darvoza, monitoring qoidalari — keyin vosita.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 tizimidagi «CACE» tamoyili va ma'lumotlarga bog'liqlik qarzi nima uchun an'anaviy dasturiy ta'minotdagi texnik qarzdan xavfliroq? Misol keltiring.</a:t>
            </a:r>
          </a:p>
          <a:p/>
          <a:p>
            <a:r>
              <a:t>MLOps 0-, 1- va 2-yetuklik darajalarini tashkilot uchun qanday aniqlaysiz? Qaysi belgilar 1-darajadan 2-darajaga o'tish zarurligini ko'rsatadi?</a:t>
            </a:r>
          </a:p>
          <a:p/>
          <a:p>
            <a:r>
              <a:t>Model reestrida bosqichlar (Staging/Production) va aliaslar (champion/challenger) yondashuvlarini taqqoslang. Kanareyka strategiyasi uchun qaysi biri qulayroq?</a:t>
            </a:r>
          </a:p>
          <a:p/>
          <a:p>
            <a:r>
              <a:t>CI konveyerida «takrorlanuvchanlik testi» chuqur modellar uchun nima uchun murakkab (GPU nodeterminizmi) va uni qanday tashkil qilish mumkin?</a:t>
            </a:r>
          </a:p>
          <a:p/>
          <a:p>
            <a:r>
              <a:t>Ko'k-yashil, kanareyka va soya strategiyalarini resurs narxi, xavf va model sifatini baholash imkoniyati bo'yicha taqqoslang. Tibbiy diagnostika modeli uchun qaysini tanlaysiz?</a:t>
            </a:r>
          </a:p>
          <a:p/>
          <a:p>
            <a:r>
              <a:t>Ma'lumot siljishi va konsepsiya siljishini faqat kirish xususiyatlariga qarab ajratish mumkinmi? Yorliqlar kechikib kelganda qanday bilvosita belgilar bor?</a:t>
            </a:r>
          </a:p>
          <a:p/>
          <a:p>
            <a:r>
              <a:t>PSI va KS testining tanlama hajmiga bog'liqligini tushuntiring. 1 million kunlik so'rovli xizmat uchun qanday trigger qoidasini taklif qilasiz?</a:t>
            </a:r>
          </a:p>
          <a:p/>
          <a:p>
            <a:r>
              <a:t>Avtomatik qayta o'qitish qaysi sharoitlarda xavfsiz, qaysilarida xavfli? M9'dagi zaharlash hujumlari bilan bog'lang.</a:t>
            </a:r>
          </a:p>
          <a:p/>
          <a:p>
            <a:r>
              <a:t>Training-serving skew'ning kelib chiqish manbalarini sanab, xususiyatlar ombori uni qanday hal qilishini tushuntiring.</a:t>
            </a:r>
          </a:p>
          <a:p/>
          <a:p>
            <a:r>
              <a:t>GitOps yondashuvida «klaster holati = Git holati» tamoyili ML joylashtirishga qanday afzallik va qanday murakkablik (masalan, model fayli Git'da emas) keltiradi?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 tizimidagi «CACE» tamoyili va ma'lumotlarga bog'liqlik qarzi nima uchun an'anaviy dasturiy ta'minotdagi texnik qarzdan xavfliroq? Misol keltiring.</a:t>
            </a:r>
          </a:p>
          <a:p/>
          <a:p>
            <a:r>
              <a:t>MLOps 0-, 1- va 2-yetuklik darajalarini tashkilot uchun qanday aniqlaysiz? Qaysi belgilar 1-darajadan 2-darajaga o'tish zarurligini ko'rsatadi?</a:t>
            </a:r>
          </a:p>
          <a:p/>
          <a:p>
            <a:r>
              <a:t>Model reestrida bosqichlar (Staging/Production) va aliaslar (champion/challenger) yondashuvlarini taqqoslang. Kanareyka strategiyasi uchun qaysi biri qulayroq?</a:t>
            </a:r>
          </a:p>
          <a:p/>
          <a:p>
            <a:r>
              <a:t>CI konveyerida «takrorlanuvchanlik testi» chuqur modellar uchun nima uchun murakkab (GPU nodeterminizmi) va uni qanday tashkil qilish mumkin?</a:t>
            </a:r>
          </a:p>
          <a:p/>
          <a:p>
            <a:r>
              <a:t>Ko'k-yashil, kanareyka va soya strategiyalarini resurs narxi, xavf va model sifatini baholash imkoniyati bo'yicha taqqoslang. Tibbiy diagnostika modeli uchun qaysini tanlaysiz?</a:t>
            </a:r>
          </a:p>
          <a:p/>
          <a:p>
            <a:r>
              <a:t>Ma'lumot siljishi va konsepsiya siljishini faqat kirish xususiyatlariga qarab ajratish mumkinmi? Yorliqlar kechikib kelganda qanday bilvosita belgilar bor?</a:t>
            </a:r>
          </a:p>
          <a:p/>
          <a:p>
            <a:r>
              <a:t>PSI va KS testining tanlama hajmiga bog'liqligini tushuntiring. 1 million kunlik so'rovli xizmat uchun qanday trigger qoidasini taklif qilasiz?</a:t>
            </a:r>
          </a:p>
          <a:p/>
          <a:p>
            <a:r>
              <a:t>Avtomatik qayta o'qitish qaysi sharoitlarda xavfsiz, qaysilarida xavfli? M9'dagi zaharlash hujumlari bilan bog'lang.</a:t>
            </a:r>
          </a:p>
          <a:p/>
          <a:p>
            <a:r>
              <a:t>Training-serving skew'ning kelib chiqish manbalarini sanab, xususiyatlar ombori uni qanday hal qilishini tushuntiring.</a:t>
            </a:r>
          </a:p>
          <a:p/>
          <a:p>
            <a:r>
              <a:t>GitOps yondashuvida «klaster holati = Git holati» tamoyili ML joylashtirishga qanday afzallik va qanday murakkablik (masalan, model fayli Git'da emas) keltiradi?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4-mustaqil ta'lim topshirig'i va A4/A7 bilan bog'liq). O'zingiz tanlagan modelni (tabular, tasvir yoki matn) to'liq MLOps siklida joylashtiring: (a) MLflow tracking va reestr — kamida 5 ta eksperiment, 2 ta ro'yxatga olingan versiya, aliaslar; (b) GitHub Actions (yoki GitLab CI) konveyeri — kamida 4 turdagi test (sxema, sifat chegarasi, takrorlanuvchanlik, xizmat–o'qitish mosligi) va obraz yig'ish; (c) Docker + FastAPI (yoki Triton/TorchServe) xizmati Prometheus metrikalari bilan, Kubernetes (minikube/kind yetarli) da stabil + kanareyka joylashtirish; (d) Evidently yoki o'z PSI/KS kodi bilan drift hisoboti — sun'iy siljish kiritib, aniqlanishini ko'rsating; (e) qayta o'qitish triggeri (CronJob yoki workflow_dispatch). Hisobotda tizim sxemasi, har bosqich uchun dalil (skrinshot/log) va cheklovlar tahlili bo'lsin. Baholash mezoni: sikl to'liqligi va ishlashi — 40 %, testlar va validatsiya darvozasining mazmunliligi — 20 %, monitoring va drift tahlili — 20 %, hujjat va takrorlanuvchanlik — 20 %.</a:t>
            </a:r>
          </a:p>
          <a:p/>
          <a:p>
            <a:r>
              <a:t>2-topshiriq (tahliliy, 1-mustaqil ta'lim topshirig'iga bog'liq). Netflix tavsiya tizimi, Uber Michelangelo yoki Amazon omborlash tizimlaridan birini ochiq manbalar (kompaniya muhandislik bloglari, konferensiya ma'ruzalari) asosida MLOps nuqtai nazaridan tahlil qiling: ular model versiyalash, CI/CD/CT, joylashtirish strategiyasi, monitoring va drift bilan qanday ishlaydi, qaysi yetuklik darajasida, qaysi muammolarni ochiq tan olgan. Ushbu ma'ruzadagi naqshlar bilan taqqoslab, o'rta hajmli tashkilot uchun qaysi amaliyotlarni ko'chirish mumkinligini asoslang. Baholash mezoni: manbalarning haqiqiyligi va to'g'ri havola — 30 %, tahlil chuqurligi — 40 %, xulosalarning amaliy qiymati — 30 %.</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Amershi, S., Begel, A., Bird, C., DeLine, R., Gall, H., Kamar, E., Nagappan, N., Nushi, B., &amp; Zimmermann, T. Machine Learning Engineering. MIT Press, 2025.</a:t>
            </a:r>
          </a:p>
          <a:p/>
          <a:p>
            <a:r>
              <a:t>[2] Kneusel, R. T. Artificial Intelligence Engineering: A Practical Guide for AI Applications. No Starch Press, 2023.</a:t>
            </a:r>
          </a:p>
          <a:p/>
          <a:p>
            <a:r>
              <a:t>[9] Kubernetes rasmiy hujjatlari — https://kubernetes.io (Deployment, Service, CronJob, HorizontalPodAutoscaler).</a:t>
            </a:r>
          </a:p>
          <a:p/>
          <a:p>
            <a:r>
              <a:t>[7] PyTorch rasmiy hujjatlari — https://pytorch.org (takrorlanuvchanlik, TorchServe).</a:t>
            </a:r>
          </a:p>
          <a:p/>
          <a:p>
            <a:r>
              <a:t>[10] ONNX rasmiy hujjatlari — https://onnx.ai (freymvorkdan mustaqil model formati va joylashtirish).</a:t>
            </a:r>
          </a:p>
          <a:p/>
          <a:p>
            <a:r>
              <a:t>Sculley, D., Holt, G., Golovin, D. va boshq. Hidden Technical Debt in Machine Learning Systems. NeurIPS 2015.</a:t>
            </a:r>
          </a:p>
          <a:p/>
          <a:p>
            <a:r>
              <a:t>Breck, E., Cai, S., Nielsen, E., Salib, M., &amp; Sculley, D. The ML Test Score: A Rubric for ML Production Readiness and Technical Debt Reduction. IEEE Big Data, 2017.</a:t>
            </a:r>
          </a:p>
          <a:p/>
          <a:p>
            <a:r>
              <a:t>Google Cloud Architecture Center. MLOps: Continuous delivery and automation pipelines in machine learning. https://cloud.google.com/architecture/mlops-continuous-delivery-and-automation-pipelines-in-machine-learning</a:t>
            </a:r>
          </a:p>
          <a:p/>
          <a:p>
            <a:r>
              <a:t>Kreuzberger, D., Kühl, N., &amp; Hirschl, S. Machine Learning Operations (MLOps): Overview, Definition, and Architecture. IEEE Access, 2023. arXiv:2205.02302.</a:t>
            </a:r>
          </a:p>
          <a:p/>
          <a:p>
            <a:r>
              <a:t>MLflow rasmiy hujjatlari: https://mlflow.org/docs/latest/</a:t>
            </a:r>
          </a:p>
          <a:p/>
          <a:p>
            <a:r>
              <a:t>Evidently AI rasmiy hujjatlari: https://docs.evidentlyai.com</a:t>
            </a:r>
          </a:p>
          <a:p/>
          <a:p>
            <a:r>
              <a:t>GitHub Actions rasmiy hujjatlari: https://docs.github.com/en/actions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Amershi, S., Begel, A., Bird, C., DeLine, R., Gall, H., Kamar, E., Nagappan, N., Nushi, B., &amp; Zimmermann, T. Machine Learning Engineering. MIT Press, 2025.</a:t>
            </a:r>
          </a:p>
          <a:p/>
          <a:p>
            <a:r>
              <a:t>[2] Kneusel, R. T. Artificial Intelligence Engineering: A Practical Guide for AI Applications. No Starch Press, 2023.</a:t>
            </a:r>
          </a:p>
          <a:p/>
          <a:p>
            <a:r>
              <a:t>[9] Kubernetes rasmiy hujjatlari — https://kubernetes.io (Deployment, Service, CronJob, HorizontalPodAutoscaler).</a:t>
            </a:r>
          </a:p>
          <a:p/>
          <a:p>
            <a:r>
              <a:t>[7] PyTorch rasmiy hujjatlari — https://pytorch.org (takrorlanuvchanlik, TorchServe).</a:t>
            </a:r>
          </a:p>
          <a:p/>
          <a:p>
            <a:r>
              <a:t>[10] ONNX rasmiy hujjatlari — https://onnx.ai (freymvorkdan mustaqil model formati va joylashtirish).</a:t>
            </a:r>
          </a:p>
          <a:p/>
          <a:p>
            <a:r>
              <a:t>Sculley, D., Holt, G., Golovin, D. va boshq. Hidden Technical Debt in Machine Learning Systems. NeurIPS 2015.</a:t>
            </a:r>
          </a:p>
          <a:p/>
          <a:p>
            <a:r>
              <a:t>Breck, E., Cai, S., Nielsen, E., Salib, M., &amp; Sculley, D. The ML Test Score: A Rubric for ML Production Readiness and Technical Debt Reduction. IEEE Big Data, 2017.</a:t>
            </a:r>
          </a:p>
          <a:p/>
          <a:p>
            <a:r>
              <a:t>Google Cloud Architecture Center. MLOps: Continuous delivery and automation pipelines in machine learning. https://cloud.google.com/architecture/mlops-continuous-delivery-and-automation-pipelines-in-machine-learning</a:t>
            </a:r>
          </a:p>
          <a:p/>
          <a:p>
            <a:r>
              <a:t>Kreuzberger, D., Kühl, N., &amp; Hirschl, S. Machine Learning Operations (MLOps): Overview, Definition, and Architecture. IEEE Access, 2023. arXiv:2205.02302.</a:t>
            </a:r>
          </a:p>
          <a:p/>
          <a:p>
            <a:r>
              <a:t>MLflow rasmiy hujjatlari: https://mlflow.org/docs/latest/</a:t>
            </a:r>
          </a:p>
          <a:p/>
          <a:p>
            <a:r>
              <a:t>Evidently AI rasmiy hujjatlari: https://docs.evidentlyai.com</a:t>
            </a:r>
          </a:p>
          <a:p/>
          <a:p>
            <a:r>
              <a:t>GitHub Actions rasmiy hujjatlari: https://docs.github.com/en/actions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Amershi, S., Begel, A., Bird, C., DeLine, R., Gall, H., Kamar, E., Nagappan, N., Nushi, B., &amp; Zimmermann, T. Machine Learning Engineering. MIT Press, 2025.</a:t>
            </a:r>
          </a:p>
          <a:p/>
          <a:p>
            <a:r>
              <a:t>[2] Kneusel, R. T. Artificial Intelligence Engineering: A Practical Guide for AI Applications. No Starch Press, 2023.</a:t>
            </a:r>
          </a:p>
          <a:p/>
          <a:p>
            <a:r>
              <a:t>[9] Kubernetes rasmiy hujjatlari — https://kubernetes.io (Deployment, Service, CronJob, HorizontalPodAutoscaler).</a:t>
            </a:r>
          </a:p>
          <a:p/>
          <a:p>
            <a:r>
              <a:t>[7] PyTorch rasmiy hujjatlari — https://pytorch.org (takrorlanuvchanlik, TorchServe).</a:t>
            </a:r>
          </a:p>
          <a:p/>
          <a:p>
            <a:r>
              <a:t>[10] ONNX rasmiy hujjatlari — https://onnx.ai (freymvorkdan mustaqil model formati va joylashtirish).</a:t>
            </a:r>
          </a:p>
          <a:p/>
          <a:p>
            <a:r>
              <a:t>Sculley, D., Holt, G., Golovin, D. va boshq. Hidden Technical Debt in Machine Learning Systems. NeurIPS 2015.</a:t>
            </a:r>
          </a:p>
          <a:p/>
          <a:p>
            <a:r>
              <a:t>Breck, E., Cai, S., Nielsen, E., Salib, M., &amp; Sculley, D. The ML Test Score: A Rubric for ML Production Readiness and Technical Debt Reduction. IEEE Big Data, 2017.</a:t>
            </a:r>
          </a:p>
          <a:p/>
          <a:p>
            <a:r>
              <a:t>Google Cloud Architecture Center. MLOps: Continuous delivery and automation pipelines in machine learning. https://cloud.google.com/architecture/mlops-continuous-delivery-and-automation-pipelines-in-machine-learning</a:t>
            </a:r>
          </a:p>
          <a:p/>
          <a:p>
            <a:r>
              <a:t>Kreuzberger, D., Kühl, N., &amp; Hirschl, S. Machine Learning Operations (MLOps): Overview, Definition, and Architecture. IEEE Access, 2023. arXiv:2205.02302.</a:t>
            </a:r>
          </a:p>
          <a:p/>
          <a:p>
            <a:r>
              <a:t>MLflow rasmiy hujjatlari: https://mlflow.org/docs/latest/</a:t>
            </a:r>
          </a:p>
          <a:p/>
          <a:p>
            <a:r>
              <a:t>Evidently AI rasmiy hujjatlari: https://docs.evidentlyai.com</a:t>
            </a:r>
          </a:p>
          <a:p/>
          <a:p>
            <a:r>
              <a:t>GitHub Actions rasmiy hujjatlari: https://docs.github.com/en/actions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M12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Ekspluatatsiya qilish texnologiyalari (MLOps)</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Mavzuning maqsadi — sun'iy intellekt modelini laboratoriya natijasidan ishonchli, kuzatiladigan va uzluksiz yangilanadigan ishlab chiqarish xizmatiga aylantiruvchi muhandislik amaliyotlari…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 o'zlashtirgach talaba: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MLOps konsepsiyasini, uning DevOps'dan farqlarini va yetuklik darajalarini (qo'lda jarayon, avtomatlashtirilgan o'qitish konveyeri, to'liq CI/CD/CT) tavsiflay oladi hamda ML tizimlaridagi…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Eksperimentlarni kuzatish va model reestri (Model Registry) vositalaridan (MLflow) foydalanib, model hayot siklini — versiya, kelib chiqish (lineage), bosqich, tasdiqlash — boshqara oladi.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ML loyihasi uchun CI/CD konveyerini (GitHub Actions) loyihalay oladi: kod, ma'lumot va model testlari, konteyner yig'ish, avtomatik joylashtirish, uzluksiz o'qitish (continuous training,…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Model joylashtirish (deployment) strategiyalarini — partiyali, onlayn, oqimli, chekka; ko'k-yashil, kanareyka, soya rejimi — taqqoslab, Kubernetes'da amalga oshira oladi.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Ishlab chiqarishdagi modelni kuzatish (monitoring) tizimini qura oladi: operatsion va sifat ko'rsatkichlari, ma'lumot va konsepsiya siljishini (drift) statistik testlar va Evidently…</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AI infratuzilmasini kod sifatida (Infrastructure as Code) avtomatlashtirish tamoyillarini — Terraform, Kubernetes operatorlari, GitOps — tushuntira oladi.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Mavzu fanning TN6 (AI xizmatlarini ekspluatatsiya qilish va boshqarish) va TN3 (tizimlarni loyihalash) natijalariga bevosita xizmat qiladi; A4 va A7 amaliy mashg'ulotlari hamda 1-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2015-yilda Google muhandislari Sculley va hamkasblari «Hidden Technical Debt in Machine Learning Systems» maqolasida mashhur rasmni keltirdilar: ishlab chiqarish ML tizimida modelning o'zi — kichik qora kvadrat, uning atrofida esa ma'lumot yig'ish,…</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statistikasi muammoning ko'lamini ko'rsatadi: turli so'rovnomalarga ko'ra, ML modellarining sezilarli qismi hech qachon ishlab chiqarishga yetmaydi, yetib borganlarining ham ko'pchiligi muntazam yangilanmaydi. Sabab oddiy: ma'lumotlar olimining…</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ML tizimining o'ziga xosligi shundaki, u uch o'qda o'zgaradi: kod, ma'lumot va model. An'anaviy DevOps faqat kodni versiyalaydi va testlaydi.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MLOps konsepsiyasi va yetuklik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MLOps — ML tizimlarini ishlab chiqish (Dev) va ekspluatatsiya qilish (Ops) o'rtasidagi devorni yo'qotuvchi, avtomatlashtirish, monitoring va hamkorlikka asoslangan amaliyotlar to'plami. Uning asosiy tamoyillari: hamma narsa versiyalanadi (kod, ma'lumot,…</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Google Cloud'ning keng tarqalgan tasnifi uch yetuklik darajasini ajratadi. 0-daraja — qo'lda jarayon: ma'lumotlar olimi daftarda model o'qitadi, og'irliklar faylini muhandisga beradi, u qo'lda joylashtiradi; o'qitish va joylashtirish o'rtasida haftalar,…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MLOps konsepsiyasi va yetuklik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Jihat</a:t>
                      </a:r>
                    </a:p>
                  </a:txBody>
                  <a:tcPr>
                    <a:solidFill>
                      <a:srgbClr val="2D5C8F"/>
                    </a:solidFill>
                  </a:tcPr>
                </a:tc>
                <a:tc>
                  <a:txBody>
                    <a:bodyPr/>
                    <a:lstStyle/>
                    <a:p>
                      <a:r>
                        <a:rPr sz="1200" b="1">
                          <a:solidFill>
                            <a:srgbClr val="FFFFFF"/>
                          </a:solidFill>
                          <a:latin typeface="Calibri"/>
                        </a:rPr>
                        <a:t>DevOps</a:t>
                      </a:r>
                    </a:p>
                  </a:txBody>
                  <a:tcPr>
                    <a:solidFill>
                      <a:srgbClr val="2D5C8F"/>
                    </a:solidFill>
                  </a:tcPr>
                </a:tc>
                <a:tc>
                  <a:txBody>
                    <a:bodyPr/>
                    <a:lstStyle/>
                    <a:p>
                      <a:r>
                        <a:rPr sz="1200" b="1">
                          <a:solidFill>
                            <a:srgbClr val="FFFFFF"/>
                          </a:solidFill>
                          <a:latin typeface="Calibri"/>
                        </a:rPr>
                        <a:t>MLOps qo'shimchasi</a:t>
                      </a:r>
                    </a:p>
                  </a:txBody>
                  <a:tcPr>
                    <a:solidFill>
                      <a:srgbClr val="2D5C8F"/>
                    </a:solidFill>
                  </a:tcPr>
                </a:tc>
              </a:tr>
              <a:tr h="520000">
                <a:tc>
                  <a:txBody>
                    <a:bodyPr/>
                    <a:lstStyle/>
                    <a:p>
                      <a:r>
                        <a:rPr sz="1200" b="0">
                          <a:solidFill>
                            <a:srgbClr val="1B2430"/>
                          </a:solidFill>
                          <a:latin typeface="Calibri"/>
                        </a:rPr>
                        <a:t>Versiyalash</a:t>
                      </a:r>
                    </a:p>
                  </a:txBody>
                  <a:tcPr>
                    <a:solidFill>
                      <a:srgbClr val="F1F4F8"/>
                    </a:solidFill>
                  </a:tcPr>
                </a:tc>
                <a:tc>
                  <a:txBody>
                    <a:bodyPr/>
                    <a:lstStyle/>
                    <a:p>
                      <a:r>
                        <a:rPr sz="1200" b="0">
                          <a:solidFill>
                            <a:srgbClr val="1B2430"/>
                          </a:solidFill>
                          <a:latin typeface="Calibri"/>
                        </a:rPr>
                        <a:t>Kod (Git)</a:t>
                      </a:r>
                    </a:p>
                  </a:txBody>
                  <a:tcPr>
                    <a:solidFill>
                      <a:srgbClr val="F1F4F8"/>
                    </a:solidFill>
                  </a:tcPr>
                </a:tc>
                <a:tc>
                  <a:txBody>
                    <a:bodyPr/>
                    <a:lstStyle/>
                    <a:p>
                      <a:r>
                        <a:rPr sz="1200" b="0">
                          <a:solidFill>
                            <a:srgbClr val="1B2430"/>
                          </a:solidFill>
                          <a:latin typeface="Calibri"/>
                        </a:rPr>
                        <a:t>+ ma'lumot (DVC, LakeFS), + model (reestr), + muhit</a:t>
                      </a:r>
                    </a:p>
                  </a:txBody>
                  <a:tcPr>
                    <a:solidFill>
                      <a:srgbClr val="F1F4F8"/>
                    </a:solidFill>
                  </a:tcPr>
                </a:tc>
              </a:tr>
              <a:tr h="520000">
                <a:tc>
                  <a:txBody>
                    <a:bodyPr/>
                    <a:lstStyle/>
                    <a:p>
                      <a:r>
                        <a:rPr sz="1200" b="0">
                          <a:solidFill>
                            <a:srgbClr val="1B2430"/>
                          </a:solidFill>
                          <a:latin typeface="Calibri"/>
                        </a:rPr>
                        <a:t>Test</a:t>
                      </a:r>
                    </a:p>
                  </a:txBody>
                  <a:tcPr>
                    <a:solidFill>
                      <a:srgbClr val="FFFFFF"/>
                    </a:solidFill>
                  </a:tcPr>
                </a:tc>
                <a:tc>
                  <a:txBody>
                    <a:bodyPr/>
                    <a:lstStyle/>
                    <a:p>
                      <a:r>
                        <a:rPr sz="1200" b="0">
                          <a:solidFill>
                            <a:srgbClr val="1B2430"/>
                          </a:solidFill>
                          <a:latin typeface="Calibri"/>
                        </a:rPr>
                        <a:t>Birlik, integratsiya</a:t>
                      </a:r>
                    </a:p>
                  </a:txBody>
                  <a:tcPr>
                    <a:solidFill>
                      <a:srgbClr val="FFFFFF"/>
                    </a:solidFill>
                  </a:tcPr>
                </a:tc>
                <a:tc>
                  <a:txBody>
                    <a:bodyPr/>
                    <a:lstStyle/>
                    <a:p>
                      <a:r>
                        <a:rPr sz="1200" b="0">
                          <a:solidFill>
                            <a:srgbClr val="1B2430"/>
                          </a:solidFill>
                          <a:latin typeface="Calibri"/>
                        </a:rPr>
                        <a:t>+ ma'lumot sxemasi/taqsimoti, + model sifati chegaralari, + adolatlilik, + unumdorlik</a:t>
                      </a:r>
                    </a:p>
                  </a:txBody>
                  <a:tcPr>
                    <a:solidFill>
                      <a:srgbClr val="FFFFFF"/>
                    </a:solidFill>
                  </a:tcPr>
                </a:tc>
              </a:tr>
              <a:tr h="520000">
                <a:tc>
                  <a:txBody>
                    <a:bodyPr/>
                    <a:lstStyle/>
                    <a:p>
                      <a:r>
                        <a:rPr sz="1200" b="0">
                          <a:solidFill>
                            <a:srgbClr val="1B2430"/>
                          </a:solidFill>
                          <a:latin typeface="Calibri"/>
                        </a:rPr>
                        <a:t>CI/CD</a:t>
                      </a:r>
                    </a:p>
                  </a:txBody>
                  <a:tcPr>
                    <a:solidFill>
                      <a:srgbClr val="F1F4F8"/>
                    </a:solidFill>
                  </a:tcPr>
                </a:tc>
                <a:tc>
                  <a:txBody>
                    <a:bodyPr/>
                    <a:lstStyle/>
                    <a:p>
                      <a:r>
                        <a:rPr sz="1200" b="0">
                          <a:solidFill>
                            <a:srgbClr val="1B2430"/>
                          </a:solidFill>
                          <a:latin typeface="Calibri"/>
                        </a:rPr>
                        <a:t>Yig'ish, test, joylashtirish</a:t>
                      </a:r>
                    </a:p>
                  </a:txBody>
                  <a:tcPr>
                    <a:solidFill>
                      <a:srgbClr val="F1F4F8"/>
                    </a:solidFill>
                  </a:tcPr>
                </a:tc>
                <a:tc>
                  <a:txBody>
                    <a:bodyPr/>
                    <a:lstStyle/>
                    <a:p>
                      <a:r>
                        <a:rPr sz="1200" b="0">
                          <a:solidFill>
                            <a:srgbClr val="1B2430"/>
                          </a:solidFill>
                          <a:latin typeface="Calibri"/>
                        </a:rPr>
                        <a:t>+ CT (qayta o'qitish), + model validatsiyasi darvozasi</a:t>
                      </a:r>
                    </a:p>
                  </a:txBody>
                  <a:tcPr>
                    <a:solidFill>
                      <a:srgbClr val="F1F4F8"/>
                    </a:solidFill>
                  </a:tcPr>
                </a:tc>
              </a:tr>
              <a:tr h="520000">
                <a:tc>
                  <a:txBody>
                    <a:bodyPr/>
                    <a:lstStyle/>
                    <a:p>
                      <a:r>
                        <a:rPr sz="1200" b="0">
                          <a:solidFill>
                            <a:srgbClr val="1B2430"/>
                          </a:solidFill>
                          <a:latin typeface="Calibri"/>
                        </a:rPr>
                        <a:t>Monitoring</a:t>
                      </a:r>
                    </a:p>
                  </a:txBody>
                  <a:tcPr>
                    <a:solidFill>
                      <a:srgbClr val="FFFFFF"/>
                    </a:solidFill>
                  </a:tcPr>
                </a:tc>
                <a:tc>
                  <a:txBody>
                    <a:bodyPr/>
                    <a:lstStyle/>
                    <a:p>
                      <a:r>
                        <a:rPr sz="1200" b="0">
                          <a:solidFill>
                            <a:srgbClr val="1B2430"/>
                          </a:solidFill>
                          <a:latin typeface="Calibri"/>
                        </a:rPr>
                        <a:t>CPU, xotira, xatolar, kechikish</a:t>
                      </a:r>
                    </a:p>
                  </a:txBody>
                  <a:tcPr>
                    <a:solidFill>
                      <a:srgbClr val="FFFFFF"/>
                    </a:solidFill>
                  </a:tcPr>
                </a:tc>
                <a:tc>
                  <a:txBody>
                    <a:bodyPr/>
                    <a:lstStyle/>
                    <a:p>
                      <a:r>
                        <a:rPr sz="1200" b="0">
                          <a:solidFill>
                            <a:srgbClr val="1B2430"/>
                          </a:solidFill>
                          <a:latin typeface="Calibri"/>
                        </a:rPr>
                        <a:t>+ ma'lumot/konsepsiya siljishi, + bashorat sifati, + kechikkan yorliqlar</a:t>
                      </a:r>
                    </a:p>
                  </a:txBody>
                  <a:tcPr>
                    <a:solidFill>
                      <a:srgbClr val="FFFFFF"/>
                    </a:solidFill>
                  </a:tcPr>
                </a:tc>
              </a:tr>
              <a:tr h="520000">
                <a:tc>
                  <a:txBody>
                    <a:bodyPr/>
                    <a:lstStyle/>
                    <a:p>
                      <a:r>
                        <a:rPr sz="1200" b="0">
                          <a:solidFill>
                            <a:srgbClr val="1B2430"/>
                          </a:solidFill>
                          <a:latin typeface="Calibri"/>
                        </a:rPr>
                        <a:t>Jamoa</a:t>
                      </a:r>
                    </a:p>
                  </a:txBody>
                  <a:tcPr>
                    <a:solidFill>
                      <a:srgbClr val="F1F4F8"/>
                    </a:solidFill>
                  </a:tcPr>
                </a:tc>
                <a:tc>
                  <a:txBody>
                    <a:bodyPr/>
                    <a:lstStyle/>
                    <a:p>
                      <a:r>
                        <a:rPr sz="1200" b="0">
                          <a:solidFill>
                            <a:srgbClr val="1B2430"/>
                          </a:solidFill>
                          <a:latin typeface="Calibri"/>
                        </a:rPr>
                        <a:t>Dasturchi + operatsiya</a:t>
                      </a:r>
                    </a:p>
                  </a:txBody>
                  <a:tcPr>
                    <a:solidFill>
                      <a:srgbClr val="F1F4F8"/>
                    </a:solidFill>
                  </a:tcPr>
                </a:tc>
                <a:tc>
                  <a:txBody>
                    <a:bodyPr/>
                    <a:lstStyle/>
                    <a:p>
                      <a:r>
                        <a:rPr sz="1200" b="0">
                          <a:solidFill>
                            <a:srgbClr val="1B2430"/>
                          </a:solidFill>
                          <a:latin typeface="Calibri"/>
                        </a:rPr>
                        <a:t>+ ma'lumotlar olimi + ma'lumot muhandisi + domen eksperti</a:t>
                      </a:r>
                    </a:p>
                  </a:txBody>
                  <a:tcPr>
                    <a:solidFill>
                      <a:srgbClr val="F1F4F8"/>
                    </a:solidFill>
                  </a:tcPr>
                </a:tc>
              </a:tr>
              <a:tr h="520000">
                <a:tc>
                  <a:txBody>
                    <a:bodyPr/>
                    <a:lstStyle/>
                    <a:p>
                      <a:r>
                        <a:rPr sz="1200" b="0">
                          <a:solidFill>
                            <a:srgbClr val="1B2430"/>
                          </a:solidFill>
                          <a:latin typeface="Calibri"/>
                        </a:rPr>
                        <a:t>Artefakt</a:t>
                      </a:r>
                    </a:p>
                  </a:txBody>
                  <a:tcPr>
                    <a:solidFill>
                      <a:srgbClr val="FFFFFF"/>
                    </a:solidFill>
                  </a:tcPr>
                </a:tc>
                <a:tc>
                  <a:txBody>
                    <a:bodyPr/>
                    <a:lstStyle/>
                    <a:p>
                      <a:r>
                        <a:rPr sz="1200" b="0">
                          <a:solidFill>
                            <a:srgbClr val="1B2430"/>
                          </a:solidFill>
                          <a:latin typeface="Calibri"/>
                        </a:rPr>
                        <a:t>Konteyner obrazi</a:t>
                      </a:r>
                    </a:p>
                  </a:txBody>
                  <a:tcPr>
                    <a:solidFill>
                      <a:srgbClr val="FFFFFF"/>
                    </a:solidFill>
                  </a:tcPr>
                </a:tc>
                <a:tc>
                  <a:txBody>
                    <a:bodyPr/>
                    <a:lstStyle/>
                    <a:p>
                      <a:r>
                        <a:rPr sz="1200" b="0">
                          <a:solidFill>
                            <a:srgbClr val="1B2430"/>
                          </a:solidFill>
                          <a:latin typeface="Calibri"/>
                        </a:rPr>
                        <a:t>Konteyner + model fayli + xususiyatlar ta'rifi + ma'lumot versiyasi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Eksperimentlarni kuzatish va Model Registry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Model reestri (Model Registry) — o'qitilgan modellarning markazlashgan, versiyalangan ombori bo'lib, har model uchun uning kelib chiqishini (lineage: qaysi kod commit'i, qaysi ma'lumot versiyasi, qaysi giperparametrlar, qaysi muhit), baholash…</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MLflow — eng keng tarqalgan ochiq vosita; u to'rt komponentdan iborat. Tracking — har o'qitish ishga tushirilishi (run) uchun parametrlar, metrikalar (vaqt bo'yicha), artefaktlar va teglar yoziladi, veb-interfeysda solishtiriladi.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Model reestriga «model kartasi» (model card) ham biriktiriladi — modelning maqsadi, o'qitish ma'lumotlari, baholash natijalari (jumladan, kichik guruhlar bo'yicha), cheklovlari va etik…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CI/CD va uzluksiz o'qitish (CT)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ML loyihasida uzluksiz integratsiya kod testlaridan ancha keng. Breck va hamkasblarining «ML Test Score» (Google, 2017) ro'yxati to'rt guruhni ajratadi: ma'lumot testlari (xususiyat taqsimoti kutilganga mos, sxema buzilmagan, maxfiy xususiyatlar yo'q,…</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Uzluksiz yetkazish ML'da «model validatsiyasi darvozasi» bilan to'ldiriladi: yangi model avtomatik ravishda ishlab chiqarishga chiqmaydi, u oldin joriy «chempion» bilan bir xil test to'plamida solishtiriladi, kichik guruhlar bo'yicha sifati tekshiriladi,…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Model Deployment: rejimlar va strategiyalar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Joylashtirish rejimi ish yukiga qarab tanlanadi. Partiyali inferens (batch): model jadval bo'yicha katta to'plamda bashorat qiladi, natija bazaga yoziladi — tavsiyalar, risk skoringi; eng oddiy, kechikish talabi yo'q, GPU to'liq yuklanadi.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Onlayn xizmat ko'rsatish uchun vositalar: oddiy FastAPI/Flask ilovasi (to'liq nazorat, kichik yuk uchun yetarli), TorchServe va TensorFlow Serving (freymvorkka xos, versiyalash va partiyalash bilan), NVIDIA Triton Inference Server (ko'p freymvork, dinamik…</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Yangi versiyani chiqarish strategiyalari xavfni boshqaradi. Qayta yaratish (recreate): eski to'xtatiladi, yangi ishga tushadi — to'xtash vaqti bor.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Monitoring va Drift Detection</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Ishlab chiqarishdagi model uch qatlamda kuzatiladi.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Siljish (drift) turlari: ma'lumot siljishi (data drift, covariate shift) — kirish taqsimoti P(X) o'zgaradi, bog'liqlik P(Y|X) o'zgarmaydi (yangi mintaqadan foydalanuvchilar); konsepsiya…</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Aniqlash usullari — mos yozuvlar (reference, odatda o'qitish yoki validatsiya to'plami) va joriy oyna (current, oxirgi kun/hafta) taqsimotlarini statistik solishtirish.</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Siljish aniqlangach nima qilish kerak — bu ham loyihalash qarori: ogohlantirish va inson tahlili; avtomatik qayta o'qitish (CT trigger); zaxira modelga yoki qoidaga o'tish; bashoratga…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Infratuzilmani avtomatlashtirish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AI infratuzilmasi — GPU tugunlari, klaster, saqlash, tarmoq, reestr, monitoring — ham kod sifatida boshqarilishi kerak (Infrastructure as Code, IaC). Terraform yoki Pulumi bulut resurslarini (GPU instanslar, Kubernetes klaster, obyekt saqlash, IAM rollari)…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Misolda biz tasniflash modelining to'liq MLOps siklini kichik, lekin haqiqiy vositalarda quramiz: MLflow bilan eksperimentlar va reestr, pytest testlari va GitHub Actions CI, Docker + FastAPI inferens xizmati va Kubernetes kanareyka joylashtirish, Prometheus…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O'qitish skripti MLflow tracking bilan</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har ishga tushirish parametrlar, metrikalar (jumladan kichik guruhlar bo'yicha F1 — adolatlilik darvozasi uchun), Git commit tegi va modelning o'zi bilan MLflow serveriga yoziladi; infer_signature kirish-chiqish sxemasini saqlaydi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O'qitish skripti MLflow tracking bilan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train.py</a:t>
            </a:r>
          </a:p>
          <a:p>
            <a:r>
              <a:rPr sz="1000">
                <a:solidFill>
                  <a:srgbClr val="E2E8F0"/>
                </a:solidFill>
                <a:latin typeface="Consolas"/>
              </a:rPr>
              <a:t>import mlflow, mlflow.sklearn, pandas as pd, numpy as np, json, sys</a:t>
            </a:r>
          </a:p>
          <a:p>
            <a:r>
              <a:rPr sz="1000">
                <a:solidFill>
                  <a:srgbClr val="E2E8F0"/>
                </a:solidFill>
                <a:latin typeface="Consolas"/>
              </a:rPr>
              <a:t>from sklearn.datasets import fetch_openml</a:t>
            </a:r>
          </a:p>
          <a:p>
            <a:r>
              <a:rPr sz="1000">
                <a:solidFill>
                  <a:srgbClr val="E2E8F0"/>
                </a:solidFill>
                <a:latin typeface="Consolas"/>
              </a:rPr>
              <a:t>from sklearn.model_selection import train_test_split</a:t>
            </a:r>
          </a:p>
          <a:p>
            <a:r>
              <a:rPr sz="1000">
                <a:solidFill>
                  <a:srgbClr val="E2E8F0"/>
                </a:solidFill>
                <a:latin typeface="Consolas"/>
              </a:rPr>
              <a:t>from sklearn.ensemble import HistGradientBoostingClassifier</a:t>
            </a:r>
          </a:p>
          <a:p>
            <a:r>
              <a:rPr sz="1000">
                <a:solidFill>
                  <a:srgbClr val="E2E8F0"/>
                </a:solidFill>
                <a:latin typeface="Consolas"/>
              </a:rPr>
              <a:t>from sklearn.metrics import roc_auc_score, f1_score</a:t>
            </a:r>
          </a:p>
          <a:p>
            <a:r>
              <a:rPr sz="1000">
                <a:solidFill>
                  <a:srgbClr val="E2E8F0"/>
                </a:solidFill>
                <a:latin typeface="Consolas"/>
              </a:rPr>
              <a:t>from mlflow.models import infer_signature</a:t>
            </a:r>
          </a:p>
          <a:p>
            <a:r>
              <a:rPr sz="1000">
                <a:solidFill>
                  <a:srgbClr val="E2E8F0"/>
                </a:solidFill>
                <a:latin typeface="Consolas"/>
              </a:rPr>
              <a:t> </a:t>
            </a:r>
          </a:p>
          <a:p>
            <a:r>
              <a:rPr sz="1000">
                <a:solidFill>
                  <a:srgbClr val="E2E8F0"/>
                </a:solidFill>
                <a:latin typeface="Consolas"/>
              </a:rPr>
              <a:t>mlflow.set_tracking_uri("http://mlflow:5000")       # yoki sqlite:///mlflow.db lokal uchun</a:t>
            </a:r>
          </a:p>
          <a:p>
            <a:r>
              <a:rPr sz="1000">
                <a:solidFill>
                  <a:srgbClr val="E2E8F0"/>
                </a:solidFill>
                <a:latin typeface="Consolas"/>
              </a:rPr>
              <a:t>mlflow.set_experiment("income-clf")</a:t>
            </a:r>
          </a:p>
          <a:p>
            <a:r>
              <a:rPr sz="1000">
                <a:solidFill>
                  <a:srgbClr val="E2E8F0"/>
                </a:solidFill>
                <a:latin typeface="Consolas"/>
              </a:rPr>
              <a:t> </a:t>
            </a:r>
          </a:p>
          <a:p>
            <a:r>
              <a:rPr sz="1000">
                <a:solidFill>
                  <a:srgbClr val="E2E8F0"/>
                </a:solidFill>
                <a:latin typeface="Consolas"/>
              </a:rPr>
              <a:t>data = fetch_openml("adult", version=2, as_frame=True)</a:t>
            </a:r>
          </a:p>
          <a:p>
            <a:r>
              <a:rPr sz="1000">
                <a:solidFill>
                  <a:srgbClr val="E2E8F0"/>
                </a:solidFill>
                <a:latin typeface="Consolas"/>
              </a:rPr>
              <a:t>X = data.frame.drop(columns=["class"]); y = (data.frame["class"] == "&gt;50K").astype(int)</a:t>
            </a:r>
          </a:p>
          <a:p>
            <a:r>
              <a:rPr sz="1000">
                <a:solidFill>
                  <a:srgbClr val="E2E8F0"/>
                </a:solidFill>
                <a:latin typeface="Consolas"/>
              </a:rPr>
              <a:t>for c in X.select_dtypes("category"): X[c] = X[c].cat.codes</a:t>
            </a:r>
          </a:p>
          <a:p>
            <a:r>
              <a:rPr sz="1000">
                <a:solidFill>
                  <a:srgbClr val="E2E8F0"/>
                </a:solidFill>
                <a:latin typeface="Consolas"/>
              </a:rPr>
              <a:t>Xtr, Xte, ytr, yte = train_test_split(X, y, test_size=0.2, random_state=42, stratify=y)</a:t>
            </a:r>
          </a:p>
          <a:p>
            <a:r>
              <a:rPr sz="1000">
                <a:solidFill>
                  <a:srgbClr val="E2E8F0"/>
                </a:solidFill>
                <a:latin typeface="Consolas"/>
              </a:rPr>
              <a:t>Xtr.to_parquet("reference.parquet")                 # drift uchun mos yozuvlar to'plami</a:t>
            </a:r>
          </a:p>
          <a:p>
            <a:r>
              <a:rPr sz="1000">
                <a:solidFill>
                  <a:srgbClr val="E2E8F0"/>
                </a:solidFill>
                <a:latin typeface="Consolas"/>
              </a:rPr>
              <a:t> </a:t>
            </a:r>
          </a:p>
          <a:p>
            <a:r>
              <a:rPr sz="1000">
                <a:solidFill>
                  <a:srgbClr val="E2E8F0"/>
                </a:solidFill>
                <a:latin typeface="Consolas"/>
              </a:rPr>
              <a:t>params = {"max_iter": 300, "learning_rate": 0.08, "max_leaf_nodes": 31, "random_state": 42}</a:t>
            </a:r>
          </a:p>
          <a:p>
            <a:r>
              <a:rPr sz="1000">
                <a:solidFill>
                  <a:srgbClr val="E2E8F0"/>
                </a:solidFill>
                <a:latin typeface="Consolas"/>
              </a:rPr>
              <a:t>with mlflow.start_run() as run:</a:t>
            </a:r>
          </a:p>
          <a:p>
            <a:r>
              <a:rPr sz="1000">
                <a:solidFill>
                  <a:srgbClr val="E2E8F0"/>
                </a:solidFill>
                <a:latin typeface="Consolas"/>
              </a:rPr>
              <a:t>    mlflow.log_params(params); mlflow.set_tag("git_sha", sys.argv[1] if len(sys.argv) &gt; 1 else "local")</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Reestrda versiyani boshqarish va validatsiya darvozasi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yangi versiya avtomatik «ishlab chiqarish»ga chiqmaydi — u joriy chempion bilan solishtiriladi (0,002 AUC chidamlilik tasodifiy tebranish uchun), minimal F1 va kichik guruhlar orasidagi F1 farqi chegarasidan o'tishi kerak. O'tsa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Reestrda versiyani boshqarish va validatsiya darvozasi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promote.py — yangi versiyani chempion bilan solishtirib, alias beradi</a:t>
            </a:r>
          </a:p>
          <a:p>
            <a:r>
              <a:rPr sz="1000">
                <a:solidFill>
                  <a:srgbClr val="E2E8F0"/>
                </a:solidFill>
                <a:latin typeface="Consolas"/>
              </a:rPr>
              <a:t>from mlflow import MlflowClient</a:t>
            </a:r>
          </a:p>
          <a:p>
            <a:r>
              <a:rPr sz="1000">
                <a:solidFill>
                  <a:srgbClr val="E2E8F0"/>
                </a:solidFill>
                <a:latin typeface="Consolas"/>
              </a:rPr>
              <a:t>import json</a:t>
            </a:r>
          </a:p>
          <a:p>
            <a:r>
              <a:rPr sz="1000">
                <a:solidFill>
                  <a:srgbClr val="E2E8F0"/>
                </a:solidFill>
                <a:latin typeface="Consolas"/>
              </a:rPr>
              <a:t>c = MlflowClient(tracking_uri="http://mlflow:5000"); name = "income-clf"</a:t>
            </a:r>
          </a:p>
          <a:p>
            <a:r>
              <a:rPr sz="1000">
                <a:solidFill>
                  <a:srgbClr val="E2E8F0"/>
                </a:solidFill>
                <a:latin typeface="Consolas"/>
              </a:rPr>
              <a:t>new = c.get_latest_versions(name)[0]                    # eng so'nggi versiya</a:t>
            </a:r>
          </a:p>
          <a:p>
            <a:r>
              <a:rPr sz="1000">
                <a:solidFill>
                  <a:srgbClr val="E2E8F0"/>
                </a:solidFill>
                <a:latin typeface="Consolas"/>
              </a:rPr>
              <a:t>new_m = c.get_run(new.run_id).data.metrics</a:t>
            </a:r>
          </a:p>
          <a:p>
            <a:r>
              <a:rPr sz="1000">
                <a:solidFill>
                  <a:srgbClr val="E2E8F0"/>
                </a:solidFill>
                <a:latin typeface="Consolas"/>
              </a:rPr>
              <a:t>try:</a:t>
            </a:r>
          </a:p>
          <a:p>
            <a:r>
              <a:rPr sz="1000">
                <a:solidFill>
                  <a:srgbClr val="E2E8F0"/>
                </a:solidFill>
                <a:latin typeface="Consolas"/>
              </a:rPr>
              <a:t>    champ = c.get_model_version_by_alias(name, "champion")</a:t>
            </a:r>
          </a:p>
          <a:p>
            <a:r>
              <a:rPr sz="1000">
                <a:solidFill>
                  <a:srgbClr val="E2E8F0"/>
                </a:solidFill>
                <a:latin typeface="Consolas"/>
              </a:rPr>
              <a:t>    champ_m = c.get_run(champ.run_id).data.metrics</a:t>
            </a:r>
          </a:p>
          <a:p>
            <a:r>
              <a:rPr sz="1000">
                <a:solidFill>
                  <a:srgbClr val="E2E8F0"/>
                </a:solidFill>
                <a:latin typeface="Consolas"/>
              </a:rPr>
              <a:t>except Exception:</a:t>
            </a:r>
          </a:p>
          <a:p>
            <a:r>
              <a:rPr sz="1000">
                <a:solidFill>
                  <a:srgbClr val="E2E8F0"/>
                </a:solidFill>
                <a:latin typeface="Consolas"/>
              </a:rPr>
              <a:t>    champ_m = {"auc": 0.0, "f1": 0.0}</a:t>
            </a:r>
          </a:p>
          <a:p>
            <a:r>
              <a:rPr sz="1000">
                <a:solidFill>
                  <a:srgbClr val="E2E8F0"/>
                </a:solidFill>
                <a:latin typeface="Consolas"/>
              </a:rPr>
              <a:t>ok = (new_m["auc"] &gt;= champ_m["auc"] - 0.002 and new_m["f1"] &gt;= 0.68</a:t>
            </a:r>
          </a:p>
          <a:p>
            <a:r>
              <a:rPr sz="1000">
                <a:solidFill>
                  <a:srgbClr val="E2E8F0"/>
                </a:solidFill>
                <a:latin typeface="Consolas"/>
              </a:rPr>
              <a:t>      and abs(new_m["f1_sex_0"] - new_m["f1_sex_1"]) &lt; 0.10)   # adolatlilik chegarasi</a:t>
            </a:r>
          </a:p>
          <a:p>
            <a:r>
              <a:rPr sz="1000">
                <a:solidFill>
                  <a:srgbClr val="E2E8F0"/>
                </a:solidFill>
                <a:latin typeface="Consolas"/>
              </a:rPr>
              <a:t>print("Yangi:", new_m, "\nChempion:", champ_m, "\nDarvoza:", ok)</a:t>
            </a:r>
          </a:p>
          <a:p>
            <a:r>
              <a:rPr sz="1000">
                <a:solidFill>
                  <a:srgbClr val="E2E8F0"/>
                </a:solidFill>
                <a:latin typeface="Consolas"/>
              </a:rPr>
              <a:t>if ok:</a:t>
            </a:r>
          </a:p>
          <a:p>
            <a:r>
              <a:rPr sz="1000">
                <a:solidFill>
                  <a:srgbClr val="E2E8F0"/>
                </a:solidFill>
                <a:latin typeface="Consolas"/>
              </a:rPr>
              <a:t>    c.set_registered_model_alias(name, "challenger", new.version)</a:t>
            </a:r>
          </a:p>
          <a:p>
            <a:r>
              <a:rPr sz="1000">
                <a:solidFill>
                  <a:srgbClr val="E2E8F0"/>
                </a:solidFill>
                <a:latin typeface="Consolas"/>
              </a:rPr>
              <a:t>    c.update_model_version(name, new.version, description="CI validatsiyadan o'tdi; kanareyka kutmoqda")</a:t>
            </a:r>
          </a:p>
          <a:p>
            <a:r>
              <a:rPr sz="1000">
                <a:solidFill>
                  <a:srgbClr val="E2E8F0"/>
                </a:solidFill>
                <a:latin typeface="Consolas"/>
              </a:rPr>
              <a:t>else:</a:t>
            </a:r>
          </a:p>
          <a:p>
            <a:r>
              <a:rPr sz="1000">
                <a:solidFill>
                  <a:srgbClr val="E2E8F0"/>
                </a:solidFill>
                <a:latin typeface="Consolas"/>
              </a:rPr>
              <a:t>    raise SystemExit("Model validatsiya darvozasidan o'tmadi")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Testlar va GitHub Actions CI konveyeri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konveyer har push, pull request va har kecha soat 2 da (CT jadvali) ishga tushadi. Bosqichlar: MLflow xizmat konteyneri ko'tariladi, o'qitish bajariladi, to'rt turdagi test — ma'lumot sxemasi (Pandera), sifat chegarasi,…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Testlar va GitHub Actions CI konveyeri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tests/test_pipeline.py</a:t>
            </a:r>
          </a:p>
          <a:p>
            <a:r>
              <a:rPr sz="1000">
                <a:solidFill>
                  <a:srgbClr val="E2E8F0"/>
                </a:solidFill>
                <a:latin typeface="Consolas"/>
              </a:rPr>
              <a:t>import pandas as pd, numpy as np, pandera as pa, json, subprocess</a:t>
            </a:r>
          </a:p>
          <a:p>
            <a:r>
              <a:rPr sz="1000">
                <a:solidFill>
                  <a:srgbClr val="E2E8F0"/>
                </a:solidFill>
                <a:latin typeface="Consolas"/>
              </a:rPr>
              <a:t>schema = pa.DataFrameSchema({"age": pa.Column(int, pa.Check.between(17, 100)),</a:t>
            </a:r>
          </a:p>
          <a:p>
            <a:r>
              <a:rPr sz="1000">
                <a:solidFill>
                  <a:srgbClr val="E2E8F0"/>
                </a:solidFill>
                <a:latin typeface="Consolas"/>
              </a:rPr>
              <a:t>                             "hours-per-week": pa.Column(int, pa.Check.between(1, 99)),</a:t>
            </a:r>
          </a:p>
          <a:p>
            <a:r>
              <a:rPr sz="1000">
                <a:solidFill>
                  <a:srgbClr val="E2E8F0"/>
                </a:solidFill>
                <a:latin typeface="Consolas"/>
              </a:rPr>
              <a:t>                             "sex": pa.Column(int, pa.Check.isin([0, 1]))}, coerce=True)</a:t>
            </a:r>
          </a:p>
          <a:p>
            <a:r>
              <a:rPr sz="1000">
                <a:solidFill>
                  <a:srgbClr val="E2E8F0"/>
                </a:solidFill>
                <a:latin typeface="Consolas"/>
              </a:rPr>
              <a:t>def test_reference_schema():</a:t>
            </a:r>
          </a:p>
          <a:p>
            <a:r>
              <a:rPr sz="1000">
                <a:solidFill>
                  <a:srgbClr val="E2E8F0"/>
                </a:solidFill>
                <a:latin typeface="Consolas"/>
              </a:rPr>
              <a:t>    schema.validate(pd.read_parquet("reference.parquet"))          # ma'lumot shartnomasi</a:t>
            </a:r>
          </a:p>
          <a:p>
            <a:r>
              <a:rPr sz="1000">
                <a:solidFill>
                  <a:srgbClr val="E2E8F0"/>
                </a:solidFill>
                <a:latin typeface="Consolas"/>
              </a:rPr>
              <a:t>def test_metrics_threshold():</a:t>
            </a:r>
          </a:p>
          <a:p>
            <a:r>
              <a:rPr sz="1000">
                <a:solidFill>
                  <a:srgbClr val="E2E8F0"/>
                </a:solidFill>
                <a:latin typeface="Consolas"/>
              </a:rPr>
              <a:t>    m = json.load(open("metrics.json")); assert m["auc"] &gt; 0.90 and m["f1"] &gt; 0.68</a:t>
            </a:r>
          </a:p>
          <a:p>
            <a:r>
              <a:rPr sz="1000">
                <a:solidFill>
                  <a:srgbClr val="E2E8F0"/>
                </a:solidFill>
                <a:latin typeface="Consolas"/>
              </a:rPr>
              <a:t>def test_training_reproducible():</a:t>
            </a:r>
          </a:p>
          <a:p>
            <a:r>
              <a:rPr sz="1000">
                <a:solidFill>
                  <a:srgbClr val="E2E8F0"/>
                </a:solidFill>
                <a:latin typeface="Consolas"/>
              </a:rPr>
              <a:t>    a = json.load(open("metrics.json")); subprocess.run(["python", "train.py"], check=True)</a:t>
            </a:r>
          </a:p>
          <a:p>
            <a:r>
              <a:rPr sz="1000">
                <a:solidFill>
                  <a:srgbClr val="E2E8F0"/>
                </a:solidFill>
                <a:latin typeface="Consolas"/>
              </a:rPr>
              <a:t>    b = json.load(open("metrics.json")); assert abs(a["auc"] - b["auc"]) &lt; 1e-6</a:t>
            </a:r>
          </a:p>
          <a:p>
            <a:r>
              <a:rPr sz="1000">
                <a:solidFill>
                  <a:srgbClr val="E2E8F0"/>
                </a:solidFill>
                <a:latin typeface="Consolas"/>
              </a:rPr>
              <a:t>def test_serving_matches_training():</a:t>
            </a:r>
          </a:p>
          <a:p>
            <a:r>
              <a:rPr sz="1000">
                <a:solidFill>
                  <a:srgbClr val="E2E8F0"/>
                </a:solidFill>
                <a:latin typeface="Consolas"/>
              </a:rPr>
              <a:t>    from app import predict_df; from mlflow.sklearn import load_model</a:t>
            </a:r>
          </a:p>
          <a:p>
            <a:r>
              <a:rPr sz="1000">
                <a:solidFill>
                  <a:srgbClr val="E2E8F0"/>
                </a:solidFill>
                <a:latin typeface="Consolas"/>
              </a:rPr>
              <a:t>    X = pd.read_parquet("reference.parquet").head(50)</a:t>
            </a:r>
          </a:p>
          <a:p>
            <a:r>
              <a:rPr sz="1000">
                <a:solidFill>
                  <a:srgbClr val="E2E8F0"/>
                </a:solidFill>
                <a:latin typeface="Consolas"/>
              </a:rPr>
              <a:t>    model = load_model("models:/income-clf@challenger")</a:t>
            </a:r>
          </a:p>
          <a:p>
            <a:r>
              <a:rPr sz="1000">
                <a:solidFill>
                  <a:srgbClr val="E2E8F0"/>
                </a:solidFill>
                <a:latin typeface="Consolas"/>
              </a:rPr>
              <a:t>    assert np.allclose(predict_df(X), model.predict_proba(X)[:, 1])  # training-serving skew yo'q</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Testlar va GitHub Actions CI konveyeri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.github/workflows/ml-ci.yml</a:t>
            </a:r>
          </a:p>
          <a:p>
            <a:r>
              <a:rPr sz="1000">
                <a:solidFill>
                  <a:srgbClr val="E2E8F0"/>
                </a:solidFill>
                <a:latin typeface="Consolas"/>
              </a:rPr>
              <a:t>name: ml-ci</a:t>
            </a:r>
          </a:p>
          <a:p>
            <a:r>
              <a:rPr sz="1000">
                <a:solidFill>
                  <a:srgbClr val="E2E8F0"/>
                </a:solidFill>
                <a:latin typeface="Consolas"/>
              </a:rPr>
              <a:t>on: { push: { branches: [main] }, pull_request: {}, schedule: [{ cron: "0 2 * * *" }] }</a:t>
            </a:r>
          </a:p>
          <a:p>
            <a:r>
              <a:rPr sz="1000">
                <a:solidFill>
                  <a:srgbClr val="E2E8F0"/>
                </a:solidFill>
                <a:latin typeface="Consolas"/>
              </a:rPr>
              <a:t>jobs:</a:t>
            </a:r>
          </a:p>
          <a:p>
            <a:r>
              <a:rPr sz="1000">
                <a:solidFill>
                  <a:srgbClr val="E2E8F0"/>
                </a:solidFill>
                <a:latin typeface="Consolas"/>
              </a:rPr>
              <a:t>  train-test:</a:t>
            </a:r>
          </a:p>
          <a:p>
            <a:r>
              <a:rPr sz="1000">
                <a:solidFill>
                  <a:srgbClr val="E2E8F0"/>
                </a:solidFill>
                <a:latin typeface="Consolas"/>
              </a:rPr>
              <a:t>    runs-on: ubuntu-latest</a:t>
            </a:r>
          </a:p>
          <a:p>
            <a:r>
              <a:rPr sz="1000">
                <a:solidFill>
                  <a:srgbClr val="E2E8F0"/>
                </a:solidFill>
                <a:latin typeface="Consolas"/>
              </a:rPr>
              <a:t>    services:</a:t>
            </a:r>
          </a:p>
          <a:p>
            <a:r>
              <a:rPr sz="1000">
                <a:solidFill>
                  <a:srgbClr val="E2E8F0"/>
                </a:solidFill>
                <a:latin typeface="Consolas"/>
              </a:rPr>
              <a:t>      mlflow: { image: ghcr.io/mlflow/mlflow:v2.14.1, ports: ["5000:5000"],</a:t>
            </a:r>
          </a:p>
          <a:p>
            <a:r>
              <a:rPr sz="1000">
                <a:solidFill>
                  <a:srgbClr val="E2E8F0"/>
                </a:solidFill>
                <a:latin typeface="Consolas"/>
              </a:rPr>
              <a:t>                options: --entrypoint "mlflow server --host 0.0.0.0 --backend-store-uri sqlite:///mlflow.db" }</a:t>
            </a:r>
          </a:p>
          <a:p>
            <a:r>
              <a:rPr sz="1000">
                <a:solidFill>
                  <a:srgbClr val="E2E8F0"/>
                </a:solidFill>
                <a:latin typeface="Consolas"/>
              </a:rPr>
              <a:t>    steps:</a:t>
            </a:r>
          </a:p>
          <a:p>
            <a:r>
              <a:rPr sz="1000">
                <a:solidFill>
                  <a:srgbClr val="E2E8F0"/>
                </a:solidFill>
                <a:latin typeface="Consolas"/>
              </a:rPr>
              <a:t>      - uses: actions/checkout@v4</a:t>
            </a:r>
          </a:p>
          <a:p>
            <a:r>
              <a:rPr sz="1000">
                <a:solidFill>
                  <a:srgbClr val="E2E8F0"/>
                </a:solidFill>
                <a:latin typeface="Consolas"/>
              </a:rPr>
              <a:t>      - uses: actions/setup-python@v5</a:t>
            </a:r>
          </a:p>
          <a:p>
            <a:r>
              <a:rPr sz="1000">
                <a:solidFill>
                  <a:srgbClr val="E2E8F0"/>
                </a:solidFill>
                <a:latin typeface="Consolas"/>
              </a:rPr>
              <a:t>        with: { python-version: "3.11", cache: pip }</a:t>
            </a:r>
          </a:p>
          <a:p>
            <a:r>
              <a:rPr sz="1000">
                <a:solidFill>
                  <a:srgbClr val="E2E8F0"/>
                </a:solidFill>
                <a:latin typeface="Consolas"/>
              </a:rPr>
              <a:t>      - run: pip install -r requirements.txt</a:t>
            </a:r>
          </a:p>
          <a:p>
            <a:r>
              <a:rPr sz="1000">
                <a:solidFill>
                  <a:srgbClr val="E2E8F0"/>
                </a:solidFill>
                <a:latin typeface="Consolas"/>
              </a:rPr>
              <a:t>      - run: python train.py ${{ github.sha }}</a:t>
            </a:r>
          </a:p>
          <a:p>
            <a:r>
              <a:rPr sz="1000">
                <a:solidFill>
                  <a:srgbClr val="E2E8F0"/>
                </a:solidFill>
                <a:latin typeface="Consolas"/>
              </a:rPr>
              <a:t>      - run: pytest -q tests/</a:t>
            </a:r>
          </a:p>
          <a:p>
            <a:r>
              <a:rPr sz="1000">
                <a:solidFill>
                  <a:srgbClr val="E2E8F0"/>
                </a:solidFill>
                <a:latin typeface="Consolas"/>
              </a:rPr>
              <a:t>      - run: python promote.py</a:t>
            </a:r>
          </a:p>
          <a:p>
            <a:r>
              <a:rPr sz="1000">
                <a:solidFill>
                  <a:srgbClr val="E2E8F0"/>
                </a:solidFill>
                <a:latin typeface="Consolas"/>
              </a:rPr>
              <a:t>      - uses: actions/upload-artifact@v4</a:t>
            </a:r>
          </a:p>
          <a:p>
            <a:r>
              <a:rPr sz="1000">
                <a:solidFill>
                  <a:srgbClr val="E2E8F0"/>
                </a:solidFill>
                <a:latin typeface="Consolas"/>
              </a:rPr>
              <a:t>        with: { name: metrics, path: metrics.json }</a:t>
            </a:r>
          </a:p>
          <a:p>
            <a:r>
              <a:rPr sz="1000">
                <a:solidFill>
                  <a:srgbClr val="E2E8F0"/>
                </a:solidFill>
                <a:latin typeface="Consolas"/>
              </a:rPr>
              <a:t>  build-push:</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Inferens xizmati va Kubernetes kanareyka joylashtirish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stabil Deployment (9 nusxa, track: stable, @champion) va kanareyka (1 nusxa, @challenger) bir xil Service ostida — Kubernetes trafikni nusxalar soniga proporsional taqsimlaydi, ya'ni ≈ 10 foiz kanareykaga. Metrikalar version yorlig'i…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4-qadam. Inferens xizmati va Kubernetes kanareyka joylashtirish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app.py — FastAPI xizmati, Prometheus metrikalari va bashorat loglari bilan</a:t>
            </a:r>
          </a:p>
          <a:p>
            <a:r>
              <a:rPr sz="1000">
                <a:solidFill>
                  <a:srgbClr val="E2E8F0"/>
                </a:solidFill>
                <a:latin typeface="Consolas"/>
              </a:rPr>
              <a:t>import os, time, json, pandas as pd</a:t>
            </a:r>
          </a:p>
          <a:p>
            <a:r>
              <a:rPr sz="1000">
                <a:solidFill>
                  <a:srgbClr val="E2E8F0"/>
                </a:solidFill>
                <a:latin typeface="Consolas"/>
              </a:rPr>
              <a:t>from fastapi import FastAPI</a:t>
            </a:r>
          </a:p>
          <a:p>
            <a:r>
              <a:rPr sz="1000">
                <a:solidFill>
                  <a:srgbClr val="E2E8F0"/>
                </a:solidFill>
                <a:latin typeface="Consolas"/>
              </a:rPr>
              <a:t>from pydantic import BaseModel</a:t>
            </a:r>
          </a:p>
          <a:p>
            <a:r>
              <a:rPr sz="1000">
                <a:solidFill>
                  <a:srgbClr val="E2E8F0"/>
                </a:solidFill>
                <a:latin typeface="Consolas"/>
              </a:rPr>
              <a:t>from prometheus_client import Counter, Histogram, make_asgi_app</a:t>
            </a:r>
          </a:p>
          <a:p>
            <a:r>
              <a:rPr sz="1000">
                <a:solidFill>
                  <a:srgbClr val="E2E8F0"/>
                </a:solidFill>
                <a:latin typeface="Consolas"/>
              </a:rPr>
              <a:t>from mlflow.sklearn import load_model</a:t>
            </a:r>
          </a:p>
          <a:p>
            <a:r>
              <a:rPr sz="1000">
                <a:solidFill>
                  <a:srgbClr val="E2E8F0"/>
                </a:solidFill>
                <a:latin typeface="Consolas"/>
              </a:rPr>
              <a:t>MODEL_URI = os.getenv("MODEL_URI", "models:/income-clf@champion")</a:t>
            </a:r>
          </a:p>
          <a:p>
            <a:r>
              <a:rPr sz="1000">
                <a:solidFill>
                  <a:srgbClr val="E2E8F0"/>
                </a:solidFill>
                <a:latin typeface="Consolas"/>
              </a:rPr>
              <a:t>model = load_model(MODEL_URI); VERSION = MODEL_URI.split("@")[-1]</a:t>
            </a:r>
          </a:p>
          <a:p>
            <a:r>
              <a:rPr sz="1000">
                <a:solidFill>
                  <a:srgbClr val="E2E8F0"/>
                </a:solidFill>
                <a:latin typeface="Consolas"/>
              </a:rPr>
              <a:t>app = FastAPI(); app.mount("/metrics", make_asgi_app())</a:t>
            </a:r>
          </a:p>
          <a:p>
            <a:r>
              <a:rPr sz="1000">
                <a:solidFill>
                  <a:srgbClr val="E2E8F0"/>
                </a:solidFill>
                <a:latin typeface="Consolas"/>
              </a:rPr>
              <a:t>REQ = Counter("pred_requests_total", "so'rovlar", ["version"])</a:t>
            </a:r>
          </a:p>
          <a:p>
            <a:r>
              <a:rPr sz="1000">
                <a:solidFill>
                  <a:srgbClr val="E2E8F0"/>
                </a:solidFill>
                <a:latin typeface="Consolas"/>
              </a:rPr>
              <a:t>LAT = Histogram("pred_latency_seconds", "kechikish", ["version"], buckets=(.005,.01,.025,.05,.1,.25))</a:t>
            </a:r>
          </a:p>
          <a:p>
            <a:r>
              <a:rPr sz="1000">
                <a:solidFill>
                  <a:srgbClr val="E2E8F0"/>
                </a:solidFill>
                <a:latin typeface="Consolas"/>
              </a:rPr>
              <a:t>SCORE = Histogram("pred_score", "bashorat taqsimoti", ["version"], buckets=[i/10 for i in range(11)])</a:t>
            </a:r>
          </a:p>
          <a:p>
            <a:r>
              <a:rPr sz="1000">
                <a:solidFill>
                  <a:srgbClr val="E2E8F0"/>
                </a:solidFill>
                <a:latin typeface="Consolas"/>
              </a:rPr>
              <a:t>class Row(BaseModel): age: int; workclass: int; fnlwgt: int; education: int; education_num: int</a:t>
            </a:r>
          </a:p>
          <a:p>
            <a:r>
              <a:rPr sz="1000">
                <a:solidFill>
                  <a:srgbClr val="E2E8F0"/>
                </a:solidFill>
                <a:latin typeface="Consolas"/>
              </a:rPr>
              <a:t>class Payload(BaseModel): rows: list[dict]</a:t>
            </a:r>
          </a:p>
          <a:p>
            <a:r>
              <a:rPr sz="1000">
                <a:solidFill>
                  <a:srgbClr val="E2E8F0"/>
                </a:solidFill>
                <a:latin typeface="Consolas"/>
              </a:rPr>
              <a:t>def predict_df(df): return model.predict_proba(df)[:, 1]</a:t>
            </a:r>
          </a:p>
          <a:p>
            <a:r>
              <a:rPr sz="1000">
                <a:solidFill>
                  <a:srgbClr val="E2E8F0"/>
                </a:solidFill>
                <a:latin typeface="Consolas"/>
              </a:rPr>
              <a:t>@app.post("/predict")</a:t>
            </a:r>
          </a:p>
          <a:p>
            <a:r>
              <a:rPr sz="1000">
                <a:solidFill>
                  <a:srgbClr val="E2E8F0"/>
                </a:solidFill>
                <a:latin typeface="Consolas"/>
              </a:rPr>
              <a:t>def predict(p: Payload):</a:t>
            </a:r>
          </a:p>
          <a:p>
            <a:r>
              <a:rPr sz="1000">
                <a:solidFill>
                  <a:srgbClr val="E2E8F0"/>
                </a:solidFill>
                <a:latin typeface="Consolas"/>
              </a:rPr>
              <a:t>    t0 = time.perf_counter(); df = pd.DataFrame(p.rows)</a:t>
            </a:r>
          </a:p>
          <a:p>
            <a:r>
              <a:rPr sz="1000">
                <a:solidFill>
                  <a:srgbClr val="E2E8F0"/>
                </a:solidFill>
                <a:latin typeface="Consolas"/>
              </a:rPr>
              <a:t>    scores = predict_df(df)</a:t>
            </a:r>
          </a:p>
          <a:p>
            <a:r>
              <a:rPr sz="1000">
                <a:solidFill>
                  <a:srgbClr val="E2E8F0"/>
                </a:solidFill>
                <a:latin typeface="Consolas"/>
              </a:rPr>
              <a:t>    LAT.labels(VERSION).observe(time.perf_counter()-t0); REQ.labels(VERSION).inc(len(df))</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4-qadam. Inferens xizmati va Kubernetes kanareyka joylashtirish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k8s/canary.yaml — stabil 9 nusxa + kanareyka 1 nusxa = ~10 % trafik (bir xil Service selektori)</a:t>
            </a:r>
          </a:p>
          <a:p>
            <a:r>
              <a:rPr sz="1000">
                <a:solidFill>
                  <a:srgbClr val="E2E8F0"/>
                </a:solidFill>
                <a:latin typeface="Consolas"/>
              </a:rPr>
              <a:t>apiVersion: apps/v1</a:t>
            </a:r>
          </a:p>
          <a:p>
            <a:r>
              <a:rPr sz="1000">
                <a:solidFill>
                  <a:srgbClr val="E2E8F0"/>
                </a:solidFill>
                <a:latin typeface="Consolas"/>
              </a:rPr>
              <a:t>kind: Deployment</a:t>
            </a:r>
          </a:p>
          <a:p>
            <a:r>
              <a:rPr sz="1000">
                <a:solidFill>
                  <a:srgbClr val="E2E8F0"/>
                </a:solidFill>
                <a:latin typeface="Consolas"/>
              </a:rPr>
              <a:t>metadata: { name: income-clf-canary, labels: { app: income-clf, track: canary } }</a:t>
            </a:r>
          </a:p>
          <a:p>
            <a:r>
              <a:rPr sz="1000">
                <a:solidFill>
                  <a:srgbClr val="E2E8F0"/>
                </a:solidFill>
                <a:latin typeface="Consolas"/>
              </a:rPr>
              <a:t>spec:</a:t>
            </a:r>
          </a:p>
          <a:p>
            <a:r>
              <a:rPr sz="1000">
                <a:solidFill>
                  <a:srgbClr val="E2E8F0"/>
                </a:solidFill>
                <a:latin typeface="Consolas"/>
              </a:rPr>
              <a:t>  replicas: 1</a:t>
            </a:r>
          </a:p>
          <a:p>
            <a:r>
              <a:rPr sz="1000">
                <a:solidFill>
                  <a:srgbClr val="E2E8F0"/>
                </a:solidFill>
                <a:latin typeface="Consolas"/>
              </a:rPr>
              <a:t>  selector: { matchLabels: { app: income-clf, track: canary } }</a:t>
            </a:r>
          </a:p>
          <a:p>
            <a:r>
              <a:rPr sz="1000">
                <a:solidFill>
                  <a:srgbClr val="E2E8F0"/>
                </a:solidFill>
                <a:latin typeface="Consolas"/>
              </a:rPr>
              <a:t>  template:</a:t>
            </a:r>
          </a:p>
          <a:p>
            <a:r>
              <a:rPr sz="1000">
                <a:solidFill>
                  <a:srgbClr val="E2E8F0"/>
                </a:solidFill>
                <a:latin typeface="Consolas"/>
              </a:rPr>
              <a:t>    metadata: { labels: { app: income-clf, track: canary }, annotations: { prometheus.io/scrape: "true", prometheus.io/p</a:t>
            </a:r>
          </a:p>
          <a:p>
            <a:r>
              <a:rPr sz="1000">
                <a:solidFill>
                  <a:srgbClr val="E2E8F0"/>
                </a:solidFill>
                <a:latin typeface="Consolas"/>
              </a:rPr>
              <a:t>    spec:</a:t>
            </a:r>
          </a:p>
          <a:p>
            <a:r>
              <a:rPr sz="1000">
                <a:solidFill>
                  <a:srgbClr val="E2E8F0"/>
                </a:solidFill>
                <a:latin typeface="Consolas"/>
              </a:rPr>
              <a:t>      containers:</a:t>
            </a:r>
          </a:p>
          <a:p>
            <a:r>
              <a:rPr sz="1000">
                <a:solidFill>
                  <a:srgbClr val="E2E8F0"/>
                </a:solidFill>
                <a:latin typeface="Consolas"/>
              </a:rPr>
              <a:t>        - name: api</a:t>
            </a:r>
          </a:p>
          <a:p>
            <a:r>
              <a:rPr sz="1000">
                <a:solidFill>
                  <a:srgbClr val="E2E8F0"/>
                </a:solidFill>
                <a:latin typeface="Consolas"/>
              </a:rPr>
              <a:t>          image: ghcr.io/org/income-clf:IMAGE_TAG</a:t>
            </a:r>
          </a:p>
          <a:p>
            <a:r>
              <a:rPr sz="1000">
                <a:solidFill>
                  <a:srgbClr val="E2E8F0"/>
                </a:solidFill>
                <a:latin typeface="Consolas"/>
              </a:rPr>
              <a:t>          env: [{ name: MODEL_URI, value: "models:/income-clf@challenger" }, { name: MLFLOW_TRACKING_URI, value: "http:/</a:t>
            </a:r>
          </a:p>
          <a:p>
            <a:r>
              <a:rPr sz="1000">
                <a:solidFill>
                  <a:srgbClr val="E2E8F0"/>
                </a:solidFill>
                <a:latin typeface="Consolas"/>
              </a:rPr>
              <a:t>          ports: [{ containerPort: 8000 }]</a:t>
            </a:r>
          </a:p>
          <a:p>
            <a:r>
              <a:rPr sz="1000">
                <a:solidFill>
                  <a:srgbClr val="E2E8F0"/>
                </a:solidFill>
                <a:latin typeface="Consolas"/>
              </a:rPr>
              <a:t>          resources: { requests: { cpu: "500m", memory: "1Gi" }, limits: { cpu: "1", memory: "2Gi" } }</a:t>
            </a:r>
          </a:p>
          <a:p>
            <a:r>
              <a:rPr sz="1000">
                <a:solidFill>
                  <a:srgbClr val="E2E8F0"/>
                </a:solidFill>
                <a:latin typeface="Consolas"/>
              </a:rPr>
              <a:t>          readinessProbe: { httpGet: { path: /docs, port: 8000 }, initialDelaySeconds: 5 }</a:t>
            </a:r>
          </a:p>
          <a:p>
            <a:r>
              <a:rPr sz="1000">
                <a:solidFill>
                  <a:srgbClr val="E2E8F0"/>
                </a:solidFill>
                <a:latin typeface="Consolas"/>
              </a:rPr>
              <a:t>          livenessProbe:  { httpGet: { path: /docs, port: 8000 }, periodSeconds: 15 }</a:t>
            </a:r>
          </a:p>
          <a:p>
            <a:r>
              <a:rPr sz="1000">
                <a:solidFill>
                  <a:srgbClr val="E2E8F0"/>
                </a:solidFill>
                <a:latin typeface="Consolas"/>
              </a:rPr>
              <a:t>---</a:t>
            </a:r>
          </a:p>
          <a:p>
            <a:r>
              <a:rPr sz="1000">
                <a:solidFill>
                  <a:srgbClr val="E2E8F0"/>
                </a:solidFill>
                <a:latin typeface="Consolas"/>
              </a:rPr>
              <a:t>apiVersion: v1</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Drift aniqlash: statistik testlar va Evidently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skript har kecha Kubernetes CronJob sifatida ishlaydi, kunlik bashorat loglaridan kirish xususiyatlarini oladi va mos yozuvlar to'plami bilan solishtiradi. KS testi p-qiymati va PSI har asosiy xususiyat uchun hisoblanadi; prediction_psi…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Drift aniqlash: statistik testlar va Evidently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drift_check.py — kunlik ish (CronJob); mos yozuvlar vs oxirgi 24 soat</a:t>
            </a:r>
          </a:p>
          <a:p>
            <a:r>
              <a:rPr sz="1000">
                <a:solidFill>
                  <a:srgbClr val="E2E8F0"/>
                </a:solidFill>
                <a:latin typeface="Consolas"/>
              </a:rPr>
              <a:t>import pandas as pd, numpy as np, json</a:t>
            </a:r>
          </a:p>
          <a:p>
            <a:r>
              <a:rPr sz="1000">
                <a:solidFill>
                  <a:srgbClr val="E2E8F0"/>
                </a:solidFill>
                <a:latin typeface="Consolas"/>
              </a:rPr>
              <a:t>from scipy.stats import ks_2samp</a:t>
            </a:r>
          </a:p>
          <a:p>
            <a:r>
              <a:rPr sz="1000">
                <a:solidFill>
                  <a:srgbClr val="E2E8F0"/>
                </a:solidFill>
                <a:latin typeface="Consolas"/>
              </a:rPr>
              <a:t>from evidently.report import Report</a:t>
            </a:r>
          </a:p>
          <a:p>
            <a:r>
              <a:rPr sz="1000">
                <a:solidFill>
                  <a:srgbClr val="E2E8F0"/>
                </a:solidFill>
                <a:latin typeface="Consolas"/>
              </a:rPr>
              <a:t>from evidently.metric_preset import DataDriftPreset, TargetDriftPreset</a:t>
            </a:r>
          </a:p>
          <a:p>
            <a:r>
              <a:rPr sz="1000">
                <a:solidFill>
                  <a:srgbClr val="E2E8F0"/>
                </a:solidFill>
                <a:latin typeface="Consolas"/>
              </a:rPr>
              <a:t> </a:t>
            </a:r>
          </a:p>
          <a:p>
            <a:r>
              <a:rPr sz="1000">
                <a:solidFill>
                  <a:srgbClr val="E2E8F0"/>
                </a:solidFill>
                <a:latin typeface="Consolas"/>
              </a:rPr>
              <a:t>ref = pd.read_parquet("reference.parquet")</a:t>
            </a:r>
          </a:p>
          <a:p>
            <a:r>
              <a:rPr sz="1000">
                <a:solidFill>
                  <a:srgbClr val="E2E8F0"/>
                </a:solidFill>
                <a:latin typeface="Consolas"/>
              </a:rPr>
              <a:t>logs = pd.read_json("/var/log/pred/predictions.jsonl", lines=True)</a:t>
            </a:r>
          </a:p>
          <a:p>
            <a:r>
              <a:rPr sz="1000">
                <a:solidFill>
                  <a:srgbClr val="E2E8F0"/>
                </a:solidFill>
                <a:latin typeface="Consolas"/>
              </a:rPr>
              <a:t>cur = pd.DataFrame(list(logs["x"])); cur["prediction"] = logs["y"]; ref["prediction"] = np.nan</a:t>
            </a:r>
          </a:p>
          <a:p>
            <a:r>
              <a:rPr sz="1000">
                <a:solidFill>
                  <a:srgbClr val="E2E8F0"/>
                </a:solidFill>
                <a:latin typeface="Consolas"/>
              </a:rPr>
              <a:t> </a:t>
            </a:r>
          </a:p>
          <a:p>
            <a:r>
              <a:rPr sz="1000">
                <a:solidFill>
                  <a:srgbClr val="E2E8F0"/>
                </a:solidFill>
                <a:latin typeface="Consolas"/>
              </a:rPr>
              <a:t>def psi(a, b, bins=10):</a:t>
            </a:r>
          </a:p>
          <a:p>
            <a:r>
              <a:rPr sz="1000">
                <a:solidFill>
                  <a:srgbClr val="E2E8F0"/>
                </a:solidFill>
                <a:latin typeface="Consolas"/>
              </a:rPr>
              <a:t>    edges = np.quantile(a, np.linspace(0, 1, bins+1)); edges[0], edges[-1] = -np.inf, np.inf</a:t>
            </a:r>
          </a:p>
          <a:p>
            <a:r>
              <a:rPr sz="1000">
                <a:solidFill>
                  <a:srgbClr val="E2E8F0"/>
                </a:solidFill>
                <a:latin typeface="Consolas"/>
              </a:rPr>
              <a:t>    p = np.histogram(a, edges)[0] / len(a) + 1e-6; q = np.histogram(b, edges)[0] / len(b) + 1e-6</a:t>
            </a:r>
          </a:p>
          <a:p>
            <a:r>
              <a:rPr sz="1000">
                <a:solidFill>
                  <a:srgbClr val="E2E8F0"/>
                </a:solidFill>
                <a:latin typeface="Consolas"/>
              </a:rPr>
              <a:t>    return float(np.sum((q - p) * np.log(q / p)))</a:t>
            </a:r>
          </a:p>
          <a:p>
            <a:r>
              <a:rPr sz="1000">
                <a:solidFill>
                  <a:srgbClr val="E2E8F0"/>
                </a:solidFill>
                <a:latin typeface="Consolas"/>
              </a:rPr>
              <a:t> </a:t>
            </a:r>
          </a:p>
          <a:p>
            <a:r>
              <a:rPr sz="1000">
                <a:solidFill>
                  <a:srgbClr val="E2E8F0"/>
                </a:solidFill>
                <a:latin typeface="Consolas"/>
              </a:rPr>
              <a:t>summary = {}</a:t>
            </a:r>
          </a:p>
          <a:p>
            <a:r>
              <a:rPr sz="1000">
                <a:solidFill>
                  <a:srgbClr val="E2E8F0"/>
                </a:solidFill>
                <a:latin typeface="Consolas"/>
              </a:rPr>
              <a:t>for col in ["age", "hours-per-week", "education-num", "capital-gain"]:</a:t>
            </a:r>
          </a:p>
          <a:p>
            <a:r>
              <a:rPr sz="1000">
                <a:solidFill>
                  <a:srgbClr val="E2E8F0"/>
                </a:solidFill>
                <a:latin typeface="Consolas"/>
              </a:rPr>
              <a:t>    stat, p = ks_2samp(ref[col], cur[col])</a:t>
            </a:r>
          </a:p>
          <a:p>
            <a:r>
              <a:rPr sz="1000">
                <a:solidFill>
                  <a:srgbClr val="E2E8F0"/>
                </a:solidFill>
                <a:latin typeface="Consolas"/>
              </a:rPr>
              <a:t>    summary[col] = {"ks_p": round(p, 4), "psi": round(psi(ref[col], cur[col]), 3)}</a:t>
            </a:r>
          </a:p>
          <a:p>
            <a:r>
              <a:rPr sz="1000">
                <a:solidFill>
                  <a:srgbClr val="E2E8F0"/>
                </a:solidFill>
                <a:latin typeface="Consolas"/>
              </a:rPr>
              <a:t>summary["prediction_psi"] = round(psi(logs["y"].iloc[:len(logs)//2], logs["y"].iloc[len(logs)//2:]), 3)</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Qayta o'qitish triggeri va ogohlantirish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tsikl yopildi — monitoring natijasi CI/CT konveyerini qayta ishga tushiradi, u yangi ma'lumotda o'qitadi, testlar va validatsiya darvozasidan o'tkazadi, kanareykaga chiqaradi. Prometheus qoidalari operatsion (p99 kechikish 50 ms dan…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Qayta o'qitish triggeri va ogohlantirish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k8s/drift-cronjob.yaml (qisqartirilgan) + Prometheus ogohlantirish qoidasi</a:t>
            </a:r>
          </a:p>
          <a:p>
            <a:r>
              <a:rPr sz="1200">
                <a:solidFill>
                  <a:srgbClr val="E2E8F0"/>
                </a:solidFill>
                <a:latin typeface="Consolas"/>
              </a:rPr>
              <a:t>apiVersion: batch/v1</a:t>
            </a:r>
          </a:p>
          <a:p>
            <a:r>
              <a:rPr sz="1200">
                <a:solidFill>
                  <a:srgbClr val="E2E8F0"/>
                </a:solidFill>
                <a:latin typeface="Consolas"/>
              </a:rPr>
              <a:t>kind: CronJob</a:t>
            </a:r>
          </a:p>
          <a:p>
            <a:r>
              <a:rPr sz="1200">
                <a:solidFill>
                  <a:srgbClr val="E2E8F0"/>
                </a:solidFill>
                <a:latin typeface="Consolas"/>
              </a:rPr>
              <a:t>metadata: { name: drift-check }</a:t>
            </a:r>
          </a:p>
          <a:p>
            <a:r>
              <a:rPr sz="1200">
                <a:solidFill>
                  <a:srgbClr val="E2E8F0"/>
                </a:solidFill>
                <a:latin typeface="Consolas"/>
              </a:rPr>
              <a:t>spec:</a:t>
            </a:r>
          </a:p>
          <a:p>
            <a:r>
              <a:rPr sz="1200">
                <a:solidFill>
                  <a:srgbClr val="E2E8F0"/>
                </a:solidFill>
                <a:latin typeface="Consolas"/>
              </a:rPr>
              <a:t>  schedule: "0 3 * * *"</a:t>
            </a:r>
          </a:p>
          <a:p>
            <a:r>
              <a:rPr sz="1200">
                <a:solidFill>
                  <a:srgbClr val="E2E8F0"/>
                </a:solidFill>
                <a:latin typeface="Consolas"/>
              </a:rPr>
              <a:t>  jobTemplate:</a:t>
            </a:r>
          </a:p>
          <a:p>
            <a:r>
              <a:rPr sz="1200">
                <a:solidFill>
                  <a:srgbClr val="E2E8F0"/>
                </a:solidFill>
                <a:latin typeface="Consolas"/>
              </a:rPr>
              <a:t>    spec:</a:t>
            </a:r>
          </a:p>
          <a:p>
            <a:r>
              <a:rPr sz="1200">
                <a:solidFill>
                  <a:srgbClr val="E2E8F0"/>
                </a:solidFill>
                <a:latin typeface="Consolas"/>
              </a:rPr>
              <a:t>      template:</a:t>
            </a:r>
          </a:p>
          <a:p>
            <a:r>
              <a:rPr sz="1200">
                <a:solidFill>
                  <a:srgbClr val="E2E8F0"/>
                </a:solidFill>
                <a:latin typeface="Consolas"/>
              </a:rPr>
              <a:t>        spec:</a:t>
            </a:r>
          </a:p>
          <a:p>
            <a:r>
              <a:rPr sz="1200">
                <a:solidFill>
                  <a:srgbClr val="E2E8F0"/>
                </a:solidFill>
                <a:latin typeface="Consolas"/>
              </a:rPr>
              <a:t>          restartPolicy: Never</a:t>
            </a:r>
          </a:p>
          <a:p>
            <a:r>
              <a:rPr sz="1200">
                <a:solidFill>
                  <a:srgbClr val="E2E8F0"/>
                </a:solidFill>
                <a:latin typeface="Consolas"/>
              </a:rPr>
              <a:t>          containers:</a:t>
            </a:r>
          </a:p>
          <a:p>
            <a:r>
              <a:rPr sz="1200">
                <a:solidFill>
                  <a:srgbClr val="E2E8F0"/>
                </a:solidFill>
                <a:latin typeface="Consolas"/>
              </a:rPr>
              <a:t>            - name: drift</a:t>
            </a:r>
          </a:p>
          <a:p>
            <a:r>
              <a:rPr sz="1200">
                <a:solidFill>
                  <a:srgbClr val="E2E8F0"/>
                </a:solidFill>
                <a:latin typeface="Consolas"/>
              </a:rPr>
              <a:t>              image: ghcr.io/org/income-clf:IMAGE_TAG</a:t>
            </a:r>
          </a:p>
          <a:p>
            <a:r>
              <a:rPr sz="1200">
                <a:solidFill>
                  <a:srgbClr val="E2E8F0"/>
                </a:solidFill>
                <a:latin typeface="Consolas"/>
              </a:rPr>
              <a:t>              command: ["sh", "-c", "python drift_check.py &amp;&amp; python trigger.py"]</a:t>
            </a:r>
          </a:p>
          <a:p>
            <a:r>
              <a:rPr sz="1200">
                <a:solidFill>
                  <a:srgbClr val="E2E8F0"/>
                </a:solidFill>
                <a:latin typeface="Consolas"/>
              </a:rPr>
              <a:t>              volumeMounts: [{ name: predlogs, mountPath: /var/log/pred }]</a:t>
            </a:r>
          </a:p>
          <a:p>
            <a:r>
              <a:rPr sz="1200">
                <a:solidFill>
                  <a:srgbClr val="E2E8F0"/>
                </a:solidFill>
                <a:latin typeface="Consolas"/>
              </a:rPr>
              <a:t>          volumes: [{ name: predlogs, persistentVolumeClaim: { claimName: predlogs } }]</a:t>
            </a:r>
          </a:p>
          <a:p>
            <a:r>
              <a:rPr sz="1200">
                <a:solidFill>
                  <a:srgbClr val="E2E8F0"/>
                </a:solidFill>
                <a:latin typeface="Consolas"/>
              </a:rPr>
              <a:t>---</a:t>
            </a:r>
          </a:p>
          <a:p>
            <a:r>
              <a:rPr sz="1200">
                <a:solidFill>
                  <a:srgbClr val="7FD6D7"/>
                </a:solidFill>
                <a:latin typeface="Consolas"/>
              </a:rPr>
              <a:t># prometheus-rules.yaml</a:t>
            </a:r>
          </a:p>
          <a:p>
            <a:r>
              <a:rPr sz="1200">
                <a:solidFill>
                  <a:srgbClr val="E2E8F0"/>
                </a:solidFill>
                <a:latin typeface="Consolas"/>
              </a:rPr>
              <a:t>groups:</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Qayta o'qitish triggeri va ogohlantirish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trigger.py — drift natijasiga ko'ra qayta o'qitishni ishga tushirish (GitHub Actions workflow_dispatch)</a:t>
            </a:r>
          </a:p>
          <a:p>
            <a:r>
              <a:rPr sz="1000">
                <a:solidFill>
                  <a:srgbClr val="E2E8F0"/>
                </a:solidFill>
                <a:latin typeface="Consolas"/>
              </a:rPr>
              <a:t>import json, os, requests</a:t>
            </a:r>
          </a:p>
          <a:p>
            <a:r>
              <a:rPr sz="1000">
                <a:solidFill>
                  <a:srgbClr val="E2E8F0"/>
                </a:solidFill>
                <a:latin typeface="Consolas"/>
              </a:rPr>
              <a:t>d = json.load(open("drift.json"))</a:t>
            </a:r>
          </a:p>
          <a:p>
            <a:r>
              <a:rPr sz="1000">
                <a:solidFill>
                  <a:srgbClr val="E2E8F0"/>
                </a:solidFill>
                <a:latin typeface="Consolas"/>
              </a:rPr>
              <a:t>if d["dataset_drift"] or d["drift_share"] &gt; 0.3 or d["prediction_psi"] &gt; 0.25:</a:t>
            </a:r>
          </a:p>
          <a:p>
            <a:r>
              <a:rPr sz="1000">
                <a:solidFill>
                  <a:srgbClr val="E2E8F0"/>
                </a:solidFill>
                <a:latin typeface="Consolas"/>
              </a:rPr>
              <a:t>    requests.post("https://api.github.com/repos/org/income-clf/actions/workflows/ml-ci.yml/dispatches",</a:t>
            </a:r>
          </a:p>
          <a:p>
            <a:r>
              <a:rPr sz="1000">
                <a:solidFill>
                  <a:srgbClr val="E2E8F0"/>
                </a:solidFill>
                <a:latin typeface="Consolas"/>
              </a:rPr>
              <a:t>                  headers={"Authorization": f"Bearer {os.environ['GH_TOKEN']}"},</a:t>
            </a:r>
          </a:p>
          <a:p>
            <a:r>
              <a:rPr sz="1000">
                <a:solidFill>
                  <a:srgbClr val="E2E8F0"/>
                </a:solidFill>
                <a:latin typeface="Consolas"/>
              </a:rPr>
              <a:t>                  json={"ref": "main", "inputs": {"reason": "drift"}})</a:t>
            </a:r>
          </a:p>
          <a:p>
            <a:r>
              <a:rPr sz="1000">
                <a:solidFill>
                  <a:srgbClr val="E2E8F0"/>
                </a:solidFill>
                <a:latin typeface="Consolas"/>
              </a:rPr>
              <a:t>    print("Qayta o'qitish ishga tushirildi")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Qurilgan tizimning holati: har o'qitish takrorlanuvchan va reestrda kelib chiqishi bilan saqlanadi; yangi versiya avtomatik testlar va chempion bilan solishtirish darvozasidan o'tadi; joylashtirish Git orqali, 10 foizlik kanareyka bilan, metrikalar versiya…</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Tahlil: birinchidan, validatsiya darvozasi — eng muhim komponent; usiz CT konveyeri yomon modelni avtomatik ravishda ishlab chiqarishga olib chiqadi. Darvoza mezonlari (chidamlilik 0,002 AUC, adolatlilik farqi 0,10) domen bilan birga belgilanishi kerak.</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Cheklovlar: bashorat loglari fayl orqali yig'ildi — ishlab chiqarishda Kafka yoki obyekt saqlash + ma'lumot ombori; haqiqiy yorliqlar bilan sifat monitoringi ko'rsatilmadi (u yorliqlarni bashorat identifikatori bilan birlashtirishni talab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Daftardan to'g'ridan-to'g'ri ishlab chiqarishga. Jupyter daftaridagi kod takrorlanmaydi va testlanmaydi; o'qitish skript yoki konveyer bosqichi bo'lsin, daftar faqat tadqiqot uchun.</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Modelni versiyalab, ma'lumot va preprocessing'ni versiyalamaslik. Model faylining o'zi qayta tiklash uchun yetarli emas; ma'lumot xeshi/versiyasi, xususiyat kodi va muhit reestrda…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Avtomatik qayta o'qitishni validatsiya darvozasisiz yoqish. Siljish zaharlangan yoki buzilgan ma'lumotdan bo'lishi mumkin; darvoza, kanareyka va inson tasdig'i (yuqori xavfli tizimlarda)…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Faqat operatsion metrikalarni kuzatish. Xizmat 200 OK qaytaradi, kechikish yaxshi — lekin model bir oydan beri noto'g'ri bashorat qilmoqda. Kirish va bashorat taqsimotlarini, iloji bo'lsa…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KS testi p &lt; 0,05 ni avtomatik trigger qilish. Katta tanlamalarda bu har kuni ishga tushadi; ta'sir hajmi (PSI, Wasserstein), bir necha oyna ketma-ketligi va ustunlar ulushi chegarasidan…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Orqaga qaytarish yo'lini sinab ko'rmaslik. Rollback bir buyruq bo'lishi va reestrdagi aniq versiyaga bog'lanishi kerak; uni muntazam mashq qiling (chaos muhandisligi).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Sirlar va ma'lumot yo'llarini kod yoki obrazga yozish. Sir boshqaruvchi va muhit o'zgaruvchilari; obrazlar ommaviy reestrda bo'lsa, ichidagi har narsa ochiq deb hisoblang.</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Barcha metrikalarni yagona «aniqlik» bilan cheklash. Kichik guruhlar bo'yicha sifat, kalibrlash, kechikish, xotira, narx — darvozaning bir qismi; aks holda adolatsiz yoki qimmat model o'tib…</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MLOps'ni vosita xaridi deb bilish. Platforma jarayonni almashtirmaydi; avval versiyalash, test, darvoza, monitoring qoidalari — keyin vosita.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ML tizimidagi «CACE» tamoyili va ma'lumotlarga bog'liqlik qarzi nima uchun an'anaviy dasturiy ta'minotdagi texnik qarzdan xavfliroq? Misol keltiring.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MLOps 0-, 1- va 2-yetuklik darajalarini tashkilot uchun qanday aniqlaysiz? Qaysi belgilar 1-darajadan 2-darajaga o'tish zarurligini ko'rsatadi?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Model reestrida bosqichlar (Staging/Production) va aliaslar (champion/challenger) yondashuvlarini taqqoslang. Kanareyka strategiyasi uchun qaysi biri qulayroq?</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CI konveyerida «takrorlanuvchanlik testi» chuqur modellar uchun nima uchun murakkab (GPU nodeterminizmi) va uni qanday tashkil qilish mumkin?</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Ko'k-yashil, kanareyka va soya strategiyalarini resurs narxi, xavf va model sifatini baholash imkoniyati bo'yicha taqqoslang. Tibbiy diagnostika modeli uchun qaysini tanlaysiz?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Ma'lumot siljishi va konsepsiya siljishini faqat kirish xususiyatlariga qarab ajratish mumkinmi? Yorliqlar kechikib kelganda qanday bilvosita belgilar bor?</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PSI va KS testining tanlama hajmiga bog'liqligini tushuntiring. 1 million kunlik so'rovli xizmat uchun qanday trigger qoidasini taklif qilasiz?</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Avtomatik qayta o'qitish qaysi sharoitlarda xavfsiz, qaysilarida xavfli? M9'dagi zaharlash hujumlari bilan bog'lang.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Training-serving skew'ning kelib chiqish manbalarini sanab, xususiyatlar ombori uni qanday hal qilishini tushuntiring.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GitOps yondashuvida «klaster holati = Git holati» tamoyili ML joylashtirishga qanday afzallik va qanday murakkablik (masalan, model fayli Git'da emas) keltiradi?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(amaliy, 4-mustaqil ta'lim topshirig'i va A4/A7 bilan bog'liq). O'zingiz tanlagan modelni (tabular, tasvir yoki matn) to'liq MLOps siklida joylashtiring: (a) MLflow tracking va reestr — kamida 5 ta eksperiment, 2 ta ro'yxatga olingan versiya,…</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(tahliliy, 1-mustaqil ta'lim topshirig'iga bog'liq). Netflix tavsiya tizimi, Uber Michelangelo yoki Amazon omborlash tizimlaridan birini ochiq manbalar (kompaniya muhandislik bloglari, konferensiya ma'ruzalari) asosida MLOps nuqtai nazaridan…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[3] Amershi, S., Begel, A., Bird, C., DeLine, R., Gall, H., Kamar, E., Nagappan, N., Nushi, B., &amp; Zimmermann, T. Machine Learning Engineering. MIT Press, 2025.</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[2] Kneusel, R. T. Artificial Intelligence Engineering: A Practical Guide for AI Applications. No Starch Press, 2023.</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[9] Kubernetes rasmiy hujjatlari — https://kubernetes.io (Deployment, Service, CronJob, HorizontalPodAutoscaler).</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[7] PyTorch rasmiy hujjatlari — https://pytorch.org (takrorlanuvchanlik, TorchServe).</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[10] ONNX rasmiy hujjatlari — https://onnx.ai (freymvorkdan mustaqil model formati va joylashtirish).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Sculley, D., Holt, G., Golovin, D. va boshq. Hidden Technical Debt in Machine Learning Systems. NeurIPS 2015.</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Breck, E., Cai, S., Nielsen, E., Salib, M., &amp; Sculley, D. The ML Test Score: A Rubric for ML Production Readiness and Technical Debt Reduction. IEEE Big Data, 2017.</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Google Cloud Architecture Center. MLOps: Continuous delivery and automation pipelines in machine learning.…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Kreuzberger, D., Kühl, N., &amp; Hirschl, S. Machine Learning Operations (MLOps): Overview, Definition, and Architecture. IEEE Access, 2023. arXiv:2205.02302.</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MLflow rasmiy hujjatlari: https://mlflow.org/docs/latest/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2000" b="0">
                <a:solidFill>
                  <a:srgbClr val="1B2430"/>
                </a:solidFill>
                <a:latin typeface="Calibri"/>
              </a:rPr>
              <a:t>Evidently AI rasmiy hujjatlari: https://docs.evidentlyai.com</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2000" b="0">
                <a:solidFill>
                  <a:srgbClr val="1B2430"/>
                </a:solidFill>
                <a:latin typeface="Calibri"/>
              </a:rPr>
              <a:t>GitHub Actions rasmiy hujjatlari: https://docs.github.com/en/actions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https://aiscan.airi.uz/ktm/#/c/mis2104/mavzu/M12</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
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a:p/>
          <a:p>
            <a:r>
              <a:t>Google Cloud'ning keng tarqalgan tasnifi uch yetuklik darajasini ajratadi. 0-daraja — qo'lda jarayon: ma'lumotlar olimi daftarda model o'qitadi, og'irliklar faylini muhandisga beradi, u qo'lda joylashtiradi; o'qitish va joylashtirish o'rtasida haftalar, monitoring yo'q, model tez eskiradi. 1-daraja — ML konveyerini avtomatlashtirish: o'qitish konveyeri (ma'lumot validatsiyasi → tayyorlash → o'qitish → baholash → validatsiya) kod sifatida yoziladi va yangi ma'lumot yoki trigger bo'yicha avtomatik ishga tushadi (CT); eksperiment va ishlab chiqarish bir xil konveyerdan foydalanadi; model reestri va xususiyatlar ombori (feature store) paydo bo'ladi. 2-daraja — CI/CD konveyerini avtomatlashtirish: konveyerning o'zi ham avtomatik testlanadi va joylashtiriladi; yangi konveyer kodi push qilinganda u yig'iladi, testlanadi, sinov muhitiga chiqadi, so'ngra ishlab chiqarishga — model ham, konveyer ham uzluksiz yetkaziladi. Ko'pchilik tashkilotlar 0 va 1 o'rtasida; 2-daraja kuniga ko'p model yangilovchi yirik platformalarga xos.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a:p/>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a:p/>
          <a:p>
            <a:r>
              <a:t>Model reestriga «model kartasi» (model card) ham biriktiriladi — modelning maqsadi, o'qitish ma'lumotlari, baholash natijalari (jumladan, kichik guruhlar bo'yicha), cheklovlari va etik mulohazalari haqida hujjat; ISO/IEC 42001 va EU AI Act kabi me'yoriy hujjatlar yuqori xavfli tizimlar uchun aynan shunday hujjatlashtirishni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loyihasida uzluksiz integratsiya kod testlaridan ancha keng. Breck va hamkasblarining «ML Test Score» (Google, 2017) ro'yxati to'rt guruhni ajratadi: ma'lumot testlari (xususiyat taqsimoti kutilganga mos, sxema buzilmagan, maxfiy xususiyatlar yo'q, xususiyat narxi foydasiga arziydi), model testlari (sifat chegaradan yuqori, oddiy bazadan yaxshi, kichik guruhlar bo'yicha adolatli, giperparametrlar sozlangan, eskirmagan), infratuzilma testlari (o'qitish takrorlanuvchan, konveyer integratsiya testi, modelni orqaga qaytarish mumkin, xizmat ko'rsatish kodi o'qitish kodi bilan bir xil natija beradi — «training-serving skew» yo'q), monitoring testlari. Amaliyotda CI konveyeri (GitHub Actions, GitLab CI, Jenkins) quyidagi bosqichlarni bajaradi: lint va birlik testlari (pytest), ma'lumot sxemasi validatsiyasi (Great Expectations, Pandera), kichik to'plamda «tutun» o'qitish (smoke training — konveyer buzilmaganini tekshirish), model sifatini chegara bilan solishtirish, Docker obrazini yig'ish va reestrga yuborish, sinov muhitiga joylashtirish, integratsiya testi (API'ga so'rov → kutilgan javob), kechikish benchmark'i.</a:t>
            </a:r>
          </a:p>
          <a:p/>
          <a:p>
            <a:r>
              <a:t>Uzluksiz yetkazish ML'da «model validatsiyasi darvozasi» bilan to'ldiriladi: yangi model avtomatik ravishda ishlab chiqarishga chiqmaydi, u oldin joriy «chempion» bilan bir xil test to'plamida solishtiriladi, kichik guruhlar bo'yicha sifati tekshiriladi, kechikish va xotira talablariga mosligi o'lchanadi; faqat barcha mezonlardan o'tsa — avtomatik yoki inson tasdig'i bilan — joylashtiriladi. Uzluksiz o'qitish (CT) esa konveyerni triggerlar bo'yicha ishga tushiradi: jadval (har kecha), yangi ma'lumot hajmi (10 000 yangi yorliq), monitoring signali (drift aniqlandi, sifat tushdi), qo'lda. CT konveyeri odatda orkestrator — Kubeflow Pipelines, Apache Airflow, Argo Workflows, Prefect, Metaflow — ustida quriladi; har bosqich konteyner, bosqichlar orasidagi artefaktlar obyekt saqlashda.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a:p/>
          <a:p>
            <a:r>
              <a:t>Onlayn xizmat ko'rsatish uchun vositalar: oddiy FastAPI/Flask ilovasi (to'liq nazorat, kichik yuk uchun yetarli), TorchServe va TensorFlow Serving (freymvorkka xos, versiyalash va partiyalash bilan), NVIDIA Triton Inference Server (ko'p freymvork, dinamik partiyalash, ansambl, GPU'da bir nechta model), KServe va Seldon Core (Kubernetes ustida model xizmatlari uchun standart: avtomasshtablash, kanareyka, transformerlar), BentoML (Python-markaziy paketlash). Kubernetes (M7) joylashtirish platformasi sifatida: Deployment — nusxalar va yangilanish, Service/Ingress — tarmoq, HorizontalPodAutoscaler — yuk bo'yicha masshtablash, GPU Operator — drayver va qurilma plaginlari, nvidia.com/gpu resurs so'rovi.</a:t>
            </a:r>
          </a:p>
          <a:p/>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a:p/>
          <a:p>
            <a:r>
              <a:t>Siljish (drift) turlari: ma'lumot siljishi (data drift, covariate shift) — kirish taqsimoti P(X) o'zgaradi, bog'liqlik P(Y|X) o'zgarmaydi (yangi mintaqadan foydalanuvchilar); konsepsiya siljishi (concept drift) — P(Y|X) o'zgaradi (pandemiya iste'mol odatlarini o'zgartirdi, firibgarlar yangi usul topdi) — eng xavfli, chunki kirish bir xil ko'rinadi, javob esa noto'g'ri; yorliq siljishi (label/prior shift) — P(Y) o'zgaradi; bashorat siljishi (prediction drift) — model chiqishi taqsimoti o'zgaradi, yorliqsiz kuzatiladigan bilvosita belgi. Siljish keskin (sudden), bosqichma-bosqich (gradual), tiklanuvchi (recurring, mavsumiy) bo'lishi mumkin.</a:t>
            </a:r>
          </a:p>
          <a:p/>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a:p/>
          <a:p>
            <a:r>
              <a:t>Siljish aniqlangach nima qilish kerak — bu ham loyihalash qarori: ogohlantirish va inson tahlili; avtomatik qayta o'qitish (CT trigger); zaxira modelga yoki qoidaga o'tish; bashoratga ishonchsizlik belgisi qo'yish. Avtomatik qayta o'qitish faqat yorliqlar tez keladigan va validatsiya darvozasi kuchli bo'lgan tizimlarda xavfsiz; aks holda siljish zaharlangan ma'lumotdan (M9) kelib chiqqan bo'lsa, qayta o'qitish uni modelga «qonuniylashtiradi».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M12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Ekspluatatsiya qilish texnologiyalari (MLOps)</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ebe15880353e1ac5.jpg"/>
          <p:cNvPicPr>
            <a:picLocks noChangeAspect="1"/>
          </p:cNvPicPr>
          <p:nvPr/>
        </p:nvPicPr>
        <p:blipFill>
          <a:blip r:embed="rId2"/>
          <a:srcRect l="24267" r="24267"/>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Marek Ślusarczyk (Tupungato) Photo portfolio · Wikimedia Commons · CC BY 3.0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MLOps konsepsiyasi va yetuklik darajalari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Eksperimentlarni kuzatish va Model Registry</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CI/CD va uzluksiz o'qitish (CT)</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Model Deployment: rejimlar va strategiyalar</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Monitoring va Drift Detection</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Infratuzilmani avtomatlashtirish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232e614fe9cbcf3.jpg"/>
          <p:cNvPicPr>
            <a:picLocks noChangeAspect="1"/>
          </p:cNvPicPr>
          <p:nvPr/>
        </p:nvPicPr>
        <p:blipFill>
          <a:blip r:embed="rId2"/>
          <a:srcRect l="14862" r="1486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Cristiano Breuel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MLOps konsepsiyasi va yetuklik darajalari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MLOps konsepsiyasi va yetuklik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2250048"/>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0048"/>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7502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0048"/>
            <a:ext cx="10150000" cy="1389952"/>
          </a:xfrm>
          <a:prstGeom prst="rect">
            <a:avLst/>
          </a:prstGeom>
          <a:noFill/>
        </p:spPr>
        <p:txBody>
          <a:bodyPr wrap="square" anchor="ctr">
            <a:spAutoFit/>
          </a:bodyPr>
          <a:lstStyle/>
          <a:p>
            <a:r>
              <a:rPr sz="1700" b="0">
                <a:solidFill>
                  <a:srgbClr val="1B2430"/>
                </a:solidFill>
                <a:latin typeface="Calibri"/>
              </a:rPr>
              <a:t>MLOps — ML tizimlarini ishlab chiqish (Dev) va ekspluatatsiya qilish (Ops) o'rtasidagi devorni yo'qotuvchi, avtomatlashtirish, monitoring va hamkorlikka asoslangan amaliyotlar to'plami.</a:t>
            </a:r>
          </a:p>
        </p:txBody>
      </p:sp>
      <p:sp>
        <p:nvSpPr>
          <p:cNvPr id="14" name="Rounded Rectangle 13"/>
          <p:cNvSpPr/>
          <p:nvPr/>
        </p:nvSpPr>
        <p:spPr>
          <a:xfrm>
            <a:off x="550000" y="3830000"/>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469952"/>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35497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389952"/>
          </a:xfrm>
          <a:prstGeom prst="rect">
            <a:avLst/>
          </a:prstGeom>
          <a:noFill/>
        </p:spPr>
        <p:txBody>
          <a:bodyPr wrap="square" anchor="ctr">
            <a:spAutoFit/>
          </a:bodyPr>
          <a:lstStyle/>
          <a:p>
            <a:r>
              <a:rPr sz="1800" b="1">
                <a:solidFill>
                  <a:srgbClr val="1F3A5F"/>
                </a:solidFill>
                <a:latin typeface="Calibri"/>
              </a:rPr>
              <a:t>Google Cloud'ning keng tarqalgan tasnifi uch yetuklik darajasini ajratadi.</a:t>
            </a:r>
          </a:p>
          <a:p>
            <a:pPr>
              <a:spcBef>
                <a:spcPts val="400"/>
              </a:spcBef>
            </a:pPr>
            <a:r>
              <a:rPr sz="1700">
                <a:solidFill>
                  <a:srgbClr val="334055"/>
                </a:solidFill>
                <a:latin typeface="Calibri"/>
              </a:rPr>
              <a:t>0-daraja — qo'lda jarayon: ma'lumotlar olimi daftarda model o'qitadi, og'irliklar faylini muhandisga beradi, u qo'lda joylashtiradi; o'qitish va joylashtirish o'rtasida haftalar, monitoring yo'q, model tez eskiradi.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MLOps konsepsiyasi va yetuklik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Jihat</a:t>
                      </a:r>
                    </a:p>
                  </a:txBody>
                  <a:tcPr>
                    <a:solidFill>
                      <a:srgbClr val="2D5C8F"/>
                    </a:solidFill>
                  </a:tcPr>
                </a:tc>
                <a:tc>
                  <a:txBody>
                    <a:bodyPr/>
                    <a:lstStyle/>
                    <a:p>
                      <a:r>
                        <a:rPr sz="1200" b="1">
                          <a:solidFill>
                            <a:srgbClr val="FFFFFF"/>
                          </a:solidFill>
                          <a:latin typeface="Calibri"/>
                        </a:rPr>
                        <a:t>DevOps</a:t>
                      </a:r>
                    </a:p>
                  </a:txBody>
                  <a:tcPr>
                    <a:solidFill>
                      <a:srgbClr val="2D5C8F"/>
                    </a:solidFill>
                  </a:tcPr>
                </a:tc>
                <a:tc>
                  <a:txBody>
                    <a:bodyPr/>
                    <a:lstStyle/>
                    <a:p>
                      <a:r>
                        <a:rPr sz="1200" b="1">
                          <a:solidFill>
                            <a:srgbClr val="FFFFFF"/>
                          </a:solidFill>
                          <a:latin typeface="Calibri"/>
                        </a:rPr>
                        <a:t>MLOps qo'shimchasi</a:t>
                      </a:r>
                    </a:p>
                  </a:txBody>
                  <a:tcPr>
                    <a:solidFill>
                      <a:srgbClr val="2D5C8F"/>
                    </a:solidFill>
                  </a:tcPr>
                </a:tc>
              </a:tr>
              <a:tr h="520000">
                <a:tc>
                  <a:txBody>
                    <a:bodyPr/>
                    <a:lstStyle/>
                    <a:p>
                      <a:r>
                        <a:rPr sz="1200" b="0">
                          <a:solidFill>
                            <a:srgbClr val="1B2430"/>
                          </a:solidFill>
                          <a:latin typeface="Calibri"/>
                        </a:rPr>
                        <a:t>Versiyalash</a:t>
                      </a:r>
                    </a:p>
                  </a:txBody>
                  <a:tcPr>
                    <a:solidFill>
                      <a:srgbClr val="F1F4F8"/>
                    </a:solidFill>
                  </a:tcPr>
                </a:tc>
                <a:tc>
                  <a:txBody>
                    <a:bodyPr/>
                    <a:lstStyle/>
                    <a:p>
                      <a:r>
                        <a:rPr sz="1200" b="0">
                          <a:solidFill>
                            <a:srgbClr val="1B2430"/>
                          </a:solidFill>
                          <a:latin typeface="Calibri"/>
                        </a:rPr>
                        <a:t>Kod (Git)</a:t>
                      </a:r>
                    </a:p>
                  </a:txBody>
                  <a:tcPr>
                    <a:solidFill>
                      <a:srgbClr val="F1F4F8"/>
                    </a:solidFill>
                  </a:tcPr>
                </a:tc>
                <a:tc>
                  <a:txBody>
                    <a:bodyPr/>
                    <a:lstStyle/>
                    <a:p>
                      <a:r>
                        <a:rPr sz="1200" b="0">
                          <a:solidFill>
                            <a:srgbClr val="1B2430"/>
                          </a:solidFill>
                          <a:latin typeface="Calibri"/>
                        </a:rPr>
                        <a:t>+ ma'lumot (DVC, LakeFS), + model (reestr), + muhit</a:t>
                      </a:r>
                    </a:p>
                  </a:txBody>
                  <a:tcPr>
                    <a:solidFill>
                      <a:srgbClr val="F1F4F8"/>
                    </a:solidFill>
                  </a:tcPr>
                </a:tc>
              </a:tr>
              <a:tr h="520000">
                <a:tc>
                  <a:txBody>
                    <a:bodyPr/>
                    <a:lstStyle/>
                    <a:p>
                      <a:r>
                        <a:rPr sz="1200" b="0">
                          <a:solidFill>
                            <a:srgbClr val="1B2430"/>
                          </a:solidFill>
                          <a:latin typeface="Calibri"/>
                        </a:rPr>
                        <a:t>Test</a:t>
                      </a:r>
                    </a:p>
                  </a:txBody>
                  <a:tcPr>
                    <a:solidFill>
                      <a:srgbClr val="FFFFFF"/>
                    </a:solidFill>
                  </a:tcPr>
                </a:tc>
                <a:tc>
                  <a:txBody>
                    <a:bodyPr/>
                    <a:lstStyle/>
                    <a:p>
                      <a:r>
                        <a:rPr sz="1200" b="0">
                          <a:solidFill>
                            <a:srgbClr val="1B2430"/>
                          </a:solidFill>
                          <a:latin typeface="Calibri"/>
                        </a:rPr>
                        <a:t>Birlik, integratsiya</a:t>
                      </a:r>
                    </a:p>
                  </a:txBody>
                  <a:tcPr>
                    <a:solidFill>
                      <a:srgbClr val="FFFFFF"/>
                    </a:solidFill>
                  </a:tcPr>
                </a:tc>
                <a:tc>
                  <a:txBody>
                    <a:bodyPr/>
                    <a:lstStyle/>
                    <a:p>
                      <a:r>
                        <a:rPr sz="1200" b="0">
                          <a:solidFill>
                            <a:srgbClr val="1B2430"/>
                          </a:solidFill>
                          <a:latin typeface="Calibri"/>
                        </a:rPr>
                        <a:t>+ ma'lumot sxemasi/taqsimoti, + model sifati chegaralari, + adolatlilik, + unumdorlik</a:t>
                      </a:r>
                    </a:p>
                  </a:txBody>
                  <a:tcPr>
                    <a:solidFill>
                      <a:srgbClr val="FFFFFF"/>
                    </a:solidFill>
                  </a:tcPr>
                </a:tc>
              </a:tr>
              <a:tr h="520000">
                <a:tc>
                  <a:txBody>
                    <a:bodyPr/>
                    <a:lstStyle/>
                    <a:p>
                      <a:r>
                        <a:rPr sz="1200" b="0">
                          <a:solidFill>
                            <a:srgbClr val="1B2430"/>
                          </a:solidFill>
                          <a:latin typeface="Calibri"/>
                        </a:rPr>
                        <a:t>CI/CD</a:t>
                      </a:r>
                    </a:p>
                  </a:txBody>
                  <a:tcPr>
                    <a:solidFill>
                      <a:srgbClr val="F1F4F8"/>
                    </a:solidFill>
                  </a:tcPr>
                </a:tc>
                <a:tc>
                  <a:txBody>
                    <a:bodyPr/>
                    <a:lstStyle/>
                    <a:p>
                      <a:r>
                        <a:rPr sz="1200" b="0">
                          <a:solidFill>
                            <a:srgbClr val="1B2430"/>
                          </a:solidFill>
                          <a:latin typeface="Calibri"/>
                        </a:rPr>
                        <a:t>Yig'ish, test, joylashtirish</a:t>
                      </a:r>
                    </a:p>
                  </a:txBody>
                  <a:tcPr>
                    <a:solidFill>
                      <a:srgbClr val="F1F4F8"/>
                    </a:solidFill>
                  </a:tcPr>
                </a:tc>
                <a:tc>
                  <a:txBody>
                    <a:bodyPr/>
                    <a:lstStyle/>
                    <a:p>
                      <a:r>
                        <a:rPr sz="1200" b="0">
                          <a:solidFill>
                            <a:srgbClr val="1B2430"/>
                          </a:solidFill>
                          <a:latin typeface="Calibri"/>
                        </a:rPr>
                        <a:t>+ CT (qayta o'qitish), + model validatsiyasi darvozasi</a:t>
                      </a:r>
                    </a:p>
                  </a:txBody>
                  <a:tcPr>
                    <a:solidFill>
                      <a:srgbClr val="F1F4F8"/>
                    </a:solidFill>
                  </a:tcPr>
                </a:tc>
              </a:tr>
              <a:tr h="520000">
                <a:tc>
                  <a:txBody>
                    <a:bodyPr/>
                    <a:lstStyle/>
                    <a:p>
                      <a:r>
                        <a:rPr sz="1200" b="0">
                          <a:solidFill>
                            <a:srgbClr val="1B2430"/>
                          </a:solidFill>
                          <a:latin typeface="Calibri"/>
                        </a:rPr>
                        <a:t>Monitoring</a:t>
                      </a:r>
                    </a:p>
                  </a:txBody>
                  <a:tcPr>
                    <a:solidFill>
                      <a:srgbClr val="FFFFFF"/>
                    </a:solidFill>
                  </a:tcPr>
                </a:tc>
                <a:tc>
                  <a:txBody>
                    <a:bodyPr/>
                    <a:lstStyle/>
                    <a:p>
                      <a:r>
                        <a:rPr sz="1200" b="0">
                          <a:solidFill>
                            <a:srgbClr val="1B2430"/>
                          </a:solidFill>
                          <a:latin typeface="Calibri"/>
                        </a:rPr>
                        <a:t>CPU, xotira, xatolar, kechikish</a:t>
                      </a:r>
                    </a:p>
                  </a:txBody>
                  <a:tcPr>
                    <a:solidFill>
                      <a:srgbClr val="FFFFFF"/>
                    </a:solidFill>
                  </a:tcPr>
                </a:tc>
                <a:tc>
                  <a:txBody>
                    <a:bodyPr/>
                    <a:lstStyle/>
                    <a:p>
                      <a:r>
                        <a:rPr sz="1200" b="0">
                          <a:solidFill>
                            <a:srgbClr val="1B2430"/>
                          </a:solidFill>
                          <a:latin typeface="Calibri"/>
                        </a:rPr>
                        <a:t>+ ma'lumot/konsepsiya siljishi, + bashorat sifati, + kechikkan yorliqlar</a:t>
                      </a:r>
                    </a:p>
                  </a:txBody>
                  <a:tcPr>
                    <a:solidFill>
                      <a:srgbClr val="FFFFFF"/>
                    </a:solidFill>
                  </a:tcPr>
                </a:tc>
              </a:tr>
              <a:tr h="520000">
                <a:tc>
                  <a:txBody>
                    <a:bodyPr/>
                    <a:lstStyle/>
                    <a:p>
                      <a:r>
                        <a:rPr sz="1200" b="0">
                          <a:solidFill>
                            <a:srgbClr val="1B2430"/>
                          </a:solidFill>
                          <a:latin typeface="Calibri"/>
                        </a:rPr>
                        <a:t>Jamoa</a:t>
                      </a:r>
                    </a:p>
                  </a:txBody>
                  <a:tcPr>
                    <a:solidFill>
                      <a:srgbClr val="F1F4F8"/>
                    </a:solidFill>
                  </a:tcPr>
                </a:tc>
                <a:tc>
                  <a:txBody>
                    <a:bodyPr/>
                    <a:lstStyle/>
                    <a:p>
                      <a:r>
                        <a:rPr sz="1200" b="0">
                          <a:solidFill>
                            <a:srgbClr val="1B2430"/>
                          </a:solidFill>
                          <a:latin typeface="Calibri"/>
                        </a:rPr>
                        <a:t>Dasturchi + operatsiya</a:t>
                      </a:r>
                    </a:p>
                  </a:txBody>
                  <a:tcPr>
                    <a:solidFill>
                      <a:srgbClr val="F1F4F8"/>
                    </a:solidFill>
                  </a:tcPr>
                </a:tc>
                <a:tc>
                  <a:txBody>
                    <a:bodyPr/>
                    <a:lstStyle/>
                    <a:p>
                      <a:r>
                        <a:rPr sz="1200" b="0">
                          <a:solidFill>
                            <a:srgbClr val="1B2430"/>
                          </a:solidFill>
                          <a:latin typeface="Calibri"/>
                        </a:rPr>
                        <a:t>+ ma'lumotlar olimi + ma'lumot muhandisi + domen eksperti</a:t>
                      </a:r>
                    </a:p>
                  </a:txBody>
                  <a:tcPr>
                    <a:solidFill>
                      <a:srgbClr val="F1F4F8"/>
                    </a:solidFill>
                  </a:tcPr>
                </a:tc>
              </a:tr>
              <a:tr h="520000">
                <a:tc>
                  <a:txBody>
                    <a:bodyPr/>
                    <a:lstStyle/>
                    <a:p>
                      <a:r>
                        <a:rPr sz="1200" b="0">
                          <a:solidFill>
                            <a:srgbClr val="1B2430"/>
                          </a:solidFill>
                          <a:latin typeface="Calibri"/>
                        </a:rPr>
                        <a:t>Artefakt</a:t>
                      </a:r>
                    </a:p>
                  </a:txBody>
                  <a:tcPr>
                    <a:solidFill>
                      <a:srgbClr val="FFFFFF"/>
                    </a:solidFill>
                  </a:tcPr>
                </a:tc>
                <a:tc>
                  <a:txBody>
                    <a:bodyPr/>
                    <a:lstStyle/>
                    <a:p>
                      <a:r>
                        <a:rPr sz="1200" b="0">
                          <a:solidFill>
                            <a:srgbClr val="1B2430"/>
                          </a:solidFill>
                          <a:latin typeface="Calibri"/>
                        </a:rPr>
                        <a:t>Konteyner obrazi</a:t>
                      </a:r>
                    </a:p>
                  </a:txBody>
                  <a:tcPr>
                    <a:solidFill>
                      <a:srgbClr val="FFFFFF"/>
                    </a:solidFill>
                  </a:tcPr>
                </a:tc>
                <a:tc>
                  <a:txBody>
                    <a:bodyPr/>
                    <a:lstStyle/>
                    <a:p>
                      <a:r>
                        <a:rPr sz="1200" b="0">
                          <a:solidFill>
                            <a:srgbClr val="1B2430"/>
                          </a:solidFill>
                          <a:latin typeface="Calibri"/>
                        </a:rPr>
                        <a:t>Konteyner + model fayli + xususiyatlar ta'rifi + ma'lumot versiyasi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d11da5573bfb187.jpg"/>
          <p:cNvPicPr>
            <a:picLocks noChangeAspect="1"/>
          </p:cNvPicPr>
          <p:nvPr/>
        </p:nvPicPr>
        <p:blipFill>
          <a:blip r:embed="rId2"/>
          <a:srcRect l="14527" r="1452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User:SSethi (WMF) and Claude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Eksperimentlarni kuzatish va Model Registry</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Eksperimentlarni kuzatish va Model Registry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Model reestri (Model Registry) — o'qitilgan modellarning markazlashgan, versiyalangan ombori bo'lib, har model uchun uning kelib chiqishini (lineage: qaysi kod commit'i, qaysi ma'lumot versiyasi, qaysi giperparametrlar, qaysi muhit), baholash…</a:t>
            </a:r>
          </a:p>
          <a:p>
            <a:pPr>
              <a:spcBef>
                <a:spcPts val="400"/>
              </a:spcBef>
            </a:pPr>
            <a:r>
              <a:rPr sz="1400">
                <a:solidFill>
                  <a:srgbClr val="334055"/>
                </a:solidFill>
                <a:latin typeface="Calibri"/>
              </a:rPr>
              <a:t>U ikki savolga javob beradi: «Hozir ishlab chiqarishda qaysi model ishlayapti va u qayerdan kelgan?» va «Bu modelni kim, qachon, qanday asosda tasdiqlagan?».</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MLflow — eng keng tarqalgan ochiq vosita; u to'rt komponentdan iborat.</a:t>
            </a:r>
          </a:p>
          <a:p>
            <a:pPr>
              <a:spcBef>
                <a:spcPts val="400"/>
              </a:spcBef>
            </a:pPr>
            <a:r>
              <a:rPr sz="1400">
                <a:solidFill>
                  <a:srgbClr val="334055"/>
                </a:solidFill>
                <a:latin typeface="Calibri"/>
              </a:rPr>
              <a:t>Tracking — har o'qitish ishga tushirilishi (run) uchun parametrlar, metrikalar (vaqt bo'yicha), artefaktlar va teglar yoziladi, veb-interfeysda solishtiriladi.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400" b="0">
                <a:solidFill>
                  <a:srgbClr val="1B2430"/>
                </a:solidFill>
                <a:latin typeface="Calibri"/>
              </a:rPr>
              <a:t>Model reestriga «model kartasi» (model card) ham biriktiriladi — modelning maqsadi, o'qitish ma'lumotlari, baholash natijalari (jumladan, kichik guruhlar bo'yicha), cheklovlari va etik mulohazalari haqida hujjat; ISO/IEC 42001 va EU AI Act kabi me'yoriy…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e4dd7c58b18f36f.jpg"/>
          <p:cNvPicPr>
            <a:picLocks noChangeAspect="1"/>
          </p:cNvPicPr>
          <p:nvPr/>
        </p:nvPicPr>
        <p:blipFill>
          <a:blip r:embed="rId2"/>
          <a:srcRect l="21340" r="2134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Arunvrparavur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CI/CD va uzluksiz o'qitish (CT)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CI/CD va uzluksiz o'qitish (CT)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ML loyihasida uzluksiz integratsiya kod testlaridan ancha keng.</a:t>
            </a:r>
          </a:p>
        </p:txBody>
      </p:sp>
      <p:sp>
        <p:nvSpPr>
          <p:cNvPr id="14" name="Rounded Rectangle 13"/>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Uzluksiz yetkazish ML'da «model validatsiyasi darvozasi» bilan to'ldiriladi: yangi model avtomatik ravishda ishlab chiqarishga chiqmaydi, u oldin joriy «chempion» bilan bir xil test to'plamida solishtiriladi, kichik guruhlar bo'yicha sifati tekshiriladi…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84fb9d108a417d9.jpg"/>
          <p:cNvPicPr>
            <a:picLocks noChangeAspect="1"/>
          </p:cNvPicPr>
          <p:nvPr/>
        </p:nvPicPr>
        <p:blipFill>
          <a:blip r:embed="rId2"/>
          <a:srcRect t="11217" b="1121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NASA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Model Deployment: rejimlar va strategiyalar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Model Deployment: rejimlar va strategiyalar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Joylashtirish rejimi ish yukiga qarab tanlanadi.</a:t>
            </a:r>
          </a:p>
          <a:p>
            <a:pPr>
              <a:spcBef>
                <a:spcPts val="400"/>
              </a:spcBef>
            </a:pPr>
            <a:r>
              <a:rPr sz="1400">
                <a:solidFill>
                  <a:srgbClr val="334055"/>
                </a:solidFill>
                <a:latin typeface="Calibri"/>
              </a:rPr>
              <a:t>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400" b="0">
                <a:solidFill>
                  <a:srgbClr val="1B2430"/>
                </a:solidFill>
                <a:latin typeface="Calibri"/>
              </a:rPr>
              <a:t>Onlayn xizmat ko'rsatish uchun vositalar: oddiy FastAPI/Flask ilovasi (to'liq nazorat, kichik yuk uchun yetarli), TorchServe va TensorFlow Serving (freymvorkka xos, versiyalash va partiyalash bilan), NVIDIA Triton Inference Server (ko'p freymvork, dinamik…</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Yangi versiyani chiqarish strategiyalari xavfni boshqaradi.</a:t>
            </a:r>
          </a:p>
          <a:p>
            <a:pPr>
              <a:spcBef>
                <a:spcPts val="400"/>
              </a:spcBef>
            </a:pPr>
            <a:r>
              <a:rPr sz="1400">
                <a:solidFill>
                  <a:srgbClr val="334055"/>
                </a:solidFill>
                <a:latin typeface="Calibri"/>
              </a:rPr>
              <a:t>Qayta yaratish (recreate): eski to'xtatiladi, yangi ishga tushadi — to'xtash vaqti bor. Dumalab yangilash (rolling update): podlar birin-ketin almashtiriladi — Kubernetes standarti, lekin ikki versiya bir vaqtda ishlaydi.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40502ee1b48bc7f.jpg"/>
          <p:cNvPicPr>
            <a:picLocks noChangeAspect="1"/>
          </p:cNvPicPr>
          <p:nvPr/>
        </p:nvPicPr>
        <p:blipFill>
          <a:blip r:embed="rId2"/>
          <a:srcRect l="23152" r="2315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Tomorrowi0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Monitoring va Drift Detection</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Monitoring va Drift Detection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Ishlab chiqarishdagi model uch qatlamda kuzatiladi.</a:t>
            </a:r>
          </a:p>
          <a:p>
            <a:pPr>
              <a:spcBef>
                <a:spcPts val="400"/>
              </a:spcBef>
            </a:pPr>
            <a:r>
              <a:rPr sz="1400">
                <a:solidFill>
                  <a:srgbClr val="334055"/>
                </a:solidFill>
                <a:latin typeface="Calibri"/>
              </a:rPr>
              <a:t>Operatsion qatlam — an'anaviy: so'rovlar soni, kechikish foizillari, xato darajasi, GPU bandligi va xotira, navbat uzunligi; vositalar — Prometheus (metrikalar), Grafana (panellar), Alertmanager (ogohlantirish), OpenTelemetry (izlar).</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Siljish (drift) turlari: ma'lumot siljishi (data drift, covariate shift) — kirish taqsimoti P(X) o'zgaradi, bog'liqlik P(Y|X) o'zgarmaydi (yangi mintaqadan foydalanuvchilar); konsepsiya siljishi (concept drift) — P(Y|X) o'zgaradi (pandemiya iste'mol…</a:t>
            </a:r>
          </a:p>
          <a:p>
            <a:pPr>
              <a:spcBef>
                <a:spcPts val="400"/>
              </a:spcBef>
            </a:pPr>
            <a:r>
              <a:rPr sz="1400">
                <a:solidFill>
                  <a:srgbClr val="334055"/>
                </a:solidFill>
                <a:latin typeface="Calibri"/>
              </a:rPr>
              <a:t>Siljish keskin (sudden), bosqichma-bosqich (gradual), tiklanuvchi (recurring, mavsumiy) bo'lishi mumkin.</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Aniqlash usullari — mos yozuvlar (reference, odatda o'qitish yoki validatsiya to'plami) va joriy oyna (current, oxirgi kun/hafta) taqsimotlarini statistik solishtirish.</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Siljish aniqlangach nima qilish kerak — bu ham loyihalash qarori: ogohlantirish va inson tahlili; avtomatik qayta o'qitish (CT trigger); zaxira modelga yoki qoidaga o'tish; bashoratga ishonchsizlik belgisi qo'yish.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60d4eb086b77012.jpg"/>
          <p:cNvPicPr>
            <a:picLocks noChangeAspect="1"/>
          </p:cNvPicPr>
          <p:nvPr/>
        </p:nvPicPr>
        <p:blipFill>
          <a:blip r:embed="rId2"/>
          <a:srcRect l="8547" r="854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Pouria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Infratuzilmani avtomatlashtirish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Infratuzilmani avtomatlashtirish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M12 · Ekspluatatsiya qilish texnologiyalari (MLOps)</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AI infratuzilmasi — GPU tugunlari, klaster, saqlash, tarmoq, reestr, monitoring — ham kod sifatida boshqarilishi kerak (Infrastructure as Code, IaC).</a:t>
            </a:r>
          </a:p>
          <a:p>
            <a:pPr>
              <a:spcBef>
                <a:spcPts val="400"/>
              </a:spcBef>
            </a:pPr>
            <a:r>
              <a:rPr sz="1700">
                <a:solidFill>
                  <a:srgbClr val="334055"/>
                </a:solidFill>
                <a:latin typeface="Calibri"/>
              </a:rPr>
              <a:t>Terraform yoki Pulumi bulut resurslarini (GPU instanslar, Kubernetes klaster, obyekt saqlash, IAM rollari) deklarativ fayllarda tavsiflaydi va plan/apply bilan takrorlanuvchan yaratadi; Ansible — serverlarni sozlash.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
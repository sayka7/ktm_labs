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Flinn tasnifi (Flynn's taxonomy) hisoblash tizimlarini buyruq va ma'lumot oqimlari soniga ko'ra to'rt sinfga ajratadi: SISD (bitta buyruq, bitta ma'lumot — klassik skalyar protsessor), SIMD (bitta buyruq, ko'p ma'lumot — vektor bloklar, GPU warp), MISD (amalda kam uchraydi) va MIMD (ko'p buyruq, ko'p ma'lumot — ko'p yadroli CPU, klaster). Zamonaviy SI tizimi barcha darajalarni birlashtiradi: klaster MIMD, har tugundagi GPU SIMT (SIMD ning oqimli varianti), har SM ichidagi Tensor Core esa matritsa darajasidagi SIMD.</a:t>
            </a:r>
          </a:p>
          <a:p/>
          <a:p>
            <a:r>
              <a:t>Parallel dasturning sifatini ikki ko'rsatkich belgilaydi: tezlashuv S(p) = T(1) / T(p) — p protsessorda bajarish vaqtining bitta protsessordagi vaqtga nisbati, va samaradorlik E(p) = S(p) / p — ideal chiziqli tezlashuvga nisbatan ulush. Amdal qonuni tezlashuvning yuqori chegarasini beradi: agar ishning f ulushi ketma-ket bo'lsa, S(p) ≤ 1 / (f + (1 − f)/p), va p → ∞ da S ≤ 1/f. Ketma-ket ulush 5 % bo'lsa, hatto ming protsessor ham 20 baravardan ortiq tezlashuv bermaydi. Bu pessimistik qonun kuchli masshtablash (strong scaling) — masala hajmi o'zgarmas, protsessorlar soni o'sadi — uchun to'g'ri.</a:t>
            </a:r>
          </a:p>
          <a:p/>
          <a:p>
            <a:r>
              <a:t>Gustafson qonuni boshqa nuqtai nazarni beradi: amalda protsessorlar ko'paysa, muhandis masalani kattalashtiradi (ko'proq ma'lumot, kattaroq model). Agar ketma-ket qism vaqti o'zgarmas va parallel qism protsessorlar soniga proporsional o'ssa, masshtablangan tezlashuv S(p) = f + (1 − f) × p — deyarli chiziqli. Bu kuchsiz masshtablash (weak scaling) deb ataladi va neyron tarmoq o'qitishga aynan mos keladi: 8 GPU ga o'tganda har GPU ga bir xil mikro-paket beriladi, global paket 8 baravar o'sadi, bir iteratsiya vaqti deyarli o'zgarmaydi. Shu sababli taqsimlangan o'qitish hisobotlarida odatda «so'ngra tasvir/soniya» yoki «token/soniya» o'tkazuvchanligi keltiriladi.</a:t>
            </a:r>
          </a:p>
          <a:p/>
          <a:p>
            <a:r>
              <a:t>Aloqa narxini baholash uchun oddiy model foydali: M baytli xabarni uzatish vaqti t = α + M / β, bu yerda α — kechikish (latency, InfiniBand da 1–2 mks, PCIe da 5–10 mks, Ethernet TCP da 20–50 mks), β — o'tkazuvchanlik. Kichik xabarlar α bilan, katta xabarlar β bilan cheklanadi; shuning uchun ko'plab kichik gradientlarni bitta katta buferga birlashtirish (bucketing) — DDP ning asosiy optimallashtirishi.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(Compute Unified Device Architecture) — NVIDIA GPU larini umumiy maqsadli hisoblash uchun dasturlash platformasi. Kirk va Hwu [5] bayon qilgan modelda dasturchi yadro (kernel) — minglab oqim parallel bajaradigan funksiya — yozadi. Oqimlar uch darajali iyerarxiyaga uyushtiriladi: oqim (thread) → blok (block, 1024 tagacha oqim, bitta SM da bajariladi, umumiy xotira orqali almashadi) → to'r (grid, bloklar to'plami). Apparat blokni 32 oqimli warp larga bo'lib, warp ni bitta buyruq bilan bajaradi. Quyidagi yadro ikki vektorni qo'shadi:</a:t>
            </a:r>
          </a:p>
          <a:p/>
          <a:p>
            <a:r>
              <a:t>CUDA dasturining samaradorligi to'rt omilga bog'liq: bandlik (occupancy — SM da bir vaqtda faol warp lar soni, xotira kechikishini yashirish uchun ko'p bo'lishi kerak), birlashgan xotira murojaati (coalescing — warp dagi 32 oqim qo'shni manzillarga murojaat qilsa, bitta tranzaksiya), umumiy xotiradan foydalanish (ma'lumotni global xotiradan bir marta yuklab, blok ichida ko'p marta ishlatish — matritsa ko'paytirishda «plitkalash», tiling) va warp divergensiyasi (warp ichidagi oqimlar turli tarmoqqa ketsa, ikkala tarmoq ketma-ket bajariladi). SI muhandisi odatda o'z yadrosini yozmaydi — cuBLAS, cuDNN, TensorRT va PyTorch tayyor yadrolar beradi — lekin bu omillarni bilish profillash natijasini tushunish va Triton yoki CUDA da maxsus operatsiya (masalan, FlashAttention uslubidagi diqqat yadrosi) yozish uchun zarur. CUDA ning bir nechta GPU bilan ishlash uchun asosiy vositalari — oqimlar (streams, asinxron buyruqlar navbati), hodisalar (events, sinxronizatsiya) va NCCL (NVIDIA Collective Communications Library) — GPU lar orasida all-reduce, broadcast, all-gather kabi kollektiv amallarni NVLink/InfiniBand topologiyasiga moslab bajaruvchi kutubxona.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OpenMP — C, C++ va Fortran uchun kompilyator direktivalari to'plami bo'lib, umumiy xotirali ko'p yadroli tizimda (bitta server) oqimlar darajasidagi parallellikni beradi. Dasturchi ketma-ket kodga #pragma omp parallel for kabi direktiva qo'shadi, kompilyator siklni oqimlar o'rtasida taqsimlaydi:</a:t>
            </a:r>
          </a:p>
          <a:p/>
          <a:p>
            <a:r>
              <a:t>OpenMP ning asosiy tushunchalari: parallel hudud (fork-join modeli), ish taqsimoti (for, sections, task), ma'lumot muhiti (shared, private, reduction) va sinxronizatsiya (critical, atomic, barrier). OpenMP 4.0 dan boshlab target direktivalari orqali GPU ga yuklash ham mumkin, biroq SI sohasida bu kam ishlatiladi. SI tizimida OpenMP ning real o'rni — CPU tomonidagi kutubxonalar: PyTorch ning CPU backend i (ATen), oneDNN, OpenBLAS va MKL ichki parallellik uchun OpenMP ishlatadi; OMP_NUM_THREADS o'zgaruvchisi va torch.set_num_threads aynan shu oqimlar sonini boshqaradi. Ma'lumot yuklash va oldindan ishlov (augmentatsiya, tokenizatsiya) ham ko'pincha OpenMP yoki Python ko'p jarayonlilik bilan parallellashtiriladi.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MPI (Message Passing Interface) — alohida xotirali jarayonlar o'rtasida xabar almashish standarti, 1994-yildan beri HPC ning asosiy vositasi. Har jarayon o'z rank iga ega, umumiy xotira yo'q, barcha almashinuv aniq chaqiruvlar orqali: nuqta-nuqta (MPI_Send/MPI_Recv) va kollektiv (MPI_Bcast, MPI_Reduce, MPI_Allreduce, MPI_Allgather, MPI_Alltoall). SI uchun eng muhimi — MPI_Allreduce: har jarayondagi vektor elementlari yig'indisi hisoblanib, natija hammaga tarqatiladi — aynan gradientlarni o'rtachalash uchun kerak bo'lgan amal.</a:t>
            </a:r>
          </a:p>
          <a:p/>
          <a:p>
            <a:r>
              <a:t>All-reduce ni samarali bajarish alohida fan. Sodda usul — hamma rank 0 ga yuboradi, u yig'ib qaytaradi — rank 0 da (p−1) × M bayt trafik hosil qiladi va masshtablanmaydi. Halqa all-reduce (ring all-reduce; 2017-yilda Baidu tomonidan chuqur o'qitishga tatbiq etilgan, keyin Uber ning Horovod kutubxonasida ommalashgan) vektorni p bo'lakka bo'lib, ikki bosqichda (reduce-scatter, so'ng all-gather) halqa bo'ylab uzatadi; har rank jami 2 × (p−1)/p × M bayt yuboradi — p dan deyarli mustaqil, ya'ni optimal o'tkazuvchanlik. Katta p da kechikish 2(p−1) × α o'sadi, shuning uchun NCCL daraxt (tree) va ierarxik algoritmlarni ham ishlatadi: avval tugun ichida NVLink orqali, keyin tugunlar orasida InfiniBand orqali. NVIDIA SHARP texnologiyasi esa qisqartirishni (reduction) InfiniBand kommutatorining o'zida bajarib, trafikni yana ikki baravar kamaytiradi.</a:t>
            </a:r>
          </a:p>
          <a:p/>
          <a:p>
            <a:r>
              <a:t>SI amaliyotida MPI ko'pincha bevosita ko'rinmaydi, lekin uning modeli saqlanadi: PyTorch Distributed rank, world_size, all_reduce atamalarini aynan MPI dan olgan; Horovod MPI ustida qurilgan; Slurm klasterlarida jarayonlarni ishga tushirish srun/mpirun orqali bajariladi; NCCL esa GPU lar uchun «MPI kollektivlari» ning ixtisoslashgan amalga oshirilishidir.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Kod to‘liq holda mavzu matnida va laboratoriya repozitoriysida keltirilgan.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Neyron tarmoqni taqsimlashning ikki asosiy o'qi bor: ma'lumotni bo'lish yoki modelni bo'lish.</a:t>
            </a:r>
          </a:p>
          <a:p/>
          <a:p>
            <a:r>
              <a:t>Ma'lumotlar parallelligi (data parallelism, DP) — eng sodda va eng keng tarqalgan usul. Modelning to'liq nusxasi har GPU da saqlanadi; global paket p ta mikro-paketga bo'linadi; har GPU o'z mikro-paketida oldinga va orqaga o'tishni mustaqil bajaradi; so'ng gradientlar all-reduce bilan o'rtachalanadi va har GPU bir xil yangilanishni qo'llaydi — natijada nusxalar sinxron qoladi. Bir iteratsiyadagi aloqa hajmi model hajmiga teng (FP16 da parametr boshiga 2 bayt): ResNet-50 (25,6 mln) uchun 51 MB, GPT-2 1,5B uchun 3 GB. PyTorch DistributedDataParallel (DDP) buni orqaga o'tish bilan ustma-ust qo'yadi: gradientlar 25 MB li «chelaklarga» (bucket) to'planadi va keyingi qatlam gradienti hisoblanayotganda oldingi chelak uzatiladi. DP ning cheklovi — model (parametrlar + gradientlar + optimizator holati + aktivatsiyalar) bitta GPU xotirasiga sig'ishi kerak. Adam optimizatori bilan aralash aniqlikda parametr boshiga taxminan 16 bayt (FP16 og'irlik va gradient 4 bayt, FP32 asosiy nusxa, momentum va dispersiya 12 bayt) ketadi — 80 GB li GPU da taxminan 4–5 milliard parametr, aktivatsiyalarni hisobga olsak kamroq.</a:t>
            </a:r>
          </a:p>
          <a:p/>
          <a:p>
            <a:r>
              <a:t>Bu cheklovni ZeRO (Zero Redundancy Optimizer; Rajbhandari va hammualliflar, SC 2020, Microsoft DeepSpeed) yumshatadi: optimizator holati (ZeRO-1), gradientlar (ZeRO-2) va parametrlar (ZeRO-3) GPU lar o'rtasida bo'lib saqlanadi, har GPU faqat o'z bo'lagini yangilaydi, oldinga o'tishda esa kerakli parametrlar all-gather bilan vaqtincha yig'iladi. Xotira p baravar tejaladi, aloqa esa DP ga nisbatan taxminan 1,5 baravar oshadi. PyTorch da bu yondashuv FSDP (Fully Sharded Data Parallel) nomi bilan amalga oshirilgan.</a:t>
            </a:r>
          </a:p>
          <a:p/>
          <a:p>
            <a:r>
              <a:t>Model parallelligi (model parallelism) — model qismlari turli GPU larga joylashtiriladi; har GPU faqat o'z qismini saqlaydi va hisoblaydi. Uning ikki asosiy ko'rinishi — tensor va quvur parallelligi.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Tensor parallelligi (tensor parallelism, TP) bitta qatlamni, ya'ni bitta matritsa ko'paytirishni GPU lar o'rtasida bo'ladi. Megatron-LM (Shoeybi va hammualliflar, 2019, NVIDIA) transformer uchun samarali sxemani taklif qildi: MLP blokidagi birinchi chiziqli qatlam Y = GeLU(X·A) da matritsa A ustunlar bo'yicha bo'linadi (har GPU X·Aᵢ ni mustaqil hisoblaydi, GeLU elementma-element bo'lgani uchun aloqa kerak emas), ikkinchi qatlam Z = Y·B da B satrlar bo'yicha bo'linadi va qisman natijalar bitta all-reduce bilan yig'iladi. Diqqat mexanizmida boshlar (heads) GPU lar o'rtasida taqsimlanadi. Natijada har transformer qatlamida oldinga o'tishda 2 ta, orqaga o'tishda 2 ta all-reduce — har mikro-paket uchun aktivatsiya hajmida. Bu aloqa tez-tez va ketma-ket bo'lgani uchun TP faqat eng tez interkonnekt — NVLink — ichida, ya'ni bitta server doirasida (TP = 8) ishlatiladi.</a:t>
            </a:r>
          </a:p>
          <a:p/>
          <a:p>
            <a:r>
              <a:t>Quvur parallelligi (pipeline parallelism, PP) modelni qatlamlar bo'yicha ketma-ket bosqichlarga (stage) bo'ladi: 1–8-qatlamlar GPU 0 da, 9–16-qatlamlar GPU 1 da va hokazo. Bosqichlar o'rtasida faqat chegara aktivatsiyalari (nuqta-nuqta) uzatiladi — bu TP dan ancha kam aloqa, shuning uchun PP serverlar o'rtasida ham ishlaydi. Muammo — pufak (bubble): sodda bajarishda GPU 1 GPU 0 tugatguncha bo'sh turadi. GPipe (Huang va hammualliflar, 2019) paketni m mikro-paketga bo'lib, ularni quvur bo'ylab ketma-ket yuboradi; pufak ulushi (s − 1) / (m + s − 1) ga tushadi, bu yerda s — bosqichlar soni. Masalan, s = 4, m = 16 da pufak 16 % (3/19); m = 64 da 4,5 %. PipeDream (Narayanan va hammualliflar, 2019) va Megatron ning 1F1B jadvali (bir oldinga, bir orqaga) aktivatsiya xotirasini kamaytiradi — mikro-paketning orqaga o'tishi imkon qadar erta bajarilib, aktivatsiyalari bo'shatiladi.</a:t>
            </a:r>
          </a:p>
          <a:p/>
          <a:p>
            <a:r>
              <a:t>Amalda uchala o'q birlashtiriladi — 3D parallellik: TP server ichida (NVLink, 8 GPU), PP serverlar guruhi bo'ylab, DP (yoki ZeRO) eng tashqi darajada. Megatron-Turing NLG 530B (2021) 560 ta DGX A100 da TP = 8, PP = 35, DP = 12 konfiguratsiyasida o'qitilgan. Quyidagi jadval strategiyalarni taqqoslaydi: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Taqsimlangan SI muhiti bir necha qatlamdan iborat. Kollektiv aloqa qatlami: NCCL (NVIDIA), RCCL (AMD), oneCCL (Intel), Gloo (CPU) — topologiyani aniqlab, optimal algoritmni tanlaydi. Ramka qatlami: PyTorch Distributed (torch.distributed, DDP, FSDP, torchrun ishga tushiruvchi), TensorFlow tf.distribute, JAX pjit/sharding. Optimallashtirilgan o'qitish kutubxonalari: DeepSpeed (ZeRO, 3D parallellik, offload), Megatron-LM (TP/PP transformerlar uchun), Horovod (ring all-reduce, ko'p ramkali). Orkestratsiya qatlami: Slurm (HPC klasterlarida ish navbati va GPU ajratish), Kubernetes (bulutda; M7), Ray (Python da taqsimlangan vazifalar, Ray Train, giperparametrlarni qidirish; M7). Inferens qatlami: vLLM, TensorRT-LLM, Triton Inference Server — LLM ni TP bilan bir nechta GPU ga bo'lib xizmat ko'rsatish.</a:t>
            </a:r>
          </a:p>
          <a:p/>
          <a:p>
            <a:r>
              <a:t>Yuqori unumdor AI tizimini tashkil etishda apparat tomonida to'rt qaror hal qiluvchi. Interkonnekt topologiyasi: server ichida NVSwitch (har GPU juftligi to'liq tezlikda), serverlar orasida InfiniBand NDR 400 Gbit/s yoki RoCE Ethernet, «fat-tree» yoki «rail-optimized» topologiya (har GPU ning o'z tarmoq kartasi alohida kommutatorga ulanadi). GPUDirect RDMA: tarmoq kartasi GPU xotirasiga CPU va xost xotirasini chetlab o'tib to'g'ridan-to'g'ri yozadi — kechikish va CPU yuki kamayadi. Saqlash tizimi: minglab GPU ni ma'lumot bilan ta'minlash uchun parallel fayl tizimi (Lustre, GPFS, WEKA) yoki obyekt saqlash + mahalliy NVMe kesh; ImageNet uslubidagi o'qitishda GPU boshiga 100–300 MB/s, video va multimodal ma'lumotda ko'proq. Nazorat nuqtalari (checkpointing): 405B modelning holati (parametrlar + optimizator) 5 TB dan ortiq; uni har soatda yozish saqlash tizimiga alohida talab qo'yadi, 16 000 GPU da esa apparat nosozligi kuniga bir necha marta bo'lgani uchun checkpoint majburiy.</a:t>
            </a:r>
          </a:p>
          <a:p/>
          <a:p>
            <a:r>
              <a:t>Dasturiy tomonda masshtablash samaradorligini saqlash uchun: aloqani hisoblash bilan ustma-ust qo'yish, gradient to'plash (gradient accumulation) bilan paketni kattalashtirish, aloqa aniqligini kamaytirish (FP16/BF16 gradientlar, siqish), ma'lumot yuklash quvurini (DataLoader, num_workers, prefetch) tezlatkich tezligiga moslashtirish. Masshtablash samaradorligi E(p) = T(1 GPU, paket b) / T(p GPU, paket p·b) sifatida kuchsiz masshtablash bo'yicha o'lchanadi; yaxshi sozlangan DDP 8 GPU da 90–95 %, 1 000 GPU da 80–90 % beradi.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MA'RUZA · M3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2800" b="1">
                <a:solidFill>
                  <a:srgbClr val="FFFFFF"/>
                </a:solidFill>
                <a:latin typeface="Calibri"/>
              </a:rPr>
              <a:t>Sun'iy intellekt tizimlarida parallel va taqsimlangan hisoblash texnologiyalari</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99a9d797ecdbcf11.jpg"/>
          <p:cNvPicPr>
            <a:picLocks noChangeAspect="1"/>
          </p:cNvPicPr>
          <p:nvPr/>
        </p:nvPicPr>
        <p:blipFill>
          <a:blip r:embed="rId2"/>
          <a:srcRect l="26892" r="26892"/>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Dennis van Zuijlekom · Wikimedia Commons · CC BY-SA 2.0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MA’RUZA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1"/>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1"/>
            <a:ext cx="70000" cy="604285"/>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37214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1"/>
            <a:ext cx="10050000" cy="604285"/>
          </a:xfrm>
          <a:prstGeom prst="rect">
            <a:avLst/>
          </a:prstGeom>
          <a:noFill/>
        </p:spPr>
        <p:txBody>
          <a:bodyPr wrap="square" anchor="ctr" lIns="50800" rIns="50800">
            <a:spAutoFit/>
          </a:bodyPr>
          <a:lstStyle/>
          <a:p>
            <a:pPr algn="l"/>
            <a:r>
              <a:rPr sz="1900" b="0">
                <a:solidFill>
                  <a:srgbClr val="1B2430"/>
                </a:solidFill>
                <a:latin typeface="Calibri"/>
              </a:rPr>
              <a:t>Parallel hisoblashning asosiy tamoyillari</a:t>
            </a:r>
          </a:p>
        </p:txBody>
      </p:sp>
      <p:sp>
        <p:nvSpPr>
          <p:cNvPr id="14" name="Rounded Rectangle 13"/>
          <p:cNvSpPr/>
          <p:nvPr/>
        </p:nvSpPr>
        <p:spPr>
          <a:xfrm>
            <a:off x="550000" y="2024286"/>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024286"/>
            <a:ext cx="70000" cy="604285"/>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096428"/>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024286"/>
            <a:ext cx="10050000" cy="604285"/>
          </a:xfrm>
          <a:prstGeom prst="rect">
            <a:avLst/>
          </a:prstGeom>
          <a:noFill/>
        </p:spPr>
        <p:txBody>
          <a:bodyPr wrap="square" anchor="ctr" lIns="50800" rIns="50800">
            <a:spAutoFit/>
          </a:bodyPr>
          <a:lstStyle/>
          <a:p>
            <a:pPr algn="l"/>
            <a:r>
              <a:rPr sz="1900" b="0">
                <a:solidFill>
                  <a:srgbClr val="1B2430"/>
                </a:solidFill>
                <a:latin typeface="Calibri"/>
              </a:rPr>
              <a:t>CUDA: GPU ichidagi parallellik</a:t>
            </a:r>
          </a:p>
        </p:txBody>
      </p:sp>
      <p:sp>
        <p:nvSpPr>
          <p:cNvPr id="18" name="Rounded Rectangle 17"/>
          <p:cNvSpPr/>
          <p:nvPr/>
        </p:nvSpPr>
        <p:spPr>
          <a:xfrm>
            <a:off x="550000" y="2748571"/>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748571"/>
            <a:ext cx="70000" cy="604285"/>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2820713"/>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748571"/>
            <a:ext cx="10050000" cy="604285"/>
          </a:xfrm>
          <a:prstGeom prst="rect">
            <a:avLst/>
          </a:prstGeom>
          <a:noFill/>
        </p:spPr>
        <p:txBody>
          <a:bodyPr wrap="square" anchor="ctr" lIns="50800" rIns="50800">
            <a:spAutoFit/>
          </a:bodyPr>
          <a:lstStyle/>
          <a:p>
            <a:pPr algn="l"/>
            <a:r>
              <a:rPr sz="1900" b="0">
                <a:solidFill>
                  <a:srgbClr val="1B2430"/>
                </a:solidFill>
                <a:latin typeface="Calibri"/>
              </a:rPr>
              <a:t>OpenMP: umumiy xotirali parallellik</a:t>
            </a:r>
          </a:p>
        </p:txBody>
      </p:sp>
      <p:sp>
        <p:nvSpPr>
          <p:cNvPr id="22" name="Rounded Rectangle 21"/>
          <p:cNvSpPr/>
          <p:nvPr/>
        </p:nvSpPr>
        <p:spPr>
          <a:xfrm>
            <a:off x="550000" y="3472856"/>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472856"/>
            <a:ext cx="70000" cy="604285"/>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3544998"/>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3472856"/>
            <a:ext cx="10050000" cy="604285"/>
          </a:xfrm>
          <a:prstGeom prst="rect">
            <a:avLst/>
          </a:prstGeom>
          <a:noFill/>
        </p:spPr>
        <p:txBody>
          <a:bodyPr wrap="square" anchor="ctr" lIns="50800" rIns="50800">
            <a:spAutoFit/>
          </a:bodyPr>
          <a:lstStyle/>
          <a:p>
            <a:pPr algn="l"/>
            <a:r>
              <a:rPr sz="1900" b="0">
                <a:solidFill>
                  <a:srgbClr val="1B2430"/>
                </a:solidFill>
                <a:latin typeface="Calibri"/>
              </a:rPr>
              <a:t>MPI: taqsimlangan xotirali parallellik</a:t>
            </a:r>
          </a:p>
        </p:txBody>
      </p:sp>
      <p:sp>
        <p:nvSpPr>
          <p:cNvPr id="26" name="Rounded Rectangle 25"/>
          <p:cNvSpPr/>
          <p:nvPr/>
        </p:nvSpPr>
        <p:spPr>
          <a:xfrm>
            <a:off x="550000" y="4197141"/>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4197141"/>
            <a:ext cx="70000" cy="604285"/>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4269283"/>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4197141"/>
            <a:ext cx="10050000" cy="604285"/>
          </a:xfrm>
          <a:prstGeom prst="rect">
            <a:avLst/>
          </a:prstGeom>
          <a:noFill/>
        </p:spPr>
        <p:txBody>
          <a:bodyPr wrap="square" anchor="ctr" lIns="50800" rIns="50800">
            <a:spAutoFit/>
          </a:bodyPr>
          <a:lstStyle/>
          <a:p>
            <a:pPr algn="l"/>
            <a:r>
              <a:rPr sz="1900" b="0">
                <a:solidFill>
                  <a:srgbClr val="1B2430"/>
                </a:solidFill>
                <a:latin typeface="Calibri"/>
              </a:rPr>
              <a:t>Ma'lumotlar va model parallelligi</a:t>
            </a:r>
          </a:p>
        </p:txBody>
      </p:sp>
      <p:sp>
        <p:nvSpPr>
          <p:cNvPr id="30" name="Rounded Rectangle 29"/>
          <p:cNvSpPr/>
          <p:nvPr/>
        </p:nvSpPr>
        <p:spPr>
          <a:xfrm>
            <a:off x="550000" y="4921426"/>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4921426"/>
            <a:ext cx="70000" cy="604285"/>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4993568"/>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4921426"/>
            <a:ext cx="10050000" cy="604285"/>
          </a:xfrm>
          <a:prstGeom prst="rect">
            <a:avLst/>
          </a:prstGeom>
          <a:noFill/>
        </p:spPr>
        <p:txBody>
          <a:bodyPr wrap="square" anchor="ctr" lIns="50800" rIns="50800">
            <a:spAutoFit/>
          </a:bodyPr>
          <a:lstStyle/>
          <a:p>
            <a:pPr algn="l"/>
            <a:r>
              <a:rPr sz="1900" b="0">
                <a:solidFill>
                  <a:srgbClr val="1B2430"/>
                </a:solidFill>
                <a:latin typeface="Calibri"/>
              </a:rPr>
              <a:t>Tensor va Pipeline parallelism</a:t>
            </a:r>
          </a:p>
        </p:txBody>
      </p:sp>
      <p:sp>
        <p:nvSpPr>
          <p:cNvPr id="34" name="Rounded Rectangle 33"/>
          <p:cNvSpPr/>
          <p:nvPr/>
        </p:nvSpPr>
        <p:spPr>
          <a:xfrm>
            <a:off x="550000" y="5645711"/>
            <a:ext cx="11100000" cy="604285"/>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5645711"/>
            <a:ext cx="70000" cy="604285"/>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0000" y="571785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7</a:t>
            </a:r>
          </a:p>
        </p:txBody>
      </p:sp>
      <p:sp>
        <p:nvSpPr>
          <p:cNvPr id="37" name="TextBox 36"/>
          <p:cNvSpPr txBox="1"/>
          <p:nvPr/>
        </p:nvSpPr>
        <p:spPr>
          <a:xfrm>
            <a:off x="1450000" y="5645711"/>
            <a:ext cx="10050000" cy="604285"/>
          </a:xfrm>
          <a:prstGeom prst="rect">
            <a:avLst/>
          </a:prstGeom>
          <a:noFill/>
        </p:spPr>
        <p:txBody>
          <a:bodyPr wrap="square" anchor="ctr" lIns="50800" rIns="50800">
            <a:spAutoFit/>
          </a:bodyPr>
          <a:lstStyle/>
          <a:p>
            <a:pPr algn="l"/>
            <a:r>
              <a:rPr sz="1900" b="0">
                <a:solidFill>
                  <a:srgbClr val="1B2430"/>
                </a:solidFill>
                <a:latin typeface="Calibri"/>
              </a:rPr>
              <a:t>Taqsimlangan AI hisoblash muhitlari va yuqori unumdor tizimlarni tashkil etish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par>
                          <p:cTn id="151" fill="hold">
                            <p:stCondLst>
                              <p:cond delay="1540"/>
                            </p:stCondLst>
                            <p:childTnLst>
                              <p:par>
                                <p:cTn id="152" presetID="42" presetClass="entr" presetSubtype="0" fill="hold" grpId="0" nodeType="afterEffect">
                                  <p:stCondLst>
                                    <p:cond delay="0"/>
                                  </p:stCondLst>
                                  <p:childTnLst>
                                    <p:set>
                                      <p:cBhvr>
                                        <p:cTn id="153" dur="1" fill="hold">
                                          <p:stCondLst>
                                            <p:cond delay="0"/>
                                          </p:stCondLst>
                                        </p:cTn>
                                        <p:tgtEl>
                                          <p:spTgt spid="34"/>
                                        </p:tgtEl>
                                        <p:attrNameLst>
                                          <p:attrName>style.visibility</p:attrName>
                                        </p:attrNameLst>
                                      </p:cBhvr>
                                      <p:to>
                                        <p:strVal val="visible"/>
                                      </p:to>
                                    </p:set>
                                    <p:animEffect transition="in" filter="fade">
                                      <p:cBhvr>
                                        <p:cTn id="154" dur="550"/>
                                        <p:tgtEl>
                                          <p:spTgt spid="34"/>
                                        </p:tgtEl>
                                      </p:cBhvr>
                                    </p:animEffect>
                                    <p:anim calcmode="lin" valueType="num">
                                      <p:cBhvr additive="base">
                                        <p:cTn id="155" dur="550" fill="hold"/>
                                        <p:tgtEl>
                                          <p:spTgt spid="34"/>
                                        </p:tgtEl>
                                        <p:attrNameLst>
                                          <p:attrName>ppt_x</p:attrName>
                                        </p:attrNameLst>
                                      </p:cBhvr>
                                      <p:tavLst>
                                        <p:tav tm="0">
                                          <p:val>
                                            <p:strVal val="#ppt_x"/>
                                          </p:val>
                                        </p:tav>
                                        <p:tav tm="100000">
                                          <p:val>
                                            <p:strVal val="#ppt_x"/>
                                          </p:val>
                                        </p:tav>
                                      </p:tavLst>
                                    </p:anim>
                                    <p:anim calcmode="lin" valueType="num">
                                      <p:cBhvr additive="base">
                                        <p:cTn id="156" dur="550" fill="hold"/>
                                        <p:tgtEl>
                                          <p:spTgt spid="34"/>
                                        </p:tgtEl>
                                        <p:attrNameLst>
                                          <p:attrName>ppt_y</p:attrName>
                                        </p:attrNameLst>
                                      </p:cBhvr>
                                      <p:tavLst>
                                        <p:tav tm="0">
                                          <p:val>
                                            <p:strVal val="#ppt_y+.08"/>
                                          </p:val>
                                        </p:tav>
                                        <p:tav tm="100000">
                                          <p:val>
                                            <p:strVal val="#ppt_y"/>
                                          </p:val>
                                        </p:tav>
                                      </p:tavLst>
                                    </p:anim>
                                  </p:childTnLst>
                                </p:cTn>
                              </p:par>
                            </p:childTnLst>
                          </p:cTn>
                        </p:par>
                        <p:par>
                          <p:cTn id="157" fill="hold">
                            <p:stCondLst>
                              <p:cond delay="1540"/>
                            </p:stCondLst>
                            <p:childTnLst>
                              <p:par>
                                <p:cTn id="158" presetID="42" presetClass="entr" presetSubtype="0" fill="hold" grpId="0" nodeType="after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fade">
                                      <p:cBhvr>
                                        <p:cTn id="160" dur="550"/>
                                        <p:tgtEl>
                                          <p:spTgt spid="35"/>
                                        </p:tgtEl>
                                      </p:cBhvr>
                                    </p:animEffect>
                                    <p:anim calcmode="lin" valueType="num">
                                      <p:cBhvr additive="base">
                                        <p:cTn id="161" dur="550" fill="hold"/>
                                        <p:tgtEl>
                                          <p:spTgt spid="35"/>
                                        </p:tgtEl>
                                        <p:attrNameLst>
                                          <p:attrName>ppt_x</p:attrName>
                                        </p:attrNameLst>
                                      </p:cBhvr>
                                      <p:tavLst>
                                        <p:tav tm="0">
                                          <p:val>
                                            <p:strVal val="#ppt_x"/>
                                          </p:val>
                                        </p:tav>
                                        <p:tav tm="100000">
                                          <p:val>
                                            <p:strVal val="#ppt_x"/>
                                          </p:val>
                                        </p:tav>
                                      </p:tavLst>
                                    </p:anim>
                                    <p:anim calcmode="lin" valueType="num">
                                      <p:cBhvr additive="base">
                                        <p:cTn id="162" dur="550" fill="hold"/>
                                        <p:tgtEl>
                                          <p:spTgt spid="35"/>
                                        </p:tgtEl>
                                        <p:attrNameLst>
                                          <p:attrName>ppt_y</p:attrName>
                                        </p:attrNameLst>
                                      </p:cBhvr>
                                      <p:tavLst>
                                        <p:tav tm="0">
                                          <p:val>
                                            <p:strVal val="#ppt_y+.08"/>
                                          </p:val>
                                        </p:tav>
                                        <p:tav tm="100000">
                                          <p:val>
                                            <p:strVal val="#ppt_y"/>
                                          </p:val>
                                        </p:tav>
                                      </p:tavLst>
                                    </p:anim>
                                  </p:childTnLst>
                                </p:cTn>
                              </p:par>
                            </p:childTnLst>
                          </p:cTn>
                        </p:par>
                        <p:par>
                          <p:cTn id="163" fill="hold">
                            <p:stCondLst>
                              <p:cond delay="1540"/>
                            </p:stCondLst>
                            <p:childTnLst>
                              <p:par>
                                <p:cTn id="164" presetID="53" presetClass="entr" presetSubtype="16" fill="hold" grpId="0" nodeType="afterEffect">
                                  <p:stCondLst>
                                    <p:cond delay="0"/>
                                  </p:stCondLst>
                                  <p:childTnLst>
                                    <p:set>
                                      <p:cBhvr>
                                        <p:cTn id="165" dur="1" fill="hold">
                                          <p:stCondLst>
                                            <p:cond delay="0"/>
                                          </p:stCondLst>
                                        </p:cTn>
                                        <p:tgtEl>
                                          <p:spTgt spid="36"/>
                                        </p:tgtEl>
                                        <p:attrNameLst>
                                          <p:attrName>style.visibility</p:attrName>
                                        </p:attrNameLst>
                                      </p:cBhvr>
                                      <p:to>
                                        <p:strVal val="visible"/>
                                      </p:to>
                                    </p:set>
                                    <p:animEffect transition="in" filter="fade">
                                      <p:cBhvr>
                                        <p:cTn id="166" dur="550"/>
                                        <p:tgtEl>
                                          <p:spTgt spid="36"/>
                                        </p:tgtEl>
                                      </p:cBhvr>
                                    </p:animEffect>
                                    <p:anim calcmode="lin" valueType="num">
                                      <p:cBhvr additive="base">
                                        <p:cTn id="167" dur="550" fill="hold"/>
                                        <p:tgtEl>
                                          <p:spTgt spid="36"/>
                                        </p:tgtEl>
                                        <p:attrNameLst>
                                          <p:attrName>ppt_w</p:attrName>
                                        </p:attrNameLst>
                                      </p:cBhvr>
                                      <p:tavLst>
                                        <p:tav tm="0">
                                          <p:val>
                                            <p:strVal val="0"/>
                                          </p:val>
                                        </p:tav>
                                        <p:tav tm="100000">
                                          <p:val>
                                            <p:strVal val="#ppt_w"/>
                                          </p:val>
                                        </p:tav>
                                      </p:tavLst>
                                    </p:anim>
                                    <p:anim calcmode="lin" valueType="num">
                                      <p:cBhvr additive="base">
                                        <p:cTn id="168" dur="550" fill="hold"/>
                                        <p:tgtEl>
                                          <p:spTgt spid="36"/>
                                        </p:tgtEl>
                                        <p:attrNameLst>
                                          <p:attrName>ppt_h</p:attrName>
                                        </p:attrNameLst>
                                      </p:cBhvr>
                                      <p:tavLst>
                                        <p:tav tm="0">
                                          <p:val>
                                            <p:strVal val="0"/>
                                          </p:val>
                                        </p:tav>
                                        <p:tav tm="100000">
                                          <p:val>
                                            <p:strVal val="#ppt_h"/>
                                          </p:val>
                                        </p:tav>
                                      </p:tavLst>
                                    </p:anim>
                                  </p:childTnLst>
                                </p:cTn>
                              </p:par>
                            </p:childTnLst>
                          </p:cTn>
                        </p:par>
                        <p:par>
                          <p:cTn id="169" fill="hold">
                            <p:stCondLst>
                              <p:cond delay="1540"/>
                            </p:stCondLst>
                            <p:childTnLst>
                              <p:par>
                                <p:cTn id="170" presetID="42" presetClass="entr" presetSubtype="0" fill="hold" grpId="0" nodeType="afterEffect">
                                  <p:stCondLst>
                                    <p:cond delay="0"/>
                                  </p:stCondLst>
                                  <p:childTnLst>
                                    <p:set>
                                      <p:cBhvr>
                                        <p:cTn id="171" dur="1" fill="hold">
                                          <p:stCondLst>
                                            <p:cond delay="0"/>
                                          </p:stCondLst>
                                        </p:cTn>
                                        <p:tgtEl>
                                          <p:spTgt spid="37"/>
                                        </p:tgtEl>
                                        <p:attrNameLst>
                                          <p:attrName>style.visibility</p:attrName>
                                        </p:attrNameLst>
                                      </p:cBhvr>
                                      <p:to>
                                        <p:strVal val="visible"/>
                                      </p:to>
                                    </p:set>
                                    <p:animEffect transition="in" filter="fade">
                                      <p:cBhvr>
                                        <p:cTn id="172" dur="550"/>
                                        <p:tgtEl>
                                          <p:spTgt spid="37"/>
                                        </p:tgtEl>
                                      </p:cBhvr>
                                    </p:animEffect>
                                    <p:anim calcmode="lin" valueType="num">
                                      <p:cBhvr additive="base">
                                        <p:cTn id="173" dur="550" fill="hold"/>
                                        <p:tgtEl>
                                          <p:spTgt spid="37"/>
                                        </p:tgtEl>
                                        <p:attrNameLst>
                                          <p:attrName>ppt_x</p:attrName>
                                        </p:attrNameLst>
                                      </p:cBhvr>
                                      <p:tavLst>
                                        <p:tav tm="0">
                                          <p:val>
                                            <p:strVal val="#ppt_x"/>
                                          </p:val>
                                        </p:tav>
                                        <p:tav tm="100000">
                                          <p:val>
                                            <p:strVal val="#ppt_x"/>
                                          </p:val>
                                        </p:tav>
                                      </p:tavLst>
                                    </p:anim>
                                    <p:anim calcmode="lin" valueType="num">
                                      <p:cBhvr additive="base">
                                        <p:cTn id="174"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3e39b90860aa1c63.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Adam C Snape · Wikimedia Commons · CC BY-SA 2.0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Parallel hisoblashning asosiy tamoyillari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Parallel hisoblashning asosiy tamoyillari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Flinn tasnifi (Flynn's taxonomy) hisoblash tizimlarini buyruq va ma'lumot oqimlari soniga ko'ra to'rt sinfga ajratadi: SISD (bitta buyruq, bitta ma'lumot — klassik skalyar protsessor), SIMD…</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Parallel dasturning sifatini ikki ko'rsatkich belgilaydi: tezlashuv S(p) = T(1) / T(p) — p protsessorda bajarish vaqtining bitta protsessordagi vaqtga nisbati, va samaradorlik E(p) = S(p) /…</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Gustafson qonuni boshqa nuqtai nazarni beradi: amalda protsessorlar ko'paysa, muhandis masalani kattalashtiradi (ko'proq ma'lumot, kattaroq model).</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Aloqa narxini baholash uchun oddiy model foydali: M baytli xabarni uzatish vaqti t = α + M / β, bu yerda α — kechikish (latency, InfiniBand da 1–2 mks, PCIe da 5–10 mks, Ethernet TCP 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5b1b27a97c97f44a.jpg"/>
          <p:cNvPicPr>
            <a:picLocks noChangeAspect="1"/>
          </p:cNvPicPr>
          <p:nvPr/>
        </p:nvPicPr>
        <p:blipFill>
          <a:blip r:embed="rId2"/>
          <a:srcRect l="22682" r="226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Mr ATM · Wikimedia Commons · CC BY 2.0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CUDA: GPU ichidagi parallellik</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CUDA: GPU ichidagi parallellik</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6</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CUDA (Compute Unified Device Architecture) — NVIDIA GPU larini umumiy maqsadli hisoblash uchun dasturlash platformasi. Kirk va Hwu [5] bayon qilgan modelda dasturchi yadro (kernel) — minglab oqim parallel bajaradigan funksiya — yozadi.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CUDA dasturining samaradorligi to'rt omilga bog'liq: bandlik (occupancy — SM da bir vaqtda faol warp lar soni, xotira kechikishini yashirish uchun ko'p bo'lishi kerak), birlashgan xotira murojaati (coalescing — warp dagi 32 oqim qo'shni manzillarga murojaat…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CUDA: GPU ichidagi parallellik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200">
                <a:solidFill>
                  <a:srgbClr val="E2E8F0"/>
                </a:solidFill>
                <a:latin typeface="Consolas"/>
              </a:rPr>
              <a:t>// vec_add.cu — CUDA yadrosining minimal misoli</a:t>
            </a:r>
          </a:p>
          <a:p>
            <a:r>
              <a:rPr sz="1200">
                <a:solidFill>
                  <a:srgbClr val="E2E8F0"/>
                </a:solidFill>
                <a:latin typeface="Consolas"/>
              </a:rPr>
              <a:t>__global__ void vec_add(const float* a, const float* b, float* c, int n) {</a:t>
            </a:r>
          </a:p>
          <a:p>
            <a:r>
              <a:rPr sz="1200">
                <a:solidFill>
                  <a:srgbClr val="E2E8F0"/>
                </a:solidFill>
                <a:latin typeface="Consolas"/>
              </a:rPr>
              <a:t>    int i = blockIdx.x * blockDim.x + threadIdx.x;   // global indeks</a:t>
            </a:r>
          </a:p>
          <a:p>
            <a:r>
              <a:rPr sz="1200">
                <a:solidFill>
                  <a:srgbClr val="E2E8F0"/>
                </a:solidFill>
                <a:latin typeface="Consolas"/>
              </a:rPr>
              <a:t>    if (i &lt; n) c[i] = a[i] + b[i];</a:t>
            </a:r>
          </a:p>
          <a:p>
            <a:r>
              <a:rPr sz="1200">
                <a:solidFill>
                  <a:srgbClr val="E2E8F0"/>
                </a:solidFill>
                <a:latin typeface="Consolas"/>
              </a:rPr>
              <a:t>}</a:t>
            </a:r>
          </a:p>
          <a:p>
            <a:r>
              <a:rPr sz="1200">
                <a:solidFill>
                  <a:srgbClr val="E2E8F0"/>
                </a:solidFill>
                <a:latin typeface="Consolas"/>
              </a:rPr>
              <a:t>// chaqirish: 256 oqimli bloklar, n ni qoplash uchun yetarli bloklar</a:t>
            </a:r>
          </a:p>
          <a:p>
            <a:r>
              <a:rPr sz="1200">
                <a:solidFill>
                  <a:srgbClr val="E2E8F0"/>
                </a:solidFill>
                <a:latin typeface="Consolas"/>
              </a:rPr>
              <a:t>// vec_add&lt;&lt;&lt;(n + 255) / 256, 256&gt;&gt;&gt;(d_a, d_b, d_c, 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38b28676095b117.jpg"/>
          <p:cNvPicPr>
            <a:picLocks noChangeAspect="1"/>
          </p:cNvPicPr>
          <p:nvPr/>
        </p:nvPicPr>
        <p:blipFill>
          <a:blip r:embed="rId2"/>
          <a:srcRect l="11137" r="1113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Bill Abbott · Wikimedia Commons · CC BY-SA 2.0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OpenMP: umumiy xotirali parallellik</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OpenMP: umumiy xotirali parallellik</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OpenMP — C, C++ va Fortran uchun kompilyator direktivalari to'plami bo'lib, umumiy xotirali ko'p yadroli tizimda (bitta server) oqimlar darajasidagi parallellikni beradi.</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OpenMP ning asosiy tushunchalari: parallel hudud (fork-join modeli), ish taqsimoti (for, sections, task), ma'lumot muhiti (shared, private, reduction) va sinxronizatsiya (critical, atomic, barrier). OpenMP 4.0 dan boshlab target direktivalari orqali GPU ga…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OpenMP: umumiy xotirali parallellik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10</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400">
                <a:solidFill>
                  <a:srgbClr val="E2E8F0"/>
                </a:solidFill>
                <a:latin typeface="Consolas"/>
              </a:rPr>
              <a:t>// omp_dot.c — OpenMP bilan skalyar ko'paytma; gcc -fopenmp omp_dot.c</a:t>
            </a:r>
          </a:p>
          <a:p>
            <a:r>
              <a:rPr sz="1400">
                <a:solidFill>
                  <a:srgbClr val="E2E8F0"/>
                </a:solidFill>
                <a:latin typeface="Consolas"/>
              </a:rPr>
              <a:t>double dot(const float* a, const float* b, long n) {</a:t>
            </a:r>
          </a:p>
          <a:p>
            <a:r>
              <a:rPr sz="1400">
                <a:solidFill>
                  <a:srgbClr val="E2E8F0"/>
                </a:solidFill>
                <a:latin typeface="Consolas"/>
              </a:rPr>
              <a:t>    double s = 0.0;</a:t>
            </a:r>
          </a:p>
          <a:p>
            <a:r>
              <a:rPr sz="1400">
                <a:solidFill>
                  <a:srgbClr val="7FD6D7"/>
                </a:solidFill>
                <a:latin typeface="Consolas"/>
              </a:rPr>
              <a:t>    #pragma omp parallel for reduction(+:s) schedule(static)</a:t>
            </a:r>
          </a:p>
          <a:p>
            <a:r>
              <a:rPr sz="1400">
                <a:solidFill>
                  <a:srgbClr val="E2E8F0"/>
                </a:solidFill>
                <a:latin typeface="Consolas"/>
              </a:rPr>
              <a:t>    for (long i = 0; i &lt; n; i++) s += (double)a[i] * b[i];</a:t>
            </a:r>
          </a:p>
          <a:p>
            <a:r>
              <a:rPr sz="1400">
                <a:solidFill>
                  <a:srgbClr val="E2E8F0"/>
                </a:solidFill>
                <a:latin typeface="Consolas"/>
              </a:rPr>
              <a:t>    return s;</a:t>
            </a:r>
          </a:p>
          <a:p>
            <a:r>
              <a:rPr sz="1400">
                <a:solidFill>
                  <a:srgbClr val="E2E8F0"/>
                </a:solidFill>
                <a:latin typeface="Consolas"/>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5b12c50fbc01189.jpg"/>
          <p:cNvPicPr>
            <a:picLocks noChangeAspect="1"/>
          </p:cNvPicPr>
          <p:nvPr/>
        </p:nvPicPr>
        <p:blipFill>
          <a:blip r:embed="rId2"/>
          <a:srcRect l="17782" r="1778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The original uploader was Kaewkasi at  Wikipedia. · Wikimedia Commons · CC BY-SA 3.0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MPI: taqsimlangan xotirali parallellik</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4-REJA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MPI: taqsimlangan xotirali parallellik</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12</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MPI (Message Passing Interface) — alohida xotirali jarayonlar o'rtasida xabar almashish standarti, 1994-yildan beri HPC ning asosiy vositasi. Har jarayon o'z rank iga ega, umumiy xotira yo'q, barcha almashinuv aniq chaqiruvlar orqali: nuqta-nuqta…</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All-reduce ni samarali bajarish alohida fan. Sodda usul — hamma rank 0 ga yuboradi, u yig'ib qaytaradi — rank 0 da (p−1) × M bayt trafik hosil qiladi va masshtablanmaydi.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SI amaliyotida MPI ko'pincha bevosita ko'rinmaydi, lekin uning modeli saqlanadi: PyTorch Distributed rank, world_size, all_reduce atamalarini aynan MPI dan olgan; Horovod MPI ustida…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4-REJA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MPI: taqsimlangan xotirali parallellik — kod</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10" name="Rounded Rectangle 9"/>
          <p:cNvSpPr/>
          <p:nvPr/>
        </p:nvSpPr>
        <p:spPr>
          <a:xfrm>
            <a:off x="500000" y="1280000"/>
            <a:ext cx="11200000" cy="50000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1400000"/>
            <a:ext cx="150000" cy="150000"/>
          </a:xfrm>
          <a:prstGeom prst="ellipse">
            <a:avLst/>
          </a:prstGeom>
          <a:solidFill>
            <a:srgbClr val="FF5F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30000" y="1400000"/>
            <a:ext cx="150000" cy="150000"/>
          </a:xfrm>
          <a:prstGeom prst="ellipse">
            <a:avLst/>
          </a:prstGeom>
          <a:solidFill>
            <a:srgbClr val="FFB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60000" y="1400000"/>
            <a:ext cx="150000" cy="150000"/>
          </a:xfrm>
          <a:prstGeom prst="ellipse">
            <a:avLst/>
          </a:prstGeom>
          <a:solidFill>
            <a:srgbClr val="27C9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0000" y="1650000"/>
            <a:ext cx="10800000" cy="4550000"/>
          </a:xfrm>
          <a:prstGeom prst="rect">
            <a:avLst/>
          </a:prstGeom>
          <a:noFill/>
        </p:spPr>
        <p:txBody>
          <a:bodyPr wrap="square">
            <a:spAutoFit/>
          </a:bodyPr>
          <a:lstStyle/>
          <a:p>
            <a:r>
              <a:rPr sz="1000">
                <a:solidFill>
                  <a:srgbClr val="7FD6D7"/>
                </a:solidFill>
                <a:latin typeface="Consolas"/>
              </a:rPr>
              <a:t># mpi_allreduce.py — mpi4py bilan gradientlarni o'rtachalash; mpirun -np 4 python mpi_allreduce.py</a:t>
            </a:r>
          </a:p>
          <a:p>
            <a:r>
              <a:rPr sz="1000">
                <a:solidFill>
                  <a:srgbClr val="E2E8F0"/>
                </a:solidFill>
                <a:latin typeface="Consolas"/>
              </a:rPr>
              <a:t>from mpi4py import MPI</a:t>
            </a:r>
          </a:p>
          <a:p>
            <a:r>
              <a:rPr sz="1000">
                <a:solidFill>
                  <a:srgbClr val="E2E8F0"/>
                </a:solidFill>
                <a:latin typeface="Consolas"/>
              </a:rPr>
              <a:t>import numpy as np</a:t>
            </a:r>
          </a:p>
          <a:p>
            <a:r>
              <a:rPr sz="1000">
                <a:solidFill>
                  <a:srgbClr val="E2E8F0"/>
                </a:solidFill>
                <a:latin typeface="Consolas"/>
              </a:rPr>
              <a:t>comm = MPI.COMM_WORLD; rank, size = comm.Get_rank(), comm.Get_size()</a:t>
            </a:r>
          </a:p>
          <a:p>
            <a:r>
              <a:rPr sz="1000">
                <a:solidFill>
                  <a:srgbClr val="E2E8F0"/>
                </a:solidFill>
                <a:latin typeface="Consolas"/>
              </a:rPr>
              <a:t>grad = np.full(1_000_000, rank, dtype=np.float32)        # har rank o'z «gradienti»</a:t>
            </a:r>
          </a:p>
          <a:p>
            <a:r>
              <a:rPr sz="1000">
                <a:solidFill>
                  <a:srgbClr val="E2E8F0"/>
                </a:solidFill>
                <a:latin typeface="Consolas"/>
              </a:rPr>
              <a:t>avg = np.empty_like(grad)</a:t>
            </a:r>
          </a:p>
          <a:p>
            <a:r>
              <a:rPr sz="1000">
                <a:solidFill>
                  <a:srgbClr val="E2E8F0"/>
                </a:solidFill>
                <a:latin typeface="Consolas"/>
              </a:rPr>
              <a:t>comm.Allreduce(grad, avg, op=MPI.SUM); avg /= size</a:t>
            </a:r>
          </a:p>
          <a:p>
            <a:r>
              <a:rPr sz="1000">
                <a:solidFill>
                  <a:srgbClr val="E2E8F0"/>
                </a:solidFill>
                <a:latin typeface="Consolas"/>
              </a:rPr>
              <a:t>if rank == 0: print("o'rtacha:", avg[0], "kutilgan:", (size - 1) / 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53" presetClass="entr" presetSubtype="16"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ppt_w</p:attrName>
                                        </p:attrNameLst>
                                      </p:cBhvr>
                                      <p:tavLst>
                                        <p:tav tm="0">
                                          <p:val>
                                            <p:strVal val="0"/>
                                          </p:val>
                                        </p:tav>
                                        <p:tav tm="100000">
                                          <p:val>
                                            <p:strVal val="#ppt_w"/>
                                          </p:val>
                                        </p:tav>
                                      </p:tavLst>
                                    </p:anim>
                                    <p:anim calcmode="lin" valueType="num">
                                      <p:cBhvr additive="base">
                                        <p:cTn id="12" dur="550" fill="hold"/>
                                        <p:tgtEl>
                                          <p:spTgt spid="10"/>
                                        </p:tgtEl>
                                        <p:attrNameLst>
                                          <p:attrName>ppt_h</p:attrName>
                                        </p:attrNameLst>
                                      </p:cBhvr>
                                      <p:tavLst>
                                        <p:tav tm="0">
                                          <p:val>
                                            <p:strVal val="0"/>
                                          </p:val>
                                        </p:tav>
                                        <p:tav tm="100000">
                                          <p:val>
                                            <p:strVal val="#ppt_h"/>
                                          </p:val>
                                        </p:tav>
                                      </p:tavLst>
                                    </p:anim>
                                  </p:childTnLst>
                                </p:cTn>
                              </p:par>
                            </p:childTnLst>
                          </p:cTn>
                        </p:par>
                        <p:par>
                          <p:cTn id="13" fill="hold">
                            <p:stCondLst>
                              <p:cond delay="2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childTnLst>
                                </p:cTn>
                              </p:par>
                            </p:childTnLst>
                          </p:cTn>
                        </p:par>
                        <p:par>
                          <p:cTn id="17" fill="hold">
                            <p:stCondLst>
                              <p:cond delay="200"/>
                            </p:stCondLst>
                            <p:childTnLst>
                              <p:par>
                                <p:cTn id="18" presetID="10"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50"/>
                                        <p:tgtEl>
                                          <p:spTgt spid="12"/>
                                        </p:tgtEl>
                                      </p:cBhvr>
                                    </p:animEffect>
                                  </p:childTnLst>
                                </p:cTn>
                              </p:par>
                            </p:childTnLst>
                          </p:cTn>
                        </p:par>
                        <p:par>
                          <p:cTn id="21" fill="hold">
                            <p:stCondLst>
                              <p:cond delay="200"/>
                            </p:stCondLst>
                            <p:childTnLst>
                              <p:par>
                                <p:cTn id="22" presetID="10" presetClass="entr" presetSubtype="0"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50"/>
                                        <p:tgtEl>
                                          <p:spTgt spid="13"/>
                                        </p:tgtEl>
                                      </p:cBhvr>
                                    </p:animEffect>
                                  </p:childTnLst>
                                </p:cTn>
                              </p:par>
                            </p:childTnLst>
                          </p:cTn>
                        </p:par>
                        <p:par>
                          <p:cTn id="25" fill="hold">
                            <p:stCondLst>
                              <p:cond delay="350"/>
                            </p:stCondLst>
                            <p:childTnLst>
                              <p:par>
                                <p:cTn id="26" presetID="22" presetClass="entr" presetSubtype="8"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9"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3a1192fc4d4728d0.jpg"/>
          <p:cNvPicPr>
            <a:picLocks noChangeAspect="1"/>
          </p:cNvPicPr>
          <p:nvPr/>
        </p:nvPicPr>
        <p:blipFill>
          <a:blip r:embed="rId2"/>
          <a:srcRect l="25837" r="2583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Daniel Lu (User:dllu)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Ma'lumotlar va model parallelligi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5-REJA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Ma'lumotlar va model parallelligi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Neyron tarmoqni taqsimlashning ikki asosiy o'qi bor: ma'lumotni bo'lish yoki modelni bo'lish.</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Ma'lumotlar parallelligi (data parallelism, DP) — eng sodda va eng keng tarqalgan usul.</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Bu cheklovni ZeRO (Zero Redundancy Optimizer; Rajbhandari va hammualliflar, SC 2020, Microsoft DeepSpeed) yumshatadi: optimizator holati (ZeRO-1), gradientlar (ZeRO-2) va parametrlar…</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Model parallelligi (model parallelism) — model qismlari turli GPU larga joylashtiriladi; har GPU faqat o'z qismini saqlaydi va hisoblaydi.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f7f1ff8c0c87c54.jpg"/>
          <p:cNvPicPr>
            <a:picLocks noChangeAspect="1"/>
          </p:cNvPicPr>
          <p:nvPr/>
        </p:nvPicPr>
        <p:blipFill>
          <a:blip r:embed="rId2"/>
          <a:srcRect l="17648" r="17648"/>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User: Anonyme · Wikimedia Commons · CC BY 2.5</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06</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Tensor va Pipeline parallelism</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6-REJA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Tensor va Pipeline parallelism</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17</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Tensor parallelligi (tensor parallelism, TP) bitta qatlamni, ya'ni bitta matritsa ko'paytirishni GPU lar o'rtasida bo'ladi. Megatron-LM (Shoeybi va hammualliflar, 2019, NVIDIA) transformer uchun samarali sxemani taklif qildi: MLP blokidagi birinchi chiziqli…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Quvur parallelligi (pipeline parallelism, PP) modelni qatlamlar bo'yicha ketma-ket bosqichlarga (stage) bo'ladi: 1–8-qatlamlar GPU 0 da, 9–16-qatlamlar GPU 1 da va hokazo. Bosqichlar o'rtasida faqat chegara aktivatsiyalari (nuqta-nuqta) uzatiladi — bu TP dan…</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Amalda uchala o'q birlashtiriladi — 3D parallellik: TP server ichida (NVLink, 8 GPU), PP serverlar guruhi bo'ylab, DP (yoki ZeRO) eng tashqi darajada. Megatron-Turing NLG 530B (2021) 560 ta DGX A100 da TP = 8, PP = 35, DP = 12 konfiguratsiyasida o'qitilgan.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6-REJA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Tensor va Pipeline parallelism</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18</a:t>
            </a:r>
          </a:p>
        </p:txBody>
      </p:sp>
      <p:graphicFrame>
        <p:nvGraphicFramePr>
          <p:cNvPr id="10" name="Table 9"/>
          <p:cNvGraphicFramePr>
            <a:graphicFrameLocks noGrp="1"/>
          </p:cNvGraphicFramePr>
          <p:nvPr/>
        </p:nvGraphicFramePr>
        <p:xfrm>
          <a:off x="500000" y="1350000"/>
          <a:ext cx="11200000" cy="3120000"/>
        </p:xfrm>
        <a:graphic>
          <a:graphicData uri="http://schemas.openxmlformats.org/drawingml/2006/table">
            <a:tbl>
              <a:tblPr firstRow="1" bandRow="1">
                <a:tableStyleId>{5C22544A-7EE6-4342-B048-85BDC9FD1C3A}</a:tableStyleId>
              </a:tblPr>
              <a:tblGrid>
                <a:gridCol w="2240000"/>
                <a:gridCol w="2240000"/>
                <a:gridCol w="2240000"/>
                <a:gridCol w="2240000"/>
                <a:gridCol w="2240000"/>
              </a:tblGrid>
              <a:tr h="520000">
                <a:tc>
                  <a:txBody>
                    <a:bodyPr/>
                    <a:lstStyle/>
                    <a:p>
                      <a:r>
                        <a:rPr sz="1200" b="1">
                          <a:solidFill>
                            <a:srgbClr val="FFFFFF"/>
                          </a:solidFill>
                          <a:latin typeface="Calibri"/>
                        </a:rPr>
                        <a:t>Strategiya</a:t>
                      </a:r>
                    </a:p>
                  </a:txBody>
                  <a:tcPr>
                    <a:solidFill>
                      <a:srgbClr val="2D5C8F"/>
                    </a:solidFill>
                  </a:tcPr>
                </a:tc>
                <a:tc>
                  <a:txBody>
                    <a:bodyPr/>
                    <a:lstStyle/>
                    <a:p>
                      <a:r>
                        <a:rPr sz="1200" b="1">
                          <a:solidFill>
                            <a:srgbClr val="FFFFFF"/>
                          </a:solidFill>
                          <a:latin typeface="Calibri"/>
                        </a:rPr>
                        <a:t>Nima bo'linadi</a:t>
                      </a:r>
                    </a:p>
                  </a:txBody>
                  <a:tcPr>
                    <a:solidFill>
                      <a:srgbClr val="2D5C8F"/>
                    </a:solidFill>
                  </a:tcPr>
                </a:tc>
                <a:tc>
                  <a:txBody>
                    <a:bodyPr/>
                    <a:lstStyle/>
                    <a:p>
                      <a:r>
                        <a:rPr sz="1200" b="1">
                          <a:solidFill>
                            <a:srgbClr val="FFFFFF"/>
                          </a:solidFill>
                          <a:latin typeface="Calibri"/>
                        </a:rPr>
                        <a:t>Aloqa turi va hajmi</a:t>
                      </a:r>
                    </a:p>
                  </a:txBody>
                  <a:tcPr>
                    <a:solidFill>
                      <a:srgbClr val="2D5C8F"/>
                    </a:solidFill>
                  </a:tcPr>
                </a:tc>
                <a:tc>
                  <a:txBody>
                    <a:bodyPr/>
                    <a:lstStyle/>
                    <a:p>
                      <a:r>
                        <a:rPr sz="1200" b="1">
                          <a:solidFill>
                            <a:srgbClr val="FFFFFF"/>
                          </a:solidFill>
                          <a:latin typeface="Calibri"/>
                        </a:rPr>
                        <a:t>Qayerda ishlaydi</a:t>
                      </a:r>
                    </a:p>
                  </a:txBody>
                  <a:tcPr>
                    <a:solidFill>
                      <a:srgbClr val="2D5C8F"/>
                    </a:solidFill>
                  </a:tcPr>
                </a:tc>
                <a:tc>
                  <a:txBody>
                    <a:bodyPr/>
                    <a:lstStyle/>
                    <a:p>
                      <a:r>
                        <a:rPr sz="1200" b="1">
                          <a:solidFill>
                            <a:srgbClr val="FFFFFF"/>
                          </a:solidFill>
                          <a:latin typeface="Calibri"/>
                        </a:rPr>
                        <a:t>Asosiy cheklov</a:t>
                      </a:r>
                    </a:p>
                  </a:txBody>
                  <a:tcPr>
                    <a:solidFill>
                      <a:srgbClr val="2D5C8F"/>
                    </a:solidFill>
                  </a:tcPr>
                </a:tc>
              </a:tr>
              <a:tr h="520000">
                <a:tc>
                  <a:txBody>
                    <a:bodyPr/>
                    <a:lstStyle/>
                    <a:p>
                      <a:r>
                        <a:rPr sz="1200" b="0">
                          <a:solidFill>
                            <a:srgbClr val="1B2430"/>
                          </a:solidFill>
                          <a:latin typeface="Calibri"/>
                        </a:rPr>
                        <a:t>Ma'lumot (DP)</a:t>
                      </a:r>
                    </a:p>
                  </a:txBody>
                  <a:tcPr>
                    <a:solidFill>
                      <a:srgbClr val="F1F4F8"/>
                    </a:solidFill>
                  </a:tcPr>
                </a:tc>
                <a:tc>
                  <a:txBody>
                    <a:bodyPr/>
                    <a:lstStyle/>
                    <a:p>
                      <a:r>
                        <a:rPr sz="1200" b="0">
                          <a:solidFill>
                            <a:srgbClr val="1B2430"/>
                          </a:solidFill>
                          <a:latin typeface="Calibri"/>
                        </a:rPr>
                        <a:t>Paket</a:t>
                      </a:r>
                    </a:p>
                  </a:txBody>
                  <a:tcPr>
                    <a:solidFill>
                      <a:srgbClr val="F1F4F8"/>
                    </a:solidFill>
                  </a:tcPr>
                </a:tc>
                <a:tc>
                  <a:txBody>
                    <a:bodyPr/>
                    <a:lstStyle/>
                    <a:p>
                      <a:r>
                        <a:rPr sz="1200" b="0">
                          <a:solidFill>
                            <a:srgbClr val="1B2430"/>
                          </a:solidFill>
                          <a:latin typeface="Calibri"/>
                        </a:rPr>
                        <a:t>All-reduce, gradient hajmi, iteratsiyada 1 marta</a:t>
                      </a:r>
                    </a:p>
                  </a:txBody>
                  <a:tcPr>
                    <a:solidFill>
                      <a:srgbClr val="F1F4F8"/>
                    </a:solidFill>
                  </a:tcPr>
                </a:tc>
                <a:tc>
                  <a:txBody>
                    <a:bodyPr/>
                    <a:lstStyle/>
                    <a:p>
                      <a:r>
                        <a:rPr sz="1200" b="0">
                          <a:solidFill>
                            <a:srgbClr val="1B2430"/>
                          </a:solidFill>
                          <a:latin typeface="Calibri"/>
                        </a:rPr>
                        <a:t>Har qanday (NVLink, IB, Ethernet)</a:t>
                      </a:r>
                    </a:p>
                  </a:txBody>
                  <a:tcPr>
                    <a:solidFill>
                      <a:srgbClr val="F1F4F8"/>
                    </a:solidFill>
                  </a:tcPr>
                </a:tc>
                <a:tc>
                  <a:txBody>
                    <a:bodyPr/>
                    <a:lstStyle/>
                    <a:p>
                      <a:r>
                        <a:rPr sz="1200" b="0">
                          <a:solidFill>
                            <a:srgbClr val="1B2430"/>
                          </a:solidFill>
                          <a:latin typeface="Calibri"/>
                        </a:rPr>
                        <a:t>Model 1 GPU ga sig'ishi kerak</a:t>
                      </a:r>
                    </a:p>
                  </a:txBody>
                  <a:tcPr>
                    <a:solidFill>
                      <a:srgbClr val="F1F4F8"/>
                    </a:solidFill>
                  </a:tcPr>
                </a:tc>
              </a:tr>
              <a:tr h="520000">
                <a:tc>
                  <a:txBody>
                    <a:bodyPr/>
                    <a:lstStyle/>
                    <a:p>
                      <a:r>
                        <a:rPr sz="1200" b="0">
                          <a:solidFill>
                            <a:srgbClr val="1B2430"/>
                          </a:solidFill>
                          <a:latin typeface="Calibri"/>
                        </a:rPr>
                        <a:t>ZeRO/FSDP</a:t>
                      </a:r>
                    </a:p>
                  </a:txBody>
                  <a:tcPr>
                    <a:solidFill>
                      <a:srgbClr val="FFFFFF"/>
                    </a:solidFill>
                  </a:tcPr>
                </a:tc>
                <a:tc>
                  <a:txBody>
                    <a:bodyPr/>
                    <a:lstStyle/>
                    <a:p>
                      <a:r>
                        <a:rPr sz="1200" b="0">
                          <a:solidFill>
                            <a:srgbClr val="1B2430"/>
                          </a:solidFill>
                          <a:latin typeface="Calibri"/>
                        </a:rPr>
                        <a:t>Paket + holatlar bo'lib saqlanadi</a:t>
                      </a:r>
                    </a:p>
                  </a:txBody>
                  <a:tcPr>
                    <a:solidFill>
                      <a:srgbClr val="FFFFFF"/>
                    </a:solidFill>
                  </a:tcPr>
                </a:tc>
                <a:tc>
                  <a:txBody>
                    <a:bodyPr/>
                    <a:lstStyle/>
                    <a:p>
                      <a:r>
                        <a:rPr sz="1200" b="0">
                          <a:solidFill>
                            <a:srgbClr val="1B2430"/>
                          </a:solidFill>
                          <a:latin typeface="Calibri"/>
                        </a:rPr>
                        <a:t>All-gather + reduce-scatter, ~1,5× DP</a:t>
                      </a:r>
                    </a:p>
                  </a:txBody>
                  <a:tcPr>
                    <a:solidFill>
                      <a:srgbClr val="FFFFFF"/>
                    </a:solidFill>
                  </a:tcPr>
                </a:tc>
                <a:tc>
                  <a:txBody>
                    <a:bodyPr/>
                    <a:lstStyle/>
                    <a:p>
                      <a:r>
                        <a:rPr sz="1200" b="0">
                          <a:solidFill>
                            <a:srgbClr val="1B2430"/>
                          </a:solidFill>
                          <a:latin typeface="Calibri"/>
                        </a:rPr>
                        <a:t>NVLink, IB</a:t>
                      </a:r>
                    </a:p>
                  </a:txBody>
                  <a:tcPr>
                    <a:solidFill>
                      <a:srgbClr val="FFFFFF"/>
                    </a:solidFill>
                  </a:tcPr>
                </a:tc>
                <a:tc>
                  <a:txBody>
                    <a:bodyPr/>
                    <a:lstStyle/>
                    <a:p>
                      <a:r>
                        <a:rPr sz="1200" b="0">
                          <a:solidFill>
                            <a:srgbClr val="1B2430"/>
                          </a:solidFill>
                          <a:latin typeface="Calibri"/>
                        </a:rPr>
                        <a:t>Aloqa oshadi, kichik paketda samarasiz</a:t>
                      </a:r>
                    </a:p>
                  </a:txBody>
                  <a:tcPr>
                    <a:solidFill>
                      <a:srgbClr val="FFFFFF"/>
                    </a:solidFill>
                  </a:tcPr>
                </a:tc>
              </a:tr>
              <a:tr h="520000">
                <a:tc>
                  <a:txBody>
                    <a:bodyPr/>
                    <a:lstStyle/>
                    <a:p>
                      <a:r>
                        <a:rPr sz="1200" b="0">
                          <a:solidFill>
                            <a:srgbClr val="1B2430"/>
                          </a:solidFill>
                          <a:latin typeface="Calibri"/>
                        </a:rPr>
                        <a:t>Tensor (TP)</a:t>
                      </a:r>
                    </a:p>
                  </a:txBody>
                  <a:tcPr>
                    <a:solidFill>
                      <a:srgbClr val="F1F4F8"/>
                    </a:solidFill>
                  </a:tcPr>
                </a:tc>
                <a:tc>
                  <a:txBody>
                    <a:bodyPr/>
                    <a:lstStyle/>
                    <a:p>
                      <a:r>
                        <a:rPr sz="1200" b="0">
                          <a:solidFill>
                            <a:srgbClr val="1B2430"/>
                          </a:solidFill>
                          <a:latin typeface="Calibri"/>
                        </a:rPr>
                        <a:t>Qatlam ichidagi matritsa</a:t>
                      </a:r>
                    </a:p>
                  </a:txBody>
                  <a:tcPr>
                    <a:solidFill>
                      <a:srgbClr val="F1F4F8"/>
                    </a:solidFill>
                  </a:tcPr>
                </a:tc>
                <a:tc>
                  <a:txBody>
                    <a:bodyPr/>
                    <a:lstStyle/>
                    <a:p>
                      <a:r>
                        <a:rPr sz="1200" b="0">
                          <a:solidFill>
                            <a:srgbClr val="1B2430"/>
                          </a:solidFill>
                          <a:latin typeface="Calibri"/>
                        </a:rPr>
                        <a:t>All-reduce, aktivatsiya hajmi, har qatlamda</a:t>
                      </a:r>
                    </a:p>
                  </a:txBody>
                  <a:tcPr>
                    <a:solidFill>
                      <a:srgbClr val="F1F4F8"/>
                    </a:solidFill>
                  </a:tcPr>
                </a:tc>
                <a:tc>
                  <a:txBody>
                    <a:bodyPr/>
                    <a:lstStyle/>
                    <a:p>
                      <a:r>
                        <a:rPr sz="1200" b="0">
                          <a:solidFill>
                            <a:srgbClr val="1B2430"/>
                          </a:solidFill>
                          <a:latin typeface="Calibri"/>
                        </a:rPr>
                        <a:t>Faqat NVLink (server ichi)</a:t>
                      </a:r>
                    </a:p>
                  </a:txBody>
                  <a:tcPr>
                    <a:solidFill>
                      <a:srgbClr val="F1F4F8"/>
                    </a:solidFill>
                  </a:tcPr>
                </a:tc>
                <a:tc>
                  <a:txBody>
                    <a:bodyPr/>
                    <a:lstStyle/>
                    <a:p>
                      <a:r>
                        <a:rPr sz="1200" b="0">
                          <a:solidFill>
                            <a:srgbClr val="1B2430"/>
                          </a:solidFill>
                          <a:latin typeface="Calibri"/>
                        </a:rPr>
                        <a:t>Interkonnekt tezligi</a:t>
                      </a:r>
                    </a:p>
                  </a:txBody>
                  <a:tcPr>
                    <a:solidFill>
                      <a:srgbClr val="F1F4F8"/>
                    </a:solidFill>
                  </a:tcPr>
                </a:tc>
              </a:tr>
              <a:tr h="520000">
                <a:tc>
                  <a:txBody>
                    <a:bodyPr/>
                    <a:lstStyle/>
                    <a:p>
                      <a:r>
                        <a:rPr sz="1200" b="0">
                          <a:solidFill>
                            <a:srgbClr val="1B2430"/>
                          </a:solidFill>
                          <a:latin typeface="Calibri"/>
                        </a:rPr>
                        <a:t>Quvur (PP)</a:t>
                      </a:r>
                    </a:p>
                  </a:txBody>
                  <a:tcPr>
                    <a:solidFill>
                      <a:srgbClr val="FFFFFF"/>
                    </a:solidFill>
                  </a:tcPr>
                </a:tc>
                <a:tc>
                  <a:txBody>
                    <a:bodyPr/>
                    <a:lstStyle/>
                    <a:p>
                      <a:r>
                        <a:rPr sz="1200" b="0">
                          <a:solidFill>
                            <a:srgbClr val="1B2430"/>
                          </a:solidFill>
                          <a:latin typeface="Calibri"/>
                        </a:rPr>
                        <a:t>Qatlamlar guruhi</a:t>
                      </a:r>
                    </a:p>
                  </a:txBody>
                  <a:tcPr>
                    <a:solidFill>
                      <a:srgbClr val="FFFFFF"/>
                    </a:solidFill>
                  </a:tcPr>
                </a:tc>
                <a:tc>
                  <a:txBody>
                    <a:bodyPr/>
                    <a:lstStyle/>
                    <a:p>
                      <a:r>
                        <a:rPr sz="1200" b="0">
                          <a:solidFill>
                            <a:srgbClr val="1B2430"/>
                          </a:solidFill>
                          <a:latin typeface="Calibri"/>
                        </a:rPr>
                        <a:t>Nuqta-nuqta, chegara aktivatsiyalari</a:t>
                      </a:r>
                    </a:p>
                  </a:txBody>
                  <a:tcPr>
                    <a:solidFill>
                      <a:srgbClr val="FFFFFF"/>
                    </a:solidFill>
                  </a:tcPr>
                </a:tc>
                <a:tc>
                  <a:txBody>
                    <a:bodyPr/>
                    <a:lstStyle/>
                    <a:p>
                      <a:r>
                        <a:rPr sz="1200" b="0">
                          <a:solidFill>
                            <a:srgbClr val="1B2430"/>
                          </a:solidFill>
                          <a:latin typeface="Calibri"/>
                        </a:rPr>
                        <a:t>Server ichi va orasida</a:t>
                      </a:r>
                    </a:p>
                  </a:txBody>
                  <a:tcPr>
                    <a:solidFill>
                      <a:srgbClr val="FFFFFF"/>
                    </a:solidFill>
                  </a:tcPr>
                </a:tc>
                <a:tc>
                  <a:txBody>
                    <a:bodyPr/>
                    <a:lstStyle/>
                    <a:p>
                      <a:r>
                        <a:rPr sz="1200" b="0">
                          <a:solidFill>
                            <a:srgbClr val="1B2430"/>
                          </a:solidFill>
                          <a:latin typeface="Calibri"/>
                        </a:rPr>
                        <a:t>Pufak, muvozanatsiz bosqichlar</a:t>
                      </a:r>
                    </a:p>
                  </a:txBody>
                  <a:tcPr>
                    <a:solidFill>
                      <a:srgbClr val="FFFFFF"/>
                    </a:solidFill>
                  </a:tcPr>
                </a:tc>
              </a:tr>
              <a:tr h="520000">
                <a:tc>
                  <a:txBody>
                    <a:bodyPr/>
                    <a:lstStyle/>
                    <a:p>
                      <a:r>
                        <a:rPr sz="1200" b="0">
                          <a:solidFill>
                            <a:srgbClr val="1B2430"/>
                          </a:solidFill>
                          <a:latin typeface="Calibri"/>
                        </a:rPr>
                        <a:t>Ekspert (MoE)</a:t>
                      </a:r>
                    </a:p>
                  </a:txBody>
                  <a:tcPr>
                    <a:solidFill>
                      <a:srgbClr val="F1F4F8"/>
                    </a:solidFill>
                  </a:tcPr>
                </a:tc>
                <a:tc>
                  <a:txBody>
                    <a:bodyPr/>
                    <a:lstStyle/>
                    <a:p>
                      <a:r>
                        <a:rPr sz="1200" b="0">
                          <a:solidFill>
                            <a:srgbClr val="1B2430"/>
                          </a:solidFill>
                          <a:latin typeface="Calibri"/>
                        </a:rPr>
                        <a:t>Ekspert MLP lar</a:t>
                      </a:r>
                    </a:p>
                  </a:txBody>
                  <a:tcPr>
                    <a:solidFill>
                      <a:srgbClr val="F1F4F8"/>
                    </a:solidFill>
                  </a:tcPr>
                </a:tc>
                <a:tc>
                  <a:txBody>
                    <a:bodyPr/>
                    <a:lstStyle/>
                    <a:p>
                      <a:r>
                        <a:rPr sz="1200" b="0">
                          <a:solidFill>
                            <a:srgbClr val="1B2430"/>
                          </a:solidFill>
                          <a:latin typeface="Calibri"/>
                        </a:rPr>
                        <a:t>All-to-all, token marshruti</a:t>
                      </a:r>
                    </a:p>
                  </a:txBody>
                  <a:tcPr>
                    <a:solidFill>
                      <a:srgbClr val="F1F4F8"/>
                    </a:solidFill>
                  </a:tcPr>
                </a:tc>
                <a:tc>
                  <a:txBody>
                    <a:bodyPr/>
                    <a:lstStyle/>
                    <a:p>
                      <a:r>
                        <a:rPr sz="1200" b="0">
                          <a:solidFill>
                            <a:srgbClr val="1B2430"/>
                          </a:solidFill>
                          <a:latin typeface="Calibri"/>
                        </a:rPr>
                        <a:t>IB</a:t>
                      </a:r>
                    </a:p>
                  </a:txBody>
                  <a:tcPr>
                    <a:solidFill>
                      <a:srgbClr val="F1F4F8"/>
                    </a:solidFill>
                  </a:tcPr>
                </a:tc>
                <a:tc>
                  <a:txBody>
                    <a:bodyPr/>
                    <a:lstStyle/>
                    <a:p>
                      <a:r>
                        <a:rPr sz="1200" b="0">
                          <a:solidFill>
                            <a:srgbClr val="1B2430"/>
                          </a:solidFill>
                          <a:latin typeface="Calibri"/>
                        </a:rPr>
                        <a:t>Yuk muvozanati</a:t>
                      </a:r>
                    </a:p>
                  </a:txBody>
                  <a:tcPr>
                    <a:solidFill>
                      <a:srgbClr val="F1F4F8"/>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ee6289259cc57ea0.jpg"/>
          <p:cNvPicPr>
            <a:picLocks noChangeAspect="1"/>
          </p:cNvPicPr>
          <p:nvPr/>
        </p:nvPicPr>
        <p:blipFill>
          <a:blip r:embed="rId2"/>
          <a:srcRect l="30669" r="30669"/>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Julian Herzog (Website) · Wikimedia Commons · CC BY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07</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2400" b="1">
                <a:solidFill>
                  <a:srgbClr val="FFFFFF"/>
                </a:solidFill>
                <a:latin typeface="Calibri"/>
              </a:rPr>
              <a:t>Taqsimlangan AI hisoblash muhitlari va yuqori unumdor tizimlarni tashkil etish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7-REJA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100" b="1">
                <a:solidFill>
                  <a:srgbClr val="FFFFFF"/>
                </a:solidFill>
                <a:latin typeface="Calibri"/>
              </a:rPr>
              <a:t>Taqsimlangan AI hisoblash muhitlari va yuqori unumdor tizimlarni tashkil etish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M3 · Sun'iy intellekt tizimlarida parallel va taqsimlangan hisoblash texnologiyalari</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20</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Taqsimlangan SI muhiti bir necha qatlamdan iborat. Kollektiv aloqa qatlami: NCCL (NVIDIA), RCCL (AMD), oneCCL (Intel), Gloo (CPU) — topologiyani aniqlab, optimal algoritmni tanlaydi.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Yuqori unumdor AI tizimini tashkil etishda apparat tomonida to'rt qaror hal qiluvchi. Interkonnekt topologiyasi: server ichida NVSwitch (har GPU juftligi to'liq tezlikda), serverlar orasida InfiniBand NDR 400 Gbit/s yoki RoCE Ethernet, «fat-tree» yoki…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Dasturiy tomonda masshtablash samaradorligini saqlash uchun: aloqani hisoblash bilan ustma-ust qo'yish, gradient to'plash (gradient accumulation) bilan paketni kattalashtirish, aloqa aniqligini kamaytirish (FP16/BF16 gradientlar, siqish), ma'lumot yuklash…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https://aiscan.airi.uz/ktm/#/c/mis2104/mavzu/M3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
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sun'iy intellekt yuklarini bitta tezlatkich doirasida (parallel hisoblash) va ko'plab tezlatkich hamda tugunlar bo'ylab (taqsimlangan hisoblash) tashkil etishning nazariy asoslari va asosiy texnologiyalarini o'rgatish. Mavzu o'zlashtirilgach, magistrant:</a:t>
            </a:r>
          </a:p>
          <a:p/>
          <a:p>
            <a:r>
              <a:t>Parallel hisoblashning asosiy tamoyillarini — Flinn tasnifi, tezlashuv va samaradorlik, Amdal va Gustafson qonunlari, kuchli va kuchsiz masshtablash — tushuntira oladi va berilgan yuk uchun kutilgan tezlashuvni hisoblay oladi;</a:t>
            </a:r>
          </a:p>
          <a:p/>
          <a:p>
            <a:r>
              <a:t>CUDA, OpenMP va MPI texnologiyalarining dasturlash modellarini (oqimlar iyerarxiyasi, umumiy xotira direktivalari, xabar almashish) farqlaydi va har birining SI tizimidagi o'rnini ko'rsata oladi;</a:t>
            </a:r>
          </a:p>
          <a:p/>
          <a:p>
            <a:r>
              <a:t>Ma'lumotlar parallelligi, model parallelligi, tensor parallelligi va quvur (pipeline) parallelligi usullarining ishlash mexanizmini, aloqa hajmini va cheklovlarini tahlil qila oladi;</a:t>
            </a:r>
          </a:p>
          <a:p/>
          <a:p>
            <a:r>
              <a:t>Taqsimlangan SI hisoblash muhitlarini (NCCL, PyTorch Distributed, DeepSpeed, Megatron-LM, Ray) tashkil etuvchi komponentlarni va ularning o'zaro aloqasini tavsiflay oladi;</a:t>
            </a:r>
          </a:p>
          <a:p/>
          <a:p>
            <a:r>
              <a:t>PyTorch DistributedDataParallel yordamida ko'p GPU li o'qitishni ishga tushirib, masshtablash samaradorligini o'lchay oladi.</a:t>
            </a:r>
          </a:p>
          <a:p/>
          <a:p>
            <a:r>
              <a:t>Mavzu fanning TN2 (parallel va taqsimlangan hisoblash muhitlarida SI tizimlarini ishlab chiqish) va TN5 (CUDA, OpenMP kabi vositalardan foydalanish ko'nikmasi) ta'lim natijalariga bevosita xizmat qiladi, A2 va A5 amaliy mashg'ulotlari uchun nazariy asos beradi.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sun'iy intellekt yuklarini bitta tezlatkich doirasida (parallel hisoblash) va ko'plab tezlatkich hamda tugunlar bo'ylab (taqsimlangan hisoblash) tashkil etishning nazariy asoslari va asosiy texnologiyalarini o'rgatish. Mavzu o'zlashtirilgach, magistrant:</a:t>
            </a:r>
          </a:p>
          <a:p/>
          <a:p>
            <a:r>
              <a:t>Parallel hisoblashning asosiy tamoyillarini — Flinn tasnifi, tezlashuv va samaradorlik, Amdal va Gustafson qonunlari, kuchli va kuchsiz masshtablash — tushuntira oladi va berilgan yuk uchun kutilgan tezlashuvni hisoblay oladi;</a:t>
            </a:r>
          </a:p>
          <a:p/>
          <a:p>
            <a:r>
              <a:t>CUDA, OpenMP va MPI texnologiyalarining dasturlash modellarini (oqimlar iyerarxiyasi, umumiy xotira direktivalari, xabar almashish) farqlaydi va har birining SI tizimidagi o'rnini ko'rsata oladi;</a:t>
            </a:r>
          </a:p>
          <a:p/>
          <a:p>
            <a:r>
              <a:t>Ma'lumotlar parallelligi, model parallelligi, tensor parallelligi va quvur (pipeline) parallelligi usullarining ishlash mexanizmini, aloqa hajmini va cheklovlarini tahlil qila oladi;</a:t>
            </a:r>
          </a:p>
          <a:p/>
          <a:p>
            <a:r>
              <a:t>Taqsimlangan SI hisoblash muhitlarini (NCCL, PyTorch Distributed, DeepSpeed, Megatron-LM, Ray) tashkil etuvchi komponentlarni va ularning o'zaro aloqasini tavsiflay oladi;</a:t>
            </a:r>
          </a:p>
          <a:p/>
          <a:p>
            <a:r>
              <a:t>PyTorch DistributedDataParallel yordamida ko'p GPU li o'qitishni ishga tushirib, masshtablash samaradorligini o'lchay oladi.</a:t>
            </a:r>
          </a:p>
          <a:p/>
          <a:p>
            <a:r>
              <a:t>Mavzu fanning TN2 (parallel va taqsimlangan hisoblash muhitlarida SI tizimlarini ishlab chiqish) va TN5 (CUDA, OpenMP kabi vositalardan foydalanish ko'nikmasi) ta'lim natijalariga bevosita xizmat qiladi, A2 va A5 amaliy mashg'ulotlari uchun nazariy asos beradi.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Neyron tarmoqlar hajmi so'nggi o'n yilda hisoblash apparatining o'sishidan ancha tez o'sdi. 2012-yilgi AlexNet 60 million parametrga ega bo'lib, ikki GPU da olti kun o'qitilgan. 2020-yilgi GPT-3 175 milliard parametrli bo'lib, uning FP16 og'irliklarining o'zi 350 GB joy egallaydi — hech bir tezlatkich xotirasiga sig'maydi, o'qitish uchun esa taxminan 3,1 × 10²³ FLOP kerak bo'lgan; bitta A100 da bu 100 yildan ortiq vaqt. 2024-yilgi Llama 3 405B modeli 16 mingdan ortiq H100 GPU da o'qitilgan. Demak zamonaviy SI tizimi tabiatan parallel va taqsimlangan: bitta yadro yoki bitta chip yetarli emas, yuk minglab hisoblash elementlari o'rtasida taqsimlanishi va ular bir-biri bilan samarali aloqa qilishi kerak.</a:t>
            </a:r>
          </a:p>
          <a:p/>
          <a:p>
            <a:r>
              <a:t>Parallellik ikki miqyosda namoyon bo'ladi. Chip ichida — GPU dagi minglab oqim, CPU dagi o'nlab yadro va SIMD bloklar — buni CUDA va OpenMP kabi texnologiyalar boshqaradi. Chiplar va tugunlar o'rtasida — serverdagi 8 GPU, klasterdagi yuzlab server — buni MPI, NCCL va ular ustida qurilgan PyTorch Distributed, DeepSpeed kabi kutubxonalar boshqaradi. Har ikki miqyosda ham muammo bir xil: hisoblashni bo'lish oson, lekin bo'lingan qismlar o'rtasidagi ma'lumot almashinuvi va sinxronizatsiya narxi tezlashuvni yeb qo'yadi. M2 da ko'rganimizdek, GPU ichidagi xotira 3 TB/s, GPU lar orasida 900 GB/s, serverlar orasida 50 GB/s — har pog'onada tartib farqi; parallel algoritmning vazifasi — aloqani iloji boricha tez pog'onada bajarish va uni hisoblash bilan ustma-ust qo'yish.</a:t>
            </a:r>
          </a:p>
          <a:p/>
          <a:p>
            <a:r>
              <a:t>Sanoat uchun bu masala bevosita pul: 1 000 GPU li klasterda masshtablash samaradorligi 90 % o'rniga 60 % bo'lsa, har uch GPU dan biri behuda ishlaydi, bu soatiga minglab dollar demakdir. Shuning uchun taqsimlangan o'qitish va inferens texnologiyalarini tushunish SI infratuzilmasi muhandisining asosiy malakalaridan biri. Ushbu ma'ruza parallellikning nazariy chegaralaridan boshlab, uchta asosiy dasturlash texnologiyasini, so'ng neyron tarmoqqa xos to'rt xil parallellik strategiyasini ko'rib chiqadi va PyTorch DDP misolida ularni amalda sinaydi.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Flinn tasnifi (Flynn's taxonomy) hisoblash tizimlarini buyruq va ma'lumot oqimlari soniga ko'ra to'rt sinfga ajratadi: SISD (bitta buyruq, bitta ma'lumot — klassik skalyar protsessor), SIMD (bitta buyruq, ko'p ma'lumot — vektor bloklar, GPU warp), MISD (amalda kam uchraydi) va MIMD (ko'p buyruq, ko'p ma'lumot — ko'p yadroli CPU, klaster). Zamonaviy SI tizimi barcha darajalarni birlashtiradi: klaster MIMD, har tugundagi GPU SIMT (SIMD ning oqimli varianti), har SM ichidagi Tensor Core esa matritsa darajasidagi SIMD.</a:t>
            </a:r>
          </a:p>
          <a:p/>
          <a:p>
            <a:r>
              <a:t>Parallel dasturning sifatini ikki ko'rsatkich belgilaydi: tezlashuv S(p) = T(1) / T(p) — p protsessorda bajarish vaqtining bitta protsessordagi vaqtga nisbati, va samaradorlik E(p) = S(p) / p — ideal chiziqli tezlashuvga nisbatan ulush. Amdal qonuni tezlashuvning yuqori chegarasini beradi: agar ishning f ulushi ketma-ket bo'lsa, S(p) ≤ 1 / (f + (1 − f)/p), va p → ∞ da S ≤ 1/f. Ketma-ket ulush 5 % bo'lsa, hatto ming protsessor ham 20 baravardan ortiq tezlashuv bermaydi. Bu pessimistik qonun kuchli masshtablash (strong scaling) — masala hajmi o'zgarmas, protsessorlar soni o'sadi — uchun to'g'ri.</a:t>
            </a:r>
          </a:p>
          <a:p/>
          <a:p>
            <a:r>
              <a:t>Gustafson qonuni boshqa nuqtai nazarni beradi: amalda protsessorlar ko'paysa, muhandis masalani kattalashtiradi (ko'proq ma'lumot, kattaroq model). Agar ketma-ket qism vaqti o'zgarmas va parallel qism protsessorlar soniga proporsional o'ssa, masshtablangan tezlashuv S(p) = f + (1 − f) × p — deyarli chiziqli. Bu kuchsiz masshtablash (weak scaling) deb ataladi va neyron tarmoq o'qitishga aynan mos keladi: 8 GPU ga o'tganda har GPU ga bir xil mikro-paket beriladi, global paket 8 baravar o'sadi, bir iteratsiya vaqti deyarli o'zgarmaydi. Shu sababli taqsimlangan o'qitish hisobotlarida odatda «so'ngra tasvir/soniya» yoki «token/soniya» o'tkazuvchanligi keltiriladi.</a:t>
            </a:r>
          </a:p>
          <a:p/>
          <a:p>
            <a:r>
              <a:t>Aloqa narxini baholash uchun oddiy model foydali: M baytli xabarni uzatish vaqti t = α + M / β, bu yerda α — kechikish (latency, InfiniBand da 1–2 mks, PCIe da 5–10 mks, Ethernet TCP da 20–50 mks), β — o'tkazuvchanlik. Kichik xabarlar α bilan, katta xabarlar β bilan cheklanadi; shuning uchun ko'plab kichik gradientlarni bitta katta buferga birlashtirish (bucketing) — DDP ning asosiy optimallashtirishi.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CUDA (Compute Unified Device Architecture) — NVIDIA GPU larini umumiy maqsadli hisoblash uchun dasturlash platformasi. Kirk va Hwu [5] bayon qilgan modelda dasturchi yadro (kernel) — minglab oqim parallel bajaradigan funksiya — yozadi. Oqimlar uch darajali iyerarxiyaga uyushtiriladi: oqim (thread) → blok (block, 1024 tagacha oqim, bitta SM da bajariladi, umumiy xotira orqali almashadi) → to'r (grid, bloklar to'plami). Apparat blokni 32 oqimli warp larga bo'lib, warp ni bitta buyruq bilan bajaradi. Quyidagi yadro ikki vektorni qo'shadi:</a:t>
            </a:r>
          </a:p>
          <a:p/>
          <a:p>
            <a:r>
              <a:t>CUDA dasturining samaradorligi to'rt omilga bog'liq: bandlik (occupancy — SM da bir vaqtda faol warp lar soni, xotira kechikishini yashirish uchun ko'p bo'lishi kerak), birlashgan xotira murojaati (coalescing — warp dagi 32 oqim qo'shni manzillarga murojaat qilsa, bitta tranzaksiya), umumiy xotiradan foydalanish (ma'lumotni global xotiradan bir marta yuklab, blok ichida ko'p marta ishlatish — matritsa ko'paytirishda «plitkalash», tiling) va warp divergensiyasi (warp ichidagi oqimlar turli tarmoqqa ketsa, ikkala tarmoq ketma-ket bajariladi). SI muhandisi odatda o'z yadrosini yozmaydi — cuBLAS, cuDNN, TensorRT va PyTorch tayyor yadrolar beradi — lekin bu omillarni bilish profillash natijasini tushunish va Triton yoki CUDA da maxsus operatsiya (masalan, FlashAttention uslubidagi diqqat yadrosi) yozish uchun zarur. CUDA ning bir nechta GPU bilan ishlash uchun asosiy vositalari — oqimlar (streams, asinxron buyruqlar navbati), hodisalar (events, sinxronizatsiya) va NCCL (NVIDIA Collective Communications Library) — GPU lar orasida all-reduce, broadcast, all-gather kabi kollektiv amallarni NVLink/InfiniBand topologiyasiga moslab bajaruvchi kutubxona.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OpenMP — C, C++ va Fortran uchun kompilyator direktivalari to'plami bo'lib, umumiy xotirali ko'p yadroli tizimda (bitta server) oqimlar darajasidagi parallellikni beradi. Dasturchi ketma-ket kodga #pragma omp parallel for kabi direktiva qo'shadi, kompilyator siklni oqimlar o'rtasida taqsimlaydi:</a:t>
            </a:r>
          </a:p>
          <a:p/>
          <a:p>
            <a:r>
              <a:t>OpenMP ning asosiy tushunchalari: parallel hudud (fork-join modeli), ish taqsimoti (for, sections, task), ma'lumot muhiti (shared, private, reduction) va sinxronizatsiya (critical, atomic, barrier). OpenMP 4.0 dan boshlab target direktivalari orqali GPU ga yuklash ham mumkin, biroq SI sohasida bu kam ishlatiladi. SI tizimida OpenMP ning real o'rni — CPU tomonidagi kutubxonalar: PyTorch ning CPU backend i (ATen), oneDNN, OpenBLAS va MKL ichki parallellik uchun OpenMP ishlatadi; OMP_NUM_THREADS o'zgaruvchisi va torch.set_num_threads aynan shu oqimlar sonini boshqaradi. Ma'lumot yuklash va oldindan ishlov (augmentatsiya, tokenizatsiya) ham ko'pincha OpenMP yoki Python ko'p jarayonlilik bilan parallellashtiriladi.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MPI (Message Passing Interface) — alohida xotirali jarayonlar o'rtasida xabar almashish standarti, 1994-yildan beri HPC ning asosiy vositasi. Har jarayon o'z rank iga ega, umumiy xotira yo'q, barcha almashinuv aniq chaqiruvlar orqali: nuqta-nuqta (MPI_Send/MPI_Recv) va kollektiv (MPI_Bcast, MPI_Reduce, MPI_Allreduce, MPI_Allgather, MPI_Alltoall). SI uchun eng muhimi — MPI_Allreduce: har jarayondagi vektor elementlari yig'indisi hisoblanib, natija hammaga tarqatiladi — aynan gradientlarni o'rtachalash uchun kerak bo'lgan amal.</a:t>
            </a:r>
          </a:p>
          <a:p/>
          <a:p>
            <a:r>
              <a:t>All-reduce ni samarali bajarish alohida fan. Sodda usul — hamma rank 0 ga yuboradi, u yig'ib qaytaradi — rank 0 da (p−1) × M bayt trafik hosil qiladi va masshtablanmaydi. Halqa all-reduce (ring all-reduce; 2017-yilda Baidu tomonidan chuqur o'qitishga tatbiq etilgan, keyin Uber ning Horovod kutubxonasida ommalashgan) vektorni p bo'lakka bo'lib, ikki bosqichda (reduce-scatter, so'ng all-gather) halqa bo'ylab uzatadi; har rank jami 2 × (p−1)/p × M bayt yuboradi — p dan deyarli mustaqil, ya'ni optimal o'tkazuvchanlik. Katta p da kechikish 2(p−1) × α o'sadi, shuning uchun NCCL daraxt (tree) va ierarxik algoritmlarni ham ishlatadi: avval tugun ichida NVLink orqali, keyin tugunlar orasida InfiniBand orqali. NVIDIA SHARP texnologiyasi esa qisqartirishni (reduction) InfiniBand kommutatorining o'zida bajarib, trafikni yana ikki baravar kamaytiradi.</a:t>
            </a:r>
          </a:p>
          <a:p/>
          <a:p>
            <a:r>
              <a:t>SI amaliyotida MPI ko'pincha bevosita ko'rinmaydi, lekin uning modeli saqlanadi: PyTorch Distributed rank, world_size, all_reduce atamalarini aynan MPI dan olgan; Horovod MPI ustida qurilgan; Slurm klasterlarida jarayonlarni ishga tushirish srun/mpirun orqali bajariladi; NCCL esa GPU lar uchun «MPI kollektivlari» ning ixtisoslashgan amalga oshirilishidir.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Neyron tarmoqni taqsimlashning ikki asosiy o'qi bor: ma'lumotni bo'lish yoki modelni bo'lish.</a:t>
            </a:r>
          </a:p>
          <a:p/>
          <a:p>
            <a:r>
              <a:t>Ma'lumotlar parallelligi (data parallelism, DP) — eng sodda va eng keng tarqalgan usul. Modelning to'liq nusxasi har GPU da saqlanadi; global paket p ta mikro-paketga bo'linadi; har GPU o'z mikro-paketida oldinga va orqaga o'tishni mustaqil bajaradi; so'ng gradientlar all-reduce bilan o'rtachalanadi va har GPU bir xil yangilanishni qo'llaydi — natijada nusxalar sinxron qoladi. Bir iteratsiyadagi aloqa hajmi model hajmiga teng (FP16 da parametr boshiga 2 bayt): ResNet-50 (25,6 mln) uchun 51 MB, GPT-2 1,5B uchun 3 GB. PyTorch DistributedDataParallel (DDP) buni orqaga o'tish bilan ustma-ust qo'yadi: gradientlar 25 MB li «chelaklarga» (bucket) to'planadi va keyingi qatlam gradienti hisoblanayotganda oldingi chelak uzatiladi. DP ning cheklovi — model (parametrlar + gradientlar + optimizator holati + aktivatsiyalar) bitta GPU xotirasiga sig'ishi kerak. Adam optimizatori bilan aralash aniqlikda parametr boshiga taxminan 16 bayt (FP16 og'irlik va gradient 4 bayt, FP32 asosiy nusxa, momentum va dispersiya 12 bayt) ketadi — 80 GB li GPU da taxminan 4–5 milliard parametr, aktivatsiyalarni hisobga olsak kamroq.</a:t>
            </a:r>
          </a:p>
          <a:p/>
          <a:p>
            <a:r>
              <a:t>Bu cheklovni ZeRO (Zero Redundancy Optimizer; Rajbhandari va hammualliflar, SC 2020, Microsoft DeepSpeed) yumshatadi: optimizator holati (ZeRO-1), gradientlar (ZeRO-2) va parametrlar (ZeRO-3) GPU lar o'rtasida bo'lib saqlanadi, har GPU faqat o'z bo'lagini yangilaydi, oldinga o'tishda esa kerakli parametrlar all-gather bilan vaqtincha yig'iladi. Xotira p baravar tejaladi, aloqa esa DP ga nisbatan taxminan 1,5 baravar oshadi. PyTorch da bu yondashuv FSDP (Fully Sharded Data Parallel) nomi bilan amalga oshirilgan.</a:t>
            </a:r>
          </a:p>
          <a:p/>
          <a:p>
            <a:r>
              <a:t>Model parallelligi (model parallelism) — model qismlari turli GPU larga joylashtiriladi; har GPU faqat o'z qismini saqlaydi va hisoblaydi. Uning ikki asosiy ko'rinishi — tensor va quvur parallelligi.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parallelligi (tensor parallelism, TP) bitta qatlamni, ya'ni bitta matritsa ko'paytirishni GPU lar o'rtasida bo'ladi. Megatron-LM (Shoeybi va hammualliflar, 2019, NVIDIA) transformer uchun samarali sxemani taklif qildi: MLP blokidagi birinchi chiziqli qatlam Y = GeLU(X·A) da matritsa A ustunlar bo'yicha bo'linadi (har GPU X·Aᵢ ni mustaqil hisoblaydi, GeLU elementma-element bo'lgani uchun aloqa kerak emas), ikkinchi qatlam Z = Y·B da B satrlar bo'yicha bo'linadi va qisman natijalar bitta all-reduce bilan yig'iladi. Diqqat mexanizmida boshlar (heads) GPU lar o'rtasida taqsimlanadi. Natijada har transformer qatlamida oldinga o'tishda 2 ta, orqaga o'tishda 2 ta all-reduce — har mikro-paket uchun aktivatsiya hajmida. Bu aloqa tez-tez va ketma-ket bo'lgani uchun TP faqat eng tez interkonnekt — NVLink — ichida, ya'ni bitta server doirasida (TP = 8) ishlatiladi.</a:t>
            </a:r>
          </a:p>
          <a:p/>
          <a:p>
            <a:r>
              <a:t>Quvur parallelligi (pipeline parallelism, PP) modelni qatlamlar bo'yicha ketma-ket bosqichlarga (stage) bo'ladi: 1–8-qatlamlar GPU 0 da, 9–16-qatlamlar GPU 1 da va hokazo. Bosqichlar o'rtasida faqat chegara aktivatsiyalari (nuqta-nuqta) uzatiladi — bu TP dan ancha kam aloqa, shuning uchun PP serverlar o'rtasida ham ishlaydi. Muammo — pufak (bubble): sodda bajarishda GPU 1 GPU 0 tugatguncha bo'sh turadi. GPipe (Huang va hammualliflar, 2019) paketni m mikro-paketga bo'lib, ularni quvur bo'ylab ketma-ket yuboradi; pufak ulushi (s − 1) / (m + s − 1) ga tushadi, bu yerda s — bosqichlar soni. Masalan, s = 4, m = 16 da pufak 16 % (3/19); m = 64 da 4,5 %. PipeDream (Narayanan va hammualliflar, 2019) va Megatron ning 1F1B jadvali (bir oldinga, bir orqaga) aktivatsiya xotirasini kamaytiradi — mikro-paketning orqaga o'tishi imkon qadar erta bajarilib, aktivatsiyalari bo'shatiladi.</a:t>
            </a:r>
          </a:p>
          <a:p/>
          <a:p>
            <a:r>
              <a:t>Amalda uchala o'q birlashtiriladi — 3D parallellik: TP server ichida (NVLink, 8 GPU), PP serverlar guruhi bo'ylab, DP (yoki ZeRO) eng tashqi darajada. Megatron-Turing NLG 530B (2021) 560 ta DGX A100 da TP = 8, PP = 35, DP = 12 konfiguratsiyasida o'qitilgan. Quyidagi jadval strategiyalarni taqqoslaydi: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Taqsimlangan SI muhiti bir necha qatlamdan iborat. Kollektiv aloqa qatlami: NCCL (NVIDIA), RCCL (AMD), oneCCL (Intel), Gloo (CPU) — topologiyani aniqlab, optimal algoritmni tanlaydi. Ramka qatlami: PyTorch Distributed (torch.distributed, DDP, FSDP, torchrun ishga tushiruvchi), TensorFlow tf.distribute, JAX pjit/sharding. Optimallashtirilgan o'qitish kutubxonalari: DeepSpeed (ZeRO, 3D parallellik, offload), Megatron-LM (TP/PP transformerlar uchun), Horovod (ring all-reduce, ko'p ramkali). Orkestratsiya qatlami: Slurm (HPC klasterlarida ish navbati va GPU ajratish), Kubernetes (bulutda; M7), Ray (Python da taqsimlangan vazifalar, Ray Train, giperparametrlarni qidirish; M7). Inferens qatlami: vLLM, TensorRT-LLM, Triton Inference Server — LLM ni TP bilan bir nechta GPU ga bo'lib xizmat ko'rsatish.</a:t>
            </a:r>
          </a:p>
          <a:p/>
          <a:p>
            <a:r>
              <a:t>Yuqori unumdor AI tizimini tashkil etishda apparat tomonida to'rt qaror hal qiluvchi. Interkonnekt topologiyasi: server ichida NVSwitch (har GPU juftligi to'liq tezlikda), serverlar orasida InfiniBand NDR 400 Gbit/s yoki RoCE Ethernet, «fat-tree» yoki «rail-optimized» topologiya (har GPU ning o'z tarmoq kartasi alohida kommutatorga ulanadi). GPUDirect RDMA: tarmoq kartasi GPU xotirasiga CPU va xost xotirasini chetlab o'tib to'g'ridan-to'g'ri yozadi — kechikish va CPU yuki kamayadi. Saqlash tizimi: minglab GPU ni ma'lumot bilan ta'minlash uchun parallel fayl tizimi (Lustre, GPFS, WEKA) yoki obyekt saqlash + mahalliy NVMe kesh; ImageNet uslubidagi o'qitishda GPU boshiga 100–300 MB/s, video va multimodal ma'lumotda ko'proq. Nazorat nuqtalari (checkpointing): 405B modelning holati (parametrlar + optimizator) 5 TB dan ortiq; uni har soatda yozish saqlash tizimiga alohida talab qo'yadi, 16 000 GPU da esa apparat nosozligi kuniga bir necha marta bo'lgani uchun checkpoint majburiy.</a:t>
            </a:r>
          </a:p>
          <a:p/>
          <a:p>
            <a:r>
              <a:t>Dasturiy tomonda masshtablash samaradorligini saqlash uchun: aloqani hisoblash bilan ustma-ust qo'yish, gradient to'plash (gradient accumulation) bilan paketni kattalashtirish, aloqa aniqligini kamaytirish (FP16/BF16 gradientlar, siqish), ma'lumot yuklash quvurini (DataLoader, num_workers, prefetch) tezlatkich tezligiga moslashtirish. Masshtablash samaradorligi E(p) = T(1 GPU, paket b) / T(p GPU, paket p·b) sifatida kuchsiz masshtablash bo'yicha o'lchanadi; yaxshi sozlangan DDP 8 GPU da 90–95 %, 1 000 GPU da 80–90 % beradi.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Vazifa: PyTorch DistributedDataParallel yordamida ResNet-50 ni sintetik ma'lumotda bir nechta GPU da o'qitish, 1, 2, 4 (va mavjud bo'lsa 8) GPU uchun o'tkazuvchanlikni o'lchash, masshtablash samaradorligini hisoblash va gradient aloqasining ulushini baholash. Muhit: PyTorch 2.x, CUDA, NCCL (PyTorch bilan birga keladi), bitta serverda bir nechta GPU. GPU yo'q bo'lsa, --backend gloo bilan CPU da mantiqni sinash mumkin (o'tkazuvchanlik emas, to'g'rilik uchun). Raqamlar taxminiy.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Ishga tushirish (bitta server, 4 GPU):</a:t>
            </a:r>
          </a:p>
          <a:p/>
          <a:p>
            <a:r>
              <a:t>Nima bo'ldi va nega. torchrun har GPU uchun alohida jarayon yaratib, RANK, WORLD_SIZE, LOCAL_RANK, MASTER_ADDR muhit o'zgaruvchilarini beradi — bu MPI modelining PyTorch dagi ifodasi. DDP o'rami orqaga o'tish paytida gradientlar tayyor bo'lgan sari ularni 25 MB li chelaklarga yig'ib NCCL all-reduce ga yuboradi, shuning uchun aloqa hisoblash bilan ustma-ust ketadi. O'rganish tezligi world ga ko'paytirildi — chiziqli masshtablash qoidasi (Goyal va hammualliflar, 2017), chunki global paket world baravar o'sdi. Sintetik ma'lumot ataylab tanlandi: biz faqat hisoblash va aloqani o'lchamoqchimiz; real DataLoader bilan o'lchov yuklash quvuri sifatiga ham bog'liq bo'lar edi.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taxminiy natijalar (NVIDIA A100 40 GB × 4, NVLink, batch/GPU = 64, AMP):</a:t>
            </a:r>
          </a:p>
          <a:p/>
          <a:p>
            <a:r>
              <a:t>Nima bo'ldi va nega. Kuchsiz masshtablashda ideal natija — ms/iter o'zgarmasligi. Har GPU dagi o'tkazuvchanlikning 1 250 dan 1 125 ga tushishi (10 %) — all-reduce ning ustma-ust qo'yib bo'lmagan qismi va sinxronizatsiya. ResNet-50 gradientlari FP32 da 102 MB (DDP standart holatda FP32 gradientlarni uzatadi); 8 GPU halqa all-reduce da har GPU 2 × 7/8 × 102 ≈ 179 MB yuboradi; NVLink (A100, 600 GB/s) da bu taxminan 0,5 ms, PCIe 4.0 da (~25 GB/s amalda) 7 ms dan ortiq — jadvaldagi oxirgi qatorning yomonlashuvi aynan shundan. Pufaksiz ideal holatda aloqa 51 ms li iteratsiyaning 1 % i, lekin oxirgi chelak orqaga o'tish tugagach uzatiladi va yashirilmaydi.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Aloqa narxini bevosita o'lchash uchun DDP ni o'chirib (model ni DDP ga o'ramay) 4 jarayonni mustaqil ishga tushiring va har GPU o'tkazuvchanligini solishtiring — farq gradient sinxronizatsiyasining narxi. Yoki torch.profiler bilan iz oling:</a:t>
            </a:r>
          </a:p>
          <a:p/>
          <a:p>
            <a:r>
              <a:t>Jadvalda ncclKernel_AllReduce_... qatorlari paydo bo'ladi; ularning umumiy CUDA vaqti va hisoblash yadrolari bilan vaqt o'qida ustma-ust tushishi (Chrome trace: prof.export_chrome_trace("trace.json")) aloqaning qanchasi yashirilganini ko'rsatadi.</a:t>
            </a:r>
          </a:p>
          <a:p/>
          <a:p>
            <a:r>
              <a:t>Nima bo'ldi va nega. Profiler aloqa yadrolarini alohida ko'rsatadi, chunki NCCL ham oddiy CUDA yadrolari sifatida alohida oqimda bajariladi. Agar all-reduce yadrolari orqaga o'tish yadrolari bilan bir vaqtda ketayotgan bo'lsa — ustma-ust qo'yish ishlayapti; agar ular orqaga o'tishdan keyin ketma-ket tursa — chelak hajmi yoki tarmoq muammosi bor.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--batch 256 bilan ishga tushiring: A100 40 GB da ResNet-50 AMP bilan taxminan 32 GB xotira oladi va o'tkazuvchanlik har GPU da 1 300–1 400 tasvir/s ga ko'tariladi (tezlatkich to'liqroq to'ladi). --batch 512 da «CUDA out of memory» xatosi — bu DP ning tabiiy chegarasi; undan keyin gradient to'plash (bir nechta mikro-paket bo'yicha gradientni yig'ib, keyin yangilash) yoki aktivatsiyalarni qayta hisoblash (activation checkpointing) kerak bo'ladi.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Misol DDP ning kuchli tomonini ko'rsatdi: deyarli hech qanday kod o'zgarishisiz 8 GPU da 90 % samaradorlik. Buning uchta sababi bor. Birinchidan, ResNet-50 — hisoblash intensiv model: iteratsiya 50 ms, gradientlar esa 100 MB — aloqa/hisoblash nisbati past. Ikkinchidan, NVLink aloqani millisekund ichida bajaradi. Uchinchidan, DDP chelaklari aloqani yashiradi. Shartlar o'zgarsa manzara o'zgaradi: kichik, tez model (masalan, MobileNet, 10 ms iteratsiya) da aloqa ulushi 5 baravar oshadi; PCIe yoki 10 Gbit/s Ethernet da — yana 10–50 baravar; gradientlar katta transformerda (1,5 milliard parametr = 6 GB FP32) iteratsiya boshiga sekundlar oladi. Shuning uchun masshtablash samaradorligini «model + interkonnekt + paket» uchligi belgilaydi, va bitta sonni umumiy qoida sifatida qabul qilish xato.</a:t>
            </a:r>
          </a:p>
          <a:p/>
          <a:p>
            <a:r>
              <a:t>Natijalar Gustafson qonunining amaliy ifodasi: biz 8 GPU da masalani 8 baravar kattalashtirdik (global paket 512) va vaqt deyarli o'zgarmadi. Biroq global paketning o'sishi statistik narxga ega: juda katta paket (ResNet-50 uchun 8 000 dan yuqori, LLM lar uchun bir necha million token) da yaqinlashish yomonlashadi va o'rganish tezligini isitish (warm-up), LARS/LAMB kabi maxsus optimizatorlar kerak bo'ladi. Demak masshtablashning chegarasi apparatda emas, algoritmda ham bor — bu kuchsiz masshtablashning ko'pincha unutiladigan jihati.</a:t>
            </a:r>
          </a:p>
          <a:p/>
          <a:p>
            <a:r>
              <a:t>Cheklovlar: sintetik ma'lumot (real quvurda DataLoader tor joy bo'lishi mumkin — M5), bitta server (tugunlararo InfiniBand natijasi alohida o'lchanishi kerak), faqat DP (model 1 GPU ga sig'di; LLM uchun FSDP/TP/PP kerak — A5 da). Muqobil yondashuvlar: Horovod (MPI asosida, ko'p ramkali), DeepSpeed ZeRO (xotira tejash), FSDP (PyTorch ichida ZeRO-3), Ray Train (orkestratsiya va giperparametrlar), JAX sharding (TPU da). Inferens uchun taqsimlash boshqa: vLLM yoki TensorRT-LLM da LLM TP = 2–8 bilan bir serverda bo'linadi, so'rovlar esa replikalar o'rtasida yuk balansi orqali taqsimlanadi.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Aloqani hisoblash bilan ustma-ust qo'ymaslik. torch.nn.DataParallel (eski, bitta jarayon, ko'p oqim) o'rniga har doim DDP yoki FSDP ishlating; DDP da bucket_cap_mb ni modelga moslang (katta model — kattaroq chelak), find_unused_parameters=True ni faqat haqiqatan kerak bo'lsa yoqing — u har iteratsiyada qo'shimcha o'tish qiladi.</a:t>
            </a:r>
          </a:p>
          <a:p/>
          <a:p>
            <a:r>
              <a:t>O'rganish tezligi va paketni mos o'zgartirmaslik. GPU soni oshganda global paket oshadi; o'rganish tezligini chiziqli oshirish va isitish davri qo'shish kerak, aks holda model sekin yaqinlashadi va «masshtablash ishlamadi» degan noto'g'ri xulosa chiqadi.</a:t>
            </a:r>
          </a:p>
          <a:p/>
          <a:p>
            <a:r>
              <a:t>Ma'lumot yuklash quvurini e'tiborsiz qoldirish. 8 GPU 9 000 tasvir/s talab qiladi — JPEG dekodlash va augmentatsiya uchun 30–60 CPU yadrosi kerak. num_workers, pin_memory=True, DALI yoki GPU da dekodlash — aks holda tezlatkichlar ma'lumot kutadi.</a:t>
            </a:r>
          </a:p>
          <a:p/>
          <a:p>
            <a:r>
              <a:t>Tensor parallellikni sekin interkonnektda ishlatish. TP har qatlamda all-reduce qiladi; PCIe yoki Ethernet orqali TP unumdorlikni 3–10 baravar pasaytiradi. TP — faqat NVLink ichida; serverlar orasida PP yoki DP.</a:t>
            </a:r>
          </a:p>
          <a:p/>
          <a:p>
            <a:r>
              <a:t>Quvur parallelligida mikro-paketlar sonini kam olish. Pufak (s−1)/(m+s−1); m kamida 4·s bo'lsin. Bosqichlarni qatlam soni bo'yicha emas, hisoblash vaqti bo'yicha muvozanatlang (embedding va chiqish qatlamlari og'ir).</a:t>
            </a:r>
          </a:p>
          <a:p/>
          <a:p>
            <a:r>
              <a:t>Tasodifiy urug' (seed) va nazorat nuqtalarini noto'g'ri boshqarish. Har rank da bir xil urug' — barcha GPU bir xil ma'lumotni ko'radi (DistributedSampler ishlating); checkpoint ni faqat rank 0 yozsin va dist.barrier() bilan sinxronlang; FSDP da sharded checkpoint formatidan foydalaning.</a:t>
            </a:r>
          </a:p>
          <a:p/>
          <a:p>
            <a:r>
              <a:t>Osilib qolgan (hang) jarayonlarni tashxislamaslik. Bir rank kollektiv amalga kirmasa, qolganlari abadiy kutadi. NCCL_DEBUG=INFO, TORCH_DISTRIBUTED_DEBUG=DETAIL, timeout parametrini qisqartirish va har rank da bir xil sonli kollektiv chaqiruv bo'lishini ta'minlash.</a:t>
            </a:r>
          </a:p>
          <a:p/>
          <a:p>
            <a:r>
              <a:t>Nosozlikka tayyor bo'lmaslik. Yuzlab GPU da apparat xatosi kundalik hodisa. Tez-tez (har 30–60 daqiqa) checkpoint, torchrun --max-restarts bilan elastik qayta ishga tushirish, hisoblashni qayta boshlash uchun deterministik ma'lumot tartibi.</a:t>
            </a:r>
          </a:p>
          <a:p/>
          <a:p>
            <a:r>
              <a:t>Kuchli va kuchsiz masshtablashni aralashtirish. «8 GPU da 7,2 baravar tez» deganda nima o'zgarmas qolganini (umumiy paketmi, GPU boshiga paketmi) aniq ayting; ikki rejimning natijalari va cheklovlari butunlay boshqa.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Aloqani hisoblash bilan ustma-ust qo'ymaslik. torch.nn.DataParallel (eski, bitta jarayon, ko'p oqim) o'rniga har doim DDP yoki FSDP ishlating; DDP da bucket_cap_mb ni modelga moslang (katta model — kattaroq chelak), find_unused_parameters=True ni faqat haqiqatan kerak bo'lsa yoqing — u har iteratsiyada qo'shimcha o'tish qiladi.</a:t>
            </a:r>
          </a:p>
          <a:p/>
          <a:p>
            <a:r>
              <a:t>O'rganish tezligi va paketni mos o'zgartirmaslik. GPU soni oshganda global paket oshadi; o'rganish tezligini chiziqli oshirish va isitish davri qo'shish kerak, aks holda model sekin yaqinlashadi va «masshtablash ishlamadi» degan noto'g'ri xulosa chiqadi.</a:t>
            </a:r>
          </a:p>
          <a:p/>
          <a:p>
            <a:r>
              <a:t>Ma'lumot yuklash quvurini e'tiborsiz qoldirish. 8 GPU 9 000 tasvir/s talab qiladi — JPEG dekodlash va augmentatsiya uchun 30–60 CPU yadrosi kerak. num_workers, pin_memory=True, DALI yoki GPU da dekodlash — aks holda tezlatkichlar ma'lumot kutadi.</a:t>
            </a:r>
          </a:p>
          <a:p/>
          <a:p>
            <a:r>
              <a:t>Tensor parallellikni sekin interkonnektda ishlatish. TP har qatlamda all-reduce qiladi; PCIe yoki Ethernet orqali TP unumdorlikni 3–10 baravar pasaytiradi. TP — faqat NVLink ichida; serverlar orasida PP yoki DP.</a:t>
            </a:r>
          </a:p>
          <a:p/>
          <a:p>
            <a:r>
              <a:t>Quvur parallelligida mikro-paketlar sonini kam olish. Pufak (s−1)/(m+s−1); m kamida 4·s bo'lsin. Bosqichlarni qatlam soni bo'yicha emas, hisoblash vaqti bo'yicha muvozanatlang (embedding va chiqish qatlamlari og'ir).</a:t>
            </a:r>
          </a:p>
          <a:p/>
          <a:p>
            <a:r>
              <a:t>Tasodifiy urug' (seed) va nazorat nuqtalarini noto'g'ri boshqarish. Har rank da bir xil urug' — barcha GPU bir xil ma'lumotni ko'radi (DistributedSampler ishlating); checkpoint ni faqat rank 0 yozsin va dist.barrier() bilan sinxronlang; FSDP da sharded checkpoint formatidan foydalaning.</a:t>
            </a:r>
          </a:p>
          <a:p/>
          <a:p>
            <a:r>
              <a:t>Osilib qolgan (hang) jarayonlarni tashxislamaslik. Bir rank kollektiv amalga kirmasa, qolganlari abadiy kutadi. NCCL_DEBUG=INFO, TORCH_DISTRIBUTED_DEBUG=DETAIL, timeout parametrini qisqartirish va har rank da bir xil sonli kollektiv chaqiruv bo'lishini ta'minlash.</a:t>
            </a:r>
          </a:p>
          <a:p/>
          <a:p>
            <a:r>
              <a:t>Nosozlikka tayyor bo'lmaslik. Yuzlab GPU da apparat xatosi kundalik hodisa. Tez-tez (har 30–60 daqiqa) checkpoint, torchrun --max-restarts bilan elastik qayta ishga tushirish, hisoblashni qayta boshlash uchun deterministik ma'lumot tartibi.</a:t>
            </a:r>
          </a:p>
          <a:p/>
          <a:p>
            <a:r>
              <a:t>Kuchli va kuchsiz masshtablashni aralashtirish. «8 GPU da 7,2 baravar tez» deganda nima o'zgarmas qolganini (umumiy paketmi, GPU boshiga paketmi) aniq ayting; ikki rejimning natijalari va cheklovlari butunlay boshqa.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Amdal va Gustafson qonunlari bir xil tizim haqida qarama-qarshi xulosa beradi. Qaysi sharoitda qaysi qonun to'g'ri tavsif beradi va neyron tarmoq o'qitish ularning qaysi biriga mos keladi?</a:t>
            </a:r>
          </a:p>
          <a:p/>
          <a:p>
            <a:r>
              <a:t>Halqa all-reduce da har rank yuboradigan ma'lumot hajmi nega p dan deyarli mustaqil? Katta p da uning qaysi komponenti o'sadi va NCCL buni qanday hal qiladi?</a:t>
            </a:r>
          </a:p>
          <a:p/>
          <a:p>
            <a:r>
              <a:t>CUDA da warp divergensiyasi va birlashmagan xotira murojaati nima uchun unumdorlikni pasaytiradi? Tensor yadrolari bilan ishlovchi kutubxonalar bu muammolarni qanday chetlab o'tadi?</a:t>
            </a:r>
          </a:p>
          <a:p/>
          <a:p>
            <a:r>
              <a:t>OpenMP, MPI va CUDA ning har biri qaysi xotira modeliga (umumiy/taqsimlangan/qurilma) mos keladi? Bitta klasterda uchalasini birgalikda ishlatish qanday ko'rinishda bo'ladi?</a:t>
            </a:r>
          </a:p>
          <a:p/>
          <a:p>
            <a:r>
              <a:t>80 GB li GPU da Adam bilan aralash aniqlikda o'qitish mumkin bo'lgan maksimal model hajmini baholang. ZeRO-3 bu chegarani 8 GPU da qanday o'zgartiradi va qanday narx evaziga?</a:t>
            </a:r>
          </a:p>
          <a:p/>
          <a:p>
            <a:r>
              <a:t>Megatron-LM MLP blokida birinchi matritsani ustunlar, ikkinchisini satrlar bo'yicha bo'ladi. Nega aynan shu tartib? Teskari tartibda nechta all-reduce kerak bo'lar edi?</a:t>
            </a:r>
          </a:p>
          <a:p/>
          <a:p>
            <a:r>
              <a:t>4 bosqichli quvurda 8 va 32 mikro-paket uchun pufak ulushini hisoblang. Mikro-paketlar sonini cheksiz oshirish nima uchun mumkin emas?</a:t>
            </a:r>
          </a:p>
          <a:p/>
          <a:p>
            <a:r>
              <a:t>Amaliy misolda 8 GPU PCIe konfiguratsiyasi samaradorligi 76 % ga tushdi. Gradient hajmi, interkonnekt tezligi va iteratsiya vaqtidan kelib chiqib bu raqamni taxminan hisoblang va kamchilikni kamaytirishning uchta usulini taklif qiling.</a:t>
            </a:r>
          </a:p>
          <a:p/>
          <a:p>
            <a:r>
              <a:t>Nega tensor parallellik faqat server ichida, quvur parallelligi esa serverlar orasida ham ishlatiladi? Interkonnekt tezligi va aloqa chastotasini miqdoriy solishtiring.</a:t>
            </a:r>
          </a:p>
          <a:p/>
          <a:p>
            <a:r>
              <a:t>Masshtablash «apparatda emas, algoritmda chegaralanadi» degan tezisni katta paket muammosi misolida tushuntiring. Bu muammo uchun qanday algoritmik yechimlar mavjud?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Amdal va Gustafson qonunlari bir xil tizim haqida qarama-qarshi xulosa beradi. Qaysi sharoitda qaysi qonun to'g'ri tavsif beradi va neyron tarmoq o'qitish ularning qaysi biriga mos keladi?</a:t>
            </a:r>
          </a:p>
          <a:p/>
          <a:p>
            <a:r>
              <a:t>Halqa all-reduce da har rank yuboradigan ma'lumot hajmi nega p dan deyarli mustaqil? Katta p da uning qaysi komponenti o'sadi va NCCL buni qanday hal qiladi?</a:t>
            </a:r>
          </a:p>
          <a:p/>
          <a:p>
            <a:r>
              <a:t>CUDA da warp divergensiyasi va birlashmagan xotira murojaati nima uchun unumdorlikni pasaytiradi? Tensor yadrolari bilan ishlovchi kutubxonalar bu muammolarni qanday chetlab o'tadi?</a:t>
            </a:r>
          </a:p>
          <a:p/>
          <a:p>
            <a:r>
              <a:t>OpenMP, MPI va CUDA ning har biri qaysi xotira modeliga (umumiy/taqsimlangan/qurilma) mos keladi? Bitta klasterda uchalasini birgalikda ishlatish qanday ko'rinishda bo'ladi?</a:t>
            </a:r>
          </a:p>
          <a:p/>
          <a:p>
            <a:r>
              <a:t>80 GB li GPU da Adam bilan aralash aniqlikda o'qitish mumkin bo'lgan maksimal model hajmini baholang. ZeRO-3 bu chegarani 8 GPU da qanday o'zgartiradi va qanday narx evaziga?</a:t>
            </a:r>
          </a:p>
          <a:p/>
          <a:p>
            <a:r>
              <a:t>Megatron-LM MLP blokida birinchi matritsani ustunlar, ikkinchisini satrlar bo'yicha bo'ladi. Nega aynan shu tartib? Teskari tartibda nechta all-reduce kerak bo'lar edi?</a:t>
            </a:r>
          </a:p>
          <a:p/>
          <a:p>
            <a:r>
              <a:t>4 bosqichli quvurda 8 va 32 mikro-paket uchun pufak ulushini hisoblang. Mikro-paketlar sonini cheksiz oshirish nima uchun mumkin emas?</a:t>
            </a:r>
          </a:p>
          <a:p/>
          <a:p>
            <a:r>
              <a:t>Amaliy misolda 8 GPU PCIe konfiguratsiyasi samaradorligi 76 % ga tushdi. Gradient hajmi, interkonnekt tezligi va iteratsiya vaqtidan kelib chiqib bu raqamni taxminan hisoblang va kamchilikni kamaytirishning uchta usulini taklif qiling.</a:t>
            </a:r>
          </a:p>
          <a:p/>
          <a:p>
            <a:r>
              <a:t>Nega tensor parallellik faqat server ichida, quvur parallelligi esa serverlar orasida ham ishlatiladi? Interkonnekt tezligi va aloqa chastotasini miqdoriy solishtiring.</a:t>
            </a:r>
          </a:p>
          <a:p/>
          <a:p>
            <a:r>
              <a:t>Masshtablash «apparatda emas, algoritmda chegaralanadi» degan tezisni katta paket muammosi misolida tushuntiring. Bu muammo uchun qanday algoritmik yechimlar mavjud?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(amaliy, A5 ga tayyorgarlik). Ma'ruzadagi ddp_train.py skriptini mavjud apparatda bajaring: ko'p GPU bo'lsa 1/2/4 GPU uchun, bitta GPU bo'lsa --backend gloo bilan CPU da 1/2/4 jarayon uchun (kuchsiz masshtablash mantiqini tekshirish). Modelni almashtiring (ResNet-18, ResNet-50, ViT-B/16) va har biri uchun gradient hajmi (MB), iteratsiya vaqti va samaradorlik jadvalini tuzing. Halqa all-reduce formulasi va interkonnekt tezligidan kelib chiqib nazariy aloqa vaqtini hisoblang va o'lchangan yo'qotish bilan solishtiring. Hisobot 3–4 bet.</a:t>
            </a:r>
          </a:p>
          <a:p/>
          <a:p>
            <a:r>
              <a:t>Baholash mezoni: o'lchovning to'g'ri bajarilishi (sinxronizatsiya, isitish, barrier) (30 %), nazariy hisob va o'lchov taqqoslanishi (40 %), model turiga qarab aloqa/hisoblash nisbati haqidagi xulosa (30 %).</a:t>
            </a:r>
          </a:p>
          <a:p/>
          <a:p>
            <a:r>
              <a:t>2-topshiriq (tahliliy). 70 milliard parametrli transformer modelini 64 ta H100 (8 server × 8 GPU, NVLink ichkarida, InfiniBand NDR orasida) da o'qitish uchun parallellik konfiguratsiyasini loyihalang: TP, PP, DP darajalarini tanlang; har GPU xotirasini (parametrlar, gradientlar, optimizator holati, aktivatsiyalar) taxminan hisoblang; mikro-paketlar sonini pufak 10 % dan kam bo'ladigan qilib tanlang; ZeRO yoki FSDP ishlatish-ishlatmaslikni asoslang. Hajm 3–4 bet, hisob-kitob jadvallari bilan.</a:t>
            </a:r>
          </a:p>
          <a:p/>
          <a:p>
            <a:r>
              <a:t>Baholash mezoni: xotira hisobining to'g'riligi (35 %), parallellik darajalarini interkonnektga moslashtirish asosi (35 %), pufak va aloqa hajmi hisobi (30 %).</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1-bob (Amdal qonuni), 4-bob (SIMD/GPU), 5-bob (oqimlar darajasidagi parallellik), 6-bob (ombor miqyosidagi kompyuterlar).</a:t>
            </a:r>
          </a:p>
          <a:p/>
          <a:p>
            <a:r>
              <a:t>[5] Kirk, D. B., &amp; Hwu, W.-M. W. Programming Massively Parallel Processors: A Hands-on Approach. 4th Edition. Morgan Kaufmann, 2022. — 2–6-boblar (CUDA modeli, xotira, unumdorlik), 20-bob (klasterda dasturlash, MPI + CUDA).</a:t>
            </a:r>
          </a:p>
          <a:p/>
          <a:p>
            <a:r>
              <a:t>[4] Sze, V., Chen, Y.-H., Yang, T.-J., &amp; Emer, J. S. Efficient Processing of Deep Neural Networks. Morgan &amp; Claypool, 2020.</a:t>
            </a:r>
          </a:p>
          <a:p/>
          <a:p>
            <a:r>
              <a:t>[6] NVIDIA Developer Portal — https://developer.nvidia.com (CUDA C++ Programming Guide, NCCL hujjatlari, Megatron-LM).</a:t>
            </a:r>
          </a:p>
          <a:p/>
          <a:p>
            <a:r>
              <a:t>[7] PyTorch rasmiy hujjatlari — https://pytorch.org (torch.distributed, DistributedDataParallel, FSDP, torchrun).</a:t>
            </a:r>
          </a:p>
          <a:p/>
          <a:p>
            <a:r>
              <a:t>Shoeybi, M., Patwary, M., Puri, R., LeGresley, P., Casper, J., &amp; Catanzaro, B. Megatron-LM: Training Multi-Billion Parameter Language Models Using Model Parallelism. arXiv:1909.08053, 2019.</a:t>
            </a:r>
          </a:p>
          <a:p/>
          <a:p>
            <a:r>
              <a:t>Rajbhandari, S., Rasley, J., Ruwase, O., &amp; He, Y. ZeRO: Memory Optimizations Toward Training Trillion Parameter Models. Proceedings of SC20, IEEE/ACM, 2020.</a:t>
            </a:r>
          </a:p>
          <a:p/>
          <a:p>
            <a:r>
              <a:t>Huang, Y., Cheng, Y., Bapna, A., et al. GPipe: Efficient Training of Giant Neural Networks using Pipeline Parallelism. Advances in Neural Information Processing Systems 32 (NeurIPS 2019).</a:t>
            </a:r>
          </a:p>
          <a:p/>
          <a:p>
            <a:r>
              <a:t>Goyal, P., Dollár, P., Girshick, R., et al. Accurate, Large Minibatch SGD: Training ImageNet in 1 Hour. arXiv:1706.02677, 2017.</a:t>
            </a:r>
          </a:p>
          <a:p/>
          <a:p>
            <a:r>
              <a:t>Sergeev, A., &amp; Del Balso, M. Horovod: fast and easy distributed deep learning in TensorFlow. arXiv:1802.05799, 2018.</a:t>
            </a:r>
          </a:p>
          <a:p/>
          <a:p>
            <a:r>
              <a:t>OpenMP Architecture Review Board. OpenMP Application Programming Interface specification — https://www.openmp.org.</a:t>
            </a:r>
          </a:p>
          <a:p/>
          <a:p>
            <a:r>
              <a:t>MPI Forum. MPI: A Message-Passing Interface Standard — https://www.mpi-forum.org.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1-bob (Amdal qonuni), 4-bob (SIMD/GPU), 5-bob (oqimlar darajasidagi parallellik), 6-bob (ombor miqyosidagi kompyuterlar).</a:t>
            </a:r>
          </a:p>
          <a:p/>
          <a:p>
            <a:r>
              <a:t>[5] Kirk, D. B., &amp; Hwu, W.-M. W. Programming Massively Parallel Processors: A Hands-on Approach. 4th Edition. Morgan Kaufmann, 2022. — 2–6-boblar (CUDA modeli, xotira, unumdorlik), 20-bob (klasterda dasturlash, MPI + CUDA).</a:t>
            </a:r>
          </a:p>
          <a:p/>
          <a:p>
            <a:r>
              <a:t>[4] Sze, V., Chen, Y.-H., Yang, T.-J., &amp; Emer, J. S. Efficient Processing of Deep Neural Networks. Morgan &amp; Claypool, 2020.</a:t>
            </a:r>
          </a:p>
          <a:p/>
          <a:p>
            <a:r>
              <a:t>[6] NVIDIA Developer Portal — https://developer.nvidia.com (CUDA C++ Programming Guide, NCCL hujjatlari, Megatron-LM).</a:t>
            </a:r>
          </a:p>
          <a:p/>
          <a:p>
            <a:r>
              <a:t>[7] PyTorch rasmiy hujjatlari — https://pytorch.org (torch.distributed, DistributedDataParallel, FSDP, torchrun).</a:t>
            </a:r>
          </a:p>
          <a:p/>
          <a:p>
            <a:r>
              <a:t>Shoeybi, M., Patwary, M., Puri, R., LeGresley, P., Casper, J., &amp; Catanzaro, B. Megatron-LM: Training Multi-Billion Parameter Language Models Using Model Parallelism. arXiv:1909.08053, 2019.</a:t>
            </a:r>
          </a:p>
          <a:p/>
          <a:p>
            <a:r>
              <a:t>Rajbhandari, S., Rasley, J., Ruwase, O., &amp; He, Y. ZeRO: Memory Optimizations Toward Training Trillion Parameter Models. Proceedings of SC20, IEEE/ACM, 2020.</a:t>
            </a:r>
          </a:p>
          <a:p/>
          <a:p>
            <a:r>
              <a:t>Huang, Y., Cheng, Y., Bapna, A., et al. GPipe: Efficient Training of Giant Neural Networks using Pipeline Parallelism. Advances in Neural Information Processing Systems 32 (NeurIPS 2019).</a:t>
            </a:r>
          </a:p>
          <a:p/>
          <a:p>
            <a:r>
              <a:t>Goyal, P., Dollár, P., Girshick, R., et al. Accurate, Large Minibatch SGD: Training ImageNet in 1 Hour. arXiv:1706.02677, 2017.</a:t>
            </a:r>
          </a:p>
          <a:p/>
          <a:p>
            <a:r>
              <a:t>Sergeev, A., &amp; Del Balso, M. Horovod: fast and easy distributed deep learning in TensorFlow. arXiv:1802.05799, 2018.</a:t>
            </a:r>
          </a:p>
          <a:p/>
          <a:p>
            <a:r>
              <a:t>OpenMP Architecture Review Board. OpenMP Application Programming Interface specification — https://www.openmp.org.</a:t>
            </a:r>
          </a:p>
          <a:p/>
          <a:p>
            <a:r>
              <a:t>MPI Forum. MPI: A Message-Passing Interface Standard — https://www.mpi-forum.org.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1-bob (Amdal qonuni), 4-bob (SIMD/GPU), 5-bob (oqimlar darajasidagi parallellik), 6-bob (ombor miqyosidagi kompyuterlar).</a:t>
            </a:r>
          </a:p>
          <a:p/>
          <a:p>
            <a:r>
              <a:t>[5] Kirk, D. B., &amp; Hwu, W.-M. W. Programming Massively Parallel Processors: A Hands-on Approach. 4th Edition. Morgan Kaufmann, 2022. — 2–6-boblar (CUDA modeli, xotira, unumdorlik), 20-bob (klasterda dasturlash, MPI + CUDA).</a:t>
            </a:r>
          </a:p>
          <a:p/>
          <a:p>
            <a:r>
              <a:t>[4] Sze, V., Chen, Y.-H., Yang, T.-J., &amp; Emer, J. S. Efficient Processing of Deep Neural Networks. Morgan &amp; Claypool, 2020.</a:t>
            </a:r>
          </a:p>
          <a:p/>
          <a:p>
            <a:r>
              <a:t>[6] NVIDIA Developer Portal — https://developer.nvidia.com (CUDA C++ Programming Guide, NCCL hujjatlari, Megatron-LM).</a:t>
            </a:r>
          </a:p>
          <a:p/>
          <a:p>
            <a:r>
              <a:t>[7] PyTorch rasmiy hujjatlari — https://pytorch.org (torch.distributed, DistributedDataParallel, FSDP, torchrun).</a:t>
            </a:r>
          </a:p>
          <a:p/>
          <a:p>
            <a:r>
              <a:t>Shoeybi, M., Patwary, M., Puri, R., LeGresley, P., Casper, J., &amp; Catanzaro, B. Megatron-LM: Training Multi-Billion Parameter Language Models Using Model Parallelism. arXiv:1909.08053, 2019.</a:t>
            </a:r>
          </a:p>
          <a:p/>
          <a:p>
            <a:r>
              <a:t>Rajbhandari, S., Rasley, J., Ruwase, O., &amp; He, Y. ZeRO: Memory Optimizations Toward Training Trillion Parameter Models. Proceedings of SC20, IEEE/ACM, 2020.</a:t>
            </a:r>
          </a:p>
          <a:p/>
          <a:p>
            <a:r>
              <a:t>Huang, Y., Cheng, Y., Bapna, A., et al. GPipe: Efficient Training of Giant Neural Networks using Pipeline Parallelism. Advances in Neural Information Processing Systems 32 (NeurIPS 2019).</a:t>
            </a:r>
          </a:p>
          <a:p/>
          <a:p>
            <a:r>
              <a:t>Goyal, P., Dollár, P., Girshick, R., et al. Accurate, Large Minibatch SGD: Training ImageNet in 1 Hour. arXiv:1706.02677, 2017.</a:t>
            </a:r>
          </a:p>
          <a:p/>
          <a:p>
            <a:r>
              <a:t>Sergeev, A., &amp; Del Balso, M. Horovod: fast and easy distributed deep learning in TensorFlow. arXiv:1802.05799, 2018.</a:t>
            </a:r>
          </a:p>
          <a:p/>
          <a:p>
            <a:r>
              <a:t>OpenMP Architecture Review Board. OpenMP Application Programming Interface specification — https://www.openmp.org.</a:t>
            </a:r>
          </a:p>
          <a:p/>
          <a:p>
            <a:r>
              <a:t>MPI Forum. MPI: A Message-Passing Interface Standard — https://www.mpi-forum.org.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M3 · 2 soat</a:t>
            </a:r>
          </a:p>
        </p:txBody>
      </p:sp>
      <p:sp>
        <p:nvSpPr>
          <p:cNvPr id="9" name="TextBox 8"/>
          <p:cNvSpPr txBox="1"/>
          <p:nvPr/>
        </p:nvSpPr>
        <p:spPr>
          <a:xfrm>
            <a:off x="700000" y="1900000"/>
            <a:ext cx="8400000" cy="2600000"/>
          </a:xfrm>
          <a:prstGeom prst="rect">
            <a:avLst/>
          </a:prstGeom>
          <a:noFill/>
        </p:spPr>
        <p:txBody>
          <a:bodyPr wrap="square" anchor="t" lIns="50800" rIns="50800">
            <a:spAutoFit/>
          </a:bodyPr>
          <a:lstStyle/>
          <a:p>
            <a:pPr algn="l"/>
            <a:r>
              <a:rPr sz="3800" b="1">
                <a:solidFill>
                  <a:srgbClr val="FFFFFF"/>
                </a:solidFill>
                <a:latin typeface="Calibri"/>
              </a:rPr>
              <a:t>Sun'iy intellekt tizimlarida parallel va taqsimlangan hisoblash texnologiyalari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10" presetClass="entr" presetSubtype="0"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50"/>
                                        <p:tgtEl>
                                          <p:spTgt spid="7"/>
                                        </p:tgtEl>
                                      </p:cBhvr>
                                    </p:animEffect>
                                  </p:childTnLst>
                                </p:cTn>
                              </p:par>
                            </p:childTnLst>
                          </p:cTn>
                        </p:par>
                        <p:par>
                          <p:cTn id="25" fill="hold">
                            <p:stCondLst>
                              <p:cond delay="550"/>
                            </p:stCondLst>
                            <p:childTnLst>
                              <p:par>
                                <p:cTn id="26" presetID="2" presetClass="entr" presetSubtype="8"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9" dur="550" fill="hold"/>
                                        <p:tgtEl>
                                          <p:spTgt spid="8"/>
                                        </p:tgtEl>
                                        <p:attrNameLst>
                                          <p:attrName>ppt_x</p:attrName>
                                        </p:attrNameLst>
                                      </p:cBhvr>
                                      <p:tavLst>
                                        <p:tav tm="0">
                                          <p:val>
                                            <p:strVal val="0-#ppt_w/2"/>
                                          </p:val>
                                        </p:tav>
                                        <p:tav tm="100000">
                                          <p:val>
                                            <p:strVal val="#ppt_x"/>
                                          </p:val>
                                        </p:tav>
                                      </p:tavLst>
                                    </p:anim>
                                    <p:anim calcmode="lin" valueType="num">
                                      <p:cBhvr additive="base">
                                        <p:cTn id="30" dur="550" fill="hold"/>
                                        <p:tgtEl>
                                          <p:spTgt spid="8"/>
                                        </p:tgtEl>
                                        <p:attrNameLst>
                                          <p:attrName>ppt_y</p:attrName>
                                        </p:attrNameLst>
                                      </p:cBhvr>
                                      <p:tavLst>
                                        <p:tav tm="0">
                                          <p:val>
                                            <p:strVal val="#ppt_y"/>
                                          </p:val>
                                        </p:tav>
                                        <p:tav tm="100000">
                                          <p:val>
                                            <p:strVal val="#ppt_y"/>
                                          </p:val>
                                        </p:tav>
                                      </p:tavLst>
                                    </p:anim>
                                  </p:childTnLst>
                                </p:cTn>
                              </p:par>
                            </p:childTnLst>
                          </p:cTn>
                        </p:par>
                        <p:par>
                          <p:cTn id="31" fill="hold">
                            <p:stCondLst>
                              <p:cond delay="700"/>
                            </p:stCondLst>
                            <p:childTnLst>
                              <p:par>
                                <p:cTn id="32" presetID="42"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50"/>
                                        <p:tgtEl>
                                          <p:spTgt spid="9"/>
                                        </p:tgtEl>
                                      </p:cBhvr>
                                    </p:animEffect>
                                    <p:anim calcmode="lin" valueType="num">
                                      <p:cBhvr additive="base">
                                        <p:cTn id="35" dur="550" fill="hold"/>
                                        <p:tgtEl>
                                          <p:spTgt spid="9"/>
                                        </p:tgtEl>
                                        <p:attrNameLst>
                                          <p:attrName>ppt_x</p:attrName>
                                        </p:attrNameLst>
                                      </p:cBhvr>
                                      <p:tavLst>
                                        <p:tav tm="0">
                                          <p:val>
                                            <p:strVal val="#ppt_x"/>
                                          </p:val>
                                        </p:tav>
                                        <p:tav tm="100000">
                                          <p:val>
                                            <p:strVal val="#ppt_x"/>
                                          </p:val>
                                        </p:tav>
                                      </p:tavLst>
                                    </p:anim>
                                    <p:anim calcmode="lin" valueType="num">
                                      <p:cBhvr additive="base">
                                        <p:cTn id="36" dur="550" fill="hold"/>
                                        <p:tgtEl>
                                          <p:spTgt spid="9"/>
                                        </p:tgtEl>
                                        <p:attrNameLst>
                                          <p:attrName>ppt_y</p:attrName>
                                        </p:attrNameLst>
                                      </p:cBhvr>
                                      <p:tavLst>
                                        <p:tav tm="0">
                                          <p:val>
                                            <p:strVal val="#ppt_y+.08"/>
                                          </p:val>
                                        </p:tav>
                                        <p:tav tm="100000">
                                          <p:val>
                                            <p:strVal val="#ppt_y"/>
                                          </p:val>
                                        </p:tav>
                                      </p:tavLst>
                                    </p:anim>
                                  </p:childTnLst>
                                </p:cTn>
                              </p:par>
                            </p:childTnLst>
                          </p:cTn>
                        </p:par>
                        <p:par>
                          <p:cTn id="37" fill="hold">
                            <p:stCondLst>
                              <p:cond delay="850"/>
                            </p:stCondLst>
                            <p:childTnLst>
                              <p:par>
                                <p:cTn id="38" presetID="22" presetClass="entr" presetSubtype="8" fill="hold" grpId="0" nodeType="after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wipe(left)">
                                      <p:cBhvr>
                                        <p:cTn id="41" dur="800"/>
                                        <p:tgtEl>
                                          <p:spTgt spid="6"/>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1"/>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1"/>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291667"/>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1"/>
            <a:ext cx="10050000" cy="443333"/>
          </a:xfrm>
          <a:prstGeom prst="rect">
            <a:avLst/>
          </a:prstGeom>
          <a:noFill/>
        </p:spPr>
        <p:txBody>
          <a:bodyPr wrap="square" anchor="ctr" lIns="50800" rIns="50800">
            <a:spAutoFit/>
          </a:bodyPr>
          <a:lstStyle/>
          <a:p>
            <a:pPr algn="l"/>
            <a:r>
              <a:rPr sz="1900" b="0">
                <a:solidFill>
                  <a:srgbClr val="1B2430"/>
                </a:solidFill>
                <a:latin typeface="Calibri"/>
              </a:rPr>
              <a:t>Mavzuning maqsadi va o'rganish natijalari</a:t>
            </a:r>
          </a:p>
        </p:txBody>
      </p:sp>
      <p:sp>
        <p:nvSpPr>
          <p:cNvPr id="14" name="Rounded Rectangle 13"/>
          <p:cNvSpPr/>
          <p:nvPr/>
        </p:nvSpPr>
        <p:spPr>
          <a:xfrm>
            <a:off x="550000" y="1863334"/>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1863334"/>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18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1863334"/>
            <a:ext cx="10050000" cy="443333"/>
          </a:xfrm>
          <a:prstGeom prst="rect">
            <a:avLst/>
          </a:prstGeom>
          <a:noFill/>
        </p:spPr>
        <p:txBody>
          <a:bodyPr wrap="square" anchor="ctr" lIns="50800" rIns="50800">
            <a:spAutoFit/>
          </a:bodyPr>
          <a:lstStyle/>
          <a:p>
            <a:pPr algn="l"/>
            <a:r>
              <a:rPr sz="1900" b="0">
                <a:solidFill>
                  <a:srgbClr val="1B2430"/>
                </a:solidFill>
                <a:latin typeface="Calibri"/>
              </a:rPr>
              <a:t>Kirish</a:t>
            </a:r>
          </a:p>
        </p:txBody>
      </p:sp>
      <p:sp>
        <p:nvSpPr>
          <p:cNvPr id="18" name="Rounded Rectangle 17"/>
          <p:cNvSpPr/>
          <p:nvPr/>
        </p:nvSpPr>
        <p:spPr>
          <a:xfrm>
            <a:off x="550000" y="2426667"/>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426667"/>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2418333"/>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426667"/>
            <a:ext cx="10050000" cy="443333"/>
          </a:xfrm>
          <a:prstGeom prst="rect">
            <a:avLst/>
          </a:prstGeom>
          <a:noFill/>
        </p:spPr>
        <p:txBody>
          <a:bodyPr wrap="square" anchor="ctr" lIns="50800" rIns="50800">
            <a:spAutoFit/>
          </a:bodyPr>
          <a:lstStyle/>
          <a:p>
            <a:pPr algn="l"/>
            <a:r>
              <a:rPr sz="1900" b="0">
                <a:solidFill>
                  <a:srgbClr val="1B2430"/>
                </a:solidFill>
                <a:latin typeface="Calibri"/>
              </a:rPr>
              <a:t>Nazariy asoslar</a:t>
            </a:r>
          </a:p>
        </p:txBody>
      </p:sp>
      <p:sp>
        <p:nvSpPr>
          <p:cNvPr id="22" name="Rounded Rectangle 21"/>
          <p:cNvSpPr/>
          <p:nvPr/>
        </p:nvSpPr>
        <p:spPr>
          <a:xfrm>
            <a:off x="550000" y="2990000"/>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990000"/>
            <a:ext cx="70000" cy="443333"/>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2981666"/>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2990000"/>
            <a:ext cx="10050000" cy="443333"/>
          </a:xfrm>
          <a:prstGeom prst="rect">
            <a:avLst/>
          </a:prstGeom>
          <a:noFill/>
        </p:spPr>
        <p:txBody>
          <a:bodyPr wrap="square" anchor="ctr" lIns="50800" rIns="50800">
            <a:spAutoFit/>
          </a:bodyPr>
          <a:lstStyle/>
          <a:p>
            <a:pPr algn="l"/>
            <a:r>
              <a:rPr sz="1900" b="0">
                <a:solidFill>
                  <a:srgbClr val="1B2430"/>
                </a:solidFill>
                <a:latin typeface="Calibri"/>
              </a:rPr>
              <a:t>Amaliy misol</a:t>
            </a:r>
          </a:p>
        </p:txBody>
      </p:sp>
      <p:sp>
        <p:nvSpPr>
          <p:cNvPr id="26" name="Rounded Rectangle 25"/>
          <p:cNvSpPr/>
          <p:nvPr/>
        </p:nvSpPr>
        <p:spPr>
          <a:xfrm>
            <a:off x="550000" y="3553333"/>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553333"/>
            <a:ext cx="70000" cy="443333"/>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3544999"/>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3553333"/>
            <a:ext cx="10050000" cy="443333"/>
          </a:xfrm>
          <a:prstGeom prst="rect">
            <a:avLst/>
          </a:prstGeom>
          <a:noFill/>
        </p:spPr>
        <p:txBody>
          <a:bodyPr wrap="square" anchor="ctr" lIns="50800" rIns="50800">
            <a:spAutoFit/>
          </a:bodyPr>
          <a:lstStyle/>
          <a:p>
            <a:pPr algn="l"/>
            <a:r>
              <a:rPr sz="1900" b="0">
                <a:solidFill>
                  <a:srgbClr val="1B2430"/>
                </a:solidFill>
                <a:latin typeface="Calibri"/>
              </a:rPr>
              <a:t>Natijalarni tahlil qilish</a:t>
            </a:r>
          </a:p>
        </p:txBody>
      </p:sp>
      <p:sp>
        <p:nvSpPr>
          <p:cNvPr id="30" name="Rounded Rectangle 29"/>
          <p:cNvSpPr/>
          <p:nvPr/>
        </p:nvSpPr>
        <p:spPr>
          <a:xfrm>
            <a:off x="550000" y="4116666"/>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4116666"/>
            <a:ext cx="70000" cy="443333"/>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4108332"/>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4116666"/>
            <a:ext cx="10050000" cy="443333"/>
          </a:xfrm>
          <a:prstGeom prst="rect">
            <a:avLst/>
          </a:prstGeom>
          <a:noFill/>
        </p:spPr>
        <p:txBody>
          <a:bodyPr wrap="square" anchor="ctr" lIns="50800" rIns="50800">
            <a:spAutoFit/>
          </a:bodyPr>
          <a:lstStyle/>
          <a:p>
            <a:pPr algn="l"/>
            <a:r>
              <a:rPr sz="1900" b="0">
                <a:solidFill>
                  <a:srgbClr val="1B2430"/>
                </a:solidFill>
                <a:latin typeface="Calibri"/>
              </a:rPr>
              <a:t>Keng tarqalgan xatolar va amaliy tavsiyalar</a:t>
            </a:r>
          </a:p>
        </p:txBody>
      </p:sp>
      <p:sp>
        <p:nvSpPr>
          <p:cNvPr id="34" name="Rounded Rectangle 33"/>
          <p:cNvSpPr/>
          <p:nvPr/>
        </p:nvSpPr>
        <p:spPr>
          <a:xfrm>
            <a:off x="550000" y="4679999"/>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679999"/>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0000" y="4671665"/>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37" name="TextBox 36"/>
          <p:cNvSpPr txBox="1"/>
          <p:nvPr/>
        </p:nvSpPr>
        <p:spPr>
          <a:xfrm>
            <a:off x="1450000" y="4679999"/>
            <a:ext cx="10050000" cy="443333"/>
          </a:xfrm>
          <a:prstGeom prst="rect">
            <a:avLst/>
          </a:prstGeom>
          <a:noFill/>
        </p:spPr>
        <p:txBody>
          <a:bodyPr wrap="square" anchor="ctr" lIns="50800" rIns="50800">
            <a:spAutoFit/>
          </a:bodyPr>
          <a:lstStyle/>
          <a:p>
            <a:pPr algn="l"/>
            <a:r>
              <a:rPr sz="1900" b="0">
                <a:solidFill>
                  <a:srgbClr val="1B2430"/>
                </a:solidFill>
                <a:latin typeface="Calibri"/>
              </a:rPr>
              <a:t>Nazorat savollari</a:t>
            </a:r>
          </a:p>
        </p:txBody>
      </p:sp>
      <p:sp>
        <p:nvSpPr>
          <p:cNvPr id="38" name="Rounded Rectangle 37"/>
          <p:cNvSpPr/>
          <p:nvPr/>
        </p:nvSpPr>
        <p:spPr>
          <a:xfrm>
            <a:off x="550000" y="5243332"/>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5243332"/>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0000" y="5234998"/>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41" name="TextBox 40"/>
          <p:cNvSpPr txBox="1"/>
          <p:nvPr/>
        </p:nvSpPr>
        <p:spPr>
          <a:xfrm>
            <a:off x="1450000" y="5243332"/>
            <a:ext cx="10050000" cy="443333"/>
          </a:xfrm>
          <a:prstGeom prst="rect">
            <a:avLst/>
          </a:prstGeom>
          <a:noFill/>
        </p:spPr>
        <p:txBody>
          <a:bodyPr wrap="square" anchor="ctr" lIns="50800" rIns="50800">
            <a:spAutoFit/>
          </a:bodyPr>
          <a:lstStyle/>
          <a:p>
            <a:pPr algn="l"/>
            <a:r>
              <a:rPr sz="1900" b="0">
                <a:solidFill>
                  <a:srgbClr val="1B2430"/>
                </a:solidFill>
                <a:latin typeface="Calibri"/>
              </a:rPr>
              <a:t>Mustaqil ish uchun topshiriq</a:t>
            </a:r>
          </a:p>
        </p:txBody>
      </p:sp>
      <p:sp>
        <p:nvSpPr>
          <p:cNvPr id="42" name="Rounded Rectangle 41"/>
          <p:cNvSpPr/>
          <p:nvPr/>
        </p:nvSpPr>
        <p:spPr>
          <a:xfrm>
            <a:off x="550000" y="5806665"/>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5806665"/>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00000" y="5798331"/>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45" name="TextBox 44"/>
          <p:cNvSpPr txBox="1"/>
          <p:nvPr/>
        </p:nvSpPr>
        <p:spPr>
          <a:xfrm>
            <a:off x="1450000" y="5806665"/>
            <a:ext cx="10050000" cy="443333"/>
          </a:xfrm>
          <a:prstGeom prst="rect">
            <a:avLst/>
          </a:prstGeom>
          <a:noFill/>
        </p:spPr>
        <p:txBody>
          <a:bodyPr wrap="square" anchor="ctr" lIns="50800" rIns="50800">
            <a:spAutoFit/>
          </a:bodyPr>
          <a:lstStyle/>
          <a:p>
            <a:pPr algn="l"/>
            <a:r>
              <a:rPr sz="1900" b="0">
                <a:solidFill>
                  <a:srgbClr val="1B2430"/>
                </a:solidFill>
                <a:latin typeface="Calibri"/>
              </a:rPr>
              <a:t>Foydalanilgan manbalar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2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par>
                          <p:cTn id="151" fill="hold">
                            <p:stCondLst>
                              <p:cond delay="1540"/>
                            </p:stCondLst>
                            <p:childTnLst>
                              <p:par>
                                <p:cTn id="152" presetID="42" presetClass="entr" presetSubtype="0" fill="hold" grpId="0" nodeType="afterEffect">
                                  <p:stCondLst>
                                    <p:cond delay="0"/>
                                  </p:stCondLst>
                                  <p:childTnLst>
                                    <p:set>
                                      <p:cBhvr>
                                        <p:cTn id="153" dur="1" fill="hold">
                                          <p:stCondLst>
                                            <p:cond delay="0"/>
                                          </p:stCondLst>
                                        </p:cTn>
                                        <p:tgtEl>
                                          <p:spTgt spid="34"/>
                                        </p:tgtEl>
                                        <p:attrNameLst>
                                          <p:attrName>style.visibility</p:attrName>
                                        </p:attrNameLst>
                                      </p:cBhvr>
                                      <p:to>
                                        <p:strVal val="visible"/>
                                      </p:to>
                                    </p:set>
                                    <p:animEffect transition="in" filter="fade">
                                      <p:cBhvr>
                                        <p:cTn id="154" dur="550"/>
                                        <p:tgtEl>
                                          <p:spTgt spid="34"/>
                                        </p:tgtEl>
                                      </p:cBhvr>
                                    </p:animEffect>
                                    <p:anim calcmode="lin" valueType="num">
                                      <p:cBhvr additive="base">
                                        <p:cTn id="155" dur="550" fill="hold"/>
                                        <p:tgtEl>
                                          <p:spTgt spid="34"/>
                                        </p:tgtEl>
                                        <p:attrNameLst>
                                          <p:attrName>ppt_x</p:attrName>
                                        </p:attrNameLst>
                                      </p:cBhvr>
                                      <p:tavLst>
                                        <p:tav tm="0">
                                          <p:val>
                                            <p:strVal val="#ppt_x"/>
                                          </p:val>
                                        </p:tav>
                                        <p:tav tm="100000">
                                          <p:val>
                                            <p:strVal val="#ppt_x"/>
                                          </p:val>
                                        </p:tav>
                                      </p:tavLst>
                                    </p:anim>
                                    <p:anim calcmode="lin" valueType="num">
                                      <p:cBhvr additive="base">
                                        <p:cTn id="156" dur="550" fill="hold"/>
                                        <p:tgtEl>
                                          <p:spTgt spid="34"/>
                                        </p:tgtEl>
                                        <p:attrNameLst>
                                          <p:attrName>ppt_y</p:attrName>
                                        </p:attrNameLst>
                                      </p:cBhvr>
                                      <p:tavLst>
                                        <p:tav tm="0">
                                          <p:val>
                                            <p:strVal val="#ppt_y+.08"/>
                                          </p:val>
                                        </p:tav>
                                        <p:tav tm="100000">
                                          <p:val>
                                            <p:strVal val="#ppt_y"/>
                                          </p:val>
                                        </p:tav>
                                      </p:tavLst>
                                    </p:anim>
                                  </p:childTnLst>
                                </p:cTn>
                              </p:par>
                            </p:childTnLst>
                          </p:cTn>
                        </p:par>
                        <p:par>
                          <p:cTn id="157" fill="hold">
                            <p:stCondLst>
                              <p:cond delay="1540"/>
                            </p:stCondLst>
                            <p:childTnLst>
                              <p:par>
                                <p:cTn id="158" presetID="42" presetClass="entr" presetSubtype="0" fill="hold" grpId="0" nodeType="afterEffect">
                                  <p:stCondLst>
                                    <p:cond delay="0"/>
                                  </p:stCondLst>
                                  <p:childTnLst>
                                    <p:set>
                                      <p:cBhvr>
                                        <p:cTn id="159" dur="1" fill="hold">
                                          <p:stCondLst>
                                            <p:cond delay="0"/>
                                          </p:stCondLst>
                                        </p:cTn>
                                        <p:tgtEl>
                                          <p:spTgt spid="35"/>
                                        </p:tgtEl>
                                        <p:attrNameLst>
                                          <p:attrName>style.visibility</p:attrName>
                                        </p:attrNameLst>
                                      </p:cBhvr>
                                      <p:to>
                                        <p:strVal val="visible"/>
                                      </p:to>
                                    </p:set>
                                    <p:animEffect transition="in" filter="fade">
                                      <p:cBhvr>
                                        <p:cTn id="160" dur="550"/>
                                        <p:tgtEl>
                                          <p:spTgt spid="35"/>
                                        </p:tgtEl>
                                      </p:cBhvr>
                                    </p:animEffect>
                                    <p:anim calcmode="lin" valueType="num">
                                      <p:cBhvr additive="base">
                                        <p:cTn id="161" dur="550" fill="hold"/>
                                        <p:tgtEl>
                                          <p:spTgt spid="35"/>
                                        </p:tgtEl>
                                        <p:attrNameLst>
                                          <p:attrName>ppt_x</p:attrName>
                                        </p:attrNameLst>
                                      </p:cBhvr>
                                      <p:tavLst>
                                        <p:tav tm="0">
                                          <p:val>
                                            <p:strVal val="#ppt_x"/>
                                          </p:val>
                                        </p:tav>
                                        <p:tav tm="100000">
                                          <p:val>
                                            <p:strVal val="#ppt_x"/>
                                          </p:val>
                                        </p:tav>
                                      </p:tavLst>
                                    </p:anim>
                                    <p:anim calcmode="lin" valueType="num">
                                      <p:cBhvr additive="base">
                                        <p:cTn id="162" dur="550" fill="hold"/>
                                        <p:tgtEl>
                                          <p:spTgt spid="35"/>
                                        </p:tgtEl>
                                        <p:attrNameLst>
                                          <p:attrName>ppt_y</p:attrName>
                                        </p:attrNameLst>
                                      </p:cBhvr>
                                      <p:tavLst>
                                        <p:tav tm="0">
                                          <p:val>
                                            <p:strVal val="#ppt_y+.08"/>
                                          </p:val>
                                        </p:tav>
                                        <p:tav tm="100000">
                                          <p:val>
                                            <p:strVal val="#ppt_y"/>
                                          </p:val>
                                        </p:tav>
                                      </p:tavLst>
                                    </p:anim>
                                  </p:childTnLst>
                                </p:cTn>
                              </p:par>
                            </p:childTnLst>
                          </p:cTn>
                        </p:par>
                        <p:par>
                          <p:cTn id="163" fill="hold">
                            <p:stCondLst>
                              <p:cond delay="1540"/>
                            </p:stCondLst>
                            <p:childTnLst>
                              <p:par>
                                <p:cTn id="164" presetID="53" presetClass="entr" presetSubtype="16" fill="hold" grpId="0" nodeType="afterEffect">
                                  <p:stCondLst>
                                    <p:cond delay="0"/>
                                  </p:stCondLst>
                                  <p:childTnLst>
                                    <p:set>
                                      <p:cBhvr>
                                        <p:cTn id="165" dur="1" fill="hold">
                                          <p:stCondLst>
                                            <p:cond delay="0"/>
                                          </p:stCondLst>
                                        </p:cTn>
                                        <p:tgtEl>
                                          <p:spTgt spid="36"/>
                                        </p:tgtEl>
                                        <p:attrNameLst>
                                          <p:attrName>style.visibility</p:attrName>
                                        </p:attrNameLst>
                                      </p:cBhvr>
                                      <p:to>
                                        <p:strVal val="visible"/>
                                      </p:to>
                                    </p:set>
                                    <p:animEffect transition="in" filter="fade">
                                      <p:cBhvr>
                                        <p:cTn id="166" dur="550"/>
                                        <p:tgtEl>
                                          <p:spTgt spid="36"/>
                                        </p:tgtEl>
                                      </p:cBhvr>
                                    </p:animEffect>
                                    <p:anim calcmode="lin" valueType="num">
                                      <p:cBhvr additive="base">
                                        <p:cTn id="167" dur="550" fill="hold"/>
                                        <p:tgtEl>
                                          <p:spTgt spid="36"/>
                                        </p:tgtEl>
                                        <p:attrNameLst>
                                          <p:attrName>ppt_w</p:attrName>
                                        </p:attrNameLst>
                                      </p:cBhvr>
                                      <p:tavLst>
                                        <p:tav tm="0">
                                          <p:val>
                                            <p:strVal val="0"/>
                                          </p:val>
                                        </p:tav>
                                        <p:tav tm="100000">
                                          <p:val>
                                            <p:strVal val="#ppt_w"/>
                                          </p:val>
                                        </p:tav>
                                      </p:tavLst>
                                    </p:anim>
                                    <p:anim calcmode="lin" valueType="num">
                                      <p:cBhvr additive="base">
                                        <p:cTn id="168" dur="550" fill="hold"/>
                                        <p:tgtEl>
                                          <p:spTgt spid="36"/>
                                        </p:tgtEl>
                                        <p:attrNameLst>
                                          <p:attrName>ppt_h</p:attrName>
                                        </p:attrNameLst>
                                      </p:cBhvr>
                                      <p:tavLst>
                                        <p:tav tm="0">
                                          <p:val>
                                            <p:strVal val="0"/>
                                          </p:val>
                                        </p:tav>
                                        <p:tav tm="100000">
                                          <p:val>
                                            <p:strVal val="#ppt_h"/>
                                          </p:val>
                                        </p:tav>
                                      </p:tavLst>
                                    </p:anim>
                                  </p:childTnLst>
                                </p:cTn>
                              </p:par>
                            </p:childTnLst>
                          </p:cTn>
                        </p:par>
                        <p:par>
                          <p:cTn id="169" fill="hold">
                            <p:stCondLst>
                              <p:cond delay="1540"/>
                            </p:stCondLst>
                            <p:childTnLst>
                              <p:par>
                                <p:cTn id="170" presetID="42" presetClass="entr" presetSubtype="0" fill="hold" grpId="0" nodeType="after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50"/>
                                        <p:tgtEl>
                                          <p:spTgt spid="37"/>
                                        </p:tgtEl>
                                      </p:cBhvr>
                                    </p:animEffect>
                                    <p:anim calcmode="lin" valueType="num">
                                      <p:cBhvr additive="base">
                                        <p:cTn id="173" dur="550" fill="hold"/>
                                        <p:tgtEl>
                                          <p:spTgt spid="37"/>
                                        </p:tgtEl>
                                        <p:attrNameLst>
                                          <p:attrName>ppt_x</p:attrName>
                                        </p:attrNameLst>
                                      </p:cBhvr>
                                      <p:tavLst>
                                        <p:tav tm="0">
                                          <p:val>
                                            <p:strVal val="#ppt_x"/>
                                          </p:val>
                                        </p:tav>
                                        <p:tav tm="100000">
                                          <p:val>
                                            <p:strVal val="#ppt_x"/>
                                          </p:val>
                                        </p:tav>
                                      </p:tavLst>
                                    </p:anim>
                                    <p:anim calcmode="lin" valueType="num">
                                      <p:cBhvr additive="base">
                                        <p:cTn id="174" dur="550" fill="hold"/>
                                        <p:tgtEl>
                                          <p:spTgt spid="37"/>
                                        </p:tgtEl>
                                        <p:attrNameLst>
                                          <p:attrName>ppt_y</p:attrName>
                                        </p:attrNameLst>
                                      </p:cBhvr>
                                      <p:tavLst>
                                        <p:tav tm="0">
                                          <p:val>
                                            <p:strVal val="#ppt_y+.08"/>
                                          </p:val>
                                        </p:tav>
                                        <p:tav tm="100000">
                                          <p:val>
                                            <p:strVal val="#ppt_y"/>
                                          </p:val>
                                        </p:tav>
                                      </p:tavLst>
                                    </p:anim>
                                  </p:childTnLst>
                                </p:cTn>
                              </p:par>
                            </p:childTnLst>
                          </p:cTn>
                        </p:par>
                        <p:par>
                          <p:cTn id="175" fill="hold">
                            <p:stCondLst>
                              <p:cond delay="1760"/>
                            </p:stCondLst>
                            <p:childTnLst>
                              <p:par>
                                <p:cTn id="176" presetID="42" presetClass="entr" presetSubtype="0" fill="hold" grpId="0" nodeType="afterEffect">
                                  <p:stCondLst>
                                    <p:cond delay="0"/>
                                  </p:stCondLst>
                                  <p:childTnLst>
                                    <p:set>
                                      <p:cBhvr>
                                        <p:cTn id="177" dur="1" fill="hold">
                                          <p:stCondLst>
                                            <p:cond delay="0"/>
                                          </p:stCondLst>
                                        </p:cTn>
                                        <p:tgtEl>
                                          <p:spTgt spid="38"/>
                                        </p:tgtEl>
                                        <p:attrNameLst>
                                          <p:attrName>style.visibility</p:attrName>
                                        </p:attrNameLst>
                                      </p:cBhvr>
                                      <p:to>
                                        <p:strVal val="visible"/>
                                      </p:to>
                                    </p:set>
                                    <p:animEffect transition="in" filter="fade">
                                      <p:cBhvr>
                                        <p:cTn id="178" dur="550"/>
                                        <p:tgtEl>
                                          <p:spTgt spid="38"/>
                                        </p:tgtEl>
                                      </p:cBhvr>
                                    </p:animEffect>
                                    <p:anim calcmode="lin" valueType="num">
                                      <p:cBhvr additive="base">
                                        <p:cTn id="179" dur="550" fill="hold"/>
                                        <p:tgtEl>
                                          <p:spTgt spid="38"/>
                                        </p:tgtEl>
                                        <p:attrNameLst>
                                          <p:attrName>ppt_x</p:attrName>
                                        </p:attrNameLst>
                                      </p:cBhvr>
                                      <p:tavLst>
                                        <p:tav tm="0">
                                          <p:val>
                                            <p:strVal val="#ppt_x"/>
                                          </p:val>
                                        </p:tav>
                                        <p:tav tm="100000">
                                          <p:val>
                                            <p:strVal val="#ppt_x"/>
                                          </p:val>
                                        </p:tav>
                                      </p:tavLst>
                                    </p:anim>
                                    <p:anim calcmode="lin" valueType="num">
                                      <p:cBhvr additive="base">
                                        <p:cTn id="180" dur="550" fill="hold"/>
                                        <p:tgtEl>
                                          <p:spTgt spid="38"/>
                                        </p:tgtEl>
                                        <p:attrNameLst>
                                          <p:attrName>ppt_y</p:attrName>
                                        </p:attrNameLst>
                                      </p:cBhvr>
                                      <p:tavLst>
                                        <p:tav tm="0">
                                          <p:val>
                                            <p:strVal val="#ppt_y+.08"/>
                                          </p:val>
                                        </p:tav>
                                        <p:tav tm="100000">
                                          <p:val>
                                            <p:strVal val="#ppt_y"/>
                                          </p:val>
                                        </p:tav>
                                      </p:tavLst>
                                    </p:anim>
                                  </p:childTnLst>
                                </p:cTn>
                              </p:par>
                            </p:childTnLst>
                          </p:cTn>
                        </p:par>
                        <p:par>
                          <p:cTn id="181" fill="hold">
                            <p:stCondLst>
                              <p:cond delay="1760"/>
                            </p:stCondLst>
                            <p:childTnLst>
                              <p:par>
                                <p:cTn id="182" presetID="42" presetClass="entr" presetSubtype="0" fill="hold" grpId="0" nodeType="afterEffect">
                                  <p:stCondLst>
                                    <p:cond delay="0"/>
                                  </p:stCondLst>
                                  <p:childTnLst>
                                    <p:set>
                                      <p:cBhvr>
                                        <p:cTn id="183" dur="1" fill="hold">
                                          <p:stCondLst>
                                            <p:cond delay="0"/>
                                          </p:stCondLst>
                                        </p:cTn>
                                        <p:tgtEl>
                                          <p:spTgt spid="39"/>
                                        </p:tgtEl>
                                        <p:attrNameLst>
                                          <p:attrName>style.visibility</p:attrName>
                                        </p:attrNameLst>
                                      </p:cBhvr>
                                      <p:to>
                                        <p:strVal val="visible"/>
                                      </p:to>
                                    </p:set>
                                    <p:animEffect transition="in" filter="fade">
                                      <p:cBhvr>
                                        <p:cTn id="184" dur="550"/>
                                        <p:tgtEl>
                                          <p:spTgt spid="39"/>
                                        </p:tgtEl>
                                      </p:cBhvr>
                                    </p:animEffect>
                                    <p:anim calcmode="lin" valueType="num">
                                      <p:cBhvr additive="base">
                                        <p:cTn id="185" dur="550" fill="hold"/>
                                        <p:tgtEl>
                                          <p:spTgt spid="39"/>
                                        </p:tgtEl>
                                        <p:attrNameLst>
                                          <p:attrName>ppt_x</p:attrName>
                                        </p:attrNameLst>
                                      </p:cBhvr>
                                      <p:tavLst>
                                        <p:tav tm="0">
                                          <p:val>
                                            <p:strVal val="#ppt_x"/>
                                          </p:val>
                                        </p:tav>
                                        <p:tav tm="100000">
                                          <p:val>
                                            <p:strVal val="#ppt_x"/>
                                          </p:val>
                                        </p:tav>
                                      </p:tavLst>
                                    </p:anim>
                                    <p:anim calcmode="lin" valueType="num">
                                      <p:cBhvr additive="base">
                                        <p:cTn id="186" dur="550" fill="hold"/>
                                        <p:tgtEl>
                                          <p:spTgt spid="39"/>
                                        </p:tgtEl>
                                        <p:attrNameLst>
                                          <p:attrName>ppt_y</p:attrName>
                                        </p:attrNameLst>
                                      </p:cBhvr>
                                      <p:tavLst>
                                        <p:tav tm="0">
                                          <p:val>
                                            <p:strVal val="#ppt_y+.08"/>
                                          </p:val>
                                        </p:tav>
                                        <p:tav tm="100000">
                                          <p:val>
                                            <p:strVal val="#ppt_y"/>
                                          </p:val>
                                        </p:tav>
                                      </p:tavLst>
                                    </p:anim>
                                  </p:childTnLst>
                                </p:cTn>
                              </p:par>
                            </p:childTnLst>
                          </p:cTn>
                        </p:par>
                        <p:par>
                          <p:cTn id="187" fill="hold">
                            <p:stCondLst>
                              <p:cond delay="1760"/>
                            </p:stCondLst>
                            <p:childTnLst>
                              <p:par>
                                <p:cTn id="188" presetID="53" presetClass="entr" presetSubtype="16" fill="hold" grpId="0" nodeType="after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50"/>
                                        <p:tgtEl>
                                          <p:spTgt spid="40"/>
                                        </p:tgtEl>
                                      </p:cBhvr>
                                    </p:animEffect>
                                    <p:anim calcmode="lin" valueType="num">
                                      <p:cBhvr additive="base">
                                        <p:cTn id="191" dur="550" fill="hold"/>
                                        <p:tgtEl>
                                          <p:spTgt spid="40"/>
                                        </p:tgtEl>
                                        <p:attrNameLst>
                                          <p:attrName>ppt_w</p:attrName>
                                        </p:attrNameLst>
                                      </p:cBhvr>
                                      <p:tavLst>
                                        <p:tav tm="0">
                                          <p:val>
                                            <p:strVal val="0"/>
                                          </p:val>
                                        </p:tav>
                                        <p:tav tm="100000">
                                          <p:val>
                                            <p:strVal val="#ppt_w"/>
                                          </p:val>
                                        </p:tav>
                                      </p:tavLst>
                                    </p:anim>
                                    <p:anim calcmode="lin" valueType="num">
                                      <p:cBhvr additive="base">
                                        <p:cTn id="192" dur="550" fill="hold"/>
                                        <p:tgtEl>
                                          <p:spTgt spid="40"/>
                                        </p:tgtEl>
                                        <p:attrNameLst>
                                          <p:attrName>ppt_h</p:attrName>
                                        </p:attrNameLst>
                                      </p:cBhvr>
                                      <p:tavLst>
                                        <p:tav tm="0">
                                          <p:val>
                                            <p:strVal val="0"/>
                                          </p:val>
                                        </p:tav>
                                        <p:tav tm="100000">
                                          <p:val>
                                            <p:strVal val="#ppt_h"/>
                                          </p:val>
                                        </p:tav>
                                      </p:tavLst>
                                    </p:anim>
                                  </p:childTnLst>
                                </p:cTn>
                              </p:par>
                            </p:childTnLst>
                          </p:cTn>
                        </p:par>
                        <p:par>
                          <p:cTn id="193" fill="hold">
                            <p:stCondLst>
                              <p:cond delay="1760"/>
                            </p:stCondLst>
                            <p:childTnLst>
                              <p:par>
                                <p:cTn id="194" presetID="42" presetClass="entr" presetSubtype="0" fill="hold" grpId="0" nodeType="afterEffect">
                                  <p:stCondLst>
                                    <p:cond delay="0"/>
                                  </p:stCondLst>
                                  <p:childTnLst>
                                    <p:set>
                                      <p:cBhvr>
                                        <p:cTn id="195" dur="1" fill="hold">
                                          <p:stCondLst>
                                            <p:cond delay="0"/>
                                          </p:stCondLst>
                                        </p:cTn>
                                        <p:tgtEl>
                                          <p:spTgt spid="41"/>
                                        </p:tgtEl>
                                        <p:attrNameLst>
                                          <p:attrName>style.visibility</p:attrName>
                                        </p:attrNameLst>
                                      </p:cBhvr>
                                      <p:to>
                                        <p:strVal val="visible"/>
                                      </p:to>
                                    </p:set>
                                    <p:animEffect transition="in" filter="fade">
                                      <p:cBhvr>
                                        <p:cTn id="196" dur="550"/>
                                        <p:tgtEl>
                                          <p:spTgt spid="41"/>
                                        </p:tgtEl>
                                      </p:cBhvr>
                                    </p:animEffect>
                                    <p:anim calcmode="lin" valueType="num">
                                      <p:cBhvr additive="base">
                                        <p:cTn id="197" dur="550" fill="hold"/>
                                        <p:tgtEl>
                                          <p:spTgt spid="41"/>
                                        </p:tgtEl>
                                        <p:attrNameLst>
                                          <p:attrName>ppt_x</p:attrName>
                                        </p:attrNameLst>
                                      </p:cBhvr>
                                      <p:tavLst>
                                        <p:tav tm="0">
                                          <p:val>
                                            <p:strVal val="#ppt_x"/>
                                          </p:val>
                                        </p:tav>
                                        <p:tav tm="100000">
                                          <p:val>
                                            <p:strVal val="#ppt_x"/>
                                          </p:val>
                                        </p:tav>
                                      </p:tavLst>
                                    </p:anim>
                                    <p:anim calcmode="lin" valueType="num">
                                      <p:cBhvr additive="base">
                                        <p:cTn id="198" dur="550" fill="hold"/>
                                        <p:tgtEl>
                                          <p:spTgt spid="41"/>
                                        </p:tgtEl>
                                        <p:attrNameLst>
                                          <p:attrName>ppt_y</p:attrName>
                                        </p:attrNameLst>
                                      </p:cBhvr>
                                      <p:tavLst>
                                        <p:tav tm="0">
                                          <p:val>
                                            <p:strVal val="#ppt_y+.08"/>
                                          </p:val>
                                        </p:tav>
                                        <p:tav tm="100000">
                                          <p:val>
                                            <p:strVal val="#ppt_y"/>
                                          </p:val>
                                        </p:tav>
                                      </p:tavLst>
                                    </p:anim>
                                  </p:childTnLst>
                                </p:cTn>
                              </p:par>
                            </p:childTnLst>
                          </p:cTn>
                        </p:par>
                        <p:par>
                          <p:cTn id="199" fill="hold">
                            <p:stCondLst>
                              <p:cond delay="1980"/>
                            </p:stCondLst>
                            <p:childTnLst>
                              <p:par>
                                <p:cTn id="200" presetID="42" presetClass="entr" presetSubtype="0" fill="hold" grpId="0" nodeType="afterEffect">
                                  <p:stCondLst>
                                    <p:cond delay="0"/>
                                  </p:stCondLst>
                                  <p:childTnLst>
                                    <p:set>
                                      <p:cBhvr>
                                        <p:cTn id="201" dur="1" fill="hold">
                                          <p:stCondLst>
                                            <p:cond delay="0"/>
                                          </p:stCondLst>
                                        </p:cTn>
                                        <p:tgtEl>
                                          <p:spTgt spid="42"/>
                                        </p:tgtEl>
                                        <p:attrNameLst>
                                          <p:attrName>style.visibility</p:attrName>
                                        </p:attrNameLst>
                                      </p:cBhvr>
                                      <p:to>
                                        <p:strVal val="visible"/>
                                      </p:to>
                                    </p:set>
                                    <p:animEffect transition="in" filter="fade">
                                      <p:cBhvr>
                                        <p:cTn id="202" dur="550"/>
                                        <p:tgtEl>
                                          <p:spTgt spid="42"/>
                                        </p:tgtEl>
                                      </p:cBhvr>
                                    </p:animEffect>
                                    <p:anim calcmode="lin" valueType="num">
                                      <p:cBhvr additive="base">
                                        <p:cTn id="203" dur="550" fill="hold"/>
                                        <p:tgtEl>
                                          <p:spTgt spid="42"/>
                                        </p:tgtEl>
                                        <p:attrNameLst>
                                          <p:attrName>ppt_x</p:attrName>
                                        </p:attrNameLst>
                                      </p:cBhvr>
                                      <p:tavLst>
                                        <p:tav tm="0">
                                          <p:val>
                                            <p:strVal val="#ppt_x"/>
                                          </p:val>
                                        </p:tav>
                                        <p:tav tm="100000">
                                          <p:val>
                                            <p:strVal val="#ppt_x"/>
                                          </p:val>
                                        </p:tav>
                                      </p:tavLst>
                                    </p:anim>
                                    <p:anim calcmode="lin" valueType="num">
                                      <p:cBhvr additive="base">
                                        <p:cTn id="204" dur="550" fill="hold"/>
                                        <p:tgtEl>
                                          <p:spTgt spid="42"/>
                                        </p:tgtEl>
                                        <p:attrNameLst>
                                          <p:attrName>ppt_y</p:attrName>
                                        </p:attrNameLst>
                                      </p:cBhvr>
                                      <p:tavLst>
                                        <p:tav tm="0">
                                          <p:val>
                                            <p:strVal val="#ppt_y+.08"/>
                                          </p:val>
                                        </p:tav>
                                        <p:tav tm="100000">
                                          <p:val>
                                            <p:strVal val="#ppt_y"/>
                                          </p:val>
                                        </p:tav>
                                      </p:tavLst>
                                    </p:anim>
                                  </p:childTnLst>
                                </p:cTn>
                              </p:par>
                            </p:childTnLst>
                          </p:cTn>
                        </p:par>
                        <p:par>
                          <p:cTn id="205" fill="hold">
                            <p:stCondLst>
                              <p:cond delay="1980"/>
                            </p:stCondLst>
                            <p:childTnLst>
                              <p:par>
                                <p:cTn id="206" presetID="42" presetClass="entr" presetSubtype="0" fill="hold" grpId="0" nodeType="afterEffect">
                                  <p:stCondLst>
                                    <p:cond delay="0"/>
                                  </p:stCondLst>
                                  <p:childTnLst>
                                    <p:set>
                                      <p:cBhvr>
                                        <p:cTn id="207" dur="1" fill="hold">
                                          <p:stCondLst>
                                            <p:cond delay="0"/>
                                          </p:stCondLst>
                                        </p:cTn>
                                        <p:tgtEl>
                                          <p:spTgt spid="43"/>
                                        </p:tgtEl>
                                        <p:attrNameLst>
                                          <p:attrName>style.visibility</p:attrName>
                                        </p:attrNameLst>
                                      </p:cBhvr>
                                      <p:to>
                                        <p:strVal val="visible"/>
                                      </p:to>
                                    </p:set>
                                    <p:animEffect transition="in" filter="fade">
                                      <p:cBhvr>
                                        <p:cTn id="208" dur="550"/>
                                        <p:tgtEl>
                                          <p:spTgt spid="43"/>
                                        </p:tgtEl>
                                      </p:cBhvr>
                                    </p:animEffect>
                                    <p:anim calcmode="lin" valueType="num">
                                      <p:cBhvr additive="base">
                                        <p:cTn id="209" dur="550" fill="hold"/>
                                        <p:tgtEl>
                                          <p:spTgt spid="43"/>
                                        </p:tgtEl>
                                        <p:attrNameLst>
                                          <p:attrName>ppt_x</p:attrName>
                                        </p:attrNameLst>
                                      </p:cBhvr>
                                      <p:tavLst>
                                        <p:tav tm="0">
                                          <p:val>
                                            <p:strVal val="#ppt_x"/>
                                          </p:val>
                                        </p:tav>
                                        <p:tav tm="100000">
                                          <p:val>
                                            <p:strVal val="#ppt_x"/>
                                          </p:val>
                                        </p:tav>
                                      </p:tavLst>
                                    </p:anim>
                                    <p:anim calcmode="lin" valueType="num">
                                      <p:cBhvr additive="base">
                                        <p:cTn id="210" dur="550" fill="hold"/>
                                        <p:tgtEl>
                                          <p:spTgt spid="43"/>
                                        </p:tgtEl>
                                        <p:attrNameLst>
                                          <p:attrName>ppt_y</p:attrName>
                                        </p:attrNameLst>
                                      </p:cBhvr>
                                      <p:tavLst>
                                        <p:tav tm="0">
                                          <p:val>
                                            <p:strVal val="#ppt_y+.08"/>
                                          </p:val>
                                        </p:tav>
                                        <p:tav tm="100000">
                                          <p:val>
                                            <p:strVal val="#ppt_y"/>
                                          </p:val>
                                        </p:tav>
                                      </p:tavLst>
                                    </p:anim>
                                  </p:childTnLst>
                                </p:cTn>
                              </p:par>
                            </p:childTnLst>
                          </p:cTn>
                        </p:par>
                        <p:par>
                          <p:cTn id="211" fill="hold">
                            <p:stCondLst>
                              <p:cond delay="1980"/>
                            </p:stCondLst>
                            <p:childTnLst>
                              <p:par>
                                <p:cTn id="212" presetID="53" presetClass="entr" presetSubtype="16" fill="hold" grpId="0" nodeType="afterEffect">
                                  <p:stCondLst>
                                    <p:cond delay="0"/>
                                  </p:stCondLst>
                                  <p:childTnLst>
                                    <p:set>
                                      <p:cBhvr>
                                        <p:cTn id="213" dur="1" fill="hold">
                                          <p:stCondLst>
                                            <p:cond delay="0"/>
                                          </p:stCondLst>
                                        </p:cTn>
                                        <p:tgtEl>
                                          <p:spTgt spid="44"/>
                                        </p:tgtEl>
                                        <p:attrNameLst>
                                          <p:attrName>style.visibility</p:attrName>
                                        </p:attrNameLst>
                                      </p:cBhvr>
                                      <p:to>
                                        <p:strVal val="visible"/>
                                      </p:to>
                                    </p:set>
                                    <p:animEffect transition="in" filter="fade">
                                      <p:cBhvr>
                                        <p:cTn id="214" dur="550"/>
                                        <p:tgtEl>
                                          <p:spTgt spid="44"/>
                                        </p:tgtEl>
                                      </p:cBhvr>
                                    </p:animEffect>
                                    <p:anim calcmode="lin" valueType="num">
                                      <p:cBhvr additive="base">
                                        <p:cTn id="215" dur="550" fill="hold"/>
                                        <p:tgtEl>
                                          <p:spTgt spid="44"/>
                                        </p:tgtEl>
                                        <p:attrNameLst>
                                          <p:attrName>ppt_w</p:attrName>
                                        </p:attrNameLst>
                                      </p:cBhvr>
                                      <p:tavLst>
                                        <p:tav tm="0">
                                          <p:val>
                                            <p:strVal val="0"/>
                                          </p:val>
                                        </p:tav>
                                        <p:tav tm="100000">
                                          <p:val>
                                            <p:strVal val="#ppt_w"/>
                                          </p:val>
                                        </p:tav>
                                      </p:tavLst>
                                    </p:anim>
                                    <p:anim calcmode="lin" valueType="num">
                                      <p:cBhvr additive="base">
                                        <p:cTn id="216" dur="550" fill="hold"/>
                                        <p:tgtEl>
                                          <p:spTgt spid="44"/>
                                        </p:tgtEl>
                                        <p:attrNameLst>
                                          <p:attrName>ppt_h</p:attrName>
                                        </p:attrNameLst>
                                      </p:cBhvr>
                                      <p:tavLst>
                                        <p:tav tm="0">
                                          <p:val>
                                            <p:strVal val="0"/>
                                          </p:val>
                                        </p:tav>
                                        <p:tav tm="100000">
                                          <p:val>
                                            <p:strVal val="#ppt_h"/>
                                          </p:val>
                                        </p:tav>
                                      </p:tavLst>
                                    </p:anim>
                                  </p:childTnLst>
                                </p:cTn>
                              </p:par>
                            </p:childTnLst>
                          </p:cTn>
                        </p:par>
                        <p:par>
                          <p:cTn id="217" fill="hold">
                            <p:stCondLst>
                              <p:cond delay="1980"/>
                            </p:stCondLst>
                            <p:childTnLst>
                              <p:par>
                                <p:cTn id="218" presetID="42" presetClass="entr" presetSubtype="0" fill="hold" grpId="0" nodeType="afterEffect">
                                  <p:stCondLst>
                                    <p:cond delay="0"/>
                                  </p:stCondLst>
                                  <p:childTnLst>
                                    <p:set>
                                      <p:cBhvr>
                                        <p:cTn id="219" dur="1" fill="hold">
                                          <p:stCondLst>
                                            <p:cond delay="0"/>
                                          </p:stCondLst>
                                        </p:cTn>
                                        <p:tgtEl>
                                          <p:spTgt spid="45"/>
                                        </p:tgtEl>
                                        <p:attrNameLst>
                                          <p:attrName>style.visibility</p:attrName>
                                        </p:attrNameLst>
                                      </p:cBhvr>
                                      <p:to>
                                        <p:strVal val="visible"/>
                                      </p:to>
                                    </p:set>
                                    <p:animEffect transition="in" filter="fade">
                                      <p:cBhvr>
                                        <p:cTn id="220" dur="550"/>
                                        <p:tgtEl>
                                          <p:spTgt spid="45"/>
                                        </p:tgtEl>
                                      </p:cBhvr>
                                    </p:animEffect>
                                    <p:anim calcmode="lin" valueType="num">
                                      <p:cBhvr additive="base">
                                        <p:cTn id="221" dur="550" fill="hold"/>
                                        <p:tgtEl>
                                          <p:spTgt spid="45"/>
                                        </p:tgtEl>
                                        <p:attrNameLst>
                                          <p:attrName>ppt_x</p:attrName>
                                        </p:attrNameLst>
                                      </p:cBhvr>
                                      <p:tavLst>
                                        <p:tav tm="0">
                                          <p:val>
                                            <p:strVal val="#ppt_x"/>
                                          </p:val>
                                        </p:tav>
                                        <p:tav tm="100000">
                                          <p:val>
                                            <p:strVal val="#ppt_x"/>
                                          </p:val>
                                        </p:tav>
                                      </p:tavLst>
                                    </p:anim>
                                    <p:anim calcmode="lin" valueType="num">
                                      <p:cBhvr additive="base">
                                        <p:cTn id="222" dur="550" fill="hold"/>
                                        <p:tgtEl>
                                          <p:spTgt spid="4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01</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Mavzuning maqsadi va o'rganish natijalari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Mavzuning maqsadi — sun'iy intellekt yuklarini bitta tezlatkich doirasida (parallel hisoblash) va ko'plab tezlatkich hamda tugunlar bo'ylab (taqsimlangan hisoblash) tashkil etishning…</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Parallel hisoblashning asosiy tamoyillarini — Flinn tasnifi, tezlashuv va samaradorlik, Amdal va Gustafson qonunlari, kuchli va kuchsiz masshtablash — tushuntira oladi va berilgan yuk uchun…</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CUDA, OpenMP va MPI texnologiyalarining dasturlash modellarini (oqimlar iyerarxiyasi, umumiy xotira direktivalari, xabar almashish) farqlaydi va har birining SI tizimidagi o'rnini ko'rsata…</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Ma'lumotlar parallelligi, model parallelligi, tensor parallelligi va quvur (pipeline) parallelligi usullarining ishlash mexanizmini, aloqa hajmini va cheklovlarini tahlil qila oladi;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Taqsimlangan SI hisoblash muhitlarini (NCCL, PyTorch Distributed, DeepSpeed, Megatron-LM, Ray) tashkil etuvchi komponentlarni va ularning o'zaro aloqasini tavsiflay 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800" b="0">
                <a:solidFill>
                  <a:srgbClr val="1B2430"/>
                </a:solidFill>
                <a:latin typeface="Calibri"/>
              </a:rPr>
              <a:t>PyTorch DistributedDataParallel yordamida ko'p GPU li o'qitishni ishga tushirib, masshtablash samaradorligini o'lchay oladi.</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800" b="0">
                <a:solidFill>
                  <a:srgbClr val="1B2430"/>
                </a:solidFill>
                <a:latin typeface="Calibri"/>
              </a:rPr>
              <a:t>Mavzu fanning TN2 (parallel va taqsimlangan hisoblash muhitlarida SI tizimlarini ishlab chiqish) va TN5 (CUDA, OpenMP kabi vositalardan foydalanish ko'nikmasi) ta'lim natijalariga bevosita…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02</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Kirish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Neyron tarmoqlar hajmi so'nggi o'n yilda hisoblash apparatining o'sishidan ancha tez o'sdi. 2012-yilgi AlexNet 60 million parametrga ega bo'lib, ikki GPU da olti kun o'qitilgan.</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Parallellik ikki miqyosda namoyon bo'ladi. Chip ichida — GPU dagi minglab oqim, CPU dagi o'nlab yadro va SIMD bloklar — buni CUDA va OpenMP kabi texnologiyalar boshqaradi.</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Sanoat uchun bu masala bevosita pul: 1 000 GPU li klasterda masshtablash samaradorligi 90 % o'rniga 60 % bo'lsa, har uch GPU dan biri behuda ishlaydi, bu soatiga minglab dollar demakdir. Shuning uchun taqsimlangan o'qitish va inferens texnologiyalarini…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03</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Nazariy asoslar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Parallel hisoblashning asosiy tamoyillari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Flinn tasnifi (Flynn's taxonomy) hisoblash tizimlarini buyruq va ma'lumot oqimlari soniga ko'ra to'rt sinfga ajratadi: SISD (bitta buyruq, bitta ma'lumot — klassik skalyar protsessor), SIMD…</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Parallel dasturning sifatini ikki ko'rsatkich belgilaydi: tezlashuv S(p) = T(1) / T(p) — p protsessorda bajarish vaqtining bitta protsessordagi vaqtga nisbati, va samaradorlik E(p) = S(p) /…</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Gustafson qonuni boshqa nuqtai nazarni beradi: amalda protsessorlar ko'paysa, muhandis masalani kattalashtiradi (ko'proq ma'lumot, kattaroq model).</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Aloqa narxini baholash uchun oddiy model foydali: M baytli xabarni uzatish vaqti t = α + M / β, bu yerda α — kechikish (latency, InfiniBand da 1–2 mks, PCIe da 5–10 mks, Ethernet TCP 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CUDA: GPU ichidagi parallellik</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CUDA (Compute Unified Device Architecture) — NVIDIA GPU larini umumiy maqsadli hisoblash uchun dasturlash platformasi. Kirk va Hwu [5] bayon qilgan modelda dasturchi yadro (kernel) — minglab oqim parallel bajaradigan funksiya — yozadi.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CUDA dasturining samaradorligi to'rt omilga bog'liq: bandlik (occupancy — SM da bir vaqtda faol warp lar soni, xotira kechikishini yashirish uchun ko'p bo'lishi kerak), birlashgan xotira murojaati (coalescing — warp dagi 32 oqim qo'shni manzillarga murojaat…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CUDA: GPU ichidagi parallellik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 vec_add.cu — CUDA yadrosining minimal misoli</a:t>
            </a:r>
          </a:p>
          <a:p>
            <a:r>
              <a:rPr sz="1200">
                <a:solidFill>
                  <a:srgbClr val="E2E8F0"/>
                </a:solidFill>
                <a:latin typeface="Consolas"/>
              </a:rPr>
              <a:t>__global__ void vec_add(const float* a, const float* b, float* c, int n) {</a:t>
            </a:r>
          </a:p>
          <a:p>
            <a:r>
              <a:rPr sz="1200">
                <a:solidFill>
                  <a:srgbClr val="E2E8F0"/>
                </a:solidFill>
                <a:latin typeface="Consolas"/>
              </a:rPr>
              <a:t>    int i = blockIdx.x * blockDim.x + threadIdx.x;   // global indeks</a:t>
            </a:r>
          </a:p>
          <a:p>
            <a:r>
              <a:rPr sz="1200">
                <a:solidFill>
                  <a:srgbClr val="E2E8F0"/>
                </a:solidFill>
                <a:latin typeface="Consolas"/>
              </a:rPr>
              <a:t>    if (i &lt; n) c[i] = a[i] + b[i];</a:t>
            </a:r>
          </a:p>
          <a:p>
            <a:r>
              <a:rPr sz="1200">
                <a:solidFill>
                  <a:srgbClr val="E2E8F0"/>
                </a:solidFill>
                <a:latin typeface="Consolas"/>
              </a:rPr>
              <a:t>}</a:t>
            </a:r>
          </a:p>
          <a:p>
            <a:r>
              <a:rPr sz="1200">
                <a:solidFill>
                  <a:srgbClr val="E2E8F0"/>
                </a:solidFill>
                <a:latin typeface="Consolas"/>
              </a:rPr>
              <a:t>// chaqirish: 256 oqimli bloklar, n ni qoplash uchun yetarli bloklar</a:t>
            </a:r>
          </a:p>
          <a:p>
            <a:r>
              <a:rPr sz="1200">
                <a:solidFill>
                  <a:srgbClr val="E2E8F0"/>
                </a:solidFill>
                <a:latin typeface="Consolas"/>
              </a:rPr>
              <a:t>// vec_add&lt;&lt;&lt;(n + 255) / 256, 256&gt;&gt;&gt;(d_a, d_b, d_c, 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OpenMP: umumiy xotirali parallellik</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OpenMP — C, C++ va Fortran uchun kompilyator direktivalari to'plami bo'lib, umumiy xotirali ko'p yadroli tizimda (bitta server) oqimlar darajasidagi parallellikni beradi.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OpenMP ning asosiy tushunchalari: parallel hudud (fork-join modeli), ish taqsimoti (for, sections, task), ma'lumot muhiti (shared, private, reduction) va sinxronizatsiya (critical, atomic, barrier). OpenMP 4.0 dan boshlab target direktivalari orqali GPU ga…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OpenMP: umumiy xotirali parallellik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400">
                <a:solidFill>
                  <a:srgbClr val="E2E8F0"/>
                </a:solidFill>
                <a:latin typeface="Consolas"/>
              </a:rPr>
              <a:t>// omp_dot.c — OpenMP bilan skalyar ko'paytma; gcc -fopenmp omp_dot.c</a:t>
            </a:r>
          </a:p>
          <a:p>
            <a:r>
              <a:rPr sz="1400">
                <a:solidFill>
                  <a:srgbClr val="E2E8F0"/>
                </a:solidFill>
                <a:latin typeface="Consolas"/>
              </a:rPr>
              <a:t>double dot(const float* a, const float* b, long n) {</a:t>
            </a:r>
          </a:p>
          <a:p>
            <a:r>
              <a:rPr sz="1400">
                <a:solidFill>
                  <a:srgbClr val="E2E8F0"/>
                </a:solidFill>
                <a:latin typeface="Consolas"/>
              </a:rPr>
              <a:t>    double s = 0.0;</a:t>
            </a:r>
          </a:p>
          <a:p>
            <a:r>
              <a:rPr sz="1400">
                <a:solidFill>
                  <a:srgbClr val="7FD6D7"/>
                </a:solidFill>
                <a:latin typeface="Consolas"/>
              </a:rPr>
              <a:t>    #pragma omp parallel for reduction(+:s) schedule(static)</a:t>
            </a:r>
          </a:p>
          <a:p>
            <a:r>
              <a:rPr sz="1400">
                <a:solidFill>
                  <a:srgbClr val="E2E8F0"/>
                </a:solidFill>
                <a:latin typeface="Consolas"/>
              </a:rPr>
              <a:t>    for (long i = 0; i &lt; n; i++) s += (double)a[i] * b[i];</a:t>
            </a:r>
          </a:p>
          <a:p>
            <a:r>
              <a:rPr sz="1400">
                <a:solidFill>
                  <a:srgbClr val="E2E8F0"/>
                </a:solidFill>
                <a:latin typeface="Consolas"/>
              </a:rPr>
              <a:t>    return s;</a:t>
            </a:r>
          </a:p>
          <a:p>
            <a:r>
              <a:rPr sz="1400">
                <a:solidFill>
                  <a:srgbClr val="E2E8F0"/>
                </a:solidFill>
                <a:latin typeface="Consolas"/>
              </a:rPr>
              <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MPI: taqsimlangan xotirali parallellik</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MPI (Message Passing Interface) — alohida xotirali jarayonlar o'rtasida xabar almashish standarti, 1994-yildan beri HPC ning asosiy vositasi. Har jarayon o'z rank iga ega, umumiy xotira yo'q, barcha almashinuv aniq chaqiruvlar orqali: nuqta-nuqta…</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All-reduce ni samarali bajarish alohida fan. Sodda usul — hamma rank 0 ga yuboradi, u yig'ib qaytaradi — rank 0 da (p−1) × M bayt trafik hosil qiladi va masshtablanmaydi.</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SI amaliyotida MPI ko'pincha bevosita ko'rinmaydi, lekin uning modeli saqlanadi: PyTorch Distributed rank, world_size, all_reduce atamalarini aynan MPI dan olgan; Horovod MPI ustida…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MPI: taqsimlangan xotirali parallellik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mpi_allreduce.py — mpi4py bilan gradientlarni o'rtachalash; mpirun -np 4 python mpi_allreduce.py</a:t>
            </a:r>
          </a:p>
          <a:p>
            <a:r>
              <a:rPr sz="1000">
                <a:solidFill>
                  <a:srgbClr val="E2E8F0"/>
                </a:solidFill>
                <a:latin typeface="Consolas"/>
              </a:rPr>
              <a:t>from mpi4py import MPI</a:t>
            </a:r>
          </a:p>
          <a:p>
            <a:r>
              <a:rPr sz="1000">
                <a:solidFill>
                  <a:srgbClr val="E2E8F0"/>
                </a:solidFill>
                <a:latin typeface="Consolas"/>
              </a:rPr>
              <a:t>import numpy as np</a:t>
            </a:r>
          </a:p>
          <a:p>
            <a:r>
              <a:rPr sz="1000">
                <a:solidFill>
                  <a:srgbClr val="E2E8F0"/>
                </a:solidFill>
                <a:latin typeface="Consolas"/>
              </a:rPr>
              <a:t>comm = MPI.COMM_WORLD; rank, size = comm.Get_rank(), comm.Get_size()</a:t>
            </a:r>
          </a:p>
          <a:p>
            <a:r>
              <a:rPr sz="1000">
                <a:solidFill>
                  <a:srgbClr val="E2E8F0"/>
                </a:solidFill>
                <a:latin typeface="Consolas"/>
              </a:rPr>
              <a:t>grad = np.full(1_000_000, rank, dtype=np.float32)        # har rank o'z «gradienti»</a:t>
            </a:r>
          </a:p>
          <a:p>
            <a:r>
              <a:rPr sz="1000">
                <a:solidFill>
                  <a:srgbClr val="E2E8F0"/>
                </a:solidFill>
                <a:latin typeface="Consolas"/>
              </a:rPr>
              <a:t>avg = np.empty_like(grad)</a:t>
            </a:r>
          </a:p>
          <a:p>
            <a:r>
              <a:rPr sz="1000">
                <a:solidFill>
                  <a:srgbClr val="E2E8F0"/>
                </a:solidFill>
                <a:latin typeface="Consolas"/>
              </a:rPr>
              <a:t>comm.Allreduce(grad, avg, op=MPI.SUM); avg /= size</a:t>
            </a:r>
          </a:p>
          <a:p>
            <a:r>
              <a:rPr sz="1000">
                <a:solidFill>
                  <a:srgbClr val="E2E8F0"/>
                </a:solidFill>
                <a:latin typeface="Consolas"/>
              </a:rPr>
              <a:t>if rank == 0: print("o'rtacha:", avg[0], "kutilgan:", (size - 1) / 2)</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Ma'lumotlar va model parallelligi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Neyron tarmoqni taqsimlashning ikki asosiy o'qi bor: ma'lumotni bo'lish yoki modelni bo'lish.</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Ma'lumotlar parallelligi (data parallelism, DP) — eng sodda va eng keng tarqalgan usul.</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Bu cheklovni ZeRO (Zero Redundancy Optimizer; Rajbhandari va hammualliflar, SC 2020, Microsoft DeepSpeed) yumshatadi: optimizator holati (ZeRO-1), gradientlar (ZeRO-2) va parametrlar…</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Model parallelligi (model parallelism) — model qismlari turli GPU larga joylashtiriladi; har GPU faqat o'z qismini saqlaydi va hisoblaydi.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Tensor va Pipeline parallelism</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Tensor parallelligi (tensor parallelism, TP) bitta qatlamni, ya'ni bitta matritsa ko'paytirishni GPU lar o'rtasida bo'ladi. Megatron-LM (Shoeybi va hammualliflar, 2019, NVIDIA) transformer uchun samarali sxemani taklif qildi: MLP blokidagi birinchi chiziqli…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Quvur parallelligi (pipeline parallelism, PP) modelni qatlamlar bo'yicha ketma-ket bosqichlarga (stage) bo'ladi: 1–8-qatlamlar GPU 0 da, 9–16-qatlamlar GPU 1 da va hokazo. Bosqichlar o'rtasida faqat chegara aktivatsiyalari (nuqta-nuqta) uzatiladi — bu TP dan…</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Amalda uchala o'q birlashtiriladi — 3D parallellik: TP server ichida (NVLink, 8 GPU), PP serverlar guruhi bo'ylab, DP (yoki ZeRO) eng tashqi darajada. Megatron-Turing NLG 530B (2021) 560 ta DGX A100 da TP = 8, PP = 35, DP = 12 konfiguratsiyasida o'qitilgan.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Tensor va Pipeline parallelism</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200" b="1">
                          <a:solidFill>
                            <a:srgbClr val="FFFFFF"/>
                          </a:solidFill>
                          <a:latin typeface="Calibri"/>
                        </a:rPr>
                        <a:t>Strategiya</a:t>
                      </a:r>
                    </a:p>
                  </a:txBody>
                  <a:tcPr>
                    <a:solidFill>
                      <a:srgbClr val="2D5C8F"/>
                    </a:solidFill>
                  </a:tcPr>
                </a:tc>
                <a:tc>
                  <a:txBody>
                    <a:bodyPr/>
                    <a:lstStyle/>
                    <a:p>
                      <a:r>
                        <a:rPr sz="1200" b="1">
                          <a:solidFill>
                            <a:srgbClr val="FFFFFF"/>
                          </a:solidFill>
                          <a:latin typeface="Calibri"/>
                        </a:rPr>
                        <a:t>Nima bo'linadi</a:t>
                      </a:r>
                    </a:p>
                  </a:txBody>
                  <a:tcPr>
                    <a:solidFill>
                      <a:srgbClr val="2D5C8F"/>
                    </a:solidFill>
                  </a:tcPr>
                </a:tc>
                <a:tc>
                  <a:txBody>
                    <a:bodyPr/>
                    <a:lstStyle/>
                    <a:p>
                      <a:r>
                        <a:rPr sz="1200" b="1">
                          <a:solidFill>
                            <a:srgbClr val="FFFFFF"/>
                          </a:solidFill>
                          <a:latin typeface="Calibri"/>
                        </a:rPr>
                        <a:t>Aloqa turi va hajmi</a:t>
                      </a:r>
                    </a:p>
                  </a:txBody>
                  <a:tcPr>
                    <a:solidFill>
                      <a:srgbClr val="2D5C8F"/>
                    </a:solidFill>
                  </a:tcPr>
                </a:tc>
                <a:tc>
                  <a:txBody>
                    <a:bodyPr/>
                    <a:lstStyle/>
                    <a:p>
                      <a:r>
                        <a:rPr sz="1200" b="1">
                          <a:solidFill>
                            <a:srgbClr val="FFFFFF"/>
                          </a:solidFill>
                          <a:latin typeface="Calibri"/>
                        </a:rPr>
                        <a:t>Qayerda ishlaydi</a:t>
                      </a:r>
                    </a:p>
                  </a:txBody>
                  <a:tcPr>
                    <a:solidFill>
                      <a:srgbClr val="2D5C8F"/>
                    </a:solidFill>
                  </a:tcPr>
                </a:tc>
                <a:tc>
                  <a:txBody>
                    <a:bodyPr/>
                    <a:lstStyle/>
                    <a:p>
                      <a:r>
                        <a:rPr sz="1200" b="1">
                          <a:solidFill>
                            <a:srgbClr val="FFFFFF"/>
                          </a:solidFill>
                          <a:latin typeface="Calibri"/>
                        </a:rPr>
                        <a:t>Asosiy cheklov</a:t>
                      </a:r>
                    </a:p>
                  </a:txBody>
                  <a:tcPr>
                    <a:solidFill>
                      <a:srgbClr val="2D5C8F"/>
                    </a:solidFill>
                  </a:tcPr>
                </a:tc>
              </a:tr>
              <a:tr h="520000">
                <a:tc>
                  <a:txBody>
                    <a:bodyPr/>
                    <a:lstStyle/>
                    <a:p>
                      <a:r>
                        <a:rPr sz="1200" b="0">
                          <a:solidFill>
                            <a:srgbClr val="1B2430"/>
                          </a:solidFill>
                          <a:latin typeface="Calibri"/>
                        </a:rPr>
                        <a:t>Ma'lumot (DP)</a:t>
                      </a:r>
                    </a:p>
                  </a:txBody>
                  <a:tcPr>
                    <a:solidFill>
                      <a:srgbClr val="F1F4F8"/>
                    </a:solidFill>
                  </a:tcPr>
                </a:tc>
                <a:tc>
                  <a:txBody>
                    <a:bodyPr/>
                    <a:lstStyle/>
                    <a:p>
                      <a:r>
                        <a:rPr sz="1200" b="0">
                          <a:solidFill>
                            <a:srgbClr val="1B2430"/>
                          </a:solidFill>
                          <a:latin typeface="Calibri"/>
                        </a:rPr>
                        <a:t>Paket</a:t>
                      </a:r>
                    </a:p>
                  </a:txBody>
                  <a:tcPr>
                    <a:solidFill>
                      <a:srgbClr val="F1F4F8"/>
                    </a:solidFill>
                  </a:tcPr>
                </a:tc>
                <a:tc>
                  <a:txBody>
                    <a:bodyPr/>
                    <a:lstStyle/>
                    <a:p>
                      <a:r>
                        <a:rPr sz="1200" b="0">
                          <a:solidFill>
                            <a:srgbClr val="1B2430"/>
                          </a:solidFill>
                          <a:latin typeface="Calibri"/>
                        </a:rPr>
                        <a:t>All-reduce, gradient hajmi, iteratsiyada 1 marta</a:t>
                      </a:r>
                    </a:p>
                  </a:txBody>
                  <a:tcPr>
                    <a:solidFill>
                      <a:srgbClr val="F1F4F8"/>
                    </a:solidFill>
                  </a:tcPr>
                </a:tc>
                <a:tc>
                  <a:txBody>
                    <a:bodyPr/>
                    <a:lstStyle/>
                    <a:p>
                      <a:r>
                        <a:rPr sz="1200" b="0">
                          <a:solidFill>
                            <a:srgbClr val="1B2430"/>
                          </a:solidFill>
                          <a:latin typeface="Calibri"/>
                        </a:rPr>
                        <a:t>Har qanday (NVLink, IB, Ethernet)</a:t>
                      </a:r>
                    </a:p>
                  </a:txBody>
                  <a:tcPr>
                    <a:solidFill>
                      <a:srgbClr val="F1F4F8"/>
                    </a:solidFill>
                  </a:tcPr>
                </a:tc>
                <a:tc>
                  <a:txBody>
                    <a:bodyPr/>
                    <a:lstStyle/>
                    <a:p>
                      <a:r>
                        <a:rPr sz="1200" b="0">
                          <a:solidFill>
                            <a:srgbClr val="1B2430"/>
                          </a:solidFill>
                          <a:latin typeface="Calibri"/>
                        </a:rPr>
                        <a:t>Model 1 GPU ga sig'ishi kerak</a:t>
                      </a:r>
                    </a:p>
                  </a:txBody>
                  <a:tcPr>
                    <a:solidFill>
                      <a:srgbClr val="F1F4F8"/>
                    </a:solidFill>
                  </a:tcPr>
                </a:tc>
              </a:tr>
              <a:tr h="520000">
                <a:tc>
                  <a:txBody>
                    <a:bodyPr/>
                    <a:lstStyle/>
                    <a:p>
                      <a:r>
                        <a:rPr sz="1200" b="0">
                          <a:solidFill>
                            <a:srgbClr val="1B2430"/>
                          </a:solidFill>
                          <a:latin typeface="Calibri"/>
                        </a:rPr>
                        <a:t>ZeRO/FSDP</a:t>
                      </a:r>
                    </a:p>
                  </a:txBody>
                  <a:tcPr>
                    <a:solidFill>
                      <a:srgbClr val="FFFFFF"/>
                    </a:solidFill>
                  </a:tcPr>
                </a:tc>
                <a:tc>
                  <a:txBody>
                    <a:bodyPr/>
                    <a:lstStyle/>
                    <a:p>
                      <a:r>
                        <a:rPr sz="1200" b="0">
                          <a:solidFill>
                            <a:srgbClr val="1B2430"/>
                          </a:solidFill>
                          <a:latin typeface="Calibri"/>
                        </a:rPr>
                        <a:t>Paket + holatlar bo'lib saqlanadi</a:t>
                      </a:r>
                    </a:p>
                  </a:txBody>
                  <a:tcPr>
                    <a:solidFill>
                      <a:srgbClr val="FFFFFF"/>
                    </a:solidFill>
                  </a:tcPr>
                </a:tc>
                <a:tc>
                  <a:txBody>
                    <a:bodyPr/>
                    <a:lstStyle/>
                    <a:p>
                      <a:r>
                        <a:rPr sz="1200" b="0">
                          <a:solidFill>
                            <a:srgbClr val="1B2430"/>
                          </a:solidFill>
                          <a:latin typeface="Calibri"/>
                        </a:rPr>
                        <a:t>All-gather + reduce-scatter, ~1,5× DP</a:t>
                      </a:r>
                    </a:p>
                  </a:txBody>
                  <a:tcPr>
                    <a:solidFill>
                      <a:srgbClr val="FFFFFF"/>
                    </a:solidFill>
                  </a:tcPr>
                </a:tc>
                <a:tc>
                  <a:txBody>
                    <a:bodyPr/>
                    <a:lstStyle/>
                    <a:p>
                      <a:r>
                        <a:rPr sz="1200" b="0">
                          <a:solidFill>
                            <a:srgbClr val="1B2430"/>
                          </a:solidFill>
                          <a:latin typeface="Calibri"/>
                        </a:rPr>
                        <a:t>NVLink, IB</a:t>
                      </a:r>
                    </a:p>
                  </a:txBody>
                  <a:tcPr>
                    <a:solidFill>
                      <a:srgbClr val="FFFFFF"/>
                    </a:solidFill>
                  </a:tcPr>
                </a:tc>
                <a:tc>
                  <a:txBody>
                    <a:bodyPr/>
                    <a:lstStyle/>
                    <a:p>
                      <a:r>
                        <a:rPr sz="1200" b="0">
                          <a:solidFill>
                            <a:srgbClr val="1B2430"/>
                          </a:solidFill>
                          <a:latin typeface="Calibri"/>
                        </a:rPr>
                        <a:t>Aloqa oshadi, kichik paketda samarasiz</a:t>
                      </a:r>
                    </a:p>
                  </a:txBody>
                  <a:tcPr>
                    <a:solidFill>
                      <a:srgbClr val="FFFFFF"/>
                    </a:solidFill>
                  </a:tcPr>
                </a:tc>
              </a:tr>
              <a:tr h="520000">
                <a:tc>
                  <a:txBody>
                    <a:bodyPr/>
                    <a:lstStyle/>
                    <a:p>
                      <a:r>
                        <a:rPr sz="1200" b="0">
                          <a:solidFill>
                            <a:srgbClr val="1B2430"/>
                          </a:solidFill>
                          <a:latin typeface="Calibri"/>
                        </a:rPr>
                        <a:t>Tensor (TP)</a:t>
                      </a:r>
                    </a:p>
                  </a:txBody>
                  <a:tcPr>
                    <a:solidFill>
                      <a:srgbClr val="F1F4F8"/>
                    </a:solidFill>
                  </a:tcPr>
                </a:tc>
                <a:tc>
                  <a:txBody>
                    <a:bodyPr/>
                    <a:lstStyle/>
                    <a:p>
                      <a:r>
                        <a:rPr sz="1200" b="0">
                          <a:solidFill>
                            <a:srgbClr val="1B2430"/>
                          </a:solidFill>
                          <a:latin typeface="Calibri"/>
                        </a:rPr>
                        <a:t>Qatlam ichidagi matritsa</a:t>
                      </a:r>
                    </a:p>
                  </a:txBody>
                  <a:tcPr>
                    <a:solidFill>
                      <a:srgbClr val="F1F4F8"/>
                    </a:solidFill>
                  </a:tcPr>
                </a:tc>
                <a:tc>
                  <a:txBody>
                    <a:bodyPr/>
                    <a:lstStyle/>
                    <a:p>
                      <a:r>
                        <a:rPr sz="1200" b="0">
                          <a:solidFill>
                            <a:srgbClr val="1B2430"/>
                          </a:solidFill>
                          <a:latin typeface="Calibri"/>
                        </a:rPr>
                        <a:t>All-reduce, aktivatsiya hajmi, har qatlamda</a:t>
                      </a:r>
                    </a:p>
                  </a:txBody>
                  <a:tcPr>
                    <a:solidFill>
                      <a:srgbClr val="F1F4F8"/>
                    </a:solidFill>
                  </a:tcPr>
                </a:tc>
                <a:tc>
                  <a:txBody>
                    <a:bodyPr/>
                    <a:lstStyle/>
                    <a:p>
                      <a:r>
                        <a:rPr sz="1200" b="0">
                          <a:solidFill>
                            <a:srgbClr val="1B2430"/>
                          </a:solidFill>
                          <a:latin typeface="Calibri"/>
                        </a:rPr>
                        <a:t>Faqat NVLink (server ichi)</a:t>
                      </a:r>
                    </a:p>
                  </a:txBody>
                  <a:tcPr>
                    <a:solidFill>
                      <a:srgbClr val="F1F4F8"/>
                    </a:solidFill>
                  </a:tcPr>
                </a:tc>
                <a:tc>
                  <a:txBody>
                    <a:bodyPr/>
                    <a:lstStyle/>
                    <a:p>
                      <a:r>
                        <a:rPr sz="1200" b="0">
                          <a:solidFill>
                            <a:srgbClr val="1B2430"/>
                          </a:solidFill>
                          <a:latin typeface="Calibri"/>
                        </a:rPr>
                        <a:t>Interkonnekt tezligi</a:t>
                      </a:r>
                    </a:p>
                  </a:txBody>
                  <a:tcPr>
                    <a:solidFill>
                      <a:srgbClr val="F1F4F8"/>
                    </a:solidFill>
                  </a:tcPr>
                </a:tc>
              </a:tr>
              <a:tr h="520000">
                <a:tc>
                  <a:txBody>
                    <a:bodyPr/>
                    <a:lstStyle/>
                    <a:p>
                      <a:r>
                        <a:rPr sz="1200" b="0">
                          <a:solidFill>
                            <a:srgbClr val="1B2430"/>
                          </a:solidFill>
                          <a:latin typeface="Calibri"/>
                        </a:rPr>
                        <a:t>Quvur (PP)</a:t>
                      </a:r>
                    </a:p>
                  </a:txBody>
                  <a:tcPr>
                    <a:solidFill>
                      <a:srgbClr val="FFFFFF"/>
                    </a:solidFill>
                  </a:tcPr>
                </a:tc>
                <a:tc>
                  <a:txBody>
                    <a:bodyPr/>
                    <a:lstStyle/>
                    <a:p>
                      <a:r>
                        <a:rPr sz="1200" b="0">
                          <a:solidFill>
                            <a:srgbClr val="1B2430"/>
                          </a:solidFill>
                          <a:latin typeface="Calibri"/>
                        </a:rPr>
                        <a:t>Qatlamlar guruhi</a:t>
                      </a:r>
                    </a:p>
                  </a:txBody>
                  <a:tcPr>
                    <a:solidFill>
                      <a:srgbClr val="FFFFFF"/>
                    </a:solidFill>
                  </a:tcPr>
                </a:tc>
                <a:tc>
                  <a:txBody>
                    <a:bodyPr/>
                    <a:lstStyle/>
                    <a:p>
                      <a:r>
                        <a:rPr sz="1200" b="0">
                          <a:solidFill>
                            <a:srgbClr val="1B2430"/>
                          </a:solidFill>
                          <a:latin typeface="Calibri"/>
                        </a:rPr>
                        <a:t>Nuqta-nuqta, chegara aktivatsiyalari</a:t>
                      </a:r>
                    </a:p>
                  </a:txBody>
                  <a:tcPr>
                    <a:solidFill>
                      <a:srgbClr val="FFFFFF"/>
                    </a:solidFill>
                  </a:tcPr>
                </a:tc>
                <a:tc>
                  <a:txBody>
                    <a:bodyPr/>
                    <a:lstStyle/>
                    <a:p>
                      <a:r>
                        <a:rPr sz="1200" b="0">
                          <a:solidFill>
                            <a:srgbClr val="1B2430"/>
                          </a:solidFill>
                          <a:latin typeface="Calibri"/>
                        </a:rPr>
                        <a:t>Server ichi va orasida</a:t>
                      </a:r>
                    </a:p>
                  </a:txBody>
                  <a:tcPr>
                    <a:solidFill>
                      <a:srgbClr val="FFFFFF"/>
                    </a:solidFill>
                  </a:tcPr>
                </a:tc>
                <a:tc>
                  <a:txBody>
                    <a:bodyPr/>
                    <a:lstStyle/>
                    <a:p>
                      <a:r>
                        <a:rPr sz="1200" b="0">
                          <a:solidFill>
                            <a:srgbClr val="1B2430"/>
                          </a:solidFill>
                          <a:latin typeface="Calibri"/>
                        </a:rPr>
                        <a:t>Pufak, muvozanatsiz bosqichlar</a:t>
                      </a:r>
                    </a:p>
                  </a:txBody>
                  <a:tcPr>
                    <a:solidFill>
                      <a:srgbClr val="FFFFFF"/>
                    </a:solidFill>
                  </a:tcPr>
                </a:tc>
              </a:tr>
              <a:tr h="520000">
                <a:tc>
                  <a:txBody>
                    <a:bodyPr/>
                    <a:lstStyle/>
                    <a:p>
                      <a:r>
                        <a:rPr sz="1200" b="0">
                          <a:solidFill>
                            <a:srgbClr val="1B2430"/>
                          </a:solidFill>
                          <a:latin typeface="Calibri"/>
                        </a:rPr>
                        <a:t>Ekspert (MoE)</a:t>
                      </a:r>
                    </a:p>
                  </a:txBody>
                  <a:tcPr>
                    <a:solidFill>
                      <a:srgbClr val="F1F4F8"/>
                    </a:solidFill>
                  </a:tcPr>
                </a:tc>
                <a:tc>
                  <a:txBody>
                    <a:bodyPr/>
                    <a:lstStyle/>
                    <a:p>
                      <a:r>
                        <a:rPr sz="1200" b="0">
                          <a:solidFill>
                            <a:srgbClr val="1B2430"/>
                          </a:solidFill>
                          <a:latin typeface="Calibri"/>
                        </a:rPr>
                        <a:t>Ekspert MLP lar</a:t>
                      </a:r>
                    </a:p>
                  </a:txBody>
                  <a:tcPr>
                    <a:solidFill>
                      <a:srgbClr val="F1F4F8"/>
                    </a:solidFill>
                  </a:tcPr>
                </a:tc>
                <a:tc>
                  <a:txBody>
                    <a:bodyPr/>
                    <a:lstStyle/>
                    <a:p>
                      <a:r>
                        <a:rPr sz="1200" b="0">
                          <a:solidFill>
                            <a:srgbClr val="1B2430"/>
                          </a:solidFill>
                          <a:latin typeface="Calibri"/>
                        </a:rPr>
                        <a:t>All-to-all, token marshruti</a:t>
                      </a:r>
                    </a:p>
                  </a:txBody>
                  <a:tcPr>
                    <a:solidFill>
                      <a:srgbClr val="F1F4F8"/>
                    </a:solidFill>
                  </a:tcPr>
                </a:tc>
                <a:tc>
                  <a:txBody>
                    <a:bodyPr/>
                    <a:lstStyle/>
                    <a:p>
                      <a:r>
                        <a:rPr sz="1200" b="0">
                          <a:solidFill>
                            <a:srgbClr val="1B2430"/>
                          </a:solidFill>
                          <a:latin typeface="Calibri"/>
                        </a:rPr>
                        <a:t>IB</a:t>
                      </a:r>
                    </a:p>
                  </a:txBody>
                  <a:tcPr>
                    <a:solidFill>
                      <a:srgbClr val="F1F4F8"/>
                    </a:solidFill>
                  </a:tcPr>
                </a:tc>
                <a:tc>
                  <a:txBody>
                    <a:bodyPr/>
                    <a:lstStyle/>
                    <a:p>
                      <a:r>
                        <a:rPr sz="1200" b="0">
                          <a:solidFill>
                            <a:srgbClr val="1B2430"/>
                          </a:solidFill>
                          <a:latin typeface="Calibri"/>
                        </a:rPr>
                        <a:t>Yuk muvozanati</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Taqsimlangan AI hisoblash muhitlari va yuqori unumdor tizimlarni tashkil etish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Taqsimlangan SI muhiti bir necha qatlamdan iborat. Kollektiv aloqa qatlami: NCCL (NVIDIA), RCCL (AMD), oneCCL (Intel), Gloo (CPU) — topologiyani aniqlab, optimal algoritmni tanlaydi.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Yuqori unumdor AI tizimini tashkil etishda apparat tomonida to'rt qaror hal qiluvchi. Interkonnekt topologiyasi: server ichida NVSwitch (har GPU juftligi to'liq tezlikda), serverlar orasida InfiniBand NDR 400 Gbit/s yoki RoCE Ethernet, «fat-tree» yoki…</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Dasturiy tomonda masshtablash samaradorligini saqlash uchun: aloqani hisoblash bilan ustma-ust qo'yish, gradient to'plash (gradient accumulation) bilan paketni kattalashtirish, aloqa aniqligini kamaytirish (FP16/BF16 gradientlar, siqish), ma'lumot yuklash…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04</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Amaliy misol</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9" name="Rounded Rectangle 8"/>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Vazifa: PyTorch DistributedDataParallel yordamida ResNet-50 ni sintetik ma'lumotda bir nechta GPU da o'qitish, 1, 2, 4 (va mavjud bo'lsa 8) GPU uchun o'tkazuvchanlikni o'lchash, masshtablash samaradorligini hisoblash va gradient aloqasining ulushini baholash.…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O'qitish skripti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Ishga tushirish (bitta server, 4 GPU):</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torchrun har GPU uchun alohida jarayon yaratib, RANK, WORLD_SIZE, LOCAL_RANK, MASTER_ADDR muhit o'zgaruvchilarini beradi — bu MPI modelining PyTorch dagi ifodasi. DDP o'rami orqaga o'tish paytida gradientlar tayyor bo'lgan sari ularni 25…</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O'qitish skripti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ddp_train.py — DDP bilan ResNet-50 (sintetik ma'lumot); torchrun --nproc_per_node=4 ddp_train.py</a:t>
            </a:r>
          </a:p>
          <a:p>
            <a:r>
              <a:rPr sz="1000">
                <a:solidFill>
                  <a:srgbClr val="E2E8F0"/>
                </a:solidFill>
                <a:latin typeface="Consolas"/>
              </a:rPr>
              <a:t>import os, time, argparse, torch, torch.nn as nn, torch.distributed as dist</a:t>
            </a:r>
          </a:p>
          <a:p>
            <a:r>
              <a:rPr sz="1000">
                <a:solidFill>
                  <a:srgbClr val="E2E8F0"/>
                </a:solidFill>
                <a:latin typeface="Consolas"/>
              </a:rPr>
              <a:t>import torchvision</a:t>
            </a:r>
          </a:p>
          <a:p>
            <a:r>
              <a:rPr sz="1000">
                <a:solidFill>
                  <a:srgbClr val="E2E8F0"/>
                </a:solidFill>
                <a:latin typeface="Consolas"/>
              </a:rPr>
              <a:t>from torch.nn.parallel import DistributedDataParallel as DDP</a:t>
            </a:r>
          </a:p>
          <a:p>
            <a:r>
              <a:rPr sz="1000">
                <a:solidFill>
                  <a:srgbClr val="E2E8F0"/>
                </a:solidFill>
                <a:latin typeface="Consolas"/>
              </a:rPr>
              <a:t> </a:t>
            </a:r>
          </a:p>
          <a:p>
            <a:r>
              <a:rPr sz="1000">
                <a:solidFill>
                  <a:srgbClr val="E2E8F0"/>
                </a:solidFill>
                <a:latin typeface="Consolas"/>
              </a:rPr>
              <a:t>p = argparse.ArgumentParser()</a:t>
            </a:r>
          </a:p>
          <a:p>
            <a:r>
              <a:rPr sz="1000">
                <a:solidFill>
                  <a:srgbClr val="E2E8F0"/>
                </a:solidFill>
                <a:latin typeface="Consolas"/>
              </a:rPr>
              <a:t>p.add_argument("--batch", type=int, default=64)        # GPU boshiga mikro-paket</a:t>
            </a:r>
          </a:p>
          <a:p>
            <a:r>
              <a:rPr sz="1000">
                <a:solidFill>
                  <a:srgbClr val="E2E8F0"/>
                </a:solidFill>
                <a:latin typeface="Consolas"/>
              </a:rPr>
              <a:t>p.add_argument("--iters", type=int, default=100)</a:t>
            </a:r>
          </a:p>
          <a:p>
            <a:r>
              <a:rPr sz="1000">
                <a:solidFill>
                  <a:srgbClr val="E2E8F0"/>
                </a:solidFill>
                <a:latin typeface="Consolas"/>
              </a:rPr>
              <a:t>p.add_argument("--amp", action="store_true")           # aralash aniqlik</a:t>
            </a:r>
          </a:p>
          <a:p>
            <a:r>
              <a:rPr sz="1000">
                <a:solidFill>
                  <a:srgbClr val="E2E8F0"/>
                </a:solidFill>
                <a:latin typeface="Consolas"/>
              </a:rPr>
              <a:t>p.add_argument("--backend", default="nccl")</a:t>
            </a:r>
          </a:p>
          <a:p>
            <a:r>
              <a:rPr sz="1000">
                <a:solidFill>
                  <a:srgbClr val="E2E8F0"/>
                </a:solidFill>
                <a:latin typeface="Consolas"/>
              </a:rPr>
              <a:t>args = p.parse_args()</a:t>
            </a:r>
          </a:p>
          <a:p>
            <a:r>
              <a:rPr sz="1000">
                <a:solidFill>
                  <a:srgbClr val="E2E8F0"/>
                </a:solidFill>
                <a:latin typeface="Consolas"/>
              </a:rPr>
              <a:t> </a:t>
            </a:r>
          </a:p>
          <a:p>
            <a:r>
              <a:rPr sz="1000">
                <a:solidFill>
                  <a:srgbClr val="E2E8F0"/>
                </a:solidFill>
                <a:latin typeface="Consolas"/>
              </a:rPr>
              <a:t>dist.init_process_group(args.backend)                  # torchrun env: RANK, WORLD_SIZE, MASTER_ADDR</a:t>
            </a:r>
          </a:p>
          <a:p>
            <a:r>
              <a:rPr sz="1000">
                <a:solidFill>
                  <a:srgbClr val="E2E8F0"/>
                </a:solidFill>
                <a:latin typeface="Consolas"/>
              </a:rPr>
              <a:t>rank, world = dist.get_rank(), dist.get_world_size()</a:t>
            </a:r>
          </a:p>
          <a:p>
            <a:r>
              <a:rPr sz="1000">
                <a:solidFill>
                  <a:srgbClr val="E2E8F0"/>
                </a:solidFill>
                <a:latin typeface="Consolas"/>
              </a:rPr>
              <a:t>local_rank = int(os.environ.get("LOCAL_RANK", 0))</a:t>
            </a:r>
          </a:p>
          <a:p>
            <a:r>
              <a:rPr sz="1000">
                <a:solidFill>
                  <a:srgbClr val="E2E8F0"/>
                </a:solidFill>
                <a:latin typeface="Consolas"/>
              </a:rPr>
              <a:t>dev = torch.device("cuda", local_rank) if args.backend == "nccl" else torch.device("cpu")</a:t>
            </a:r>
          </a:p>
          <a:p>
            <a:r>
              <a:rPr sz="1000">
                <a:solidFill>
                  <a:srgbClr val="E2E8F0"/>
                </a:solidFill>
                <a:latin typeface="Consolas"/>
              </a:rPr>
              <a:t>if dev.type == "cuda": torch.cuda.set_device(dev)</a:t>
            </a:r>
          </a:p>
          <a:p>
            <a:r>
              <a:rPr sz="1000">
                <a:solidFill>
                  <a:srgbClr val="E2E8F0"/>
                </a:solidFill>
                <a:latin typeface="Consolas"/>
              </a:rPr>
              <a:t> </a:t>
            </a:r>
          </a:p>
          <a:p>
            <a:r>
              <a:rPr sz="1000">
                <a:solidFill>
                  <a:srgbClr val="E2E8F0"/>
                </a:solidFill>
                <a:latin typeface="Consolas"/>
              </a:rPr>
              <a:t>model = torchvision.models.resnet50(weights=None).to(dev)</a:t>
            </a:r>
          </a:p>
          <a:p>
            <a:r>
              <a:rPr sz="1000">
                <a:solidFill>
                  <a:srgbClr val="E2E8F0"/>
                </a:solidFill>
                <a:latin typeface="Consolas"/>
              </a:rPr>
              <a:t>model = DDP(model, device_ids=[local_rank] if dev.type == "cuda" else None,</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O'qitish skripti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torchrun --nproc_per_node=1 ddp_train.py --amp</a:t>
            </a:r>
          </a:p>
          <a:p>
            <a:r>
              <a:rPr sz="1000">
                <a:solidFill>
                  <a:srgbClr val="E2E8F0"/>
                </a:solidFill>
                <a:latin typeface="Consolas"/>
              </a:rPr>
              <a:t>torchrun --nproc_per_node=2 ddp_train.py --amp</a:t>
            </a:r>
          </a:p>
          <a:p>
            <a:r>
              <a:rPr sz="1000">
                <a:solidFill>
                  <a:srgbClr val="E2E8F0"/>
                </a:solidFill>
                <a:latin typeface="Consolas"/>
              </a:rPr>
              <a:t>torchrun --nproc_per_node=4 ddp_train.py --amp</a:t>
            </a:r>
          </a:p>
          <a:p>
            <a:r>
              <a:rPr sz="1000">
                <a:solidFill>
                  <a:srgbClr val="7FD6D7"/>
                </a:solidFill>
                <a:latin typeface="Consolas"/>
              </a:rPr>
              <a:t># ikki server (har birida 4 GPU), 1-serverdan:</a:t>
            </a:r>
          </a:p>
          <a:p>
            <a:r>
              <a:rPr sz="1000">
                <a:solidFill>
                  <a:srgbClr val="7FD6D7"/>
                </a:solidFill>
                <a:latin typeface="Consolas"/>
              </a:rPr>
              <a:t># torchrun --nnodes=2 --node_rank=0 --nproc_per_node=4 --master_addr=10.0.0.1 --master_port=29500 ddp_train.py --amp</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Natijalarni yig'ish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800" b="0">
                <a:solidFill>
                  <a:srgbClr val="1B2430"/>
                </a:solidFill>
                <a:latin typeface="Calibri"/>
              </a:rPr>
              <a:t>Kutilgan taxminiy natijalar (NVIDIA A100 40 GB × 4, NVLink, batch/GPU = 64, AMP):</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800" b="0">
                <a:solidFill>
                  <a:srgbClr val="1B2430"/>
                </a:solidFill>
                <a:latin typeface="Calibri"/>
              </a:rPr>
              <a:t>Nima bo'ldi va nega. Kuchsiz masshtablashda ideal natija — ms/iter o'zgarmasligi. Har GPU dagi o'tkazuvchanlikning 1 250 dan 1 125 ga tushishi (10 %) — all-reduce ning ustma-ust qo'yib bo'lmagan qismi va sinxronizatsiya.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Natijalarni yig'ish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GPU soni</a:t>
                      </a:r>
                    </a:p>
                  </a:txBody>
                  <a:tcPr>
                    <a:solidFill>
                      <a:srgbClr val="2D5C8F"/>
                    </a:solidFill>
                  </a:tcPr>
                </a:tc>
                <a:tc>
                  <a:txBody>
                    <a:bodyPr/>
                    <a:lstStyle/>
                    <a:p>
                      <a:r>
                        <a:rPr sz="1400" b="1">
                          <a:solidFill>
                            <a:srgbClr val="FFFFFF"/>
                          </a:solidFill>
                          <a:latin typeface="Calibri"/>
                        </a:rPr>
                        <a:t>Jami tasvir/s</a:t>
                      </a:r>
                    </a:p>
                  </a:txBody>
                  <a:tcPr>
                    <a:solidFill>
                      <a:srgbClr val="2D5C8F"/>
                    </a:solidFill>
                  </a:tcPr>
                </a:tc>
                <a:tc>
                  <a:txBody>
                    <a:bodyPr/>
                    <a:lstStyle/>
                    <a:p>
                      <a:r>
                        <a:rPr sz="1400" b="1">
                          <a:solidFill>
                            <a:srgbClr val="FFFFFF"/>
                          </a:solidFill>
                          <a:latin typeface="Calibri"/>
                        </a:rPr>
                        <a:t>Har GPU tasvir/s</a:t>
                      </a:r>
                    </a:p>
                  </a:txBody>
                  <a:tcPr>
                    <a:solidFill>
                      <a:srgbClr val="2D5C8F"/>
                    </a:solidFill>
                  </a:tcPr>
                </a:tc>
                <a:tc>
                  <a:txBody>
                    <a:bodyPr/>
                    <a:lstStyle/>
                    <a:p>
                      <a:r>
                        <a:rPr sz="1400" b="1">
                          <a:solidFill>
                            <a:srgbClr val="FFFFFF"/>
                          </a:solidFill>
                          <a:latin typeface="Calibri"/>
                        </a:rPr>
                        <a:t>ms/iter</a:t>
                      </a:r>
                    </a:p>
                  </a:txBody>
                  <a:tcPr>
                    <a:solidFill>
                      <a:srgbClr val="2D5C8F"/>
                    </a:solidFill>
                  </a:tcPr>
                </a:tc>
                <a:tc>
                  <a:txBody>
                    <a:bodyPr/>
                    <a:lstStyle/>
                    <a:p>
                      <a:r>
                        <a:rPr sz="1400" b="1">
                          <a:solidFill>
                            <a:srgbClr val="FFFFFF"/>
                          </a:solidFill>
                          <a:latin typeface="Calibri"/>
                        </a:rPr>
                        <a:t>Tezlashuv S</a:t>
                      </a:r>
                    </a:p>
                  </a:txBody>
                  <a:tcPr>
                    <a:solidFill>
                      <a:srgbClr val="2D5C8F"/>
                    </a:solidFill>
                  </a:tcPr>
                </a:tc>
                <a:tc>
                  <a:txBody>
                    <a:bodyPr/>
                    <a:lstStyle/>
                    <a:p>
                      <a:r>
                        <a:rPr sz="1400" b="1">
                          <a:solidFill>
                            <a:srgbClr val="FFFFFF"/>
                          </a:solidFill>
                          <a:latin typeface="Calibri"/>
                        </a:rPr>
                        <a:t>Samaradorlik E</a:t>
                      </a:r>
                    </a:p>
                  </a:txBody>
                  <a:tcPr>
                    <a:solidFill>
                      <a:srgbClr val="2D5C8F"/>
                    </a:solidFill>
                  </a:tcPr>
                </a:tc>
              </a:tr>
              <a:tr h="520000">
                <a:tc>
                  <a:txBody>
                    <a:bodyPr/>
                    <a:lstStyle/>
                    <a:p>
                      <a:r>
                        <a:rPr sz="1400" b="0">
                          <a:solidFill>
                            <a:srgbClr val="1B2430"/>
                          </a:solidFill>
                          <a:latin typeface="Calibri"/>
                        </a:rPr>
                        <a:t>1</a:t>
                      </a:r>
                    </a:p>
                  </a:txBody>
                  <a:tcPr>
                    <a:solidFill>
                      <a:srgbClr val="F1F4F8"/>
                    </a:solidFill>
                  </a:tcPr>
                </a:tc>
                <a:tc>
                  <a:txBody>
                    <a:bodyPr/>
                    <a:lstStyle/>
                    <a:p>
                      <a:r>
                        <a:rPr sz="1400" b="0">
                          <a:solidFill>
                            <a:srgbClr val="1B2430"/>
                          </a:solidFill>
                          <a:latin typeface="Calibri"/>
                        </a:rPr>
                        <a:t>~1 250</a:t>
                      </a:r>
                    </a:p>
                  </a:txBody>
                  <a:tcPr>
                    <a:solidFill>
                      <a:srgbClr val="F1F4F8"/>
                    </a:solidFill>
                  </a:tcPr>
                </a:tc>
                <a:tc>
                  <a:txBody>
                    <a:bodyPr/>
                    <a:lstStyle/>
                    <a:p>
                      <a:r>
                        <a:rPr sz="1400" b="0">
                          <a:solidFill>
                            <a:srgbClr val="1B2430"/>
                          </a:solidFill>
                          <a:latin typeface="Calibri"/>
                        </a:rPr>
                        <a:t>1 250</a:t>
                      </a:r>
                    </a:p>
                  </a:txBody>
                  <a:tcPr>
                    <a:solidFill>
                      <a:srgbClr val="F1F4F8"/>
                    </a:solidFill>
                  </a:tcPr>
                </a:tc>
                <a:tc>
                  <a:txBody>
                    <a:bodyPr/>
                    <a:lstStyle/>
                    <a:p>
                      <a:r>
                        <a:rPr sz="1400" b="0">
                          <a:solidFill>
                            <a:srgbClr val="1B2430"/>
                          </a:solidFill>
                          <a:latin typeface="Calibri"/>
                        </a:rPr>
                        <a:t>~51</a:t>
                      </a:r>
                    </a:p>
                  </a:txBody>
                  <a:tcPr>
                    <a:solidFill>
                      <a:srgbClr val="F1F4F8"/>
                    </a:solidFill>
                  </a:tcPr>
                </a:tc>
                <a:tc>
                  <a:txBody>
                    <a:bodyPr/>
                    <a:lstStyle/>
                    <a:p>
                      <a:r>
                        <a:rPr sz="1400" b="0">
                          <a:solidFill>
                            <a:srgbClr val="1B2430"/>
                          </a:solidFill>
                          <a:latin typeface="Calibri"/>
                        </a:rPr>
                        <a:t>1,00</a:t>
                      </a:r>
                    </a:p>
                  </a:txBody>
                  <a:tcPr>
                    <a:solidFill>
                      <a:srgbClr val="F1F4F8"/>
                    </a:solidFill>
                  </a:tcPr>
                </a:tc>
                <a:tc>
                  <a:txBody>
                    <a:bodyPr/>
                    <a:lstStyle/>
                    <a:p>
                      <a:r>
                        <a:rPr sz="1400" b="0">
                          <a:solidFill>
                            <a:srgbClr val="1B2430"/>
                          </a:solidFill>
                          <a:latin typeface="Calibri"/>
                        </a:rPr>
                        <a:t>100 %</a:t>
                      </a:r>
                    </a:p>
                  </a:txBody>
                  <a:tcPr>
                    <a:solidFill>
                      <a:srgbClr val="F1F4F8"/>
                    </a:solidFill>
                  </a:tcPr>
                </a:tc>
              </a:tr>
              <a:tr h="520000">
                <a:tc>
                  <a:txBody>
                    <a:bodyPr/>
                    <a:lstStyle/>
                    <a:p>
                      <a:r>
                        <a:rPr sz="1400" b="0">
                          <a:solidFill>
                            <a:srgbClr val="1B2430"/>
                          </a:solidFill>
                          <a:latin typeface="Calibri"/>
                        </a:rPr>
                        <a:t>2</a:t>
                      </a:r>
                    </a:p>
                  </a:txBody>
                  <a:tcPr>
                    <a:solidFill>
                      <a:srgbClr val="FFFFFF"/>
                    </a:solidFill>
                  </a:tcPr>
                </a:tc>
                <a:tc>
                  <a:txBody>
                    <a:bodyPr/>
                    <a:lstStyle/>
                    <a:p>
                      <a:r>
                        <a:rPr sz="1400" b="0">
                          <a:solidFill>
                            <a:srgbClr val="1B2430"/>
                          </a:solidFill>
                          <a:latin typeface="Calibri"/>
                        </a:rPr>
                        <a:t>~2 420</a:t>
                      </a:r>
                    </a:p>
                  </a:txBody>
                  <a:tcPr>
                    <a:solidFill>
                      <a:srgbClr val="FFFFFF"/>
                    </a:solidFill>
                  </a:tcPr>
                </a:tc>
                <a:tc>
                  <a:txBody>
                    <a:bodyPr/>
                    <a:lstStyle/>
                    <a:p>
                      <a:r>
                        <a:rPr sz="1400" b="0">
                          <a:solidFill>
                            <a:srgbClr val="1B2430"/>
                          </a:solidFill>
                          <a:latin typeface="Calibri"/>
                        </a:rPr>
                        <a:t>1 210</a:t>
                      </a:r>
                    </a:p>
                  </a:txBody>
                  <a:tcPr>
                    <a:solidFill>
                      <a:srgbClr val="FFFFFF"/>
                    </a:solidFill>
                  </a:tcPr>
                </a:tc>
                <a:tc>
                  <a:txBody>
                    <a:bodyPr/>
                    <a:lstStyle/>
                    <a:p>
                      <a:r>
                        <a:rPr sz="1400" b="0">
                          <a:solidFill>
                            <a:srgbClr val="1B2430"/>
                          </a:solidFill>
                          <a:latin typeface="Calibri"/>
                        </a:rPr>
                        <a:t>~53</a:t>
                      </a:r>
                    </a:p>
                  </a:txBody>
                  <a:tcPr>
                    <a:solidFill>
                      <a:srgbClr val="FFFFFF"/>
                    </a:solidFill>
                  </a:tcPr>
                </a:tc>
                <a:tc>
                  <a:txBody>
                    <a:bodyPr/>
                    <a:lstStyle/>
                    <a:p>
                      <a:r>
                        <a:rPr sz="1400" b="0">
                          <a:solidFill>
                            <a:srgbClr val="1B2430"/>
                          </a:solidFill>
                          <a:latin typeface="Calibri"/>
                        </a:rPr>
                        <a:t>1,94</a:t>
                      </a:r>
                    </a:p>
                  </a:txBody>
                  <a:tcPr>
                    <a:solidFill>
                      <a:srgbClr val="FFFFFF"/>
                    </a:solidFill>
                  </a:tcPr>
                </a:tc>
                <a:tc>
                  <a:txBody>
                    <a:bodyPr/>
                    <a:lstStyle/>
                    <a:p>
                      <a:r>
                        <a:rPr sz="1400" b="0">
                          <a:solidFill>
                            <a:srgbClr val="1B2430"/>
                          </a:solidFill>
                          <a:latin typeface="Calibri"/>
                        </a:rPr>
                        <a:t>97 %</a:t>
                      </a:r>
                    </a:p>
                  </a:txBody>
                  <a:tcPr>
                    <a:solidFill>
                      <a:srgbClr val="FFFFFF"/>
                    </a:solidFill>
                  </a:tcPr>
                </a:tc>
              </a:tr>
              <a:tr h="520000">
                <a:tc>
                  <a:txBody>
                    <a:bodyPr/>
                    <a:lstStyle/>
                    <a:p>
                      <a:r>
                        <a:rPr sz="1400" b="0">
                          <a:solidFill>
                            <a:srgbClr val="1B2430"/>
                          </a:solidFill>
                          <a:latin typeface="Calibri"/>
                        </a:rPr>
                        <a:t>4</a:t>
                      </a:r>
                    </a:p>
                  </a:txBody>
                  <a:tcPr>
                    <a:solidFill>
                      <a:srgbClr val="F1F4F8"/>
                    </a:solidFill>
                  </a:tcPr>
                </a:tc>
                <a:tc>
                  <a:txBody>
                    <a:bodyPr/>
                    <a:lstStyle/>
                    <a:p>
                      <a:r>
                        <a:rPr sz="1400" b="0">
                          <a:solidFill>
                            <a:srgbClr val="1B2430"/>
                          </a:solidFill>
                          <a:latin typeface="Calibri"/>
                        </a:rPr>
                        <a:t>~4 650</a:t>
                      </a:r>
                    </a:p>
                  </a:txBody>
                  <a:tcPr>
                    <a:solidFill>
                      <a:srgbClr val="F1F4F8"/>
                    </a:solidFill>
                  </a:tcPr>
                </a:tc>
                <a:tc>
                  <a:txBody>
                    <a:bodyPr/>
                    <a:lstStyle/>
                    <a:p>
                      <a:r>
                        <a:rPr sz="1400" b="0">
                          <a:solidFill>
                            <a:srgbClr val="1B2430"/>
                          </a:solidFill>
                          <a:latin typeface="Calibri"/>
                        </a:rPr>
                        <a:t>1 160</a:t>
                      </a:r>
                    </a:p>
                  </a:txBody>
                  <a:tcPr>
                    <a:solidFill>
                      <a:srgbClr val="F1F4F8"/>
                    </a:solidFill>
                  </a:tcPr>
                </a:tc>
                <a:tc>
                  <a:txBody>
                    <a:bodyPr/>
                    <a:lstStyle/>
                    <a:p>
                      <a:r>
                        <a:rPr sz="1400" b="0">
                          <a:solidFill>
                            <a:srgbClr val="1B2430"/>
                          </a:solidFill>
                          <a:latin typeface="Calibri"/>
                        </a:rPr>
                        <a:t>~55</a:t>
                      </a:r>
                    </a:p>
                  </a:txBody>
                  <a:tcPr>
                    <a:solidFill>
                      <a:srgbClr val="F1F4F8"/>
                    </a:solidFill>
                  </a:tcPr>
                </a:tc>
                <a:tc>
                  <a:txBody>
                    <a:bodyPr/>
                    <a:lstStyle/>
                    <a:p>
                      <a:r>
                        <a:rPr sz="1400" b="0">
                          <a:solidFill>
                            <a:srgbClr val="1B2430"/>
                          </a:solidFill>
                          <a:latin typeface="Calibri"/>
                        </a:rPr>
                        <a:t>3,72</a:t>
                      </a:r>
                    </a:p>
                  </a:txBody>
                  <a:tcPr>
                    <a:solidFill>
                      <a:srgbClr val="F1F4F8"/>
                    </a:solidFill>
                  </a:tcPr>
                </a:tc>
                <a:tc>
                  <a:txBody>
                    <a:bodyPr/>
                    <a:lstStyle/>
                    <a:p>
                      <a:r>
                        <a:rPr sz="1400" b="0">
                          <a:solidFill>
                            <a:srgbClr val="1B2430"/>
                          </a:solidFill>
                          <a:latin typeface="Calibri"/>
                        </a:rPr>
                        <a:t>93 %</a:t>
                      </a:r>
                    </a:p>
                  </a:txBody>
                  <a:tcPr>
                    <a:solidFill>
                      <a:srgbClr val="F1F4F8"/>
                    </a:solidFill>
                  </a:tcPr>
                </a:tc>
              </a:tr>
              <a:tr h="520000">
                <a:tc>
                  <a:txBody>
                    <a:bodyPr/>
                    <a:lstStyle/>
                    <a:p>
                      <a:r>
                        <a:rPr sz="1400" b="0">
                          <a:solidFill>
                            <a:srgbClr val="1B2430"/>
                          </a:solidFill>
                          <a:latin typeface="Calibri"/>
                        </a:rPr>
                        <a:t>8 (DGX)</a:t>
                      </a:r>
                    </a:p>
                  </a:txBody>
                  <a:tcPr>
                    <a:solidFill>
                      <a:srgbClr val="FFFFFF"/>
                    </a:solidFill>
                  </a:tcPr>
                </a:tc>
                <a:tc>
                  <a:txBody>
                    <a:bodyPr/>
                    <a:lstStyle/>
                    <a:p>
                      <a:r>
                        <a:rPr sz="1400" b="0">
                          <a:solidFill>
                            <a:srgbClr val="1B2430"/>
                          </a:solidFill>
                          <a:latin typeface="Calibri"/>
                        </a:rPr>
                        <a:t>~9 000</a:t>
                      </a:r>
                    </a:p>
                  </a:txBody>
                  <a:tcPr>
                    <a:solidFill>
                      <a:srgbClr val="FFFFFF"/>
                    </a:solidFill>
                  </a:tcPr>
                </a:tc>
                <a:tc>
                  <a:txBody>
                    <a:bodyPr/>
                    <a:lstStyle/>
                    <a:p>
                      <a:r>
                        <a:rPr sz="1400" b="0">
                          <a:solidFill>
                            <a:srgbClr val="1B2430"/>
                          </a:solidFill>
                          <a:latin typeface="Calibri"/>
                        </a:rPr>
                        <a:t>1 125</a:t>
                      </a:r>
                    </a:p>
                  </a:txBody>
                  <a:tcPr>
                    <a:solidFill>
                      <a:srgbClr val="FFFFFF"/>
                    </a:solidFill>
                  </a:tcPr>
                </a:tc>
                <a:tc>
                  <a:txBody>
                    <a:bodyPr/>
                    <a:lstStyle/>
                    <a:p>
                      <a:r>
                        <a:rPr sz="1400" b="0">
                          <a:solidFill>
                            <a:srgbClr val="1B2430"/>
                          </a:solidFill>
                          <a:latin typeface="Calibri"/>
                        </a:rPr>
                        <a:t>~57</a:t>
                      </a:r>
                    </a:p>
                  </a:txBody>
                  <a:tcPr>
                    <a:solidFill>
                      <a:srgbClr val="FFFFFF"/>
                    </a:solidFill>
                  </a:tcPr>
                </a:tc>
                <a:tc>
                  <a:txBody>
                    <a:bodyPr/>
                    <a:lstStyle/>
                    <a:p>
                      <a:r>
                        <a:rPr sz="1400" b="0">
                          <a:solidFill>
                            <a:srgbClr val="1B2430"/>
                          </a:solidFill>
                          <a:latin typeface="Calibri"/>
                        </a:rPr>
                        <a:t>7,20</a:t>
                      </a:r>
                    </a:p>
                  </a:txBody>
                  <a:tcPr>
                    <a:solidFill>
                      <a:srgbClr val="FFFFFF"/>
                    </a:solidFill>
                  </a:tcPr>
                </a:tc>
                <a:tc>
                  <a:txBody>
                    <a:bodyPr/>
                    <a:lstStyle/>
                    <a:p>
                      <a:r>
                        <a:rPr sz="1400" b="0">
                          <a:solidFill>
                            <a:srgbClr val="1B2430"/>
                          </a:solidFill>
                          <a:latin typeface="Calibri"/>
                        </a:rPr>
                        <a:t>90 %</a:t>
                      </a:r>
                    </a:p>
                  </a:txBody>
                  <a:tcPr>
                    <a:solidFill>
                      <a:srgbClr val="FFFFFF"/>
                    </a:solidFill>
                  </a:tcPr>
                </a:tc>
              </a:tr>
              <a:tr h="520000">
                <a:tc>
                  <a:txBody>
                    <a:bodyPr/>
                    <a:lstStyle/>
                    <a:p>
                      <a:r>
                        <a:rPr sz="1400" b="0">
                          <a:solidFill>
                            <a:srgbClr val="1B2430"/>
                          </a:solidFill>
                          <a:latin typeface="Calibri"/>
                        </a:rPr>
                        <a:t>8 (PCIe, NVLink siz)</a:t>
                      </a:r>
                    </a:p>
                  </a:txBody>
                  <a:tcPr>
                    <a:solidFill>
                      <a:srgbClr val="F1F4F8"/>
                    </a:solidFill>
                  </a:tcPr>
                </a:tc>
                <a:tc>
                  <a:txBody>
                    <a:bodyPr/>
                    <a:lstStyle/>
                    <a:p>
                      <a:r>
                        <a:rPr sz="1400" b="0">
                          <a:solidFill>
                            <a:srgbClr val="1B2430"/>
                          </a:solidFill>
                          <a:latin typeface="Calibri"/>
                        </a:rPr>
                        <a:t>~7 600</a:t>
                      </a:r>
                    </a:p>
                  </a:txBody>
                  <a:tcPr>
                    <a:solidFill>
                      <a:srgbClr val="F1F4F8"/>
                    </a:solidFill>
                  </a:tcPr>
                </a:tc>
                <a:tc>
                  <a:txBody>
                    <a:bodyPr/>
                    <a:lstStyle/>
                    <a:p>
                      <a:r>
                        <a:rPr sz="1400" b="0">
                          <a:solidFill>
                            <a:srgbClr val="1B2430"/>
                          </a:solidFill>
                          <a:latin typeface="Calibri"/>
                        </a:rPr>
                        <a:t>950</a:t>
                      </a:r>
                    </a:p>
                  </a:txBody>
                  <a:tcPr>
                    <a:solidFill>
                      <a:srgbClr val="F1F4F8"/>
                    </a:solidFill>
                  </a:tcPr>
                </a:tc>
                <a:tc>
                  <a:txBody>
                    <a:bodyPr/>
                    <a:lstStyle/>
                    <a:p>
                      <a:r>
                        <a:rPr sz="1400" b="0">
                          <a:solidFill>
                            <a:srgbClr val="1B2430"/>
                          </a:solidFill>
                          <a:latin typeface="Calibri"/>
                        </a:rPr>
                        <a:t>~67</a:t>
                      </a:r>
                    </a:p>
                  </a:txBody>
                  <a:tcPr>
                    <a:solidFill>
                      <a:srgbClr val="F1F4F8"/>
                    </a:solidFill>
                  </a:tcPr>
                </a:tc>
                <a:tc>
                  <a:txBody>
                    <a:bodyPr/>
                    <a:lstStyle/>
                    <a:p>
                      <a:r>
                        <a:rPr sz="1400" b="0">
                          <a:solidFill>
                            <a:srgbClr val="1B2430"/>
                          </a:solidFill>
                          <a:latin typeface="Calibri"/>
                        </a:rPr>
                        <a:t>6,08</a:t>
                      </a:r>
                    </a:p>
                  </a:txBody>
                  <a:tcPr>
                    <a:solidFill>
                      <a:srgbClr val="F1F4F8"/>
                    </a:solidFill>
                  </a:tcPr>
                </a:tc>
                <a:tc>
                  <a:txBody>
                    <a:bodyPr/>
                    <a:lstStyle/>
                    <a:p>
                      <a:r>
                        <a:rPr sz="1400" b="0">
                          <a:solidFill>
                            <a:srgbClr val="1B2430"/>
                          </a:solidFill>
                          <a:latin typeface="Calibri"/>
                        </a:rPr>
                        <a:t>76 %</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Aloqa ulushini ajratish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Aloqa narxini bevosita o'lchash uchun DDP ni o'chirib (model ni DDP ga o'ramay) 4 jarayonni mustaqil ishga tushiring va har GPU o'tkazuvchanligini solishtiring — farq gradient…</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Jadvalda ncclKernel_AllReduce_... qatorlari paydo bo'ladi; ularning umumiy CUDA vaqti va hisoblash yadrolari bilan vaqt o'qida ustma-ust tushishi (Chrome trace:…</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Profiler aloqa yadrolarini alohida ko'rsatadi, chunki NCCL ham oddiy CUDA yadrolari sifatida alohida oqimda bajariladi. Agar all-reduce yadrolari orqaga o'tish yadrolari bilan bir vaqtda ketayotgan bo'lsa — ustma-ust qo'yish ishlayapti;…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Aloqa ulushini ajratish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from torch.profiler import profile, ProfilerActivity</a:t>
            </a:r>
          </a:p>
          <a:p>
            <a:r>
              <a:rPr sz="1200">
                <a:solidFill>
                  <a:srgbClr val="E2E8F0"/>
                </a:solidFill>
                <a:latin typeface="Consolas"/>
              </a:rPr>
              <a:t>with profile(activities=[ProfilerActivity.CPU, ProfilerActivity.CUDA]) as prof:</a:t>
            </a:r>
          </a:p>
          <a:p>
            <a:r>
              <a:rPr sz="1200">
                <a:solidFill>
                  <a:srgbClr val="E2E8F0"/>
                </a:solidFill>
                <a:latin typeface="Consolas"/>
              </a:rPr>
              <a:t>    for _ in range(5): step()</a:t>
            </a:r>
          </a:p>
          <a:p>
            <a:r>
              <a:rPr sz="1200">
                <a:solidFill>
                  <a:srgbClr val="E2E8F0"/>
                </a:solidFill>
                <a:latin typeface="Consolas"/>
              </a:rPr>
              <a:t>if rank == 0:</a:t>
            </a:r>
          </a:p>
          <a:p>
            <a:r>
              <a:rPr sz="1200">
                <a:solidFill>
                  <a:srgbClr val="E2E8F0"/>
                </a:solidFill>
                <a:latin typeface="Consolas"/>
              </a:rPr>
              <a:t>    print(prof.key_averages().table(sort_by="cuda_time_total", row_limit=12))</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Xotira chegarasini sinash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--batch 256 bilan ishga tushiring: A100 40 GB da ResNet-50 AMP bilan taxminan 32 GB xotira oladi va o'tkazuvchanlik har GPU da 1 300–1 400 tasvir/s ga ko'tariladi (tezlatkich to'liqroq to'ladi). --batch 512 da «CUDA out of memory» xatosi — bu DP ning tabiiy…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05</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Natijalarni tahlil qilish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Misol DDP ning kuchli tomonini ko'rsatdi: deyarli hech qanday kod o'zgarishisiz 8 GPU da 90 % samaradorlik. Buning uchta sababi bor.</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Natijalar Gustafson qonunining amaliy ifodasi: biz 8 GPU da masalani 8 baravar kattalashtirdik (global paket 512) va vaqt deyarli o'zgarmadi. Biroq global paketning o'sishi statistik narxga ega: juda katta paket (ResNet-50 uchun 8 000 dan yuqori, LLM lar…</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Cheklovlar: sintetik ma'lumot (real quvurda DataLoader tor joy bo'lishi mumkin — M5), bitta server (tugunlararo InfiniBand natijasi alohida o'lchanishi kerak), faqat DP (model 1 GPU ga sig'di; LLM uchun FSDP/TP/PP kerak — A5 da). Muqobil yondashuvlar: Horovod…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06</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Keng tarqalgan xatolar va amaliy tavsiyalar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Aloqani hisoblash bilan ustma-ust qo'ymaslik. torch.nn.DataParallel (eski, bitta jarayon, ko'p oqim) o'rniga har doim DDP yoki FSDP ishlating; DDP da bucket_cap_mb ni modelga moslang (katta…</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O'rganish tezligi va paketni mos o'zgartirmaslik. GPU soni oshganda global paket oshadi; o'rganish tezligini chiziqli oshirish va isitish davri qo'shish kerak, aks holda model sekin…</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Ma'lumot yuklash quvurini e'tiborsiz qoldirish. 8 GPU 9 000 tasvir/s talab qiladi — JPEG dekodlash va augmentatsiya uchun 30–60 CPU yadrosi kerak. num_workers, pin_memory=True, DALI yoki…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Tensor parallellikni sekin interkonnektda ishlatish. TP har qatlamda all-reduce qiladi; PCIe yoki Ethernet orqali TP unumdorlikni 3–10 baravar pasaytiradi. TP — faqat NVLink ichida;…</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Quvur parallelligida mikro-paketlar sonini kam olish. Pufak (s−1)/(m+s−1); m kamida 4·s bo'lsin. Bosqichlarni qatlam soni bo'yicha emas, hisoblash vaqti bo'yicha muvozanatlang (embedding 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Tasodifiy urug' (seed) va nazorat nuqtalarini noto'g'ri boshqarish. Har rank da bir xil urug' — barcha GPU bir xil ma'lumotni ko'radi (DistributedSampler ishlating); checkpoint ni faqat…</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Osilib qolgan (hang) jarayonlarni tashxislamaslik. Bir rank kollektiv amalga kirmasa, qolganlari abadiy kutadi. NCCL_DEBUG=INFO, TORCH_DISTRIBUTED_DEBUG=DETAIL, timeout parametrini…</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Nosozlikka tayyor bo'lmaslik. Yuzlab GPU da apparat xatosi kundalik hodisa. Tez-tez (har 30–60 daqiqa) checkpoint, torchrun --max-restarts bilan elastik qayta ishga tushirish, hisoblashni…</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Kuchli va kuchsiz masshtablashni aralashtirish. «8 GPU da 7,2 baravar tez» deganda nima o'zgarmas qolganini (umumiy paketmi, GPU boshiga paketmi) aniq ayting; ikki rejimning natijalari 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07</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Nazorat savollari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Amdal va Gustafson qonunlari bir xil tizim haqida qarama-qarshi xulosa beradi. Qaysi sharoitda qaysi qonun to'g'ri tavsif beradi va neyron tarmoq o'qitish ularning qaysi biriga mos keladi?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Halqa all-reduce da har rank yuboradigan ma'lumot hajmi nega p dan deyarli mustaqil? Katta p da uning qaysi komponenti o'sadi va NCCL buni qanday hal qiladi?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CUDA da warp divergensiyasi va birlashmagan xotira murojaati nima uchun unumdorlikni pasaytiradi? Tensor yadrolari bilan ishlovchi kutubxonalar bu muammolarni qanday chetlab o'tadi?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OpenMP, MPI va CUDA ning har biri qaysi xotira modeliga (umumiy/taqsimlangan/qurilma) mos keladi? Bitta klasterda uchalasini birgalikda ishlatish qanday ko'rinishda bo'ladi?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80 GB li GPU da Adam bilan aralash aniqlikda o'qitish mumkin bo'lgan maksimal model hajmini baholang. ZeRO-3 bu chegarani 8 GPU da qanday o'zgartiradi va qanday narx evaziga?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Megatron-LM MLP blokida birinchi matritsani ustunlar, ikkinchisini satrlar bo'yicha bo'ladi. Nega aynan shu tartib? Teskari tartibda nechta all-reduce kerak bo'lar edi?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4 bosqichli quvurda 8 va 32 mikro-paket uchun pufak ulushini hisoblang. Mikro-paketlar sonini cheksiz oshirish nima uchun mumkin emas?</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Amaliy misolda 8 GPU PCIe konfiguratsiyasi samaradorligi 76 % ga tushdi. Gradient hajmi, interkonnekt tezligi va iteratsiya vaqtidan kelib chiqib bu raqamni taxminan hisoblang va…</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Nega tensor parallellik faqat server ichida, quvur parallelligi esa serverlar orasida ham ishlatiladi? Interkonnekt tezligi va aloqa chastotasini miqdoriy solishtiring.</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Masshtablash «apparatda emas, algoritmda chegaralanadi» degan tezisni katta paket muammosi misolida tushuntiring. Bu muammo uchun qanday algoritmik yechimlar mavjud?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08</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Mustaqil ish uchun topshiriq</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1-topshiriq (amaliy, A5 ga tayyorgarlik).</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Baholash mezoni: o'lchovning to'g'ri bajarilishi (sinxronizatsiya, isitish, barrier) (30 %), nazariy hisob va o'lchov taqqoslanishi (40 %), model turiga qarab aloqa/hisoblash nisbati…</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2-topshiriq (tahliliy). 70 milliard parametrli transformer modelini 64 ta H100 (8 server × 8 GPU, NVLink ichkarida, InfiniBand NDR orasida) da o'qitish uchun parallellik konfiguratsiyasini…</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Baholash mezoni: xotira hisobining to'g'riligi (35 %), parallellik darajalarini interkonnektga moslashtirish asosi (35 %), pufak va aloqa hajmi hisobi (30 %).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09</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Foydalanilgan manbalar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41</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[1] Hennessy, J. L., &amp; Patterson, D. A. Computer Architecture: A Quantitative Approach. 7th Edition. Morgan Kaufmann, 2024. — 1-bob (Amdal qonuni), 4-bob (SIMD/GPU), 5-bob (oqimlar…</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[5] Kirk, D. B., &amp; Hwu, W.-M. W. Programming Massively Parallel Processors: A Hands-on Approach. 4th Edition. Morgan Kaufmann, 2022. — 2–6-boblar (CUDA modeli, xotira, unumdorlik), 20-bob…</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[4] Sze, V., Chen, Y.-H., Yang, T.-J., &amp; Emer, J. S. Efficient Processing of Deep Neural Networks. Morgan &amp; Claypool, 2020.</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[6] NVIDIA Developer Portal — https://developer.nvidia.com (CUDA C++ Programming Guide, NCCL hujjatlari, Megatron-LM).</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[7] PyTorch rasmiy hujjatlari — https://pytorch.org (torch.distributed, DistributedDataParallel, FSDP, torchrun).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42</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Shoeybi, M., Patwary, M., Puri, R., LeGresley, P., Casper, J., &amp; Catanzaro, B. Megatron-LM: Training Multi-Billion Parameter Language Models Using Model Parallelism. arXiv:1909.08053, 2019.</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Rajbhandari, S., Rasley, J., Ruwase, O., &amp; He, Y. ZeRO: Memory Optimizations Toward Training Trillion Parameter Models. Proceedings of SC20, IEEE/ACM, 2020.</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Huang, Y., Cheng, Y., Bapna, A., et al. GPipe: Efficient Training of Giant Neural Networks using Pipeline Parallelism. Advances in Neural Information Processing Systems 32 (NeurIPS 2019).</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Goyal, P., Dollár, P., Girshick, R., et al. Accurate, Large Minibatch SGD: Training ImageNet in 1 Hour. arXiv:1706.02677, 2017.</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Sergeev, A., &amp; Del Balso, M. Horovod: fast and easy distributed deep learning in TensorFlow. arXiv:1802.05799, 2018.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(3)</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M3 · Sun'iy intellekt tizimlarida parallel va taqsimlangan hisoblash texnologiyalari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2000" b="0">
                <a:solidFill>
                  <a:srgbClr val="1B2430"/>
                </a:solidFill>
                <a:latin typeface="Calibri"/>
              </a:rPr>
              <a:t>OpenMP Architecture Review Board. OpenMP Application Programming Interface specification — https://www.openmp.org.</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2000" b="0">
                <a:solidFill>
                  <a:srgbClr val="1B2430"/>
                </a:solidFill>
                <a:latin typeface="Calibri"/>
              </a:rPr>
              <a:t>MPI Forum. MPI: A Message-Passing Interface Standard — https://www.mpi-forum.org.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https://aiscan.airi.uz/ktm/#/c/mis2104/mavzu/M3</a:t>
            </a:r>
          </a:p>
          <a:p>
            <a:pPr algn="ctr"/>
            <a:r>
              <a:rPr sz="1600" b="0">
                <a:solidFill>
                  <a:srgbClr val="D7E3F4"/>
                </a:solidFill>
                <a:latin typeface="Calibri"/>
              </a:rPr>
              <a:t>Nazorat savollari va mustaqil ish — mavzu matnining oxirida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
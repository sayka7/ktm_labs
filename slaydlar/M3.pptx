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(Flynn's taxonomy) hisoblash tizimlarini buyruq va ma'lumot oqimlari soniga ko'ra to'rt sinfga ajratadi: SISD (bitta buyruq, bitta ma'lumot — klassik skalyar protsessor), SIMD (bitta buyruq, ko'p ma'lumot — vektor bloklar, GPU warp), MISD (amalda kam uchraydi) va MIMD (ko'p buyruq, ko'p ma'lumot — ko'p yadroli CPU, klaster). Zamonaviy SI tizimi barcha darajalarni birlashtiradi: klaster MIMD, har tugundagi GPU SIMT (SIMD ning oqimli varianti), har SM ichidagi Tensor Core esa matritsa darajasidagi SIMD.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(Flynn's taxonomy) hisoblash tizimlarini buyruq va ma'lumot oqimlari soniga ko'ra to'rt sinfga ajratadi: SISD (bitta buyruq, bitta ma'lumot — klassik skalyar protsessor), SIMD (bitta buyruq, ko'p ma'lumot — vektor bloklar, GPU warp), MISD (amalda kam uchraydi) va MIMD (ko'p buyruq, ko'p ma'lumot — ko'p yadroli CPU, klaster). Zamonaviy SI tizimi barcha darajalarni birlashtiradi: klaster MIMD, har tugundagi GPU SIMT (SIMD ning oqimli varianti), har SM ichidagi Tensor Core esa matritsa darajasidagi SIMD.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 dasturning sifatini ikki ko'rsatkich belgilaydi: tezlashuv S(p) = T(1) / T(p) — p protsessorda bajarish vaqtining bitta protsessordagi vaqtga nisbati, va samaradorlik E(p) = S(p) / p — ideal chiziqli tezlashuvga nisbatan ulush. Amdal qonuni tezlashuvning yuqori chegarasini beradi: agar ishning f ulushi ketma-ket bo'lsa, S(p) ≤ 1 / (f + (1 − f)/p), va p → ∞ da S ≤ 1/f. Ketma-ket ulush 5 % bo'lsa, hatto ming protsessor ham 20 baravardan ortiq tezlashuv bermaydi. Bu pessimistik qonun kuchli masshtablash (strong scaling) — masala hajmi o'zgarmas, protsessorlar soni o'sadi — uchun to'g'ri.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Gustafson qonuni boshqa nuqtai nazarni beradi: amalda protsessorlar ko'paysa, muhandis masalani kattalashtiradi (ko'proq ma'lumot, kattaroq model). Agar ketma-ket qism vaqti o'zgarmas va parallel qism protsessorlar soniga proporsional o'ssa, masshtablangan tezlashuv S(p) = f + (1 − f) × p — deyarli chiziqli. Bu kuchsiz masshtablash (weak scaling) deb ataladi va neyron tarmoq o'qitishga aynan mos keladi: 8 GPU ga o'tganda har GPU ga bir xil mikro-paket beriladi, global paket 8 baravar o'sadi, bir iteratsiya vaqti deyarli o'zgarmaydi. Shu sababli taqsimlangan o'qitish hisobotlarida odatda «so'ngra tasvir/soniya» yoki «token/soniya» o'tkazuvchanligi keltiriladi.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Aloqa narxini baholash uchun oddiy model foydali: M baytli xabarni uzatish vaqti t = α + M / β, bu yerda α — kechikish (latency, InfiniBand da 1–2 mks, PCIe da 5–10 mks, Ethernet TCP da 20–50 mks), β — o'tkazuvchanlik. Kichik xabarlar α bilan, katta xabarlar β bilan cheklanadi; shuning uchun ko'plab kichik gradientlarni bitta katta buferga birlashtirish (bucketing) — DDP ning asosiy optimallashtirishi.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(Compute Unified Device Architecture) — NVIDIA GPU larini umumiy maqsadli hisoblash uchun dasturlash platformasi. Kirk va Hwu [5] bayon qilgan modelda dasturchi yadro (kernel) — minglab oqim parallel bajaradigan funksiya — yozadi. Oqimlar uch darajali iyerarxiyaga uyushtiriladi: oqim (thread) → blok (block, 1024 tagacha oqim, bitta SM da bajariladi, umumiy xotira orqali almashadi) → to'r (grid, bloklar to'plami). Apparat blokni 32 oqimli warp larga bo'lib, warp ni bitta buyruq bilan bajaradi. Quyidagi yadro ikki vektorni qo'shadi: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(Compute Unified Device Architecture) — NVIDIA GPU larini umumiy maqsadli hisoblash uchun dasturlash platformasi. Kirk va Hwu [5] bayon qilgan modelda dasturchi yadro (kernel) — minglab oqim parallel bajaradigan funksiya — yozadi. Oqimlar uch darajali iyerarxiyaga uyushtiriladi: oqim (thread) → blok (block, 1024 tagacha oqim, bitta SM da bajariladi, umumiy xotira orqali almashadi) → to'r (grid, bloklar to'plami). Apparat blokni 32 oqimli warp larga bo'lib, warp ni bitta buyruq bilan bajaradi. Quyidagi yadro ikki vektorni qo'shadi:</a:t>
            </a:r>
          </a:p>
          <a:p/>
          <a:p>
            <a:r>
              <a:t>CUDA dasturining samaradorligi to'rt omilga bog'liq: bandlik (occupancy — SM da bir vaqtda faol warp lar soni, xotira kechikishini yashirish uchun ko'p bo'lishi kerak), birlashgan xotira murojaati (coalescing — warp dagi 32 oqim qo'shni manzillarga murojaat qilsa, bitta tranzaksiya), umumiy xotiradan foydalanish (ma'lumotni global xotiradan bir marta yuklab, blok ichida ko'p marta ishlatish — matritsa ko'paytirishda «plitkalash», tiling) va warp divergensiyasi (warp ichidagi oqimlar turli tarmoqqa ketsa, ikkala tarmoq ketma-ket bajariladi). SI muhandisi odatda o'z yadrosini yozmaydi — cuBLAS, cuDNN, TensorRT va PyTorch tayyor yadrolar beradi — lekin bu omillarni bilish profillash natijasini tushunish va Triton yoki CUDA da maxsus operatsiya (masalan, FlashAttention uslubidagi diqqat yadrosi) yozish uchun zarur. CUDA ning bir nechta GPU bilan ishlash uchun asosiy vositalari — oqimlar (streams, asinxron buyruqlar navbati), hodisalar (events, sinxronizatsiya) va NCCL (NVIDIA Collective Communications Library) — GPU lar orasida all-reduce, broadcast, all-gather kabi kollektiv amallarni NVLink/InfiniBand topologiyasiga moslab bajaruvchi kutubxona.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dasturining samaradorligi to'rt omilga bog'liq: bandlik (occupancy — SM da bir vaqtda faol warp lar soni, xotira kechikishini yashirish uchun ko'p bo'lishi kerak), birlashgan xotira murojaati (coalescing — warp dagi 32 oqim qo'shni manzillarga murojaat qilsa, bitta tranzaksiya), umumiy xotiradan foydalanish (ma'lumotni global xotiradan bir marta yuklab, blok ichida ko'p marta ishlatish — matritsa ko'paytirishda «plitkalash», tiling) va warp divergensiyasi (warp ichidagi oqimlar turli tarmoqqa ketsa, ikkala tarmoq ketma-ket bajariladi). SI muhandisi odatda o'z yadrosini yozmaydi — cuBLAS, cuDNN, TensorRT va PyTorch tayyor yadrolar beradi — lekin bu omillarni bilish profillash natijasini tushunish va Triton yoki CUDA da maxsus operatsiya (masalan, FlashAttention uslubidagi diqqat yadrosi) yozish uchun zarur. CUDA ning bir nechta GPU bilan ishlash uchun asosiy vositalari — oqimlar (streams, asinxron buyruqlar navbati), hodisalar (events, sinxronizatsiya) va NCCL (NVIDIA Collective Communications Library) — GPU lar orasida all-reduce, broadcast, all-gather kabi kollektiv amallarni NVLink/InfiniBand topologiyasiga moslab bajaruvchi kutubxona.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(Compute Unified Device Architecture) — NVIDIA GPU larini umumiy maqsadli hisoblash uchun dasturlash platformasi. Kirk va Hwu [5] bayon qilgan modelda dasturchi yadro (kernel) — minglab oqim parallel bajaradigan funksiya — yozadi. Oqimlar uch darajali iyerarxiyaga uyushtiriladi: oqim (thread) → blok (block, 1024 tagacha oqim, bitta SM da bajariladi, umumiy xotira orqali almashadi) → to'r (grid, bloklar to'plami). Apparat blokni 32 oqimli warp larga bo'lib, warp ni bitta buyruq bilan bajaradi. Quyidagi yadro ikki vektorni qo'shadi:</a:t>
            </a:r>
          </a:p>
          <a:p/>
          <a:p>
            <a:r>
              <a:t>CUDA dasturining samaradorligi to'rt omilga bog'liq: bandlik (occupancy — SM da bir vaqtda faol warp lar soni, xotira kechikishini yashirish uchun ko'p bo'lishi kerak), birlashgan xotira murojaati (coalescing — warp dagi 32 oqim qo'shni manzillarga murojaat qilsa, bitta tranzaksiya), umumiy xotiradan foydalanish (ma'lumotni global xotiradan bir marta yuklab, blok ichida ko'p marta ishlatish — matritsa ko'paytirishda «plitkalash», tiling) va warp divergensiyasi (warp ichidagi oqimlar turli tarmoqqa ketsa, ikkala tarmoq ketma-ket bajariladi). SI muhandisi odatda o'z yadrosini yozmaydi — cuBLAS, cuDNN, TensorRT va PyTorch tayyor yadrolar beradi — lekin bu omillarni bilish profillash natijasini tushunish va Triton yoki CUDA da maxsus operatsiya (masalan, FlashAttention uslubidagi diqqat yadrosi) yozish uchun zarur. CUDA ning bir nechta GPU bilan ishlash uchun asosiy vositalari — oqimlar (streams, asinxron buyruqlar navbati), hodisalar (events, sinxronizatsiya) va NCCL (NVIDIA Collective Communications Library) — GPU lar orasida all-reduce, broadcast, all-gather kabi kollektiv amallarni NVLink/InfiniBand topologiyasiga moslab bajaruvchi kutubxona.</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to'plami bo'lib, umumiy xotirali ko'p yadroli tizimda (bitta server) oqimlar darajasidagi parallellikni beradi. Dasturchi ketma-ket kodga #pragma omp parallel for kabi direktiva qo'shadi, kompilyator siklni oqimlar o'rtasida taqsimlaydi: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to'plami bo'lib, umumiy xotirali ko'p yadroli tizimda (bitta server) oqimlar darajasidagi parallellikni beradi. Dasturchi ketma-ket kodga #pragma omp parallel for kabi direktiva qo'shadi, kompilyator siklni oqimlar o'rtasida taqsimlaydi:</a:t>
            </a:r>
          </a:p>
          <a:p/>
          <a:p>
            <a:r>
              <a:t>OpenMP ning asosiy tushunchalari: parallel hudud (fork-join modeli), ish taqsimoti (for, sections, task), ma'lumot muhiti (shared, private, reduction) va sinxronizatsiya (critical, atomic, barrier). OpenMP 4.0 dan boshlab target direktivalari orqali GPU ga yuklash ham mumkin, biroq SI sohasida bu kam ishlatiladi. SI tizimida OpenMP ning real o'rni — CPU tomonidagi kutubxonalar: PyTorch ning CPU backend i (ATen), oneDNN, OpenBLAS va MKL ichki parallellik uchun OpenMP ishlatadi; OMP_NUM_THREADS o'zgaruvchisi va torch.set_num_threads aynan shu oqimlar sonini boshqaradi. Ma'lumot yuklash va oldindan ishlov (augmentatsiya, tokenizatsiya) ham ko'pincha OpenMP yoki Python ko'p jarayonlilik bilan parallellashtiriladi.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ning asosiy tushunchalari: parallel hudud (fork-join modeli), ish taqsimoti (for, sections, task), ma'lumot muhiti (shared, private, reduction) va sinxronizatsiya (critical, atomic, barrier). OpenMP 4.0 dan boshlab target direktivalari orqali GPU ga yuklash ham mumkin, biroq SI sohasida bu kam ishlatiladi. SI tizimida OpenMP ning real o'rni — CPU tomonidagi kutubxonalar: PyTorch ning CPU backend i (ATen), oneDNN, OpenBLAS va MKL ichki parallellik uchun OpenMP ishlatadi; OMP_NUM_THREADS o'zgaruvchisi va torch.set_num_threads aynan shu oqimlar sonini boshqaradi. Ma'lumot yuklash va oldindan ishlov (augmentatsiya, tokenizatsiya) ham ko'pincha OpenMP yoki Python ko'p jarayonlilik bilan parallellashtiriladi.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to'plami bo'lib, umumiy xotirali ko'p yadroli tizimda (bitta server) oqimlar darajasidagi parallellikni beradi. Dasturchi ketma-ket kodga #pragma omp parallel for kabi direktiva qo'shadi, kompilyator siklni oqimlar o'rtasida taqsimlaydi:</a:t>
            </a:r>
          </a:p>
          <a:p/>
          <a:p>
            <a:r>
              <a:t>OpenMP ning asosiy tushunchalari: parallel hudud (fork-join modeli), ish taqsimoti (for, sections, task), ma'lumot muhiti (shared, private, reduction) va sinxronizatsiya (critical, atomic, barrier). OpenMP 4.0 dan boshlab target direktivalari orqali GPU ga yuklash ham mumkin, biroq SI sohasida bu kam ishlatiladi. SI tizimida OpenMP ning real o'rni — CPU tomonidagi kutubxonalar: PyTorch ning CPU backend i (ATen), oneDNN, OpenBLAS va MKL ichki parallellik uchun OpenMP ishlatadi; OMP_NUM_THREADS o'zgaruvchisi va torch.set_num_threads aynan shu oqimlar sonini boshqaradi. Ma'lumot yuklash va oldindan ishlov (augmentatsiya, tokenizatsiya) ham ko'pincha OpenMP yoki Python ko'p jarayonlilik bilan parallellashtiriladi.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MPI (Message Passing Interface) — alohida xotirali jarayonlar o'rtasida xabar almashish standarti, 1994-yildan beri HPC ning asosiy vositasi. Har jarayon o'z rank iga ega, umumiy xotira yo'q, barcha almashinuv aniq chaqiruvlar orqali: nuqta-nuqta (MPI_Send/MPI_Recv) va kollektiv (MPI_Bcast, MPI_Reduce, MPI_Allreduce, MPI_Allgather, MPI_Alltoall). SI uchun eng muhimi — MPI_Allreduce: har jarayondagi vektor elementlari yig'indisi hisoblanib, natija hammaga tarqatiladi — aynan gradientlarni o'rtachalash uchun kerak bo'lgan amal.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MPI (Message Passing Interface) — alohida xotirali jarayonlar o'rtasida xabar almashish standarti, 1994-yildan beri HPC ning asosiy vositasi. Har jarayon o'z rank iga ega, umumiy xotira yo'q, barcha almashinuv aniq chaqiruvlar orqali: nuqta-nuqta (MPI_Send/MPI_Recv) va kollektiv (MPI_Bcast, MPI_Reduce, MPI_Allreduce, MPI_Allgather, MPI_Alltoall). SI uchun eng muhimi — MPI_Allreduce: har jarayondagi vektor elementlari yig'indisi hisoblanib, natija hammaga tarqatiladi — aynan gradientlarni o'rtachalash uchun kerak bo'lgan amal.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All-reduce ni samarali bajarish alohida fan. 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 Katta p da kechikish 2(p−1) × α o'sadi, shuning uchun NCCL daraxt (tree) va ierarxik algoritmlarni ham ishlatadi: avval tugun ichida NVLink orqali, keyin tugunlar orasida InfiniBand orqali. NVIDIA SHARP texnologiyasi esa qisqartirishni (reduction) InfiniBand kommutatorining o'zida bajarib, trafikni yana ikki baravar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All-reduce ni samarali bajarish alohida fan. 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 Katta p da kechikish 2(p−1) × α o'sadi, shuning uchun NCCL daraxt (tree) va ierarxik algoritmlarni ham ishlatadi: avval tugun ichida NVLink orqali, keyin tugunlar orasida InfiniBand orqali. NVIDIA SHARP texnologiyasi esa qisqartirishni (reduction) InfiniBand kommutatorining o'zida bajarib, trafikni yana ikki baravar kamaytiradi.</a:t>
            </a:r>
          </a:p>
          <a:p/>
          <a:p>
            <a:r>
              <a:t>SI amaliyotida MPI ko'pincha bevosita ko'rinmaydi, lekin uning modeli saqlanadi: PyTorch Distributed rank, world_size, all_reduce atamalarini aynan MPI dan olgan; Horovod MPI ustida qurilgan; Slurm klasterlarida jarayonlarni ishga tushirish srun/mpirun orqali bajariladi; NCCL esa GPU lar uchun «MPI kollektivlari» ning ixtisoslashgan amalga oshirilishidir.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MPI (Message Passing Interface) — alohida xotirali jarayonlar o'rtasida xabar almashish standarti, 1994-yildan beri HPC ning asosiy vositasi. Har jarayon o'z rank iga ega, umumiy xotira yo'q, barcha almashinuv aniq chaqiruvlar orqali: nuqta-nuqta (MPI_Send/MPI_Recv) va kollektiv (MPI_Bcast, MPI_Reduce, MPI_Allreduce, MPI_Allgather, MPI_Alltoall). SI uchun eng muhimi — MPI_Allreduce: har jarayondagi vektor elementlari yig'indisi hisoblanib, natija hammaga tarqatiladi — aynan gradientlarni o'rtachalash uchun kerak bo'lgan amal.</a:t>
            </a:r>
          </a:p>
          <a:p/>
          <a:p>
            <a:r>
              <a:t>All-reduce ni samarali bajarish alohida fan. 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 Katta p da kechikish 2(p−1) × α o'sadi, shuning uchun NCCL daraxt (tree) va ierarxik algoritmlarni ham ishlatadi: avval tugun ichida NVLink orqali, keyin tugunlar orasida InfiniBand orqali. NVIDIA SHARP texnologiyasi esa qisqartirishni (reduction) InfiniBand kommutatorining o'zida bajarib, trafikni yana ikki baravar kamaytiradi.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tarmoqni taqsimlashning ikki asosiy o'qi bor: ma'lumotni bo'lish yoki modelni bo'lish.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tarmoqni taqsimlashning ikki asosiy o'qi bor: ma'lumotni bo'lish yoki modelni bo'lish.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parallelligi (data parallelism, DP) — eng sodda va eng keng tarqalgan usul. Modelning to'liq nusxasi har GPU da saqlanadi; global paket p ta mikro-paketga bo'linadi; har GPU o'z mikro-paketida oldinga va orqaga o'tishni mustaqil bajaradi; so'ng gradientlar all-reduce bilan o'rtachalanadi va har GPU bir xil yangilanishni qo'llaydi — natijada nusxalar sinxron qoladi. Bir iteratsiyadagi aloqa hajmi model hajmiga teng (FP16 da parametr boshiga 2 bayt): ResNet-50 (25,6 mln) uchun 51 MB, GPT-2 1,5B uchun 3 GB. PyTorch DistributedDataParallel (DDP) buni orqaga o'tish bilan ustma-ust qo'yadi: gradientlar 25 MB li «chelaklarga» (bucket) to'planadi va keyingi qatlam gradienti hisoblanayotganda oldingi chelak uzatiladi. DP ning cheklovi — model (parametrlar + gradientlar + optimizator holati + aktivatsiyalar) bitta GPU xotirasiga sig'ishi kerak. Adam optimizatori bilan aralash aniqlikda parametr boshiga taxminan 16 bayt (FP16 og'irlik va gradient 4 bayt, FP32 asosiy nusxa, momentum va dispersiya 12 bayt) ketadi — 80 GB li GPU da taxminan 4–5 milliard parametr, aktivatsiyalarni hisobga olsak kamroq.</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parallelligi (data parallelism, DP) — eng sodda va eng keng tarqalgan usul. Modelning to'liq nusxasi har GPU da saqlanadi; global paket p ta mikro-paketga bo'linadi; har GPU o'z mikro-paketida oldinga va orqaga o'tishni mustaqil bajaradi; so'ng gradientlar all-reduce bilan o'rtachalanadi va har GPU bir xil yangilanishni qo'llaydi — natijada nusxalar sinxron qoladi. Bir iteratsiyadagi aloqa hajmi model hajmiga teng (FP16 da parametr boshiga 2 bayt): ResNet-50 (25,6 mln) uchun 51 MB, GPT-2 1,5B uchun 3 GB. PyTorch DistributedDataParallel (DDP) buni orqaga o'tish bilan ustma-ust qo'yadi: gradientlar 25 MB li «chelaklarga» (bucket) to'planadi va keyingi qatlam gradienti hisoblanayotganda oldingi chelak uzatiladi. DP ning cheklovi — model (parametrlar + gradientlar + optimizator holati + aktivatsiyalar) bitta GPU xotirasiga sig'ishi kerak. Adam optimizatori bilan aralash aniqlikda parametr boshiga taxminan 16 bayt (FP16 og'irlik va gradient 4 bayt, FP32 asosiy nusxa, momentum va dispersiya 12 bayt) ketadi — 80 GB li GPU da taxminan 4–5 milliard parametr, aktivatsiyalarni hisobga olsak kamroq.</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cheklovni ZeRO (Zero Redundancy Optimizer; Rajbhandari va hammualliflar, SC 2020, Microsoft DeepSpeed) yumshatadi: optimizator holati (ZeRO-1), gradientlar (ZeRO-2) va parametrlar (ZeRO-3) GPU lar o'rtasida bo'lib saqlanadi, har GPU faqat o'z bo'lagini yangilaydi, oldinga o'tishda esa kerakli parametrlar all-gather bilan vaqtincha yig'iladi. Xotira p baravar tejaladi, aloqa esa DP ga nisbatan taxminan 1,5 baravar oshadi. PyTorch da bu yondashuv FSDP (Fully Sharded Data Parallel) nomi bilan amalga oshirilgan.</a:t>
            </a:r>
          </a:p>
          <a:p/>
          <a:p>
            <a:r>
              <a:t>Model parallelligi (model parallelism) — model qismlari turli GPU larga joylashtiriladi; har GPU faqat o'z qismini saqlaydi va hisoblaydi. Uning ikki asosiy ko'rinishi — tensor va quvur parallelligi.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parallelligi (tensor parallelism, TP) bitta qatlamni, ya'ni bitta matritsa ko'paytirishni GPU lar o'rtasida bo'ladi. Megatron-LM (Shoeybi va hammualliflar, 2019, NVIDIA) transformer uchun samarali sxemani taklif qildi: MLP blokidagi birinchi chiziqli qatlam Y = GeLU(X·A) da matritsa A ustunlar bo'yicha bo'linadi (har GPU X·Aᵢ ni mustaqil hisoblaydi, GeLU elementma-element bo'lgani uchun aloqa kerak emas), ikkinchi qatlam Z = Y·B da B satrlar bo'yicha bo'linadi va qisman natijalar bitta all-reduce bilan yig'iladi. Diqqat mexanizmida boshlar (heads) GPU lar o'rtasida taqsimlanadi. Natijada har transformer qatlamida oldinga o'tishda 2 ta, orqaga o'tishda 2 ta all-reduce — har mikro-paket uchun aktivatsiya hajmida. Bu aloqa tez-tez va ketma-ket bo'lgani uchun TP faqat eng tez interkonnekt — NVLink — ichida, ya'ni bitta server doirasida (TP = 8)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parallelligi (tensor parallelism, TP) bitta qatlamni, ya'ni bitta matritsa ko'paytirishni GPU lar o'rtasida bo'ladi. Megatron-LM (Shoeybi va hammualliflar, 2019, NVIDIA) transformer uchun samarali sxemani taklif qildi: MLP blokidagi birinchi chiziqli qatlam Y = GeLU(X·A) da matritsa A ustunlar bo'yicha bo'linadi (har GPU X·Aᵢ ni mustaqil hisoblaydi, GeLU elementma-element bo'lgani uchun aloqa kerak emas), ikkinchi qatlam Z = Y·B da B satrlar bo'yicha bo'linadi va qisman natijalar bitta all-reduce bilan yig'iladi. Diqqat mexanizmida boshlar (heads) GPU lar o'rtasida taqsimlanadi. Natijada har transformer qatlamida oldinga o'tishda 2 ta, orqaga o'tishda 2 ta all-reduce — har mikro-paket uchun aktivatsiya hajmida. Bu aloqa tez-tez va ketma-ket bo'lgani uchun TP faqat eng tez interkonnekt — NVLink — ichida, ya'ni bitta server doirasida (TP = 8)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parallelligi (tensor parallelism, TP) bitta qatlamni, ya'ni bitta matritsa ko'paytirishni GPU lar o'rtasida bo'ladi. Megatron-LM (Shoeybi va hammualliflar, 2019, NVIDIA) transformer uchun samarali sxemani taklif qildi: MLP blokidagi birinchi chiziqli qatlam Y = GeLU(X·A) da matritsa A ustunlar bo'yicha bo'linadi (har GPU X·Aᵢ ni mustaqil hisoblaydi, GeLU elementma-element bo'lgani uchun aloqa kerak emas), ikkinchi qatlam Z = Y·B da B satrlar bo'yicha bo'linadi va qisman natijalar bitta all-reduce bilan yig'iladi. Diqqat mexanizmida boshlar (heads) GPU lar o'rtasida taqsimlanadi. Natijada har transformer qatlamida oldinga o'tishda 2 ta, orqaga o'tishda 2 ta all-reduce — har mikro-paket uchun aktivatsiya hajmida. Bu aloqa tez-tez va ketma-ket bo'lgani uchun TP faqat eng tez interkonnekt — NVLink — ichida, ya'ni bitta server doirasida (TP = 8)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Quvur parallelligi (pipeline parallelism, PP) modelni qatlamlar bo'yicha ketma-ket bosqichlarga (stage) bo'ladi: 1–8-qatlamlar GPU 0 da, 9–16-qatlamlar GPU 1 da va hokazo. Bosqichlar o'rtasida faqat chegara aktivatsiyalari (nuqta-nuqta) uzatiladi — bu TP dan ancha kam aloqa, shuning uchun PP serverlar o'rtasida ham ishlaydi. Muammo — pufak (bubble): sodda bajarishda GPU 1 GPU 0 tugatguncha bo'sh turadi. GPipe (Huang va hammualliflar, 2019) paketni m mikro-paketga bo'lib, ularni quvur bo'ylab ketma-ket yuboradi; pufak ulushi (s − 1) / (m + s − 1) ga tushadi, bu yerda s — bosqichlar soni. Masalan, s = 4, m = 16 da pufak 16 % (3/19); m = 64 da 4,5 %. PipeDream (Narayanan va hammualliflar, 2019) va Megatron ning 1F1B jadvali (bir oldinga, bir orqaga) aktivatsiya xotirasini kamaytiradi — mikro-paketning orqaga o'tishi imkon qadar erta bajarilib, aktivatsiyalari bo'shatiladi.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Quvur parallelligi (pipeline parallelism, PP) modelni qatlamlar bo'yicha ketma-ket bosqichlarga (stage) bo'ladi: 1–8-qatlamlar GPU 0 da, 9–16-qatlamlar GPU 1 da va hokazo. Bosqichlar o'rtasida faqat chegara aktivatsiyalari (nuqta-nuqta) uzatiladi — bu TP dan ancha kam aloqa, shuning uchun PP serverlar o'rtasida ham ishlaydi. Muammo — pufak (bubble): sodda bajarishda GPU 1 GPU 0 tugatguncha bo'sh turadi. GPipe (Huang va hammualliflar, 2019) paketni m mikro-paketga bo'lib, ularni quvur bo'ylab ketma-ket yuboradi; pufak ulushi (s − 1) / (m + s − 1) ga tushadi, bu yerda s — bosqichlar soni. Masalan, s = 4, m = 16 da pufak 16 % (3/19); m = 64 da 4,5 %. PipeDream (Narayanan va hammualliflar, 2019) va Megatron ning 1F1B jadvali (bir oldinga, bir orqaga) aktivatsiya xotirasini kamaytiradi — mikro-paketning orqaga o'tishi imkon qadar erta bajarilib, aktivatsiyalari bo'shatiladi.</a:t>
            </a:r>
          </a:p>
          <a:p/>
          <a:p>
            <a:r>
              <a:t>Amalda uchala o'q birlashtiriladi — 3D parallellik: TP server ichida (NVLink, 8 GPU), PP serverlar guruhi bo'ylab, DP (yoki ZeRO) eng tashqi darajada. Megatron-Turing NLG 530B (2021) 560 ta DGX A100 da TP = 8, PP = 35, DP = 12 konfiguratsiyasida o'qitilgan. Quyidagi jadval strategiyalarni taqqoslaydi: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Amalda uchala o'q birlashtiriladi — 3D parallellik: TP server ichida (NVLink, 8 GPU), PP serverlar guruhi bo'ylab, DP (yoki ZeRO) eng tashqi darajada. Megatron-Turing NLG 530B (2021) 560 ta DGX A100 da TP = 8, PP = 35, DP = 12 konfiguratsiyasida o'qitilgan. Quyidagi jadval strategiyalarni taqqoslaydi: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SI muhiti bir necha qatlamdan iborat. Kollektiv aloqa qatlami: NCCL (NVIDIA), RCCL (AMD), oneCCL (Intel), Gloo (CPU) — topologiyani aniqlab, optimal algoritmni tanlaydi. Ramka qatlami: PyTorch Distributed (torch.distributed, DDP, FSDP, torchrun ishga tushiruvchi), TensorFlow tf.distribute, JAX pjit/sharding. Optimallashtirilgan o'qitish kutubxonalari: DeepSpeed (ZeRO, 3D parallellik, offload), Megatron-LM (TP/PP transformerlar uchun), Horovod (ring all-reduce, ko'p ramkali). Orkestratsiya qatlami: Slurm (HPC klasterlarida ish navbati va GPU ajratish), Kubernetes (bulutda; M7), Ray (Python da taqsimlangan vazifalar, Ray Train, giperparametrlarni qidirish; M7). Inferens qatlami: vLLM, TensorRT-LLM, Triton Inference Server — LLM ni TP bilan bir nechta GPU ga bo'lib xizmat ko'rsatish.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SI muhiti bir necha qatlamdan iborat. Kollektiv aloqa qatlami: NCCL (NVIDIA), RCCL (AMD), oneCCL (Intel), Gloo (CPU) — topologiyani aniqlab, optimal algoritmni tanlaydi. Ramka qatlami: PyTorch Distributed (torch.distributed, DDP, FSDP, torchrun ishga tushiruvchi), TensorFlow tf.distribute, JAX pjit/sharding. Optimallashtirilgan o'qitish kutubxonalari: DeepSpeed (ZeRO, 3D parallellik, offload), Megatron-LM (TP/PP transformerlar uchun), Horovod (ring all-reduce, ko'p ramkali). Orkestratsiya qatlami: Slurm (HPC klasterlarida ish navbati va GPU ajratish), Kubernetes (bulutda; M7), Ray (Python da taqsimlangan vazifalar, Ray Train, giperparametrlarni qidirish; M7). Inferens qatlami: vLLM, TensorRT-LLM, Triton Inference Server — LLM ni TP bilan bir nechta GPU ga bo'lib xizmat ko'rsatish.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 unumdor AI tizimini tashkil etishda apparat tomonida to'rt qaror hal qiluvchi. Interkonnekt topologiyasi: server ichida NVSwitch (har GPU juftligi to'liq tezlikda), serverlar orasida InfiniBand NDR 400 Gbit/s yoki RoCE Ethernet, «fat-tree» yoki «rail-optimized» topologiya (har GPU ning o'z tarmoq kartasi alohida kommutatorga ulanadi). GPUDirect RDMA: tarmoq kartasi GPU xotirasiga CPU va xost xotirasini chetlab o'tib to'g'ridan-to'g'ri yozadi — kechikish va CPU yuki kamayadi. Saqlash tizimi: minglab GPU ni ma'lumot bilan ta'minlash uchun parallel fayl tizimi (Lustre, GPFS, WEKA) yoki obyekt saqlash + mahalliy NVMe kesh; ImageNet uslubidagi o'qitishda GPU boshiga 100–300 MB/s, video va multimodal ma'lumotda ko'proq. Nazorat nuqtalari (checkpointing): 405B modelning holati (parametrlar + optimizator) 5 TB dan ortiq; uni har soatda yozish saqlash tizimiga alohida talab qo'yadi, 16 000 GPU da esa apparat nosozligi kuniga bir necha marta bo'lgani uchun checkpoint majburiy.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 unumdor AI tizimini tashkil etishda apparat tomonida to'rt qaror hal qiluvchi. Interkonnekt topologiyasi: server ichida NVSwitch (har GPU juftligi to'liq tezlikda), serverlar orasida InfiniBand NDR 400 Gbit/s yoki RoCE Ethernet, «fat-tree» yoki «rail-optimized» topologiya (har GPU ning o'z tarmoq kartasi alohida kommutatorga ulanadi). GPUDirect RDMA: tarmoq kartasi GPU xotirasiga CPU va xost xotirasini chetlab o'tib to'g'ridan-to'g'ri yozadi — kechikish va CPU yuki kamayadi. Saqlash tizimi: minglab GPU ni ma'lumot bilan ta'minlash uchun parallel fayl tizimi (Lustre, GPFS, WEKA) yoki obyekt saqlash + mahalliy NVMe kesh; ImageNet uslubidagi o'qitishda GPU boshiga 100–300 MB/s, video va multimodal ma'lumotda ko'proq. Nazorat nuqtalari (checkpointing): 405B modelning holati (parametrlar + optimizator) 5 TB dan ortiq; uni har soatda yozish saqlash tizimiga alohida talab qo'yadi, 16 000 GPU da esa apparat nosozligi kuniga bir necha marta bo'lgani uchun checkpoint majburiy.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Dasturiy tomonda masshtablash samaradorligini saqlash uchun: aloqani hisoblash bilan ustma-ust qo'yish, gradient to'plash (gradient accumulation) bilan paketni kattalashtirish, aloqa aniqligini kamaytirish (FP16/BF16 gradientlar, siqish), ma'lumot yuklash quvurini (DataLoader, num_workers, prefetch) tezlatkich tezligiga moslashtirish. Masshtablash samaradorligi E(p) = T(1 GPU, paket b) / T(p GPU, paket p·b) sifatida kuchsiz masshtablash bo'yicha o'lchanadi; yaxshi sozlangan DDP 8 GPU da 90–95 %, 1 000 GPU da 80–90 % beradi.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99a9d797ecdbcf11.jpg"/>
          <p:cNvPicPr>
            <a:picLocks noChangeAspect="1"/>
          </p:cNvPicPr>
          <p:nvPr/>
        </p:nvPicPr>
        <p:blipFill>
          <a:blip r:embed="rId2"/>
          <a:srcRect l="20078" r="20078"/>
          <a:stretch>
            <a:fillRect/>
          </a:stretch>
        </p:blipFill>
        <p:spPr>
          <a:xfrm>
            <a:off x="7850000" y="1500000"/>
            <a:ext cx="3300000" cy="3300000"/>
          </a:xfrm>
          <a:prstGeom prst="ellipse">
            <a:avLst/>
          </a:prstGeom>
          <a:ln w="19050">
            <a:solidFill>
              <a:srgbClr val="22D3EE"/>
            </a:solidFill>
          </a:ln>
        </p:spPr>
      </p:pic>
      <p:sp>
        <p:nvSpPr>
          <p:cNvPr id="65" name="TextBox 64"/>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Dennis van Zuijlekom · Wikimedia Commons · CC BY-SA 2.0</a:t>
            </a:r>
          </a:p>
        </p:txBody>
      </p:sp>
      <p:sp>
        <p:nvSpPr>
          <p:cNvPr id="66" name="Rounded Rectangle 65"/>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M3 · 2 soat</a:t>
            </a:r>
          </a:p>
        </p:txBody>
      </p:sp>
      <p:sp>
        <p:nvSpPr>
          <p:cNvPr id="67" name="TextBox 66"/>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8" name="TextBox 67"/>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 tizimlarida parallel va taqsimlangan hisoblash texnologiyalari</a:t>
            </a:r>
          </a:p>
        </p:txBody>
      </p:sp>
      <p:sp>
        <p:nvSpPr>
          <p:cNvPr id="69" name="Rectangle 68"/>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3"/>
                                        </p:tgtEl>
                                        <p:attrNameLst>
                                          <p:attrName>style.visibility</p:attrName>
                                        </p:attrNameLst>
                                      </p:cBhvr>
                                      <p:to>
                                        <p:strVal val="visible"/>
                                      </p:to>
                                    </p:set>
                                    <p:animEffect transition="in" filter="fade">
                                      <p:cBhvr>
                                        <p:cTn id="242" dur="550"/>
                                        <p:tgtEl>
                                          <p:spTgt spid="63"/>
                                        </p:tgtEl>
                                      </p:cBhvr>
                                    </p:animEffect>
                                    <p:anim calcmode="lin" valueType="num">
                                      <p:cBhvr additive="base">
                                        <p:cTn id="243" dur="550" fill="hold"/>
                                        <p:tgtEl>
                                          <p:spTgt spid="63"/>
                                        </p:tgtEl>
                                        <p:attrNameLst>
                                          <p:attrName>ppt_w</p:attrName>
                                        </p:attrNameLst>
                                      </p:cBhvr>
                                      <p:tavLst>
                                        <p:tav tm="0">
                                          <p:val>
                                            <p:strVal val="0"/>
                                          </p:val>
                                        </p:tav>
                                        <p:tav tm="100000">
                                          <p:val>
                                            <p:strVal val="#ppt_w"/>
                                          </p:val>
                                        </p:tav>
                                      </p:tavLst>
                                    </p:anim>
                                    <p:anim calcmode="lin" valueType="num">
                                      <p:cBhvr additive="base">
                                        <p:cTn id="244" dur="550" fill="hold"/>
                                        <p:tgtEl>
                                          <p:spTgt spid="63"/>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53" presetClass="entr" presetSubtype="16"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anim calcmode="lin" valueType="num">
                                      <p:cBhvr additive="base">
                                        <p:cTn id="249" dur="550" fill="hold"/>
                                        <p:tgtEl>
                                          <p:spTgt spid="62"/>
                                        </p:tgtEl>
                                        <p:attrNameLst>
                                          <p:attrName>ppt_w</p:attrName>
                                        </p:attrNameLst>
                                      </p:cBhvr>
                                      <p:tavLst>
                                        <p:tav tm="0">
                                          <p:val>
                                            <p:strVal val="0"/>
                                          </p:val>
                                        </p:tav>
                                        <p:tav tm="100000">
                                          <p:val>
                                            <p:strVal val="#ppt_w"/>
                                          </p:val>
                                        </p:tav>
                                      </p:tavLst>
                                    </p:anim>
                                    <p:anim calcmode="lin" valueType="num">
                                      <p:cBhvr additive="base">
                                        <p:cTn id="250" dur="550" fill="hold"/>
                                        <p:tgtEl>
                                          <p:spTgt spid="62"/>
                                        </p:tgtEl>
                                        <p:attrNameLst>
                                          <p:attrName>ppt_h</p:attrName>
                                        </p:attrNameLst>
                                      </p:cBhvr>
                                      <p:tavLst>
                                        <p:tav tm="0">
                                          <p:val>
                                            <p:strVal val="0"/>
                                          </p:val>
                                        </p:tav>
                                        <p:tav tm="100000">
                                          <p:val>
                                            <p:strVal val="#ppt_h"/>
                                          </p:val>
                                        </p:tav>
                                      </p:tavLst>
                                    </p:anim>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4"/>
                                        </p:tgtEl>
                                        <p:attrNameLst>
                                          <p:attrName>style.visibility</p:attrName>
                                        </p:attrNameLst>
                                      </p:cBhvr>
                                      <p:to>
                                        <p:strVal val="visible"/>
                                      </p:to>
                                    </p:set>
                                    <p:animEffect transition="in" filter="fade">
                                      <p:cBhvr>
                                        <p:cTn id="254" dur="550"/>
                                        <p:tgtEl>
                                          <p:spTgt spid="64"/>
                                        </p:tgtEl>
                                      </p:cBhvr>
                                    </p:animEffect>
                                    <p:anim calcmode="lin" valueType="num">
                                      <p:cBhvr additive="base">
                                        <p:cTn id="255" dur="550" fill="hold"/>
                                        <p:tgtEl>
                                          <p:spTgt spid="64"/>
                                        </p:tgtEl>
                                        <p:attrNameLst>
                                          <p:attrName>ppt_w</p:attrName>
                                        </p:attrNameLst>
                                      </p:cBhvr>
                                      <p:tavLst>
                                        <p:tav tm="0">
                                          <p:val>
                                            <p:strVal val="0"/>
                                          </p:val>
                                        </p:tav>
                                        <p:tav tm="100000">
                                          <p:val>
                                            <p:strVal val="#ppt_w"/>
                                          </p:val>
                                        </p:tav>
                                      </p:tavLst>
                                    </p:anim>
                                    <p:anim calcmode="lin" valueType="num">
                                      <p:cBhvr additive="base">
                                        <p:cTn id="256" dur="550" fill="hold"/>
                                        <p:tgtEl>
                                          <p:spTgt spid="64"/>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10" presetClass="entr" presetSubtype="0"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childTnLst>
                                </p:cTn>
                              </p:par>
                            </p:childTnLst>
                          </p:cTn>
                        </p:par>
                        <p:par>
                          <p:cTn id="261" fill="hold">
                            <p:stCondLst>
                              <p:cond delay="350"/>
                            </p:stCondLst>
                            <p:childTnLst>
                              <p:par>
                                <p:cTn id="262" presetID="10" presetClass="entr" presetSubtype="0" fill="hold" grpId="0" nodeType="afterEffect">
                                  <p:stCondLst>
                                    <p:cond delay="0"/>
                                  </p:stCondLst>
                                  <p:childTnLst>
                                    <p:set>
                                      <p:cBhvr>
                                        <p:cTn id="263" dur="1" fill="hold">
                                          <p:stCondLst>
                                            <p:cond delay="0"/>
                                          </p:stCondLst>
                                        </p:cTn>
                                        <p:tgtEl>
                                          <p:spTgt spid="67"/>
                                        </p:tgtEl>
                                        <p:attrNameLst>
                                          <p:attrName>style.visibility</p:attrName>
                                        </p:attrNameLst>
                                      </p:cBhvr>
                                      <p:to>
                                        <p:strVal val="visible"/>
                                      </p:to>
                                    </p:set>
                                    <p:animEffect transition="in" filter="fade">
                                      <p:cBhvr>
                                        <p:cTn id="264" dur="550"/>
                                        <p:tgtEl>
                                          <p:spTgt spid="67"/>
                                        </p:tgtEl>
                                      </p:cBhvr>
                                    </p:animEffect>
                                  </p:childTnLst>
                                </p:cTn>
                              </p:par>
                            </p:childTnLst>
                          </p:cTn>
                        </p:par>
                        <p:par>
                          <p:cTn id="265" fill="hold">
                            <p:stCondLst>
                              <p:cond delay="500"/>
                            </p:stCondLst>
                            <p:childTnLst>
                              <p:par>
                                <p:cTn id="266" presetID="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 calcmode="lin" valueType="num">
                                      <p:cBhvr additive="base">
                                        <p:cTn id="269" dur="550" fill="hold"/>
                                        <p:tgtEl>
                                          <p:spTgt spid="66"/>
                                        </p:tgtEl>
                                        <p:attrNameLst>
                                          <p:attrName>ppt_x</p:attrName>
                                        </p:attrNameLst>
                                      </p:cBhvr>
                                      <p:tavLst>
                                        <p:tav tm="0">
                                          <p:val>
                                            <p:strVal val="0-#ppt_w/2"/>
                                          </p:val>
                                        </p:tav>
                                        <p:tav tm="100000">
                                          <p:val>
                                            <p:strVal val="#ppt_x"/>
                                          </p:val>
                                        </p:tav>
                                      </p:tavLst>
                                    </p:anim>
                                    <p:anim calcmode="lin" valueType="num">
                                      <p:cBhvr additive="base">
                                        <p:cTn id="270" dur="550" fill="hold"/>
                                        <p:tgtEl>
                                          <p:spTgt spid="66"/>
                                        </p:tgtEl>
                                        <p:attrNameLst>
                                          <p:attrName>ppt_y</p:attrName>
                                        </p:attrNameLst>
                                      </p:cBhvr>
                                      <p:tavLst>
                                        <p:tav tm="0">
                                          <p:val>
                                            <p:strVal val="#ppt_y"/>
                                          </p:val>
                                        </p:tav>
                                        <p:tav tm="100000">
                                          <p:val>
                                            <p:strVal val="#ppt_y"/>
                                          </p:val>
                                        </p:tav>
                                      </p:tavLst>
                                    </p:anim>
                                  </p:childTnLst>
                                </p:cTn>
                              </p:par>
                            </p:childTnLst>
                          </p:cTn>
                        </p:par>
                        <p:par>
                          <p:cTn id="271" fill="hold">
                            <p:stCondLst>
                              <p:cond delay="650"/>
                            </p:stCondLst>
                            <p:childTnLst>
                              <p:par>
                                <p:cTn id="272" presetID="42" presetClass="entr" presetSubtype="0" fill="hold" grpId="0" nodeType="afterEffect">
                                  <p:stCondLst>
                                    <p:cond delay="0"/>
                                  </p:stCondLst>
                                  <p:childTnLst>
                                    <p:set>
                                      <p:cBhvr>
                                        <p:cTn id="273" dur="1" fill="hold">
                                          <p:stCondLst>
                                            <p:cond delay="0"/>
                                          </p:stCondLst>
                                        </p:cTn>
                                        <p:tgtEl>
                                          <p:spTgt spid="68"/>
                                        </p:tgtEl>
                                        <p:attrNameLst>
                                          <p:attrName>style.visibility</p:attrName>
                                        </p:attrNameLst>
                                      </p:cBhvr>
                                      <p:to>
                                        <p:strVal val="visible"/>
                                      </p:to>
                                    </p:set>
                                    <p:animEffect transition="in" filter="fade">
                                      <p:cBhvr>
                                        <p:cTn id="274" dur="550"/>
                                        <p:tgtEl>
                                          <p:spTgt spid="68"/>
                                        </p:tgtEl>
                                      </p:cBhvr>
                                    </p:animEffect>
                                    <p:anim calcmode="lin" valueType="num">
                                      <p:cBhvr additive="base">
                                        <p:cTn id="275" dur="550" fill="hold"/>
                                        <p:tgtEl>
                                          <p:spTgt spid="68"/>
                                        </p:tgtEl>
                                        <p:attrNameLst>
                                          <p:attrName>ppt_x</p:attrName>
                                        </p:attrNameLst>
                                      </p:cBhvr>
                                      <p:tavLst>
                                        <p:tav tm="0">
                                          <p:val>
                                            <p:strVal val="#ppt_x"/>
                                          </p:val>
                                        </p:tav>
                                        <p:tav tm="100000">
                                          <p:val>
                                            <p:strVal val="#ppt_x"/>
                                          </p:val>
                                        </p:tav>
                                      </p:tavLst>
                                    </p:anim>
                                    <p:anim calcmode="lin" valueType="num">
                                      <p:cBhvr additive="base">
                                        <p:cTn id="276" dur="550" fill="hold"/>
                                        <p:tgtEl>
                                          <p:spTgt spid="68"/>
                                        </p:tgtEl>
                                        <p:attrNameLst>
                                          <p:attrName>ppt_y</p:attrName>
                                        </p:attrNameLst>
                                      </p:cBhvr>
                                      <p:tavLst>
                                        <p:tav tm="0">
                                          <p:val>
                                            <p:strVal val="#ppt_y+.08"/>
                                          </p:val>
                                        </p:tav>
                                        <p:tav tm="100000">
                                          <p:val>
                                            <p:strVal val="#ppt_y"/>
                                          </p:val>
                                        </p:tav>
                                      </p:tavLst>
                                    </p:anim>
                                  </p:childTnLst>
                                </p:cTn>
                              </p:par>
                            </p:childTnLst>
                          </p:cTn>
                        </p:par>
                        <p:par>
                          <p:cTn id="277" fill="hold">
                            <p:stCondLst>
                              <p:cond delay="800"/>
                            </p:stCondLst>
                            <p:childTnLst>
                              <p:par>
                                <p:cTn id="278" presetID="2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Effect transition="in" filter="wipe(left)">
                                      <p:cBhvr>
                                        <p:cTn id="281" dur="800"/>
                                        <p:tgtEl>
                                          <p:spTgt spid="69"/>
                                        </p:tgtEl>
                                      </p:cBhvr>
                                    </p:animEffect>
                                  </p:childTnLst>
                                </p:cTn>
                              </p:par>
                            </p:childTnLst>
                          </p:cTn>
                        </p:par>
                        <p:par>
                          <p:cTn id="282" fill="hold">
                            <p:stCondLst>
                              <p:cond delay="950"/>
                            </p:stCondLst>
                            <p:childTnLst>
                              <p:par>
                                <p:cTn id="283" presetID="10" presetClass="entr" presetSubtype="0" fill="hold" grpId="0" nodeType="afterEffect">
                                  <p:stCondLst>
                                    <p:cond delay="0"/>
                                  </p:stCondLst>
                                  <p:childTnLst>
                                    <p:set>
                                      <p:cBhvr>
                                        <p:cTn id="284" dur="1" fill="hold">
                                          <p:stCondLst>
                                            <p:cond delay="0"/>
                                          </p:stCondLst>
                                        </p:cTn>
                                        <p:tgtEl>
                                          <p:spTgt spid="70"/>
                                        </p:tgtEl>
                                        <p:attrNameLst>
                                          <p:attrName>style.visibility</p:attrName>
                                        </p:attrNameLst>
                                      </p:cBhvr>
                                      <p:to>
                                        <p:strVal val="visible"/>
                                      </p:to>
                                    </p:set>
                                    <p:animEffect transition="in" filter="fade">
                                      <p:cBhvr>
                                        <p:cTn id="285" dur="5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P spid="62" grpId="0" animBg="1"/>
      <p:bldP spid="65" grpId="0" animBg="1"/>
      <p:bldP spid="67" grpId="0" animBg="1"/>
      <p:bldP spid="66" grpId="0" animBg="1"/>
      <p:bldP spid="68" grpId="0" animBg="1"/>
      <p:bldP spid="69" grpId="0" animBg="1"/>
      <p:bldP spid="7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164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172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172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680000"/>
            <a:ext cx="10250000" cy="440000"/>
          </a:xfrm>
          <a:prstGeom prst="rect">
            <a:avLst/>
          </a:prstGeom>
          <a:noFill/>
        </p:spPr>
        <p:txBody>
          <a:bodyPr wrap="square" anchor="ctr">
            <a:spAutoFit/>
          </a:bodyPr>
          <a:lstStyle/>
          <a:p>
            <a:r>
              <a:rPr sz="1600" b="0">
                <a:solidFill>
                  <a:srgbClr val="E8EEFA"/>
                </a:solidFill>
                <a:latin typeface="Segoe UI"/>
              </a:rPr>
              <a:t>Parallel hisoblashning asosiy tamoyillari</a:t>
            </a:r>
          </a:p>
        </p:txBody>
      </p:sp>
      <p:sp>
        <p:nvSpPr>
          <p:cNvPr id="28" name="Rounded Rectangle 27"/>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35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35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CUDA: GPU ichidagi parallellik</a:t>
            </a:r>
          </a:p>
        </p:txBody>
      </p:sp>
      <p:sp>
        <p:nvSpPr>
          <p:cNvPr id="32" name="Rounded Rectangle 31"/>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298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298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OpenMP: umumiy xotirali parallellik</a:t>
            </a:r>
          </a:p>
        </p:txBody>
      </p:sp>
      <p:sp>
        <p:nvSpPr>
          <p:cNvPr id="36" name="Rounded Rectangle 3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361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361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MPI: taqsimlangan xotirali parallellik</a:t>
            </a:r>
          </a:p>
        </p:txBody>
      </p:sp>
      <p:sp>
        <p:nvSpPr>
          <p:cNvPr id="40" name="Rounded Rectangle 39"/>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24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24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Ma'lumotlar va model parallelligi</a:t>
            </a:r>
          </a:p>
        </p:txBody>
      </p:sp>
      <p:sp>
        <p:nvSpPr>
          <p:cNvPr id="44" name="Rounded Rectangle 43"/>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0000" y="487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0000" y="487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7" name="TextBox 46"/>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Tensor va Pipeline parallelism</a:t>
            </a:r>
          </a:p>
        </p:txBody>
      </p:sp>
      <p:sp>
        <p:nvSpPr>
          <p:cNvPr id="48" name="Rounded Rectangle 47"/>
          <p:cNvSpPr/>
          <p:nvPr/>
        </p:nvSpPr>
        <p:spPr>
          <a:xfrm>
            <a:off x="550000" y="542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50000" y="550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60000" y="550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51" name="TextBox 50"/>
          <p:cNvSpPr txBox="1"/>
          <p:nvPr/>
        </p:nvSpPr>
        <p:spPr>
          <a:xfrm>
            <a:off x="1300000" y="5460000"/>
            <a:ext cx="10250000" cy="440000"/>
          </a:xfrm>
          <a:prstGeom prst="rect">
            <a:avLst/>
          </a:prstGeom>
          <a:noFill/>
        </p:spPr>
        <p:txBody>
          <a:bodyPr wrap="square" anchor="ctr">
            <a:spAutoFit/>
          </a:bodyPr>
          <a:lstStyle/>
          <a:p>
            <a:r>
              <a:rPr sz="1600" b="0">
                <a:solidFill>
                  <a:srgbClr val="E8EEFA"/>
                </a:solidFill>
                <a:latin typeface="Segoe UI"/>
              </a:rPr>
              <a:t>Taqsimlangan AI hisoblash muhitlari va yuqori unumdor tizimlarni tashkil etish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50"/>
                                        <p:tgtEl>
                                          <p:spTgt spid="44"/>
                                        </p:tgtEl>
                                      </p:cBhvr>
                                    </p:animEffect>
                                    <p:anim calcmode="lin" valueType="num">
                                      <p:cBhvr additive="base">
                                        <p:cTn id="136" dur="550" fill="hold"/>
                                        <p:tgtEl>
                                          <p:spTgt spid="44"/>
                                        </p:tgtEl>
                                        <p:attrNameLst>
                                          <p:attrName>ppt_x</p:attrName>
                                        </p:attrNameLst>
                                      </p:cBhvr>
                                      <p:tavLst>
                                        <p:tav tm="0">
                                          <p:val>
                                            <p:strVal val="#ppt_x"/>
                                          </p:val>
                                        </p:tav>
                                        <p:tav tm="100000">
                                          <p:val>
                                            <p:strVal val="#ppt_x"/>
                                          </p:val>
                                        </p:tav>
                                      </p:tavLst>
                                    </p:anim>
                                    <p:anim calcmode="lin" valueType="num">
                                      <p:cBhvr additive="base">
                                        <p:cTn id="137" dur="550" fill="hold"/>
                                        <p:tgtEl>
                                          <p:spTgt spid="44"/>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5"/>
                                        </p:tgtEl>
                                        <p:attrNameLst>
                                          <p:attrName>style.visibility</p:attrName>
                                        </p:attrNameLst>
                                      </p:cBhvr>
                                      <p:to>
                                        <p:strVal val="visible"/>
                                      </p:to>
                                    </p:set>
                                    <p:animEffect transition="in" filter="fade">
                                      <p:cBhvr>
                                        <p:cTn id="141" dur="550"/>
                                        <p:tgtEl>
                                          <p:spTgt spid="45"/>
                                        </p:tgtEl>
                                      </p:cBhvr>
                                    </p:animEffect>
                                    <p:anim calcmode="lin" valueType="num">
                                      <p:cBhvr additive="base">
                                        <p:cTn id="142" dur="550" fill="hold"/>
                                        <p:tgtEl>
                                          <p:spTgt spid="45"/>
                                        </p:tgtEl>
                                        <p:attrNameLst>
                                          <p:attrName>ppt_x</p:attrName>
                                        </p:attrNameLst>
                                      </p:cBhvr>
                                      <p:tavLst>
                                        <p:tav tm="0">
                                          <p:val>
                                            <p:strVal val="#ppt_x"/>
                                          </p:val>
                                        </p:tav>
                                        <p:tav tm="100000">
                                          <p:val>
                                            <p:strVal val="#ppt_x"/>
                                          </p:val>
                                        </p:tav>
                                      </p:tavLst>
                                    </p:anim>
                                    <p:anim calcmode="lin" valueType="num">
                                      <p:cBhvr additive="base">
                                        <p:cTn id="143" dur="550" fill="hold"/>
                                        <p:tgtEl>
                                          <p:spTgt spid="45"/>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50"/>
                                        <p:tgtEl>
                                          <p:spTgt spid="46"/>
                                        </p:tgtEl>
                                      </p:cBhvr>
                                    </p:animEffect>
                                    <p:anim calcmode="lin" valueType="num">
                                      <p:cBhvr additive="base">
                                        <p:cTn id="148" dur="550" fill="hold"/>
                                        <p:tgtEl>
                                          <p:spTgt spid="46"/>
                                        </p:tgtEl>
                                        <p:attrNameLst>
                                          <p:attrName>ppt_w</p:attrName>
                                        </p:attrNameLst>
                                      </p:cBhvr>
                                      <p:tavLst>
                                        <p:tav tm="0">
                                          <p:val>
                                            <p:strVal val="0"/>
                                          </p:val>
                                        </p:tav>
                                        <p:tav tm="100000">
                                          <p:val>
                                            <p:strVal val="#ppt_w"/>
                                          </p:val>
                                        </p:tav>
                                      </p:tavLst>
                                    </p:anim>
                                    <p:anim calcmode="lin" valueType="num">
                                      <p:cBhvr additive="base">
                                        <p:cTn id="149" dur="550" fill="hold"/>
                                        <p:tgtEl>
                                          <p:spTgt spid="46"/>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7"/>
                                        </p:tgtEl>
                                        <p:attrNameLst>
                                          <p:attrName>style.visibility</p:attrName>
                                        </p:attrNameLst>
                                      </p:cBhvr>
                                      <p:to>
                                        <p:strVal val="visible"/>
                                      </p:to>
                                    </p:set>
                                    <p:animEffect transition="in" filter="fade">
                                      <p:cBhvr>
                                        <p:cTn id="153" dur="550"/>
                                        <p:tgtEl>
                                          <p:spTgt spid="47"/>
                                        </p:tgtEl>
                                      </p:cBhvr>
                                    </p:animEffect>
                                    <p:anim calcmode="lin" valueType="num">
                                      <p:cBhvr additive="base">
                                        <p:cTn id="154" dur="550" fill="hold"/>
                                        <p:tgtEl>
                                          <p:spTgt spid="47"/>
                                        </p:tgtEl>
                                        <p:attrNameLst>
                                          <p:attrName>ppt_x</p:attrName>
                                        </p:attrNameLst>
                                      </p:cBhvr>
                                      <p:tavLst>
                                        <p:tav tm="0">
                                          <p:val>
                                            <p:strVal val="#ppt_x"/>
                                          </p:val>
                                        </p:tav>
                                        <p:tav tm="100000">
                                          <p:val>
                                            <p:strVal val="#ppt_x"/>
                                          </p:val>
                                        </p:tav>
                                      </p:tavLst>
                                    </p:anim>
                                    <p:anim calcmode="lin" valueType="num">
                                      <p:cBhvr additive="base">
                                        <p:cTn id="155" dur="550" fill="hold"/>
                                        <p:tgtEl>
                                          <p:spTgt spid="47"/>
                                        </p:tgtEl>
                                        <p:attrNameLst>
                                          <p:attrName>ppt_y</p:attrName>
                                        </p:attrNameLst>
                                      </p:cBhvr>
                                      <p:tavLst>
                                        <p:tav tm="0">
                                          <p:val>
                                            <p:strVal val="#ppt_y+.08"/>
                                          </p:val>
                                        </p:tav>
                                        <p:tav tm="100000">
                                          <p:val>
                                            <p:strVal val="#ppt_y"/>
                                          </p:val>
                                        </p:tav>
                                      </p:tavLst>
                                    </p:anim>
                                  </p:childTnLst>
                                </p:cTn>
                              </p:par>
                            </p:childTnLst>
                          </p:cTn>
                        </p:par>
                        <p:par>
                          <p:cTn id="156" fill="hold">
                            <p:stCondLst>
                              <p:cond delay="1400"/>
                            </p:stCondLst>
                            <p:childTnLst>
                              <p:par>
                                <p:cTn id="157" presetID="42" presetClass="entr" presetSubtype="0" fill="hold" grpId="0" nodeType="afterEffect">
                                  <p:stCondLst>
                                    <p:cond delay="0"/>
                                  </p:stCondLst>
                                  <p:childTnLst>
                                    <p:set>
                                      <p:cBhvr>
                                        <p:cTn id="158" dur="1" fill="hold">
                                          <p:stCondLst>
                                            <p:cond delay="0"/>
                                          </p:stCondLst>
                                        </p:cTn>
                                        <p:tgtEl>
                                          <p:spTgt spid="48"/>
                                        </p:tgtEl>
                                        <p:attrNameLst>
                                          <p:attrName>style.visibility</p:attrName>
                                        </p:attrNameLst>
                                      </p:cBhvr>
                                      <p:to>
                                        <p:strVal val="visible"/>
                                      </p:to>
                                    </p:set>
                                    <p:animEffect transition="in" filter="fade">
                                      <p:cBhvr>
                                        <p:cTn id="159" dur="550"/>
                                        <p:tgtEl>
                                          <p:spTgt spid="48"/>
                                        </p:tgtEl>
                                      </p:cBhvr>
                                    </p:animEffect>
                                    <p:anim calcmode="lin" valueType="num">
                                      <p:cBhvr additive="base">
                                        <p:cTn id="160" dur="550" fill="hold"/>
                                        <p:tgtEl>
                                          <p:spTgt spid="48"/>
                                        </p:tgtEl>
                                        <p:attrNameLst>
                                          <p:attrName>ppt_x</p:attrName>
                                        </p:attrNameLst>
                                      </p:cBhvr>
                                      <p:tavLst>
                                        <p:tav tm="0">
                                          <p:val>
                                            <p:strVal val="#ppt_x"/>
                                          </p:val>
                                        </p:tav>
                                        <p:tav tm="100000">
                                          <p:val>
                                            <p:strVal val="#ppt_x"/>
                                          </p:val>
                                        </p:tav>
                                      </p:tavLst>
                                    </p:anim>
                                    <p:anim calcmode="lin" valueType="num">
                                      <p:cBhvr additive="base">
                                        <p:cTn id="161" dur="550" fill="hold"/>
                                        <p:tgtEl>
                                          <p:spTgt spid="48"/>
                                        </p:tgtEl>
                                        <p:attrNameLst>
                                          <p:attrName>ppt_y</p:attrName>
                                        </p:attrNameLst>
                                      </p:cBhvr>
                                      <p:tavLst>
                                        <p:tav tm="0">
                                          <p:val>
                                            <p:strVal val="#ppt_y+.08"/>
                                          </p:val>
                                        </p:tav>
                                        <p:tav tm="100000">
                                          <p:val>
                                            <p:strVal val="#ppt_y"/>
                                          </p:val>
                                        </p:tav>
                                      </p:tavLst>
                                    </p:anim>
                                  </p:childTnLst>
                                </p:cTn>
                              </p:par>
                            </p:childTnLst>
                          </p:cTn>
                        </p:par>
                        <p:par>
                          <p:cTn id="162" fill="hold">
                            <p:stCondLst>
                              <p:cond delay="1400"/>
                            </p:stCondLst>
                            <p:childTnLst>
                              <p:par>
                                <p:cTn id="163" presetID="42" presetClass="entr" presetSubtype="0" fill="hold" grpId="0" nodeType="afterEffect">
                                  <p:stCondLst>
                                    <p:cond delay="0"/>
                                  </p:stCondLst>
                                  <p:childTnLst>
                                    <p:set>
                                      <p:cBhvr>
                                        <p:cTn id="164" dur="1" fill="hold">
                                          <p:stCondLst>
                                            <p:cond delay="0"/>
                                          </p:stCondLst>
                                        </p:cTn>
                                        <p:tgtEl>
                                          <p:spTgt spid="49"/>
                                        </p:tgtEl>
                                        <p:attrNameLst>
                                          <p:attrName>style.visibility</p:attrName>
                                        </p:attrNameLst>
                                      </p:cBhvr>
                                      <p:to>
                                        <p:strVal val="visible"/>
                                      </p:to>
                                    </p:set>
                                    <p:animEffect transition="in" filter="fade">
                                      <p:cBhvr>
                                        <p:cTn id="165" dur="550"/>
                                        <p:tgtEl>
                                          <p:spTgt spid="49"/>
                                        </p:tgtEl>
                                      </p:cBhvr>
                                    </p:animEffect>
                                    <p:anim calcmode="lin" valueType="num">
                                      <p:cBhvr additive="base">
                                        <p:cTn id="166" dur="550" fill="hold"/>
                                        <p:tgtEl>
                                          <p:spTgt spid="49"/>
                                        </p:tgtEl>
                                        <p:attrNameLst>
                                          <p:attrName>ppt_x</p:attrName>
                                        </p:attrNameLst>
                                      </p:cBhvr>
                                      <p:tavLst>
                                        <p:tav tm="0">
                                          <p:val>
                                            <p:strVal val="#ppt_x"/>
                                          </p:val>
                                        </p:tav>
                                        <p:tav tm="100000">
                                          <p:val>
                                            <p:strVal val="#ppt_x"/>
                                          </p:val>
                                        </p:tav>
                                      </p:tavLst>
                                    </p:anim>
                                    <p:anim calcmode="lin" valueType="num">
                                      <p:cBhvr additive="base">
                                        <p:cTn id="167" dur="550" fill="hold"/>
                                        <p:tgtEl>
                                          <p:spTgt spid="49"/>
                                        </p:tgtEl>
                                        <p:attrNameLst>
                                          <p:attrName>ppt_y</p:attrName>
                                        </p:attrNameLst>
                                      </p:cBhvr>
                                      <p:tavLst>
                                        <p:tav tm="0">
                                          <p:val>
                                            <p:strVal val="#ppt_y+.08"/>
                                          </p:val>
                                        </p:tav>
                                        <p:tav tm="100000">
                                          <p:val>
                                            <p:strVal val="#ppt_y"/>
                                          </p:val>
                                        </p:tav>
                                      </p:tavLst>
                                    </p:anim>
                                  </p:childTnLst>
                                </p:cTn>
                              </p:par>
                            </p:childTnLst>
                          </p:cTn>
                        </p:par>
                        <p:par>
                          <p:cTn id="168" fill="hold">
                            <p:stCondLst>
                              <p:cond delay="1400"/>
                            </p:stCondLst>
                            <p:childTnLst>
                              <p:par>
                                <p:cTn id="169" presetID="53" presetClass="entr" presetSubtype="16" fill="hold" grpId="0" nodeType="afterEffect">
                                  <p:stCondLst>
                                    <p:cond delay="0"/>
                                  </p:stCondLst>
                                  <p:childTnLst>
                                    <p:set>
                                      <p:cBhvr>
                                        <p:cTn id="170" dur="1" fill="hold">
                                          <p:stCondLst>
                                            <p:cond delay="0"/>
                                          </p:stCondLst>
                                        </p:cTn>
                                        <p:tgtEl>
                                          <p:spTgt spid="50"/>
                                        </p:tgtEl>
                                        <p:attrNameLst>
                                          <p:attrName>style.visibility</p:attrName>
                                        </p:attrNameLst>
                                      </p:cBhvr>
                                      <p:to>
                                        <p:strVal val="visible"/>
                                      </p:to>
                                    </p:set>
                                    <p:animEffect transition="in" filter="fade">
                                      <p:cBhvr>
                                        <p:cTn id="171" dur="550"/>
                                        <p:tgtEl>
                                          <p:spTgt spid="50"/>
                                        </p:tgtEl>
                                      </p:cBhvr>
                                    </p:animEffect>
                                    <p:anim calcmode="lin" valueType="num">
                                      <p:cBhvr additive="base">
                                        <p:cTn id="172" dur="550" fill="hold"/>
                                        <p:tgtEl>
                                          <p:spTgt spid="50"/>
                                        </p:tgtEl>
                                        <p:attrNameLst>
                                          <p:attrName>ppt_w</p:attrName>
                                        </p:attrNameLst>
                                      </p:cBhvr>
                                      <p:tavLst>
                                        <p:tav tm="0">
                                          <p:val>
                                            <p:strVal val="0"/>
                                          </p:val>
                                        </p:tav>
                                        <p:tav tm="100000">
                                          <p:val>
                                            <p:strVal val="#ppt_w"/>
                                          </p:val>
                                        </p:tav>
                                      </p:tavLst>
                                    </p:anim>
                                    <p:anim calcmode="lin" valueType="num">
                                      <p:cBhvr additive="base">
                                        <p:cTn id="173" dur="550" fill="hold"/>
                                        <p:tgtEl>
                                          <p:spTgt spid="50"/>
                                        </p:tgtEl>
                                        <p:attrNameLst>
                                          <p:attrName>ppt_h</p:attrName>
                                        </p:attrNameLst>
                                      </p:cBhvr>
                                      <p:tavLst>
                                        <p:tav tm="0">
                                          <p:val>
                                            <p:strVal val="0"/>
                                          </p:val>
                                        </p:tav>
                                        <p:tav tm="100000">
                                          <p:val>
                                            <p:strVal val="#ppt_h"/>
                                          </p:val>
                                        </p:tav>
                                      </p:tavLst>
                                    </p:anim>
                                  </p:childTnLst>
                                </p:cTn>
                              </p:par>
                            </p:childTnLst>
                          </p:cTn>
                        </p:par>
                        <p:par>
                          <p:cTn id="174" fill="hold">
                            <p:stCondLst>
                              <p:cond delay="1400"/>
                            </p:stCondLst>
                            <p:childTnLst>
                              <p:par>
                                <p:cTn id="175" presetID="42" presetClass="entr" presetSubtype="0" fill="hold" grpId="0" nodeType="afterEffect">
                                  <p:stCondLst>
                                    <p:cond delay="0"/>
                                  </p:stCondLst>
                                  <p:childTnLst>
                                    <p:set>
                                      <p:cBhvr>
                                        <p:cTn id="176" dur="1" fill="hold">
                                          <p:stCondLst>
                                            <p:cond delay="0"/>
                                          </p:stCondLst>
                                        </p:cTn>
                                        <p:tgtEl>
                                          <p:spTgt spid="51"/>
                                        </p:tgtEl>
                                        <p:attrNameLst>
                                          <p:attrName>style.visibility</p:attrName>
                                        </p:attrNameLst>
                                      </p:cBhvr>
                                      <p:to>
                                        <p:strVal val="visible"/>
                                      </p:to>
                                    </p:set>
                                    <p:animEffect transition="in" filter="fade">
                                      <p:cBhvr>
                                        <p:cTn id="177" dur="550"/>
                                        <p:tgtEl>
                                          <p:spTgt spid="51"/>
                                        </p:tgtEl>
                                      </p:cBhvr>
                                    </p:animEffect>
                                    <p:anim calcmode="lin" valueType="num">
                                      <p:cBhvr additive="base">
                                        <p:cTn id="178" dur="550" fill="hold"/>
                                        <p:tgtEl>
                                          <p:spTgt spid="51"/>
                                        </p:tgtEl>
                                        <p:attrNameLst>
                                          <p:attrName>ppt_x</p:attrName>
                                        </p:attrNameLst>
                                      </p:cBhvr>
                                      <p:tavLst>
                                        <p:tav tm="0">
                                          <p:val>
                                            <p:strVal val="#ppt_x"/>
                                          </p:val>
                                        </p:tav>
                                        <p:tav tm="100000">
                                          <p:val>
                                            <p:strVal val="#ppt_x"/>
                                          </p:val>
                                        </p:tav>
                                      </p:tavLst>
                                    </p:anim>
                                    <p:anim calcmode="lin" valueType="num">
                                      <p:cBhvr additive="base">
                                        <p:cTn id="179" dur="550" fill="hold"/>
                                        <p:tgtEl>
                                          <p:spTgt spid="5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3e39b90860aa1c63.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Adam C Snape · Wikimedia Commons · CC BY-SA 2.0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Parallel hisoblashning asosiy tamoyillari</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 hisoblashning asosiy tamoyillari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363880"/>
            <a:ext cx="50000" cy="285224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Flinn tasnifi (Flynn's taxonomy) hisoblash tizimlarini buyruq va ma'lumot oqimlari soniga ko'ra to'rt sinfga ajratadi: SISD (bitta buyruq, bitta ma'lumot — klassik skalyar protsessor), SIMD (bitta buyruq, ko'p ma'lumot — vektor bloklar, GPU warp), MISD…</a:t>
            </a:r>
          </a:p>
          <a:p>
            <a:pPr>
              <a:spcBef>
                <a:spcPts val="400"/>
              </a:spcBef>
            </a:pPr>
            <a:r>
              <a:rPr sz="1600">
                <a:solidFill>
                  <a:srgbClr val="AEBBD9"/>
                </a:solidFill>
                <a:latin typeface="Segoe UI"/>
              </a:rPr>
              <a:t>Zamonaviy SI tizimi barcha darajalarni birlashtiradi: klaster MIMD, har tugundagi GPU SIMT (SIMD ning oqimli varianti), har SM ichidagi Tensor Core esa matritsa darajasidagi SIMD.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 hisoblashning asosiy tamoyillari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Parallel dasturning sifatini ikki ko'rsatkich belgilaydi: tezlashuv S(p) = T(1) / T(p) — p protsessorda bajarish vaqtining bitta protsessordagi vaqtga nisbati, va samaradorlik E(p) = S(p) / p — ideal chiziqli tezlashuvga nisbatan ulush.</a:t>
            </a:r>
          </a:p>
          <a:p>
            <a:pPr>
              <a:spcBef>
                <a:spcPts val="400"/>
              </a:spcBef>
            </a:pPr>
            <a:r>
              <a:rPr sz="1400">
                <a:solidFill>
                  <a:srgbClr val="AEBBD9"/>
                </a:solidFill>
                <a:latin typeface="Segoe UI"/>
              </a:rPr>
              <a:t>Amdal qonuni tezlashuvning yuqori chegarasini beradi: agar ishning f ulushi ketma-ket bo'lsa, S(p) ≤ 1 / (f + (1 − f)/p), va p → ∞ da S ≤ 1/f. Ketma-ket ulush 5 % bo'lsa, hatto ming protsessor ham 20 baravardan ortiq tezlashuv bermaydi.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 hisoblashning asosiy tamoyillari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607432"/>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43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Gustafson qonuni boshqa nuqtai nazarni beradi: amalda protsessorlar ko'paysa, muhandis masalani kattalashtiradi (ko'proq ma'lumot, kattaroq model).</a:t>
            </a:r>
          </a:p>
          <a:p>
            <a:pPr>
              <a:spcBef>
                <a:spcPts val="400"/>
              </a:spcBef>
            </a:pPr>
            <a:r>
              <a:rPr sz="1400">
                <a:solidFill>
                  <a:srgbClr val="AEBBD9"/>
                </a:solidFill>
                <a:latin typeface="Segoe UI"/>
              </a:rPr>
              <a:t>Agar ketma-ket qism vaqti o'zgarmas va parallel qism protsessorlar soniga proporsional o'ssa, masshtablangan tezlashuv S(p) = f + (1 − f) × p — deyarli chiziqli.</a:t>
            </a:r>
          </a:p>
        </p:txBody>
      </p:sp>
      <p:sp>
        <p:nvSpPr>
          <p:cNvPr id="34" name="Rounded Rectangle 33"/>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74878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7" name="TextBox 36"/>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Bu kuchsiz masshtablash (weak scaling) deb ataladi va neyron tarmoq o'qitishga aynan mos keladi: 8 GPU ga o'tganda har GPU ga bir xil mikro-paket beriladi, global paket 8 baravar o'sadi, bir iteratsiya vaqti deyarli o'zgarmaydi.</a:t>
            </a:r>
          </a:p>
          <a:p>
            <a:pPr>
              <a:spcBef>
                <a:spcPts val="400"/>
              </a:spcBef>
            </a:pPr>
            <a:r>
              <a:rPr sz="1400">
                <a:solidFill>
                  <a:srgbClr val="AEBBD9"/>
                </a:solidFill>
                <a:latin typeface="Segoe UI"/>
              </a:rPr>
              <a:t>Shu sababli taqsimlangan o'qitish hisobotlarida odatda «so'ngra tasvir/soniya» yoki «token/soniya» o'tkazuvchanligi keltiriladi.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 hisoblashning asosiy tamoyillari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497992"/>
            <a:ext cx="50000" cy="2584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3" name="TextBox 32"/>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Aloqa narxini baholash uchun oddiy model foydali: M baytli xabarni uzatish vaqti t = α + M / β, bu yerda α — kechikish (latency, InfiniBand da 1–2 mks, PCIe da 5–10 mks, Ethernet TCP da 20–50 mks), β — o'tkazuvchanlik.</a:t>
            </a:r>
          </a:p>
          <a:p>
            <a:pPr>
              <a:spcBef>
                <a:spcPts val="400"/>
              </a:spcBef>
            </a:pPr>
            <a:r>
              <a:rPr sz="1600">
                <a:solidFill>
                  <a:srgbClr val="AEBBD9"/>
                </a:solidFill>
                <a:latin typeface="Segoe UI"/>
              </a:rPr>
              <a:t>Kichik xabarlar α bilan, katta xabarlar β bilan cheklanadi; shuning uchun ko'plab kichik gradientlarni bitta katta buferga birlashtirish (bucketing) — DDP ning asosiy optimallashtirishi.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5b1b27a97c97f44a.jpg"/>
          <p:cNvPicPr>
            <a:picLocks noChangeAspect="1"/>
          </p:cNvPicPr>
          <p:nvPr/>
        </p:nvPicPr>
        <p:blipFill>
          <a:blip r:embed="rId2"/>
          <a:srcRect l="15955" r="15955"/>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Mr ATM · Wikimedia Commons · CC BY 2.0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CUDA: GPU ichidagi parallellik</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CUDA: GPU ichidagi parallellik</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23612"/>
            <a:ext cx="50000" cy="21313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38930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CUDA (Compute Unified Device Architecture) — NVIDIA GPU larini umumiy maqsadli hisoblash uchun dasturlash platformasi.</a:t>
            </a:r>
          </a:p>
          <a:p>
            <a:pPr>
              <a:spcBef>
                <a:spcPts val="400"/>
              </a:spcBef>
            </a:pPr>
            <a:r>
              <a:rPr sz="1300">
                <a:solidFill>
                  <a:srgbClr val="AEBBD9"/>
                </a:solidFill>
                <a:latin typeface="Segoe UI"/>
              </a:rPr>
              <a:t>Kirk va Hwu [5] bayon qilgan modelda dasturchi yadro (kernel) — minglab oqim parallel bajaradigan funksiya — yozadi. Oqimlar uch darajali iyerarxiyaga uyushtiriladi: oqim (thread) → blok (block, 1024 tagacha oqim, bitta SM da bajariladi, umumiy xotira orqali almashadi) → to'r (grid, bloklar to'plami). Apparat blokni 32 oqimli warp larga bo'lib, warp ni bitta buyruq bilan bajaradi.</a:t>
            </a:r>
          </a:p>
        </p:txBody>
      </p:sp>
      <p:sp>
        <p:nvSpPr>
          <p:cNvPr id="31" name="Rounded Rectangle 30"/>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13138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9069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2211388"/>
          </a:xfrm>
          <a:prstGeom prst="rect">
            <a:avLst/>
          </a:prstGeom>
          <a:noFill/>
        </p:spPr>
        <p:txBody>
          <a:bodyPr wrap="square" anchor="ctr">
            <a:spAutoFit/>
          </a:bodyPr>
          <a:lstStyle/>
          <a:p>
            <a:r>
              <a:rPr sz="1300" b="0">
                <a:solidFill>
                  <a:srgbClr val="E8EEFA"/>
                </a:solidFill>
                <a:latin typeface="Segoe UI"/>
              </a:rPr>
              <a:t>CUDA dasturining samaradorligi to'rt omilga bog'liq: bandlik (occupancy — SM da bir vaqtda faol warp lar soni, xotira kechikishini yashirish uchun ko'p bo'lishi kerak), birlashgan xotira murojaati (coalescing — warp dagi 32 oqim qo'shni manzillarga murojaat…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CUDA: GPU ichidagi parallellik</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900328"/>
            <a:ext cx="50000" cy="177934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860328"/>
            <a:ext cx="5900000" cy="1859344"/>
          </a:xfrm>
          <a:prstGeom prst="rect">
            <a:avLst/>
          </a:prstGeom>
          <a:noFill/>
        </p:spPr>
        <p:txBody>
          <a:bodyPr wrap="square" anchor="ctr">
            <a:spAutoFit/>
          </a:bodyPr>
          <a:lstStyle/>
          <a:p>
            <a:r>
              <a:rPr sz="1600" b="0">
                <a:solidFill>
                  <a:srgbClr val="E8EEFA"/>
                </a:solidFill>
                <a:latin typeface="Segoe UI"/>
              </a:rPr>
              <a:t>SI muhandisi odatda o'z yadrosini yozmaydi — cuBLAS, cuDNN, TensorRT va PyTorch tayyor yadrolar beradi — lekin bu omillarni bilish profillash natijasini tushunish va Triton yoki CUDA da maxsus operatsiya (masalan, FlashAttention uslubidagi diqqat yadrosi)…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CUDA: GPU ichidagi parallellik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200">
                <a:solidFill>
                  <a:srgbClr val="DBE4F5"/>
                </a:solidFill>
                <a:latin typeface="Consolas"/>
              </a:rPr>
              <a:t>// vec_add.cu — CUDA yadrosining minimal misoli</a:t>
            </a:r>
          </a:p>
          <a:p>
            <a:r>
              <a:rPr sz="1200">
                <a:solidFill>
                  <a:srgbClr val="DBE4F5"/>
                </a:solidFill>
                <a:latin typeface="Consolas"/>
              </a:rPr>
              <a:t>__global__ void vec_add(const float* a, const float* b, float* c, int n) {</a:t>
            </a:r>
          </a:p>
          <a:p>
            <a:r>
              <a:rPr sz="1200">
                <a:solidFill>
                  <a:srgbClr val="DBE4F5"/>
                </a:solidFill>
                <a:latin typeface="Consolas"/>
              </a:rPr>
              <a:t>    int i = blockIdx.x * blockDim.x + threadIdx.x;   // global indeks</a:t>
            </a:r>
          </a:p>
          <a:p>
            <a:r>
              <a:rPr sz="1200">
                <a:solidFill>
                  <a:srgbClr val="DBE4F5"/>
                </a:solidFill>
                <a:latin typeface="Consolas"/>
              </a:rPr>
              <a:t>    if (i &lt; n) c[i] = a[i] + b[i];</a:t>
            </a:r>
          </a:p>
          <a:p>
            <a:r>
              <a:rPr sz="1200">
                <a:solidFill>
                  <a:srgbClr val="DBE4F5"/>
                </a:solidFill>
                <a:latin typeface="Consolas"/>
              </a:rPr>
              <a:t>}</a:t>
            </a:r>
          </a:p>
          <a:p>
            <a:r>
              <a:rPr sz="1200">
                <a:solidFill>
                  <a:srgbClr val="DBE4F5"/>
                </a:solidFill>
                <a:latin typeface="Consolas"/>
              </a:rPr>
              <a:t>// chaqirish: 256 oqimli bloklar, n ni qoplash uchun yetarli bloklar</a:t>
            </a:r>
          </a:p>
          <a:p>
            <a:r>
              <a:rPr sz="1200">
                <a:solidFill>
                  <a:srgbClr val="DBE4F5"/>
                </a:solidFill>
                <a:latin typeface="Consolas"/>
              </a:rPr>
              <a:t>// vec_add&lt;&lt;&lt;(n + 255) / 256, 256&gt;&gt;&gt;(d_a, d_b, d_c, 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d38b28676095b117.jpg"/>
          <p:cNvPicPr>
            <a:picLocks noChangeAspect="1"/>
          </p:cNvPicPr>
          <p:nvPr/>
        </p:nvPicPr>
        <p:blipFill>
          <a:blip r:embed="rId2"/>
          <a:srcRect l="1567" r="1567"/>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Bill Abbott · Wikimedia Commons · CC BY-SA 2.0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OpenMP: umumiy xotirali parallellik</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OpenMP: umumiy xotirali parallellik</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OpenMP — C, C++ va Fortran uchun kompilyator direktivalari to'plami bo'lib, umumiy xotirali ko'p yadroli tizimda (bitta server) oqimlar darajasidagi parallellikni beradi.</a:t>
            </a:r>
          </a:p>
          <a:p>
            <a:pPr>
              <a:spcBef>
                <a:spcPts val="400"/>
              </a:spcBef>
            </a:pPr>
            <a:r>
              <a:rPr sz="1400">
                <a:solidFill>
                  <a:srgbClr val="AEBBD9"/>
                </a:solidFill>
                <a:latin typeface="Segoe UI"/>
              </a:rPr>
              <a:t>Dasturchi ketma-ket kodga #pragma omp parallel for kabi direktiva qo'shadi, kompilyator siklni oqimlar o'rtasida taqsimlaydi:</a:t>
            </a:r>
          </a:p>
        </p:txBody>
      </p:sp>
      <p:sp>
        <p:nvSpPr>
          <p:cNvPr id="31" name="Rounded Rectangle 30"/>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OpenMP ning asosiy tushunchalari: parallel hudud (fork-join modeli), ish taqsimoti (for, sections, task), ma'lumot muhiti (shared, private, reduction) va sinxronizatsiya (critical, atomic, barrier).</a:t>
            </a:r>
          </a:p>
          <a:p>
            <a:pPr>
              <a:spcBef>
                <a:spcPts val="400"/>
              </a:spcBef>
            </a:pPr>
            <a:r>
              <a:rPr sz="1400">
                <a:solidFill>
                  <a:srgbClr val="AEBBD9"/>
                </a:solidFill>
                <a:latin typeface="Segoe UI"/>
              </a:rPr>
              <a:t>OpenMP 4.0 dan boshlab target direktivalari orqali GPU ga yuklash ham mumkin, biroq SI sohasida bu kam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OpenMP: umumiy xotirali parallellik</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SI tizimida OpenMP ning real o'rni — CPU tomonidagi kutubxonalar: PyTorch ning CPU backend i (ATen), oneDNN, OpenBLAS va MKL ichki parallellik uchun OpenMP ishlatadi; OMP_NUM_THREADS o'zgaruvchisi va torch.set_num_threads aynan shu oqimlar sonini boshqaradi.</a:t>
            </a:r>
          </a:p>
          <a:p>
            <a:pPr>
              <a:spcBef>
                <a:spcPts val="400"/>
              </a:spcBef>
            </a:pPr>
            <a:r>
              <a:rPr sz="1600">
                <a:solidFill>
                  <a:srgbClr val="AEBBD9"/>
                </a:solidFill>
                <a:latin typeface="Segoe UI"/>
              </a:rPr>
              <a:t>Ma'lumot yuklash va oldindan ishlov (augmentatsiya, tokenizatsiya) ham ko'pincha OpenMP yoki Python ko'p jarayonlilik bilan parallellashtiriladi.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OpenMP: umumiy xotirali parallellik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400">
                <a:solidFill>
                  <a:srgbClr val="DBE4F5"/>
                </a:solidFill>
                <a:latin typeface="Consolas"/>
              </a:rPr>
              <a:t>// omp_dot.c — OpenMP bilan skalyar ko'paytma; gcc -fopenmp omp_dot.c</a:t>
            </a:r>
          </a:p>
          <a:p>
            <a:r>
              <a:rPr sz="1400">
                <a:solidFill>
                  <a:srgbClr val="DBE4F5"/>
                </a:solidFill>
                <a:latin typeface="Consolas"/>
              </a:rPr>
              <a:t>double dot(const float* a, const float* b, long n) {</a:t>
            </a:r>
          </a:p>
          <a:p>
            <a:r>
              <a:rPr sz="1400">
                <a:solidFill>
                  <a:srgbClr val="DBE4F5"/>
                </a:solidFill>
                <a:latin typeface="Consolas"/>
              </a:rPr>
              <a:t>    double s = 0.0;</a:t>
            </a:r>
          </a:p>
          <a:p>
            <a:r>
              <a:rPr sz="1400">
                <a:solidFill>
                  <a:srgbClr val="6EE7B7"/>
                </a:solidFill>
                <a:latin typeface="Consolas"/>
              </a:rPr>
              <a:t>    #pragma omp parallel for reduction(+:s) schedule(static)</a:t>
            </a:r>
          </a:p>
          <a:p>
            <a:r>
              <a:rPr sz="1400">
                <a:solidFill>
                  <a:srgbClr val="DBE4F5"/>
                </a:solidFill>
                <a:latin typeface="Consolas"/>
              </a:rPr>
              <a:t>    for (long i = 0; i &lt; n; i++) s += (double)a[i] * b[i];</a:t>
            </a:r>
          </a:p>
          <a:p>
            <a:r>
              <a:rPr sz="1400">
                <a:solidFill>
                  <a:srgbClr val="DBE4F5"/>
                </a:solidFill>
                <a:latin typeface="Consolas"/>
              </a:rPr>
              <a:t>    return s;</a:t>
            </a:r>
          </a:p>
          <a:p>
            <a:r>
              <a:rPr sz="1400">
                <a:solidFill>
                  <a:srgbClr val="DBE4F5"/>
                </a:solidFill>
                <a:latin typeface="Consola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f5b12c50fbc01189.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The original uploader was Kaewkasi at  Wikipedia. · Wikimedia Commons · CC BY-SA 3.0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MPI: taqsimlangan xotirali parallellik</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MPI: taqsimlangan xotirali parallellik</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MPI (Message Passing Interface) — alohida xotirali jarayonlar o'rtasida xabar almashish standarti, 1994-yildan beri HPC ning asosiy vositasi.</a:t>
            </a:r>
          </a:p>
          <a:p>
            <a:pPr>
              <a:spcBef>
                <a:spcPts val="400"/>
              </a:spcBef>
            </a:pPr>
            <a:r>
              <a:rPr sz="1600">
                <a:solidFill>
                  <a:srgbClr val="AEBBD9"/>
                </a:solidFill>
                <a:latin typeface="Segoe UI"/>
              </a:rPr>
              <a:t>Har jarayon o'z rank iga ega, umumiy xotira yo'q, barcha almashinuv aniq chaqiruvlar orqali: nuqta-nuqta (MPI_Send/MPI_Recv) va kollektiv (MPI_Bcast, MPI_Reduce, MPI_Allreduce, MPI_Allgather, MPI_Alltoall).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MPI: taqsimlangan xotirali parallellik</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All-reduce ni samarali bajarish alohida fan.</a:t>
            </a:r>
          </a:p>
          <a:p>
            <a:pPr>
              <a:spcBef>
                <a:spcPts val="400"/>
              </a:spcBef>
            </a:pPr>
            <a:r>
              <a:rPr sz="1400">
                <a:solidFill>
                  <a:srgbClr val="AEBBD9"/>
                </a:solidFill>
                <a:latin typeface="Segoe UI"/>
              </a:rPr>
              <a:t>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MPI: taqsimlangan xotirali parallellik</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842128"/>
            <a:ext cx="50000" cy="18128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54856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Katta p da kechikish 2(p−1) × α o'sadi, shuning uchun NCCL daraxt (tree) va ierarxik algoritmlarni ham ishlatadi: avval tugun ichida NVLink orqali, keyin tugunlar orasida InfiniBand orqali.</a:t>
            </a:r>
          </a:p>
          <a:p>
            <a:pPr>
              <a:spcBef>
                <a:spcPts val="400"/>
              </a:spcBef>
            </a:pPr>
            <a:r>
              <a:rPr sz="1400">
                <a:solidFill>
                  <a:srgbClr val="AEBBD9"/>
                </a:solidFill>
                <a:latin typeface="Segoe UI"/>
              </a:rPr>
              <a:t>NVIDIA SHARP texnologiyasi esa qisqartirishni (reduction) InfiniBand kommutatorining o'zida bajarib, trafikni yana ikki baravar kamaytiradi.</a:t>
            </a:r>
          </a:p>
        </p:txBody>
      </p:sp>
      <p:sp>
        <p:nvSpPr>
          <p:cNvPr id="34" name="Rounded Rectangle 33"/>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63143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7" name="TextBox 36"/>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SI amaliyotida MPI ko'pincha bevosita ko'rinmaydi, lekin uning modeli saqlanadi: PyTorch Distributed rank, world_size, all_reduce atamalarini aynan MPI dan olgan; Horovod MPI ustida qurilgan; Slurm klasterlarida jarayonlarni ishga tushirish srun/mpirun orqali…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MPI: taqsimlangan xotirali parallellik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mpi_allreduce.py — mpi4py bilan gradientlarni o'rtachalash; mpirun -np 4 python mpi_allreduce.py</a:t>
            </a:r>
          </a:p>
          <a:p>
            <a:r>
              <a:rPr sz="1000">
                <a:solidFill>
                  <a:srgbClr val="DBE4F5"/>
                </a:solidFill>
                <a:latin typeface="Consolas"/>
              </a:rPr>
              <a:t>from mpi4py import MPI</a:t>
            </a:r>
          </a:p>
          <a:p>
            <a:r>
              <a:rPr sz="1000">
                <a:solidFill>
                  <a:srgbClr val="DBE4F5"/>
                </a:solidFill>
                <a:latin typeface="Consolas"/>
              </a:rPr>
              <a:t>import numpy as np</a:t>
            </a:r>
          </a:p>
          <a:p>
            <a:r>
              <a:rPr sz="1000">
                <a:solidFill>
                  <a:srgbClr val="DBE4F5"/>
                </a:solidFill>
                <a:latin typeface="Consolas"/>
              </a:rPr>
              <a:t>comm = MPI.COMM_WORLD; rank, size = comm.Get_rank(), comm.Get_size()</a:t>
            </a:r>
          </a:p>
          <a:p>
            <a:r>
              <a:rPr sz="1000">
                <a:solidFill>
                  <a:srgbClr val="DBE4F5"/>
                </a:solidFill>
                <a:latin typeface="Consolas"/>
              </a:rPr>
              <a:t>grad = np.full(1_000_000, rank, dtype=np.float32)        # har rank o'z «gradienti»</a:t>
            </a:r>
          </a:p>
          <a:p>
            <a:r>
              <a:rPr sz="1000">
                <a:solidFill>
                  <a:srgbClr val="DBE4F5"/>
                </a:solidFill>
                <a:latin typeface="Consolas"/>
              </a:rPr>
              <a:t>avg = np.empty_like(grad)</a:t>
            </a:r>
          </a:p>
          <a:p>
            <a:r>
              <a:rPr sz="1000">
                <a:solidFill>
                  <a:srgbClr val="DBE4F5"/>
                </a:solidFill>
                <a:latin typeface="Consolas"/>
              </a:rPr>
              <a:t>comm.Allreduce(grad, avg, op=MPI.SUM); avg /= size</a:t>
            </a:r>
          </a:p>
          <a:p>
            <a:r>
              <a:rPr sz="1000">
                <a:solidFill>
                  <a:srgbClr val="DBE4F5"/>
                </a:solidFill>
                <a:latin typeface="Consolas"/>
              </a:rPr>
              <a:t>if rank == 0: print("o'rtacha:", avg[0], "kutilgan:", (size - 1) /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3a1192fc4d4728d0.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Daniel Lu (User:dllu) · Wikimedia Commons · CC BY-SA 4.0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Ma'lumotlar va model parallelligi</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Ma'lumotlar va model parallelligi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3356776"/>
            <a:ext cx="6750000" cy="86644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436776"/>
            <a:ext cx="50000" cy="70644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3396776"/>
            <a:ext cx="5900000" cy="786448"/>
          </a:xfrm>
          <a:prstGeom prst="rect">
            <a:avLst/>
          </a:prstGeom>
          <a:noFill/>
        </p:spPr>
        <p:txBody>
          <a:bodyPr wrap="square" anchor="ctr">
            <a:spAutoFit/>
          </a:bodyPr>
          <a:lstStyle/>
          <a:p>
            <a:r>
              <a:rPr sz="1600" b="0">
                <a:solidFill>
                  <a:srgbClr val="E8EEFA"/>
                </a:solidFill>
                <a:latin typeface="Segoe UI"/>
              </a:rPr>
              <a:t>Neyron tarmoqni taqsimlashning ikki asosiy o'qi bor: ma'lumotni bo'lish yoki modelni bo'lish.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Ma'lumotlar va model parallelligi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Ma'lumotlar parallelligi (data parallelism, DP) — eng sodda va eng keng tarqalgan usul.</a:t>
            </a:r>
          </a:p>
          <a:p>
            <a:pPr>
              <a:spcBef>
                <a:spcPts val="400"/>
              </a:spcBef>
            </a:pPr>
            <a:r>
              <a:rPr sz="1400">
                <a:solidFill>
                  <a:srgbClr val="AEBBD9"/>
                </a:solidFill>
                <a:latin typeface="Segoe UI"/>
              </a:rPr>
              <a:t>Modelning to'liq nusxasi har GPU da saqlanadi; global paket p ta mikro-paketga bo'linadi; har GPU o'z mikro-paketida oldinga va orqaga o'tishni mustaqil bajaradi; so'ng gradientlar all-reduce bilan o'rtachalanadi va har GPU bir xil yangilanishni qo'llaydi — natijada nusxalar sinxron qoladi. Bir iteratsiyadagi aloqa hajmi model hajmiga teng (FP16 da parametr boshiga 2 bayt): ResNet-50 (25,6 mln) uchun 51 MB, GPT-2 1,5B uchun 3 GB.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Ma'lumotlar va model parallelligi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PyTorch DistributedDataParallel (DDP) buni orqaga o'tish bilan ustma-ust qo'yadi: gradientlar 25 MB li «chelaklarga» (bucket) to'planadi va keyingi qatlam gradienti hisoblanayotganda oldingi chelak uzatiladi.</a:t>
            </a:r>
          </a:p>
          <a:p>
            <a:pPr>
              <a:spcBef>
                <a:spcPts val="400"/>
              </a:spcBef>
            </a:pPr>
            <a:r>
              <a:rPr sz="1600">
                <a:solidFill>
                  <a:srgbClr val="AEBBD9"/>
                </a:solidFill>
                <a:latin typeface="Segoe UI"/>
              </a:rPr>
              <a:t>DP ning cheklovi — model (parametrlar + gradientlar + optimizator holati + aktivatsiyalar) bitta GPU xotirasiga sig'ishi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Ma'lumotlar va model parallelligi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07432"/>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3121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Bu cheklovni ZeRO (Zero Redundancy Optimizer; Rajbhandari va hammualliflar, SC 2020, Microsoft DeepSpeed) yumshatadi: optimizator holati (ZeRO-1), gradientlar (ZeRO-2) va parametrlar (ZeRO-3) GPU lar o'rtasida bo'lib saqlanadi, har GPU faqat o'z bo'lagini…</a:t>
            </a:r>
          </a:p>
          <a:p>
            <a:pPr>
              <a:spcBef>
                <a:spcPts val="400"/>
              </a:spcBef>
            </a:pPr>
            <a:r>
              <a:rPr sz="1400">
                <a:solidFill>
                  <a:srgbClr val="AEBBD9"/>
                </a:solidFill>
                <a:latin typeface="Segoe UI"/>
              </a:rPr>
              <a:t>Xotira p baravar tejaladi, aloqa esa DP ga nisbatan taxminan 1,5 baravar oshadi. PyTorch da bu yondashuv FSDP (Fully Sharded Data Parallel) nomi bilan amalga oshirilgan.</a:t>
            </a:r>
          </a:p>
        </p:txBody>
      </p:sp>
      <p:sp>
        <p:nvSpPr>
          <p:cNvPr id="31" name="Rounded Rectangle 30"/>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0475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48784"/>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Model parallelligi (model parallelism) — model qismlari turli GPU larga joylashtiriladi; har GPU faqat o'z qismini saqlaydi va hisoblaydi.</a:t>
            </a:r>
          </a:p>
          <a:p>
            <a:pPr>
              <a:spcBef>
                <a:spcPts val="400"/>
              </a:spcBef>
            </a:pPr>
            <a:r>
              <a:rPr sz="1400">
                <a:solidFill>
                  <a:srgbClr val="AEBBD9"/>
                </a:solidFill>
                <a:latin typeface="Segoe UI"/>
              </a:rPr>
              <a:t>Uning ikki asosiy ko'rinishi — tensor va quvur parallelligi.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df7f1ff8c0c87c54.jpg"/>
          <p:cNvPicPr>
            <a:picLocks noChangeAspect="1"/>
          </p:cNvPicPr>
          <p:nvPr/>
        </p:nvPicPr>
        <p:blipFill>
          <a:blip r:embed="rId2"/>
          <a:srcRect l="9681" r="9681"/>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User: Anonyme · Wikimedia Commons · CC BY 2.5</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Tensor va Pipeline parallelism</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va Pipeline parallelism</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302664"/>
            <a:ext cx="50000" cy="9746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3262664"/>
            <a:ext cx="5900000" cy="1054672"/>
          </a:xfrm>
          <a:prstGeom prst="rect">
            <a:avLst/>
          </a:prstGeom>
          <a:noFill/>
        </p:spPr>
        <p:txBody>
          <a:bodyPr wrap="square" anchor="ctr">
            <a:spAutoFit/>
          </a:bodyPr>
          <a:lstStyle/>
          <a:p>
            <a:r>
              <a:rPr sz="1600" b="0">
                <a:solidFill>
                  <a:srgbClr val="E8EEFA"/>
                </a:solidFill>
                <a:latin typeface="Segoe UI"/>
              </a:rPr>
              <a:t>Tensor parallelligi (tensor parallelism, TP) bitta qatlamni, ya'ni bitta matritsa ko'paytirishni GPU lar o'rtasida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va Pipeline parallelism</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Megatron-LM (Shoeybi va hammualliflar, 2019, NVIDIA) transformer uchun samarali sxemani taklif qildi: MLP blokidagi birinchi chiziqli qatlam Y = GeLU(X·A) da matritsa A ustunlar bo'yicha bo'linadi (har GPU X·Aᵢ ni mustaqil hisoblaydi, GeLU elementma-element…</a:t>
            </a:r>
          </a:p>
          <a:p>
            <a:pPr>
              <a:spcBef>
                <a:spcPts val="400"/>
              </a:spcBef>
            </a:pPr>
            <a:r>
              <a:rPr sz="1400">
                <a:solidFill>
                  <a:srgbClr val="AEBBD9"/>
                </a:solidFill>
                <a:latin typeface="Segoe UI"/>
              </a:rPr>
              <a:t>Diqqat mexanizmida boshlar (heads) GPU lar o'rtasida taqsimlanadi. Natijada har transformer qatlamida oldinga o'tishda 2 ta, orqaga o'tishda 2 ta all-reduce — har mikro-paket uchun aktivatsiya hajmida.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va Pipeline parallelism</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Quvur parallelligi (pipeline parallelism, PP) modelni qatlamlar bo'yicha ketma-ket bosqichlarga (stage) bo'ladi: 1–8-qatlamlar GPU 0 da, 9–16-qatlamlar GPU 1 da va hokazo.</a:t>
            </a:r>
          </a:p>
          <a:p>
            <a:pPr>
              <a:spcBef>
                <a:spcPts val="400"/>
              </a:spcBef>
            </a:pPr>
            <a:r>
              <a:rPr sz="1600">
                <a:solidFill>
                  <a:srgbClr val="AEBBD9"/>
                </a:solidFill>
                <a:latin typeface="Segoe UI"/>
              </a:rPr>
              <a:t>Bosqichlar o'rtasida faqat chegara aktivatsiyalari (nuqta-nuqta) uzatiladi — bu TP dan ancha kam aloqa, shuning uchun PP serverlar o'rtasida ham ishlaydi. Muammo — pufak (bubble): sodda bajarishda GPU 1 GPU 0 tugatguncha bo'sh turadi.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va Pipeline parallelism</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523612"/>
            <a:ext cx="50000" cy="213138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38930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GPipe (Huang va hammualliflar, 2019) paketni m mikro-paketga bo'lib, ularni quvur bo'ylab ketma-ket yuboradi; pufak ulushi (s − 1) / (m + s − 1) ga tushadi, bu yerda s — bosqichlar soni.</a:t>
            </a:r>
          </a:p>
          <a:p>
            <a:pPr>
              <a:spcBef>
                <a:spcPts val="400"/>
              </a:spcBef>
            </a:pPr>
            <a:r>
              <a:rPr sz="1300">
                <a:solidFill>
                  <a:srgbClr val="AEBBD9"/>
                </a:solidFill>
                <a:latin typeface="Segoe UI"/>
              </a:rPr>
              <a:t>Masalan, s = 4, m = 16 da pufak 16 % (3/19); m = 64 da 4,5 %. PipeDream (Narayanan va hammualliflar, 2019) va Megatron ning 1F1B jadvali (bir oldinga, bir orqaga) aktivatsiya xotirasini kamaytiradi — mikro-paketning orqaga o'tishi imkon qadar erta bajarilib, aktivatsiyalari bo'shatiladi.</a:t>
            </a:r>
          </a:p>
        </p:txBody>
      </p:sp>
      <p:sp>
        <p:nvSpPr>
          <p:cNvPr id="34" name="Rounded Rectangle 33"/>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21313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790694"/>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7" name="TextBox 36"/>
          <p:cNvSpPr txBox="1"/>
          <p:nvPr/>
        </p:nvSpPr>
        <p:spPr>
          <a:xfrm>
            <a:off x="1300000" y="3885000"/>
            <a:ext cx="5900000" cy="2211388"/>
          </a:xfrm>
          <a:prstGeom prst="rect">
            <a:avLst/>
          </a:prstGeom>
          <a:noFill/>
        </p:spPr>
        <p:txBody>
          <a:bodyPr wrap="square" anchor="ctr">
            <a:spAutoFit/>
          </a:bodyPr>
          <a:lstStyle/>
          <a:p>
            <a:r>
              <a:rPr sz="1400" b="1">
                <a:solidFill>
                  <a:srgbClr val="E8EEFA"/>
                </a:solidFill>
                <a:latin typeface="Segoe UI"/>
              </a:rPr>
              <a:t>Amalda uchala o'q birlashtiriladi — 3D parallellik: TP server ichida (NVLink, 8 GPU), PP serverlar guruhi bo'ylab, DP (yoki ZeRO) eng tashqi darajada.</a:t>
            </a:r>
          </a:p>
          <a:p>
            <a:pPr>
              <a:spcBef>
                <a:spcPts val="400"/>
              </a:spcBef>
            </a:pPr>
            <a:r>
              <a:rPr sz="1300">
                <a:solidFill>
                  <a:srgbClr val="AEBBD9"/>
                </a:solidFill>
                <a:latin typeface="Segoe UI"/>
              </a:rPr>
              <a:t>Megatron-Turing NLG 530B (2021) 560 ta DGX A100 da TP = 8, PP = 35, DP = 12 konfiguratsiyasida o'qitilgan. Quyidagi jadval strategiyalarni taqqoslaydi: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va Pipeline parallelism</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graphicFrame>
        <p:nvGraphicFramePr>
          <p:cNvPr id="26" name="Table 25"/>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200" b="1">
                          <a:solidFill>
                            <a:srgbClr val="22D3EE"/>
                          </a:solidFill>
                          <a:latin typeface="Segoe UI"/>
                        </a:rPr>
                        <a:t>Strategiya</a:t>
                      </a:r>
                    </a:p>
                  </a:txBody>
                  <a:tcPr>
                    <a:solidFill>
                      <a:srgbClr val="1C2755"/>
                    </a:solidFill>
                  </a:tcPr>
                </a:tc>
                <a:tc>
                  <a:txBody>
                    <a:bodyPr/>
                    <a:lstStyle/>
                    <a:p>
                      <a:r>
                        <a:rPr sz="1200" b="1">
                          <a:solidFill>
                            <a:srgbClr val="22D3EE"/>
                          </a:solidFill>
                          <a:latin typeface="Segoe UI"/>
                        </a:rPr>
                        <a:t>Nima bo'linadi</a:t>
                      </a:r>
                    </a:p>
                  </a:txBody>
                  <a:tcPr>
                    <a:solidFill>
                      <a:srgbClr val="1C2755"/>
                    </a:solidFill>
                  </a:tcPr>
                </a:tc>
                <a:tc>
                  <a:txBody>
                    <a:bodyPr/>
                    <a:lstStyle/>
                    <a:p>
                      <a:r>
                        <a:rPr sz="1200" b="1">
                          <a:solidFill>
                            <a:srgbClr val="22D3EE"/>
                          </a:solidFill>
                          <a:latin typeface="Segoe UI"/>
                        </a:rPr>
                        <a:t>Aloqa turi va hajmi</a:t>
                      </a:r>
                    </a:p>
                  </a:txBody>
                  <a:tcPr>
                    <a:solidFill>
                      <a:srgbClr val="1C2755"/>
                    </a:solidFill>
                  </a:tcPr>
                </a:tc>
                <a:tc>
                  <a:txBody>
                    <a:bodyPr/>
                    <a:lstStyle/>
                    <a:p>
                      <a:r>
                        <a:rPr sz="1200" b="1">
                          <a:solidFill>
                            <a:srgbClr val="22D3EE"/>
                          </a:solidFill>
                          <a:latin typeface="Segoe UI"/>
                        </a:rPr>
                        <a:t>Qayerda ishlaydi</a:t>
                      </a:r>
                    </a:p>
                  </a:txBody>
                  <a:tcPr>
                    <a:solidFill>
                      <a:srgbClr val="1C2755"/>
                    </a:solidFill>
                  </a:tcPr>
                </a:tc>
                <a:tc>
                  <a:txBody>
                    <a:bodyPr/>
                    <a:lstStyle/>
                    <a:p>
                      <a:r>
                        <a:rPr sz="1200" b="1">
                          <a:solidFill>
                            <a:srgbClr val="22D3EE"/>
                          </a:solidFill>
                          <a:latin typeface="Segoe UI"/>
                        </a:rPr>
                        <a:t>Asosiy cheklov</a:t>
                      </a:r>
                    </a:p>
                  </a:txBody>
                  <a:tcPr>
                    <a:solidFill>
                      <a:srgbClr val="1C2755"/>
                    </a:solidFill>
                  </a:tcPr>
                </a:tc>
              </a:tr>
              <a:tr h="520000">
                <a:tc>
                  <a:txBody>
                    <a:bodyPr/>
                    <a:lstStyle/>
                    <a:p>
                      <a:r>
                        <a:rPr sz="1200" b="0">
                          <a:solidFill>
                            <a:srgbClr val="E8EEFA"/>
                          </a:solidFill>
                          <a:latin typeface="Segoe UI"/>
                        </a:rPr>
                        <a:t>Ma'lumot (DP)</a:t>
                      </a:r>
                    </a:p>
                  </a:txBody>
                  <a:tcPr>
                    <a:solidFill>
                      <a:srgbClr val="111834"/>
                    </a:solidFill>
                  </a:tcPr>
                </a:tc>
                <a:tc>
                  <a:txBody>
                    <a:bodyPr/>
                    <a:lstStyle/>
                    <a:p>
                      <a:r>
                        <a:rPr sz="1200" b="0">
                          <a:solidFill>
                            <a:srgbClr val="E8EEFA"/>
                          </a:solidFill>
                          <a:latin typeface="Segoe UI"/>
                        </a:rPr>
                        <a:t>Paket</a:t>
                      </a:r>
                    </a:p>
                  </a:txBody>
                  <a:tcPr>
                    <a:solidFill>
                      <a:srgbClr val="111834"/>
                    </a:solidFill>
                  </a:tcPr>
                </a:tc>
                <a:tc>
                  <a:txBody>
                    <a:bodyPr/>
                    <a:lstStyle/>
                    <a:p>
                      <a:r>
                        <a:rPr sz="1200" b="0">
                          <a:solidFill>
                            <a:srgbClr val="E8EEFA"/>
                          </a:solidFill>
                          <a:latin typeface="Segoe UI"/>
                        </a:rPr>
                        <a:t>All-reduce, gradient hajmi, iteratsiyada 1 marta</a:t>
                      </a:r>
                    </a:p>
                  </a:txBody>
                  <a:tcPr>
                    <a:solidFill>
                      <a:srgbClr val="111834"/>
                    </a:solidFill>
                  </a:tcPr>
                </a:tc>
                <a:tc>
                  <a:txBody>
                    <a:bodyPr/>
                    <a:lstStyle/>
                    <a:p>
                      <a:r>
                        <a:rPr sz="1200" b="0">
                          <a:solidFill>
                            <a:srgbClr val="E8EEFA"/>
                          </a:solidFill>
                          <a:latin typeface="Segoe UI"/>
                        </a:rPr>
                        <a:t>Har qanday (NVLink, IB, Ethernet)</a:t>
                      </a:r>
                    </a:p>
                  </a:txBody>
                  <a:tcPr>
                    <a:solidFill>
                      <a:srgbClr val="111834"/>
                    </a:solidFill>
                  </a:tcPr>
                </a:tc>
                <a:tc>
                  <a:txBody>
                    <a:bodyPr/>
                    <a:lstStyle/>
                    <a:p>
                      <a:r>
                        <a:rPr sz="1200" b="0">
                          <a:solidFill>
                            <a:srgbClr val="E8EEFA"/>
                          </a:solidFill>
                          <a:latin typeface="Segoe UI"/>
                        </a:rPr>
                        <a:t>Model 1 GPU ga sig'ishi kerak</a:t>
                      </a:r>
                    </a:p>
                  </a:txBody>
                  <a:tcPr>
                    <a:solidFill>
                      <a:srgbClr val="111834"/>
                    </a:solidFill>
                  </a:tcPr>
                </a:tc>
              </a:tr>
              <a:tr h="520000">
                <a:tc>
                  <a:txBody>
                    <a:bodyPr/>
                    <a:lstStyle/>
                    <a:p>
                      <a:r>
                        <a:rPr sz="1200" b="0">
                          <a:solidFill>
                            <a:srgbClr val="E8EEFA"/>
                          </a:solidFill>
                          <a:latin typeface="Segoe UI"/>
                        </a:rPr>
                        <a:t>ZeRO/FSDP</a:t>
                      </a:r>
                    </a:p>
                  </a:txBody>
                  <a:tcPr>
                    <a:solidFill>
                      <a:srgbClr val="161F40"/>
                    </a:solidFill>
                  </a:tcPr>
                </a:tc>
                <a:tc>
                  <a:txBody>
                    <a:bodyPr/>
                    <a:lstStyle/>
                    <a:p>
                      <a:r>
                        <a:rPr sz="1200" b="0">
                          <a:solidFill>
                            <a:srgbClr val="E8EEFA"/>
                          </a:solidFill>
                          <a:latin typeface="Segoe UI"/>
                        </a:rPr>
                        <a:t>Paket + holatlar bo'lib saqlanadi</a:t>
                      </a:r>
                    </a:p>
                  </a:txBody>
                  <a:tcPr>
                    <a:solidFill>
                      <a:srgbClr val="161F40"/>
                    </a:solidFill>
                  </a:tcPr>
                </a:tc>
                <a:tc>
                  <a:txBody>
                    <a:bodyPr/>
                    <a:lstStyle/>
                    <a:p>
                      <a:r>
                        <a:rPr sz="1200" b="0">
                          <a:solidFill>
                            <a:srgbClr val="E8EEFA"/>
                          </a:solidFill>
                          <a:latin typeface="Segoe UI"/>
                        </a:rPr>
                        <a:t>All-gather + reduce-scatter, ~1,5× DP</a:t>
                      </a:r>
                    </a:p>
                  </a:txBody>
                  <a:tcPr>
                    <a:solidFill>
                      <a:srgbClr val="161F40"/>
                    </a:solidFill>
                  </a:tcPr>
                </a:tc>
                <a:tc>
                  <a:txBody>
                    <a:bodyPr/>
                    <a:lstStyle/>
                    <a:p>
                      <a:r>
                        <a:rPr sz="1200" b="0">
                          <a:solidFill>
                            <a:srgbClr val="E8EEFA"/>
                          </a:solidFill>
                          <a:latin typeface="Segoe UI"/>
                        </a:rPr>
                        <a:t>NVLink, IB</a:t>
                      </a:r>
                    </a:p>
                  </a:txBody>
                  <a:tcPr>
                    <a:solidFill>
                      <a:srgbClr val="161F40"/>
                    </a:solidFill>
                  </a:tcPr>
                </a:tc>
                <a:tc>
                  <a:txBody>
                    <a:bodyPr/>
                    <a:lstStyle/>
                    <a:p>
                      <a:r>
                        <a:rPr sz="1200" b="0">
                          <a:solidFill>
                            <a:srgbClr val="E8EEFA"/>
                          </a:solidFill>
                          <a:latin typeface="Segoe UI"/>
                        </a:rPr>
                        <a:t>Aloqa oshadi, kichik paketda samarasiz</a:t>
                      </a:r>
                    </a:p>
                  </a:txBody>
                  <a:tcPr>
                    <a:solidFill>
                      <a:srgbClr val="161F40"/>
                    </a:solidFill>
                  </a:tcPr>
                </a:tc>
              </a:tr>
              <a:tr h="520000">
                <a:tc>
                  <a:txBody>
                    <a:bodyPr/>
                    <a:lstStyle/>
                    <a:p>
                      <a:r>
                        <a:rPr sz="1200" b="0">
                          <a:solidFill>
                            <a:srgbClr val="E8EEFA"/>
                          </a:solidFill>
                          <a:latin typeface="Segoe UI"/>
                        </a:rPr>
                        <a:t>Tensor (TP)</a:t>
                      </a:r>
                    </a:p>
                  </a:txBody>
                  <a:tcPr>
                    <a:solidFill>
                      <a:srgbClr val="111834"/>
                    </a:solidFill>
                  </a:tcPr>
                </a:tc>
                <a:tc>
                  <a:txBody>
                    <a:bodyPr/>
                    <a:lstStyle/>
                    <a:p>
                      <a:r>
                        <a:rPr sz="1200" b="0">
                          <a:solidFill>
                            <a:srgbClr val="E8EEFA"/>
                          </a:solidFill>
                          <a:latin typeface="Segoe UI"/>
                        </a:rPr>
                        <a:t>Qatlam ichidagi matritsa</a:t>
                      </a:r>
                    </a:p>
                  </a:txBody>
                  <a:tcPr>
                    <a:solidFill>
                      <a:srgbClr val="111834"/>
                    </a:solidFill>
                  </a:tcPr>
                </a:tc>
                <a:tc>
                  <a:txBody>
                    <a:bodyPr/>
                    <a:lstStyle/>
                    <a:p>
                      <a:r>
                        <a:rPr sz="1200" b="0">
                          <a:solidFill>
                            <a:srgbClr val="E8EEFA"/>
                          </a:solidFill>
                          <a:latin typeface="Segoe UI"/>
                        </a:rPr>
                        <a:t>All-reduce, aktivatsiya hajmi, har qatlamda</a:t>
                      </a:r>
                    </a:p>
                  </a:txBody>
                  <a:tcPr>
                    <a:solidFill>
                      <a:srgbClr val="111834"/>
                    </a:solidFill>
                  </a:tcPr>
                </a:tc>
                <a:tc>
                  <a:txBody>
                    <a:bodyPr/>
                    <a:lstStyle/>
                    <a:p>
                      <a:r>
                        <a:rPr sz="1200" b="0">
                          <a:solidFill>
                            <a:srgbClr val="E8EEFA"/>
                          </a:solidFill>
                          <a:latin typeface="Segoe UI"/>
                        </a:rPr>
                        <a:t>Faqat NVLink (server ichi)</a:t>
                      </a:r>
                    </a:p>
                  </a:txBody>
                  <a:tcPr>
                    <a:solidFill>
                      <a:srgbClr val="111834"/>
                    </a:solidFill>
                  </a:tcPr>
                </a:tc>
                <a:tc>
                  <a:txBody>
                    <a:bodyPr/>
                    <a:lstStyle/>
                    <a:p>
                      <a:r>
                        <a:rPr sz="1200" b="0">
                          <a:solidFill>
                            <a:srgbClr val="E8EEFA"/>
                          </a:solidFill>
                          <a:latin typeface="Segoe UI"/>
                        </a:rPr>
                        <a:t>Interkonnekt tezligi</a:t>
                      </a:r>
                    </a:p>
                  </a:txBody>
                  <a:tcPr>
                    <a:solidFill>
                      <a:srgbClr val="111834"/>
                    </a:solidFill>
                  </a:tcPr>
                </a:tc>
              </a:tr>
              <a:tr h="520000">
                <a:tc>
                  <a:txBody>
                    <a:bodyPr/>
                    <a:lstStyle/>
                    <a:p>
                      <a:r>
                        <a:rPr sz="1200" b="0">
                          <a:solidFill>
                            <a:srgbClr val="E8EEFA"/>
                          </a:solidFill>
                          <a:latin typeface="Segoe UI"/>
                        </a:rPr>
                        <a:t>Quvur (PP)</a:t>
                      </a:r>
                    </a:p>
                  </a:txBody>
                  <a:tcPr>
                    <a:solidFill>
                      <a:srgbClr val="161F40"/>
                    </a:solidFill>
                  </a:tcPr>
                </a:tc>
                <a:tc>
                  <a:txBody>
                    <a:bodyPr/>
                    <a:lstStyle/>
                    <a:p>
                      <a:r>
                        <a:rPr sz="1200" b="0">
                          <a:solidFill>
                            <a:srgbClr val="E8EEFA"/>
                          </a:solidFill>
                          <a:latin typeface="Segoe UI"/>
                        </a:rPr>
                        <a:t>Qatlamlar guruhi</a:t>
                      </a:r>
                    </a:p>
                  </a:txBody>
                  <a:tcPr>
                    <a:solidFill>
                      <a:srgbClr val="161F40"/>
                    </a:solidFill>
                  </a:tcPr>
                </a:tc>
                <a:tc>
                  <a:txBody>
                    <a:bodyPr/>
                    <a:lstStyle/>
                    <a:p>
                      <a:r>
                        <a:rPr sz="1200" b="0">
                          <a:solidFill>
                            <a:srgbClr val="E8EEFA"/>
                          </a:solidFill>
                          <a:latin typeface="Segoe UI"/>
                        </a:rPr>
                        <a:t>Nuqta-nuqta, chegara aktivatsiyalari</a:t>
                      </a:r>
                    </a:p>
                  </a:txBody>
                  <a:tcPr>
                    <a:solidFill>
                      <a:srgbClr val="161F40"/>
                    </a:solidFill>
                  </a:tcPr>
                </a:tc>
                <a:tc>
                  <a:txBody>
                    <a:bodyPr/>
                    <a:lstStyle/>
                    <a:p>
                      <a:r>
                        <a:rPr sz="1200" b="0">
                          <a:solidFill>
                            <a:srgbClr val="E8EEFA"/>
                          </a:solidFill>
                          <a:latin typeface="Segoe UI"/>
                        </a:rPr>
                        <a:t>Server ichi va orasida</a:t>
                      </a:r>
                    </a:p>
                  </a:txBody>
                  <a:tcPr>
                    <a:solidFill>
                      <a:srgbClr val="161F40"/>
                    </a:solidFill>
                  </a:tcPr>
                </a:tc>
                <a:tc>
                  <a:txBody>
                    <a:bodyPr/>
                    <a:lstStyle/>
                    <a:p>
                      <a:r>
                        <a:rPr sz="1200" b="0">
                          <a:solidFill>
                            <a:srgbClr val="E8EEFA"/>
                          </a:solidFill>
                          <a:latin typeface="Segoe UI"/>
                        </a:rPr>
                        <a:t>Pufak, muvozanatsiz bosqichlar</a:t>
                      </a:r>
                    </a:p>
                  </a:txBody>
                  <a:tcPr>
                    <a:solidFill>
                      <a:srgbClr val="161F40"/>
                    </a:solidFill>
                  </a:tcPr>
                </a:tc>
              </a:tr>
              <a:tr h="520000">
                <a:tc>
                  <a:txBody>
                    <a:bodyPr/>
                    <a:lstStyle/>
                    <a:p>
                      <a:r>
                        <a:rPr sz="1200" b="0">
                          <a:solidFill>
                            <a:srgbClr val="E8EEFA"/>
                          </a:solidFill>
                          <a:latin typeface="Segoe UI"/>
                        </a:rPr>
                        <a:t>Ekspert (MoE)</a:t>
                      </a:r>
                    </a:p>
                  </a:txBody>
                  <a:tcPr>
                    <a:solidFill>
                      <a:srgbClr val="111834"/>
                    </a:solidFill>
                  </a:tcPr>
                </a:tc>
                <a:tc>
                  <a:txBody>
                    <a:bodyPr/>
                    <a:lstStyle/>
                    <a:p>
                      <a:r>
                        <a:rPr sz="1200" b="0">
                          <a:solidFill>
                            <a:srgbClr val="E8EEFA"/>
                          </a:solidFill>
                          <a:latin typeface="Segoe UI"/>
                        </a:rPr>
                        <a:t>Ekspert MLP lar</a:t>
                      </a:r>
                    </a:p>
                  </a:txBody>
                  <a:tcPr>
                    <a:solidFill>
                      <a:srgbClr val="111834"/>
                    </a:solidFill>
                  </a:tcPr>
                </a:tc>
                <a:tc>
                  <a:txBody>
                    <a:bodyPr/>
                    <a:lstStyle/>
                    <a:p>
                      <a:r>
                        <a:rPr sz="1200" b="0">
                          <a:solidFill>
                            <a:srgbClr val="E8EEFA"/>
                          </a:solidFill>
                          <a:latin typeface="Segoe UI"/>
                        </a:rPr>
                        <a:t>All-to-all, token marshruti</a:t>
                      </a:r>
                    </a:p>
                  </a:txBody>
                  <a:tcPr>
                    <a:solidFill>
                      <a:srgbClr val="111834"/>
                    </a:solidFill>
                  </a:tcPr>
                </a:tc>
                <a:tc>
                  <a:txBody>
                    <a:bodyPr/>
                    <a:lstStyle/>
                    <a:p>
                      <a:r>
                        <a:rPr sz="1200" b="0">
                          <a:solidFill>
                            <a:srgbClr val="E8EEFA"/>
                          </a:solidFill>
                          <a:latin typeface="Segoe UI"/>
                        </a:rPr>
                        <a:t>IB</a:t>
                      </a:r>
                    </a:p>
                  </a:txBody>
                  <a:tcPr>
                    <a:solidFill>
                      <a:srgbClr val="111834"/>
                    </a:solidFill>
                  </a:tcPr>
                </a:tc>
                <a:tc>
                  <a:txBody>
                    <a:bodyPr/>
                    <a:lstStyle/>
                    <a:p>
                      <a:r>
                        <a:rPr sz="1200" b="0">
                          <a:solidFill>
                            <a:srgbClr val="E8EEFA"/>
                          </a:solidFill>
                          <a:latin typeface="Segoe UI"/>
                        </a:rPr>
                        <a:t>Yuk muvozanati</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ee6289259cc57ea0.jpg"/>
          <p:cNvPicPr>
            <a:picLocks noChangeAspect="1"/>
          </p:cNvPicPr>
          <p:nvPr/>
        </p:nvPicPr>
        <p:blipFill>
          <a:blip r:embed="rId2"/>
          <a:srcRect l="25909" r="25909"/>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Julian Herzog (Website) · Wikimedia Commons · CC BY 4.0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07</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Taqsimlangan AI hisoblash muhitlari va yuqori unumdor tizimlarni tashkil etish</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Taqsimlangan AI hisoblash muhitlari va yuqori unumdor tizimlarni tashkil etish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Taqsimlangan SI muhiti bir necha qatlamdan iborat.</a:t>
            </a:r>
          </a:p>
          <a:p>
            <a:pPr>
              <a:spcBef>
                <a:spcPts val="400"/>
              </a:spcBef>
            </a:pPr>
            <a:r>
              <a:rPr sz="1300">
                <a:solidFill>
                  <a:srgbClr val="AEBBD9"/>
                </a:solidFill>
                <a:latin typeface="Segoe UI"/>
              </a:rPr>
              <a:t>Kollektiv aloqa qatlami: NCCL (NVIDIA), RCCL (AMD), oneCCL (Intel), Gloo (CPU) — topologiyani aniqlab, optimal algoritmni tanlaydi. Ramka qatlami: PyTorch Distributed (torch.distributed, DDP, FSDP, torchrun ishga tushiruvchi), TensorFlow tf.distribute, JAX pjit/sharding. Optimallashtirilgan o'qitish kutubxonalari: DeepSpeed (ZeRO, 3D parallellik, offload), Megatron-LM (TP/PP transformerlar uchun), Horovod (ring all-reduce, ko'p ramkali).</a:t>
            </a:r>
          </a:p>
        </p:txBody>
      </p:sp>
      <p:sp>
        <p:nvSpPr>
          <p:cNvPr id="33" name="Rounded Rectangle 32"/>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Orkestratsiya qatlami: Slurm (HPC klasterlarida ish navbati va GPU ajratish), Kubernetes (bulutda; M7), Ray (Python da taqsimlangan vazifalar, Ray Train, giperparametrlarni qidirish; M7).</a:t>
            </a:r>
          </a:p>
          <a:p>
            <a:pPr>
              <a:spcBef>
                <a:spcPts val="400"/>
              </a:spcBef>
            </a:pPr>
            <a:r>
              <a:rPr sz="1300">
                <a:solidFill>
                  <a:srgbClr val="AEBBD9"/>
                </a:solidFill>
                <a:latin typeface="Segoe UI"/>
              </a:rPr>
              <a:t>Inferens qatlami: vLLM, TensorRT-LLM, Triton Inference Server — LLM ni TP bilan bir nechta GPU ga bo'lib xizmat ko'rsatish.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Taqsimlangan AI hisoblash muhitlari va yuqori unumdor tizimlarni tashkil etish</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Yuqori unumdor AI tizimini tashkil etishda apparat tomonida to'rt qaror hal qiluvchi.</a:t>
            </a:r>
          </a:p>
          <a:p>
            <a:pPr>
              <a:spcBef>
                <a:spcPts val="400"/>
              </a:spcBef>
            </a:pPr>
            <a:r>
              <a:rPr sz="1400">
                <a:solidFill>
                  <a:srgbClr val="AEBBD9"/>
                </a:solidFill>
                <a:latin typeface="Segoe UI"/>
              </a:rPr>
              <a:t>Interkonnekt topologiyasi: server ichida NVSwitch (har GPU juftligi to'liq tezlikda), serverlar orasida InfiniBand NDR 400 Gbit/s yoki RoCE Ethernet, «fat-tree» yoki «rail-optimized» topologiya (har GPU ning o'z tarmoq kartasi alohida kommutatorga ulanadi). GPUDirect RDMA: tarmoq kartasi GPU xotirasiga CPU va xost xotirasini chetlab o'tib to'g'ridan-to'g'ri yozadi — kechikish va CPU yuki kamayadi.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Taqsimlangan AI hisoblash muhitlari va yuqori unumdor tizimlarni tashkil etish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531520"/>
            <a:ext cx="50000" cy="25169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Saqlash tizimi: minglab GPU ni ma'lumot bilan ta'minlash uchun parallel fayl tizimi (Lustre, GPFS, WEKA) yoki obyekt saqlash + mahalliy NVMe kesh; ImageNet uslubidagi o'qitishda GPU boshiga 100–300 MB/s, video va multimodal ma'lumotda ko'proq.</a:t>
            </a:r>
          </a:p>
          <a:p>
            <a:pPr>
              <a:spcBef>
                <a:spcPts val="400"/>
              </a:spcBef>
            </a:pPr>
            <a:r>
              <a:rPr sz="1400">
                <a:solidFill>
                  <a:srgbClr val="AEBBD9"/>
                </a:solidFill>
                <a:latin typeface="Segoe UI"/>
              </a:rPr>
              <a:t>Nazorat nuqtalari (checkpointing): 405B modelning holati (parametrlar + optimizator) 5 TB dan ortiq; uni har soatda yozish saqlash tizimiga alohida talab qo'yadi, 16 000 GPU da esa apparat nosozligi kuniga bir necha marta bo'lgani uchun checkpoint majburiy.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Taqsimlangan AI hisoblash muhitlari va yuqori unumdor tizimlarni tashkil etish</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363880"/>
            <a:ext cx="50000" cy="2852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Dasturiy tomonda masshtablash samaradorligini saqlash uchun: aloqani hisoblash bilan ustma-ust qo'yish, gradient to'plash (gradient accumulation) bilan paketni kattalashtirish, aloqa aniqligini kamaytirish (FP16/BF16 gradientlar, siqish), ma'lumot yuklash…</a:t>
            </a:r>
          </a:p>
          <a:p>
            <a:pPr>
              <a:spcBef>
                <a:spcPts val="400"/>
              </a:spcBef>
            </a:pPr>
            <a:r>
              <a:rPr sz="1600">
                <a:solidFill>
                  <a:srgbClr val="AEBBD9"/>
                </a:solidFill>
                <a:latin typeface="Segoe UI"/>
              </a:rPr>
              <a:t>Masshtablash samaradorligi E(p) = T(1 GPU, paket b) / T(p GPU, paket p·b) sifatida kuchsiz masshtablash bo'yicha o'lchanadi; yaxshi sozlangan DDP 8 GPU da 90–95 %, 1 000 GPU da 80–90 %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84" name="Rectangle 83"/>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86" name="TextBox 85"/>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4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200"/>
                            </p:stCondLst>
                            <p:childTnLst>
                              <p:par>
                                <p:cTn id="324" presetID="53" presetClass="entr" presetSubtype="16"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anim calcmode="lin" valueType="num">
                                      <p:cBhvr additive="base">
                                        <p:cTn id="327" dur="550" fill="hold"/>
                                        <p:tgtEl>
                                          <p:spTgt spid="83"/>
                                        </p:tgtEl>
                                        <p:attrNameLst>
                                          <p:attrName>ppt_w</p:attrName>
                                        </p:attrNameLst>
                                      </p:cBhvr>
                                      <p:tavLst>
                                        <p:tav tm="0">
                                          <p:val>
                                            <p:strVal val="0"/>
                                          </p:val>
                                        </p:tav>
                                        <p:tav tm="100000">
                                          <p:val>
                                            <p:strVal val="#ppt_w"/>
                                          </p:val>
                                        </p:tav>
                                      </p:tavLst>
                                    </p:anim>
                                    <p:anim calcmode="lin" valueType="num">
                                      <p:cBhvr additive="base">
                                        <p:cTn id="328" dur="550" fill="hold"/>
                                        <p:tgtEl>
                                          <p:spTgt spid="83"/>
                                        </p:tgtEl>
                                        <p:attrNameLst>
                                          <p:attrName>ppt_h</p:attrName>
                                        </p:attrNameLst>
                                      </p:cBhvr>
                                      <p:tavLst>
                                        <p:tav tm="0">
                                          <p:val>
                                            <p:strVal val="0"/>
                                          </p:val>
                                        </p:tav>
                                        <p:tav tm="100000">
                                          <p:val>
                                            <p:strVal val="#ppt_h"/>
                                          </p:val>
                                        </p:tav>
                                      </p:tavLst>
                                    </p:anim>
                                  </p:childTnLst>
                                </p:cTn>
                              </p:par>
                            </p:childTnLst>
                          </p:cTn>
                        </p:par>
                        <p:par>
                          <p:cTn id="329" fill="hold">
                            <p:stCondLst>
                              <p:cond delay="350"/>
                            </p:stCondLst>
                            <p:childTnLst>
                              <p:par>
                                <p:cTn id="330" presetID="22" presetClass="entr" presetSubtype="8" fill="hold" grpId="0" nodeType="afterEffect">
                                  <p:stCondLst>
                                    <p:cond delay="0"/>
                                  </p:stCondLst>
                                  <p:childTnLst>
                                    <p:set>
                                      <p:cBhvr>
                                        <p:cTn id="331" dur="1" fill="hold">
                                          <p:stCondLst>
                                            <p:cond delay="0"/>
                                          </p:stCondLst>
                                        </p:cTn>
                                        <p:tgtEl>
                                          <p:spTgt spid="84"/>
                                        </p:tgtEl>
                                        <p:attrNameLst>
                                          <p:attrName>style.visibility</p:attrName>
                                        </p:attrNameLst>
                                      </p:cBhvr>
                                      <p:to>
                                        <p:strVal val="visible"/>
                                      </p:to>
                                    </p:set>
                                    <p:animEffect transition="in" filter="wipe(left)">
                                      <p:cBhvr>
                                        <p:cTn id="333" dur="800"/>
                                        <p:tgtEl>
                                          <p:spTgt spid="84"/>
                                        </p:tgtEl>
                                      </p:cBhvr>
                                    </p:animEffect>
                                  </p:childTnLst>
                                </p:cTn>
                              </p:par>
                            </p:childTnLst>
                          </p:cTn>
                        </p:par>
                        <p:par>
                          <p:cTn id="334" fill="hold">
                            <p:stCondLst>
                              <p:cond delay="500"/>
                            </p:stCondLst>
                            <p:childTnLst>
                              <p:par>
                                <p:cTn id="335" presetID="42" presetClass="entr" presetSubtype="0" fill="hold" grpId="0" nodeType="afterEffect">
                                  <p:stCondLst>
                                    <p:cond delay="0"/>
                                  </p:stCondLst>
                                  <p:childTnLst>
                                    <p:set>
                                      <p:cBhvr>
                                        <p:cTn id="336" dur="1" fill="hold">
                                          <p:stCondLst>
                                            <p:cond delay="0"/>
                                          </p:stCondLst>
                                        </p:cTn>
                                        <p:tgtEl>
                                          <p:spTgt spid="85"/>
                                        </p:tgtEl>
                                        <p:attrNameLst>
                                          <p:attrName>style.visibility</p:attrName>
                                        </p:attrNameLst>
                                      </p:cBhvr>
                                      <p:to>
                                        <p:strVal val="visible"/>
                                      </p:to>
                                    </p:set>
                                    <p:animEffect transition="in" filter="fade">
                                      <p:cBhvr>
                                        <p:cTn id="337" dur="550"/>
                                        <p:tgtEl>
                                          <p:spTgt spid="85"/>
                                        </p:tgtEl>
                                      </p:cBhvr>
                                    </p:animEffect>
                                    <p:anim calcmode="lin" valueType="num">
                                      <p:cBhvr additive="base">
                                        <p:cTn id="338" dur="550" fill="hold"/>
                                        <p:tgtEl>
                                          <p:spTgt spid="85"/>
                                        </p:tgtEl>
                                        <p:attrNameLst>
                                          <p:attrName>ppt_x</p:attrName>
                                        </p:attrNameLst>
                                      </p:cBhvr>
                                      <p:tavLst>
                                        <p:tav tm="0">
                                          <p:val>
                                            <p:strVal val="#ppt_x"/>
                                          </p:val>
                                        </p:tav>
                                        <p:tav tm="100000">
                                          <p:val>
                                            <p:strVal val="#ppt_x"/>
                                          </p:val>
                                        </p:tav>
                                      </p:tavLst>
                                    </p:anim>
                                    <p:anim calcmode="lin" valueType="num">
                                      <p:cBhvr additive="base">
                                        <p:cTn id="339" dur="550" fill="hold"/>
                                        <p:tgtEl>
                                          <p:spTgt spid="85"/>
                                        </p:tgtEl>
                                        <p:attrNameLst>
                                          <p:attrName>ppt_y</p:attrName>
                                        </p:attrNameLst>
                                      </p:cBhvr>
                                      <p:tavLst>
                                        <p:tav tm="0">
                                          <p:val>
                                            <p:strVal val="#ppt_y+.08"/>
                                          </p:val>
                                        </p:tav>
                                        <p:tav tm="100000">
                                          <p:val>
                                            <p:strVal val="#ppt_y"/>
                                          </p:val>
                                        </p:tav>
                                      </p:tavLst>
                                    </p:anim>
                                  </p:childTnLst>
                                </p:cTn>
                              </p:par>
                            </p:childTnLst>
                          </p:cTn>
                        </p:par>
                        <p:par>
                          <p:cTn id="340" fill="hold">
                            <p:stCondLst>
                              <p:cond delay="650"/>
                            </p:stCondLst>
                            <p:childTnLst>
                              <p:par>
                                <p:cTn id="341" presetID="10" presetClass="entr" presetSubtype="0" fill="hold" grpId="0" nodeType="afterEffect">
                                  <p:stCondLst>
                                    <p:cond delay="0"/>
                                  </p:stCondLst>
                                  <p:childTnLst>
                                    <p:set>
                                      <p:cBhvr>
                                        <p:cTn id="342" dur="1" fill="hold">
                                          <p:stCondLst>
                                            <p:cond delay="0"/>
                                          </p:stCondLst>
                                        </p:cTn>
                                        <p:tgtEl>
                                          <p:spTgt spid="86"/>
                                        </p:tgtEl>
                                        <p:attrNameLst>
                                          <p:attrName>style.visibility</p:attrName>
                                        </p:attrNameLst>
                                      </p:cBhvr>
                                      <p:to>
                                        <p:strVal val="visible"/>
                                      </p:to>
                                    </p:set>
                                    <p:animEffect transition="in" filter="fade">
                                      <p:cBhvr>
                                        <p:cTn id="343" dur="55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
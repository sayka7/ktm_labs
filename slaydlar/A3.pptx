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Mashg'ulotning maqsadi — o'qitilgan neyron tarmoq modelini ishlab chiqarish muhitiga tayyorlashning asosiy bosqichlarini amalda bajarish: modelni ONNX (Open Neural Network Exchange) formatiga eksport qilish, ONNX Runtime, TensorRT yoki OpenVINO kabi inferens dvigatellari (inference engine) yordamida optimallashtirish, kvantlash (quantization) va aralash aniqlik (mixed precision) usullarini qo'llash hamda natijani kechikish (latency), o'tkazuvchanlik (throughput), aniqlik va energiya samaradorligi bo'yicha to'liq baholash.</a:t>
            </a:r>
          </a:p>
          <a:p/>
          <a:p>
            <a:r>
              <a:t>Mashg'ulot yakunida talaba:</a:t>
            </a:r>
          </a:p>
          <a:p/>
          <a:p>
            <a:r>
              <a:t>PyTorch modelini ONNX ga eksport qilib, grafikni tekshiradi va dinamik o'lchamlar, opset versiyasi kabi parametrlarni to'g'ri tanlaydi;</a:t>
            </a:r>
          </a:p>
          <a:p/>
          <a:p>
            <a:r>
              <a:t>ONNX Runtime'da CPU va GPU ijro provayderlari (execution provider) bilan inferensni ishga tushirib, grafik optimallashtirish darajalarining ta'sirini o'lchaydi;</a:t>
            </a:r>
          </a:p>
          <a:p/>
          <a:p>
            <a:r>
              <a:t>Statik va dinamik kvantlash, FP16 va INT8 rejimlarini qo'llab, kalibrlash (calibration) jarayonini tushuntiradi va aniqlik yo'qotilishini o'lchaydi;</a:t>
            </a:r>
          </a:p>
          <a:p/>
          <a:p>
            <a:r>
              <a:t>TensorRT dvigatelini qurib, FP32/FP16/INT8 rejimlarini solishtiradi (GPU mavjud bo'lsa) yoki OpenVINO bilan CPU'da xuddi shu tahlilni bajaradi;</a:t>
            </a:r>
          </a:p>
          <a:p/>
          <a:p>
            <a:r>
              <a:t>Latency (p50/p95/p99), throughput (so'rov/s) va energiya (inferens boshiga joul) ko'rsatkichlarini bir xil metodika bilan o'lchab, Pareto tahlili asosida ishlab chiqarish uchun konfiguratsiya tanlaydi.</a:t>
            </a:r>
          </a:p>
          <a:p/>
          <a:p>
            <a:r>
              <a:t>Mavzu fanning TN4 (AI tizimlarini optimallashtirish usullarini qo'llash) va TN5 (unumdorlikni o'lchash va baholash) ta'lim natijalariga xizmat qiladi; M8 va M10 ma'ruzalarining amaliy davomi hamda sillabusdagi 2-mustaqil ta'lim topshirig'ining bevosita asosidir.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Mashg'ulotning maqsadi — o'qitilgan neyron tarmoq modelini ishlab chiqarish muhitiga tayyorlashning asosiy bosqichlarini amalda bajarish: modelni ONNX (Open Neural Network Exchange) formatiga eksport qilish, ONNX Runtime, TensorRT yoki OpenVINO kabi inferens dvigatellari (inference engine) yordamida optimallashtirish, kvantlash (quantization) va aralash aniqlik (mixed precision) usullarini qo'llash hamda natijani kechikish (latency), o'tkazuvchanlik (throughput), aniqlik va energiya samaradorligi bo'yicha to'liq baholash.</a:t>
            </a:r>
          </a:p>
          <a:p/>
          <a:p>
            <a:r>
              <a:t>Mashg'ulot yakunida talaba:</a:t>
            </a:r>
          </a:p>
          <a:p/>
          <a:p>
            <a:r>
              <a:t>PyTorch modelini ONNX ga eksport qilib, grafikni tekshiradi va dinamik o'lchamlar, opset versiyasi kabi parametrlarni to'g'ri tanlaydi;</a:t>
            </a:r>
          </a:p>
          <a:p/>
          <a:p>
            <a:r>
              <a:t>ONNX Runtime'da CPU va GPU ijro provayderlari (execution provider) bilan inferensni ishga tushirib, grafik optimallashtirish darajalarining ta'sirini o'lchaydi;</a:t>
            </a:r>
          </a:p>
          <a:p/>
          <a:p>
            <a:r>
              <a:t>Statik va dinamik kvantlash, FP16 va INT8 rejimlarini qo'llab, kalibrlash (calibration) jarayonini tushuntiradi va aniqlik yo'qotilishini o'lchaydi;</a:t>
            </a:r>
          </a:p>
          <a:p/>
          <a:p>
            <a:r>
              <a:t>TensorRT dvigatelini qurib, FP32/FP16/INT8 rejimlarini solishtiradi (GPU mavjud bo'lsa) yoki OpenVINO bilan CPU'da xuddi shu tahlilni bajaradi;</a:t>
            </a:r>
          </a:p>
          <a:p/>
          <a:p>
            <a:r>
              <a:t>Latency (p50/p95/p99), throughput (so'rov/s) va energiya (inferens boshiga joul) ko'rsatkichlarini bir xil metodika bilan o'lchab, Pareto tahlili asosida ishlab chiqarish uchun konfiguratsiya tanlaydi.</a:t>
            </a:r>
          </a:p>
          <a:p/>
          <a:p>
            <a:r>
              <a:t>Mavzu fanning TN4 (AI tizimlarini optimallashtirish usullarini qo'llash) va TN5 (unumdorlikni o'lchash va baholash) ta'lim natijalariga xizmat qiladi; M8 va M10 ma'ruzalarining amaliy davomi hamda sillabusdagi 2-mustaqil ta'lim topshirig'ining bevosita asosidir.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O'qitilgan model — mahsulotning yarmi. Qolgan yarmi — uni real foydalanuvchi so'roviga 20 millisekundda javob beradigan, serverda imkon qadar kam joy egallaydigan va elektr hisobini oshirmaydigan shaklga keltirish. Sanoat tajribasida o'qitish muhitidagi model (PyTorch eager rejimi, FP32, Python) to'g'ridan-to'g'ri ishlab chiqarishga qo'yilsa, kechikish 5–20 baravar, xotira 2–4 baravar, energiya sarfi esa shunga mos ortiqcha bo'ladi. Inferens optimallashtirish — bu farqni yopadigan muhandislik intizomi.</a:t>
            </a:r>
          </a:p>
          <a:p/>
          <a:p>
            <a:r>
              <a:t>Optimallashtirish bir necha qatlamda amalga oshiriladi. Grafik darajasida: operatorlarni birlashtirish (Conv + BatchNorm + ReLU → bitta yadro), doimiy ifodalarni oldindan hisoblash (constant folding), foydalanilmagan tugunlarni olib tashlash. Aniqlik darajasida: FP32 → FP16/BF16 (aralash aniqlik), FP32 → INT8 (kvantlash), yangi apparatda FP8/INT4. Yadro darajasida: aniq apparat uchun eng tez yadroni tanlash (TensorRT'ning «tactic» qidiruvi, cuDNN autotune). Tizim darajasida: paketlash (batching), parallel oqimlar, xotira havzalari (memory pool). Mashg'ulotda biz dastlabki uch qatlamni amalda bajaramiz, to'rtinchisi A4 da davom etadi.</a:t>
            </a:r>
          </a:p>
          <a:p/>
          <a:p>
            <a:r>
              <a:t>Vositalar tanlovi apparatga bog'liq: NVIDIA GPU — TensorRT (eng yuqori unumdorlik, lekin vendor-bog'liq); CPU va ko'p platformali yechim — ONNX Runtime (Microsoft, ochiq kod, CPU/CUDA/TensorRT/OpenVINO provayderlari); Intel CPU/iGPU/NPU — OpenVINO. ONNX formati bu dvigatellar orasidagi umumiy til bo'lib, PyTorch yoki TensorFlow'dan bir marta eksport qilingan model har uchalasida ishlatilishi mumkin. Mashg'ulot shu ketma-ketlikda tuzilgan: eksport → ONNX Runtime (barcha talabalar uchun, GPU shart emas) → kvantlash → TensorRT yoki OpenVINO (apparatga qarab) → yakuniy taqqoslash.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ONNX — neyron tarmoqni hisoblash grafigi sifatida ifodalovchi ochiq standart: tugunlar — operatorlar (Conv, MatMul, Relu, Softmax va boshqalar, opset versiyasiga qarab 190 dan ortiq), qirralar — tensorlar. Har bir opset versiyasi operatorlar semantikasini qat'iy belgilaydi; PyTorch 2.x odatda opset 17–18 ni eksport qiladi. Eksportda ikki yondashuv bor: kuzatish (tracing) — model bitta namuna kirish bilan ishga tushiriladi va bajarilgan amallar yoziladi (shartli tarmoqlanishlar yo'qoladi); skript (TorchScript yoki yangi torch.export — Dynamo asosida) — Python kodi tahlil qilinadi. Eksportdan keyin onnx.checker.check_model grafikning to'g'riligini, onnxruntime esa natijaning PyTorch bilan mosligini (odatda 1e-4 nisbiy xato) tekshirish uchun ishlatiladi.</a:t>
            </a:r>
          </a:p>
          <a:p/>
          <a:p>
            <a:r>
              <a:t>Grafik optimallashtirish darajalari ONNX Runtime'da uchta: basic (constant folding, keraksiz Cast/Identity olib tashlash), extended (Conv+BN, MatMul+Add, GELU/LayerNorm birlashtirish — provayderga bog'liq), all (layout optimallashtirish, NCHWc). TensorRT esa qurish (build) bosqichida yanada agressiv: qatlamlarni vertikal (ketma-ket) va gorizontal (parallel bir xil qatlamlar) birlashtirish, har qatlam uchun yuzlab yadro variantidan eng tezini o'lchab tanlash (bu 1–10 daqiqa olishi mumkin), xotira rejasini oldindan tuzish.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FP32 (1 ishora, 8 eksponenta, 23 mantissa biti) — o'qitishning standart formati. FP16 (5 eksponenta, 10 mantissa) diapazoni ±65 504 bilan cheklangan — katta faollashuvlar toshadi (overflow); BF16 (8 eksponenta, 7 mantissa) FP32 diapazonini saqlaydi, aniqlik pastroq, lekin o'qitish uchun barqaror. Inferensda FP16 ko'pchilik ko'rish modellari uchun aniqlikni deyarli o'zgartirmaydi (top-1 farqi 0,1 foiz punktdan kam), xotirani ikki baravar kamaytiradi va Tensor Core'larda 2–4 baravar tezlanish beradi (A2 ga qarang). «Aralash» deyilishining sababi — ba'zi operatorlar (Softmax, LayerNorm, yig'indi) raqamli barqarorlik uchun FP32 da qoladi; TensorRT va ONNX Runtime buni avtomatik hal qiladi, dasturchi esa qaysi qatlamlar FP32 da qolishini belgilashi mumkin.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Kvantlash — haqiqiy sonlarni 8 bitli (yoki kamroq) butun songa akslantirish: q = round(x / s) + z, bu yerda s — masshtab (scale), z — nol nuqta (zero point). Simmetrik kvantlashda z = 0 va s = max|x| / 127; asimmetrikda diapazon [x_min, x_max] to'liq ishlatiladi. Masshtab butun tensor uchun bitta (per-tensor) yoki har chiqish kanali uchun alohida (per-channel) bo'lishi mumkin; per-channel vaznlar uchun aniqlikni sezilarli yaxshilaydi.</a:t>
            </a:r>
          </a:p>
          <a:p/>
          <a:p>
            <a:r>
              <a:t>Uch asosiy yondashuv:</a:t>
            </a:r>
          </a:p>
          <a:p/>
          <a:p>
            <a:r>
              <a:t>Statik kvantlashda faollashuvlarning diapazoni kalibrlash to'plamidan aniqlanadi; usullar: MinMax (chetki qiymatlarga sezgir), Entropy/KL-divergentsiya (TensorRT standart), Percentile (99,99 foizlik), MSE. Noto'g'ri kalibrlash — INT8 modellarining aniqlik yo'qotishining asosiy sababi. Kvantlashning apparat foydasi: INT8 ko'paytirish FP32 ga nisbatan 4 baravar kam xotira trafigi, Tensor Core'da 2 baravar (FP16 ga nisbatan) ko'proq operatsiya, CPU'da VNNI/AMX buyruqlari orqali 3–4 baravar tezlanish; Edge TPU va ko'pgina NPU'lar faqat INT8 ni qo'llab-quvvatlaydi.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Latency — bitta so'rov uchun vaqt; taqsimot sifatida o'lchanadi, hisobotda p50, p95, p99 beriladi, chunki foydalanuvchi tajribasini aynan sekin so'rovlar belgilaydi. Throughput — birlik vaqtda bajarilgan inferenslar; paketlash orqali oshadi, lekin paket to'lguncha kutish latency'ni oshiradi — bu kompromiss har bir xizmat uchun alohida sozlanadi. Little qonuni ularni bog'laydi: parallellik = throughput × latency; masalan, 1000 so'rov/s va 20 ms latency uchun tizimda bir vaqtda 20 ta so'rov bo'lishi kerak.</a:t>
            </a:r>
          </a:p>
          <a:p/>
          <a:p>
            <a:r>
              <a:t>Energiya samaradorligi — inferens boshiga joul: E = P_o'rtacha × t_inferens yoki inferens/s / Vt. GPU'da quvvat nvidia-smi --query-gpu=power.draw yoki NVML orqali 100 ms oraliqda o'qiladi; Jetson'da tegrastats; Intel CPU'da RAPL (/sys/class/powercap/intel-rapl) yoki perf stat -e power/energy-pkg/. Muhim nozik jihat: bo'sh (idle) quvvatni ayirish kerakmi? Ikki ko'rsatkich ham beriladi: to'liq (TCO uchun) va dinamik (algoritm samaradorligi uchun). A1 da ko'rilgan Roofline modeli bu yerda ham ishlaydi: kvantlash bir vaqtda ham hisoblash cho'qqisini (INT8 tezroq), ham xotira talabini (4 baravar kam bayt) yaxshilaydi, shuning uchun u har ikki rejimdagi modellarga yordam beradi.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Laboratoriya topshirig'i: «ResNet-50 tasvir tasniflash modelini ONNX Runtime va TensorRT/OpenVINO yordamida optimallashtirish va unumdorlikni to'liq baholash».</a:t>
            </a:r>
          </a:p>
          <a:p/>
          <a:p>
            <a:r>
              <a:t>Talab qilinadigan muhit. Apparat: x86 CPU (kamida 4 yadro, AVX2; VNNI bo'lsa INT8 tezlanishi yaqqolroq); NVIDIA GPU (ixtiyoriy, TensorRT qismi uchun; T4, RTX 3060 yoki yuqori); Intel CPU bo'lsa OpenVINO qismi bajariladi. Dasturiy ta'minot: Ubuntu 22.04; Python 3.10; torch&gt;=2.2, torchvision&gt;=0.17, onnx&gt;=1.15, onnxruntime&gt;=1.17 (GPU uchun onnxruntime-gpu), onnxscript, numpy, pandas, pillow; TensorRT 8.6 yoki 10.x (CUDA 12 bilan; pip install tensorrt yoki NVIDIA NGC konteyneri nvcr.io/nvidia/tensorrt:24.xx-py3); OpenVINO 2024.x (pip install openvino nncf). Ma'lumotlar: ImageNet validatsiya to'plamidan 1000 ta tasvir (yoki Imagenette kichik to'plami — 10 sinf, ochiq) — aniqlikni o'lchash va kalibrlash uchun. Vaqt: 2 akademik soat auditoriyada; TensorRT qurish va to'liq o'lchovlar uyda yakunlanadi.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Kutilgan natija (8 yadroli CPU, taxminiy): PyTorch FP32 p50 ≈ 45–70 ms; ONNX faylda 120–130 tugun (Conv, BatchNormalization, Relu, Add, MaxPool, GlobalAveragePool, Gemm), hajmi ≈ 98 MB (25,6 million parametr × 4 bayt).</a:t>
            </a:r>
          </a:p>
          <a:p/>
          <a:p>
            <a:r>
              <a:t>Nima bo'ldi va nega. dynamic_axes paket o'lchamini o'zgaruvchan qiladi — keyin throughput o'lchovida 1, 8, 32 paketlarni bitta fayl bilan sinaymiz. do_constant_folding eksport paytidayoq doimiy qism-grafiklarni hisoblaydi. Etalon latency keyingi barcha solishtirishlar uchun 1,0× nuqtasi.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Kutilgan natija (taxminiy):</a:t>
            </a:r>
          </a:p>
          <a:p/>
          <a:p>
            <a:r>
              <a:t>Nima bo'ldi va nega. EXTENDED darajada Conv+BN+ReLU birlashtirildi — tugunlar soni 120 dan ~55 ga tushdi, xotiraga oraliq yozish yo'qoldi, CPU latency 35 % yaxshilandi. ONNX Runtime CPU allaqachon PyTorch eager'dan 1,5–2 baravar tez — bu grafik optimallashtirish va MLAS yadrolarining hissasi. GPU'da paketni 1 dan 32 ga oshirish throughput'ni 2,7 baravar oshirdi, lekin latency 12 baravar o'sdi — Little qonuni amalda: real vaqt xizmati uchun paket 1–4, oflayn qayta ishlash uchun 32–128.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Kutilgan natija (ImageNet val 1000 tasvir, taxminiy):</a:t>
            </a:r>
          </a:p>
          <a:p/>
          <a:p>
            <a:r>
              <a:t>Nima bo'ldi va nega. Dinamik kvantlash ResNet-50 da deyarli tezlanish bermadi, chunki konvolyutsiyalar faollashuvlarni har safar ish vaqtida kvantlash xarajati bilan ishlaydi — dinamik usul Transformer/LSTM kabi MatMul og'ir modellar uchun. Statik INT8 esa VNNI buyruqlari (Cascade Lake va undan yangi; AMD Zen 4) bo'lgan CPU'da 2,6 baravar tezlanish berdi. Per-channel va Percentile kalibrlash aniqlik yo'qotishini 2,5 dan 0,7 foiz punktga tushirdi — kalibrlash usuli tanlovi muhimligini ko'rsatadi. Model hajmi 4 baravar kichraydi — bu chekka qurilmalar uchun hal qiluvchi (A4).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Kutilgan natija (NVIDIA T4, batch 8, taxminiy; bo'sh quvvat ~25 Vt):</a:t>
            </a:r>
          </a:p>
          <a:p/>
          <a:p>
            <a:r>
              <a:t>Nima bo'ldi va nega. TensorRT FP32 ONNX Runtime CUDA'dan 1,6 baravar tez — yadro tanlovi (tactic) va to'liqroq birlashtirish hisobiga. FP16 T4 ning Tensor Core'larini ishga tushirdi: 2,7 baravar tezlanish, aniqlik deyarli o'zgarmadi. INT8 yana 1,7 baravar — jami PyTorch CPU etalonidan 450 baravar ko'p throughput. Quvvat deyarli o'zgarmadi (GPU to'liq yuklangan), shuning uchun energiya samaradorligi throughput'ga proporsional 6,7 baravar oshdi. Bu natija M8 dagi asosiy tezisni tasdiqlaydi: bir xil apparatda energiya samaradorligi asosan dasturiy optimallashtirish bilan belgilanadi.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Kutilgan natija (8 yadroli Intel CPU, AVX-512 VNNI, taxminiy): FP32 p50 ≈ 24 ms, INT8 p50 ≈ 8 ms (3 baravar), top-1 ≈ 79,8 % (NNCF ning aniqlikni saqlovchi aralash preset'i). RAPL orqali energiya: FP32 ≈ 1,1 J/rasm, INT8 ≈ 0,38 J/rasm (paketli 65 Vt CPU).</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Barcha o'lchovlarni bitta jadvalga yig'ing (konfiguratsiya, apparat, p50, p95, throughput, hajm, top-1, mJ/rasm) va ikki o'qli tahlil qiling: latency–aniqlik va throughput–energiya. Pareto-optimal nuqtalar — boshqa hech bir konfiguratsiya ikkala ko'rsatkichda ham undan yaxshi bo'lmaganlar. Odatda FP16 TensorRT (aniqlik deyarli saqlangan, 3 baravar tezroq) va INT8 (eng tez, 0,7 p.p. yo'qotish) Pareto chegarasida bo'ladi; qaysi birini tanlash talabga bog'liq: tibbiy tasniflash uchun FP16, 1000 kamerali kuzatuv uchun INT8.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Hisobot (5–7 bet): (1) muhit — CPU/GPU modeli, VNNI/Tensor Core mavjudligi, kutubxona versiyalari; (2) eksport natijasi — tugunlar soni, opset, PyTorch bilan maksimal farq; (3) 2-qadam jadvali va optimallashtirish darajalarining izohi; (4) kvantlash jadvali — hajm, latency, aniqlik; kalibrlash usullari solishtiruvi; (5) TensorRT yoki OpenVINO jadvali quvvat bilan; (6) yakuniy Pareto jadvali va grafigi (ikki o'q); (7) tavsiya — aniq ssenariy (A1 dagi SHV tizimi yoki talaba tanlagan boshqa) uchun konfiguratsiya va asoslash; (8) xulosa.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Qo'shimcha 10 ball: QAT (PyTorch torch.ao.quantization yoki NNCF) bilan 1–2 epox qayta o'qitib, INT8 aniqligini FP32 ga 0,2 p.p. ichida yaqinlashtirish; yoki Transformer modelini (masalan, DistilBERT) xuddi shu metodika bilan tahlil qilib, dinamik kvantlashning konvolyutsion modeldan farqli natija berishini ko'rsatish.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Mashg'ulot natijalari uch xulosa beradi. Birinchi: optimallashtirish zanjiri multiplikativ — grafik birlashtirish (1,5×), to'g'ri dvigatel (1,6×), FP16 (2,7×), INT8 (1,7×) ketma-ket qo'llanib, GPU'da 11 baravar, CPU'da 4–5 baravar yaxshilanish beradi, va bu modelni qayta o'qitmasdan erishiladi. Ikkinchi: aniqlik yo'qotishi muhandislik qarorlariga bog'liq — per-tensor MinMax kvantlash 2,5 p.p. yo'qotadi, per-channel Percentile 0,7, QAT esa 0,2 gacha tushiradi; «INT8 aniqlikni buzadi» degan umumiy fikr aslida «yomon kalibrlash aniqlikni buzadi» demakdir. Uchinchi: energiya samaradorligi throughput bilan deyarli chiziqli bog'liq, chunki to'liq yuklangan tezlatkichning quvvati kam o'zgaradi; demak, energiya tejashning eng samarali yo'li — bir xil ishni kamroq vaqtda bajarish va qurilmani bo'sh holatga (yoki quvvat cheklangan rejimga) o'tkazish.</a:t>
            </a:r>
          </a:p>
          <a:p/>
          <a:p>
            <a:r>
              <a:t>Cheklovlar. O'lchovlar sintetik kirishda va bitta jarayonda olingan; real xizmatda so'rovlar notekis keladi, paket dinamik shakllanadi, oldindan ishlov (JPEG dekodlash, resize) ko'pincha inferensdan uzoq — ResNet-50 INT8 3 ms bo'lsa, JPEG dekodlash CPU'da 5–10 ms. TensorRT dvigateli aniq GPU va versiyaga bog'langan — har yangi qurilma uchun qayta quriladi, bu A4 dagi konteynerlashtirishda hisobga olinadi. Aniqlik 1000 tasvirda o'lchandi — statistik ishonch intervali ±2,5 p.p. atrofida, shuning uchun 0,2 p.p. farqlar faqat to'liq 50 000 tasvirli validatsiyada ishonchli.</a:t>
            </a:r>
          </a:p>
          <a:p/>
          <a:p>
            <a:r>
              <a:t>Muqobil yondashuvlar: kvantlashdan tashqari, siyraklashtirish (pruning; Ampere'da 2:4 strukturali siyraklik Tensor Core'da 2 baravar beradi), bilimni distillash (knowledge distillation; kichikroq talaba model), arxitektura qidiruvi (EfficientNet, MobileNetV3 kabi inferensga mo'ljallangan tarmoqlar); LLM'lar uchun INT4/FP8 vazn kvantlashi (GPTQ, AWQ) va KV-kesh kvantlashi. Ko'p hollarda eng yaxshi natija — arxitekturani almashtirish: ResNet-50 INT8 (3,1 ms) o'rniga EfficientNet-B0 FP16 (1,5 ms) xuddi shunday aniqlikni beradi.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Eksportda statik paket o'lchami qoldirish. dynamic_axes ko'rsatilmasa, model faqat batch=1 da ishlaydi va throughput o'lchovi mumkin bo'lmaydi; TensorRT'da esa optimizatsiya profili berilmaydi.</a:t>
            </a:r>
          </a:p>
          <a:p/>
          <a:p>
            <a:r>
              <a:t>Eksportdan keyin mosligini tekshirmaslik. Opset nomuvofiqligi, eval() chaqirilmagani (BatchNorm/Dropout o'qitish rejimida qoladi) yoki tracing'da yo'qolgan shartli tarmoq jim xato beradi. Har doim PyTorch va ORT chiqishlarini np.allclose(..., rtol=1e-3, atol=1e-4) bilan solishtiring.</a:t>
            </a:r>
          </a:p>
          <a:p/>
          <a:p>
            <a:r>
              <a:t>Kalibrlashni tasodifiy shovqin bilan bajarish. Faollashuv diapazonlari real ma'lumotga bog'liq; np.random.rand bilan kalibrlangan model 10–30 p.p. aniqlik yo'qotadi. Kamida 100–500 real, oldindan ishlov berilgan namuna ishlating — va ular o'qitish taqsimotini aks ettirsin.</a:t>
            </a:r>
          </a:p>
          <a:p/>
          <a:p>
            <a:r>
              <a:t>Barcha qatlamlarni INT8 qilish. Birinchi konvolyutsiya va oxirgi to'liq bog'langan qatlam, Softmax, SiLU/GELU kabi operatorlar kvantlashga sezgir. Aniqlik tushsa, qatlamma-qatlam tahlil (sensitivity analysis) qilib, 2–3 ta eng sezgir qatlamni FP16 da qoldiring — tezlik deyarli yo'qolmaydi, aniqlik tiklanadi.</a:t>
            </a:r>
          </a:p>
          <a:p/>
          <a:p>
            <a:r>
              <a:t>CPU'da INT8 tezlanishini kutib, VNNI/AMX yo'qligini tekshirmaslik. Eski CPU'larda INT8 FP32 dan sekin bo'lishi mumkin (emulatsiya). lscpu | grep -o 'avx512_vnni\|amx' bilan tekshiring.</a:t>
            </a:r>
          </a:p>
          <a:p/>
          <a:p>
            <a:r>
              <a:t>TensorRT dvigatelini bir GPU'da qurib, boshqasida ishlatish. Engine arxitektura (SM versiyasi) va TensorRT versiyasiga bog'langan; T4 da qurilgan dvigatel A100 da ishlamaydi. Konteynerga ONNX faylni qo'yib, dvigatelni maqsadli qurilmada ishga tushirishda quring (yoki har qurilma uchun alohida saqlang).</a:t>
            </a:r>
          </a:p>
          <a:p/>
          <a:p>
            <a:r>
              <a:t>Quvvatni bitta nuqtada o'lchash. nvidia-smi o'qishlari 100 ms da yangilanadi va bo'sh/yuklangan holatlar aralashadi. Kamida 10–30 soniyalik yuklama davomida o'rtachani oling, bo'sh quvvatni alohida o'lchang va ikkala ko'rsatkichni hisobotda bering.</a:t>
            </a:r>
          </a:p>
          <a:p/>
          <a:p>
            <a:r>
              <a:t>Aniqlikni faqat umumiy top-1 bilan baholash. Kvantlash ba'zi sinflar yoki kam uchraydigan holatlarga nomutanosib ta'sir qilishi mumkin. Sinflar bo'yicha chalkashlik matritsasi (confusion matrix) farqini ham tekshiring — ayniqsa tibbiy va xavfsizlik ilovalarida.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Eksportda statik paket o'lchami qoldirish. dynamic_axes ko'rsatilmasa, model faqat batch=1 da ishlaydi va throughput o'lchovi mumkin bo'lmaydi; TensorRT'da esa optimizatsiya profili berilmaydi.</a:t>
            </a:r>
          </a:p>
          <a:p/>
          <a:p>
            <a:r>
              <a:t>Eksportdan keyin mosligini tekshirmaslik. Opset nomuvofiqligi, eval() chaqirilmagani (BatchNorm/Dropout o'qitish rejimida qoladi) yoki tracing'da yo'qolgan shartli tarmoq jim xato beradi. Har doim PyTorch va ORT chiqishlarini np.allclose(..., rtol=1e-3, atol=1e-4) bilan solishtiring.</a:t>
            </a:r>
          </a:p>
          <a:p/>
          <a:p>
            <a:r>
              <a:t>Kalibrlashni tasodifiy shovqin bilan bajarish. Faollashuv diapazonlari real ma'lumotga bog'liq; np.random.rand bilan kalibrlangan model 10–30 p.p. aniqlik yo'qotadi. Kamida 100–500 real, oldindan ishlov berilgan namuna ishlating — va ular o'qitish taqsimotini aks ettirsin.</a:t>
            </a:r>
          </a:p>
          <a:p/>
          <a:p>
            <a:r>
              <a:t>Barcha qatlamlarni INT8 qilish. Birinchi konvolyutsiya va oxirgi to'liq bog'langan qatlam, Softmax, SiLU/GELU kabi operatorlar kvantlashga sezgir. Aniqlik tushsa, qatlamma-qatlam tahlil (sensitivity analysis) qilib, 2–3 ta eng sezgir qatlamni FP16 da qoldiring — tezlik deyarli yo'qolmaydi, aniqlik tiklanadi.</a:t>
            </a:r>
          </a:p>
          <a:p/>
          <a:p>
            <a:r>
              <a:t>CPU'da INT8 tezlanishini kutib, VNNI/AMX yo'qligini tekshirmaslik. Eski CPU'larda INT8 FP32 dan sekin bo'lishi mumkin (emulatsiya). lscpu | grep -o 'avx512_vnni\|amx' bilan tekshiring.</a:t>
            </a:r>
          </a:p>
          <a:p/>
          <a:p>
            <a:r>
              <a:t>TensorRT dvigatelini bir GPU'da qurib, boshqasida ishlatish. Engine arxitektura (SM versiyasi) va TensorRT versiyasiga bog'langan; T4 da qurilgan dvigatel A100 da ishlamaydi. Konteynerga ONNX faylni qo'yib, dvigatelni maqsadli qurilmada ishga tushirishda quring (yoki har qurilma uchun alohida saqlang).</a:t>
            </a:r>
          </a:p>
          <a:p/>
          <a:p>
            <a:r>
              <a:t>Quvvatni bitta nuqtada o'lchash. nvidia-smi o'qishlari 100 ms da yangilanadi va bo'sh/yuklangan holatlar aralashadi. Kamida 10–30 soniyalik yuklama davomida o'rtachani oling, bo'sh quvvatni alohida o'lchang va ikkala ko'rsatkichni hisobotda bering.</a:t>
            </a:r>
          </a:p>
          <a:p/>
          <a:p>
            <a:r>
              <a:t>Aniqlikni faqat umumiy top-1 bilan baholash. Kvantlash ba'zi sinflar yoki kam uchraydigan holatlarga nomutanosib ta'sir qilishi mumkin. Sinflar bo'yicha chalkashlik matritsasi (confusion matrix) farqini ham tekshiring — ayniqsa tibbiy va xavfsizlik ilovalarida.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42845"/>
              </a:gs>
              <a:gs pos="100000">
                <a:srgbClr val="0F6E80"/>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600000" y="-1200000"/>
            <a:ext cx="4600000" cy="4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200000" y="3900000"/>
            <a:ext cx="2600000" cy="2600000"/>
          </a:xfrm>
          <a:prstGeom prst="ellipse">
            <a:avLst/>
          </a:prstGeom>
          <a:solidFill>
            <a:srgbClr val="138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300000" y="3300000"/>
            <a:ext cx="700000" cy="700000"/>
          </a:xfrm>
          <a:prstGeom prst="ellipse">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0000" y="4650000"/>
            <a:ext cx="2400000" cy="70000"/>
          </a:xfrm>
          <a:prstGeom prst="rect">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0000" y="700000"/>
            <a:ext cx="8000000" cy="500000"/>
          </a:xfrm>
          <a:prstGeom prst="rect">
            <a:avLst/>
          </a:prstGeom>
          <a:noFill/>
        </p:spPr>
        <p:txBody>
          <a:bodyPr wrap="square" anchor="t" lIns="50800" rIns="50800">
            <a:spAutoFit/>
          </a:bodyPr>
          <a:lstStyle/>
          <a:p>
            <a:pPr algn="l"/>
            <a:r>
              <a:rPr sz="1600" b="0">
                <a:solidFill>
                  <a:srgbClr val="A9C4E6"/>
                </a:solidFill>
                <a:latin typeface="Calibri"/>
              </a:rPr>
              <a:t>Sun'iy intellektga asoslangan kompyuter tizimlari muhandisligi</a:t>
            </a:r>
          </a:p>
        </p:txBody>
      </p:sp>
      <p:sp>
        <p:nvSpPr>
          <p:cNvPr id="8" name="TextBox 7"/>
          <p:cNvSpPr txBox="1"/>
          <p:nvPr/>
        </p:nvSpPr>
        <p:spPr>
          <a:xfrm>
            <a:off x="700000" y="1300000"/>
            <a:ext cx="8000000" cy="500000"/>
          </a:xfrm>
          <a:prstGeom prst="rect">
            <a:avLst/>
          </a:prstGeom>
          <a:noFill/>
        </p:spPr>
        <p:txBody>
          <a:bodyPr wrap="square" anchor="t" lIns="50800" rIns="50800">
            <a:spAutoFit/>
          </a:bodyPr>
          <a:lstStyle/>
          <a:p>
            <a:pPr algn="l"/>
            <a:r>
              <a:rPr sz="1600" b="1">
                <a:solidFill>
                  <a:srgbClr val="7FD6D7"/>
                </a:solidFill>
                <a:latin typeface="Calibri"/>
              </a:rPr>
              <a:t>LABORATORIYA ISHI · A3 · 2 soat</a:t>
            </a:r>
          </a:p>
        </p:txBody>
      </p:sp>
      <p:sp>
        <p:nvSpPr>
          <p:cNvPr id="9" name="TextBox 8"/>
          <p:cNvSpPr txBox="1"/>
          <p:nvPr/>
        </p:nvSpPr>
        <p:spPr>
          <a:xfrm>
            <a:off x="700000" y="1900000"/>
            <a:ext cx="6900000" cy="2600000"/>
          </a:xfrm>
          <a:prstGeom prst="rect">
            <a:avLst/>
          </a:prstGeom>
          <a:noFill/>
        </p:spPr>
        <p:txBody>
          <a:bodyPr wrap="square" anchor="t" lIns="50800" rIns="50800">
            <a:spAutoFit/>
          </a:bodyPr>
          <a:lstStyle/>
          <a:p>
            <a:pPr algn="l"/>
            <a:r>
              <a:rPr sz="2800" b="1">
                <a:solidFill>
                  <a:srgbClr val="FFFFFF"/>
                </a:solidFill>
                <a:latin typeface="Calibri"/>
              </a:rPr>
              <a:t>Sun'iy intellekt tizimlarini optimallashtirish va unumdorligini baholash</a:t>
            </a:r>
          </a:p>
        </p:txBody>
      </p:sp>
      <p:sp>
        <p:nvSpPr>
          <p:cNvPr id="10" name="TextBox 9"/>
          <p:cNvSpPr txBox="1"/>
          <p:nvPr/>
        </p:nvSpPr>
        <p:spPr>
          <a:xfrm>
            <a:off x="700000" y="4900000"/>
            <a:ext cx="8000000" cy="1200000"/>
          </a:xfrm>
          <a:prstGeom prst="rect">
            <a:avLst/>
          </a:prstGeom>
          <a:noFill/>
        </p:spPr>
        <p:txBody>
          <a:bodyPr wrap="square" anchor="t" lIns="50800" rIns="50800">
            <a:spAutoFit/>
          </a:bodyPr>
          <a:lstStyle/>
          <a:p>
            <a:pPr algn="l"/>
            <a:r>
              <a:rPr sz="1500" b="0">
                <a:solidFill>
                  <a:srgbClr val="D7E3F4"/>
                </a:solidFill>
                <a:latin typeface="Calibri"/>
              </a:rPr>
              <a:t>O‘qituvchi: S.Iskandarova, t.f.f.d. (PhD), dotsent</a:t>
            </a:r>
          </a:p>
          <a:p>
            <a:pPr algn="l"/>
            <a:r>
              <a:rPr sz="1500" b="0">
                <a:solidFill>
                  <a:srgbClr val="D7E3F4"/>
                </a:solidFill>
                <a:latin typeface="Calibri"/>
              </a:rPr>
              <a:t>2026-2027 o‘quv yili</a:t>
            </a:r>
          </a:p>
          <a:p>
            <a:pPr algn="l"/>
            <a:r>
              <a:rPr sz="1500" b="0">
                <a:solidFill>
                  <a:srgbClr val="D7E3F4"/>
                </a:solidFill>
                <a:latin typeface="Calibri"/>
              </a:rPr>
              <a:t>https://aiscan.airi.uz/ktm/</a:t>
            </a:r>
          </a:p>
        </p:txBody>
      </p:sp>
      <p:pic>
        <p:nvPicPr>
          <p:cNvPr id="11" name="Picture 10" descr="51683799537b3413.jpg"/>
          <p:cNvPicPr>
            <a:picLocks noChangeAspect="1"/>
          </p:cNvPicPr>
          <p:nvPr/>
        </p:nvPicPr>
        <p:blipFill>
          <a:blip r:embed="rId2"/>
          <a:srcRect l="21040" r="21040"/>
          <a:stretch>
            <a:fillRect/>
          </a:stretch>
        </p:blipFill>
        <p:spPr>
          <a:xfrm>
            <a:off x="7900000" y="900000"/>
            <a:ext cx="3900000" cy="5050000"/>
          </a:xfrm>
          <a:prstGeom prst="rect">
            <a:avLst/>
          </a:prstGeom>
        </p:spPr>
      </p:pic>
      <p:sp>
        <p:nvSpPr>
          <p:cNvPr id="12" name="Rectangle 11"/>
          <p:cNvSpPr/>
          <p:nvPr/>
        </p:nvSpPr>
        <p:spPr>
          <a:xfrm>
            <a:off x="7900000" y="5650000"/>
            <a:ext cx="3900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80000" y="5650000"/>
            <a:ext cx="3740000" cy="300000"/>
          </a:xfrm>
          <a:prstGeom prst="rect">
            <a:avLst/>
          </a:prstGeom>
          <a:noFill/>
        </p:spPr>
        <p:txBody>
          <a:bodyPr wrap="square" anchor="ctr" lIns="50800" rIns="50800">
            <a:spAutoFit/>
          </a:bodyPr>
          <a:lstStyle/>
          <a:p>
            <a:pPr algn="l"/>
            <a:r>
              <a:rPr sz="900" b="0">
                <a:solidFill>
                  <a:srgbClr val="D7E3F4"/>
                </a:solidFill>
                <a:latin typeface="Calibri"/>
              </a:rPr>
              <a:t>Rasm: Ank Kumar · Wikimedia Commons · CC BY-SA 4.0</a:t>
            </a:r>
          </a:p>
        </p:txBody>
      </p:sp>
      <p:sp>
        <p:nvSpPr>
          <p:cNvPr id="14" name="Rectangle 13"/>
          <p:cNvSpPr/>
          <p:nvPr/>
        </p:nvSpPr>
        <p:spPr>
          <a:xfrm>
            <a:off x="7820000" y="820000"/>
            <a:ext cx="4060000" cy="5210000"/>
          </a:xfrm>
          <a:prstGeom prst="rect">
            <a:avLst/>
          </a:prstGeom>
          <a:noFill/>
          <a:ln w="381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00"/>
                            </p:stCondLst>
                            <p:childTnLst>
                              <p:par>
                                <p:cTn id="16" presetID="53" presetClass="entr" presetSubtype="16"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ppt_w</p:attrName>
                                        </p:attrNameLst>
                                      </p:cBhvr>
                                      <p:tavLst>
                                        <p:tav tm="0">
                                          <p:val>
                                            <p:strVal val="0"/>
                                          </p:val>
                                        </p:tav>
                                        <p:tav tm="100000">
                                          <p:val>
                                            <p:strVal val="#ppt_w"/>
                                          </p:val>
                                        </p:tav>
                                      </p:tavLst>
                                    </p:anim>
                                    <p:anim calcmode="lin" valueType="num">
                                      <p:cBhvr additive="base">
                                        <p:cTn id="20" dur="550" fill="hold"/>
                                        <p:tgtEl>
                                          <p:spTgt spid="5"/>
                                        </p:tgtEl>
                                        <p:attrNameLst>
                                          <p:attrName>ppt_h</p:attrName>
                                        </p:attrNameLst>
                                      </p:cBhvr>
                                      <p:tavLst>
                                        <p:tav tm="0">
                                          <p:val>
                                            <p:strVal val="0"/>
                                          </p:val>
                                        </p:tav>
                                        <p:tav tm="100000">
                                          <p:val>
                                            <p:strVal val="#ppt_h"/>
                                          </p:val>
                                        </p:tav>
                                      </p:tavLst>
                                    </p:anim>
                                  </p:childTnLst>
                                </p:cTn>
                              </p:par>
                            </p:childTnLst>
                          </p:cTn>
                        </p:par>
                        <p:par>
                          <p:cTn id="21" fill="hold">
                            <p:stCondLst>
                              <p:cond delay="400"/>
                            </p:stCondLst>
                            <p:childTnLst>
                              <p:par>
                                <p:cTn id="22" presetID="53" presetClass="entr" presetSubtype="16"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50"/>
                                        <p:tgtEl>
                                          <p:spTgt spid="14"/>
                                        </p:tgtEl>
                                      </p:cBhvr>
                                    </p:animEffect>
                                    <p:anim calcmode="lin" valueType="num">
                                      <p:cBhvr additive="base">
                                        <p:cTn id="25" dur="550" fill="hold"/>
                                        <p:tgtEl>
                                          <p:spTgt spid="14"/>
                                        </p:tgtEl>
                                        <p:attrNameLst>
                                          <p:attrName>ppt_w</p:attrName>
                                        </p:attrNameLst>
                                      </p:cBhvr>
                                      <p:tavLst>
                                        <p:tav tm="0">
                                          <p:val>
                                            <p:strVal val="0"/>
                                          </p:val>
                                        </p:tav>
                                        <p:tav tm="100000">
                                          <p:val>
                                            <p:strVal val="#ppt_w"/>
                                          </p:val>
                                        </p:tav>
                                      </p:tavLst>
                                    </p:anim>
                                    <p:anim calcmode="lin" valueType="num">
                                      <p:cBhvr additive="base">
                                        <p:cTn id="26" dur="550" fill="hold"/>
                                        <p:tgtEl>
                                          <p:spTgt spid="14"/>
                                        </p:tgtEl>
                                        <p:attrNameLst>
                                          <p:attrName>ppt_h</p:attrName>
                                        </p:attrNameLst>
                                      </p:cBhvr>
                                      <p:tavLst>
                                        <p:tav tm="0">
                                          <p:val>
                                            <p:strVal val="0"/>
                                          </p:val>
                                        </p:tav>
                                        <p:tav tm="100000">
                                          <p:val>
                                            <p:strVal val="#ppt_h"/>
                                          </p:val>
                                        </p:tav>
                                      </p:tavLst>
                                    </p:anim>
                                  </p:childTnLst>
                                </p:cTn>
                              </p:par>
                            </p:childTnLst>
                          </p:cTn>
                        </p:par>
                        <p:par>
                          <p:cTn id="27" fill="hold">
                            <p:stCondLst>
                              <p:cond delay="400"/>
                            </p:stCondLst>
                            <p:childTnLst>
                              <p:par>
                                <p:cTn id="28" presetID="53" presetClass="entr" presetSubtype="16"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50"/>
                                        <p:tgtEl>
                                          <p:spTgt spid="11"/>
                                        </p:tgtEl>
                                      </p:cBhvr>
                                    </p:animEffect>
                                    <p:anim calcmode="lin" valueType="num">
                                      <p:cBhvr additive="base">
                                        <p:cTn id="31" dur="550" fill="hold"/>
                                        <p:tgtEl>
                                          <p:spTgt spid="11"/>
                                        </p:tgtEl>
                                        <p:attrNameLst>
                                          <p:attrName>ppt_w</p:attrName>
                                        </p:attrNameLst>
                                      </p:cBhvr>
                                      <p:tavLst>
                                        <p:tav tm="0">
                                          <p:val>
                                            <p:strVal val="0"/>
                                          </p:val>
                                        </p:tav>
                                        <p:tav tm="100000">
                                          <p:val>
                                            <p:strVal val="#ppt_w"/>
                                          </p:val>
                                        </p:tav>
                                      </p:tavLst>
                                    </p:anim>
                                    <p:anim calcmode="lin" valueType="num">
                                      <p:cBhvr additive="base">
                                        <p:cTn id="32" dur="550" fill="hold"/>
                                        <p:tgtEl>
                                          <p:spTgt spid="11"/>
                                        </p:tgtEl>
                                        <p:attrNameLst>
                                          <p:attrName>ppt_h</p:attrName>
                                        </p:attrNameLst>
                                      </p:cBhvr>
                                      <p:tavLst>
                                        <p:tav tm="0">
                                          <p:val>
                                            <p:strVal val="0"/>
                                          </p:val>
                                        </p:tav>
                                        <p:tav tm="100000">
                                          <p:val>
                                            <p:strVal val="#ppt_h"/>
                                          </p:val>
                                        </p:tav>
                                      </p:tavLst>
                                    </p:anim>
                                  </p:childTnLst>
                                </p:cTn>
                              </p:par>
                            </p:childTnLst>
                          </p:cTn>
                        </p:par>
                        <p:par>
                          <p:cTn id="33" fill="hold">
                            <p:stCondLst>
                              <p:cond delay="4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50"/>
                                        <p:tgtEl>
                                          <p:spTgt spid="12"/>
                                        </p:tgtEl>
                                      </p:cBhvr>
                                    </p:animEffect>
                                  </p:childTnLst>
                                </p:cTn>
                              </p:par>
                            </p:childTnLst>
                          </p:cTn>
                        </p:par>
                        <p:par>
                          <p:cTn id="37" fill="hold">
                            <p:stCondLst>
                              <p:cond delay="400"/>
                            </p:stCondLst>
                            <p:childTnLst>
                              <p:par>
                                <p:cTn id="38" presetID="10" presetClass="entr" presetSubtype="0"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50"/>
                                        <p:tgtEl>
                                          <p:spTgt spid="13"/>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50"/>
                                        <p:tgtEl>
                                          <p:spTgt spid="7"/>
                                        </p:tgtEl>
                                      </p:cBhvr>
                                    </p:animEffect>
                                  </p:childTnLst>
                                </p:cTn>
                              </p:par>
                            </p:childTnLst>
                          </p:cTn>
                        </p:par>
                        <p:par>
                          <p:cTn id="45" fill="hold">
                            <p:stCondLst>
                              <p:cond delay="650"/>
                            </p:stCondLst>
                            <p:childTnLst>
                              <p:par>
                                <p:cTn id="46" presetID="2" presetClass="entr" presetSubtype="8" fill="hold" grpId="0" nodeType="afterEffect">
                                  <p:stCondLst>
                                    <p:cond delay="0"/>
                                  </p:stCondLst>
                                  <p:childTnLst>
                                    <p:set>
                                      <p:cBhvr>
                                        <p:cTn id="47" dur="1" fill="hold">
                                          <p:stCondLst>
                                            <p:cond delay="0"/>
                                          </p:stCondLst>
                                        </p:cTn>
                                        <p:tgtEl>
                                          <p:spTgt spid="8"/>
                                        </p:tgtEl>
                                        <p:attrNameLst>
                                          <p:attrName>style.visibility</p:attrName>
                                        </p:attrNameLst>
                                      </p:cBhvr>
                                      <p:to>
                                        <p:strVal val="visible"/>
                                      </p:to>
                                    </p:set>
                                    <p:anim calcmode="lin" valueType="num">
                                      <p:cBhvr additive="base">
                                        <p:cTn id="49" dur="550" fill="hold"/>
                                        <p:tgtEl>
                                          <p:spTgt spid="8"/>
                                        </p:tgtEl>
                                        <p:attrNameLst>
                                          <p:attrName>ppt_x</p:attrName>
                                        </p:attrNameLst>
                                      </p:cBhvr>
                                      <p:tavLst>
                                        <p:tav tm="0">
                                          <p:val>
                                            <p:strVal val="0-#ppt_w/2"/>
                                          </p:val>
                                        </p:tav>
                                        <p:tav tm="100000">
                                          <p:val>
                                            <p:strVal val="#ppt_x"/>
                                          </p:val>
                                        </p:tav>
                                      </p:tavLst>
                                    </p:anim>
                                    <p:anim calcmode="lin" valueType="num">
                                      <p:cBhvr additive="base">
                                        <p:cTn id="50" dur="550" fill="hold"/>
                                        <p:tgtEl>
                                          <p:spTgt spid="8"/>
                                        </p:tgtEl>
                                        <p:attrNameLst>
                                          <p:attrName>ppt_y</p:attrName>
                                        </p:attrNameLst>
                                      </p:cBhvr>
                                      <p:tavLst>
                                        <p:tav tm="0">
                                          <p:val>
                                            <p:strVal val="#ppt_y"/>
                                          </p:val>
                                        </p:tav>
                                        <p:tav tm="100000">
                                          <p:val>
                                            <p:strVal val="#ppt_y"/>
                                          </p:val>
                                        </p:tav>
                                      </p:tavLst>
                                    </p:anim>
                                  </p:childTnLst>
                                </p:cTn>
                              </p:par>
                            </p:childTnLst>
                          </p:cTn>
                        </p:par>
                        <p:par>
                          <p:cTn id="51" fill="hold">
                            <p:stCondLst>
                              <p:cond delay="800"/>
                            </p:stCondLst>
                            <p:childTnLst>
                              <p:par>
                                <p:cTn id="52" presetID="42" presetClass="entr" presetSubtype="0" fill="hold" grpId="0" nodeType="after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fade">
                                      <p:cBhvr>
                                        <p:cTn id="54" dur="550"/>
                                        <p:tgtEl>
                                          <p:spTgt spid="9"/>
                                        </p:tgtEl>
                                      </p:cBhvr>
                                    </p:animEffect>
                                    <p:anim calcmode="lin" valueType="num">
                                      <p:cBhvr additive="base">
                                        <p:cTn id="55" dur="550" fill="hold"/>
                                        <p:tgtEl>
                                          <p:spTgt spid="9"/>
                                        </p:tgtEl>
                                        <p:attrNameLst>
                                          <p:attrName>ppt_x</p:attrName>
                                        </p:attrNameLst>
                                      </p:cBhvr>
                                      <p:tavLst>
                                        <p:tav tm="0">
                                          <p:val>
                                            <p:strVal val="#ppt_x"/>
                                          </p:val>
                                        </p:tav>
                                        <p:tav tm="100000">
                                          <p:val>
                                            <p:strVal val="#ppt_x"/>
                                          </p:val>
                                        </p:tav>
                                      </p:tavLst>
                                    </p:anim>
                                    <p:anim calcmode="lin" valueType="num">
                                      <p:cBhvr additive="base">
                                        <p:cTn id="56" dur="550" fill="hold"/>
                                        <p:tgtEl>
                                          <p:spTgt spid="9"/>
                                        </p:tgtEl>
                                        <p:attrNameLst>
                                          <p:attrName>ppt_y</p:attrName>
                                        </p:attrNameLst>
                                      </p:cBhvr>
                                      <p:tavLst>
                                        <p:tav tm="0">
                                          <p:val>
                                            <p:strVal val="#ppt_y+.08"/>
                                          </p:val>
                                        </p:tav>
                                        <p:tav tm="100000">
                                          <p:val>
                                            <p:strVal val="#ppt_y"/>
                                          </p:val>
                                        </p:tav>
                                      </p:tavLst>
                                    </p:anim>
                                  </p:childTnLst>
                                </p:cTn>
                              </p:par>
                            </p:childTnLst>
                          </p:cTn>
                        </p:par>
                        <p:par>
                          <p:cTn id="57" fill="hold">
                            <p:stCondLst>
                              <p:cond delay="950"/>
                            </p:stCondLst>
                            <p:childTnLst>
                              <p:par>
                                <p:cTn id="58" presetID="22" presetClass="entr" presetSubtype="8" fill="hold" grpId="0" nodeType="after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wipe(left)">
                                      <p:cBhvr>
                                        <p:cTn id="61" dur="800"/>
                                        <p:tgtEl>
                                          <p:spTgt spid="6"/>
                                        </p:tgtEl>
                                      </p:cBhvr>
                                    </p:animEffect>
                                  </p:childTnLst>
                                </p:cTn>
                              </p:par>
                            </p:childTnLst>
                          </p:cTn>
                        </p:par>
                        <p:par>
                          <p:cTn id="62" fill="hold">
                            <p:stCondLst>
                              <p:cond delay="1100"/>
                            </p:stCondLst>
                            <p:childTnLst>
                              <p:par>
                                <p:cTn id="63" presetID="10" presetClass="entr" presetSubtype="0" fill="hold" grpId="0" nodeType="after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5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14" grpId="0" animBg="1"/>
      <p:bldP spid="12" grpId="0" animBg="1"/>
      <p:bldP spid="13" grpId="0" animBg="1"/>
      <p:bldP spid="7" grpId="0" animBg="1"/>
      <p:bldP spid="8" grpId="0" animBg="1"/>
      <p:bldP spid="9" grpId="0" animBg="1"/>
      <p:bldP spid="6" grpId="0" animBg="1"/>
      <p:bldP spid="10"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LABORATORIYA REJASI</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Reja</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a:t>
            </a:r>
          </a:p>
        </p:txBody>
      </p:sp>
      <p:sp>
        <p:nvSpPr>
          <p:cNvPr id="10" name="Rounded Rectangle 9"/>
          <p:cNvSpPr/>
          <p:nvPr/>
        </p:nvSpPr>
        <p:spPr>
          <a:xfrm>
            <a:off x="550000" y="1300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725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4325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725000"/>
          </a:xfrm>
          <a:prstGeom prst="rect">
            <a:avLst/>
          </a:prstGeom>
          <a:noFill/>
        </p:spPr>
        <p:txBody>
          <a:bodyPr wrap="square" anchor="ctr" lIns="50800" rIns="50800">
            <a:spAutoFit/>
          </a:bodyPr>
          <a:lstStyle/>
          <a:p>
            <a:pPr algn="l"/>
            <a:r>
              <a:rPr sz="1900" b="0">
                <a:solidFill>
                  <a:srgbClr val="1B2430"/>
                </a:solidFill>
                <a:latin typeface="Calibri"/>
              </a:rPr>
              <a:t>Mavzuning maqsadi va o'rganish natijalari</a:t>
            </a:r>
          </a:p>
        </p:txBody>
      </p:sp>
      <p:sp>
        <p:nvSpPr>
          <p:cNvPr id="14" name="Rounded Rectangle 13"/>
          <p:cNvSpPr/>
          <p:nvPr/>
        </p:nvSpPr>
        <p:spPr>
          <a:xfrm>
            <a:off x="550000" y="2145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145000"/>
            <a:ext cx="70000" cy="72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2775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145000"/>
            <a:ext cx="10050000" cy="725000"/>
          </a:xfrm>
          <a:prstGeom prst="rect">
            <a:avLst/>
          </a:prstGeom>
          <a:noFill/>
        </p:spPr>
        <p:txBody>
          <a:bodyPr wrap="square" anchor="ctr" lIns="50800" rIns="50800">
            <a:spAutoFit/>
          </a:bodyPr>
          <a:lstStyle/>
          <a:p>
            <a:pPr algn="l"/>
            <a:r>
              <a:rPr sz="1900" b="0">
                <a:solidFill>
                  <a:srgbClr val="1B2430"/>
                </a:solidFill>
                <a:latin typeface="Calibri"/>
              </a:rPr>
              <a:t>Kirish</a:t>
            </a:r>
          </a:p>
        </p:txBody>
      </p:sp>
      <p:sp>
        <p:nvSpPr>
          <p:cNvPr id="18" name="Rounded Rectangle 17"/>
          <p:cNvSpPr/>
          <p:nvPr/>
        </p:nvSpPr>
        <p:spPr>
          <a:xfrm>
            <a:off x="550000" y="2990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2990000"/>
            <a:ext cx="70000" cy="725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31225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2990000"/>
            <a:ext cx="10050000" cy="725000"/>
          </a:xfrm>
          <a:prstGeom prst="rect">
            <a:avLst/>
          </a:prstGeom>
          <a:noFill/>
        </p:spPr>
        <p:txBody>
          <a:bodyPr wrap="square" anchor="ctr" lIns="50800" rIns="50800">
            <a:spAutoFit/>
          </a:bodyPr>
          <a:lstStyle/>
          <a:p>
            <a:pPr algn="l"/>
            <a:r>
              <a:rPr sz="1900" b="0">
                <a:solidFill>
                  <a:srgbClr val="1B2430"/>
                </a:solidFill>
                <a:latin typeface="Calibri"/>
              </a:rPr>
              <a:t>Nazariy asoslar</a:t>
            </a:r>
          </a:p>
        </p:txBody>
      </p:sp>
      <p:sp>
        <p:nvSpPr>
          <p:cNvPr id="22" name="Rounded Rectangle 21"/>
          <p:cNvSpPr/>
          <p:nvPr/>
        </p:nvSpPr>
        <p:spPr>
          <a:xfrm>
            <a:off x="550000" y="3835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3835000"/>
            <a:ext cx="70000" cy="725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39675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3835000"/>
            <a:ext cx="10050000" cy="725000"/>
          </a:xfrm>
          <a:prstGeom prst="rect">
            <a:avLst/>
          </a:prstGeom>
          <a:noFill/>
        </p:spPr>
        <p:txBody>
          <a:bodyPr wrap="square" anchor="ctr" lIns="50800" rIns="50800">
            <a:spAutoFit/>
          </a:bodyPr>
          <a:lstStyle/>
          <a:p>
            <a:pPr algn="l"/>
            <a:r>
              <a:rPr sz="1900" b="0">
                <a:solidFill>
                  <a:srgbClr val="1B2430"/>
                </a:solidFill>
                <a:latin typeface="Calibri"/>
              </a:rPr>
              <a:t>Amaliy misol</a:t>
            </a:r>
          </a:p>
        </p:txBody>
      </p:sp>
      <p:sp>
        <p:nvSpPr>
          <p:cNvPr id="26" name="Rounded Rectangle 25"/>
          <p:cNvSpPr/>
          <p:nvPr/>
        </p:nvSpPr>
        <p:spPr>
          <a:xfrm>
            <a:off x="550000" y="4680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4680000"/>
            <a:ext cx="70000" cy="725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0000" y="48125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9" name="TextBox 28"/>
          <p:cNvSpPr txBox="1"/>
          <p:nvPr/>
        </p:nvSpPr>
        <p:spPr>
          <a:xfrm>
            <a:off x="1450000" y="4680000"/>
            <a:ext cx="10050000" cy="725000"/>
          </a:xfrm>
          <a:prstGeom prst="rect">
            <a:avLst/>
          </a:prstGeom>
          <a:noFill/>
        </p:spPr>
        <p:txBody>
          <a:bodyPr wrap="square" anchor="ctr" lIns="50800" rIns="50800">
            <a:spAutoFit/>
          </a:bodyPr>
          <a:lstStyle/>
          <a:p>
            <a:pPr algn="l"/>
            <a:r>
              <a:rPr sz="1900" b="0">
                <a:solidFill>
                  <a:srgbClr val="1B2430"/>
                </a:solidFill>
                <a:latin typeface="Calibri"/>
              </a:rPr>
              <a:t>Natijalarni tahlil qilish</a:t>
            </a:r>
          </a:p>
        </p:txBody>
      </p:sp>
      <p:sp>
        <p:nvSpPr>
          <p:cNvPr id="30" name="Rounded Rectangle 29"/>
          <p:cNvSpPr/>
          <p:nvPr/>
        </p:nvSpPr>
        <p:spPr>
          <a:xfrm>
            <a:off x="550000" y="5525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5525000"/>
            <a:ext cx="70000" cy="725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0000" y="565750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33" name="TextBox 32"/>
          <p:cNvSpPr txBox="1"/>
          <p:nvPr/>
        </p:nvSpPr>
        <p:spPr>
          <a:xfrm>
            <a:off x="1450000" y="5525000"/>
            <a:ext cx="10050000" cy="725000"/>
          </a:xfrm>
          <a:prstGeom prst="rect">
            <a:avLst/>
          </a:prstGeom>
          <a:noFill/>
        </p:spPr>
        <p:txBody>
          <a:bodyPr wrap="square" anchor="ctr" lIns="50800" rIns="50800">
            <a:spAutoFit/>
          </a:bodyPr>
          <a:lstStyle/>
          <a:p>
            <a:pPr algn="l"/>
            <a:r>
              <a:rPr sz="1900" b="0">
                <a:solidFill>
                  <a:srgbClr val="1B2430"/>
                </a:solidFill>
                <a:latin typeface="Calibri"/>
              </a:rPr>
              <a:t>Keng tarqalgan xatolar va amaliy tavsiyalar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50"/>
                                        <p:tgtEl>
                                          <p:spTgt spid="26"/>
                                        </p:tgtEl>
                                      </p:cBhvr>
                                    </p:animEffect>
                                    <p:anim calcmode="lin" valueType="num">
                                      <p:cBhvr additive="base">
                                        <p:cTn id="107" dur="550" fill="hold"/>
                                        <p:tgtEl>
                                          <p:spTgt spid="26"/>
                                        </p:tgtEl>
                                        <p:attrNameLst>
                                          <p:attrName>ppt_x</p:attrName>
                                        </p:attrNameLst>
                                      </p:cBhvr>
                                      <p:tavLst>
                                        <p:tav tm="0">
                                          <p:val>
                                            <p:strVal val="#ppt_x"/>
                                          </p:val>
                                        </p:tav>
                                        <p:tav tm="100000">
                                          <p:val>
                                            <p:strVal val="#ppt_x"/>
                                          </p:val>
                                        </p:tav>
                                      </p:tavLst>
                                    </p:anim>
                                    <p:anim calcmode="lin" valueType="num">
                                      <p:cBhvr additive="base">
                                        <p:cTn id="108" dur="550" fill="hold"/>
                                        <p:tgtEl>
                                          <p:spTgt spid="26"/>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additive="base">
                                        <p:cTn id="113" dur="550" fill="hold"/>
                                        <p:tgtEl>
                                          <p:spTgt spid="27"/>
                                        </p:tgtEl>
                                        <p:attrNameLst>
                                          <p:attrName>ppt_x</p:attrName>
                                        </p:attrNameLst>
                                      </p:cBhvr>
                                      <p:tavLst>
                                        <p:tav tm="0">
                                          <p:val>
                                            <p:strVal val="#ppt_x"/>
                                          </p:val>
                                        </p:tav>
                                        <p:tav tm="100000">
                                          <p:val>
                                            <p:strVal val="#ppt_x"/>
                                          </p:val>
                                        </p:tav>
                                      </p:tavLst>
                                    </p:anim>
                                    <p:anim calcmode="lin" valueType="num">
                                      <p:cBhvr additive="base">
                                        <p:cTn id="114" dur="550" fill="hold"/>
                                        <p:tgtEl>
                                          <p:spTgt spid="27"/>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50"/>
                                        <p:tgtEl>
                                          <p:spTgt spid="28"/>
                                        </p:tgtEl>
                                      </p:cBhvr>
                                    </p:animEffect>
                                    <p:anim calcmode="lin" valueType="num">
                                      <p:cBhvr additive="base">
                                        <p:cTn id="119" dur="550" fill="hold"/>
                                        <p:tgtEl>
                                          <p:spTgt spid="28"/>
                                        </p:tgtEl>
                                        <p:attrNameLst>
                                          <p:attrName>ppt_w</p:attrName>
                                        </p:attrNameLst>
                                      </p:cBhvr>
                                      <p:tavLst>
                                        <p:tav tm="0">
                                          <p:val>
                                            <p:strVal val="0"/>
                                          </p:val>
                                        </p:tav>
                                        <p:tav tm="100000">
                                          <p:val>
                                            <p:strVal val="#ppt_w"/>
                                          </p:val>
                                        </p:tav>
                                      </p:tavLst>
                                    </p:anim>
                                    <p:anim calcmode="lin" valueType="num">
                                      <p:cBhvr additive="base">
                                        <p:cTn id="120" dur="550" fill="hold"/>
                                        <p:tgtEl>
                                          <p:spTgt spid="28"/>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550"/>
                                        <p:tgtEl>
                                          <p:spTgt spid="29"/>
                                        </p:tgtEl>
                                      </p:cBhvr>
                                    </p:animEffect>
                                    <p:anim calcmode="lin" valueType="num">
                                      <p:cBhvr additive="base">
                                        <p:cTn id="125" dur="550" fill="hold"/>
                                        <p:tgtEl>
                                          <p:spTgt spid="29"/>
                                        </p:tgtEl>
                                        <p:attrNameLst>
                                          <p:attrName>ppt_x</p:attrName>
                                        </p:attrNameLst>
                                      </p:cBhvr>
                                      <p:tavLst>
                                        <p:tav tm="0">
                                          <p:val>
                                            <p:strVal val="#ppt_x"/>
                                          </p:val>
                                        </p:tav>
                                        <p:tav tm="100000">
                                          <p:val>
                                            <p:strVal val="#ppt_x"/>
                                          </p:val>
                                        </p:tav>
                                      </p:tavLst>
                                    </p:anim>
                                    <p:anim calcmode="lin" valueType="num">
                                      <p:cBhvr additive="base">
                                        <p:cTn id="126" dur="550" fill="hold"/>
                                        <p:tgtEl>
                                          <p:spTgt spid="29"/>
                                        </p:tgtEl>
                                        <p:attrNameLst>
                                          <p:attrName>ppt_y</p:attrName>
                                        </p:attrNameLst>
                                      </p:cBhvr>
                                      <p:tavLst>
                                        <p:tav tm="0">
                                          <p:val>
                                            <p:strVal val="#ppt_y+.08"/>
                                          </p:val>
                                        </p:tav>
                                        <p:tav tm="100000">
                                          <p:val>
                                            <p:strVal val="#ppt_y"/>
                                          </p:val>
                                        </p:tav>
                                      </p:tavLst>
                                    </p:anim>
                                  </p:childTnLst>
                                </p:cTn>
                              </p:par>
                            </p:childTnLst>
                          </p:cTn>
                        </p:par>
                        <p:par>
                          <p:cTn id="127" fill="hold">
                            <p:stCondLst>
                              <p:cond delay="1320"/>
                            </p:stCondLst>
                            <p:childTnLst>
                              <p:par>
                                <p:cTn id="128" presetID="42" presetClass="entr" presetSubtype="0" fill="hold" grpId="0" nodeType="afterEffect">
                                  <p:stCondLst>
                                    <p:cond delay="0"/>
                                  </p:stCondLst>
                                  <p:childTnLst>
                                    <p:set>
                                      <p:cBhvr>
                                        <p:cTn id="129" dur="1" fill="hold">
                                          <p:stCondLst>
                                            <p:cond delay="0"/>
                                          </p:stCondLst>
                                        </p:cTn>
                                        <p:tgtEl>
                                          <p:spTgt spid="30"/>
                                        </p:tgtEl>
                                        <p:attrNameLst>
                                          <p:attrName>style.visibility</p:attrName>
                                        </p:attrNameLst>
                                      </p:cBhvr>
                                      <p:to>
                                        <p:strVal val="visible"/>
                                      </p:to>
                                    </p:set>
                                    <p:animEffect transition="in" filter="fade">
                                      <p:cBhvr>
                                        <p:cTn id="130" dur="550"/>
                                        <p:tgtEl>
                                          <p:spTgt spid="30"/>
                                        </p:tgtEl>
                                      </p:cBhvr>
                                    </p:animEffect>
                                    <p:anim calcmode="lin" valueType="num">
                                      <p:cBhvr additive="base">
                                        <p:cTn id="131" dur="550" fill="hold"/>
                                        <p:tgtEl>
                                          <p:spTgt spid="30"/>
                                        </p:tgtEl>
                                        <p:attrNameLst>
                                          <p:attrName>ppt_x</p:attrName>
                                        </p:attrNameLst>
                                      </p:cBhvr>
                                      <p:tavLst>
                                        <p:tav tm="0">
                                          <p:val>
                                            <p:strVal val="#ppt_x"/>
                                          </p:val>
                                        </p:tav>
                                        <p:tav tm="100000">
                                          <p:val>
                                            <p:strVal val="#ppt_x"/>
                                          </p:val>
                                        </p:tav>
                                      </p:tavLst>
                                    </p:anim>
                                    <p:anim calcmode="lin" valueType="num">
                                      <p:cBhvr additive="base">
                                        <p:cTn id="132" dur="550" fill="hold"/>
                                        <p:tgtEl>
                                          <p:spTgt spid="30"/>
                                        </p:tgtEl>
                                        <p:attrNameLst>
                                          <p:attrName>ppt_y</p:attrName>
                                        </p:attrNameLst>
                                      </p:cBhvr>
                                      <p:tavLst>
                                        <p:tav tm="0">
                                          <p:val>
                                            <p:strVal val="#ppt_y+.08"/>
                                          </p:val>
                                        </p:tav>
                                        <p:tav tm="100000">
                                          <p:val>
                                            <p:strVal val="#ppt_y"/>
                                          </p:val>
                                        </p:tav>
                                      </p:tavLst>
                                    </p:anim>
                                  </p:childTnLst>
                                </p:cTn>
                              </p:par>
                            </p:childTnLst>
                          </p:cTn>
                        </p:par>
                        <p:par>
                          <p:cTn id="133" fill="hold">
                            <p:stCondLst>
                              <p:cond delay="1320"/>
                            </p:stCondLst>
                            <p:childTnLst>
                              <p:par>
                                <p:cTn id="134" presetID="42" presetClass="entr" presetSubtype="0" fill="hold" grpId="0" nodeType="afterEffect">
                                  <p:stCondLst>
                                    <p:cond delay="0"/>
                                  </p:stCondLst>
                                  <p:childTnLst>
                                    <p:set>
                                      <p:cBhvr>
                                        <p:cTn id="135" dur="1" fill="hold">
                                          <p:stCondLst>
                                            <p:cond delay="0"/>
                                          </p:stCondLst>
                                        </p:cTn>
                                        <p:tgtEl>
                                          <p:spTgt spid="31"/>
                                        </p:tgtEl>
                                        <p:attrNameLst>
                                          <p:attrName>style.visibility</p:attrName>
                                        </p:attrNameLst>
                                      </p:cBhvr>
                                      <p:to>
                                        <p:strVal val="visible"/>
                                      </p:to>
                                    </p:set>
                                    <p:animEffect transition="in" filter="fade">
                                      <p:cBhvr>
                                        <p:cTn id="136" dur="550"/>
                                        <p:tgtEl>
                                          <p:spTgt spid="31"/>
                                        </p:tgtEl>
                                      </p:cBhvr>
                                    </p:animEffect>
                                    <p:anim calcmode="lin" valueType="num">
                                      <p:cBhvr additive="base">
                                        <p:cTn id="137" dur="550" fill="hold"/>
                                        <p:tgtEl>
                                          <p:spTgt spid="31"/>
                                        </p:tgtEl>
                                        <p:attrNameLst>
                                          <p:attrName>ppt_x</p:attrName>
                                        </p:attrNameLst>
                                      </p:cBhvr>
                                      <p:tavLst>
                                        <p:tav tm="0">
                                          <p:val>
                                            <p:strVal val="#ppt_x"/>
                                          </p:val>
                                        </p:tav>
                                        <p:tav tm="100000">
                                          <p:val>
                                            <p:strVal val="#ppt_x"/>
                                          </p:val>
                                        </p:tav>
                                      </p:tavLst>
                                    </p:anim>
                                    <p:anim calcmode="lin" valueType="num">
                                      <p:cBhvr additive="base">
                                        <p:cTn id="138" dur="550" fill="hold"/>
                                        <p:tgtEl>
                                          <p:spTgt spid="31"/>
                                        </p:tgtEl>
                                        <p:attrNameLst>
                                          <p:attrName>ppt_y</p:attrName>
                                        </p:attrNameLst>
                                      </p:cBhvr>
                                      <p:tavLst>
                                        <p:tav tm="0">
                                          <p:val>
                                            <p:strVal val="#ppt_y+.08"/>
                                          </p:val>
                                        </p:tav>
                                        <p:tav tm="100000">
                                          <p:val>
                                            <p:strVal val="#ppt_y"/>
                                          </p:val>
                                        </p:tav>
                                      </p:tavLst>
                                    </p:anim>
                                  </p:childTnLst>
                                </p:cTn>
                              </p:par>
                            </p:childTnLst>
                          </p:cTn>
                        </p:par>
                        <p:par>
                          <p:cTn id="139" fill="hold">
                            <p:stCondLst>
                              <p:cond delay="1320"/>
                            </p:stCondLst>
                            <p:childTnLst>
                              <p:par>
                                <p:cTn id="140" presetID="53" presetClass="entr" presetSubtype="16" fill="hold" grpId="0" nodeType="afterEffect">
                                  <p:stCondLst>
                                    <p:cond delay="0"/>
                                  </p:stCondLst>
                                  <p:childTnLst>
                                    <p:set>
                                      <p:cBhvr>
                                        <p:cTn id="141" dur="1" fill="hold">
                                          <p:stCondLst>
                                            <p:cond delay="0"/>
                                          </p:stCondLst>
                                        </p:cTn>
                                        <p:tgtEl>
                                          <p:spTgt spid="32"/>
                                        </p:tgtEl>
                                        <p:attrNameLst>
                                          <p:attrName>style.visibility</p:attrName>
                                        </p:attrNameLst>
                                      </p:cBhvr>
                                      <p:to>
                                        <p:strVal val="visible"/>
                                      </p:to>
                                    </p:set>
                                    <p:animEffect transition="in" filter="fade">
                                      <p:cBhvr>
                                        <p:cTn id="142" dur="550"/>
                                        <p:tgtEl>
                                          <p:spTgt spid="32"/>
                                        </p:tgtEl>
                                      </p:cBhvr>
                                    </p:animEffect>
                                    <p:anim calcmode="lin" valueType="num">
                                      <p:cBhvr additive="base">
                                        <p:cTn id="143" dur="550" fill="hold"/>
                                        <p:tgtEl>
                                          <p:spTgt spid="32"/>
                                        </p:tgtEl>
                                        <p:attrNameLst>
                                          <p:attrName>ppt_w</p:attrName>
                                        </p:attrNameLst>
                                      </p:cBhvr>
                                      <p:tavLst>
                                        <p:tav tm="0">
                                          <p:val>
                                            <p:strVal val="0"/>
                                          </p:val>
                                        </p:tav>
                                        <p:tav tm="100000">
                                          <p:val>
                                            <p:strVal val="#ppt_w"/>
                                          </p:val>
                                        </p:tav>
                                      </p:tavLst>
                                    </p:anim>
                                    <p:anim calcmode="lin" valueType="num">
                                      <p:cBhvr additive="base">
                                        <p:cTn id="144" dur="550" fill="hold"/>
                                        <p:tgtEl>
                                          <p:spTgt spid="32"/>
                                        </p:tgtEl>
                                        <p:attrNameLst>
                                          <p:attrName>ppt_h</p:attrName>
                                        </p:attrNameLst>
                                      </p:cBhvr>
                                      <p:tavLst>
                                        <p:tav tm="0">
                                          <p:val>
                                            <p:strVal val="0"/>
                                          </p:val>
                                        </p:tav>
                                        <p:tav tm="100000">
                                          <p:val>
                                            <p:strVal val="#ppt_h"/>
                                          </p:val>
                                        </p:tav>
                                      </p:tavLst>
                                    </p:anim>
                                  </p:childTnLst>
                                </p:cTn>
                              </p:par>
                            </p:childTnLst>
                          </p:cTn>
                        </p:par>
                        <p:par>
                          <p:cTn id="145" fill="hold">
                            <p:stCondLst>
                              <p:cond delay="1320"/>
                            </p:stCondLst>
                            <p:childTnLst>
                              <p:par>
                                <p:cTn id="146" presetID="42" presetClass="entr" presetSubtype="0" fill="hold" grpId="0" nodeType="afterEffect">
                                  <p:stCondLst>
                                    <p:cond delay="0"/>
                                  </p:stCondLst>
                                  <p:childTnLst>
                                    <p:set>
                                      <p:cBhvr>
                                        <p:cTn id="147" dur="1" fill="hold">
                                          <p:stCondLst>
                                            <p:cond delay="0"/>
                                          </p:stCondLst>
                                        </p:cTn>
                                        <p:tgtEl>
                                          <p:spTgt spid="33"/>
                                        </p:tgtEl>
                                        <p:attrNameLst>
                                          <p:attrName>style.visibility</p:attrName>
                                        </p:attrNameLst>
                                      </p:cBhvr>
                                      <p:to>
                                        <p:strVal val="visible"/>
                                      </p:to>
                                    </p:set>
                                    <p:animEffect transition="in" filter="fade">
                                      <p:cBhvr>
                                        <p:cTn id="148" dur="550"/>
                                        <p:tgtEl>
                                          <p:spTgt spid="33"/>
                                        </p:tgtEl>
                                      </p:cBhvr>
                                    </p:animEffect>
                                    <p:anim calcmode="lin" valueType="num">
                                      <p:cBhvr additive="base">
                                        <p:cTn id="149" dur="550" fill="hold"/>
                                        <p:tgtEl>
                                          <p:spTgt spid="33"/>
                                        </p:tgtEl>
                                        <p:attrNameLst>
                                          <p:attrName>ppt_x</p:attrName>
                                        </p:attrNameLst>
                                      </p:cBhvr>
                                      <p:tavLst>
                                        <p:tav tm="0">
                                          <p:val>
                                            <p:strVal val="#ppt_x"/>
                                          </p:val>
                                        </p:tav>
                                        <p:tav tm="100000">
                                          <p:val>
                                            <p:strVal val="#ppt_x"/>
                                          </p:val>
                                        </p:tav>
                                      </p:tavLst>
                                    </p:anim>
                                    <p:anim calcmode="lin" valueType="num">
                                      <p:cBhvr additive="base">
                                        <p:cTn id="150" dur="550" fill="hold"/>
                                        <p:tgtEl>
                                          <p:spTgt spid="3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50827a6ac4641797.jpg"/>
          <p:cNvPicPr>
            <a:picLocks noChangeAspect="1"/>
          </p:cNvPicPr>
          <p:nvPr/>
        </p:nvPicPr>
        <p:blipFill>
          <a:blip r:embed="rId2"/>
          <a:srcRect l="22783" r="22783"/>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Skitterphoto · Wikimedia Commons · CC0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01</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Mavzuning maqsadi va o'rganish natijalari</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Mavzuning maqsadi va o'rganish natijalari (1)</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Mashg'ulotning maqsadi — o'qitilgan neyron tarmoq modelini ishlab chiqarish muhitiga tayyorlashning asosiy bosqichlarini amalda bajarish: modelni ONNX (Open Neural Network Exchange)…</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Mashg'ulot yakunida talaba:</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PyTorch modelini ONNX ga eksport qilib, grafikni tekshiradi va dinamik o'lchamlar, opset versiyasi kabi parametrlarni to'g'ri tanlaydi;</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ONNX Runtime'da CPU va GPU ijro provayderlari (execution provider) bilan inferensni ishga tushirib, grafik optimallashtirish darajalarining ta'sirini o'lchaydi;</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Statik va dinamik kvantlash, FP16 va INT8 rejimlarini qo'llab, kalibrlash (calibration) jarayonini tushuntiradi va aniqlik yo'qotilishini o'lchaydi;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Mavzuning maqsadi va o'rganish natijalari (2)</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a:t>
            </a:r>
          </a:p>
        </p:txBody>
      </p:sp>
      <p:sp>
        <p:nvSpPr>
          <p:cNvPr id="9" name="Rounded Rectangle 8"/>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620000"/>
            <a:ext cx="70000" cy="1250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01500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2" name="TextBox 11"/>
          <p:cNvSpPr txBox="1"/>
          <p:nvPr/>
        </p:nvSpPr>
        <p:spPr>
          <a:xfrm>
            <a:off x="1450000" y="1620000"/>
            <a:ext cx="10050000" cy="1250000"/>
          </a:xfrm>
          <a:prstGeom prst="rect">
            <a:avLst/>
          </a:prstGeom>
          <a:noFill/>
        </p:spPr>
        <p:txBody>
          <a:bodyPr wrap="square" anchor="ctr" lIns="50800" rIns="50800">
            <a:spAutoFit/>
          </a:bodyPr>
          <a:lstStyle/>
          <a:p>
            <a:pPr algn="l"/>
            <a:r>
              <a:rPr sz="1800" b="0">
                <a:solidFill>
                  <a:srgbClr val="1B2430"/>
                </a:solidFill>
                <a:latin typeface="Calibri"/>
              </a:rPr>
              <a:t>TensorRT dvigatelini qurib, FP32/FP16/INT8 rejimlarini solishtiradi (GPU mavjud bo'lsa) yoki OpenVINO bilan CPU'da xuddi shu tahlilni bajaradi;</a:t>
            </a:r>
          </a:p>
        </p:txBody>
      </p:sp>
      <p:sp>
        <p:nvSpPr>
          <p:cNvPr id="13" name="Rounded Rectangle 12"/>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99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38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6" name="TextBox 15"/>
          <p:cNvSpPr txBox="1"/>
          <p:nvPr/>
        </p:nvSpPr>
        <p:spPr>
          <a:xfrm>
            <a:off x="1450000" y="2990000"/>
            <a:ext cx="10050000" cy="1250000"/>
          </a:xfrm>
          <a:prstGeom prst="rect">
            <a:avLst/>
          </a:prstGeom>
          <a:noFill/>
        </p:spPr>
        <p:txBody>
          <a:bodyPr wrap="square" anchor="ctr" lIns="50800" rIns="50800">
            <a:spAutoFit/>
          </a:bodyPr>
          <a:lstStyle/>
          <a:p>
            <a:pPr algn="l"/>
            <a:r>
              <a:rPr sz="1800" b="0">
                <a:solidFill>
                  <a:srgbClr val="1B2430"/>
                </a:solidFill>
                <a:latin typeface="Calibri"/>
              </a:rPr>
              <a:t>Latency (p50/p95/p99), throughput (so'rov/s) va energiya (inferens boshiga joul) ko'rsatkichlarini bir xil metodika bilan o'lchab, Pareto tahlili asosida ishlab chiqarish uchun…</a:t>
            </a:r>
          </a:p>
        </p:txBody>
      </p:sp>
      <p:sp>
        <p:nvSpPr>
          <p:cNvPr id="17" name="Rounded Rectangle 16"/>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436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75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20" name="TextBox 19"/>
          <p:cNvSpPr txBox="1"/>
          <p:nvPr/>
        </p:nvSpPr>
        <p:spPr>
          <a:xfrm>
            <a:off x="1450000" y="4360000"/>
            <a:ext cx="10050000" cy="1250000"/>
          </a:xfrm>
          <a:prstGeom prst="rect">
            <a:avLst/>
          </a:prstGeom>
          <a:noFill/>
        </p:spPr>
        <p:txBody>
          <a:bodyPr wrap="square" anchor="ctr" lIns="50800" rIns="50800">
            <a:spAutoFit/>
          </a:bodyPr>
          <a:lstStyle/>
          <a:p>
            <a:pPr algn="l"/>
            <a:r>
              <a:rPr sz="1800" b="0">
                <a:solidFill>
                  <a:srgbClr val="1B2430"/>
                </a:solidFill>
                <a:latin typeface="Calibri"/>
              </a:rPr>
              <a:t>Mavzu fanning TN4 (AI tizimlarini optimallashtirish usullarini qo'llash) va TN5 (unumdorlikni o'lchash va baholash) ta'lim natijalariga xizmat qiladi; M8 va M10 ma'ruzalarining amaliy…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9fb684e85dd3f6a.jpg"/>
          <p:cNvPicPr>
            <a:picLocks noChangeAspect="1"/>
          </p:cNvPicPr>
          <p:nvPr/>
        </p:nvPicPr>
        <p:blipFill>
          <a:blip r:embed="rId2"/>
          <a:srcRect l="19894" r="19894"/>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Rstoplabe14 at English Wikipedia · Wikimedia Commons · Public domain</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02</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Kirish</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Kirish</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7</a:t>
            </a:r>
          </a:p>
        </p:txBody>
      </p:sp>
      <p:sp>
        <p:nvSpPr>
          <p:cNvPr id="9" name="Rounded Rectangle 8"/>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O'qitilgan model — mahsulotning yarmi. Qolgan yarmi — uni real foydalanuvchi so'roviga 20 millisekundda javob beradigan, serverda imkon qadar kam joy egallaydigan va elektr hisobini oshirmaydigan shaklga keltirish. Sanoat tajribasida o'qitish muhitidagi model…</a:t>
            </a:r>
          </a:p>
        </p:txBody>
      </p:sp>
      <p:sp>
        <p:nvSpPr>
          <p:cNvPr id="13" name="Rounded Rectangle 12"/>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Optimallashtirish bir necha qatlamda amalga oshiriladi. Grafik darajasida: operatorlarni birlashtirish (Conv + BatchNorm + ReLU → bitta yadro), doimiy ifodalarni oldindan hisoblash (constant folding), foydalanilmagan tugunlarni olib tashlash.</a:t>
            </a:r>
          </a:p>
        </p:txBody>
      </p:sp>
      <p:sp>
        <p:nvSpPr>
          <p:cNvPr id="17" name="Rounded Rectangle 16"/>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Vositalar tanlovi apparatga bog'liq: NVIDIA GPU — TensorRT (eng yuqori unumdorlik, lekin vendor-bog'liq); CPU va ko'p platformali yechim — ONNX Runtime (Microsoft, ochiq kod, CPU/CUDA/TensorRT/OpenVINO provayderlari); Intel CPU/iGPU/NPU — OpenVINO. ONNX…</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7014033f090db279.jpg"/>
          <p:cNvPicPr>
            <a:picLocks noChangeAspect="1"/>
          </p:cNvPicPr>
          <p:nvPr/>
        </p:nvPicPr>
        <p:blipFill>
          <a:blip r:embed="rId2"/>
          <a:srcRect l="25434" r="25434"/>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Steve Jurvetson · Wikimedia Commons · CC BY 4.0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03</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Nazariy asoslar</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ONNX formati va grafik optimallashtirish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9</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ONNX — neyron tarmoqni hisoblash grafigi sifatida ifodalovchi ochiq standart: tugunlar — operatorlar (Conv, MatMul, Relu, Softmax va boshqalar, opset versiyasiga qarab 190 dan ortiq), qirralar — tensorlar. Har bir opset versiyasi operatorlar semantikasini…</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Grafik optimallashtirish darajalari ONNX Runtime'da uchta: basic (constant folding, keraksiz Cast/Identity olib tashlash), extended (Conv+BN, MatMul+Add, GELU/LayerNorm birlashtirish — provayderga bog'liq), all (layout optimallashtirish, NCHWc). TensorRT esa…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Aralash aniqlik va sonli formatlar</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10</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FP32 (1 ishora, 8 eksponenta, 23 mantissa biti) — o'qitishning standart formati. FP16 (5 eksponenta, 10 mantissa) diapazoni ±65 504 bilan cheklangan — katta faollashuvlar toshadi (overflow); BF16 (8 eksponenta, 7 mantissa) FP32 diapazonini saqlaydi, aniqlik…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Kvantlash: nazariya va turlari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11</a:t>
            </a:r>
          </a:p>
        </p:txBody>
      </p:sp>
      <p:sp>
        <p:nvSpPr>
          <p:cNvPr id="10" name="Rounded Rectangle 9"/>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Kvantlash — haqiqiy sonlarni 8 bitli (yoki kamroq) butun songa akslantirish: q = round(x / s) + z, bu yerda s — masshtab (scale), z — nol nuqta (zero point). Simmetrik kvantlashda z = 0 va s = max|x| / 127; asimmetrikda diapazon [x_min, x_max] to'liq…</a:t>
            </a:r>
          </a:p>
        </p:txBody>
      </p:sp>
      <p:sp>
        <p:nvSpPr>
          <p:cNvPr id="14" name="Rounded Rectangle 13"/>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Uch asosiy yondashuv:</a:t>
            </a:r>
          </a:p>
        </p:txBody>
      </p:sp>
      <p:sp>
        <p:nvSpPr>
          <p:cNvPr id="18" name="Rounded Rectangle 17"/>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Statik kvantlashda faollashuvlarning diapazoni kalibrlash to'plamidan aniqlanadi; usullar: MinMax (chetki qiymatlarga sezgir), Entropy/KL-divergentsiya (TensorRT standart), Percentile (99,99 foizlik), MSE. Noto'g'ri kalibrlash — INT8 modellarining aniqlik…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Kvantlash: nazariya va turlari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12</a:t>
            </a:r>
          </a:p>
        </p:txBody>
      </p:sp>
      <p:graphicFrame>
        <p:nvGraphicFramePr>
          <p:cNvPr id="10" name="Table 9"/>
          <p:cNvGraphicFramePr>
            <a:graphicFrameLocks noGrp="1"/>
          </p:cNvGraphicFramePr>
          <p:nvPr/>
        </p:nvGraphicFramePr>
        <p:xfrm>
          <a:off x="500000" y="1350000"/>
          <a:ext cx="11200000" cy="2080000"/>
        </p:xfrm>
        <a:graphic>
          <a:graphicData uri="http://schemas.openxmlformats.org/drawingml/2006/table">
            <a:tbl>
              <a:tblPr firstRow="1" bandRow="1">
                <a:tableStyleId>{5C22544A-7EE6-4342-B048-85BDC9FD1C3A}</a:tableStyleId>
              </a:tblPr>
              <a:tblGrid>
                <a:gridCol w="2240000"/>
                <a:gridCol w="2240000"/>
                <a:gridCol w="2240000"/>
                <a:gridCol w="2240000"/>
                <a:gridCol w="2240000"/>
              </a:tblGrid>
              <a:tr h="520000">
                <a:tc>
                  <a:txBody>
                    <a:bodyPr/>
                    <a:lstStyle/>
                    <a:p>
                      <a:r>
                        <a:rPr sz="1200" b="1">
                          <a:solidFill>
                            <a:srgbClr val="FFFFFF"/>
                          </a:solidFill>
                          <a:latin typeface="Calibri"/>
                        </a:rPr>
                        <a:t>Usul</a:t>
                      </a:r>
                    </a:p>
                  </a:txBody>
                  <a:tcPr>
                    <a:solidFill>
                      <a:srgbClr val="2D5C8F"/>
                    </a:solidFill>
                  </a:tcPr>
                </a:tc>
                <a:tc>
                  <a:txBody>
                    <a:bodyPr/>
                    <a:lstStyle/>
                    <a:p>
                      <a:r>
                        <a:rPr sz="1200" b="1">
                          <a:solidFill>
                            <a:srgbClr val="FFFFFF"/>
                          </a:solidFill>
                          <a:latin typeface="Calibri"/>
                        </a:rPr>
                        <a:t>Nima kvantlanadi</a:t>
                      </a:r>
                    </a:p>
                  </a:txBody>
                  <a:tcPr>
                    <a:solidFill>
                      <a:srgbClr val="2D5C8F"/>
                    </a:solidFill>
                  </a:tcPr>
                </a:tc>
                <a:tc>
                  <a:txBody>
                    <a:bodyPr/>
                    <a:lstStyle/>
                    <a:p>
                      <a:r>
                        <a:rPr sz="1200" b="1">
                          <a:solidFill>
                            <a:srgbClr val="FFFFFF"/>
                          </a:solidFill>
                          <a:latin typeface="Calibri"/>
                        </a:rPr>
                        <a:t>Kalibrlash</a:t>
                      </a:r>
                    </a:p>
                  </a:txBody>
                  <a:tcPr>
                    <a:solidFill>
                      <a:srgbClr val="2D5C8F"/>
                    </a:solidFill>
                  </a:tcPr>
                </a:tc>
                <a:tc>
                  <a:txBody>
                    <a:bodyPr/>
                    <a:lstStyle/>
                    <a:p>
                      <a:r>
                        <a:rPr sz="1200" b="1">
                          <a:solidFill>
                            <a:srgbClr val="FFFFFF"/>
                          </a:solidFill>
                          <a:latin typeface="Calibri"/>
                        </a:rPr>
                        <a:t>Aniqlik yo'qotishi</a:t>
                      </a:r>
                    </a:p>
                  </a:txBody>
                  <a:tcPr>
                    <a:solidFill>
                      <a:srgbClr val="2D5C8F"/>
                    </a:solidFill>
                  </a:tcPr>
                </a:tc>
                <a:tc>
                  <a:txBody>
                    <a:bodyPr/>
                    <a:lstStyle/>
                    <a:p>
                      <a:r>
                        <a:rPr sz="1200" b="1">
                          <a:solidFill>
                            <a:srgbClr val="FFFFFF"/>
                          </a:solidFill>
                          <a:latin typeface="Calibri"/>
                        </a:rPr>
                        <a:t>Tezlanish (CPU)</a:t>
                      </a:r>
                    </a:p>
                  </a:txBody>
                  <a:tcPr>
                    <a:solidFill>
                      <a:srgbClr val="2D5C8F"/>
                    </a:solidFill>
                  </a:tcPr>
                </a:tc>
              </a:tr>
              <a:tr h="520000">
                <a:tc>
                  <a:txBody>
                    <a:bodyPr/>
                    <a:lstStyle/>
                    <a:p>
                      <a:r>
                        <a:rPr sz="1200" b="0">
                          <a:solidFill>
                            <a:srgbClr val="1B2430"/>
                          </a:solidFill>
                          <a:latin typeface="Calibri"/>
                        </a:rPr>
                        <a:t>Dinamik kvantlash</a:t>
                      </a:r>
                    </a:p>
                  </a:txBody>
                  <a:tcPr>
                    <a:solidFill>
                      <a:srgbClr val="F1F4F8"/>
                    </a:solidFill>
                  </a:tcPr>
                </a:tc>
                <a:tc>
                  <a:txBody>
                    <a:bodyPr/>
                    <a:lstStyle/>
                    <a:p>
                      <a:r>
                        <a:rPr sz="1200" b="0">
                          <a:solidFill>
                            <a:srgbClr val="1B2430"/>
                          </a:solidFill>
                          <a:latin typeface="Calibri"/>
                        </a:rPr>
                        <a:t>vaznlar statik, faollashuvlar ish vaqtida</a:t>
                      </a:r>
                    </a:p>
                  </a:txBody>
                  <a:tcPr>
                    <a:solidFill>
                      <a:srgbClr val="F1F4F8"/>
                    </a:solidFill>
                  </a:tcPr>
                </a:tc>
                <a:tc>
                  <a:txBody>
                    <a:bodyPr/>
                    <a:lstStyle/>
                    <a:p>
                      <a:r>
                        <a:rPr sz="1200" b="0">
                          <a:solidFill>
                            <a:srgbClr val="1B2430"/>
                          </a:solidFill>
                          <a:latin typeface="Calibri"/>
                        </a:rPr>
                        <a:t>yo'q</a:t>
                      </a:r>
                    </a:p>
                  </a:txBody>
                  <a:tcPr>
                    <a:solidFill>
                      <a:srgbClr val="F1F4F8"/>
                    </a:solidFill>
                  </a:tcPr>
                </a:tc>
                <a:tc>
                  <a:txBody>
                    <a:bodyPr/>
                    <a:lstStyle/>
                    <a:p>
                      <a:r>
                        <a:rPr sz="1200" b="0">
                          <a:solidFill>
                            <a:srgbClr val="1B2430"/>
                          </a:solidFill>
                          <a:latin typeface="Calibri"/>
                        </a:rPr>
                        <a:t>kam</a:t>
                      </a:r>
                    </a:p>
                  </a:txBody>
                  <a:tcPr>
                    <a:solidFill>
                      <a:srgbClr val="F1F4F8"/>
                    </a:solidFill>
                  </a:tcPr>
                </a:tc>
                <a:tc>
                  <a:txBody>
                    <a:bodyPr/>
                    <a:lstStyle/>
                    <a:p>
                      <a:r>
                        <a:rPr sz="1200" b="0">
                          <a:solidFill>
                            <a:srgbClr val="1B2430"/>
                          </a:solidFill>
                          <a:latin typeface="Calibri"/>
                        </a:rPr>
                        <a:t>1,5–2,5× (MatMul og'ir modellar)</a:t>
                      </a:r>
                    </a:p>
                  </a:txBody>
                  <a:tcPr>
                    <a:solidFill>
                      <a:srgbClr val="F1F4F8"/>
                    </a:solidFill>
                  </a:tcPr>
                </a:tc>
              </a:tr>
              <a:tr h="520000">
                <a:tc>
                  <a:txBody>
                    <a:bodyPr/>
                    <a:lstStyle/>
                    <a:p>
                      <a:r>
                        <a:rPr sz="1200" b="0">
                          <a:solidFill>
                            <a:srgbClr val="1B2430"/>
                          </a:solidFill>
                          <a:latin typeface="Calibri"/>
                        </a:rPr>
                        <a:t>Statik kvantlash (PTQ)</a:t>
                      </a:r>
                    </a:p>
                  </a:txBody>
                  <a:tcPr>
                    <a:solidFill>
                      <a:srgbClr val="FFFFFF"/>
                    </a:solidFill>
                  </a:tcPr>
                </a:tc>
                <a:tc>
                  <a:txBody>
                    <a:bodyPr/>
                    <a:lstStyle/>
                    <a:p>
                      <a:r>
                        <a:rPr sz="1200" b="0">
                          <a:solidFill>
                            <a:srgbClr val="1B2430"/>
                          </a:solidFill>
                          <a:latin typeface="Calibri"/>
                        </a:rPr>
                        <a:t>vaznlar va faollashuvlar</a:t>
                      </a:r>
                    </a:p>
                  </a:txBody>
                  <a:tcPr>
                    <a:solidFill>
                      <a:srgbClr val="FFFFFF"/>
                    </a:solidFill>
                  </a:tcPr>
                </a:tc>
                <a:tc>
                  <a:txBody>
                    <a:bodyPr/>
                    <a:lstStyle/>
                    <a:p>
                      <a:r>
                        <a:rPr sz="1200" b="0">
                          <a:solidFill>
                            <a:srgbClr val="1B2430"/>
                          </a:solidFill>
                          <a:latin typeface="Calibri"/>
                        </a:rPr>
                        <a:t>100–1000 namuna</a:t>
                      </a:r>
                    </a:p>
                  </a:txBody>
                  <a:tcPr>
                    <a:solidFill>
                      <a:srgbClr val="FFFFFF"/>
                    </a:solidFill>
                  </a:tcPr>
                </a:tc>
                <a:tc>
                  <a:txBody>
                    <a:bodyPr/>
                    <a:lstStyle/>
                    <a:p>
                      <a:r>
                        <a:rPr sz="1200" b="0">
                          <a:solidFill>
                            <a:srgbClr val="1B2430"/>
                          </a:solidFill>
                          <a:latin typeface="Calibri"/>
                        </a:rPr>
                        <a:t>o'rtacha (0,5–2 p.p.)</a:t>
                      </a:r>
                    </a:p>
                  </a:txBody>
                  <a:tcPr>
                    <a:solidFill>
                      <a:srgbClr val="FFFFFF"/>
                    </a:solidFill>
                  </a:tcPr>
                </a:tc>
                <a:tc>
                  <a:txBody>
                    <a:bodyPr/>
                    <a:lstStyle/>
                    <a:p>
                      <a:r>
                        <a:rPr sz="1200" b="0">
                          <a:solidFill>
                            <a:srgbClr val="1B2430"/>
                          </a:solidFill>
                          <a:latin typeface="Calibri"/>
                        </a:rPr>
                        <a:t>2–4×</a:t>
                      </a:r>
                    </a:p>
                  </a:txBody>
                  <a:tcPr>
                    <a:solidFill>
                      <a:srgbClr val="FFFFFF"/>
                    </a:solidFill>
                  </a:tcPr>
                </a:tc>
              </a:tr>
              <a:tr h="520000">
                <a:tc>
                  <a:txBody>
                    <a:bodyPr/>
                    <a:lstStyle/>
                    <a:p>
                      <a:r>
                        <a:rPr sz="1200" b="0">
                          <a:solidFill>
                            <a:srgbClr val="1B2430"/>
                          </a:solidFill>
                          <a:latin typeface="Calibri"/>
                        </a:rPr>
                        <a:t>Kvantlashni hisobga olgan o'qitish (QAT)</a:t>
                      </a:r>
                    </a:p>
                  </a:txBody>
                  <a:tcPr>
                    <a:solidFill>
                      <a:srgbClr val="F1F4F8"/>
                    </a:solidFill>
                  </a:tcPr>
                </a:tc>
                <a:tc>
                  <a:txBody>
                    <a:bodyPr/>
                    <a:lstStyle/>
                    <a:p>
                      <a:r>
                        <a:rPr sz="1200" b="0">
                          <a:solidFill>
                            <a:srgbClr val="1B2430"/>
                          </a:solidFill>
                          <a:latin typeface="Calibri"/>
                        </a:rPr>
                        <a:t>vaznlar va faollashuvlar, soxta kvantlash bilan o'qitiladi</a:t>
                      </a:r>
                    </a:p>
                  </a:txBody>
                  <a:tcPr>
                    <a:solidFill>
                      <a:srgbClr val="F1F4F8"/>
                    </a:solidFill>
                  </a:tcPr>
                </a:tc>
                <a:tc>
                  <a:txBody>
                    <a:bodyPr/>
                    <a:lstStyle/>
                    <a:p>
                      <a:r>
                        <a:rPr sz="1200" b="0">
                          <a:solidFill>
                            <a:srgbClr val="1B2430"/>
                          </a:solidFill>
                          <a:latin typeface="Calibri"/>
                        </a:rPr>
                        <a:t>o'qitish to'plami</a:t>
                      </a:r>
                    </a:p>
                  </a:txBody>
                  <a:tcPr>
                    <a:solidFill>
                      <a:srgbClr val="F1F4F8"/>
                    </a:solidFill>
                  </a:tcPr>
                </a:tc>
                <a:tc>
                  <a:txBody>
                    <a:bodyPr/>
                    <a:lstStyle/>
                    <a:p>
                      <a:r>
                        <a:rPr sz="1200" b="0">
                          <a:solidFill>
                            <a:srgbClr val="1B2430"/>
                          </a:solidFill>
                          <a:latin typeface="Calibri"/>
                        </a:rPr>
                        <a:t>minimal</a:t>
                      </a:r>
                    </a:p>
                  </a:txBody>
                  <a:tcPr>
                    <a:solidFill>
                      <a:srgbClr val="F1F4F8"/>
                    </a:solidFill>
                  </a:tcPr>
                </a:tc>
                <a:tc>
                  <a:txBody>
                    <a:bodyPr/>
                    <a:lstStyle/>
                    <a:p>
                      <a:r>
                        <a:rPr sz="1200" b="0">
                          <a:solidFill>
                            <a:srgbClr val="1B2430"/>
                          </a:solidFill>
                          <a:latin typeface="Calibri"/>
                        </a:rPr>
                        <a:t>2–4×</a:t>
                      </a:r>
                    </a:p>
                  </a:txBody>
                  <a:tcPr>
                    <a:solidFill>
                      <a:srgbClr val="F1F4F8"/>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Unumdorlik ko'rsatkichlari va energiya</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13</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Latency — bitta so'rov uchun vaqt; taqsimot sifatida o'lchanadi, hisobotda p50, p95, p99 beriladi, chunki foydalanuvchi tajribasini aynan sekin so'rovlar belgilaydi. Throughput — birlik vaqtda bajarilgan inferenslar; paketlash orqali oshadi, lekin paket…</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Energiya samaradorligi — inferens boshiga joul: E = P_o'rtacha × t_inferens yoki inferens/s / Vt. GPU'da quvvat nvidia-smi --query-gpu=power.draw yoki NVML orqali 100 ms oraliqda o'qiladi; Jetson'da tegrastats; Intel CPU'da RAPL…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Vositalarni taqqoslash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14</a:t>
            </a:r>
          </a:p>
        </p:txBody>
      </p:sp>
      <p:graphicFrame>
        <p:nvGraphicFramePr>
          <p:cNvPr id="10" name="Table 9"/>
          <p:cNvGraphicFramePr>
            <a:graphicFrameLocks noGrp="1"/>
          </p:cNvGraphicFramePr>
          <p:nvPr/>
        </p:nvGraphicFramePr>
        <p:xfrm>
          <a:off x="500000" y="1350000"/>
          <a:ext cx="11200000" cy="4160000"/>
        </p:xfrm>
        <a:graphic>
          <a:graphicData uri="http://schemas.openxmlformats.org/drawingml/2006/table">
            <a:tbl>
              <a:tblPr firstRow="1" bandRow="1">
                <a:tableStyleId>{5C22544A-7EE6-4342-B048-85BDC9FD1C3A}</a:tableStyleId>
              </a:tblPr>
              <a:tblGrid>
                <a:gridCol w="2800000"/>
                <a:gridCol w="2800000"/>
                <a:gridCol w="2800000"/>
                <a:gridCol w="2800000"/>
              </a:tblGrid>
              <a:tr h="520000">
                <a:tc>
                  <a:txBody>
                    <a:bodyPr/>
                    <a:lstStyle/>
                    <a:p>
                      <a:r>
                        <a:rPr sz="1200" b="1">
                          <a:solidFill>
                            <a:srgbClr val="FFFFFF"/>
                          </a:solidFill>
                          <a:latin typeface="Calibri"/>
                        </a:rPr>
                        <a:t>Mezon</a:t>
                      </a:r>
                    </a:p>
                  </a:txBody>
                  <a:tcPr>
                    <a:solidFill>
                      <a:srgbClr val="2D5C8F"/>
                    </a:solidFill>
                  </a:tcPr>
                </a:tc>
                <a:tc>
                  <a:txBody>
                    <a:bodyPr/>
                    <a:lstStyle/>
                    <a:p>
                      <a:r>
                        <a:rPr sz="1200" b="1">
                          <a:solidFill>
                            <a:srgbClr val="FFFFFF"/>
                          </a:solidFill>
                          <a:latin typeface="Calibri"/>
                        </a:rPr>
                        <a:t>ONNX Runtime</a:t>
                      </a:r>
                    </a:p>
                  </a:txBody>
                  <a:tcPr>
                    <a:solidFill>
                      <a:srgbClr val="2D5C8F"/>
                    </a:solidFill>
                  </a:tcPr>
                </a:tc>
                <a:tc>
                  <a:txBody>
                    <a:bodyPr/>
                    <a:lstStyle/>
                    <a:p>
                      <a:r>
                        <a:rPr sz="1200" b="1">
                          <a:solidFill>
                            <a:srgbClr val="FFFFFF"/>
                          </a:solidFill>
                          <a:latin typeface="Calibri"/>
                        </a:rPr>
                        <a:t>TensorRT</a:t>
                      </a:r>
                    </a:p>
                  </a:txBody>
                  <a:tcPr>
                    <a:solidFill>
                      <a:srgbClr val="2D5C8F"/>
                    </a:solidFill>
                  </a:tcPr>
                </a:tc>
                <a:tc>
                  <a:txBody>
                    <a:bodyPr/>
                    <a:lstStyle/>
                    <a:p>
                      <a:r>
                        <a:rPr sz="1200" b="1">
                          <a:solidFill>
                            <a:srgbClr val="FFFFFF"/>
                          </a:solidFill>
                          <a:latin typeface="Calibri"/>
                        </a:rPr>
                        <a:t>OpenVINO</a:t>
                      </a:r>
                    </a:p>
                  </a:txBody>
                  <a:tcPr>
                    <a:solidFill>
                      <a:srgbClr val="2D5C8F"/>
                    </a:solidFill>
                  </a:tcPr>
                </a:tc>
              </a:tr>
              <a:tr h="520000">
                <a:tc>
                  <a:txBody>
                    <a:bodyPr/>
                    <a:lstStyle/>
                    <a:p>
                      <a:r>
                        <a:rPr sz="1200" b="0">
                          <a:solidFill>
                            <a:srgbClr val="1B2430"/>
                          </a:solidFill>
                          <a:latin typeface="Calibri"/>
                        </a:rPr>
                        <a:t>Ishlab chiquvchi</a:t>
                      </a:r>
                    </a:p>
                  </a:txBody>
                  <a:tcPr>
                    <a:solidFill>
                      <a:srgbClr val="F1F4F8"/>
                    </a:solidFill>
                  </a:tcPr>
                </a:tc>
                <a:tc>
                  <a:txBody>
                    <a:bodyPr/>
                    <a:lstStyle/>
                    <a:p>
                      <a:r>
                        <a:rPr sz="1200" b="0">
                          <a:solidFill>
                            <a:srgbClr val="1B2430"/>
                          </a:solidFill>
                          <a:latin typeface="Calibri"/>
                        </a:rPr>
                        <a:t>Microsoft (ochiq kod)</a:t>
                      </a:r>
                    </a:p>
                  </a:txBody>
                  <a:tcPr>
                    <a:solidFill>
                      <a:srgbClr val="F1F4F8"/>
                    </a:solidFill>
                  </a:tcPr>
                </a:tc>
                <a:tc>
                  <a:txBody>
                    <a:bodyPr/>
                    <a:lstStyle/>
                    <a:p>
                      <a:r>
                        <a:rPr sz="1200" b="0">
                          <a:solidFill>
                            <a:srgbClr val="1B2430"/>
                          </a:solidFill>
                          <a:latin typeface="Calibri"/>
                        </a:rPr>
                        <a:t>NVIDIA (yopiq yadro, ochiq parser)</a:t>
                      </a:r>
                    </a:p>
                  </a:txBody>
                  <a:tcPr>
                    <a:solidFill>
                      <a:srgbClr val="F1F4F8"/>
                    </a:solidFill>
                  </a:tcPr>
                </a:tc>
                <a:tc>
                  <a:txBody>
                    <a:bodyPr/>
                    <a:lstStyle/>
                    <a:p>
                      <a:r>
                        <a:rPr sz="1200" b="0">
                          <a:solidFill>
                            <a:srgbClr val="1B2430"/>
                          </a:solidFill>
                          <a:latin typeface="Calibri"/>
                        </a:rPr>
                        <a:t>Intel (ochiq kod)</a:t>
                      </a:r>
                    </a:p>
                  </a:txBody>
                  <a:tcPr>
                    <a:solidFill>
                      <a:srgbClr val="F1F4F8"/>
                    </a:solidFill>
                  </a:tcPr>
                </a:tc>
              </a:tr>
              <a:tr h="520000">
                <a:tc>
                  <a:txBody>
                    <a:bodyPr/>
                    <a:lstStyle/>
                    <a:p>
                      <a:r>
                        <a:rPr sz="1200" b="0">
                          <a:solidFill>
                            <a:srgbClr val="1B2430"/>
                          </a:solidFill>
                          <a:latin typeface="Calibri"/>
                        </a:rPr>
                        <a:t>Maqsadli apparat</a:t>
                      </a:r>
                    </a:p>
                  </a:txBody>
                  <a:tcPr>
                    <a:solidFill>
                      <a:srgbClr val="FFFFFF"/>
                    </a:solidFill>
                  </a:tcPr>
                </a:tc>
                <a:tc>
                  <a:txBody>
                    <a:bodyPr/>
                    <a:lstStyle/>
                    <a:p>
                      <a:r>
                        <a:rPr sz="1200" b="0">
                          <a:solidFill>
                            <a:srgbClr val="1B2430"/>
                          </a:solidFill>
                          <a:latin typeface="Calibri"/>
                        </a:rPr>
                        <a:t>CPU, NVIDIA/AMD GPU, NPU, mobil</a:t>
                      </a:r>
                    </a:p>
                  </a:txBody>
                  <a:tcPr>
                    <a:solidFill>
                      <a:srgbClr val="FFFFFF"/>
                    </a:solidFill>
                  </a:tcPr>
                </a:tc>
                <a:tc>
                  <a:txBody>
                    <a:bodyPr/>
                    <a:lstStyle/>
                    <a:p>
                      <a:r>
                        <a:rPr sz="1200" b="0">
                          <a:solidFill>
                            <a:srgbClr val="1B2430"/>
                          </a:solidFill>
                          <a:latin typeface="Calibri"/>
                        </a:rPr>
                        <a:t>faqat NVIDIA GPU va Jetson</a:t>
                      </a:r>
                    </a:p>
                  </a:txBody>
                  <a:tcPr>
                    <a:solidFill>
                      <a:srgbClr val="FFFFFF"/>
                    </a:solidFill>
                  </a:tcPr>
                </a:tc>
                <a:tc>
                  <a:txBody>
                    <a:bodyPr/>
                    <a:lstStyle/>
                    <a:p>
                      <a:r>
                        <a:rPr sz="1200" b="0">
                          <a:solidFill>
                            <a:srgbClr val="1B2430"/>
                          </a:solidFill>
                          <a:latin typeface="Calibri"/>
                        </a:rPr>
                        <a:t>Intel CPU, iGPU, NPU, ARM CPU</a:t>
                      </a:r>
                    </a:p>
                  </a:txBody>
                  <a:tcPr>
                    <a:solidFill>
                      <a:srgbClr val="FFFFFF"/>
                    </a:solidFill>
                  </a:tcPr>
                </a:tc>
              </a:tr>
              <a:tr h="520000">
                <a:tc>
                  <a:txBody>
                    <a:bodyPr/>
                    <a:lstStyle/>
                    <a:p>
                      <a:r>
                        <a:rPr sz="1200" b="0">
                          <a:solidFill>
                            <a:srgbClr val="1B2430"/>
                          </a:solidFill>
                          <a:latin typeface="Calibri"/>
                        </a:rPr>
                        <a:t>Kirish formati</a:t>
                      </a:r>
                    </a:p>
                  </a:txBody>
                  <a:tcPr>
                    <a:solidFill>
                      <a:srgbClr val="F1F4F8"/>
                    </a:solidFill>
                  </a:tcPr>
                </a:tc>
                <a:tc>
                  <a:txBody>
                    <a:bodyPr/>
                    <a:lstStyle/>
                    <a:p>
                      <a:r>
                        <a:rPr sz="1200" b="0">
                          <a:solidFill>
                            <a:srgbClr val="1B2430"/>
                          </a:solidFill>
                          <a:latin typeface="Calibri"/>
                        </a:rPr>
                        <a:t>ONNX</a:t>
                      </a:r>
                    </a:p>
                  </a:txBody>
                  <a:tcPr>
                    <a:solidFill>
                      <a:srgbClr val="F1F4F8"/>
                    </a:solidFill>
                  </a:tcPr>
                </a:tc>
                <a:tc>
                  <a:txBody>
                    <a:bodyPr/>
                    <a:lstStyle/>
                    <a:p>
                      <a:r>
                        <a:rPr sz="1200" b="0">
                          <a:solidFill>
                            <a:srgbClr val="1B2430"/>
                          </a:solidFill>
                          <a:latin typeface="Calibri"/>
                        </a:rPr>
                        <a:t>ONNX, TF, PyTorch (torch-tensorrt)</a:t>
                      </a:r>
                    </a:p>
                  </a:txBody>
                  <a:tcPr>
                    <a:solidFill>
                      <a:srgbClr val="F1F4F8"/>
                    </a:solidFill>
                  </a:tcPr>
                </a:tc>
                <a:tc>
                  <a:txBody>
                    <a:bodyPr/>
                    <a:lstStyle/>
                    <a:p>
                      <a:r>
                        <a:rPr sz="1200" b="0">
                          <a:solidFill>
                            <a:srgbClr val="1B2430"/>
                          </a:solidFill>
                          <a:latin typeface="Calibri"/>
                        </a:rPr>
                        <a:t>ONNX, TF, PyTorch, PaddlePaddle</a:t>
                      </a:r>
                    </a:p>
                  </a:txBody>
                  <a:tcPr>
                    <a:solidFill>
                      <a:srgbClr val="F1F4F8"/>
                    </a:solidFill>
                  </a:tcPr>
                </a:tc>
              </a:tr>
              <a:tr h="520000">
                <a:tc>
                  <a:txBody>
                    <a:bodyPr/>
                    <a:lstStyle/>
                    <a:p>
                      <a:r>
                        <a:rPr sz="1200" b="0">
                          <a:solidFill>
                            <a:srgbClr val="1B2430"/>
                          </a:solidFill>
                          <a:latin typeface="Calibri"/>
                        </a:rPr>
                        <a:t>Kvantlash</a:t>
                      </a:r>
                    </a:p>
                  </a:txBody>
                  <a:tcPr>
                    <a:solidFill>
                      <a:srgbClr val="FFFFFF"/>
                    </a:solidFill>
                  </a:tcPr>
                </a:tc>
                <a:tc>
                  <a:txBody>
                    <a:bodyPr/>
                    <a:lstStyle/>
                    <a:p>
                      <a:r>
                        <a:rPr sz="1200" b="0">
                          <a:solidFill>
                            <a:srgbClr val="1B2430"/>
                          </a:solidFill>
                          <a:latin typeface="Calibri"/>
                        </a:rPr>
                        <a:t>statik/dinamik PTQ, QAT import</a:t>
                      </a:r>
                    </a:p>
                  </a:txBody>
                  <a:tcPr>
                    <a:solidFill>
                      <a:srgbClr val="FFFFFF"/>
                    </a:solidFill>
                  </a:tcPr>
                </a:tc>
                <a:tc>
                  <a:txBody>
                    <a:bodyPr/>
                    <a:lstStyle/>
                    <a:p>
                      <a:r>
                        <a:rPr sz="1200" b="0">
                          <a:solidFill>
                            <a:srgbClr val="1B2430"/>
                          </a:solidFill>
                          <a:latin typeface="Calibri"/>
                        </a:rPr>
                        <a:t>INT8 PTQ (kalibrlash), QAT (Q/DQ)</a:t>
                      </a:r>
                    </a:p>
                  </a:txBody>
                  <a:tcPr>
                    <a:solidFill>
                      <a:srgbClr val="FFFFFF"/>
                    </a:solidFill>
                  </a:tcPr>
                </a:tc>
                <a:tc>
                  <a:txBody>
                    <a:bodyPr/>
                    <a:lstStyle/>
                    <a:p>
                      <a:r>
                        <a:rPr sz="1200" b="0">
                          <a:solidFill>
                            <a:srgbClr val="1B2430"/>
                          </a:solidFill>
                          <a:latin typeface="Calibri"/>
                        </a:rPr>
                        <a:t>NNCF (PTQ, QAT), INT8/INT4</a:t>
                      </a:r>
                    </a:p>
                  </a:txBody>
                  <a:tcPr>
                    <a:solidFill>
                      <a:srgbClr val="FFFFFF"/>
                    </a:solidFill>
                  </a:tcPr>
                </a:tc>
              </a:tr>
              <a:tr h="520000">
                <a:tc>
                  <a:txBody>
                    <a:bodyPr/>
                    <a:lstStyle/>
                    <a:p>
                      <a:r>
                        <a:rPr sz="1200" b="0">
                          <a:solidFill>
                            <a:srgbClr val="1B2430"/>
                          </a:solidFill>
                          <a:latin typeface="Calibri"/>
                        </a:rPr>
                        <a:t>Qurish vaqti</a:t>
                      </a:r>
                    </a:p>
                  </a:txBody>
                  <a:tcPr>
                    <a:solidFill>
                      <a:srgbClr val="F1F4F8"/>
                    </a:solidFill>
                  </a:tcPr>
                </a:tc>
                <a:tc>
                  <a:txBody>
                    <a:bodyPr/>
                    <a:lstStyle/>
                    <a:p>
                      <a:r>
                        <a:rPr sz="1200" b="0">
                          <a:solidFill>
                            <a:srgbClr val="1B2430"/>
                          </a:solidFill>
                          <a:latin typeface="Calibri"/>
                        </a:rPr>
                        <a:t>sekundlar</a:t>
                      </a:r>
                    </a:p>
                  </a:txBody>
                  <a:tcPr>
                    <a:solidFill>
                      <a:srgbClr val="F1F4F8"/>
                    </a:solidFill>
                  </a:tcPr>
                </a:tc>
                <a:tc>
                  <a:txBody>
                    <a:bodyPr/>
                    <a:lstStyle/>
                    <a:p>
                      <a:r>
                        <a:rPr sz="1200" b="0">
                          <a:solidFill>
                            <a:srgbClr val="1B2430"/>
                          </a:solidFill>
                          <a:latin typeface="Calibri"/>
                        </a:rPr>
                        <a:t>daqiqalar (tactic qidiruvi)</a:t>
                      </a:r>
                    </a:p>
                  </a:txBody>
                  <a:tcPr>
                    <a:solidFill>
                      <a:srgbClr val="F1F4F8"/>
                    </a:solidFill>
                  </a:tcPr>
                </a:tc>
                <a:tc>
                  <a:txBody>
                    <a:bodyPr/>
                    <a:lstStyle/>
                    <a:p>
                      <a:r>
                        <a:rPr sz="1200" b="0">
                          <a:solidFill>
                            <a:srgbClr val="1B2430"/>
                          </a:solidFill>
                          <a:latin typeface="Calibri"/>
                        </a:rPr>
                        <a:t>sekundlar</a:t>
                      </a:r>
                    </a:p>
                  </a:txBody>
                  <a:tcPr>
                    <a:solidFill>
                      <a:srgbClr val="F1F4F8"/>
                    </a:solidFill>
                  </a:tcPr>
                </a:tc>
              </a:tr>
              <a:tr h="520000">
                <a:tc>
                  <a:txBody>
                    <a:bodyPr/>
                    <a:lstStyle/>
                    <a:p>
                      <a:r>
                        <a:rPr sz="1200" b="0">
                          <a:solidFill>
                            <a:srgbClr val="1B2430"/>
                          </a:solidFill>
                          <a:latin typeface="Calibri"/>
                        </a:rPr>
                        <a:t>Ko'chma dvigatel</a:t>
                      </a:r>
                    </a:p>
                  </a:txBody>
                  <a:tcPr>
                    <a:solidFill>
                      <a:srgbClr val="FFFFFF"/>
                    </a:solidFill>
                  </a:tcPr>
                </a:tc>
                <a:tc>
                  <a:txBody>
                    <a:bodyPr/>
                    <a:lstStyle/>
                    <a:p>
                      <a:r>
                        <a:rPr sz="1200" b="0">
                          <a:solidFill>
                            <a:srgbClr val="1B2430"/>
                          </a:solidFill>
                          <a:latin typeface="Calibri"/>
                        </a:rPr>
                        <a:t>ONNX fayl universal</a:t>
                      </a:r>
                    </a:p>
                  </a:txBody>
                  <a:tcPr>
                    <a:solidFill>
                      <a:srgbClr val="FFFFFF"/>
                    </a:solidFill>
                  </a:tcPr>
                </a:tc>
                <a:tc>
                  <a:txBody>
                    <a:bodyPr/>
                    <a:lstStyle/>
                    <a:p>
                      <a:r>
                        <a:rPr sz="1200" b="0">
                          <a:solidFill>
                            <a:srgbClr val="1B2430"/>
                          </a:solidFill>
                          <a:latin typeface="Calibri"/>
                        </a:rPr>
                        <a:t>engine faqat shu GPU va versiya uchun</a:t>
                      </a:r>
                    </a:p>
                  </a:txBody>
                  <a:tcPr>
                    <a:solidFill>
                      <a:srgbClr val="FFFFFF"/>
                    </a:solidFill>
                  </a:tcPr>
                </a:tc>
                <a:tc>
                  <a:txBody>
                    <a:bodyPr/>
                    <a:lstStyle/>
                    <a:p>
                      <a:r>
                        <a:rPr sz="1200" b="0">
                          <a:solidFill>
                            <a:srgbClr val="1B2430"/>
                          </a:solidFill>
                          <a:latin typeface="Calibri"/>
                        </a:rPr>
                        <a:t>IR fayl Intel platformalari uchun</a:t>
                      </a:r>
                    </a:p>
                  </a:txBody>
                  <a:tcPr>
                    <a:solidFill>
                      <a:srgbClr val="FFFFFF"/>
                    </a:solidFill>
                  </a:tcPr>
                </a:tc>
              </a:tr>
              <a:tr h="520000">
                <a:tc>
                  <a:txBody>
                    <a:bodyPr/>
                    <a:lstStyle/>
                    <a:p>
                      <a:r>
                        <a:rPr sz="1200" b="0">
                          <a:solidFill>
                            <a:srgbClr val="1B2430"/>
                          </a:solidFill>
                          <a:latin typeface="Calibri"/>
                        </a:rPr>
                        <a:t>Odatiy tezlanish (FP32 PyTorch'ga nisbatan)</a:t>
                      </a:r>
                    </a:p>
                  </a:txBody>
                  <a:tcPr>
                    <a:solidFill>
                      <a:srgbClr val="F1F4F8"/>
                    </a:solidFill>
                  </a:tcPr>
                </a:tc>
                <a:tc>
                  <a:txBody>
                    <a:bodyPr/>
                    <a:lstStyle/>
                    <a:p>
                      <a:r>
                        <a:rPr sz="1200" b="0">
                          <a:solidFill>
                            <a:srgbClr val="1B2430"/>
                          </a:solidFill>
                          <a:latin typeface="Calibri"/>
                        </a:rPr>
                        <a:t>CPU 1,5–3×</a:t>
                      </a:r>
                    </a:p>
                  </a:txBody>
                  <a:tcPr>
                    <a:solidFill>
                      <a:srgbClr val="F1F4F8"/>
                    </a:solidFill>
                  </a:tcPr>
                </a:tc>
                <a:tc>
                  <a:txBody>
                    <a:bodyPr/>
                    <a:lstStyle/>
                    <a:p>
                      <a:r>
                        <a:rPr sz="1200" b="0">
                          <a:solidFill>
                            <a:srgbClr val="1B2430"/>
                          </a:solidFill>
                          <a:latin typeface="Calibri"/>
                        </a:rPr>
                        <a:t>GPU 3–8× (FP16/INT8 bilan)</a:t>
                      </a:r>
                    </a:p>
                  </a:txBody>
                  <a:tcPr>
                    <a:solidFill>
                      <a:srgbClr val="F1F4F8"/>
                    </a:solidFill>
                  </a:tcPr>
                </a:tc>
                <a:tc>
                  <a:txBody>
                    <a:bodyPr/>
                    <a:lstStyle/>
                    <a:p>
                      <a:r>
                        <a:rPr sz="1200" b="0">
                          <a:solidFill>
                            <a:srgbClr val="1B2430"/>
                          </a:solidFill>
                          <a:latin typeface="Calibri"/>
                        </a:rPr>
                        <a:t>CPU 2–5×</a:t>
                      </a:r>
                    </a:p>
                  </a:txBody>
                  <a:tcPr>
                    <a:solidFill>
                      <a:srgbClr val="F1F4F8"/>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31dc67b26af241c.jpg"/>
          <p:cNvPicPr>
            <a:picLocks noChangeAspect="1"/>
          </p:cNvPicPr>
          <p:nvPr/>
        </p:nvPicPr>
        <p:blipFill>
          <a:blip r:embed="rId2"/>
          <a:srcRect l="17782" r="17782"/>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Mailane vanesa · Wikimedia Commons · CC0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04</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Amaliy misol</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Amaliy misol</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16</a:t>
            </a:r>
          </a:p>
        </p:txBody>
      </p:sp>
      <p:sp>
        <p:nvSpPr>
          <p:cNvPr id="9" name="Rounded Rectangle 8"/>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Laboratoriya topshirig'i: «ResNet-50 tasvir tasniflash modelini ONNX Runtime va TensorRT/OpenVINO yordamida optimallashtirish va unumdorlikni to'liq baholash».</a:t>
            </a:r>
          </a:p>
        </p:txBody>
      </p:sp>
      <p:sp>
        <p:nvSpPr>
          <p:cNvPr id="13" name="Rounded Rectangle 12"/>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Talab qilinadigan muhit. Apparat: x86 CPU (kamida 4 yadro, AVX2; VNNI bo'lsa INT8 tezlanishi yaqqolroq); NVIDIA GPU (ixtiyoriy, TensorRT qismi uchun; T4, RTX 3060 yoki yuqori); Intel CPU bo'lsa OpenVINO qismi bajariladi. Dasturiy ta'minot: Ubuntu 22.04;…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1-qadam. Etalon: PyTorch FP32 va ONNX eksport</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17</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800" b="0">
                <a:solidFill>
                  <a:srgbClr val="1B2430"/>
                </a:solidFill>
                <a:latin typeface="Calibri"/>
              </a:rPr>
              <a:t>Kutilgan natija (8 yadroli CPU, taxminiy): PyTorch FP32 p50 ≈ 45–70 ms; ONNX faylda 120–130 tugun (Conv, BatchNormalization, Relu, Add, MaxPool, GlobalAveragePool, Gemm), hajmi ≈ 98 MB…</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800" b="0">
                <a:solidFill>
                  <a:srgbClr val="1B2430"/>
                </a:solidFill>
                <a:latin typeface="Calibri"/>
              </a:rPr>
              <a:t>Nima bo'ldi va nega. dynamic_axes paket o'lchamini o'zgaruvchan qiladi — keyin throughput o'lchovida 1, 8, 32 paketlarni bitta fayl bilan sinaymiz. do_constant_folding eksport paytidayoq doimiy qism-grafiklarni hisoblaydi.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1-qadam. Etalon: PyTorch FP32 va ONNX eksport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18</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01_export.py</a:t>
            </a:r>
          </a:p>
          <a:p>
            <a:r>
              <a:rPr sz="1000">
                <a:solidFill>
                  <a:srgbClr val="E2E8F0"/>
                </a:solidFill>
                <a:latin typeface="Consolas"/>
              </a:rPr>
              <a:t>import torch, torchvision, onnx, time, numpy as np</a:t>
            </a:r>
          </a:p>
          <a:p>
            <a:r>
              <a:rPr sz="1000">
                <a:solidFill>
                  <a:srgbClr val="E2E8F0"/>
                </a:solidFill>
                <a:latin typeface="Consolas"/>
              </a:rPr>
              <a:t> </a:t>
            </a:r>
          </a:p>
          <a:p>
            <a:r>
              <a:rPr sz="1000">
                <a:solidFill>
                  <a:srgbClr val="E2E8F0"/>
                </a:solidFill>
                <a:latin typeface="Consolas"/>
              </a:rPr>
              <a:t>model = torchvision.models.resnet50(weights="IMAGENET1K_V2").eval()</a:t>
            </a:r>
          </a:p>
          <a:p>
            <a:r>
              <a:rPr sz="1000">
                <a:solidFill>
                  <a:srgbClr val="E2E8F0"/>
                </a:solidFill>
                <a:latin typeface="Consolas"/>
              </a:rPr>
              <a:t>x = torch.randn(1, 3, 224, 224)</a:t>
            </a:r>
          </a:p>
          <a:p>
            <a:r>
              <a:rPr sz="1000">
                <a:solidFill>
                  <a:srgbClr val="E2E8F0"/>
                </a:solidFill>
                <a:latin typeface="Consolas"/>
              </a:rPr>
              <a:t> </a:t>
            </a:r>
          </a:p>
          <a:p>
            <a:r>
              <a:rPr sz="1000">
                <a:solidFill>
                  <a:srgbClr val="7FD6D7"/>
                </a:solidFill>
                <a:latin typeface="Consolas"/>
              </a:rPr>
              <a:t># PyTorch CPU etalon latency (paket 1)</a:t>
            </a:r>
          </a:p>
          <a:p>
            <a:r>
              <a:rPr sz="1000">
                <a:solidFill>
                  <a:srgbClr val="E2E8F0"/>
                </a:solidFill>
                <a:latin typeface="Consolas"/>
              </a:rPr>
              <a:t>with torch.inference_mode():</a:t>
            </a:r>
          </a:p>
          <a:p>
            <a:r>
              <a:rPr sz="1000">
                <a:solidFill>
                  <a:srgbClr val="E2E8F0"/>
                </a:solidFill>
                <a:latin typeface="Consolas"/>
              </a:rPr>
              <a:t>    for _ in range(5): model(x)</a:t>
            </a:r>
          </a:p>
          <a:p>
            <a:r>
              <a:rPr sz="1000">
                <a:solidFill>
                  <a:srgbClr val="E2E8F0"/>
                </a:solidFill>
                <a:latin typeface="Consolas"/>
              </a:rPr>
              <a:t>    t = []</a:t>
            </a:r>
          </a:p>
          <a:p>
            <a:r>
              <a:rPr sz="1000">
                <a:solidFill>
                  <a:srgbClr val="E2E8F0"/>
                </a:solidFill>
                <a:latin typeface="Consolas"/>
              </a:rPr>
              <a:t>    for _ in range(50):</a:t>
            </a:r>
          </a:p>
          <a:p>
            <a:r>
              <a:rPr sz="1000">
                <a:solidFill>
                  <a:srgbClr val="E2E8F0"/>
                </a:solidFill>
                <a:latin typeface="Consolas"/>
              </a:rPr>
              <a:t>        t0 = time.perf_counter(); model(x); t.append(time.perf_counter() - t0)</a:t>
            </a:r>
          </a:p>
          <a:p>
            <a:r>
              <a:rPr sz="1000">
                <a:solidFill>
                  <a:srgbClr val="E2E8F0"/>
                </a:solidFill>
                <a:latin typeface="Consolas"/>
              </a:rPr>
              <a:t>print(f"PyTorch FP32 CPU, batch 1: p50 {np.percentile(t,50)*1e3:.1f} ms  p95 {np.percentile(t,95)*1e3:.1f} ms")</a:t>
            </a:r>
          </a:p>
          <a:p>
            <a:r>
              <a:rPr sz="1000">
                <a:solidFill>
                  <a:srgbClr val="E2E8F0"/>
                </a:solidFill>
                <a:latin typeface="Consolas"/>
              </a:rPr>
              <a:t> </a:t>
            </a:r>
          </a:p>
          <a:p>
            <a:r>
              <a:rPr sz="1000">
                <a:solidFill>
                  <a:srgbClr val="E2E8F0"/>
                </a:solidFill>
                <a:latin typeface="Consolas"/>
              </a:rPr>
              <a:t>torch.onnx.export(</a:t>
            </a:r>
          </a:p>
          <a:p>
            <a:r>
              <a:rPr sz="1000">
                <a:solidFill>
                  <a:srgbClr val="E2E8F0"/>
                </a:solidFill>
                <a:latin typeface="Consolas"/>
              </a:rPr>
              <a:t>    model, x, "resnet50_fp32.onnx",</a:t>
            </a:r>
          </a:p>
          <a:p>
            <a:r>
              <a:rPr sz="1000">
                <a:solidFill>
                  <a:srgbClr val="E2E8F0"/>
                </a:solidFill>
                <a:latin typeface="Consolas"/>
              </a:rPr>
              <a:t>    input_names=["input"], output_names=["logits"],</a:t>
            </a:r>
          </a:p>
          <a:p>
            <a:r>
              <a:rPr sz="1000">
                <a:solidFill>
                  <a:srgbClr val="E2E8F0"/>
                </a:solidFill>
                <a:latin typeface="Consolas"/>
              </a:rPr>
              <a:t>    dynamic_axes={"input": {0: "batch"}, "logits": {0: "batch"}},</a:t>
            </a:r>
          </a:p>
          <a:p>
            <a:r>
              <a:rPr sz="1000">
                <a:solidFill>
                  <a:srgbClr val="E2E8F0"/>
                </a:solidFill>
                <a:latin typeface="Consolas"/>
              </a:rPr>
              <a:t>    opset_version=17, do_constant_folding=True,</a:t>
            </a:r>
          </a:p>
          <a:p>
            <a:r>
              <a:rPr sz="1000">
                <a:solidFill>
                  <a:srgbClr val="E2E8F0"/>
                </a:solidFill>
                <a:latin typeface="Consolas"/>
              </a:rPr>
              <a:t>)</a:t>
            </a:r>
          </a:p>
          <a:p>
            <a:r>
              <a:rPr sz="1000">
                <a:solidFill>
                  <a:srgbClr val="7FD6D7"/>
                </a:solidFill>
                <a:latin typeface="Consolas"/>
              </a:rPr>
              <a:t># … (to‘liq kod — mavzu matnida / GitHub’da)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100" b="1">
                <a:solidFill>
                  <a:srgbClr val="FFFFFF"/>
                </a:solidFill>
                <a:latin typeface="Calibri"/>
              </a:rPr>
              <a:t>2-qadam. ONNX Runtime: CPU va GPU provayderlari, optimallashtirish darajalari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19</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Kutilgan natija (taxminiy):</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EXTENDED darajada Conv+BN+ReLU birlashtirildi — tugunlar soni 120 dan ~55 ga tushdi, xotiraga oraliq yozish yo'qoldi, CPU latency 35 % yaxshilandi. ONNX Runtime CPU allaqachon PyTorch eager'dan 1,5–2 baravar tez — bu grafik…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100" b="1">
                <a:solidFill>
                  <a:srgbClr val="FFFFFF"/>
                </a:solidFill>
                <a:latin typeface="Calibri"/>
              </a:rPr>
              <a:t>2-qadam. ONNX Runtime: CPU va GPU provayderlari, optimallashtirish darajalari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20</a:t>
            </a:r>
          </a:p>
        </p:txBody>
      </p:sp>
      <p:graphicFrame>
        <p:nvGraphicFramePr>
          <p:cNvPr id="10" name="Table 9"/>
          <p:cNvGraphicFramePr>
            <a:graphicFrameLocks noGrp="1"/>
          </p:cNvGraphicFramePr>
          <p:nvPr/>
        </p:nvGraphicFramePr>
        <p:xfrm>
          <a:off x="500000" y="1350000"/>
          <a:ext cx="11200000" cy="4160000"/>
        </p:xfrm>
        <a:graphic>
          <a:graphicData uri="http://schemas.openxmlformats.org/drawingml/2006/table">
            <a:tbl>
              <a:tblPr firstRow="1" bandRow="1">
                <a:tableStyleId>{5C22544A-7EE6-4342-B048-85BDC9FD1C3A}</a:tableStyleId>
              </a:tblPr>
              <a:tblGrid>
                <a:gridCol w="1866666"/>
                <a:gridCol w="1866666"/>
                <a:gridCol w="1866666"/>
                <a:gridCol w="1866666"/>
                <a:gridCol w="1866666"/>
                <a:gridCol w="1866670"/>
              </a:tblGrid>
              <a:tr h="520000">
                <a:tc>
                  <a:txBody>
                    <a:bodyPr/>
                    <a:lstStyle/>
                    <a:p>
                      <a:r>
                        <a:rPr sz="1400" b="1">
                          <a:solidFill>
                            <a:srgbClr val="FFFFFF"/>
                          </a:solidFill>
                          <a:latin typeface="Calibri"/>
                        </a:rPr>
                        <a:t>provider</a:t>
                      </a:r>
                    </a:p>
                  </a:txBody>
                  <a:tcPr>
                    <a:solidFill>
                      <a:srgbClr val="2D5C8F"/>
                    </a:solidFill>
                  </a:tcPr>
                </a:tc>
                <a:tc>
                  <a:txBody>
                    <a:bodyPr/>
                    <a:lstStyle/>
                    <a:p>
                      <a:r>
                        <a:rPr sz="1400" b="1">
                          <a:solidFill>
                            <a:srgbClr val="FFFFFF"/>
                          </a:solidFill>
                          <a:latin typeface="Calibri"/>
                        </a:rPr>
                        <a:t>opt</a:t>
                      </a:r>
                    </a:p>
                  </a:txBody>
                  <a:tcPr>
                    <a:solidFill>
                      <a:srgbClr val="2D5C8F"/>
                    </a:solidFill>
                  </a:tcPr>
                </a:tc>
                <a:tc>
                  <a:txBody>
                    <a:bodyPr/>
                    <a:lstStyle/>
                    <a:p>
                      <a:r>
                        <a:rPr sz="1400" b="1">
                          <a:solidFill>
                            <a:srgbClr val="FFFFFF"/>
                          </a:solidFill>
                          <a:latin typeface="Calibri"/>
                        </a:rPr>
                        <a:t>batch</a:t>
                      </a:r>
                    </a:p>
                  </a:txBody>
                  <a:tcPr>
                    <a:solidFill>
                      <a:srgbClr val="2D5C8F"/>
                    </a:solidFill>
                  </a:tcPr>
                </a:tc>
                <a:tc>
                  <a:txBody>
                    <a:bodyPr/>
                    <a:lstStyle/>
                    <a:p>
                      <a:r>
                        <a:rPr sz="1400" b="1">
                          <a:solidFill>
                            <a:srgbClr val="FFFFFF"/>
                          </a:solidFill>
                          <a:latin typeface="Calibri"/>
                        </a:rPr>
                        <a:t>p50, ms</a:t>
                      </a:r>
                    </a:p>
                  </a:txBody>
                  <a:tcPr>
                    <a:solidFill>
                      <a:srgbClr val="2D5C8F"/>
                    </a:solidFill>
                  </a:tcPr>
                </a:tc>
                <a:tc>
                  <a:txBody>
                    <a:bodyPr/>
                    <a:lstStyle/>
                    <a:p>
                      <a:r>
                        <a:rPr sz="1400" b="1">
                          <a:solidFill>
                            <a:srgbClr val="FFFFFF"/>
                          </a:solidFill>
                          <a:latin typeface="Calibri"/>
                        </a:rPr>
                        <a:t>p95, ms</a:t>
                      </a:r>
                    </a:p>
                  </a:txBody>
                  <a:tcPr>
                    <a:solidFill>
                      <a:srgbClr val="2D5C8F"/>
                    </a:solidFill>
                  </a:tcPr>
                </a:tc>
                <a:tc>
                  <a:txBody>
                    <a:bodyPr/>
                    <a:lstStyle/>
                    <a:p>
                      <a:r>
                        <a:rPr sz="1400" b="1">
                          <a:solidFill>
                            <a:srgbClr val="FFFFFF"/>
                          </a:solidFill>
                          <a:latin typeface="Calibri"/>
                        </a:rPr>
                        <a:t>throughput, rasm/s</a:t>
                      </a:r>
                    </a:p>
                  </a:txBody>
                  <a:tcPr>
                    <a:solidFill>
                      <a:srgbClr val="2D5C8F"/>
                    </a:solidFill>
                  </a:tcPr>
                </a:tc>
              </a:tr>
              <a:tr h="520000">
                <a:tc>
                  <a:txBody>
                    <a:bodyPr/>
                    <a:lstStyle/>
                    <a:p>
                      <a:r>
                        <a:rPr sz="1400" b="0">
                          <a:solidFill>
                            <a:srgbClr val="1B2430"/>
                          </a:solidFill>
                          <a:latin typeface="Calibri"/>
                        </a:rPr>
                        <a:t>CPU</a:t>
                      </a:r>
                    </a:p>
                  </a:txBody>
                  <a:tcPr>
                    <a:solidFill>
                      <a:srgbClr val="F1F4F8"/>
                    </a:solidFill>
                  </a:tcPr>
                </a:tc>
                <a:tc>
                  <a:txBody>
                    <a:bodyPr/>
                    <a:lstStyle/>
                    <a:p>
                      <a:r>
                        <a:rPr sz="1400" b="0">
                          <a:solidFill>
                            <a:srgbClr val="1B2430"/>
                          </a:solidFill>
                          <a:latin typeface="Calibri"/>
                        </a:rPr>
                        <a:t>DISABLE_ALL</a:t>
                      </a:r>
                    </a:p>
                  </a:txBody>
                  <a:tcPr>
                    <a:solidFill>
                      <a:srgbClr val="F1F4F8"/>
                    </a:solidFill>
                  </a:tcPr>
                </a:tc>
                <a:tc>
                  <a:txBody>
                    <a:bodyPr/>
                    <a:lstStyle/>
                    <a:p>
                      <a:r>
                        <a:rPr sz="1400" b="0">
                          <a:solidFill>
                            <a:srgbClr val="1B2430"/>
                          </a:solidFill>
                          <a:latin typeface="Calibri"/>
                        </a:rPr>
                        <a:t>1</a:t>
                      </a:r>
                    </a:p>
                  </a:txBody>
                  <a:tcPr>
                    <a:solidFill>
                      <a:srgbClr val="F1F4F8"/>
                    </a:solidFill>
                  </a:tcPr>
                </a:tc>
                <a:tc>
                  <a:txBody>
                    <a:bodyPr/>
                    <a:lstStyle/>
                    <a:p>
                      <a:r>
                        <a:rPr sz="1400" b="0">
                          <a:solidFill>
                            <a:srgbClr val="1B2430"/>
                          </a:solidFill>
                          <a:latin typeface="Calibri"/>
                        </a:rPr>
                        <a:t>48</a:t>
                      </a:r>
                    </a:p>
                  </a:txBody>
                  <a:tcPr>
                    <a:solidFill>
                      <a:srgbClr val="F1F4F8"/>
                    </a:solidFill>
                  </a:tcPr>
                </a:tc>
                <a:tc>
                  <a:txBody>
                    <a:bodyPr/>
                    <a:lstStyle/>
                    <a:p>
                      <a:r>
                        <a:rPr sz="1400" b="0">
                          <a:solidFill>
                            <a:srgbClr val="1B2430"/>
                          </a:solidFill>
                          <a:latin typeface="Calibri"/>
                        </a:rPr>
                        <a:t>55</a:t>
                      </a:r>
                    </a:p>
                  </a:txBody>
                  <a:tcPr>
                    <a:solidFill>
                      <a:srgbClr val="F1F4F8"/>
                    </a:solidFill>
                  </a:tcPr>
                </a:tc>
                <a:tc>
                  <a:txBody>
                    <a:bodyPr/>
                    <a:lstStyle/>
                    <a:p>
                      <a:r>
                        <a:rPr sz="1400" b="0">
                          <a:solidFill>
                            <a:srgbClr val="1B2430"/>
                          </a:solidFill>
                          <a:latin typeface="Calibri"/>
                        </a:rPr>
                        <a:t>20</a:t>
                      </a:r>
                    </a:p>
                  </a:txBody>
                  <a:tcPr>
                    <a:solidFill>
                      <a:srgbClr val="F1F4F8"/>
                    </a:solidFill>
                  </a:tcPr>
                </a:tc>
              </a:tr>
              <a:tr h="520000">
                <a:tc>
                  <a:txBody>
                    <a:bodyPr/>
                    <a:lstStyle/>
                    <a:p>
                      <a:r>
                        <a:rPr sz="1400" b="0">
                          <a:solidFill>
                            <a:srgbClr val="1B2430"/>
                          </a:solidFill>
                          <a:latin typeface="Calibri"/>
                        </a:rPr>
                        <a:t>CPU</a:t>
                      </a:r>
                    </a:p>
                  </a:txBody>
                  <a:tcPr>
                    <a:solidFill>
                      <a:srgbClr val="FFFFFF"/>
                    </a:solidFill>
                  </a:tcPr>
                </a:tc>
                <a:tc>
                  <a:txBody>
                    <a:bodyPr/>
                    <a:lstStyle/>
                    <a:p>
                      <a:r>
                        <a:rPr sz="1400" b="0">
                          <a:solidFill>
                            <a:srgbClr val="1B2430"/>
                          </a:solidFill>
                          <a:latin typeface="Calibri"/>
                        </a:rPr>
                        <a:t>BASIC</a:t>
                      </a:r>
                    </a:p>
                  </a:txBody>
                  <a:tcPr>
                    <a:solidFill>
                      <a:srgbClr val="FFFFFF"/>
                    </a:solidFill>
                  </a:tcPr>
                </a:tc>
                <a:tc>
                  <a:txBody>
                    <a:bodyPr/>
                    <a:lstStyle/>
                    <a:p>
                      <a:r>
                        <a:rPr sz="1400" b="0">
                          <a:solidFill>
                            <a:srgbClr val="1B2430"/>
                          </a:solidFill>
                          <a:latin typeface="Calibri"/>
                        </a:rPr>
                        <a:t>1</a:t>
                      </a:r>
                    </a:p>
                  </a:txBody>
                  <a:tcPr>
                    <a:solidFill>
                      <a:srgbClr val="FFFFFF"/>
                    </a:solidFill>
                  </a:tcPr>
                </a:tc>
                <a:tc>
                  <a:txBody>
                    <a:bodyPr/>
                    <a:lstStyle/>
                    <a:p>
                      <a:r>
                        <a:rPr sz="1400" b="0">
                          <a:solidFill>
                            <a:srgbClr val="1B2430"/>
                          </a:solidFill>
                          <a:latin typeface="Calibri"/>
                        </a:rPr>
                        <a:t>42</a:t>
                      </a:r>
                    </a:p>
                  </a:txBody>
                  <a:tcPr>
                    <a:solidFill>
                      <a:srgbClr val="FFFFFF"/>
                    </a:solidFill>
                  </a:tcPr>
                </a:tc>
                <a:tc>
                  <a:txBody>
                    <a:bodyPr/>
                    <a:lstStyle/>
                    <a:p>
                      <a:r>
                        <a:rPr sz="1400" b="0">
                          <a:solidFill>
                            <a:srgbClr val="1B2430"/>
                          </a:solidFill>
                          <a:latin typeface="Calibri"/>
                        </a:rPr>
                        <a:t>48</a:t>
                      </a:r>
                    </a:p>
                  </a:txBody>
                  <a:tcPr>
                    <a:solidFill>
                      <a:srgbClr val="FFFFFF"/>
                    </a:solidFill>
                  </a:tcPr>
                </a:tc>
                <a:tc>
                  <a:txBody>
                    <a:bodyPr/>
                    <a:lstStyle/>
                    <a:p>
                      <a:r>
                        <a:rPr sz="1400" b="0">
                          <a:solidFill>
                            <a:srgbClr val="1B2430"/>
                          </a:solidFill>
                          <a:latin typeface="Calibri"/>
                        </a:rPr>
                        <a:t>23</a:t>
                      </a:r>
                    </a:p>
                  </a:txBody>
                  <a:tcPr>
                    <a:solidFill>
                      <a:srgbClr val="FFFFFF"/>
                    </a:solidFill>
                  </a:tcPr>
                </a:tc>
              </a:tr>
              <a:tr h="520000">
                <a:tc>
                  <a:txBody>
                    <a:bodyPr/>
                    <a:lstStyle/>
                    <a:p>
                      <a:r>
                        <a:rPr sz="1400" b="0">
                          <a:solidFill>
                            <a:srgbClr val="1B2430"/>
                          </a:solidFill>
                          <a:latin typeface="Calibri"/>
                        </a:rPr>
                        <a:t>CPU</a:t>
                      </a:r>
                    </a:p>
                  </a:txBody>
                  <a:tcPr>
                    <a:solidFill>
                      <a:srgbClr val="F1F4F8"/>
                    </a:solidFill>
                  </a:tcPr>
                </a:tc>
                <a:tc>
                  <a:txBody>
                    <a:bodyPr/>
                    <a:lstStyle/>
                    <a:p>
                      <a:r>
                        <a:rPr sz="1400" b="0">
                          <a:solidFill>
                            <a:srgbClr val="1B2430"/>
                          </a:solidFill>
                          <a:latin typeface="Calibri"/>
                        </a:rPr>
                        <a:t>EXTENDED</a:t>
                      </a:r>
                    </a:p>
                  </a:txBody>
                  <a:tcPr>
                    <a:solidFill>
                      <a:srgbClr val="F1F4F8"/>
                    </a:solidFill>
                  </a:tcPr>
                </a:tc>
                <a:tc>
                  <a:txBody>
                    <a:bodyPr/>
                    <a:lstStyle/>
                    <a:p>
                      <a:r>
                        <a:rPr sz="1400" b="0">
                          <a:solidFill>
                            <a:srgbClr val="1B2430"/>
                          </a:solidFill>
                          <a:latin typeface="Calibri"/>
                        </a:rPr>
                        <a:t>1</a:t>
                      </a:r>
                    </a:p>
                  </a:txBody>
                  <a:tcPr>
                    <a:solidFill>
                      <a:srgbClr val="F1F4F8"/>
                    </a:solidFill>
                  </a:tcPr>
                </a:tc>
                <a:tc>
                  <a:txBody>
                    <a:bodyPr/>
                    <a:lstStyle/>
                    <a:p>
                      <a:r>
                        <a:rPr sz="1400" b="0">
                          <a:solidFill>
                            <a:srgbClr val="1B2430"/>
                          </a:solidFill>
                          <a:latin typeface="Calibri"/>
                        </a:rPr>
                        <a:t>31</a:t>
                      </a:r>
                    </a:p>
                  </a:txBody>
                  <a:tcPr>
                    <a:solidFill>
                      <a:srgbClr val="F1F4F8"/>
                    </a:solidFill>
                  </a:tcPr>
                </a:tc>
                <a:tc>
                  <a:txBody>
                    <a:bodyPr/>
                    <a:lstStyle/>
                    <a:p>
                      <a:r>
                        <a:rPr sz="1400" b="0">
                          <a:solidFill>
                            <a:srgbClr val="1B2430"/>
                          </a:solidFill>
                          <a:latin typeface="Calibri"/>
                        </a:rPr>
                        <a:t>36</a:t>
                      </a:r>
                    </a:p>
                  </a:txBody>
                  <a:tcPr>
                    <a:solidFill>
                      <a:srgbClr val="F1F4F8"/>
                    </a:solidFill>
                  </a:tcPr>
                </a:tc>
                <a:tc>
                  <a:txBody>
                    <a:bodyPr/>
                    <a:lstStyle/>
                    <a:p>
                      <a:r>
                        <a:rPr sz="1400" b="0">
                          <a:solidFill>
                            <a:srgbClr val="1B2430"/>
                          </a:solidFill>
                          <a:latin typeface="Calibri"/>
                        </a:rPr>
                        <a:t>32</a:t>
                      </a:r>
                    </a:p>
                  </a:txBody>
                  <a:tcPr>
                    <a:solidFill>
                      <a:srgbClr val="F1F4F8"/>
                    </a:solidFill>
                  </a:tcPr>
                </a:tc>
              </a:tr>
              <a:tr h="520000">
                <a:tc>
                  <a:txBody>
                    <a:bodyPr/>
                    <a:lstStyle/>
                    <a:p>
                      <a:r>
                        <a:rPr sz="1400" b="0">
                          <a:solidFill>
                            <a:srgbClr val="1B2430"/>
                          </a:solidFill>
                          <a:latin typeface="Calibri"/>
                        </a:rPr>
                        <a:t>CPU</a:t>
                      </a:r>
                    </a:p>
                  </a:txBody>
                  <a:tcPr>
                    <a:solidFill>
                      <a:srgbClr val="FFFFFF"/>
                    </a:solidFill>
                  </a:tcPr>
                </a:tc>
                <a:tc>
                  <a:txBody>
                    <a:bodyPr/>
                    <a:lstStyle/>
                    <a:p>
                      <a:r>
                        <a:rPr sz="1400" b="0">
                          <a:solidFill>
                            <a:srgbClr val="1B2430"/>
                          </a:solidFill>
                          <a:latin typeface="Calibri"/>
                        </a:rPr>
                        <a:t>ALL</a:t>
                      </a:r>
                    </a:p>
                  </a:txBody>
                  <a:tcPr>
                    <a:solidFill>
                      <a:srgbClr val="FFFFFF"/>
                    </a:solidFill>
                  </a:tcPr>
                </a:tc>
                <a:tc>
                  <a:txBody>
                    <a:bodyPr/>
                    <a:lstStyle/>
                    <a:p>
                      <a:r>
                        <a:rPr sz="1400" b="0">
                          <a:solidFill>
                            <a:srgbClr val="1B2430"/>
                          </a:solidFill>
                          <a:latin typeface="Calibri"/>
                        </a:rPr>
                        <a:t>1</a:t>
                      </a:r>
                    </a:p>
                  </a:txBody>
                  <a:tcPr>
                    <a:solidFill>
                      <a:srgbClr val="FFFFFF"/>
                    </a:solidFill>
                  </a:tcPr>
                </a:tc>
                <a:tc>
                  <a:txBody>
                    <a:bodyPr/>
                    <a:lstStyle/>
                    <a:p>
                      <a:r>
                        <a:rPr sz="1400" b="0">
                          <a:solidFill>
                            <a:srgbClr val="1B2430"/>
                          </a:solidFill>
                          <a:latin typeface="Calibri"/>
                        </a:rPr>
                        <a:t>29</a:t>
                      </a:r>
                    </a:p>
                  </a:txBody>
                  <a:tcPr>
                    <a:solidFill>
                      <a:srgbClr val="FFFFFF"/>
                    </a:solidFill>
                  </a:tcPr>
                </a:tc>
                <a:tc>
                  <a:txBody>
                    <a:bodyPr/>
                    <a:lstStyle/>
                    <a:p>
                      <a:r>
                        <a:rPr sz="1400" b="0">
                          <a:solidFill>
                            <a:srgbClr val="1B2430"/>
                          </a:solidFill>
                          <a:latin typeface="Calibri"/>
                        </a:rPr>
                        <a:t>34</a:t>
                      </a:r>
                    </a:p>
                  </a:txBody>
                  <a:tcPr>
                    <a:solidFill>
                      <a:srgbClr val="FFFFFF"/>
                    </a:solidFill>
                  </a:tcPr>
                </a:tc>
                <a:tc>
                  <a:txBody>
                    <a:bodyPr/>
                    <a:lstStyle/>
                    <a:p>
                      <a:r>
                        <a:rPr sz="1400" b="0">
                          <a:solidFill>
                            <a:srgbClr val="1B2430"/>
                          </a:solidFill>
                          <a:latin typeface="Calibri"/>
                        </a:rPr>
                        <a:t>34</a:t>
                      </a:r>
                    </a:p>
                  </a:txBody>
                  <a:tcPr>
                    <a:solidFill>
                      <a:srgbClr val="FFFFFF"/>
                    </a:solidFill>
                  </a:tcPr>
                </a:tc>
              </a:tr>
              <a:tr h="520000">
                <a:tc>
                  <a:txBody>
                    <a:bodyPr/>
                    <a:lstStyle/>
                    <a:p>
                      <a:r>
                        <a:rPr sz="1400" b="0">
                          <a:solidFill>
                            <a:srgbClr val="1B2430"/>
                          </a:solidFill>
                          <a:latin typeface="Calibri"/>
                        </a:rPr>
                        <a:t>CUDA (T4)</a:t>
                      </a:r>
                    </a:p>
                  </a:txBody>
                  <a:tcPr>
                    <a:solidFill>
                      <a:srgbClr val="F1F4F8"/>
                    </a:solidFill>
                  </a:tcPr>
                </a:tc>
                <a:tc>
                  <a:txBody>
                    <a:bodyPr/>
                    <a:lstStyle/>
                    <a:p>
                      <a:r>
                        <a:rPr sz="1400" b="0">
                          <a:solidFill>
                            <a:srgbClr val="1B2430"/>
                          </a:solidFill>
                          <a:latin typeface="Calibri"/>
                        </a:rPr>
                        <a:t>ALL</a:t>
                      </a:r>
                    </a:p>
                  </a:txBody>
                  <a:tcPr>
                    <a:solidFill>
                      <a:srgbClr val="F1F4F8"/>
                    </a:solidFill>
                  </a:tcPr>
                </a:tc>
                <a:tc>
                  <a:txBody>
                    <a:bodyPr/>
                    <a:lstStyle/>
                    <a:p>
                      <a:r>
                        <a:rPr sz="1400" b="0">
                          <a:solidFill>
                            <a:srgbClr val="1B2430"/>
                          </a:solidFill>
                          <a:latin typeface="Calibri"/>
                        </a:rPr>
                        <a:t>1</a:t>
                      </a:r>
                    </a:p>
                  </a:txBody>
                  <a:tcPr>
                    <a:solidFill>
                      <a:srgbClr val="F1F4F8"/>
                    </a:solidFill>
                  </a:tcPr>
                </a:tc>
                <a:tc>
                  <a:txBody>
                    <a:bodyPr/>
                    <a:lstStyle/>
                    <a:p>
                      <a:r>
                        <a:rPr sz="1400" b="0">
                          <a:solidFill>
                            <a:srgbClr val="1B2430"/>
                          </a:solidFill>
                          <a:latin typeface="Calibri"/>
                        </a:rPr>
                        <a:t>6,5</a:t>
                      </a:r>
                    </a:p>
                  </a:txBody>
                  <a:tcPr>
                    <a:solidFill>
                      <a:srgbClr val="F1F4F8"/>
                    </a:solidFill>
                  </a:tcPr>
                </a:tc>
                <a:tc>
                  <a:txBody>
                    <a:bodyPr/>
                    <a:lstStyle/>
                    <a:p>
                      <a:r>
                        <a:rPr sz="1400" b="0">
                          <a:solidFill>
                            <a:srgbClr val="1B2430"/>
                          </a:solidFill>
                          <a:latin typeface="Calibri"/>
                        </a:rPr>
                        <a:t>7,8</a:t>
                      </a:r>
                    </a:p>
                  </a:txBody>
                  <a:tcPr>
                    <a:solidFill>
                      <a:srgbClr val="F1F4F8"/>
                    </a:solidFill>
                  </a:tcPr>
                </a:tc>
                <a:tc>
                  <a:txBody>
                    <a:bodyPr/>
                    <a:lstStyle/>
                    <a:p>
                      <a:r>
                        <a:rPr sz="1400" b="0">
                          <a:solidFill>
                            <a:srgbClr val="1B2430"/>
                          </a:solidFill>
                          <a:latin typeface="Calibri"/>
                        </a:rPr>
                        <a:t>150</a:t>
                      </a:r>
                    </a:p>
                  </a:txBody>
                  <a:tcPr>
                    <a:solidFill>
                      <a:srgbClr val="F1F4F8"/>
                    </a:solidFill>
                  </a:tcPr>
                </a:tc>
              </a:tr>
              <a:tr h="520000">
                <a:tc>
                  <a:txBody>
                    <a:bodyPr/>
                    <a:lstStyle/>
                    <a:p>
                      <a:r>
                        <a:rPr sz="1400" b="0">
                          <a:solidFill>
                            <a:srgbClr val="1B2430"/>
                          </a:solidFill>
                          <a:latin typeface="Calibri"/>
                        </a:rPr>
                        <a:t>CUDA (T4)</a:t>
                      </a:r>
                    </a:p>
                  </a:txBody>
                  <a:tcPr>
                    <a:solidFill>
                      <a:srgbClr val="FFFFFF"/>
                    </a:solidFill>
                  </a:tcPr>
                </a:tc>
                <a:tc>
                  <a:txBody>
                    <a:bodyPr/>
                    <a:lstStyle/>
                    <a:p>
                      <a:r>
                        <a:rPr sz="1400" b="0">
                          <a:solidFill>
                            <a:srgbClr val="1B2430"/>
                          </a:solidFill>
                          <a:latin typeface="Calibri"/>
                        </a:rPr>
                        <a:t>ALL</a:t>
                      </a:r>
                    </a:p>
                  </a:txBody>
                  <a:tcPr>
                    <a:solidFill>
                      <a:srgbClr val="FFFFFF"/>
                    </a:solidFill>
                  </a:tcPr>
                </a:tc>
                <a:tc>
                  <a:txBody>
                    <a:bodyPr/>
                    <a:lstStyle/>
                    <a:p>
                      <a:r>
                        <a:rPr sz="1400" b="0">
                          <a:solidFill>
                            <a:srgbClr val="1B2430"/>
                          </a:solidFill>
                          <a:latin typeface="Calibri"/>
                        </a:rPr>
                        <a:t>8</a:t>
                      </a:r>
                    </a:p>
                  </a:txBody>
                  <a:tcPr>
                    <a:solidFill>
                      <a:srgbClr val="FFFFFF"/>
                    </a:solidFill>
                  </a:tcPr>
                </a:tc>
                <a:tc>
                  <a:txBody>
                    <a:bodyPr/>
                    <a:lstStyle/>
                    <a:p>
                      <a:r>
                        <a:rPr sz="1400" b="0">
                          <a:solidFill>
                            <a:srgbClr val="1B2430"/>
                          </a:solidFill>
                          <a:latin typeface="Calibri"/>
                        </a:rPr>
                        <a:t>22</a:t>
                      </a:r>
                    </a:p>
                  </a:txBody>
                  <a:tcPr>
                    <a:solidFill>
                      <a:srgbClr val="FFFFFF"/>
                    </a:solidFill>
                  </a:tcPr>
                </a:tc>
                <a:tc>
                  <a:txBody>
                    <a:bodyPr/>
                    <a:lstStyle/>
                    <a:p>
                      <a:r>
                        <a:rPr sz="1400" b="0">
                          <a:solidFill>
                            <a:srgbClr val="1B2430"/>
                          </a:solidFill>
                          <a:latin typeface="Calibri"/>
                        </a:rPr>
                        <a:t>25</a:t>
                      </a:r>
                    </a:p>
                  </a:txBody>
                  <a:tcPr>
                    <a:solidFill>
                      <a:srgbClr val="FFFFFF"/>
                    </a:solidFill>
                  </a:tcPr>
                </a:tc>
                <a:tc>
                  <a:txBody>
                    <a:bodyPr/>
                    <a:lstStyle/>
                    <a:p>
                      <a:r>
                        <a:rPr sz="1400" b="0">
                          <a:solidFill>
                            <a:srgbClr val="1B2430"/>
                          </a:solidFill>
                          <a:latin typeface="Calibri"/>
                        </a:rPr>
                        <a:t>360</a:t>
                      </a:r>
                    </a:p>
                  </a:txBody>
                  <a:tcPr>
                    <a:solidFill>
                      <a:srgbClr val="FFFFFF"/>
                    </a:solidFill>
                  </a:tcPr>
                </a:tc>
              </a:tr>
              <a:tr h="520000">
                <a:tc>
                  <a:txBody>
                    <a:bodyPr/>
                    <a:lstStyle/>
                    <a:p>
                      <a:r>
                        <a:rPr sz="1400" b="0">
                          <a:solidFill>
                            <a:srgbClr val="1B2430"/>
                          </a:solidFill>
                          <a:latin typeface="Calibri"/>
                        </a:rPr>
                        <a:t>CUDA (T4)</a:t>
                      </a:r>
                    </a:p>
                  </a:txBody>
                  <a:tcPr>
                    <a:solidFill>
                      <a:srgbClr val="F1F4F8"/>
                    </a:solidFill>
                  </a:tcPr>
                </a:tc>
                <a:tc>
                  <a:txBody>
                    <a:bodyPr/>
                    <a:lstStyle/>
                    <a:p>
                      <a:r>
                        <a:rPr sz="1400" b="0">
                          <a:solidFill>
                            <a:srgbClr val="1B2430"/>
                          </a:solidFill>
                          <a:latin typeface="Calibri"/>
                        </a:rPr>
                        <a:t>ALL</a:t>
                      </a:r>
                    </a:p>
                  </a:txBody>
                  <a:tcPr>
                    <a:solidFill>
                      <a:srgbClr val="F1F4F8"/>
                    </a:solidFill>
                  </a:tcPr>
                </a:tc>
                <a:tc>
                  <a:txBody>
                    <a:bodyPr/>
                    <a:lstStyle/>
                    <a:p>
                      <a:r>
                        <a:rPr sz="1400" b="0">
                          <a:solidFill>
                            <a:srgbClr val="1B2430"/>
                          </a:solidFill>
                          <a:latin typeface="Calibri"/>
                        </a:rPr>
                        <a:t>32</a:t>
                      </a:r>
                    </a:p>
                  </a:txBody>
                  <a:tcPr>
                    <a:solidFill>
                      <a:srgbClr val="F1F4F8"/>
                    </a:solidFill>
                  </a:tcPr>
                </a:tc>
                <a:tc>
                  <a:txBody>
                    <a:bodyPr/>
                    <a:lstStyle/>
                    <a:p>
                      <a:r>
                        <a:rPr sz="1400" b="0">
                          <a:solidFill>
                            <a:srgbClr val="1B2430"/>
                          </a:solidFill>
                          <a:latin typeface="Calibri"/>
                        </a:rPr>
                        <a:t>78</a:t>
                      </a:r>
                    </a:p>
                  </a:txBody>
                  <a:tcPr>
                    <a:solidFill>
                      <a:srgbClr val="F1F4F8"/>
                    </a:solidFill>
                  </a:tcPr>
                </a:tc>
                <a:tc>
                  <a:txBody>
                    <a:bodyPr/>
                    <a:lstStyle/>
                    <a:p>
                      <a:r>
                        <a:rPr sz="1400" b="0">
                          <a:solidFill>
                            <a:srgbClr val="1B2430"/>
                          </a:solidFill>
                          <a:latin typeface="Calibri"/>
                        </a:rPr>
                        <a:t>84</a:t>
                      </a:r>
                    </a:p>
                  </a:txBody>
                  <a:tcPr>
                    <a:solidFill>
                      <a:srgbClr val="F1F4F8"/>
                    </a:solidFill>
                  </a:tcPr>
                </a:tc>
                <a:tc>
                  <a:txBody>
                    <a:bodyPr/>
                    <a:lstStyle/>
                    <a:p>
                      <a:r>
                        <a:rPr sz="1400" b="0">
                          <a:solidFill>
                            <a:srgbClr val="1B2430"/>
                          </a:solidFill>
                          <a:latin typeface="Calibri"/>
                        </a:rPr>
                        <a:t>410</a:t>
                      </a:r>
                    </a:p>
                  </a:txBody>
                  <a:tcPr>
                    <a:solidFill>
                      <a:srgbClr val="F1F4F8"/>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100" b="1">
                <a:solidFill>
                  <a:srgbClr val="FFFFFF"/>
                </a:solidFill>
                <a:latin typeface="Calibri"/>
              </a:rPr>
              <a:t>2-qadam. ONNX Runtime: CPU va GPU provayderlari, optimallashtirish darajalari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21</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02_ort_bench.py</a:t>
            </a:r>
          </a:p>
          <a:p>
            <a:r>
              <a:rPr sz="1000">
                <a:solidFill>
                  <a:srgbClr val="E2E8F0"/>
                </a:solidFill>
                <a:latin typeface="Consolas"/>
              </a:rPr>
              <a:t>import onnxruntime as ort, numpy as np, time, pandas as pd, sys</a:t>
            </a:r>
          </a:p>
          <a:p>
            <a:r>
              <a:rPr sz="1000">
                <a:solidFill>
                  <a:srgbClr val="E2E8F0"/>
                </a:solidFill>
                <a:latin typeface="Consolas"/>
              </a:rPr>
              <a:t> </a:t>
            </a:r>
          </a:p>
          <a:p>
            <a:r>
              <a:rPr sz="1000">
                <a:solidFill>
                  <a:srgbClr val="E2E8F0"/>
                </a:solidFill>
                <a:latin typeface="Consolas"/>
              </a:rPr>
              <a:t>def bench(path, provider, opt_level, batch=1, takror=100):</a:t>
            </a:r>
          </a:p>
          <a:p>
            <a:r>
              <a:rPr sz="1000">
                <a:solidFill>
                  <a:srgbClr val="E2E8F0"/>
                </a:solidFill>
                <a:latin typeface="Consolas"/>
              </a:rPr>
              <a:t>    so = ort.SessionOptions()</a:t>
            </a:r>
          </a:p>
          <a:p>
            <a:r>
              <a:rPr sz="1000">
                <a:solidFill>
                  <a:srgbClr val="E2E8F0"/>
                </a:solidFill>
                <a:latin typeface="Consolas"/>
              </a:rPr>
              <a:t>    so.graph_optimization_level = opt_level</a:t>
            </a:r>
          </a:p>
          <a:p>
            <a:r>
              <a:rPr sz="1000">
                <a:solidFill>
                  <a:srgbClr val="E2E8F0"/>
                </a:solidFill>
                <a:latin typeface="Consolas"/>
              </a:rPr>
              <a:t>    so.intra_op_num_threads = 8</a:t>
            </a:r>
          </a:p>
          <a:p>
            <a:r>
              <a:rPr sz="1000">
                <a:solidFill>
                  <a:srgbClr val="E2E8F0"/>
                </a:solidFill>
                <a:latin typeface="Consolas"/>
              </a:rPr>
              <a:t>    sess = ort.InferenceSession(path, so, providers=[provider])</a:t>
            </a:r>
          </a:p>
          <a:p>
            <a:r>
              <a:rPr sz="1000">
                <a:solidFill>
                  <a:srgbClr val="E2E8F0"/>
                </a:solidFill>
                <a:latin typeface="Consolas"/>
              </a:rPr>
              <a:t>    x = np.random.rand(batch, 3, 224, 224).astype(np.float32)</a:t>
            </a:r>
          </a:p>
          <a:p>
            <a:r>
              <a:rPr sz="1000">
                <a:solidFill>
                  <a:srgbClr val="E2E8F0"/>
                </a:solidFill>
                <a:latin typeface="Consolas"/>
              </a:rPr>
              <a:t>    for _ in range(10): sess.run(None, {"input": x})</a:t>
            </a:r>
          </a:p>
          <a:p>
            <a:r>
              <a:rPr sz="1000">
                <a:solidFill>
                  <a:srgbClr val="E2E8F0"/>
                </a:solidFill>
                <a:latin typeface="Consolas"/>
              </a:rPr>
              <a:t>    t = []</a:t>
            </a:r>
          </a:p>
          <a:p>
            <a:r>
              <a:rPr sz="1000">
                <a:solidFill>
                  <a:srgbClr val="E2E8F0"/>
                </a:solidFill>
                <a:latin typeface="Consolas"/>
              </a:rPr>
              <a:t>    for _ in range(takror):</a:t>
            </a:r>
          </a:p>
          <a:p>
            <a:r>
              <a:rPr sz="1000">
                <a:solidFill>
                  <a:srgbClr val="E2E8F0"/>
                </a:solidFill>
                <a:latin typeface="Consolas"/>
              </a:rPr>
              <a:t>        t0 = time.perf_counter(); sess.run(None, {"input": x}); t.append(time.perf_counter() - t0)</a:t>
            </a:r>
          </a:p>
          <a:p>
            <a:r>
              <a:rPr sz="1000">
                <a:solidFill>
                  <a:srgbClr val="E2E8F0"/>
                </a:solidFill>
                <a:latin typeface="Consolas"/>
              </a:rPr>
              <a:t>    t = np.array(t) * 1e3</a:t>
            </a:r>
          </a:p>
          <a:p>
            <a:r>
              <a:rPr sz="1000">
                <a:solidFill>
                  <a:srgbClr val="E2E8F0"/>
                </a:solidFill>
                <a:latin typeface="Consolas"/>
              </a:rPr>
              <a:t>    return dict(fayl=path, provider=provider.replace("ExecutionProvider",""), opt=str(opt_level).split(".")[-1],</a:t>
            </a:r>
          </a:p>
          <a:p>
            <a:r>
              <a:rPr sz="1000">
                <a:solidFill>
                  <a:srgbClr val="E2E8F0"/>
                </a:solidFill>
                <a:latin typeface="Consolas"/>
              </a:rPr>
              <a:t>                batch=batch, p50_ms=round(np.percentile(t,50),2), p95_ms=round(np.percentile(t,95),2),</a:t>
            </a:r>
          </a:p>
          <a:p>
            <a:r>
              <a:rPr sz="1000">
                <a:solidFill>
                  <a:srgbClr val="E2E8F0"/>
                </a:solidFill>
                <a:latin typeface="Consolas"/>
              </a:rPr>
              <a:t>                throughput=round(batch / (np.mean(t)/1e3), 1))</a:t>
            </a:r>
          </a:p>
          <a:p>
            <a:r>
              <a:rPr sz="1000">
                <a:solidFill>
                  <a:srgbClr val="E2E8F0"/>
                </a:solidFill>
                <a:latin typeface="Consolas"/>
              </a:rPr>
              <a:t> </a:t>
            </a:r>
          </a:p>
          <a:p>
            <a:r>
              <a:rPr sz="1000">
                <a:solidFill>
                  <a:srgbClr val="E2E8F0"/>
                </a:solidFill>
                <a:latin typeface="Consolas"/>
              </a:rPr>
              <a:t>L = ort.GraphOptimizationLevel</a:t>
            </a:r>
          </a:p>
          <a:p>
            <a:r>
              <a:rPr sz="1000">
                <a:solidFill>
                  <a:srgbClr val="E2E8F0"/>
                </a:solidFill>
                <a:latin typeface="Consolas"/>
              </a:rPr>
              <a:t>qatorlar = []</a:t>
            </a:r>
          </a:p>
          <a:p>
            <a:r>
              <a:rPr sz="1000">
                <a:solidFill>
                  <a:srgbClr val="7FD6D7"/>
                </a:solidFill>
                <a:latin typeface="Consolas"/>
              </a:rPr>
              <a:t># … (to‘liq kod — mavzu matnida / GitHub’da)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3-qadam. INT8 kvantlash ONNX Runtime'da (dinamik va statik)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22</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03_quantize.py</a:t>
            </a:r>
          </a:p>
          <a:p>
            <a:r>
              <a:rPr sz="1000">
                <a:solidFill>
                  <a:srgbClr val="E2E8F0"/>
                </a:solidFill>
                <a:latin typeface="Consolas"/>
              </a:rPr>
              <a:t>import numpy as np, onnx, glob</a:t>
            </a:r>
          </a:p>
          <a:p>
            <a:r>
              <a:rPr sz="1000">
                <a:solidFill>
                  <a:srgbClr val="E2E8F0"/>
                </a:solidFill>
                <a:latin typeface="Consolas"/>
              </a:rPr>
              <a:t>from PIL import Image</a:t>
            </a:r>
          </a:p>
          <a:p>
            <a:r>
              <a:rPr sz="1000">
                <a:solidFill>
                  <a:srgbClr val="E2E8F0"/>
                </a:solidFill>
                <a:latin typeface="Consolas"/>
              </a:rPr>
              <a:t>from onnxruntime.quantization import (quantize_dynamic, quantize_static, QuantType, QuantFormat,</a:t>
            </a:r>
          </a:p>
          <a:p>
            <a:r>
              <a:rPr sz="1000">
                <a:solidFill>
                  <a:srgbClr val="E2E8F0"/>
                </a:solidFill>
                <a:latin typeface="Consolas"/>
              </a:rPr>
              <a:t>                                      CalibrationDataReader, CalibrationMethod)</a:t>
            </a:r>
          </a:p>
          <a:p>
            <a:r>
              <a:rPr sz="1000">
                <a:solidFill>
                  <a:srgbClr val="E2E8F0"/>
                </a:solidFill>
                <a:latin typeface="Consolas"/>
              </a:rPr>
              <a:t>from onnxruntime.quantization.preprocess import quant_pre_process</a:t>
            </a:r>
          </a:p>
          <a:p>
            <a:r>
              <a:rPr sz="1000">
                <a:solidFill>
                  <a:srgbClr val="E2E8F0"/>
                </a:solidFill>
                <a:latin typeface="Consolas"/>
              </a:rPr>
              <a:t> </a:t>
            </a:r>
          </a:p>
          <a:p>
            <a:r>
              <a:rPr sz="1000">
                <a:solidFill>
                  <a:srgbClr val="7FD6D7"/>
                </a:solidFill>
                <a:latin typeface="Consolas"/>
              </a:rPr>
              <a:t># 3a. Oldindan ishlov: shakl inferensi + optimallashtirish (kvantlash sifati uchun tavsiya)</a:t>
            </a:r>
          </a:p>
          <a:p>
            <a:r>
              <a:rPr sz="1000">
                <a:solidFill>
                  <a:srgbClr val="E2E8F0"/>
                </a:solidFill>
                <a:latin typeface="Consolas"/>
              </a:rPr>
              <a:t>quant_pre_process("resnet50_fp32.onnx", "resnet50_prep.onnx")</a:t>
            </a:r>
          </a:p>
          <a:p>
            <a:r>
              <a:rPr sz="1000">
                <a:solidFill>
                  <a:srgbClr val="E2E8F0"/>
                </a:solidFill>
                <a:latin typeface="Consolas"/>
              </a:rPr>
              <a:t> </a:t>
            </a:r>
          </a:p>
          <a:p>
            <a:r>
              <a:rPr sz="1000">
                <a:solidFill>
                  <a:srgbClr val="7FD6D7"/>
                </a:solidFill>
                <a:latin typeface="Consolas"/>
              </a:rPr>
              <a:t># 3b. Dinamik kvantlash — kalibrlashsiz, faqat vaznlar</a:t>
            </a:r>
          </a:p>
          <a:p>
            <a:r>
              <a:rPr sz="1000">
                <a:solidFill>
                  <a:srgbClr val="E2E8F0"/>
                </a:solidFill>
                <a:latin typeface="Consolas"/>
              </a:rPr>
              <a:t>quantize_dynamic("resnet50_prep.onnx", "resnet50_dyn.onnx", weight_type=QuantType.QInt8)</a:t>
            </a:r>
          </a:p>
          <a:p>
            <a:r>
              <a:rPr sz="1000">
                <a:solidFill>
                  <a:srgbClr val="E2E8F0"/>
                </a:solidFill>
                <a:latin typeface="Consolas"/>
              </a:rPr>
              <a:t> </a:t>
            </a:r>
          </a:p>
          <a:p>
            <a:r>
              <a:rPr sz="1000">
                <a:solidFill>
                  <a:srgbClr val="7FD6D7"/>
                </a:solidFill>
                <a:latin typeface="Consolas"/>
              </a:rPr>
              <a:t># 3c. Statik kvantlash — kalibrlash to'plami bilan</a:t>
            </a:r>
          </a:p>
          <a:p>
            <a:r>
              <a:rPr sz="1000">
                <a:solidFill>
                  <a:srgbClr val="E2E8F0"/>
                </a:solidFill>
                <a:latin typeface="Consolas"/>
              </a:rPr>
              <a:t>MEAN = np.array([0.485, 0.456, 0.406], dtype=np.float32)[:, None, None]</a:t>
            </a:r>
          </a:p>
          <a:p>
            <a:r>
              <a:rPr sz="1000">
                <a:solidFill>
                  <a:srgbClr val="E2E8F0"/>
                </a:solidFill>
                <a:latin typeface="Consolas"/>
              </a:rPr>
              <a:t>STD  = np.array([0.229, 0.224, 0.225], dtype=np.float32)[:, None, None]</a:t>
            </a:r>
          </a:p>
          <a:p>
            <a:r>
              <a:rPr sz="1000">
                <a:solidFill>
                  <a:srgbClr val="E2E8F0"/>
                </a:solidFill>
                <a:latin typeface="Consolas"/>
              </a:rPr>
              <a:t>def preprocess(path):</a:t>
            </a:r>
          </a:p>
          <a:p>
            <a:r>
              <a:rPr sz="1000">
                <a:solidFill>
                  <a:srgbClr val="E2E8F0"/>
                </a:solidFill>
                <a:latin typeface="Consolas"/>
              </a:rPr>
              <a:t>    img = Image.open(path).convert("RGB").resize((256, 256)).crop((16, 16, 240, 240))</a:t>
            </a:r>
          </a:p>
          <a:p>
            <a:r>
              <a:rPr sz="1000">
                <a:solidFill>
                  <a:srgbClr val="E2E8F0"/>
                </a:solidFill>
                <a:latin typeface="Consolas"/>
              </a:rPr>
              <a:t>    a = np.asarray(img, dtype=np.float32).transpose(2, 0, 1) / 255.0</a:t>
            </a:r>
          </a:p>
          <a:p>
            <a:r>
              <a:rPr sz="1000">
                <a:solidFill>
                  <a:srgbClr val="E2E8F0"/>
                </a:solidFill>
                <a:latin typeface="Consolas"/>
              </a:rPr>
              <a:t>    return ((a - MEAN) / STD)[None]</a:t>
            </a:r>
          </a:p>
          <a:p>
            <a:r>
              <a:rPr sz="1000">
                <a:solidFill>
                  <a:srgbClr val="7FD6D7"/>
                </a:solidFill>
                <a:latin typeface="Consolas"/>
              </a:rPr>
              <a:t># … (to‘liq kod — mavzu matnida / GitHub’da)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4-qadam. Aniqlikni o'lchash (barcha variantlar uchun umumiy skript)</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23</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Kutilgan natija (ImageNet val 1000 tasvir, taxminiy):</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Dinamik kvantlash ResNet-50 da deyarli tezlanish bermadi, chunki konvolyutsiyalar faollashuvlarni har safar ish vaqtida kvantlash xarajati bilan ishlaydi — dinamik usul Transformer/LSTM kabi MatMul og'ir modellar uchun. Statik INT8 esa…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4-qadam. Aniqlikni o'lchash (barcha variantlar uchun umumiy skript)</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24</a:t>
            </a:r>
          </a:p>
        </p:txBody>
      </p:sp>
      <p:graphicFrame>
        <p:nvGraphicFramePr>
          <p:cNvPr id="10" name="Table 9"/>
          <p:cNvGraphicFramePr>
            <a:graphicFrameLocks noGrp="1"/>
          </p:cNvGraphicFramePr>
          <p:nvPr/>
        </p:nvGraphicFramePr>
        <p:xfrm>
          <a:off x="500000" y="1350000"/>
          <a:ext cx="11200000" cy="2600000"/>
        </p:xfrm>
        <a:graphic>
          <a:graphicData uri="http://schemas.openxmlformats.org/drawingml/2006/table">
            <a:tbl>
              <a:tblPr firstRow="1" bandRow="1">
                <a:tableStyleId>{5C22544A-7EE6-4342-B048-85BDC9FD1C3A}</a:tableStyleId>
              </a:tblPr>
              <a:tblGrid>
                <a:gridCol w="2240000"/>
                <a:gridCol w="2240000"/>
                <a:gridCol w="2240000"/>
                <a:gridCol w="2240000"/>
                <a:gridCol w="2240000"/>
              </a:tblGrid>
              <a:tr h="520000">
                <a:tc>
                  <a:txBody>
                    <a:bodyPr/>
                    <a:lstStyle/>
                    <a:p>
                      <a:r>
                        <a:rPr sz="1400" b="1">
                          <a:solidFill>
                            <a:srgbClr val="FFFFFF"/>
                          </a:solidFill>
                          <a:latin typeface="Calibri"/>
                        </a:rPr>
                        <a:t>Model</a:t>
                      </a:r>
                    </a:p>
                  </a:txBody>
                  <a:tcPr>
                    <a:solidFill>
                      <a:srgbClr val="2D5C8F"/>
                    </a:solidFill>
                  </a:tcPr>
                </a:tc>
                <a:tc>
                  <a:txBody>
                    <a:bodyPr/>
                    <a:lstStyle/>
                    <a:p>
                      <a:r>
                        <a:rPr sz="1400" b="1">
                          <a:solidFill>
                            <a:srgbClr val="FFFFFF"/>
                          </a:solidFill>
                          <a:latin typeface="Calibri"/>
                        </a:rPr>
                        <a:t>Hajm, MB</a:t>
                      </a:r>
                    </a:p>
                  </a:txBody>
                  <a:tcPr>
                    <a:solidFill>
                      <a:srgbClr val="2D5C8F"/>
                    </a:solidFill>
                  </a:tcPr>
                </a:tc>
                <a:tc>
                  <a:txBody>
                    <a:bodyPr/>
                    <a:lstStyle/>
                    <a:p>
                      <a:r>
                        <a:rPr sz="1400" b="1">
                          <a:solidFill>
                            <a:srgbClr val="FFFFFF"/>
                          </a:solidFill>
                          <a:latin typeface="Calibri"/>
                        </a:rPr>
                        <a:t>CPU p50, ms (batch 1)</a:t>
                      </a:r>
                    </a:p>
                  </a:txBody>
                  <a:tcPr>
                    <a:solidFill>
                      <a:srgbClr val="2D5C8F"/>
                    </a:solidFill>
                  </a:tcPr>
                </a:tc>
                <a:tc>
                  <a:txBody>
                    <a:bodyPr/>
                    <a:lstStyle/>
                    <a:p>
                      <a:r>
                        <a:rPr sz="1400" b="1">
                          <a:solidFill>
                            <a:srgbClr val="FFFFFF"/>
                          </a:solidFill>
                          <a:latin typeface="Calibri"/>
                        </a:rPr>
                        <a:t>Top-1, %</a:t>
                      </a:r>
                    </a:p>
                  </a:txBody>
                  <a:tcPr>
                    <a:solidFill>
                      <a:srgbClr val="2D5C8F"/>
                    </a:solidFill>
                  </a:tcPr>
                </a:tc>
                <a:tc>
                  <a:txBody>
                    <a:bodyPr/>
                    <a:lstStyle/>
                    <a:p>
                      <a:r>
                        <a:rPr sz="1400" b="1">
                          <a:solidFill>
                            <a:srgbClr val="FFFFFF"/>
                          </a:solidFill>
                          <a:latin typeface="Calibri"/>
                        </a:rPr>
                        <a:t>Aniqlik farqi</a:t>
                      </a:r>
                    </a:p>
                  </a:txBody>
                  <a:tcPr>
                    <a:solidFill>
                      <a:srgbClr val="2D5C8F"/>
                    </a:solidFill>
                  </a:tcPr>
                </a:tc>
              </a:tr>
              <a:tr h="520000">
                <a:tc>
                  <a:txBody>
                    <a:bodyPr/>
                    <a:lstStyle/>
                    <a:p>
                      <a:r>
                        <a:rPr sz="1400" b="0">
                          <a:solidFill>
                            <a:srgbClr val="1B2430"/>
                          </a:solidFill>
                          <a:latin typeface="Calibri"/>
                        </a:rPr>
                        <a:t>FP32 (ORT ALL)</a:t>
                      </a:r>
                    </a:p>
                  </a:txBody>
                  <a:tcPr>
                    <a:solidFill>
                      <a:srgbClr val="F1F4F8"/>
                    </a:solidFill>
                  </a:tcPr>
                </a:tc>
                <a:tc>
                  <a:txBody>
                    <a:bodyPr/>
                    <a:lstStyle/>
                    <a:p>
                      <a:r>
                        <a:rPr sz="1400" b="0">
                          <a:solidFill>
                            <a:srgbClr val="1B2430"/>
                          </a:solidFill>
                          <a:latin typeface="Calibri"/>
                        </a:rPr>
                        <a:t>98</a:t>
                      </a:r>
                    </a:p>
                  </a:txBody>
                  <a:tcPr>
                    <a:solidFill>
                      <a:srgbClr val="F1F4F8"/>
                    </a:solidFill>
                  </a:tcPr>
                </a:tc>
                <a:tc>
                  <a:txBody>
                    <a:bodyPr/>
                    <a:lstStyle/>
                    <a:p>
                      <a:r>
                        <a:rPr sz="1400" b="0">
                          <a:solidFill>
                            <a:srgbClr val="1B2430"/>
                          </a:solidFill>
                          <a:latin typeface="Calibri"/>
                        </a:rPr>
                        <a:t>29</a:t>
                      </a:r>
                    </a:p>
                  </a:txBody>
                  <a:tcPr>
                    <a:solidFill>
                      <a:srgbClr val="F1F4F8"/>
                    </a:solidFill>
                  </a:tcPr>
                </a:tc>
                <a:tc>
                  <a:txBody>
                    <a:bodyPr/>
                    <a:lstStyle/>
                    <a:p>
                      <a:r>
                        <a:rPr sz="1400" b="0">
                          <a:solidFill>
                            <a:srgbClr val="1B2430"/>
                          </a:solidFill>
                          <a:latin typeface="Calibri"/>
                        </a:rPr>
                        <a:t>80,3</a:t>
                      </a:r>
                    </a:p>
                  </a:txBody>
                  <a:tcPr>
                    <a:solidFill>
                      <a:srgbClr val="F1F4F8"/>
                    </a:solidFill>
                  </a:tcPr>
                </a:tc>
                <a:tc>
                  <a:txBody>
                    <a:bodyPr/>
                    <a:lstStyle/>
                    <a:p>
                      <a:r>
                        <a:rPr sz="1400" b="0">
                          <a:solidFill>
                            <a:srgbClr val="1B2430"/>
                          </a:solidFill>
                          <a:latin typeface="Calibri"/>
                        </a:rPr>
                        <a:t>—</a:t>
                      </a:r>
                    </a:p>
                  </a:txBody>
                  <a:tcPr>
                    <a:solidFill>
                      <a:srgbClr val="F1F4F8"/>
                    </a:solidFill>
                  </a:tcPr>
                </a:tc>
              </a:tr>
              <a:tr h="520000">
                <a:tc>
                  <a:txBody>
                    <a:bodyPr/>
                    <a:lstStyle/>
                    <a:p>
                      <a:r>
                        <a:rPr sz="1400" b="0">
                          <a:solidFill>
                            <a:srgbClr val="1B2430"/>
                          </a:solidFill>
                          <a:latin typeface="Calibri"/>
                        </a:rPr>
                        <a:t>Dinamik INT8</a:t>
                      </a:r>
                    </a:p>
                  </a:txBody>
                  <a:tcPr>
                    <a:solidFill>
                      <a:srgbClr val="FFFFFF"/>
                    </a:solidFill>
                  </a:tcPr>
                </a:tc>
                <a:tc>
                  <a:txBody>
                    <a:bodyPr/>
                    <a:lstStyle/>
                    <a:p>
                      <a:r>
                        <a:rPr sz="1400" b="0">
                          <a:solidFill>
                            <a:srgbClr val="1B2430"/>
                          </a:solidFill>
                          <a:latin typeface="Calibri"/>
                        </a:rPr>
                        <a:t>25</a:t>
                      </a:r>
                    </a:p>
                  </a:txBody>
                  <a:tcPr>
                    <a:solidFill>
                      <a:srgbClr val="FFFFFF"/>
                    </a:solidFill>
                  </a:tcPr>
                </a:tc>
                <a:tc>
                  <a:txBody>
                    <a:bodyPr/>
                    <a:lstStyle/>
                    <a:p>
                      <a:r>
                        <a:rPr sz="1400" b="0">
                          <a:solidFill>
                            <a:srgbClr val="1B2430"/>
                          </a:solidFill>
                          <a:latin typeface="Calibri"/>
                        </a:rPr>
                        <a:t>27</a:t>
                      </a:r>
                    </a:p>
                  </a:txBody>
                  <a:tcPr>
                    <a:solidFill>
                      <a:srgbClr val="FFFFFF"/>
                    </a:solidFill>
                  </a:tcPr>
                </a:tc>
                <a:tc>
                  <a:txBody>
                    <a:bodyPr/>
                    <a:lstStyle/>
                    <a:p>
                      <a:r>
                        <a:rPr sz="1400" b="0">
                          <a:solidFill>
                            <a:srgbClr val="1B2430"/>
                          </a:solidFill>
                          <a:latin typeface="Calibri"/>
                        </a:rPr>
                        <a:t>80,1</a:t>
                      </a:r>
                    </a:p>
                  </a:txBody>
                  <a:tcPr>
                    <a:solidFill>
                      <a:srgbClr val="FFFFFF"/>
                    </a:solidFill>
                  </a:tcPr>
                </a:tc>
                <a:tc>
                  <a:txBody>
                    <a:bodyPr/>
                    <a:lstStyle/>
                    <a:p>
                      <a:r>
                        <a:rPr sz="1400" b="0">
                          <a:solidFill>
                            <a:srgbClr val="1B2430"/>
                          </a:solidFill>
                          <a:latin typeface="Calibri"/>
                        </a:rPr>
                        <a:t>−0,2 p.p.</a:t>
                      </a:r>
                    </a:p>
                  </a:txBody>
                  <a:tcPr>
                    <a:solidFill>
                      <a:srgbClr val="FFFFFF"/>
                    </a:solidFill>
                  </a:tcPr>
                </a:tc>
              </a:tr>
              <a:tr h="520000">
                <a:tc>
                  <a:txBody>
                    <a:bodyPr/>
                    <a:lstStyle/>
                    <a:p>
                      <a:r>
                        <a:rPr sz="1400" b="0">
                          <a:solidFill>
                            <a:srgbClr val="1B2430"/>
                          </a:solidFill>
                          <a:latin typeface="Calibri"/>
                        </a:rPr>
                        <a:t>Statik INT8, per-channel, Percentile</a:t>
                      </a:r>
                    </a:p>
                  </a:txBody>
                  <a:tcPr>
                    <a:solidFill>
                      <a:srgbClr val="F1F4F8"/>
                    </a:solidFill>
                  </a:tcPr>
                </a:tc>
                <a:tc>
                  <a:txBody>
                    <a:bodyPr/>
                    <a:lstStyle/>
                    <a:p>
                      <a:r>
                        <a:rPr sz="1400" b="0">
                          <a:solidFill>
                            <a:srgbClr val="1B2430"/>
                          </a:solidFill>
                          <a:latin typeface="Calibri"/>
                        </a:rPr>
                        <a:t>25</a:t>
                      </a:r>
                    </a:p>
                  </a:txBody>
                  <a:tcPr>
                    <a:solidFill>
                      <a:srgbClr val="F1F4F8"/>
                    </a:solidFill>
                  </a:tcPr>
                </a:tc>
                <a:tc>
                  <a:txBody>
                    <a:bodyPr/>
                    <a:lstStyle/>
                    <a:p>
                      <a:r>
                        <a:rPr sz="1400" b="0">
                          <a:solidFill>
                            <a:srgbClr val="1B2430"/>
                          </a:solidFill>
                          <a:latin typeface="Calibri"/>
                        </a:rPr>
                        <a:t>11 (VNNI bilan), 18 (VNNI'siz)</a:t>
                      </a:r>
                    </a:p>
                  </a:txBody>
                  <a:tcPr>
                    <a:solidFill>
                      <a:srgbClr val="F1F4F8"/>
                    </a:solidFill>
                  </a:tcPr>
                </a:tc>
                <a:tc>
                  <a:txBody>
                    <a:bodyPr/>
                    <a:lstStyle/>
                    <a:p>
                      <a:r>
                        <a:rPr sz="1400" b="0">
                          <a:solidFill>
                            <a:srgbClr val="1B2430"/>
                          </a:solidFill>
                          <a:latin typeface="Calibri"/>
                        </a:rPr>
                        <a:t>79,6</a:t>
                      </a:r>
                    </a:p>
                  </a:txBody>
                  <a:tcPr>
                    <a:solidFill>
                      <a:srgbClr val="F1F4F8"/>
                    </a:solidFill>
                  </a:tcPr>
                </a:tc>
                <a:tc>
                  <a:txBody>
                    <a:bodyPr/>
                    <a:lstStyle/>
                    <a:p>
                      <a:r>
                        <a:rPr sz="1400" b="0">
                          <a:solidFill>
                            <a:srgbClr val="1B2430"/>
                          </a:solidFill>
                          <a:latin typeface="Calibri"/>
                        </a:rPr>
                        <a:t>−0,7 p.p.</a:t>
                      </a:r>
                    </a:p>
                  </a:txBody>
                  <a:tcPr>
                    <a:solidFill>
                      <a:srgbClr val="F1F4F8"/>
                    </a:solidFill>
                  </a:tcPr>
                </a:tc>
              </a:tr>
              <a:tr h="520000">
                <a:tc>
                  <a:txBody>
                    <a:bodyPr/>
                    <a:lstStyle/>
                    <a:p>
                      <a:r>
                        <a:rPr sz="1400" b="0">
                          <a:solidFill>
                            <a:srgbClr val="1B2430"/>
                          </a:solidFill>
                          <a:latin typeface="Calibri"/>
                        </a:rPr>
                        <a:t>Statik INT8, per-tensor, MinMax</a:t>
                      </a:r>
                    </a:p>
                  </a:txBody>
                  <a:tcPr>
                    <a:solidFill>
                      <a:srgbClr val="FFFFFF"/>
                    </a:solidFill>
                  </a:tcPr>
                </a:tc>
                <a:tc>
                  <a:txBody>
                    <a:bodyPr/>
                    <a:lstStyle/>
                    <a:p>
                      <a:r>
                        <a:rPr sz="1400" b="0">
                          <a:solidFill>
                            <a:srgbClr val="1B2430"/>
                          </a:solidFill>
                          <a:latin typeface="Calibri"/>
                        </a:rPr>
                        <a:t>25</a:t>
                      </a:r>
                    </a:p>
                  </a:txBody>
                  <a:tcPr>
                    <a:solidFill>
                      <a:srgbClr val="FFFFFF"/>
                    </a:solidFill>
                  </a:tcPr>
                </a:tc>
                <a:tc>
                  <a:txBody>
                    <a:bodyPr/>
                    <a:lstStyle/>
                    <a:p>
                      <a:r>
                        <a:rPr sz="1400" b="0">
                          <a:solidFill>
                            <a:srgbClr val="1B2430"/>
                          </a:solidFill>
                          <a:latin typeface="Calibri"/>
                        </a:rPr>
                        <a:t>11</a:t>
                      </a:r>
                    </a:p>
                  </a:txBody>
                  <a:tcPr>
                    <a:solidFill>
                      <a:srgbClr val="FFFFFF"/>
                    </a:solidFill>
                  </a:tcPr>
                </a:tc>
                <a:tc>
                  <a:txBody>
                    <a:bodyPr/>
                    <a:lstStyle/>
                    <a:p>
                      <a:r>
                        <a:rPr sz="1400" b="0">
                          <a:solidFill>
                            <a:srgbClr val="1B2430"/>
                          </a:solidFill>
                          <a:latin typeface="Calibri"/>
                        </a:rPr>
                        <a:t>77,8</a:t>
                      </a:r>
                    </a:p>
                  </a:txBody>
                  <a:tcPr>
                    <a:solidFill>
                      <a:srgbClr val="FFFFFF"/>
                    </a:solidFill>
                  </a:tcPr>
                </a:tc>
                <a:tc>
                  <a:txBody>
                    <a:bodyPr/>
                    <a:lstStyle/>
                    <a:p>
                      <a:r>
                        <a:rPr sz="1400" b="0">
                          <a:solidFill>
                            <a:srgbClr val="1B2430"/>
                          </a:solidFill>
                          <a:latin typeface="Calibri"/>
                        </a:rPr>
                        <a:t>−2,5 p.p.</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100" b="1">
                <a:solidFill>
                  <a:srgbClr val="FFFFFF"/>
                </a:solidFill>
                <a:latin typeface="Calibri"/>
              </a:rPr>
              <a:t>4-qadam. Aniqlikni o'lchash (barcha variantlar uchun umumiy skript)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25</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04_accuracy.py — Imagenette/ImageNet val kichik to'plamida top-1 aniqlik</a:t>
            </a:r>
          </a:p>
          <a:p>
            <a:r>
              <a:rPr sz="1000">
                <a:solidFill>
                  <a:srgbClr val="E2E8F0"/>
                </a:solidFill>
                <a:latin typeface="Consolas"/>
              </a:rPr>
              <a:t>import onnxruntime as ort, numpy as np, glob, json, sys</a:t>
            </a:r>
          </a:p>
          <a:p>
            <a:r>
              <a:rPr sz="1000">
                <a:solidFill>
                  <a:srgbClr val="E2E8F0"/>
                </a:solidFill>
                <a:latin typeface="Consolas"/>
              </a:rPr>
              <a:t>from PIL import Image</a:t>
            </a:r>
          </a:p>
          <a:p>
            <a:r>
              <a:rPr sz="1000">
                <a:solidFill>
                  <a:srgbClr val="E2E8F0"/>
                </a:solidFill>
                <a:latin typeface="Consolas"/>
              </a:rPr>
              <a:t>from preprocess_utils import preprocess           # 3-qadamdagi preprocess() ni shu nomli modulga ko'chiring</a:t>
            </a:r>
          </a:p>
          <a:p>
            <a:r>
              <a:rPr sz="1000">
                <a:solidFill>
                  <a:srgbClr val="E2E8F0"/>
                </a:solidFill>
                <a:latin typeface="Consolas"/>
              </a:rPr>
              <a:t>labels = json.load(open("val_labels.json"))      # {fayl_nomi: sinf_indeksi}</a:t>
            </a:r>
          </a:p>
          <a:p>
            <a:r>
              <a:rPr sz="1000">
                <a:solidFill>
                  <a:srgbClr val="E2E8F0"/>
                </a:solidFill>
                <a:latin typeface="Consolas"/>
              </a:rPr>
              <a:t>def top1(path, provider="CPUExecutionProvider", n=1000):</a:t>
            </a:r>
          </a:p>
          <a:p>
            <a:r>
              <a:rPr sz="1000">
                <a:solidFill>
                  <a:srgbClr val="E2E8F0"/>
                </a:solidFill>
                <a:latin typeface="Consolas"/>
              </a:rPr>
              <a:t>    sess = ort.InferenceSession(path, providers=[provider])</a:t>
            </a:r>
          </a:p>
          <a:p>
            <a:r>
              <a:rPr sz="1000">
                <a:solidFill>
                  <a:srgbClr val="E2E8F0"/>
                </a:solidFill>
                <a:latin typeface="Consolas"/>
              </a:rPr>
              <a:t>    togri = 0; files = sorted(labels)[:n]</a:t>
            </a:r>
          </a:p>
          <a:p>
            <a:r>
              <a:rPr sz="1000">
                <a:solidFill>
                  <a:srgbClr val="E2E8F0"/>
                </a:solidFill>
                <a:latin typeface="Consolas"/>
              </a:rPr>
              <a:t>    for f in files:</a:t>
            </a:r>
          </a:p>
          <a:p>
            <a:r>
              <a:rPr sz="1000">
                <a:solidFill>
                  <a:srgbClr val="E2E8F0"/>
                </a:solidFill>
                <a:latin typeface="Consolas"/>
              </a:rPr>
              <a:t>        out = sess.run(None, {"input": preprocess(f"val/{f}")})[0]</a:t>
            </a:r>
          </a:p>
          <a:p>
            <a:r>
              <a:rPr sz="1000">
                <a:solidFill>
                  <a:srgbClr val="E2E8F0"/>
                </a:solidFill>
                <a:latin typeface="Consolas"/>
              </a:rPr>
              <a:t>        togri += int(out.argmax() == labels[f])</a:t>
            </a:r>
          </a:p>
          <a:p>
            <a:r>
              <a:rPr sz="1000">
                <a:solidFill>
                  <a:srgbClr val="E2E8F0"/>
                </a:solidFill>
                <a:latin typeface="Consolas"/>
              </a:rPr>
              <a:t>    return togri / len(files)</a:t>
            </a:r>
          </a:p>
          <a:p>
            <a:r>
              <a:rPr sz="1000">
                <a:solidFill>
                  <a:srgbClr val="E2E8F0"/>
                </a:solidFill>
                <a:latin typeface="Consolas"/>
              </a:rPr>
              <a:t>for p in sys.argv[1:]:</a:t>
            </a:r>
          </a:p>
          <a:p>
            <a:r>
              <a:rPr sz="1000">
                <a:solidFill>
                  <a:srgbClr val="E2E8F0"/>
                </a:solidFill>
                <a:latin typeface="Consolas"/>
              </a:rPr>
              <a:t>    print(f"{p}: top-1 = {top1(p)*100:.2f}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5-qadam (GPU bo'lsa). TensorRT: FP32 / FP16 / INT8 dvigatellar</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26</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Kutilgan natija (NVIDIA T4, batch 8, taxminiy; bo'sh quvvat ~25 Vt):</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TensorRT FP32 ONNX Runtime CUDA'dan 1,6 baravar tez — yadro tanlovi (tactic) va to'liqroq birlashtirish hisobiga. FP16 T4 ning Tensor Core'larini ishga tushirdi: 2,7 baravar tezlanish, aniqlik deyarli o'zgarmadi.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5-qadam (GPU bo'lsa). TensorRT: FP32 / FP16 / INT8 dvigatellar</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27</a:t>
            </a:r>
          </a:p>
        </p:txBody>
      </p:sp>
      <p:graphicFrame>
        <p:nvGraphicFramePr>
          <p:cNvPr id="10" name="Table 9"/>
          <p:cNvGraphicFramePr>
            <a:graphicFrameLocks noGrp="1"/>
          </p:cNvGraphicFramePr>
          <p:nvPr/>
        </p:nvGraphicFramePr>
        <p:xfrm>
          <a:off x="500000" y="1350000"/>
          <a:ext cx="11200000" cy="2600000"/>
        </p:xfrm>
        <a:graphic>
          <a:graphicData uri="http://schemas.openxmlformats.org/drawingml/2006/table">
            <a:tbl>
              <a:tblPr firstRow="1" bandRow="1">
                <a:tableStyleId>{5C22544A-7EE6-4342-B048-85BDC9FD1C3A}</a:tableStyleId>
              </a:tblPr>
              <a:tblGrid>
                <a:gridCol w="1866666"/>
                <a:gridCol w="1866666"/>
                <a:gridCol w="1866666"/>
                <a:gridCol w="1866666"/>
                <a:gridCol w="1866666"/>
                <a:gridCol w="1866670"/>
              </a:tblGrid>
              <a:tr h="520000">
                <a:tc>
                  <a:txBody>
                    <a:bodyPr/>
                    <a:lstStyle/>
                    <a:p>
                      <a:r>
                        <a:rPr sz="1400" b="1">
                          <a:solidFill>
                            <a:srgbClr val="FFFFFF"/>
                          </a:solidFill>
                          <a:latin typeface="Calibri"/>
                        </a:rPr>
                        <a:t>Dvigatel</a:t>
                      </a:r>
                    </a:p>
                  </a:txBody>
                  <a:tcPr>
                    <a:solidFill>
                      <a:srgbClr val="2D5C8F"/>
                    </a:solidFill>
                  </a:tcPr>
                </a:tc>
                <a:tc>
                  <a:txBody>
                    <a:bodyPr/>
                    <a:lstStyle/>
                    <a:p>
                      <a:r>
                        <a:rPr sz="1400" b="1">
                          <a:solidFill>
                            <a:srgbClr val="FFFFFF"/>
                          </a:solidFill>
                          <a:latin typeface="Calibri"/>
                        </a:rPr>
                        <a:t>p50, ms</a:t>
                      </a:r>
                    </a:p>
                  </a:txBody>
                  <a:tcPr>
                    <a:solidFill>
                      <a:srgbClr val="2D5C8F"/>
                    </a:solidFill>
                  </a:tcPr>
                </a:tc>
                <a:tc>
                  <a:txBody>
                    <a:bodyPr/>
                    <a:lstStyle/>
                    <a:p>
                      <a:r>
                        <a:rPr sz="1400" b="1">
                          <a:solidFill>
                            <a:srgbClr val="FFFFFF"/>
                          </a:solidFill>
                          <a:latin typeface="Calibri"/>
                        </a:rPr>
                        <a:t>p95, ms</a:t>
                      </a:r>
                    </a:p>
                  </a:txBody>
                  <a:tcPr>
                    <a:solidFill>
                      <a:srgbClr val="2D5C8F"/>
                    </a:solidFill>
                  </a:tcPr>
                </a:tc>
                <a:tc>
                  <a:txBody>
                    <a:bodyPr/>
                    <a:lstStyle/>
                    <a:p>
                      <a:r>
                        <a:rPr sz="1400" b="1">
                          <a:solidFill>
                            <a:srgbClr val="FFFFFF"/>
                          </a:solidFill>
                          <a:latin typeface="Calibri"/>
                        </a:rPr>
                        <a:t>Throughput, rasm/s</a:t>
                      </a:r>
                    </a:p>
                  </a:txBody>
                  <a:tcPr>
                    <a:solidFill>
                      <a:srgbClr val="2D5C8F"/>
                    </a:solidFill>
                  </a:tcPr>
                </a:tc>
                <a:tc>
                  <a:txBody>
                    <a:bodyPr/>
                    <a:lstStyle/>
                    <a:p>
                      <a:r>
                        <a:rPr sz="1400" b="1">
                          <a:solidFill>
                            <a:srgbClr val="FFFFFF"/>
                          </a:solidFill>
                          <a:latin typeface="Calibri"/>
                        </a:rPr>
                        <a:t>O'rtacha quvvat, Vt</a:t>
                      </a:r>
                    </a:p>
                  </a:txBody>
                  <a:tcPr>
                    <a:solidFill>
                      <a:srgbClr val="2D5C8F"/>
                    </a:solidFill>
                  </a:tcPr>
                </a:tc>
                <a:tc>
                  <a:txBody>
                    <a:bodyPr/>
                    <a:lstStyle/>
                    <a:p>
                      <a:r>
                        <a:rPr sz="1400" b="1">
                          <a:solidFill>
                            <a:srgbClr val="FFFFFF"/>
                          </a:solidFill>
                          <a:latin typeface="Calibri"/>
                        </a:rPr>
                        <a:t>mJ/rasm</a:t>
                      </a:r>
                    </a:p>
                  </a:txBody>
                  <a:tcPr>
                    <a:solidFill>
                      <a:srgbClr val="2D5C8F"/>
                    </a:solidFill>
                  </a:tcPr>
                </a:tc>
              </a:tr>
              <a:tr h="520000">
                <a:tc>
                  <a:txBody>
                    <a:bodyPr/>
                    <a:lstStyle/>
                    <a:p>
                      <a:r>
                        <a:rPr sz="1400" b="0">
                          <a:solidFill>
                            <a:srgbClr val="1B2430"/>
                          </a:solidFill>
                          <a:latin typeface="Calibri"/>
                        </a:rPr>
                        <a:t>ORT CUDA FP32 (2-qadam)</a:t>
                      </a:r>
                    </a:p>
                  </a:txBody>
                  <a:tcPr>
                    <a:solidFill>
                      <a:srgbClr val="F1F4F8"/>
                    </a:solidFill>
                  </a:tcPr>
                </a:tc>
                <a:tc>
                  <a:txBody>
                    <a:bodyPr/>
                    <a:lstStyle/>
                    <a:p>
                      <a:r>
                        <a:rPr sz="1400" b="0">
                          <a:solidFill>
                            <a:srgbClr val="1B2430"/>
                          </a:solidFill>
                          <a:latin typeface="Calibri"/>
                        </a:rPr>
                        <a:t>22</a:t>
                      </a:r>
                    </a:p>
                  </a:txBody>
                  <a:tcPr>
                    <a:solidFill>
                      <a:srgbClr val="F1F4F8"/>
                    </a:solidFill>
                  </a:tcPr>
                </a:tc>
                <a:tc>
                  <a:txBody>
                    <a:bodyPr/>
                    <a:lstStyle/>
                    <a:p>
                      <a:r>
                        <a:rPr sz="1400" b="0">
                          <a:solidFill>
                            <a:srgbClr val="1B2430"/>
                          </a:solidFill>
                          <a:latin typeface="Calibri"/>
                        </a:rPr>
                        <a:t>25</a:t>
                      </a:r>
                    </a:p>
                  </a:txBody>
                  <a:tcPr>
                    <a:solidFill>
                      <a:srgbClr val="F1F4F8"/>
                    </a:solidFill>
                  </a:tcPr>
                </a:tc>
                <a:tc>
                  <a:txBody>
                    <a:bodyPr/>
                    <a:lstStyle/>
                    <a:p>
                      <a:r>
                        <a:rPr sz="1400" b="0">
                          <a:solidFill>
                            <a:srgbClr val="1B2430"/>
                          </a:solidFill>
                          <a:latin typeface="Calibri"/>
                        </a:rPr>
                        <a:t>360</a:t>
                      </a:r>
                    </a:p>
                  </a:txBody>
                  <a:tcPr>
                    <a:solidFill>
                      <a:srgbClr val="F1F4F8"/>
                    </a:solidFill>
                  </a:tcPr>
                </a:tc>
                <a:tc>
                  <a:txBody>
                    <a:bodyPr/>
                    <a:lstStyle/>
                    <a:p>
                      <a:r>
                        <a:rPr sz="1400" b="0">
                          <a:solidFill>
                            <a:srgbClr val="1B2430"/>
                          </a:solidFill>
                          <a:latin typeface="Calibri"/>
                        </a:rPr>
                        <a:t>65</a:t>
                      </a:r>
                    </a:p>
                  </a:txBody>
                  <a:tcPr>
                    <a:solidFill>
                      <a:srgbClr val="F1F4F8"/>
                    </a:solidFill>
                  </a:tcPr>
                </a:tc>
                <a:tc>
                  <a:txBody>
                    <a:bodyPr/>
                    <a:lstStyle/>
                    <a:p>
                      <a:r>
                        <a:rPr sz="1400" b="0">
                          <a:solidFill>
                            <a:srgbClr val="1B2430"/>
                          </a:solidFill>
                          <a:latin typeface="Calibri"/>
                        </a:rPr>
                        <a:t>180</a:t>
                      </a:r>
                    </a:p>
                  </a:txBody>
                  <a:tcPr>
                    <a:solidFill>
                      <a:srgbClr val="F1F4F8"/>
                    </a:solidFill>
                  </a:tcPr>
                </a:tc>
              </a:tr>
              <a:tr h="520000">
                <a:tc>
                  <a:txBody>
                    <a:bodyPr/>
                    <a:lstStyle/>
                    <a:p>
                      <a:r>
                        <a:rPr sz="1400" b="0">
                          <a:solidFill>
                            <a:srgbClr val="1B2430"/>
                          </a:solidFill>
                          <a:latin typeface="Calibri"/>
                        </a:rPr>
                        <a:t>TensorRT FP32</a:t>
                      </a:r>
                    </a:p>
                  </a:txBody>
                  <a:tcPr>
                    <a:solidFill>
                      <a:srgbClr val="FFFFFF"/>
                    </a:solidFill>
                  </a:tcPr>
                </a:tc>
                <a:tc>
                  <a:txBody>
                    <a:bodyPr/>
                    <a:lstStyle/>
                    <a:p>
                      <a:r>
                        <a:rPr sz="1400" b="0">
                          <a:solidFill>
                            <a:srgbClr val="1B2430"/>
                          </a:solidFill>
                          <a:latin typeface="Calibri"/>
                        </a:rPr>
                        <a:t>14</a:t>
                      </a:r>
                    </a:p>
                  </a:txBody>
                  <a:tcPr>
                    <a:solidFill>
                      <a:srgbClr val="FFFFFF"/>
                    </a:solidFill>
                  </a:tcPr>
                </a:tc>
                <a:tc>
                  <a:txBody>
                    <a:bodyPr/>
                    <a:lstStyle/>
                    <a:p>
                      <a:r>
                        <a:rPr sz="1400" b="0">
                          <a:solidFill>
                            <a:srgbClr val="1B2430"/>
                          </a:solidFill>
                          <a:latin typeface="Calibri"/>
                        </a:rPr>
                        <a:t>15</a:t>
                      </a:r>
                    </a:p>
                  </a:txBody>
                  <a:tcPr>
                    <a:solidFill>
                      <a:srgbClr val="FFFFFF"/>
                    </a:solidFill>
                  </a:tcPr>
                </a:tc>
                <a:tc>
                  <a:txBody>
                    <a:bodyPr/>
                    <a:lstStyle/>
                    <a:p>
                      <a:r>
                        <a:rPr sz="1400" b="0">
                          <a:solidFill>
                            <a:srgbClr val="1B2430"/>
                          </a:solidFill>
                          <a:latin typeface="Calibri"/>
                        </a:rPr>
                        <a:t>570</a:t>
                      </a:r>
                    </a:p>
                  </a:txBody>
                  <a:tcPr>
                    <a:solidFill>
                      <a:srgbClr val="FFFFFF"/>
                    </a:solidFill>
                  </a:tcPr>
                </a:tc>
                <a:tc>
                  <a:txBody>
                    <a:bodyPr/>
                    <a:lstStyle/>
                    <a:p>
                      <a:r>
                        <a:rPr sz="1400" b="0">
                          <a:solidFill>
                            <a:srgbClr val="1B2430"/>
                          </a:solidFill>
                          <a:latin typeface="Calibri"/>
                        </a:rPr>
                        <a:t>68</a:t>
                      </a:r>
                    </a:p>
                  </a:txBody>
                  <a:tcPr>
                    <a:solidFill>
                      <a:srgbClr val="FFFFFF"/>
                    </a:solidFill>
                  </a:tcPr>
                </a:tc>
                <a:tc>
                  <a:txBody>
                    <a:bodyPr/>
                    <a:lstStyle/>
                    <a:p>
                      <a:r>
                        <a:rPr sz="1400" b="0">
                          <a:solidFill>
                            <a:srgbClr val="1B2430"/>
                          </a:solidFill>
                          <a:latin typeface="Calibri"/>
                        </a:rPr>
                        <a:t>119</a:t>
                      </a:r>
                    </a:p>
                  </a:txBody>
                  <a:tcPr>
                    <a:solidFill>
                      <a:srgbClr val="FFFFFF"/>
                    </a:solidFill>
                  </a:tcPr>
                </a:tc>
              </a:tr>
              <a:tr h="520000">
                <a:tc>
                  <a:txBody>
                    <a:bodyPr/>
                    <a:lstStyle/>
                    <a:p>
                      <a:r>
                        <a:rPr sz="1400" b="0">
                          <a:solidFill>
                            <a:srgbClr val="1B2430"/>
                          </a:solidFill>
                          <a:latin typeface="Calibri"/>
                        </a:rPr>
                        <a:t>TensorRT FP16</a:t>
                      </a:r>
                    </a:p>
                  </a:txBody>
                  <a:tcPr>
                    <a:solidFill>
                      <a:srgbClr val="F1F4F8"/>
                    </a:solidFill>
                  </a:tcPr>
                </a:tc>
                <a:tc>
                  <a:txBody>
                    <a:bodyPr/>
                    <a:lstStyle/>
                    <a:p>
                      <a:r>
                        <a:rPr sz="1400" b="0">
                          <a:solidFill>
                            <a:srgbClr val="1B2430"/>
                          </a:solidFill>
                          <a:latin typeface="Calibri"/>
                        </a:rPr>
                        <a:t>5,2</a:t>
                      </a:r>
                    </a:p>
                  </a:txBody>
                  <a:tcPr>
                    <a:solidFill>
                      <a:srgbClr val="F1F4F8"/>
                    </a:solidFill>
                  </a:tcPr>
                </a:tc>
                <a:tc>
                  <a:txBody>
                    <a:bodyPr/>
                    <a:lstStyle/>
                    <a:p>
                      <a:r>
                        <a:rPr sz="1400" b="0">
                          <a:solidFill>
                            <a:srgbClr val="1B2430"/>
                          </a:solidFill>
                          <a:latin typeface="Calibri"/>
                        </a:rPr>
                        <a:t>5,8</a:t>
                      </a:r>
                    </a:p>
                  </a:txBody>
                  <a:tcPr>
                    <a:solidFill>
                      <a:srgbClr val="F1F4F8"/>
                    </a:solidFill>
                  </a:tcPr>
                </a:tc>
                <a:tc>
                  <a:txBody>
                    <a:bodyPr/>
                    <a:lstStyle/>
                    <a:p>
                      <a:r>
                        <a:rPr sz="1400" b="0">
                          <a:solidFill>
                            <a:srgbClr val="1B2430"/>
                          </a:solidFill>
                          <a:latin typeface="Calibri"/>
                        </a:rPr>
                        <a:t>1540</a:t>
                      </a:r>
                    </a:p>
                  </a:txBody>
                  <a:tcPr>
                    <a:solidFill>
                      <a:srgbClr val="F1F4F8"/>
                    </a:solidFill>
                  </a:tcPr>
                </a:tc>
                <a:tc>
                  <a:txBody>
                    <a:bodyPr/>
                    <a:lstStyle/>
                    <a:p>
                      <a:r>
                        <a:rPr sz="1400" b="0">
                          <a:solidFill>
                            <a:srgbClr val="1B2430"/>
                          </a:solidFill>
                          <a:latin typeface="Calibri"/>
                        </a:rPr>
                        <a:t>70</a:t>
                      </a:r>
                    </a:p>
                  </a:txBody>
                  <a:tcPr>
                    <a:solidFill>
                      <a:srgbClr val="F1F4F8"/>
                    </a:solidFill>
                  </a:tcPr>
                </a:tc>
                <a:tc>
                  <a:txBody>
                    <a:bodyPr/>
                    <a:lstStyle/>
                    <a:p>
                      <a:r>
                        <a:rPr sz="1400" b="0">
                          <a:solidFill>
                            <a:srgbClr val="1B2430"/>
                          </a:solidFill>
                          <a:latin typeface="Calibri"/>
                        </a:rPr>
                        <a:t>45</a:t>
                      </a:r>
                    </a:p>
                  </a:txBody>
                  <a:tcPr>
                    <a:solidFill>
                      <a:srgbClr val="F1F4F8"/>
                    </a:solidFill>
                  </a:tcPr>
                </a:tc>
              </a:tr>
              <a:tr h="520000">
                <a:tc>
                  <a:txBody>
                    <a:bodyPr/>
                    <a:lstStyle/>
                    <a:p>
                      <a:r>
                        <a:rPr sz="1400" b="0">
                          <a:solidFill>
                            <a:srgbClr val="1B2430"/>
                          </a:solidFill>
                          <a:latin typeface="Calibri"/>
                        </a:rPr>
                        <a:t>TensorRT INT8</a:t>
                      </a:r>
                    </a:p>
                  </a:txBody>
                  <a:tcPr>
                    <a:solidFill>
                      <a:srgbClr val="FFFFFF"/>
                    </a:solidFill>
                  </a:tcPr>
                </a:tc>
                <a:tc>
                  <a:txBody>
                    <a:bodyPr/>
                    <a:lstStyle/>
                    <a:p>
                      <a:r>
                        <a:rPr sz="1400" b="0">
                          <a:solidFill>
                            <a:srgbClr val="1B2430"/>
                          </a:solidFill>
                          <a:latin typeface="Calibri"/>
                        </a:rPr>
                        <a:t>3,1</a:t>
                      </a:r>
                    </a:p>
                  </a:txBody>
                  <a:tcPr>
                    <a:solidFill>
                      <a:srgbClr val="FFFFFF"/>
                    </a:solidFill>
                  </a:tcPr>
                </a:tc>
                <a:tc>
                  <a:txBody>
                    <a:bodyPr/>
                    <a:lstStyle/>
                    <a:p>
                      <a:r>
                        <a:rPr sz="1400" b="0">
                          <a:solidFill>
                            <a:srgbClr val="1B2430"/>
                          </a:solidFill>
                          <a:latin typeface="Calibri"/>
                        </a:rPr>
                        <a:t>3,5</a:t>
                      </a:r>
                    </a:p>
                  </a:txBody>
                  <a:tcPr>
                    <a:solidFill>
                      <a:srgbClr val="FFFFFF"/>
                    </a:solidFill>
                  </a:tcPr>
                </a:tc>
                <a:tc>
                  <a:txBody>
                    <a:bodyPr/>
                    <a:lstStyle/>
                    <a:p>
                      <a:r>
                        <a:rPr sz="1400" b="0">
                          <a:solidFill>
                            <a:srgbClr val="1B2430"/>
                          </a:solidFill>
                          <a:latin typeface="Calibri"/>
                        </a:rPr>
                        <a:t>2580</a:t>
                      </a:r>
                    </a:p>
                  </a:txBody>
                  <a:tcPr>
                    <a:solidFill>
                      <a:srgbClr val="FFFFFF"/>
                    </a:solidFill>
                  </a:tcPr>
                </a:tc>
                <a:tc>
                  <a:txBody>
                    <a:bodyPr/>
                    <a:lstStyle/>
                    <a:p>
                      <a:r>
                        <a:rPr sz="1400" b="0">
                          <a:solidFill>
                            <a:srgbClr val="1B2430"/>
                          </a:solidFill>
                          <a:latin typeface="Calibri"/>
                        </a:rPr>
                        <a:t>69</a:t>
                      </a:r>
                    </a:p>
                  </a:txBody>
                  <a:tcPr>
                    <a:solidFill>
                      <a:srgbClr val="FFFFFF"/>
                    </a:solidFill>
                  </a:tcPr>
                </a:tc>
                <a:tc>
                  <a:txBody>
                    <a:bodyPr/>
                    <a:lstStyle/>
                    <a:p>
                      <a:r>
                        <a:rPr sz="1400" b="0">
                          <a:solidFill>
                            <a:srgbClr val="1B2430"/>
                          </a:solidFill>
                          <a:latin typeface="Calibri"/>
                        </a:rPr>
                        <a:t>27</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100" b="1">
                <a:solidFill>
                  <a:srgbClr val="FFFFFF"/>
                </a:solidFill>
                <a:latin typeface="Calibri"/>
              </a:rPr>
              <a:t>5-qadam (GPU bo'lsa). TensorRT: FP32 / FP16 / INT8 dvigatellar — kod 1</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28</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05_trt_build.sh — trtexec vositasi TensorRT bilan birga keladi</a:t>
            </a:r>
          </a:p>
          <a:p>
            <a:r>
              <a:rPr sz="1000">
                <a:solidFill>
                  <a:srgbClr val="E2E8F0"/>
                </a:solidFill>
                <a:latin typeface="Consolas"/>
              </a:rPr>
              <a:t>trtexec --onnx=resnet50_fp32.onnx --saveEngine=rn50_fp32.plan \</a:t>
            </a:r>
          </a:p>
          <a:p>
            <a:r>
              <a:rPr sz="1000">
                <a:solidFill>
                  <a:srgbClr val="E2E8F0"/>
                </a:solidFill>
                <a:latin typeface="Consolas"/>
              </a:rPr>
              <a:t>        --minShapes=input:1x3x224x224 --optShapes=input:8x3x224x224 --maxShapes=input:32x3x224x224 \</a:t>
            </a:r>
          </a:p>
          <a:p>
            <a:r>
              <a:rPr sz="1000">
                <a:solidFill>
                  <a:srgbClr val="E2E8F0"/>
                </a:solidFill>
                <a:latin typeface="Consolas"/>
              </a:rPr>
              <a:t>        --iterations=200 --warmUp=500 --percentile=95 &gt; trt_fp32.log</a:t>
            </a:r>
          </a:p>
          <a:p>
            <a:r>
              <a:rPr sz="1000">
                <a:solidFill>
                  <a:srgbClr val="E2E8F0"/>
                </a:solidFill>
                <a:latin typeface="Consolas"/>
              </a:rPr>
              <a:t>trtexec --onnx=resnet50_fp32.onnx --saveEngine=rn50_fp16.plan --fp16 \</a:t>
            </a:r>
          </a:p>
          <a:p>
            <a:r>
              <a:rPr sz="1000">
                <a:solidFill>
                  <a:srgbClr val="E2E8F0"/>
                </a:solidFill>
                <a:latin typeface="Consolas"/>
              </a:rPr>
              <a:t>        --minShapes=input:1x3x224x224 --optShapes=input:8x3x224x224 --maxShapes=input:32x3x224x224 \</a:t>
            </a:r>
          </a:p>
          <a:p>
            <a:r>
              <a:rPr sz="1000">
                <a:solidFill>
                  <a:srgbClr val="E2E8F0"/>
                </a:solidFill>
                <a:latin typeface="Consolas"/>
              </a:rPr>
              <a:t>        --iterations=200 --warmUp=500 --percentile=95 &gt; trt_fp16.log</a:t>
            </a:r>
          </a:p>
          <a:p>
            <a:r>
              <a:rPr sz="1000">
                <a:solidFill>
                  <a:srgbClr val="7FD6D7"/>
                </a:solidFill>
                <a:latin typeface="Consolas"/>
              </a:rPr>
              <a:t># INT8: Q/DQ tugunli ONNX (3-qadamdagi resnet50_int8.onnx) to'g'ridan-to'g'ri qabul qilinadi</a:t>
            </a:r>
          </a:p>
          <a:p>
            <a:r>
              <a:rPr sz="1000">
                <a:solidFill>
                  <a:srgbClr val="E2E8F0"/>
                </a:solidFill>
                <a:latin typeface="Consolas"/>
              </a:rPr>
              <a:t>trtexec --onnx=resnet50_int8.onnx --saveEngine=rn50_int8.plan --int8 --fp16 \</a:t>
            </a:r>
          </a:p>
          <a:p>
            <a:r>
              <a:rPr sz="1000">
                <a:solidFill>
                  <a:srgbClr val="E2E8F0"/>
                </a:solidFill>
                <a:latin typeface="Consolas"/>
              </a:rPr>
              <a:t>        --minShapes=input:1x3x224x224 --optShapes=input:8x3x224x224 --maxShapes=input:32x3x224x224 \</a:t>
            </a:r>
          </a:p>
          <a:p>
            <a:r>
              <a:rPr sz="1000">
                <a:solidFill>
                  <a:srgbClr val="E2E8F0"/>
                </a:solidFill>
                <a:latin typeface="Consolas"/>
              </a:rPr>
              <a:t>        --iterations=200 --warmUp=500 --percentile=95 &gt; trt_int8.log</a:t>
            </a:r>
          </a:p>
          <a:p>
            <a:r>
              <a:rPr sz="1000">
                <a:solidFill>
                  <a:srgbClr val="E2E8F0"/>
                </a:solidFill>
                <a:latin typeface="Consolas"/>
              </a:rPr>
              <a:t>grep -E "GPU Compute Time|Throughput" trt_*.log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100" b="1">
                <a:solidFill>
                  <a:srgbClr val="FFFFFF"/>
                </a:solidFill>
                <a:latin typeface="Calibri"/>
              </a:rPr>
              <a:t>5-qadam (GPU bo'lsa). TensorRT: FP32 / FP16 / INT8 dvigatellar — kod 2</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29</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06_trt_infer.py — Python'dan dvigatelni ishga tushirish va quvvatni o'lchash</a:t>
            </a:r>
          </a:p>
          <a:p>
            <a:r>
              <a:rPr sz="1000">
                <a:solidFill>
                  <a:srgbClr val="E2E8F0"/>
                </a:solidFill>
                <a:latin typeface="Consolas"/>
              </a:rPr>
              <a:t>import tensorrt as trt, pycuda.driver as cuda, pycuda.autoinit, numpy as np, time, threading, subprocess</a:t>
            </a:r>
          </a:p>
          <a:p>
            <a:r>
              <a:rPr sz="1000">
                <a:solidFill>
                  <a:srgbClr val="E2E8F0"/>
                </a:solidFill>
                <a:latin typeface="Consolas"/>
              </a:rPr>
              <a:t> </a:t>
            </a:r>
          </a:p>
          <a:p>
            <a:r>
              <a:rPr sz="1000">
                <a:solidFill>
                  <a:srgbClr val="E2E8F0"/>
                </a:solidFill>
                <a:latin typeface="Consolas"/>
              </a:rPr>
              <a:t>def quvvat_kuzat(stop, natija):</a:t>
            </a:r>
          </a:p>
          <a:p>
            <a:r>
              <a:rPr sz="1000">
                <a:solidFill>
                  <a:srgbClr val="E2E8F0"/>
                </a:solidFill>
                <a:latin typeface="Consolas"/>
              </a:rPr>
              <a:t>    while not stop.is_set():</a:t>
            </a:r>
          </a:p>
          <a:p>
            <a:r>
              <a:rPr sz="1000">
                <a:solidFill>
                  <a:srgbClr val="E2E8F0"/>
                </a:solidFill>
                <a:latin typeface="Consolas"/>
              </a:rPr>
              <a:t>        w = subprocess.run(["nvidia-smi", "--query-gpu=power.draw", "--format=csv,noheader,nounits"],</a:t>
            </a:r>
          </a:p>
          <a:p>
            <a:r>
              <a:rPr sz="1000">
                <a:solidFill>
                  <a:srgbClr val="E2E8F0"/>
                </a:solidFill>
                <a:latin typeface="Consolas"/>
              </a:rPr>
              <a:t>                           capture_output=True, text=True).stdout.strip()</a:t>
            </a:r>
          </a:p>
          <a:p>
            <a:r>
              <a:rPr sz="1000">
                <a:solidFill>
                  <a:srgbClr val="E2E8F0"/>
                </a:solidFill>
                <a:latin typeface="Consolas"/>
              </a:rPr>
              <a:t>        natija.append(float(w)); time.sleep(0.1)</a:t>
            </a:r>
          </a:p>
          <a:p>
            <a:r>
              <a:rPr sz="1000">
                <a:solidFill>
                  <a:srgbClr val="E2E8F0"/>
                </a:solidFill>
                <a:latin typeface="Consolas"/>
              </a:rPr>
              <a:t> </a:t>
            </a:r>
          </a:p>
          <a:p>
            <a:r>
              <a:rPr sz="1000">
                <a:solidFill>
                  <a:srgbClr val="E2E8F0"/>
                </a:solidFill>
                <a:latin typeface="Consolas"/>
              </a:rPr>
              <a:t>def bench(plan, batch=8, takror=300):</a:t>
            </a:r>
          </a:p>
          <a:p>
            <a:r>
              <a:rPr sz="1000">
                <a:solidFill>
                  <a:srgbClr val="E2E8F0"/>
                </a:solidFill>
                <a:latin typeface="Consolas"/>
              </a:rPr>
              <a:t>    logger = trt.Logger(trt.Logger.WARNING)</a:t>
            </a:r>
          </a:p>
          <a:p>
            <a:r>
              <a:rPr sz="1000">
                <a:solidFill>
                  <a:srgbClr val="E2E8F0"/>
                </a:solidFill>
                <a:latin typeface="Consolas"/>
              </a:rPr>
              <a:t>    with open(plan, "rb") as f, trt.Runtime(logger) as rt:</a:t>
            </a:r>
          </a:p>
          <a:p>
            <a:r>
              <a:rPr sz="1000">
                <a:solidFill>
                  <a:srgbClr val="E2E8F0"/>
                </a:solidFill>
                <a:latin typeface="Consolas"/>
              </a:rPr>
              <a:t>        engine = rt.deserialize_cuda_engine(f.read())</a:t>
            </a:r>
          </a:p>
          <a:p>
            <a:r>
              <a:rPr sz="1000">
                <a:solidFill>
                  <a:srgbClr val="E2E8F0"/>
                </a:solidFill>
                <a:latin typeface="Consolas"/>
              </a:rPr>
              <a:t>    ctx = engine.create_execution_context()</a:t>
            </a:r>
          </a:p>
          <a:p>
            <a:r>
              <a:rPr sz="1000">
                <a:solidFill>
                  <a:srgbClr val="E2E8F0"/>
                </a:solidFill>
                <a:latin typeface="Consolas"/>
              </a:rPr>
              <a:t>    ctx.set_input_shape("input", (batch, 3, 224, 224))</a:t>
            </a:r>
          </a:p>
          <a:p>
            <a:r>
              <a:rPr sz="1000">
                <a:solidFill>
                  <a:srgbClr val="E2E8F0"/>
                </a:solidFill>
                <a:latin typeface="Consolas"/>
              </a:rPr>
              <a:t>    h_in = np.random.rand(batch, 3, 224, 224).astype(np.float32); h_out = np.empty((batch, 1000), np.float32)</a:t>
            </a:r>
          </a:p>
          <a:p>
            <a:r>
              <a:rPr sz="1000">
                <a:solidFill>
                  <a:srgbClr val="E2E8F0"/>
                </a:solidFill>
                <a:latin typeface="Consolas"/>
              </a:rPr>
              <a:t>    d_in, d_out = cuda.mem_alloc(h_in.nbytes), cuda.mem_alloc(h_out.nbytes)</a:t>
            </a:r>
          </a:p>
          <a:p>
            <a:r>
              <a:rPr sz="1000">
                <a:solidFill>
                  <a:srgbClr val="E2E8F0"/>
                </a:solidFill>
                <a:latin typeface="Consolas"/>
              </a:rPr>
              <a:t>    ctx.set_tensor_address("input", int(d_in)); ctx.set_tensor_address("logits", int(d_out))</a:t>
            </a:r>
          </a:p>
          <a:p>
            <a:r>
              <a:rPr sz="1000">
                <a:solidFill>
                  <a:srgbClr val="E2E8F0"/>
                </a:solidFill>
                <a:latin typeface="Consolas"/>
              </a:rPr>
              <a:t>    stream = cuda.Stream(); cuda.memcpy_htod_async(d_in, h_in, stream)</a:t>
            </a:r>
          </a:p>
          <a:p>
            <a:r>
              <a:rPr sz="1000">
                <a:solidFill>
                  <a:srgbClr val="E2E8F0"/>
                </a:solidFill>
                <a:latin typeface="Consolas"/>
              </a:rPr>
              <a:t>    for _ in range(20): ctx.execute_async_v3(stream.handle)</a:t>
            </a:r>
          </a:p>
          <a:p>
            <a:r>
              <a:rPr sz="1000">
                <a:solidFill>
                  <a:srgbClr val="7FD6D7"/>
                </a:solidFill>
                <a:latin typeface="Consolas"/>
              </a:rPr>
              <a:t># … (to‘liq kod — mavzu matnida / GitHub’da)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5-qadam (muqobil, Intel CPU). OpenVINO va NNCF</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30</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Kutilgan natija (8 yadroli Intel CPU, AVX-512 VNNI, taxminiy): FP32 p50 ≈ 24 ms, INT8 p50 ≈ 8 ms (3 baravar), top-1 ≈ 79,8 % (NNCF ning aniqlikni saqlovchi aralash preset'i). RAPL orqali energiya: FP32 ≈ 1,1 J/rasm, INT8 ≈ 0,38 J/rasm (paketli 65 Vt CPU).</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5-qadam (muqobil, Intel CPU). OpenVINO va NNCF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31</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05_openvino.py</a:t>
            </a:r>
          </a:p>
          <a:p>
            <a:r>
              <a:rPr sz="1000">
                <a:solidFill>
                  <a:srgbClr val="E2E8F0"/>
                </a:solidFill>
                <a:latin typeface="Consolas"/>
              </a:rPr>
              <a:t>import openvino as ov, nncf, numpy as np, time, glob, torch</a:t>
            </a:r>
          </a:p>
          <a:p>
            <a:r>
              <a:rPr sz="1000">
                <a:solidFill>
                  <a:srgbClr val="E2E8F0"/>
                </a:solidFill>
                <a:latin typeface="Consolas"/>
              </a:rPr>
              <a:t>core = ov.Core()</a:t>
            </a:r>
          </a:p>
          <a:p>
            <a:r>
              <a:rPr sz="1000">
                <a:solidFill>
                  <a:srgbClr val="E2E8F0"/>
                </a:solidFill>
                <a:latin typeface="Consolas"/>
              </a:rPr>
              <a:t>model = core.read_model("resnet50_fp32.onnx")</a:t>
            </a:r>
          </a:p>
          <a:p>
            <a:r>
              <a:rPr sz="1000">
                <a:solidFill>
                  <a:srgbClr val="E2E8F0"/>
                </a:solidFill>
                <a:latin typeface="Consolas"/>
              </a:rPr>
              <a:t>calib = nncf.Dataset([preprocess(f) for f in sorted(glob.glob("calib/*.JPEG"))[:300]])</a:t>
            </a:r>
          </a:p>
          <a:p>
            <a:r>
              <a:rPr sz="1000">
                <a:solidFill>
                  <a:srgbClr val="E2E8F0"/>
                </a:solidFill>
                <a:latin typeface="Consolas"/>
              </a:rPr>
              <a:t>q_model = nncf.quantize(model, calib, preset=nncf.QuantizationPreset.MIXED, subset_size=300)</a:t>
            </a:r>
          </a:p>
          <a:p>
            <a:r>
              <a:rPr sz="1000">
                <a:solidFill>
                  <a:srgbClr val="E2E8F0"/>
                </a:solidFill>
                <a:latin typeface="Consolas"/>
              </a:rPr>
              <a:t>ov.save_model(q_model, "resnet50_ov_int8.xml")</a:t>
            </a:r>
          </a:p>
          <a:p>
            <a:r>
              <a:rPr sz="1000">
                <a:solidFill>
                  <a:srgbClr val="E2E8F0"/>
                </a:solidFill>
                <a:latin typeface="Consolas"/>
              </a:rPr>
              <a:t>for nomi, m in (("FP32", model), ("INT8", q_model)):</a:t>
            </a:r>
          </a:p>
          <a:p>
            <a:r>
              <a:rPr sz="1000">
                <a:solidFill>
                  <a:srgbClr val="E2E8F0"/>
                </a:solidFill>
                <a:latin typeface="Consolas"/>
              </a:rPr>
              <a:t>    comp = core.compile_model(m, "CPU", {"PERFORMANCE_HINT": "LATENCY"})</a:t>
            </a:r>
          </a:p>
          <a:p>
            <a:r>
              <a:rPr sz="1000">
                <a:solidFill>
                  <a:srgbClr val="E2E8F0"/>
                </a:solidFill>
                <a:latin typeface="Consolas"/>
              </a:rPr>
              <a:t>    req = comp.create_infer_request(); x = np.random.rand(1, 3, 224, 224).astype(np.float32)</a:t>
            </a:r>
          </a:p>
          <a:p>
            <a:r>
              <a:rPr sz="1000">
                <a:solidFill>
                  <a:srgbClr val="E2E8F0"/>
                </a:solidFill>
                <a:latin typeface="Consolas"/>
              </a:rPr>
              <a:t>    for _ in range(10): req.infer({0: x})</a:t>
            </a:r>
          </a:p>
          <a:p>
            <a:r>
              <a:rPr sz="1000">
                <a:solidFill>
                  <a:srgbClr val="E2E8F0"/>
                </a:solidFill>
                <a:latin typeface="Consolas"/>
              </a:rPr>
              <a:t>    t = []</a:t>
            </a:r>
          </a:p>
          <a:p>
            <a:r>
              <a:rPr sz="1000">
                <a:solidFill>
                  <a:srgbClr val="E2E8F0"/>
                </a:solidFill>
                <a:latin typeface="Consolas"/>
              </a:rPr>
              <a:t>    for _ in range(100):</a:t>
            </a:r>
          </a:p>
          <a:p>
            <a:r>
              <a:rPr sz="1000">
                <a:solidFill>
                  <a:srgbClr val="E2E8F0"/>
                </a:solidFill>
                <a:latin typeface="Consolas"/>
              </a:rPr>
              <a:t>        t0 = time.perf_counter(); req.infer({0: x}); t.append(time.perf_counter()-t0)</a:t>
            </a:r>
          </a:p>
          <a:p>
            <a:r>
              <a:rPr sz="1000">
                <a:solidFill>
                  <a:srgbClr val="E2E8F0"/>
                </a:solidFill>
                <a:latin typeface="Consolas"/>
              </a:rPr>
              <a:t>    print(f"OpenVINO {nomi}: p50 {np.percentile(t,50)*1e3:.1f} ms  p95 {np.percentile(t,95)*1e3:.1f} ms")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6-qadam. Yakuniy jadval va Pareto tahlili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32</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Barcha o'lchovlarni bitta jadvalga yig'ing (konfiguratsiya, apparat, p50, p95, throughput, hajm, top-1, mJ/rasm) va ikki o'qli tahlil qiling: latency–aniqlik va throughput–energiya. Pareto-optimal nuqtalar — boshqa hech bir konfiguratsiya ikkala ko'rsatkichda…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Hisobot shakli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33</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800" b="0">
                <a:solidFill>
                  <a:srgbClr val="1B2430"/>
                </a:solidFill>
                <a:latin typeface="Calibri"/>
              </a:rPr>
              <a:t>Hisobot (5–7 bet): (1) muhit — CPU/GPU modeli, VNNI/Tensor Core mavjudligi, kutubxona versiyalari; (2) eksport natijasi — tugunlar soni, opset, PyTorch bilan maksimal farq; (3) 2-qadam…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Baholash mezoni (jami 100 ball)</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34</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Qo'shimcha 10 ball: QAT (PyTorch torch.ao.quantization yoki NNCF) bilan 1–2 epox qayta o'qitib, INT8 aniqligini FP32 ga 0,2 p.p. ichida yaqinlashtirish; yoki Transformer modelini (masalan, DistilBERT) xuddi shu metodika bilan tahlil qilib, dinamik…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Baholash mezoni (jami 100 ball)</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35</a:t>
            </a:r>
          </a:p>
        </p:txBody>
      </p:sp>
      <p:graphicFrame>
        <p:nvGraphicFramePr>
          <p:cNvPr id="10" name="Table 9"/>
          <p:cNvGraphicFramePr>
            <a:graphicFrameLocks noGrp="1"/>
          </p:cNvGraphicFramePr>
          <p:nvPr/>
        </p:nvGraphicFramePr>
        <p:xfrm>
          <a:off x="500000" y="1350000"/>
          <a:ext cx="11200000" cy="4160000"/>
        </p:xfrm>
        <a:graphic>
          <a:graphicData uri="http://schemas.openxmlformats.org/drawingml/2006/table">
            <a:tbl>
              <a:tblPr firstRow="1" bandRow="1">
                <a:tableStyleId>{5C22544A-7EE6-4342-B048-85BDC9FD1C3A}</a:tableStyleId>
              </a:tblPr>
              <a:tblGrid>
                <a:gridCol w="5600000"/>
                <a:gridCol w="5600000"/>
              </a:tblGrid>
              <a:tr h="520000">
                <a:tc>
                  <a:txBody>
                    <a:bodyPr/>
                    <a:lstStyle/>
                    <a:p>
                      <a:r>
                        <a:rPr sz="1000" b="1">
                          <a:solidFill>
                            <a:srgbClr val="FFFFFF"/>
                          </a:solidFill>
                          <a:latin typeface="Calibri"/>
                        </a:rPr>
                        <a:t>Mezon</a:t>
                      </a:r>
                    </a:p>
                  </a:txBody>
                  <a:tcPr>
                    <a:solidFill>
                      <a:srgbClr val="2D5C8F"/>
                    </a:solidFill>
                  </a:tcPr>
                </a:tc>
                <a:tc>
                  <a:txBody>
                    <a:bodyPr/>
                    <a:lstStyle/>
                    <a:p>
                      <a:r>
                        <a:rPr sz="1000" b="1">
                          <a:solidFill>
                            <a:srgbClr val="FFFFFF"/>
                          </a:solidFill>
                          <a:latin typeface="Calibri"/>
                        </a:rPr>
                        <a:t>Ball</a:t>
                      </a:r>
                    </a:p>
                  </a:txBody>
                  <a:tcPr>
                    <a:solidFill>
                      <a:srgbClr val="2D5C8F"/>
                    </a:solidFill>
                  </a:tcPr>
                </a:tc>
              </a:tr>
              <a:tr h="520000">
                <a:tc>
                  <a:txBody>
                    <a:bodyPr/>
                    <a:lstStyle/>
                    <a:p>
                      <a:r>
                        <a:rPr sz="1000" b="0">
                          <a:solidFill>
                            <a:srgbClr val="1B2430"/>
                          </a:solidFill>
                          <a:latin typeface="Calibri"/>
                        </a:rPr>
                        <a:t>ONNX eksport to'g'ri (dinamik o'q, tekshiruv, PyTorch bilan moslik)</a:t>
                      </a:r>
                    </a:p>
                  </a:txBody>
                  <a:tcPr>
                    <a:solidFill>
                      <a:srgbClr val="F1F4F8"/>
                    </a:solidFill>
                  </a:tcPr>
                </a:tc>
                <a:tc>
                  <a:txBody>
                    <a:bodyPr/>
                    <a:lstStyle/>
                    <a:p>
                      <a:r>
                        <a:rPr sz="1000" b="0">
                          <a:solidFill>
                            <a:srgbClr val="1B2430"/>
                          </a:solidFill>
                          <a:latin typeface="Calibri"/>
                        </a:rPr>
                        <a:t>10</a:t>
                      </a:r>
                    </a:p>
                  </a:txBody>
                  <a:tcPr>
                    <a:solidFill>
                      <a:srgbClr val="F1F4F8"/>
                    </a:solidFill>
                  </a:tcPr>
                </a:tc>
              </a:tr>
              <a:tr h="520000">
                <a:tc>
                  <a:txBody>
                    <a:bodyPr/>
                    <a:lstStyle/>
                    <a:p>
                      <a:r>
                        <a:rPr sz="1000" b="0">
                          <a:solidFill>
                            <a:srgbClr val="1B2430"/>
                          </a:solidFill>
                          <a:latin typeface="Calibri"/>
                        </a:rPr>
                        <a:t>ONNX Runtime o'lchovlari 4 darajada va paketlar bo'yicha bajarilgan, Little qonuni bilan izohlangan</a:t>
                      </a:r>
                    </a:p>
                  </a:txBody>
                  <a:tcPr>
                    <a:solidFill>
                      <a:srgbClr val="FFFFFF"/>
                    </a:solidFill>
                  </a:tcPr>
                </a:tc>
                <a:tc>
                  <a:txBody>
                    <a:bodyPr/>
                    <a:lstStyle/>
                    <a:p>
                      <a:r>
                        <a:rPr sz="1000" b="0">
                          <a:solidFill>
                            <a:srgbClr val="1B2430"/>
                          </a:solidFill>
                          <a:latin typeface="Calibri"/>
                        </a:rPr>
                        <a:t>15</a:t>
                      </a:r>
                    </a:p>
                  </a:txBody>
                  <a:tcPr>
                    <a:solidFill>
                      <a:srgbClr val="FFFFFF"/>
                    </a:solidFill>
                  </a:tcPr>
                </a:tc>
              </a:tr>
              <a:tr h="520000">
                <a:tc>
                  <a:txBody>
                    <a:bodyPr/>
                    <a:lstStyle/>
                    <a:p>
                      <a:r>
                        <a:rPr sz="1000" b="0">
                          <a:solidFill>
                            <a:srgbClr val="1B2430"/>
                          </a:solidFill>
                          <a:latin typeface="Calibri"/>
                        </a:rPr>
                        <a:t>Statik INT8 kvantlash kalibrlash bilan bajarilgan, kamida 2 kalibrlash usuli solishtirilgan</a:t>
                      </a:r>
                    </a:p>
                  </a:txBody>
                  <a:tcPr>
                    <a:solidFill>
                      <a:srgbClr val="F1F4F8"/>
                    </a:solidFill>
                  </a:tcPr>
                </a:tc>
                <a:tc>
                  <a:txBody>
                    <a:bodyPr/>
                    <a:lstStyle/>
                    <a:p>
                      <a:r>
                        <a:rPr sz="1000" b="0">
                          <a:solidFill>
                            <a:srgbClr val="1B2430"/>
                          </a:solidFill>
                          <a:latin typeface="Calibri"/>
                        </a:rPr>
                        <a:t>20</a:t>
                      </a:r>
                    </a:p>
                  </a:txBody>
                  <a:tcPr>
                    <a:solidFill>
                      <a:srgbClr val="F1F4F8"/>
                    </a:solidFill>
                  </a:tcPr>
                </a:tc>
              </a:tr>
              <a:tr h="520000">
                <a:tc>
                  <a:txBody>
                    <a:bodyPr/>
                    <a:lstStyle/>
                    <a:p>
                      <a:r>
                        <a:rPr sz="1000" b="0">
                          <a:solidFill>
                            <a:srgbClr val="1B2430"/>
                          </a:solidFill>
                          <a:latin typeface="Calibri"/>
                        </a:rPr>
                        <a:t>Aniqlik kamida 1000 tasvirda o'lchangan, yo'qotish tahlil qilingan</a:t>
                      </a:r>
                    </a:p>
                  </a:txBody>
                  <a:tcPr>
                    <a:solidFill>
                      <a:srgbClr val="FFFFFF"/>
                    </a:solidFill>
                  </a:tcPr>
                </a:tc>
                <a:tc>
                  <a:txBody>
                    <a:bodyPr/>
                    <a:lstStyle/>
                    <a:p>
                      <a:r>
                        <a:rPr sz="1000" b="0">
                          <a:solidFill>
                            <a:srgbClr val="1B2430"/>
                          </a:solidFill>
                          <a:latin typeface="Calibri"/>
                        </a:rPr>
                        <a:t>15</a:t>
                      </a:r>
                    </a:p>
                  </a:txBody>
                  <a:tcPr>
                    <a:solidFill>
                      <a:srgbClr val="FFFFFF"/>
                    </a:solidFill>
                  </a:tcPr>
                </a:tc>
              </a:tr>
              <a:tr h="520000">
                <a:tc>
                  <a:txBody>
                    <a:bodyPr/>
                    <a:lstStyle/>
                    <a:p>
                      <a:r>
                        <a:rPr sz="1000" b="0">
                          <a:solidFill>
                            <a:srgbClr val="1B2430"/>
                          </a:solidFill>
                          <a:latin typeface="Calibri"/>
                        </a:rPr>
                        <a:t>TensorRT (FP32/FP16/INT8) yoki OpenVINO (FP32/INT8) o'lchovlari quvvat bilan</a:t>
                      </a:r>
                    </a:p>
                  </a:txBody>
                  <a:tcPr>
                    <a:solidFill>
                      <a:srgbClr val="F1F4F8"/>
                    </a:solidFill>
                  </a:tcPr>
                </a:tc>
                <a:tc>
                  <a:txBody>
                    <a:bodyPr/>
                    <a:lstStyle/>
                    <a:p>
                      <a:r>
                        <a:rPr sz="1000" b="0">
                          <a:solidFill>
                            <a:srgbClr val="1B2430"/>
                          </a:solidFill>
                          <a:latin typeface="Calibri"/>
                        </a:rPr>
                        <a:t>20</a:t>
                      </a:r>
                    </a:p>
                  </a:txBody>
                  <a:tcPr>
                    <a:solidFill>
                      <a:srgbClr val="F1F4F8"/>
                    </a:solidFill>
                  </a:tcPr>
                </a:tc>
              </a:tr>
              <a:tr h="520000">
                <a:tc>
                  <a:txBody>
                    <a:bodyPr/>
                    <a:lstStyle/>
                    <a:p>
                      <a:r>
                        <a:rPr sz="1000" b="0">
                          <a:solidFill>
                            <a:srgbClr val="1B2430"/>
                          </a:solidFill>
                          <a:latin typeface="Calibri"/>
                        </a:rPr>
                        <a:t>Pareto tahlili va asoslangan tavsiya</a:t>
                      </a:r>
                    </a:p>
                  </a:txBody>
                  <a:tcPr>
                    <a:solidFill>
                      <a:srgbClr val="FFFFFF"/>
                    </a:solidFill>
                  </a:tcPr>
                </a:tc>
                <a:tc>
                  <a:txBody>
                    <a:bodyPr/>
                    <a:lstStyle/>
                    <a:p>
                      <a:r>
                        <a:rPr sz="1000" b="0">
                          <a:solidFill>
                            <a:srgbClr val="1B2430"/>
                          </a:solidFill>
                          <a:latin typeface="Calibri"/>
                        </a:rPr>
                        <a:t>10</a:t>
                      </a:r>
                    </a:p>
                  </a:txBody>
                  <a:tcPr>
                    <a:solidFill>
                      <a:srgbClr val="FFFFFF"/>
                    </a:solidFill>
                  </a:tcPr>
                </a:tc>
              </a:tr>
              <a:tr h="520000">
                <a:tc>
                  <a:txBody>
                    <a:bodyPr/>
                    <a:lstStyle/>
                    <a:p>
                      <a:r>
                        <a:rPr sz="1000" b="0">
                          <a:solidFill>
                            <a:srgbClr val="1B2430"/>
                          </a:solidFill>
                          <a:latin typeface="Calibri"/>
                        </a:rPr>
                        <a:t>Hisobot va himoya</a:t>
                      </a:r>
                    </a:p>
                  </a:txBody>
                  <a:tcPr>
                    <a:solidFill>
                      <a:srgbClr val="F1F4F8"/>
                    </a:solidFill>
                  </a:tcPr>
                </a:tc>
                <a:tc>
                  <a:txBody>
                    <a:bodyPr/>
                    <a:lstStyle/>
                    <a:p>
                      <a:r>
                        <a:rPr sz="1000" b="0">
                          <a:solidFill>
                            <a:srgbClr val="1B2430"/>
                          </a:solidFill>
                          <a:latin typeface="Calibri"/>
                        </a:rPr>
                        <a:t>10</a:t>
                      </a:r>
                    </a:p>
                  </a:txBody>
                  <a:tcPr>
                    <a:solidFill>
                      <a:srgbClr val="F1F4F8"/>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647c865f7367349f.jpg"/>
          <p:cNvPicPr>
            <a:picLocks noChangeAspect="1"/>
          </p:cNvPicPr>
          <p:nvPr/>
        </p:nvPicPr>
        <p:blipFill>
          <a:blip r:embed="rId2"/>
          <a:srcRect t="11262" b="11262"/>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Asurnipal · Wikimedia Commons · CC BY-SA 4.0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05</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Natijalarni tahlil qilish</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Natijalarni tahlil qilish</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37</a:t>
            </a:r>
          </a:p>
        </p:txBody>
      </p:sp>
      <p:sp>
        <p:nvSpPr>
          <p:cNvPr id="9" name="Rounded Rectangle 8"/>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Mashg'ulot natijalari uch xulosa beradi. Birinchi: optimallashtirish zanjiri multiplikativ — grafik birlashtirish (1,5×), to'g'ri dvigatel (1,6×), FP16 (2,7×), INT8 (1,7×) ketma-ket qo'llanib, GPU'da 11 baravar, CPU'da 4–5 baravar yaxshilanish beradi, va bu…</a:t>
            </a:r>
          </a:p>
        </p:txBody>
      </p:sp>
      <p:sp>
        <p:nvSpPr>
          <p:cNvPr id="13" name="Rounded Rectangle 12"/>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Cheklovlar. O'lchovlar sintetik kirishda va bitta jarayonda olingan; real xizmatda so'rovlar notekis keladi, paket dinamik shakllanadi, oldindan ishlov (JPEG dekodlash, resize) ko'pincha inferensdan uzoq — ResNet-50 INT8 3 ms bo'lsa, JPEG dekodlash CPU'da…</a:t>
            </a:r>
          </a:p>
        </p:txBody>
      </p:sp>
      <p:sp>
        <p:nvSpPr>
          <p:cNvPr id="17" name="Rounded Rectangle 16"/>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Muqobil yondashuvlar: kvantlashdan tashqari, siyraklashtirish (pruning; Ampere'da 2:4 strukturali siyraklik Tensor Core'da 2 baravar beradi), bilimni distillash (knowledge distillation; kichikroq talaba model), arxitektura qidiruvi (EfficientNet, MobileNetV3…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5a01db9c3f5ef7d.jpg"/>
          <p:cNvPicPr>
            <a:picLocks noChangeAspect="1"/>
          </p:cNvPicPr>
          <p:nvPr/>
        </p:nvPicPr>
        <p:blipFill>
          <a:blip r:embed="rId2"/>
          <a:srcRect l="17782" r="17782"/>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Indrajit Das · Wikimedia Commons · CC BY-SA 3.0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06</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Keng tarqalgan xatolar va amaliy tavsiyalar</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Keng tarqalgan xatolar va amaliy tavsiyalar (1)</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39</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Eksportda statik paket o'lchami qoldirish. dynamic_axes ko'rsatilmasa, model faqat batch=1 da ishlaydi va throughput o'lchovi mumkin bo'lmaydi; TensorRT'da esa optimizatsiya profili…</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Eksportdan keyin mosligini tekshirmaslik. Opset nomuvofiqligi, eval() chaqirilmagani (BatchNorm/Dropout o'qitish rejimida qoladi) yoki tracing'da yo'qolgan shartli tarmoq jim xato beradi.…</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Kalibrlashni tasodifiy shovqin bilan bajarish. Faollashuv diapazonlari real ma'lumotga bog'liq; np.random.rand bilan kalibrlangan model 10–30 p.p. aniqlik yo'qotadi. Kamida 100–500 real,…</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Barcha qatlamlarni INT8 qilish. Birinchi konvolyutsiya va oxirgi to'liq bog'langan qatlam, Softmax, SiLU/GELU kabi operatorlar kvantlashga sezgir. Aniqlik tushsa, qatlamma-qatlam tahlil…</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CPU'da INT8 tezlanishini kutib, VNNI/AMX yo'qligini tekshirmaslik. Eski CPU'larda INT8 FP32 dan sekin bo'lishi mumkin (emulatsiya). lscpu | grep -o 'avx512_vnni\|amx' bilan tekshiring.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Keng tarqalgan xatolar va amaliy tavsiyalar (2)</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40</a:t>
            </a:r>
          </a:p>
        </p:txBody>
      </p:sp>
      <p:sp>
        <p:nvSpPr>
          <p:cNvPr id="9" name="Rounded Rectangle 8"/>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620000"/>
            <a:ext cx="70000" cy="1250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01500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2" name="TextBox 11"/>
          <p:cNvSpPr txBox="1"/>
          <p:nvPr/>
        </p:nvSpPr>
        <p:spPr>
          <a:xfrm>
            <a:off x="1450000" y="1620000"/>
            <a:ext cx="10050000" cy="1250000"/>
          </a:xfrm>
          <a:prstGeom prst="rect">
            <a:avLst/>
          </a:prstGeom>
          <a:noFill/>
        </p:spPr>
        <p:txBody>
          <a:bodyPr wrap="square" anchor="ctr" lIns="50800" rIns="50800">
            <a:spAutoFit/>
          </a:bodyPr>
          <a:lstStyle/>
          <a:p>
            <a:pPr algn="l"/>
            <a:r>
              <a:rPr sz="1800" b="0">
                <a:solidFill>
                  <a:srgbClr val="1B2430"/>
                </a:solidFill>
                <a:latin typeface="Calibri"/>
              </a:rPr>
              <a:t>TensorRT dvigatelini bir GPU'da qurib, boshqasida ishlatish. Engine arxitektura (SM versiyasi) va TensorRT versiyasiga bog'langan; T4 da qurilgan dvigatel A100 da ishlamaydi. Konteynerga…</a:t>
            </a:r>
          </a:p>
        </p:txBody>
      </p:sp>
      <p:sp>
        <p:nvSpPr>
          <p:cNvPr id="13" name="Rounded Rectangle 12"/>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99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38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6" name="TextBox 15"/>
          <p:cNvSpPr txBox="1"/>
          <p:nvPr/>
        </p:nvSpPr>
        <p:spPr>
          <a:xfrm>
            <a:off x="1450000" y="2990000"/>
            <a:ext cx="10050000" cy="1250000"/>
          </a:xfrm>
          <a:prstGeom prst="rect">
            <a:avLst/>
          </a:prstGeom>
          <a:noFill/>
        </p:spPr>
        <p:txBody>
          <a:bodyPr wrap="square" anchor="ctr" lIns="50800" rIns="50800">
            <a:spAutoFit/>
          </a:bodyPr>
          <a:lstStyle/>
          <a:p>
            <a:pPr algn="l"/>
            <a:r>
              <a:rPr sz="1800" b="0">
                <a:solidFill>
                  <a:srgbClr val="1B2430"/>
                </a:solidFill>
                <a:latin typeface="Calibri"/>
              </a:rPr>
              <a:t>Quvvatni bitta nuqtada o'lchash. nvidia-smi o'qishlari 100 ms da yangilanadi va bo'sh/yuklangan holatlar aralashadi. Kamida 10–30 soniyalik yuklama davomida o'rtachani oling, bo'sh quvvatni…</a:t>
            </a:r>
          </a:p>
        </p:txBody>
      </p:sp>
      <p:sp>
        <p:nvSpPr>
          <p:cNvPr id="17" name="Rounded Rectangle 16"/>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436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75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20" name="TextBox 19"/>
          <p:cNvSpPr txBox="1"/>
          <p:nvPr/>
        </p:nvSpPr>
        <p:spPr>
          <a:xfrm>
            <a:off x="1450000" y="4360000"/>
            <a:ext cx="10050000" cy="1250000"/>
          </a:xfrm>
          <a:prstGeom prst="rect">
            <a:avLst/>
          </a:prstGeom>
          <a:noFill/>
        </p:spPr>
        <p:txBody>
          <a:bodyPr wrap="square" anchor="ctr" lIns="50800" rIns="50800">
            <a:spAutoFit/>
          </a:bodyPr>
          <a:lstStyle/>
          <a:p>
            <a:pPr algn="l"/>
            <a:r>
              <a:rPr sz="1800" b="0">
                <a:solidFill>
                  <a:srgbClr val="1B2430"/>
                </a:solidFill>
                <a:latin typeface="Calibri"/>
              </a:rPr>
              <a:t>Aniqlikni faqat umumiy top-1 bilan baholash. Kvantlash ba'zi sinflar yoki kam uchraydigan holatlarga nomutanosib ta'sir qilishi mumkin. Sinflar bo'yicha chalkashlik matritsasi (confusion…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LABORATORIYA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Virtual laboratoriya va kodlar</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A3 · Sun'iy intellekt tizimlarini optimallashtirish va unumdorligini baholash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41</a:t>
            </a:r>
          </a:p>
        </p:txBody>
      </p:sp>
      <p:pic>
        <p:nvPicPr>
          <p:cNvPr id="10" name="Picture 9" descr="image.png"/>
          <p:cNvPicPr>
            <a:picLocks noChangeAspect="1"/>
          </p:cNvPicPr>
          <p:nvPr/>
        </p:nvPicPr>
        <p:blipFill>
          <a:blip r:embed="rId2"/>
          <a:stretch>
            <a:fillRect/>
          </a:stretch>
        </p:blipFill>
        <p:spPr>
          <a:xfrm>
            <a:off x="8300000" y="1600000"/>
            <a:ext cx="3200000" cy="3200000"/>
          </a:xfrm>
          <a:prstGeom prst="rect">
            <a:avLst/>
          </a:prstGeom>
        </p:spPr>
      </p:pic>
      <p:sp>
        <p:nvSpPr>
          <p:cNvPr id="11" name="TextBox 10"/>
          <p:cNvSpPr txBox="1"/>
          <p:nvPr/>
        </p:nvSpPr>
        <p:spPr>
          <a:xfrm>
            <a:off x="600000" y="1500000"/>
            <a:ext cx="7400000" cy="4600000"/>
          </a:xfrm>
          <a:prstGeom prst="rect">
            <a:avLst/>
          </a:prstGeom>
          <a:noFill/>
        </p:spPr>
        <p:txBody>
          <a:bodyPr wrap="square" anchor="t" lIns="50800" rIns="50800">
            <a:spAutoFit/>
          </a:bodyPr>
          <a:lstStyle/>
          <a:p>
            <a:pPr algn="l"/>
            <a:r>
              <a:rPr sz="1900" b="0">
                <a:solidFill>
                  <a:srgbClr val="1B2430"/>
                </a:solidFill>
                <a:latin typeface="Calibri"/>
              </a:rPr>
              <a:t>Saytda bajarish: https://aiscan.airi.uz/ktm/ → Mavzular → A3 → 🧪 Virtual bajarish (6 bosqich)</a:t>
            </a:r>
          </a:p>
          <a:p>
            <a:pPr algn="l"/>
            <a:r>
              <a:rPr sz="1900" b="0">
                <a:solidFill>
                  <a:srgbClr val="1B2430"/>
                </a:solidFill>
                <a:latin typeface="Calibri"/>
              </a:rPr>
              <a:t>Kodlarni ko‘chirib olish — QR kod yoki:</a:t>
            </a:r>
          </a:p>
          <a:p>
            <a:pPr algn="l"/>
            <a:r>
              <a:rPr sz="1900" b="0">
                <a:solidFill>
                  <a:srgbClr val="1B2430"/>
                </a:solidFill>
                <a:latin typeface="Calibri"/>
              </a:rPr>
              <a:t>git clone https://github.com/sayka7/ktm_labs.git</a:t>
            </a:r>
          </a:p>
          <a:p>
            <a:pPr algn="l"/>
            <a:r>
              <a:rPr sz="1900" b="0">
                <a:solidFill>
                  <a:srgbClr val="1B2430"/>
                </a:solidFill>
                <a:latin typeface="Calibri"/>
              </a:rPr>
              <a:t>Mustaqil topshiriq: 20 variantdan o‘zingizniki (jurnal raqami bo‘yicha)</a:t>
            </a:r>
          </a:p>
          <a:p>
            <a:pPr algn="l"/>
            <a:r>
              <a:rPr sz="1900" b="0">
                <a:solidFill>
                  <a:srgbClr val="1B2430"/>
                </a:solidFill>
                <a:latin typeface="Calibri"/>
              </a:rPr>
              <a:t>Topshirish: saytdagi «📤 Topshirish va baho» — avtomatik tekshiruv</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35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F6E80"/>
              </a:gs>
              <a:gs pos="100000">
                <a:srgbClr val="14284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3900000"/>
            <a:ext cx="3600000" cy="3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0000" y="1900000"/>
            <a:ext cx="10800000" cy="1100000"/>
          </a:xfrm>
          <a:prstGeom prst="rect">
            <a:avLst/>
          </a:prstGeom>
          <a:noFill/>
        </p:spPr>
        <p:txBody>
          <a:bodyPr wrap="square" anchor="t" lIns="50800" rIns="50800">
            <a:spAutoFit/>
          </a:bodyPr>
          <a:lstStyle/>
          <a:p>
            <a:pPr algn="ctr"/>
            <a:r>
              <a:rPr sz="4400" b="1">
                <a:solidFill>
                  <a:srgbClr val="FFFFFF"/>
                </a:solidFill>
                <a:latin typeface="Calibri"/>
              </a:rPr>
              <a:t>E’tiboringiz uchun rahmat!</a:t>
            </a:r>
          </a:p>
        </p:txBody>
      </p:sp>
      <p:sp>
        <p:nvSpPr>
          <p:cNvPr id="5" name="TextBox 4"/>
          <p:cNvSpPr txBox="1"/>
          <p:nvPr/>
        </p:nvSpPr>
        <p:spPr>
          <a:xfrm>
            <a:off x="700000" y="3200000"/>
            <a:ext cx="10800000" cy="500000"/>
          </a:xfrm>
          <a:prstGeom prst="rect">
            <a:avLst/>
          </a:prstGeom>
          <a:noFill/>
        </p:spPr>
        <p:txBody>
          <a:bodyPr wrap="square" anchor="t" lIns="50800" rIns="50800">
            <a:spAutoFit/>
          </a:bodyPr>
          <a:lstStyle/>
          <a:p>
            <a:pPr algn="ctr"/>
            <a:r>
              <a:rPr sz="2600" b="1">
                <a:solidFill>
                  <a:srgbClr val="7FD6D7"/>
                </a:solidFill>
                <a:latin typeface="Calibri"/>
              </a:rPr>
              <a:t>Savollar?</a:t>
            </a:r>
          </a:p>
        </p:txBody>
      </p:sp>
      <p:sp>
        <p:nvSpPr>
          <p:cNvPr id="6" name="TextBox 5"/>
          <p:cNvSpPr txBox="1"/>
          <p:nvPr/>
        </p:nvSpPr>
        <p:spPr>
          <a:xfrm>
            <a:off x="1200000" y="4300000"/>
            <a:ext cx="9800000" cy="1200000"/>
          </a:xfrm>
          <a:prstGeom prst="rect">
            <a:avLst/>
          </a:prstGeom>
          <a:noFill/>
        </p:spPr>
        <p:txBody>
          <a:bodyPr wrap="square" anchor="t" lIns="50800" rIns="50800">
            <a:spAutoFit/>
          </a:bodyPr>
          <a:lstStyle/>
          <a:p>
            <a:pPr algn="ctr"/>
            <a:r>
              <a:rPr sz="1600" b="0">
                <a:solidFill>
                  <a:srgbClr val="D7E3F4"/>
                </a:solidFill>
                <a:latin typeface="Calibri"/>
              </a:rPr>
              <a:t>Mavzu matni va materiallar: https://aiscan.airi.uz/ktm/#/c/mis2104/mavzu/A3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50"/>
                            </p:stCondLst>
                            <p:childTnLst>
                              <p:par>
                                <p:cTn id="16" presetID="42"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ppt_x</p:attrName>
                                        </p:attrNameLst>
                                      </p:cBhvr>
                                      <p:tavLst>
                                        <p:tav tm="0">
                                          <p:val>
                                            <p:strVal val="#ppt_x"/>
                                          </p:val>
                                        </p:tav>
                                        <p:tav tm="100000">
                                          <p:val>
                                            <p:strVal val="#ppt_x"/>
                                          </p:val>
                                        </p:tav>
                                      </p:tavLst>
                                    </p:anim>
                                    <p:anim calcmode="lin" valueType="num">
                                      <p:cBhvr additive="base">
                                        <p:cTn id="20" dur="550" fill="hold"/>
                                        <p:tgtEl>
                                          <p:spTgt spid="5"/>
                                        </p:tgtEl>
                                        <p:attrNameLst>
                                          <p:attrName>ppt_y</p:attrName>
                                        </p:attrNameLst>
                                      </p:cBhvr>
                                      <p:tavLst>
                                        <p:tav tm="0">
                                          <p:val>
                                            <p:strVal val="#ppt_y+.08"/>
                                          </p:val>
                                        </p:tav>
                                        <p:tav tm="100000">
                                          <p:val>
                                            <p:strVal val="#ppt_y"/>
                                          </p:val>
                                        </p:tav>
                                      </p:tavLst>
                                    </p:anim>
                                  </p:childTnLst>
                                </p:cTn>
                              </p:par>
                            </p:childTnLst>
                          </p:cTn>
                        </p:par>
                        <p:par>
                          <p:cTn id="21" fill="hold">
                            <p:stCondLst>
                              <p:cond delay="55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
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a:p/>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a:p/>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a:p/>
          <a:p>
            <a:r>
              <a:t>Grafik optimallashtirish darajalari ONNX Runtime'da uchta: basic (constant folding, keraksiz Cast/Identity olib tashlash), extended (Conv+BN, MatMul+Add, GELU/LayerNorm birlashtirish — provayderga bog'liq), all (layout optimallashtirish, NCHWc). TensorRT esa qurish (build) bosqichida yanada agressiv: qatlamlarni vertikal (ketma-ket) va gorizontal (parallel bir xil qatlamlar) birlashtirish, har qatlam uchun yuzlab yadro variantidan eng tezini o'lchab tanlash (bu 1–10 daqiqa olishi mumkin), xotira rejasini oldindan tuzish.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FP32 (1 ishora, 8 eksponenta, 23 mantissa biti) — o'qitishning standart formati. 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 «Aralash» deyilishining sababi — ba'zi operatorlar (Softmax, LayerNorm, yig'indi) raqamli barqarorlik uchun FP32 da qoladi; TensorRT va ONNX Runtime buni avtomatik hal qiladi, dasturchi esa qaysi qatlamlar FP32 da qolishini belgilashi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haqiqiy sonlarni 8 bitli (yoki kamroq) butun songa akslantirish: q = round(x / s) + z, bu yerda s — masshtab (scale), z — nol nuqta (zero point). Simmetrik kvantlashda z = 0 va s = max|x| / 127; asimmetrikda diapazon [x_min, x_max] to'liq ishlatiladi. Masshtab butun tensor uchun bitta (per-tensor) yoki har chiqish kanali uchun alohida (per-channel) bo'lishi mumkin; per-channel vaznlar uchun aniqlikni sezilarli yaxshilaydi.</a:t>
            </a:r>
          </a:p>
          <a:p/>
          <a:p>
            <a:r>
              <a:t>Uch asosiy yondashuv:</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 bitta so'rov uchun vaqt; taqsimot sifatida o'lchanadi, hisobotda p50, p95, p99 beriladi, chunki foydalanuvchi tajribasini aynan sekin so'rovlar belgilaydi. 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a:p/>
          <a:p>
            <a:r>
              <a:t>Energiya samaradorligi — inferens boshiga joul: E = P_o'rtacha × t_inferens yoki inferens/s / Vt. 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 A1 da ko'rilgan Roofline modeli bu yerda ham ishlaydi: kvantlash bir vaqtda ham hisoblash cho'qqisini (INT8 tezroq), ham xotira talabini (4 baravar kam bayt) yaxshilaydi, shuning uchun u har ikki rejimdagi modellarga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a:p/>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Nima bo'ldi va nega. dynamic_axes paket o'lchamini o'zgaruvchan qiladi — keyin throughput o'lchovida 1, 8, 32 paketlarni bitta fayl bilan sinaymiz. do_constant_folding eksport paytidayoq doimiy qism-grafiklarni hisoblaydi. Etalon latency keyingi barcha solishtirishlar uchun 1,0× nuqtasi.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o'lchovlarni bitta jadvalga yig'ing (konfiguratsiya, apparat, p50, p95, throughput, hajm, top-1, mJ/rasm) va ikki o'qli tahlil qiling: latency–aniqlik va throughput–energiya. Pareto-optimal nuqtalar — boshqa hech bir konfiguratsiya ikkala ko'rsatkichda ham undan yaxshi bo'lmaganlar. Odatda FP16 TensorRT (aniqlik deyarli saqlangan, 3 baravar tezroq) va INT8 (eng tez, 0,7 p.p. yo'qotish) Pareto chegarasida bo'ladi; qaysi birini tanlash talabga bog'liq: tibbiy tasniflash uchun FP16, 1000 kamerali kuzatuv uchun INT8.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(5–7 bet): (1) muhit — CPU/GPU modeli, VNNI/Tensor Core mavjudligi, kutubxona versiyalari; (2) eksport natijasi — tugunlar soni, opset, PyTorch bilan maksimal farq; (3) 2-qadam jadvali va optimallashtirish darajalarining izohi; (4) kvantlash jadvali — hajm, latency, aniqlik; kalibrlash usullari solishtiruvi; (5) TensorRT yoki OpenVINO jadvali quvvat bilan; (6) yakuniy Pareto jadvali va grafigi (ikki o'q); (7) tavsiya — aniq ssenariy (A1 dagi SHV tizimi yoki talaba tanlagan boshqa) uchun konfiguratsiya va asoslash; (8) xulosa.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a:p/>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a:p/>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Dinamik kvantlash ResNet-50 da tezlanish bermadi, lekin BERT'da 2 baravar beradi. Ikkala arxitekturaning hisoblash profili bu farqni qanday tushuntiradi?</a:t>
            </a:r>
          </a:p>
          <a:p/>
          <a:p>
            <a:r>
              <a:t>Per-channel kvantlash per-tensor'ga nisbatan aniqlikni nega yaxshilaydi? Buni konvolyutsiya vaznlarining kanallar bo'yicha taqsimoti nuqtai nazaridan tushuntiring va qaysi qatlamlarda farq eng katta bo'ladi?</a:t>
            </a:r>
          </a:p>
          <a:p/>
          <a:p>
            <a:r>
              <a:t>Percentile kalibrlash MinMax'dan nima uchun yaxshi natija berdi? Qanday ma'lumot taqsimotida aksincha bo'lishi mumkin?</a:t>
            </a:r>
          </a:p>
          <a:p/>
          <a:p>
            <a:r>
              <a:t>TensorRT FP16 quvvatni deyarli o'zgartirmagan holda throughput'ni 2,7 baravar oshirdi. Agar maqsad quvvatni kamaytirish bo'lsa (masalan, batareyali qurilma), bu natijadan qanday foydalanasiz?</a:t>
            </a:r>
          </a:p>
          <a:p/>
          <a:p>
            <a:r>
              <a:t>Latency–throughput kompromissini Little qonuni orqali ifodalang va 50 ms p95 talabi bilan 2000 so'rov/s ni ta'minlash uchun T4 INT8 dvigatelida qanday paket o'lchami va nechta nusxa kerakligini baholang.</a:t>
            </a:r>
          </a:p>
          <a:p/>
          <a:p>
            <a:r>
              <a:t>1000 tasvirda o'lchangan 0,7 p.p. aniqlik farqi statistik jihatdan ishonchlimi? Ishonch intervalini baholang va qanday to'plam hajmi kerakligini ayting.</a:t>
            </a:r>
          </a:p>
          <a:p/>
          <a:p>
            <a:r>
              <a:t>ONNX Runtime universal, TensorRT tezroq, OpenVINO Intel uchun. Ko'p turdagi apparatga (bulut GPU + chekka Intel NUC + Jetson) joylanadigan mahsulot uchun qanday optimallashtirish strategiyasi va CI jarayonini taklif qilasiz?</a:t>
            </a:r>
          </a:p>
          <a:p/>
          <a:p>
            <a:r>
              <a:t>Kvantlash xavfsizlik nuqtai nazaridan yangi muammo tug'dirishi mumkinmi (masalan, adversarial mustahkamlik o'zgarishi)? Fikringizni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Dinamik kvantlash ResNet-50 da tezlanish bermadi, lekin BERT'da 2 baravar beradi. Ikkala arxitekturaning hisoblash profili bu farqni qanday tushuntiradi?</a:t>
            </a:r>
          </a:p>
          <a:p/>
          <a:p>
            <a:r>
              <a:t>Per-channel kvantlash per-tensor'ga nisbatan aniqlikni nega yaxshilaydi? Buni konvolyutsiya vaznlarining kanallar bo'yicha taqsimoti nuqtai nazaridan tushuntiring va qaysi qatlamlarda farq eng katta bo'ladi?</a:t>
            </a:r>
          </a:p>
          <a:p/>
          <a:p>
            <a:r>
              <a:t>Percentile kalibrlash MinMax'dan nima uchun yaxshi natija berdi? Qanday ma'lumot taqsimotida aksincha bo'lishi mumkin?</a:t>
            </a:r>
          </a:p>
          <a:p/>
          <a:p>
            <a:r>
              <a:t>TensorRT FP16 quvvatni deyarli o'zgartirmagan holda throughput'ni 2,7 baravar oshirdi. Agar maqsad quvvatni kamaytirish bo'lsa (masalan, batareyali qurilma), bu natijadan qanday foydalanasiz?</a:t>
            </a:r>
          </a:p>
          <a:p/>
          <a:p>
            <a:r>
              <a:t>Latency–throughput kompromissini Little qonuni orqali ifodalang va 50 ms p95 talabi bilan 2000 so'rov/s ni ta'minlash uchun T4 INT8 dvigatelida qanday paket o'lchami va nechta nusxa kerakligini baholang.</a:t>
            </a:r>
          </a:p>
          <a:p/>
          <a:p>
            <a:r>
              <a:t>1000 tasvirda o'lchangan 0,7 p.p. aniqlik farqi statistik jihatdan ishonchlimi? Ishonch intervalini baholang va qanday to'plam hajmi kerakligini ayting.</a:t>
            </a:r>
          </a:p>
          <a:p/>
          <a:p>
            <a:r>
              <a:t>ONNX Runtime universal, TensorRT tezroq, OpenVINO Intel uchun. Ko'p turdagi apparatga (bulut GPU + chekka Intel NUC + Jetson) joylanadigan mahsulot uchun qanday optimallashtirish strategiyasi va CI jarayonini taklif qilasiz?</a:t>
            </a:r>
          </a:p>
          <a:p/>
          <a:p>
            <a:r>
              <a:t>Kvantlash xavfsizlik nuqtai nazaridan yangi muammo tug'dirishi mumkinmi (masalan, adversarial mustahkamlik o'zgarishi)? Fikringizni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2-mustaqil ta'lim topshirig'i). O'zingiz tanlagan modelni (ob'ekt aniqlash — YOLOv8s, segmentatsiya — DeepLabV3, yoki NLP — DistilBERT) TensorRT, ONNX Runtime yoki OpenVINO yordamida optimallashtiring: FP32 → FP16 → INT8 (statik PTQ, kamida ikki kalibrlash usuli) → mumkin bo'lsa QAT. Har bosqich uchun latency (p50/p95), throughput (ikki paket o'lchamida), model hajmi, vazifaga mos aniqlik (mAP, mIoU yoki F1) va energiya (mJ/inferens) o'lchang. Pareto tahlili va aniq joylashtirish ssenariysi uchun tavsiya bering. Hajm 6–8 bet, kod ilova sifatida. Baholash: metodikaning to'g'riligi (30 %), natijalar to'liqligi (30 %), tahlil va tavsiya asosliligi (30 %), rasmiylashtirish (10 %).</a:t>
            </a:r>
          </a:p>
          <a:p/>
          <a:p>
            <a:r>
              <a:t>2-topshiriq. Sezgirlik tahlili: statik INT8 ResNet-50 (yoki o'z modelingiz) uchun har bir qatlamni alohida FP32 da qoldirib, aniqlik tiklanishini o'lchang; eng sezgir 3 qatlamni aniqlang va aralash konfiguratsiya (INT8 + 3 ta FP16/FP32 qatlam) uchun latency va aniqlikni to'liq INT8 bilan solishtiring. Baholash: avtomatlashtirilgan skript (40 %), natijalar talqini (40 %), hisobot (20 %).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Opset va tugunlar — oson, 5 ball.</a:t>
            </a:r>
          </a:p>
          <a:p/>
          <a:p>
            <a:r>
              <a:t>Optimallashtirish darajalari jadvali — oson, 5 ball.</a:t>
            </a:r>
          </a:p>
          <a:p/>
          <a:p>
            <a:r>
              <a:t>Kvantlash formulasi — oson, 5 ball.</a:t>
            </a:r>
          </a:p>
          <a:p/>
          <a:p>
            <a:r>
              <a:t>Kalibrlash to'plami hajmi — o'rta, 10 ball.</a:t>
            </a:r>
          </a:p>
          <a:p/>
          <a:p>
            <a:r>
              <a:t>Sezgir qatlam tahlili — o'rta, 10 ball.</a:t>
            </a:r>
          </a:p>
          <a:p/>
          <a:p>
            <a:r>
              <a:t>Paket va kechikish byudjeti — o'rta, 10 ball.</a:t>
            </a:r>
          </a:p>
          <a:p/>
          <a:p>
            <a:r>
              <a:t>MLP vs CNN: dinamik kvantlash farqi — o'rta, 10 ball.</a:t>
            </a:r>
          </a:p>
          <a:p/>
          <a:p>
            <a:r>
              <a:t>QAT bilan aniqlikni tiklash — qiyin, 15 ball.</a:t>
            </a:r>
          </a:p>
          <a:p/>
          <a:p>
            <a:r>
              <a:t>Latency taqsimoti va ishonch intervali — qiyin, 15 ball.</a:t>
            </a:r>
          </a:p>
          <a:p/>
          <a:p>
            <a:r>
              <a:t>To'liq Pareto hisoboti o'z modelingiz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Opset va tugunlar — oson, 5 ball.</a:t>
            </a:r>
          </a:p>
          <a:p/>
          <a:p>
            <a:r>
              <a:t>Optimallashtirish darajalari jadvali — oson, 5 ball.</a:t>
            </a:r>
          </a:p>
          <a:p/>
          <a:p>
            <a:r>
              <a:t>Kvantlash formulasi — oson, 5 ball.</a:t>
            </a:r>
          </a:p>
          <a:p/>
          <a:p>
            <a:r>
              <a:t>Kalibrlash to'plami hajmi — o'rta, 10 ball.</a:t>
            </a:r>
          </a:p>
          <a:p/>
          <a:p>
            <a:r>
              <a:t>Sezgir qatlam tahlili — o'rta, 10 ball.</a:t>
            </a:r>
          </a:p>
          <a:p/>
          <a:p>
            <a:r>
              <a:t>Paket va kechikish byudjeti — o'rta, 10 ball.</a:t>
            </a:r>
          </a:p>
          <a:p/>
          <a:p>
            <a:r>
              <a:t>MLP vs CNN: dinamik kvantlash farqi — o'rta, 10 ball.</a:t>
            </a:r>
          </a:p>
          <a:p/>
          <a:p>
            <a:r>
              <a:t>QAT bilan aniqlikni tiklash — qiyin, 15 ball.</a:t>
            </a:r>
          </a:p>
          <a:p/>
          <a:p>
            <a:r>
              <a:t>Latency taqsimoti va ishonch intervali — qiyin, 15 ball.</a:t>
            </a:r>
          </a:p>
          <a:p/>
          <a:p>
            <a:r>
              <a:t>To'liq Pareto hisoboti o'z modelingiz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Opset va tugunlar — oson, 5 ball.</a:t>
            </a:r>
          </a:p>
          <a:p/>
          <a:p>
            <a:r>
              <a:t>Optimallashtirish darajalari jadvali — oson, 5 ball.</a:t>
            </a:r>
          </a:p>
          <a:p/>
          <a:p>
            <a:r>
              <a:t>Kvantlash formulasi — oson, 5 ball.</a:t>
            </a:r>
          </a:p>
          <a:p/>
          <a:p>
            <a:r>
              <a:t>Kalibrlash to'plami hajmi — o'rta, 10 ball.</a:t>
            </a:r>
          </a:p>
          <a:p/>
          <a:p>
            <a:r>
              <a:t>Sezgir qatlam tahlili — o'rta, 10 ball.</a:t>
            </a:r>
          </a:p>
          <a:p/>
          <a:p>
            <a:r>
              <a:t>Paket va kechikish byudjeti — o'rta, 10 ball.</a:t>
            </a:r>
          </a:p>
          <a:p/>
          <a:p>
            <a:r>
              <a:t>MLP vs CNN: dinamik kvantlash farqi — o'rta, 10 ball.</a:t>
            </a:r>
          </a:p>
          <a:p/>
          <a:p>
            <a:r>
              <a:t>QAT bilan aniqlikni tiklash — qiyin, 15 ball.</a:t>
            </a:r>
          </a:p>
          <a:p/>
          <a:p>
            <a:r>
              <a:t>Latency taqsimoti va ishonch intervali — qiyin, 15 ball.</a:t>
            </a:r>
          </a:p>
          <a:p/>
          <a:p>
            <a:r>
              <a:t>To'liq Pareto hisoboti o'z modelingiz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maxsus arxitekturalarda aniqlik va unumdorlik.</a:t>
            </a:r>
          </a:p>
          <a:p/>
          <a:p>
            <a:r>
              <a:t>[2] Kneusel, R. T. Artificial Intelligence Engineering: A Practical Guide for AI Applications. No Starch Press, 2023. — modelni ishlab chiqarishga tayyorlash.</a:t>
            </a:r>
          </a:p>
          <a:p/>
          <a:p>
            <a:r>
              <a:t>[3] Amershi, S. va boshq. Machine Learning Engineering. MIT Press, 2025. — inferens unumdorligi va ekspluatatsiya talablari.</a:t>
            </a:r>
          </a:p>
          <a:p/>
          <a:p>
            <a:r>
              <a:t>[4] Sze, V., Chen, Y.-H., Yang, T.-J., &amp; Emer, J. S. Efficient Processing of Deep Neural Networks. Morgan &amp; Claypool, 2020. — kvantlash, siyraklashtirish va energiya samaradorligi metrikalari.</a:t>
            </a:r>
          </a:p>
          <a:p/>
          <a:p>
            <a:r>
              <a:t>[6] NVIDIA Developer Portal — TensorRT Developer Guide, trtexec, INT8 kalibrlash va Q/DQ qo'llab-quvvatlash (https://developer.nvidia.com).</a:t>
            </a:r>
          </a:p>
          <a:p/>
          <a:p>
            <a:r>
              <a:t>[7] PyTorch rasmiy hujjatlari — torch.onnx, torch.ao.quantization (https://pytorch.org).</a:t>
            </a:r>
          </a:p>
          <a:p/>
          <a:p>
            <a:r>
              <a:t>[10] ONNX rasmiy sayti va spetsifikatsiyasi — operatorlar va opset versiyalari (https://onnx.ai).</a:t>
            </a:r>
          </a:p>
          <a:p/>
          <a:p>
            <a:r>
              <a:t>ONNX Runtime hujjatlari — kvantlash, grafik optimallashtirish, ijro provayderlari (https://onnxruntime.ai/docs).</a:t>
            </a:r>
          </a:p>
          <a:p/>
          <a:p>
            <a:r>
              <a:t>OpenVINO hujjatlari va NNCF (https://docs.openvino.ai).</a:t>
            </a:r>
          </a:p>
          <a:p/>
          <a:p>
            <a:r>
              <a:t>Jacob, B. va boshq. Quantization and Training of Neural Networks for Efficient Integer-Arithmetic-Only Inference. CVPR 2018. — butun sonli kvantlash sxemasi va QAT asoslari.</a:t>
            </a:r>
          </a:p>
          <a:p/>
          <a:p>
            <a:r>
              <a:t>Nagel, M. va boshq. A White Paper on Neural Network Quantization. arXiv:2106.08295, 2021. — PTQ va QAT amaliy tavsiyalari.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maxsus arxitekturalarda aniqlik va unumdorlik.</a:t>
            </a:r>
          </a:p>
          <a:p/>
          <a:p>
            <a:r>
              <a:t>[2] Kneusel, R. T. Artificial Intelligence Engineering: A Practical Guide for AI Applications. No Starch Press, 2023. — modelni ishlab chiqarishga tayyorlash.</a:t>
            </a:r>
          </a:p>
          <a:p/>
          <a:p>
            <a:r>
              <a:t>[3] Amershi, S. va boshq. Machine Learning Engineering. MIT Press, 2025. — inferens unumdorligi va ekspluatatsiya talablari.</a:t>
            </a:r>
          </a:p>
          <a:p/>
          <a:p>
            <a:r>
              <a:t>[4] Sze, V., Chen, Y.-H., Yang, T.-J., &amp; Emer, J. S. Efficient Processing of Deep Neural Networks. Morgan &amp; Claypool, 2020. — kvantlash, siyraklashtirish va energiya samaradorligi metrikalari.</a:t>
            </a:r>
          </a:p>
          <a:p/>
          <a:p>
            <a:r>
              <a:t>[6] NVIDIA Developer Portal — TensorRT Developer Guide, trtexec, INT8 kalibrlash va Q/DQ qo'llab-quvvatlash (https://developer.nvidia.com).</a:t>
            </a:r>
          </a:p>
          <a:p/>
          <a:p>
            <a:r>
              <a:t>[7] PyTorch rasmiy hujjatlari — torch.onnx, torch.ao.quantization (https://pytorch.org).</a:t>
            </a:r>
          </a:p>
          <a:p/>
          <a:p>
            <a:r>
              <a:t>[10] ONNX rasmiy sayti va spetsifikatsiyasi — operatorlar va opset versiyalari (https://onnx.ai).</a:t>
            </a:r>
          </a:p>
          <a:p/>
          <a:p>
            <a:r>
              <a:t>ONNX Runtime hujjatlari — kvantlash, grafik optimallashtirish, ijro provayderlari (https://onnxruntime.ai/docs).</a:t>
            </a:r>
          </a:p>
          <a:p/>
          <a:p>
            <a:r>
              <a:t>OpenVINO hujjatlari va NNCF (https://docs.openvino.ai).</a:t>
            </a:r>
          </a:p>
          <a:p/>
          <a:p>
            <a:r>
              <a:t>Jacob, B. va boshq. Quantization and Training of Neural Networks for Efficient Integer-Arithmetic-Only Inference. CVPR 2018. — butun sonli kvantlash sxemasi va QAT asoslari.</a:t>
            </a:r>
          </a:p>
          <a:p/>
          <a:p>
            <a:r>
              <a:t>Nagel, M. va boshq. A White Paper on Neural Network Quantization. arXiv:2106.08295, 2021. — PTQ va QAT amaliy tavsiyalari.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maxsus arxitekturalarda aniqlik va unumdorlik.</a:t>
            </a:r>
          </a:p>
          <a:p/>
          <a:p>
            <a:r>
              <a:t>[2] Kneusel, R. T. Artificial Intelligence Engineering: A Practical Guide for AI Applications. No Starch Press, 2023. — modelni ishlab chiqarishga tayyorlash.</a:t>
            </a:r>
          </a:p>
          <a:p/>
          <a:p>
            <a:r>
              <a:t>[3] Amershi, S. va boshq. Machine Learning Engineering. MIT Press, 2025. — inferens unumdorligi va ekspluatatsiya talablari.</a:t>
            </a:r>
          </a:p>
          <a:p/>
          <a:p>
            <a:r>
              <a:t>[4] Sze, V., Chen, Y.-H., Yang, T.-J., &amp; Emer, J. S. Efficient Processing of Deep Neural Networks. Morgan &amp; Claypool, 2020. — kvantlash, siyraklashtirish va energiya samaradorligi metrikalari.</a:t>
            </a:r>
          </a:p>
          <a:p/>
          <a:p>
            <a:r>
              <a:t>[6] NVIDIA Developer Portal — TensorRT Developer Guide, trtexec, INT8 kalibrlash va Q/DQ qo'llab-quvvatlash (https://developer.nvidia.com).</a:t>
            </a:r>
          </a:p>
          <a:p/>
          <a:p>
            <a:r>
              <a:t>[7] PyTorch rasmiy hujjatlari — torch.onnx, torch.ao.quantization (https://pytorch.org).</a:t>
            </a:r>
          </a:p>
          <a:p/>
          <a:p>
            <a:r>
              <a:t>[10] ONNX rasmiy sayti va spetsifikatsiyasi — operatorlar va opset versiyalari (https://onnx.ai).</a:t>
            </a:r>
          </a:p>
          <a:p/>
          <a:p>
            <a:r>
              <a:t>ONNX Runtime hujjatlari — kvantlash, grafik optimallashtirish, ijro provayderlari (https://onnxruntime.ai/docs).</a:t>
            </a:r>
          </a:p>
          <a:p/>
          <a:p>
            <a:r>
              <a:t>OpenVINO hujjatlari va NNCF (https://docs.openvino.ai).</a:t>
            </a:r>
          </a:p>
          <a:p/>
          <a:p>
            <a:r>
              <a:t>Jacob, B. va boshq. Quantization and Training of Neural Networks for Efficient Integer-Arithmetic-Only Inference. CVPR 2018. — butun sonli kvantlash sxemasi va QAT asoslari.</a:t>
            </a:r>
          </a:p>
          <a:p/>
          <a:p>
            <a:r>
              <a:t>Nagel, M. va boshq. A White Paper on Neural Network Quantization. arXiv:2106.08295, 2021. — PTQ va QAT amaliy tavsiyalari.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A3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Sun'iy intellekt tizimlarini optimallashtirish va unumdorligini baholash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63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387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07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07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770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07000"/>
            <a:ext cx="10050000" cy="387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314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314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277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314000"/>
            <a:ext cx="10050000" cy="387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821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821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784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821000"/>
            <a:ext cx="10050000" cy="387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328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28000"/>
            <a:ext cx="70000" cy="387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291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328000"/>
            <a:ext cx="10050000" cy="387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3835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835000"/>
            <a:ext cx="70000" cy="387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3798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3835000"/>
            <a:ext cx="10050000" cy="387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342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342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305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342000"/>
            <a:ext cx="10050000" cy="387000"/>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4849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49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4812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4849000"/>
            <a:ext cx="10050000" cy="387000"/>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356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356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319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356000"/>
            <a:ext cx="10050000" cy="387000"/>
          </a:xfrm>
          <a:prstGeom prst="rect">
            <a:avLst/>
          </a:prstGeom>
          <a:noFill/>
        </p:spPr>
        <p:txBody>
          <a:bodyPr wrap="square" anchor="ctr" lIns="50800" rIns="50800">
            <a:spAutoFit/>
          </a:bodyPr>
          <a:lstStyle/>
          <a:p>
            <a:pPr algn="l"/>
            <a:r>
              <a:rPr sz="1900" b="0">
                <a:solidFill>
                  <a:srgbClr val="1B2430"/>
                </a:solidFill>
                <a:latin typeface="Calibri"/>
              </a:rPr>
              <a:t>Qo'shimcha topshiriqlar (10 ta)</a:t>
            </a:r>
          </a:p>
        </p:txBody>
      </p:sp>
      <p:sp>
        <p:nvSpPr>
          <p:cNvPr id="46" name="Rounded Rectangle 45"/>
          <p:cNvSpPr/>
          <p:nvPr/>
        </p:nvSpPr>
        <p:spPr>
          <a:xfrm>
            <a:off x="550000" y="5863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863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00000" y="5826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49" name="TextBox 48"/>
          <p:cNvSpPr txBox="1"/>
          <p:nvPr/>
        </p:nvSpPr>
        <p:spPr>
          <a:xfrm>
            <a:off x="1450000" y="5863000"/>
            <a:ext cx="10050000" cy="387000"/>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par>
                          <p:cTn id="223" fill="hold">
                            <p:stCondLst>
                              <p:cond delay="2200"/>
                            </p:stCondLst>
                            <p:childTnLst>
                              <p:par>
                                <p:cTn id="224" presetID="42" presetClass="entr" presetSubtype="0" fill="hold" grpId="0" nodeType="afterEffect">
                                  <p:stCondLst>
                                    <p:cond delay="0"/>
                                  </p:stCondLst>
                                  <p:childTnLst>
                                    <p:set>
                                      <p:cBhvr>
                                        <p:cTn id="225" dur="1" fill="hold">
                                          <p:stCondLst>
                                            <p:cond delay="0"/>
                                          </p:stCondLst>
                                        </p:cTn>
                                        <p:tgtEl>
                                          <p:spTgt spid="46"/>
                                        </p:tgtEl>
                                        <p:attrNameLst>
                                          <p:attrName>style.visibility</p:attrName>
                                        </p:attrNameLst>
                                      </p:cBhvr>
                                      <p:to>
                                        <p:strVal val="visible"/>
                                      </p:to>
                                    </p:set>
                                    <p:animEffect transition="in" filter="fade">
                                      <p:cBhvr>
                                        <p:cTn id="226" dur="550"/>
                                        <p:tgtEl>
                                          <p:spTgt spid="46"/>
                                        </p:tgtEl>
                                      </p:cBhvr>
                                    </p:animEffect>
                                    <p:anim calcmode="lin" valueType="num">
                                      <p:cBhvr additive="base">
                                        <p:cTn id="227" dur="550" fill="hold"/>
                                        <p:tgtEl>
                                          <p:spTgt spid="46"/>
                                        </p:tgtEl>
                                        <p:attrNameLst>
                                          <p:attrName>ppt_x</p:attrName>
                                        </p:attrNameLst>
                                      </p:cBhvr>
                                      <p:tavLst>
                                        <p:tav tm="0">
                                          <p:val>
                                            <p:strVal val="#ppt_x"/>
                                          </p:val>
                                        </p:tav>
                                        <p:tav tm="100000">
                                          <p:val>
                                            <p:strVal val="#ppt_x"/>
                                          </p:val>
                                        </p:tav>
                                      </p:tavLst>
                                    </p:anim>
                                    <p:anim calcmode="lin" valueType="num">
                                      <p:cBhvr additive="base">
                                        <p:cTn id="228" dur="550" fill="hold"/>
                                        <p:tgtEl>
                                          <p:spTgt spid="46"/>
                                        </p:tgtEl>
                                        <p:attrNameLst>
                                          <p:attrName>ppt_y</p:attrName>
                                        </p:attrNameLst>
                                      </p:cBhvr>
                                      <p:tavLst>
                                        <p:tav tm="0">
                                          <p:val>
                                            <p:strVal val="#ppt_y+.08"/>
                                          </p:val>
                                        </p:tav>
                                        <p:tav tm="100000">
                                          <p:val>
                                            <p:strVal val="#ppt_y"/>
                                          </p:val>
                                        </p:tav>
                                      </p:tavLst>
                                    </p:anim>
                                  </p:childTnLst>
                                </p:cTn>
                              </p:par>
                            </p:childTnLst>
                          </p:cTn>
                        </p:par>
                        <p:par>
                          <p:cTn id="229" fill="hold">
                            <p:stCondLst>
                              <p:cond delay="2200"/>
                            </p:stCondLst>
                            <p:childTnLst>
                              <p:par>
                                <p:cTn id="230" presetID="42" presetClass="entr" presetSubtype="0" fill="hold" grpId="0" nodeType="afterEffect">
                                  <p:stCondLst>
                                    <p:cond delay="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550"/>
                                        <p:tgtEl>
                                          <p:spTgt spid="47"/>
                                        </p:tgtEl>
                                      </p:cBhvr>
                                    </p:animEffect>
                                    <p:anim calcmode="lin" valueType="num">
                                      <p:cBhvr additive="base">
                                        <p:cTn id="233" dur="550" fill="hold"/>
                                        <p:tgtEl>
                                          <p:spTgt spid="47"/>
                                        </p:tgtEl>
                                        <p:attrNameLst>
                                          <p:attrName>ppt_x</p:attrName>
                                        </p:attrNameLst>
                                      </p:cBhvr>
                                      <p:tavLst>
                                        <p:tav tm="0">
                                          <p:val>
                                            <p:strVal val="#ppt_x"/>
                                          </p:val>
                                        </p:tav>
                                        <p:tav tm="100000">
                                          <p:val>
                                            <p:strVal val="#ppt_x"/>
                                          </p:val>
                                        </p:tav>
                                      </p:tavLst>
                                    </p:anim>
                                    <p:anim calcmode="lin" valueType="num">
                                      <p:cBhvr additive="base">
                                        <p:cTn id="234" dur="550" fill="hold"/>
                                        <p:tgtEl>
                                          <p:spTgt spid="47"/>
                                        </p:tgtEl>
                                        <p:attrNameLst>
                                          <p:attrName>ppt_y</p:attrName>
                                        </p:attrNameLst>
                                      </p:cBhvr>
                                      <p:tavLst>
                                        <p:tav tm="0">
                                          <p:val>
                                            <p:strVal val="#ppt_y+.08"/>
                                          </p:val>
                                        </p:tav>
                                        <p:tav tm="100000">
                                          <p:val>
                                            <p:strVal val="#ppt_y"/>
                                          </p:val>
                                        </p:tav>
                                      </p:tavLst>
                                    </p:anim>
                                  </p:childTnLst>
                                </p:cTn>
                              </p:par>
                            </p:childTnLst>
                          </p:cTn>
                        </p:par>
                        <p:par>
                          <p:cTn id="235" fill="hold">
                            <p:stCondLst>
                              <p:cond delay="2200"/>
                            </p:stCondLst>
                            <p:childTnLst>
                              <p:par>
                                <p:cTn id="236" presetID="53" presetClass="entr" presetSubtype="16" fill="hold" grpId="0" nodeType="afterEffect">
                                  <p:stCondLst>
                                    <p:cond delay="0"/>
                                  </p:stCondLst>
                                  <p:childTnLst>
                                    <p:set>
                                      <p:cBhvr>
                                        <p:cTn id="237" dur="1" fill="hold">
                                          <p:stCondLst>
                                            <p:cond delay="0"/>
                                          </p:stCondLst>
                                        </p:cTn>
                                        <p:tgtEl>
                                          <p:spTgt spid="48"/>
                                        </p:tgtEl>
                                        <p:attrNameLst>
                                          <p:attrName>style.visibility</p:attrName>
                                        </p:attrNameLst>
                                      </p:cBhvr>
                                      <p:to>
                                        <p:strVal val="visible"/>
                                      </p:to>
                                    </p:set>
                                    <p:animEffect transition="in" filter="fade">
                                      <p:cBhvr>
                                        <p:cTn id="238" dur="550"/>
                                        <p:tgtEl>
                                          <p:spTgt spid="48"/>
                                        </p:tgtEl>
                                      </p:cBhvr>
                                    </p:animEffect>
                                    <p:anim calcmode="lin" valueType="num">
                                      <p:cBhvr additive="base">
                                        <p:cTn id="239" dur="550" fill="hold"/>
                                        <p:tgtEl>
                                          <p:spTgt spid="48"/>
                                        </p:tgtEl>
                                        <p:attrNameLst>
                                          <p:attrName>ppt_w</p:attrName>
                                        </p:attrNameLst>
                                      </p:cBhvr>
                                      <p:tavLst>
                                        <p:tav tm="0">
                                          <p:val>
                                            <p:strVal val="0"/>
                                          </p:val>
                                        </p:tav>
                                        <p:tav tm="100000">
                                          <p:val>
                                            <p:strVal val="#ppt_w"/>
                                          </p:val>
                                        </p:tav>
                                      </p:tavLst>
                                    </p:anim>
                                    <p:anim calcmode="lin" valueType="num">
                                      <p:cBhvr additive="base">
                                        <p:cTn id="240" dur="550" fill="hold"/>
                                        <p:tgtEl>
                                          <p:spTgt spid="48"/>
                                        </p:tgtEl>
                                        <p:attrNameLst>
                                          <p:attrName>ppt_h</p:attrName>
                                        </p:attrNameLst>
                                      </p:cBhvr>
                                      <p:tavLst>
                                        <p:tav tm="0">
                                          <p:val>
                                            <p:strVal val="0"/>
                                          </p:val>
                                        </p:tav>
                                        <p:tav tm="100000">
                                          <p:val>
                                            <p:strVal val="#ppt_h"/>
                                          </p:val>
                                        </p:tav>
                                      </p:tavLst>
                                    </p:anim>
                                  </p:childTnLst>
                                </p:cTn>
                              </p:par>
                            </p:childTnLst>
                          </p:cTn>
                        </p:par>
                        <p:par>
                          <p:cTn id="241" fill="hold">
                            <p:stCondLst>
                              <p:cond delay="2200"/>
                            </p:stCondLst>
                            <p:childTnLst>
                              <p:par>
                                <p:cTn id="242" presetID="42" presetClass="entr" presetSubtype="0" fill="hold" grpId="0" nodeType="afterEffect">
                                  <p:stCondLst>
                                    <p:cond delay="0"/>
                                  </p:stCondLst>
                                  <p:childTnLst>
                                    <p:set>
                                      <p:cBhvr>
                                        <p:cTn id="243" dur="1" fill="hold">
                                          <p:stCondLst>
                                            <p:cond delay="0"/>
                                          </p:stCondLst>
                                        </p:cTn>
                                        <p:tgtEl>
                                          <p:spTgt spid="49"/>
                                        </p:tgtEl>
                                        <p:attrNameLst>
                                          <p:attrName>style.visibility</p:attrName>
                                        </p:attrNameLst>
                                      </p:cBhvr>
                                      <p:to>
                                        <p:strVal val="visible"/>
                                      </p:to>
                                    </p:set>
                                    <p:animEffect transition="in" filter="fade">
                                      <p:cBhvr>
                                        <p:cTn id="244" dur="550"/>
                                        <p:tgtEl>
                                          <p:spTgt spid="49"/>
                                        </p:tgtEl>
                                      </p:cBhvr>
                                    </p:animEffect>
                                    <p:anim calcmode="lin" valueType="num">
                                      <p:cBhvr additive="base">
                                        <p:cTn id="245" dur="550" fill="hold"/>
                                        <p:tgtEl>
                                          <p:spTgt spid="49"/>
                                        </p:tgtEl>
                                        <p:attrNameLst>
                                          <p:attrName>ppt_x</p:attrName>
                                        </p:attrNameLst>
                                      </p:cBhvr>
                                      <p:tavLst>
                                        <p:tav tm="0">
                                          <p:val>
                                            <p:strVal val="#ppt_x"/>
                                          </p:val>
                                        </p:tav>
                                        <p:tav tm="100000">
                                          <p:val>
                                            <p:strVal val="#ppt_x"/>
                                          </p:val>
                                        </p:tav>
                                      </p:tavLst>
                                    </p:anim>
                                    <p:anim calcmode="lin" valueType="num">
                                      <p:cBhvr additive="base">
                                        <p:cTn id="246"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Mashg'ulotning maqsadi — o'qitilgan neyron tarmoq modelini ishlab chiqarish muhitiga tayyorlashning asosiy bosqichlarini amalda bajarish: modelni ONNX (Open Neural Network Exchange)…</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 yakunida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PyTorch modelini ONNX ga eksport qilib, grafikni tekshiradi va dinamik o'lchamlar, opset versiyasi kabi parametrlarni to'g'ri tanlaydi;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ONNX Runtime'da CPU va GPU ijro provayderlari (execution provider) bilan inferensni ishga tushirib, grafik optimallashtirish darajalarining ta'sirini o'lchaydi;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Statik va dinamik kvantlash, FP16 va INT8 rejimlarini qo'llab, kalibrlash (calibration) jarayonini tushuntiradi va aniqlik yo'qotilishini o'lchaydi;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TensorRT dvigatelini qurib, FP32/FP16/INT8 rejimlarini solishtiradi (GPU mavjud bo'lsa) yoki OpenVINO bilan CPU'da xuddi shu tahlilni bajaradi;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Latency (p50/p95/p99), throughput (so'rov/s) va energiya (inferens boshiga joul) ko'rsatkichlarini bir xil metodika bilan o'lchab, Pareto tahlili asosida ishlab chiqarish uchun…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TN4 (AI tizimlarini optimallashtirish usullarini qo'llash) va TN5 (unumdorlikni o'lchash va baholash) ta'lim natijalariga xizmat qiladi; M8 va M10 ma'ruzalarining amaliy…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O'qitilgan model — mahsulotning yarmi. Qolgan yarmi — uni real foydalanuvchi so'roviga 20 millisekundda javob beradigan, serverda imkon qadar kam joy egallaydigan va elektr hisobini oshirmaydigan shaklga keltirish. Sanoat tajribasida o'qitish muhitidagi model…</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Optimallashtirish bir necha qatlamda amalga oshiriladi. Grafik darajasida: operatorlarni birlashtirish (Conv + BatchNorm + ReLU → bitta yadro), doimiy ifodalarni oldindan hisoblash (constant folding), foydalanilmagan tugunlarni olib tashlash.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Vositalar tanlovi apparatga bog'liq: NVIDIA GPU — TensorRT (eng yuqori unumdorlik, lekin vendor-bog'liq); CPU va ko'p platformali yechim — ONNX Runtime (Microsoft, ochiq kod, CPU/CUDA/TensorRT/OpenVINO provayderlari); Intel CPU/iGPU/NPU — OpenVINO. ONNX…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ONNX formati va grafik optimallashtirish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ONNX — neyron tarmoqni hisoblash grafigi sifatida ifodalovchi ochiq standart: tugunlar — operatorlar (Conv, MatMul, Relu, Softmax va boshqalar, opset versiyasiga qarab 190 dan ortiq), qirralar — tensorlar. Har bir opset versiyasi operatorlar semantikasini…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Grafik optimallashtirish darajalari ONNX Runtime'da uchta: basic (constant folding, keraksiz Cast/Identity olib tashlash), extended (Conv+BN, MatMul+Add, GELU/LayerNorm birlashtirish — provayderga bog'liq), all (layout optimallashtirish, NCHWc). TensorRT esa…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Aralash aniqlik va sonli formatlar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FP32 (1 ishora, 8 eksponenta, 23 mantissa biti) — o'qitishning standart formati. FP16 (5 eksponenta, 10 mantissa) diapazoni ±65 504 bilan cheklangan — katta faollashuvlar toshadi (overflow); BF16 (8 eksponenta, 7 mantissa) FP32 diapazonini saqlaydi, aniqlik…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Kvantlash — haqiqiy sonlarni 8 bitli (yoki kamroq) butun songa akslantirish: q = round(x / s) + z, bu yerda s — masshtab (scale), z — nol nuqta (zero point). Simmetrik kvantlashda z = 0 va s = max|x| / 127; asimmetrikda diapazon [x_min, x_max] to'liq…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Uch asosiy yondashuv:</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Statik kvantlashda faollashuvlarning diapazoni kalibrlash to'plamidan aniqlanadi; usullar: MinMax (chetki qiymatlarga sezgir), Entropy/KL-divergentsiya (TensorRT standart), Percentile (99,99 foizlik), MSE. Noto'g'ri kalibrlash — INT8 modellarining aniqlik…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Usul</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Aniqlik yo'qotishi</a:t>
                      </a:r>
                    </a:p>
                  </a:txBody>
                  <a:tcPr>
                    <a:solidFill>
                      <a:srgbClr val="2D5C8F"/>
                    </a:solidFill>
                  </a:tcPr>
                </a:tc>
                <a:tc>
                  <a:txBody>
                    <a:bodyPr/>
                    <a:lstStyle/>
                    <a:p>
                      <a:r>
                        <a:rPr sz="1200" b="1">
                          <a:solidFill>
                            <a:srgbClr val="FFFFFF"/>
                          </a:solidFill>
                          <a:latin typeface="Calibri"/>
                        </a:rPr>
                        <a:t>Tezlanish (CPU)</a:t>
                      </a:r>
                    </a:p>
                  </a:txBody>
                  <a:tcPr>
                    <a:solidFill>
                      <a:srgbClr val="2D5C8F"/>
                    </a:solidFill>
                  </a:tcPr>
                </a:tc>
              </a:tr>
              <a:tr h="520000">
                <a:tc>
                  <a:txBody>
                    <a:bodyPr/>
                    <a:lstStyle/>
                    <a:p>
                      <a:r>
                        <a:rPr sz="1200" b="0">
                          <a:solidFill>
                            <a:srgbClr val="1B2430"/>
                          </a:solidFill>
                          <a:latin typeface="Calibri"/>
                        </a:rPr>
                        <a:t>Dinamik kvantlash</a:t>
                      </a:r>
                    </a:p>
                  </a:txBody>
                  <a:tcPr>
                    <a:solidFill>
                      <a:srgbClr val="F1F4F8"/>
                    </a:solidFill>
                  </a:tcPr>
                </a:tc>
                <a:tc>
                  <a:txBody>
                    <a:bodyPr/>
                    <a:lstStyle/>
                    <a:p>
                      <a:r>
                        <a:rPr sz="1200" b="0">
                          <a:solidFill>
                            <a:srgbClr val="1B2430"/>
                          </a:solidFill>
                          <a:latin typeface="Calibri"/>
                        </a:rPr>
                        <a:t>vaznlar statik, faollashuvlar ish vaqtida</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1,5–2,5× (MatMul og'ir modellar)</a:t>
                      </a:r>
                    </a:p>
                  </a:txBody>
                  <a:tcPr>
                    <a:solidFill>
                      <a:srgbClr val="F1F4F8"/>
                    </a:solidFill>
                  </a:tcPr>
                </a:tc>
              </a:tr>
              <a:tr h="520000">
                <a:tc>
                  <a:txBody>
                    <a:bodyPr/>
                    <a:lstStyle/>
                    <a:p>
                      <a:r>
                        <a:rPr sz="1200" b="0">
                          <a:solidFill>
                            <a:srgbClr val="1B2430"/>
                          </a:solidFill>
                          <a:latin typeface="Calibri"/>
                        </a:rPr>
                        <a:t>Statik kvantlash (PTQ)</a:t>
                      </a:r>
                    </a:p>
                  </a:txBody>
                  <a:tcPr>
                    <a:solidFill>
                      <a:srgbClr val="FFFFFF"/>
                    </a:solidFill>
                  </a:tcPr>
                </a:tc>
                <a:tc>
                  <a:txBody>
                    <a:bodyPr/>
                    <a:lstStyle/>
                    <a:p>
                      <a:r>
                        <a:rPr sz="1200" b="0">
                          <a:solidFill>
                            <a:srgbClr val="1B2430"/>
                          </a:solidFill>
                          <a:latin typeface="Calibri"/>
                        </a:rPr>
                        <a:t>vaznlar va faollashuvlar</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o'rtacha (0,5–2 p.p.)</a:t>
                      </a:r>
                    </a:p>
                  </a:txBody>
                  <a:tcPr>
                    <a:solidFill>
                      <a:srgbClr val="FFFFFF"/>
                    </a:solidFill>
                  </a:tcPr>
                </a:tc>
                <a:tc>
                  <a:txBody>
                    <a:bodyPr/>
                    <a:lstStyle/>
                    <a:p>
                      <a:r>
                        <a:rPr sz="1200" b="0">
                          <a:solidFill>
                            <a:srgbClr val="1B2430"/>
                          </a:solidFill>
                          <a:latin typeface="Calibri"/>
                        </a:rPr>
                        <a:t>2–4×</a:t>
                      </a:r>
                    </a:p>
                  </a:txBody>
                  <a:tcPr>
                    <a:solidFill>
                      <a:srgbClr val="FFFFFF"/>
                    </a:solidFill>
                  </a:tcPr>
                </a:tc>
              </a:tr>
              <a:tr h="520000">
                <a:tc>
                  <a:txBody>
                    <a:bodyPr/>
                    <a:lstStyle/>
                    <a:p>
                      <a:r>
                        <a:rPr sz="1200" b="0">
                          <a:solidFill>
                            <a:srgbClr val="1B2430"/>
                          </a:solidFill>
                          <a:latin typeface="Calibri"/>
                        </a:rPr>
                        <a:t>Kvantlashni hisobga olgan o'qitish (QAT)</a:t>
                      </a:r>
                    </a:p>
                  </a:txBody>
                  <a:tcPr>
                    <a:solidFill>
                      <a:srgbClr val="F1F4F8"/>
                    </a:solidFill>
                  </a:tcPr>
                </a:tc>
                <a:tc>
                  <a:txBody>
                    <a:bodyPr/>
                    <a:lstStyle/>
                    <a:p>
                      <a:r>
                        <a:rPr sz="1200" b="0">
                          <a:solidFill>
                            <a:srgbClr val="1B2430"/>
                          </a:solidFill>
                          <a:latin typeface="Calibri"/>
                        </a:rPr>
                        <a:t>vaznlar va faollashuvlar, soxta kvantlash bilan o'qitiladi</a:t>
                      </a:r>
                    </a:p>
                  </a:txBody>
                  <a:tcPr>
                    <a:solidFill>
                      <a:srgbClr val="F1F4F8"/>
                    </a:solidFill>
                  </a:tcPr>
                </a:tc>
                <a:tc>
                  <a:txBody>
                    <a:bodyPr/>
                    <a:lstStyle/>
                    <a:p>
                      <a:r>
                        <a:rPr sz="1200" b="0">
                          <a:solidFill>
                            <a:srgbClr val="1B2430"/>
                          </a:solidFill>
                          <a:latin typeface="Calibri"/>
                        </a:rPr>
                        <a:t>o'qitish to'plami</a:t>
                      </a:r>
                    </a:p>
                  </a:txBody>
                  <a:tcPr>
                    <a:solidFill>
                      <a:srgbClr val="F1F4F8"/>
                    </a:solidFill>
                  </a:tcPr>
                </a:tc>
                <a:tc>
                  <a:txBody>
                    <a:bodyPr/>
                    <a:lstStyle/>
                    <a:p>
                      <a:r>
                        <a:rPr sz="1200" b="0">
                          <a:solidFill>
                            <a:srgbClr val="1B2430"/>
                          </a:solidFill>
                          <a:latin typeface="Calibri"/>
                        </a:rPr>
                        <a:t>minimal</a:t>
                      </a:r>
                    </a:p>
                  </a:txBody>
                  <a:tcPr>
                    <a:solidFill>
                      <a:srgbClr val="F1F4F8"/>
                    </a:solidFill>
                  </a:tcPr>
                </a:tc>
                <a:tc>
                  <a:txBody>
                    <a:bodyPr/>
                    <a:lstStyle/>
                    <a:p>
                      <a:r>
                        <a:rPr sz="1200" b="0">
                          <a:solidFill>
                            <a:srgbClr val="1B2430"/>
                          </a:solidFill>
                          <a:latin typeface="Calibri"/>
                        </a:rPr>
                        <a:t>2–4×</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ko'rsatkichlari va energiya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Latency — bitta so'rov uchun vaqt; taqsimot sifatida o'lchanadi, hisobotda p50, p95, p99 beriladi, chunki foydalanuvchi tajribasini aynan sekin so'rovlar belgilaydi. Throughput — birlik vaqtda bajarilgan inferenslar; paketlash orqali oshadi, lekin paket…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samaradorligi — inferens boshiga joul: E = P_o'rtacha × t_inferens yoki inferens/s / Vt. GPU'da quvvat nvidia-smi --query-gpu=power.draw yoki NVML orqali 100 ms oraliqda o'qiladi; Jetson'da tegrastats; Intel CPU'da RAPL…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Vositalarni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ONNX Runtime</a:t>
                      </a:r>
                    </a:p>
                  </a:txBody>
                  <a:tcPr>
                    <a:solidFill>
                      <a:srgbClr val="2D5C8F"/>
                    </a:solidFill>
                  </a:tcPr>
                </a:tc>
                <a:tc>
                  <a:txBody>
                    <a:bodyPr/>
                    <a:lstStyle/>
                    <a:p>
                      <a:r>
                        <a:rPr sz="1200" b="1">
                          <a:solidFill>
                            <a:srgbClr val="FFFFFF"/>
                          </a:solidFill>
                          <a:latin typeface="Calibri"/>
                        </a:rPr>
                        <a:t>TensorRT</a:t>
                      </a:r>
                    </a:p>
                  </a:txBody>
                  <a:tcPr>
                    <a:solidFill>
                      <a:srgbClr val="2D5C8F"/>
                    </a:solidFill>
                  </a:tcPr>
                </a:tc>
                <a:tc>
                  <a:txBody>
                    <a:bodyPr/>
                    <a:lstStyle/>
                    <a:p>
                      <a:r>
                        <a:rPr sz="1200" b="1">
                          <a:solidFill>
                            <a:srgbClr val="FFFFFF"/>
                          </a:solidFill>
                          <a:latin typeface="Calibri"/>
                        </a:rPr>
                        <a:t>OpenVINO</a:t>
                      </a:r>
                    </a:p>
                  </a:txBody>
                  <a:tcPr>
                    <a:solidFill>
                      <a:srgbClr val="2D5C8F"/>
                    </a:solidFill>
                  </a:tcPr>
                </a:tc>
              </a:tr>
              <a:tr h="520000">
                <a:tc>
                  <a:txBody>
                    <a:bodyPr/>
                    <a:lstStyle/>
                    <a:p>
                      <a:r>
                        <a:rPr sz="1200" b="0">
                          <a:solidFill>
                            <a:srgbClr val="1B2430"/>
                          </a:solidFill>
                          <a:latin typeface="Calibri"/>
                        </a:rPr>
                        <a:t>Ishlab chiquvchi</a:t>
                      </a:r>
                    </a:p>
                  </a:txBody>
                  <a:tcPr>
                    <a:solidFill>
                      <a:srgbClr val="F1F4F8"/>
                    </a:solidFill>
                  </a:tcPr>
                </a:tc>
                <a:tc>
                  <a:txBody>
                    <a:bodyPr/>
                    <a:lstStyle/>
                    <a:p>
                      <a:r>
                        <a:rPr sz="1200" b="0">
                          <a:solidFill>
                            <a:srgbClr val="1B2430"/>
                          </a:solidFill>
                          <a:latin typeface="Calibri"/>
                        </a:rPr>
                        <a:t>Microsoft (ochiq kod)</a:t>
                      </a:r>
                    </a:p>
                  </a:txBody>
                  <a:tcPr>
                    <a:solidFill>
                      <a:srgbClr val="F1F4F8"/>
                    </a:solidFill>
                  </a:tcPr>
                </a:tc>
                <a:tc>
                  <a:txBody>
                    <a:bodyPr/>
                    <a:lstStyle/>
                    <a:p>
                      <a:r>
                        <a:rPr sz="1200" b="0">
                          <a:solidFill>
                            <a:srgbClr val="1B2430"/>
                          </a:solidFill>
                          <a:latin typeface="Calibri"/>
                        </a:rPr>
                        <a:t>NVIDIA (yopiq yadro, ochiq parser)</a:t>
                      </a:r>
                    </a:p>
                  </a:txBody>
                  <a:tcPr>
                    <a:solidFill>
                      <a:srgbClr val="F1F4F8"/>
                    </a:solidFill>
                  </a:tcPr>
                </a:tc>
                <a:tc>
                  <a:txBody>
                    <a:bodyPr/>
                    <a:lstStyle/>
                    <a:p>
                      <a:r>
                        <a:rPr sz="1200" b="0">
                          <a:solidFill>
                            <a:srgbClr val="1B2430"/>
                          </a:solidFill>
                          <a:latin typeface="Calibri"/>
                        </a:rPr>
                        <a:t>Intel (ochiq kod)</a:t>
                      </a:r>
                    </a:p>
                  </a:txBody>
                  <a:tcPr>
                    <a:solidFill>
                      <a:srgbClr val="F1F4F8"/>
                    </a:solidFill>
                  </a:tcPr>
                </a:tc>
              </a:tr>
              <a:tr h="520000">
                <a:tc>
                  <a:txBody>
                    <a:bodyPr/>
                    <a:lstStyle/>
                    <a:p>
                      <a:r>
                        <a:rPr sz="1200" b="0">
                          <a:solidFill>
                            <a:srgbClr val="1B2430"/>
                          </a:solidFill>
                          <a:latin typeface="Calibri"/>
                        </a:rPr>
                        <a:t>Maqsadli apparat</a:t>
                      </a:r>
                    </a:p>
                  </a:txBody>
                  <a:tcPr>
                    <a:solidFill>
                      <a:srgbClr val="FFFFFF"/>
                    </a:solidFill>
                  </a:tcPr>
                </a:tc>
                <a:tc>
                  <a:txBody>
                    <a:bodyPr/>
                    <a:lstStyle/>
                    <a:p>
                      <a:r>
                        <a:rPr sz="1200" b="0">
                          <a:solidFill>
                            <a:srgbClr val="1B2430"/>
                          </a:solidFill>
                          <a:latin typeface="Calibri"/>
                        </a:rPr>
                        <a:t>CPU, NVIDIA/AMD GPU, NPU, mobil</a:t>
                      </a:r>
                    </a:p>
                  </a:txBody>
                  <a:tcPr>
                    <a:solidFill>
                      <a:srgbClr val="FFFFFF"/>
                    </a:solidFill>
                  </a:tcPr>
                </a:tc>
                <a:tc>
                  <a:txBody>
                    <a:bodyPr/>
                    <a:lstStyle/>
                    <a:p>
                      <a:r>
                        <a:rPr sz="1200" b="0">
                          <a:solidFill>
                            <a:srgbClr val="1B2430"/>
                          </a:solidFill>
                          <a:latin typeface="Calibri"/>
                        </a:rPr>
                        <a:t>faqat NVIDIA GPU va Jetson</a:t>
                      </a:r>
                    </a:p>
                  </a:txBody>
                  <a:tcPr>
                    <a:solidFill>
                      <a:srgbClr val="FFFFFF"/>
                    </a:solidFill>
                  </a:tcPr>
                </a:tc>
                <a:tc>
                  <a:txBody>
                    <a:bodyPr/>
                    <a:lstStyle/>
                    <a:p>
                      <a:r>
                        <a:rPr sz="1200" b="0">
                          <a:solidFill>
                            <a:srgbClr val="1B2430"/>
                          </a:solidFill>
                          <a:latin typeface="Calibri"/>
                        </a:rPr>
                        <a:t>Intel CPU, iGPU, NPU, ARM CPU</a:t>
                      </a:r>
                    </a:p>
                  </a:txBody>
                  <a:tcPr>
                    <a:solidFill>
                      <a:srgbClr val="FFFFFF"/>
                    </a:solidFill>
                  </a:tcPr>
                </a:tc>
              </a:tr>
              <a:tr h="520000">
                <a:tc>
                  <a:txBody>
                    <a:bodyPr/>
                    <a:lstStyle/>
                    <a:p>
                      <a:r>
                        <a:rPr sz="1200" b="0">
                          <a:solidFill>
                            <a:srgbClr val="1B2430"/>
                          </a:solidFill>
                          <a:latin typeface="Calibri"/>
                        </a:rPr>
                        <a:t>Kirish formati</a:t>
                      </a:r>
                    </a:p>
                  </a:txBody>
                  <a:tcPr>
                    <a:solidFill>
                      <a:srgbClr val="F1F4F8"/>
                    </a:solidFill>
                  </a:tcPr>
                </a:tc>
                <a:tc>
                  <a:txBody>
                    <a:bodyPr/>
                    <a:lstStyle/>
                    <a:p>
                      <a:r>
                        <a:rPr sz="1200" b="0">
                          <a:solidFill>
                            <a:srgbClr val="1B2430"/>
                          </a:solidFill>
                          <a:latin typeface="Calibri"/>
                        </a:rPr>
                        <a:t>ONNX</a:t>
                      </a:r>
                    </a:p>
                  </a:txBody>
                  <a:tcPr>
                    <a:solidFill>
                      <a:srgbClr val="F1F4F8"/>
                    </a:solidFill>
                  </a:tcPr>
                </a:tc>
                <a:tc>
                  <a:txBody>
                    <a:bodyPr/>
                    <a:lstStyle/>
                    <a:p>
                      <a:r>
                        <a:rPr sz="1200" b="0">
                          <a:solidFill>
                            <a:srgbClr val="1B2430"/>
                          </a:solidFill>
                          <a:latin typeface="Calibri"/>
                        </a:rPr>
                        <a:t>ONNX, TF, PyTorch (torch-tensorrt)</a:t>
                      </a:r>
                    </a:p>
                  </a:txBody>
                  <a:tcPr>
                    <a:solidFill>
                      <a:srgbClr val="F1F4F8"/>
                    </a:solidFill>
                  </a:tcPr>
                </a:tc>
                <a:tc>
                  <a:txBody>
                    <a:bodyPr/>
                    <a:lstStyle/>
                    <a:p>
                      <a:r>
                        <a:rPr sz="1200" b="0">
                          <a:solidFill>
                            <a:srgbClr val="1B2430"/>
                          </a:solidFill>
                          <a:latin typeface="Calibri"/>
                        </a:rPr>
                        <a:t>ONNX, TF, PyTorch, PaddlePaddle</a:t>
                      </a:r>
                    </a:p>
                  </a:txBody>
                  <a:tcPr>
                    <a:solidFill>
                      <a:srgbClr val="F1F4F8"/>
                    </a:solidFill>
                  </a:tcPr>
                </a:tc>
              </a:tr>
              <a:tr h="520000">
                <a:tc>
                  <a:txBody>
                    <a:bodyPr/>
                    <a:lstStyle/>
                    <a:p>
                      <a:r>
                        <a:rPr sz="1200" b="0">
                          <a:solidFill>
                            <a:srgbClr val="1B2430"/>
                          </a:solidFill>
                          <a:latin typeface="Calibri"/>
                        </a:rPr>
                        <a:t>Kvantlash</a:t>
                      </a:r>
                    </a:p>
                  </a:txBody>
                  <a:tcPr>
                    <a:solidFill>
                      <a:srgbClr val="FFFFFF"/>
                    </a:solidFill>
                  </a:tcPr>
                </a:tc>
                <a:tc>
                  <a:txBody>
                    <a:bodyPr/>
                    <a:lstStyle/>
                    <a:p>
                      <a:r>
                        <a:rPr sz="1200" b="0">
                          <a:solidFill>
                            <a:srgbClr val="1B2430"/>
                          </a:solidFill>
                          <a:latin typeface="Calibri"/>
                        </a:rPr>
                        <a:t>statik/dinamik PTQ, QAT import</a:t>
                      </a:r>
                    </a:p>
                  </a:txBody>
                  <a:tcPr>
                    <a:solidFill>
                      <a:srgbClr val="FFFFFF"/>
                    </a:solidFill>
                  </a:tcPr>
                </a:tc>
                <a:tc>
                  <a:txBody>
                    <a:bodyPr/>
                    <a:lstStyle/>
                    <a:p>
                      <a:r>
                        <a:rPr sz="1200" b="0">
                          <a:solidFill>
                            <a:srgbClr val="1B2430"/>
                          </a:solidFill>
                          <a:latin typeface="Calibri"/>
                        </a:rPr>
                        <a:t>INT8 PTQ (kalibrlash), QAT (Q/DQ)</a:t>
                      </a:r>
                    </a:p>
                  </a:txBody>
                  <a:tcPr>
                    <a:solidFill>
                      <a:srgbClr val="FFFFFF"/>
                    </a:solidFill>
                  </a:tcPr>
                </a:tc>
                <a:tc>
                  <a:txBody>
                    <a:bodyPr/>
                    <a:lstStyle/>
                    <a:p>
                      <a:r>
                        <a:rPr sz="1200" b="0">
                          <a:solidFill>
                            <a:srgbClr val="1B2430"/>
                          </a:solidFill>
                          <a:latin typeface="Calibri"/>
                        </a:rPr>
                        <a:t>NNCF (PTQ, QAT), INT8/INT4</a:t>
                      </a:r>
                    </a:p>
                  </a:txBody>
                  <a:tcPr>
                    <a:solidFill>
                      <a:srgbClr val="FFFFFF"/>
                    </a:solidFill>
                  </a:tcPr>
                </a:tc>
              </a:tr>
              <a:tr h="520000">
                <a:tc>
                  <a:txBody>
                    <a:bodyPr/>
                    <a:lstStyle/>
                    <a:p>
                      <a:r>
                        <a:rPr sz="1200" b="0">
                          <a:solidFill>
                            <a:srgbClr val="1B2430"/>
                          </a:solidFill>
                          <a:latin typeface="Calibri"/>
                        </a:rPr>
                        <a:t>Qurish vaqti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c>
                  <a:txBody>
                    <a:bodyPr/>
                    <a:lstStyle/>
                    <a:p>
                      <a:r>
                        <a:rPr sz="1200" b="0">
                          <a:solidFill>
                            <a:srgbClr val="1B2430"/>
                          </a:solidFill>
                          <a:latin typeface="Calibri"/>
                        </a:rPr>
                        <a:t>daqiqalar (tactic qidiruvi)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r>
              <a:tr h="520000">
                <a:tc>
                  <a:txBody>
                    <a:bodyPr/>
                    <a:lstStyle/>
                    <a:p>
                      <a:r>
                        <a:rPr sz="1200" b="0">
                          <a:solidFill>
                            <a:srgbClr val="1B2430"/>
                          </a:solidFill>
                          <a:latin typeface="Calibri"/>
                        </a:rPr>
                        <a:t>Ko'chma dvigatel</a:t>
                      </a:r>
                    </a:p>
                  </a:txBody>
                  <a:tcPr>
                    <a:solidFill>
                      <a:srgbClr val="FFFFFF"/>
                    </a:solidFill>
                  </a:tcPr>
                </a:tc>
                <a:tc>
                  <a:txBody>
                    <a:bodyPr/>
                    <a:lstStyle/>
                    <a:p>
                      <a:r>
                        <a:rPr sz="1200" b="0">
                          <a:solidFill>
                            <a:srgbClr val="1B2430"/>
                          </a:solidFill>
                          <a:latin typeface="Calibri"/>
                        </a:rPr>
                        <a:t>ONNX fayl universal</a:t>
                      </a:r>
                    </a:p>
                  </a:txBody>
                  <a:tcPr>
                    <a:solidFill>
                      <a:srgbClr val="FFFFFF"/>
                    </a:solidFill>
                  </a:tcPr>
                </a:tc>
                <a:tc>
                  <a:txBody>
                    <a:bodyPr/>
                    <a:lstStyle/>
                    <a:p>
                      <a:r>
                        <a:rPr sz="1200" b="0">
                          <a:solidFill>
                            <a:srgbClr val="1B2430"/>
                          </a:solidFill>
                          <a:latin typeface="Calibri"/>
                        </a:rPr>
                        <a:t>engine faqat shu GPU va versiya uchun</a:t>
                      </a:r>
                    </a:p>
                  </a:txBody>
                  <a:tcPr>
                    <a:solidFill>
                      <a:srgbClr val="FFFFFF"/>
                    </a:solidFill>
                  </a:tcPr>
                </a:tc>
                <a:tc>
                  <a:txBody>
                    <a:bodyPr/>
                    <a:lstStyle/>
                    <a:p>
                      <a:r>
                        <a:rPr sz="1200" b="0">
                          <a:solidFill>
                            <a:srgbClr val="1B2430"/>
                          </a:solidFill>
                          <a:latin typeface="Calibri"/>
                        </a:rPr>
                        <a:t>IR fayl Intel platformalari uchun</a:t>
                      </a:r>
                    </a:p>
                  </a:txBody>
                  <a:tcPr>
                    <a:solidFill>
                      <a:srgbClr val="FFFFFF"/>
                    </a:solidFill>
                  </a:tcPr>
                </a:tc>
              </a:tr>
              <a:tr h="520000">
                <a:tc>
                  <a:txBody>
                    <a:bodyPr/>
                    <a:lstStyle/>
                    <a:p>
                      <a:r>
                        <a:rPr sz="1200" b="0">
                          <a:solidFill>
                            <a:srgbClr val="1B2430"/>
                          </a:solidFill>
                          <a:latin typeface="Calibri"/>
                        </a:rPr>
                        <a:t>Odatiy tezlanish (FP32 PyTorch'ga nisbatan)</a:t>
                      </a:r>
                    </a:p>
                  </a:txBody>
                  <a:tcPr>
                    <a:solidFill>
                      <a:srgbClr val="F1F4F8"/>
                    </a:solidFill>
                  </a:tcPr>
                </a:tc>
                <a:tc>
                  <a:txBody>
                    <a:bodyPr/>
                    <a:lstStyle/>
                    <a:p>
                      <a:r>
                        <a:rPr sz="1200" b="0">
                          <a:solidFill>
                            <a:srgbClr val="1B2430"/>
                          </a:solidFill>
                          <a:latin typeface="Calibri"/>
                        </a:rPr>
                        <a:t>CPU 1,5–3×</a:t>
                      </a:r>
                    </a:p>
                  </a:txBody>
                  <a:tcPr>
                    <a:solidFill>
                      <a:srgbClr val="F1F4F8"/>
                    </a:solidFill>
                  </a:tcPr>
                </a:tc>
                <a:tc>
                  <a:txBody>
                    <a:bodyPr/>
                    <a:lstStyle/>
                    <a:p>
                      <a:r>
                        <a:rPr sz="1200" b="0">
                          <a:solidFill>
                            <a:srgbClr val="1B2430"/>
                          </a:solidFill>
                          <a:latin typeface="Calibri"/>
                        </a:rPr>
                        <a:t>GPU 3–8× (FP16/INT8 bilan)</a:t>
                      </a:r>
                    </a:p>
                  </a:txBody>
                  <a:tcPr>
                    <a:solidFill>
                      <a:srgbClr val="F1F4F8"/>
                    </a:solidFill>
                  </a:tcPr>
                </a:tc>
                <a:tc>
                  <a:txBody>
                    <a:bodyPr/>
                    <a:lstStyle/>
                    <a:p>
                      <a:r>
                        <a:rPr sz="1200" b="0">
                          <a:solidFill>
                            <a:srgbClr val="1B2430"/>
                          </a:solidFill>
                          <a:latin typeface="Calibri"/>
                        </a:rPr>
                        <a:t>CPU 2–5×</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Laboratoriya topshirig'i: «ResNet-50 tasvir tasniflash modelini ONNX Runtime va TensorRT/OpenVINO yordamida optimallashtirish va unumdorlikni to'liq baholash».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Talab qilinadigan muhit. Apparat: x86 CPU (kamida 4 yadro, AVX2; VNNI bo'lsa INT8 tezlanishi yaqqolroq); NVIDIA GPU (ixtiyoriy, TensorRT qismi uchun; T4, RTX 3060 yoki yuqori); Intel CPU bo'lsa OpenVINO qismi bajariladi. Dasturiy ta'minot: Ubuntu 22.04;…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Kutilgan natija (8 yadroli CPU, taxminiy): PyTorch FP32 p50 ≈ 45–70 ms; ONNX faylda 120–130 tugun (Conv, BatchNormalization, Relu, Add, MaxPool, GlobalAveragePool, Gemm), hajmi ≈ 98 MB…</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dynamic_axes paket o'lchamini o'zgaruvchan qiladi — keyin throughput o'lchovida 1, 8, 32 paketlarni bitta fayl bilan sinaymiz. do_constant_folding eksport paytidayoq doimiy qism-grafiklarni hisoblaydi.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01_export.py</a:t>
            </a:r>
          </a:p>
          <a:p>
            <a:r>
              <a:rPr sz="1000">
                <a:solidFill>
                  <a:srgbClr val="E2E8F0"/>
                </a:solidFill>
                <a:latin typeface="Consolas"/>
              </a:rPr>
              <a:t>import torch, torchvision, onnx, time, numpy as np</a:t>
            </a:r>
          </a:p>
          <a:p>
            <a:r>
              <a:rPr sz="1000">
                <a:solidFill>
                  <a:srgbClr val="E2E8F0"/>
                </a:solidFill>
                <a:latin typeface="Consolas"/>
              </a:rPr>
              <a:t> </a:t>
            </a:r>
          </a:p>
          <a:p>
            <a:r>
              <a:rPr sz="1000">
                <a:solidFill>
                  <a:srgbClr val="E2E8F0"/>
                </a:solidFill>
                <a:latin typeface="Consolas"/>
              </a:rPr>
              <a:t>model = torchvision.models.resnet50(weights="IMAGENET1K_V2").eval()</a:t>
            </a:r>
          </a:p>
          <a:p>
            <a:r>
              <a:rPr sz="1000">
                <a:solidFill>
                  <a:srgbClr val="E2E8F0"/>
                </a:solidFill>
                <a:latin typeface="Consolas"/>
              </a:rPr>
              <a:t>x = torch.randn(1, 3, 224, 224)</a:t>
            </a:r>
          </a:p>
          <a:p>
            <a:r>
              <a:rPr sz="1000">
                <a:solidFill>
                  <a:srgbClr val="E2E8F0"/>
                </a:solidFill>
                <a:latin typeface="Consolas"/>
              </a:rPr>
              <a:t> </a:t>
            </a:r>
          </a:p>
          <a:p>
            <a:r>
              <a:rPr sz="1000">
                <a:solidFill>
                  <a:srgbClr val="7FD6D7"/>
                </a:solidFill>
                <a:latin typeface="Consolas"/>
              </a:rPr>
              <a:t># PyTorch CPU etalon latency (paket 1)</a:t>
            </a:r>
          </a:p>
          <a:p>
            <a:r>
              <a:rPr sz="1000">
                <a:solidFill>
                  <a:srgbClr val="E2E8F0"/>
                </a:solidFill>
                <a:latin typeface="Consolas"/>
              </a:rPr>
              <a:t>with torch.inference_mode():</a:t>
            </a:r>
          </a:p>
          <a:p>
            <a:r>
              <a:rPr sz="1000">
                <a:solidFill>
                  <a:srgbClr val="E2E8F0"/>
                </a:solidFill>
                <a:latin typeface="Consolas"/>
              </a:rPr>
              <a:t>    for _ in range(5): model(x)</a:t>
            </a:r>
          </a:p>
          <a:p>
            <a:r>
              <a:rPr sz="1000">
                <a:solidFill>
                  <a:srgbClr val="E2E8F0"/>
                </a:solidFill>
                <a:latin typeface="Consolas"/>
              </a:rPr>
              <a:t>    t = []</a:t>
            </a:r>
          </a:p>
          <a:p>
            <a:r>
              <a:rPr sz="1000">
                <a:solidFill>
                  <a:srgbClr val="E2E8F0"/>
                </a:solidFill>
                <a:latin typeface="Consolas"/>
              </a:rPr>
              <a:t>    for _ in range(50):</a:t>
            </a:r>
          </a:p>
          <a:p>
            <a:r>
              <a:rPr sz="1000">
                <a:solidFill>
                  <a:srgbClr val="E2E8F0"/>
                </a:solidFill>
                <a:latin typeface="Consolas"/>
              </a:rPr>
              <a:t>        t0 = time.perf_counter(); model(x); t.append(time.perf_counter() - t0)</a:t>
            </a:r>
          </a:p>
          <a:p>
            <a:r>
              <a:rPr sz="1000">
                <a:solidFill>
                  <a:srgbClr val="E2E8F0"/>
                </a:solidFill>
                <a:latin typeface="Consolas"/>
              </a:rPr>
              <a:t>print(f"PyTorch FP32 CPU, batch 1: p50 {np.percentile(t,50)*1e3:.1f} ms  p95 {np.percentile(t,95)*1e3:.1f} ms")</a:t>
            </a:r>
          </a:p>
          <a:p>
            <a:r>
              <a:rPr sz="1000">
                <a:solidFill>
                  <a:srgbClr val="E2E8F0"/>
                </a:solidFill>
                <a:latin typeface="Consolas"/>
              </a:rPr>
              <a:t> </a:t>
            </a:r>
          </a:p>
          <a:p>
            <a:r>
              <a:rPr sz="1000">
                <a:solidFill>
                  <a:srgbClr val="E2E8F0"/>
                </a:solidFill>
                <a:latin typeface="Consolas"/>
              </a:rPr>
              <a:t>torch.onnx.export(</a:t>
            </a:r>
          </a:p>
          <a:p>
            <a:r>
              <a:rPr sz="1000">
                <a:solidFill>
                  <a:srgbClr val="E2E8F0"/>
                </a:solidFill>
                <a:latin typeface="Consolas"/>
              </a:rPr>
              <a:t>    model, x, "resnet50_fp32.onnx",</a:t>
            </a:r>
          </a:p>
          <a:p>
            <a:r>
              <a:rPr sz="1000">
                <a:solidFill>
                  <a:srgbClr val="E2E8F0"/>
                </a:solidFill>
                <a:latin typeface="Consolas"/>
              </a:rPr>
              <a:t>    input_names=["input"], output_names=["logits"],</a:t>
            </a:r>
          </a:p>
          <a:p>
            <a:r>
              <a:rPr sz="1000">
                <a:solidFill>
                  <a:srgbClr val="E2E8F0"/>
                </a:solidFill>
                <a:latin typeface="Consolas"/>
              </a:rPr>
              <a:t>    dynamic_axes={"input": {0: "batch"}, "logits": {0: "batch"}},</a:t>
            </a:r>
          </a:p>
          <a:p>
            <a:r>
              <a:rPr sz="1000">
                <a:solidFill>
                  <a:srgbClr val="E2E8F0"/>
                </a:solidFill>
                <a:latin typeface="Consolas"/>
              </a:rPr>
              <a:t>    opset_version=17, do_constant_folding=True,</a:t>
            </a:r>
          </a:p>
          <a:p>
            <a:r>
              <a:rPr sz="1000">
                <a:solidFill>
                  <a:srgbClr val="E2E8F0"/>
                </a:solidFill>
                <a:latin typeface="Consolas"/>
              </a:rPr>
              <a:t>)</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EXTENDED darajada Conv+BN+ReLU birlashtirildi — tugunlar soni 120 dan ~55 ga tushdi, xotiraga oraliq yozish yo'qoldi, CPU latency 35 % yaxshilandi. ONNX Runtime CPU allaqachon PyTorch eager'dan 1,5–2 baravar tez — bu grafik…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provider</a:t>
                      </a:r>
                    </a:p>
                  </a:txBody>
                  <a:tcPr>
                    <a:solidFill>
                      <a:srgbClr val="2D5C8F"/>
                    </a:solidFill>
                  </a:tcPr>
                </a:tc>
                <a:tc>
                  <a:txBody>
                    <a:bodyPr/>
                    <a:lstStyle/>
                    <a:p>
                      <a:r>
                        <a:rPr sz="1400" b="1">
                          <a:solidFill>
                            <a:srgbClr val="FFFFFF"/>
                          </a:solidFill>
                          <a:latin typeface="Calibri"/>
                        </a:rPr>
                        <a:t>opt</a:t>
                      </a:r>
                    </a:p>
                  </a:txBody>
                  <a:tcPr>
                    <a:solidFill>
                      <a:srgbClr val="2D5C8F"/>
                    </a:solidFill>
                  </a:tcPr>
                </a:tc>
                <a:tc>
                  <a:txBody>
                    <a:bodyPr/>
                    <a:lstStyle/>
                    <a:p>
                      <a:r>
                        <a:rPr sz="1400" b="1">
                          <a:solidFill>
                            <a:srgbClr val="FFFFFF"/>
                          </a:solidFill>
                          <a:latin typeface="Calibri"/>
                        </a:rPr>
                        <a:t>batch</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DISABLE_ALL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48</a:t>
                      </a:r>
                    </a:p>
                  </a:txBody>
                  <a:tcPr>
                    <a:solidFill>
                      <a:srgbClr val="F1F4F8"/>
                    </a:solidFill>
                  </a:tcPr>
                </a:tc>
                <a:tc>
                  <a:txBody>
                    <a:bodyPr/>
                    <a:lstStyle/>
                    <a:p>
                      <a:r>
                        <a:rPr sz="1400" b="0">
                          <a:solidFill>
                            <a:srgbClr val="1B2430"/>
                          </a:solidFill>
                          <a:latin typeface="Calibri"/>
                        </a:rPr>
                        <a:t>55</a:t>
                      </a:r>
                    </a:p>
                  </a:txBody>
                  <a:tcPr>
                    <a:solidFill>
                      <a:srgbClr val="F1F4F8"/>
                    </a:solidFill>
                  </a:tcPr>
                </a:tc>
                <a:tc>
                  <a:txBody>
                    <a:bodyPr/>
                    <a:lstStyle/>
                    <a:p>
                      <a:r>
                        <a:rPr sz="1400" b="0">
                          <a:solidFill>
                            <a:srgbClr val="1B2430"/>
                          </a:solidFill>
                          <a:latin typeface="Calibri"/>
                        </a:rPr>
                        <a:t>20</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BASIC</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42</a:t>
                      </a:r>
                    </a:p>
                  </a:txBody>
                  <a:tcPr>
                    <a:solidFill>
                      <a:srgbClr val="FFFFFF"/>
                    </a:solidFill>
                  </a:tcPr>
                </a:tc>
                <a:tc>
                  <a:txBody>
                    <a:bodyPr/>
                    <a:lstStyle/>
                    <a:p>
                      <a:r>
                        <a:rPr sz="1400" b="0">
                          <a:solidFill>
                            <a:srgbClr val="1B2430"/>
                          </a:solidFill>
                          <a:latin typeface="Calibri"/>
                        </a:rPr>
                        <a:t>48</a:t>
                      </a:r>
                    </a:p>
                  </a:txBody>
                  <a:tcPr>
                    <a:solidFill>
                      <a:srgbClr val="FFFFFF"/>
                    </a:solidFill>
                  </a:tcPr>
                </a:tc>
                <a:tc>
                  <a:txBody>
                    <a:bodyPr/>
                    <a:lstStyle/>
                    <a:p>
                      <a:r>
                        <a:rPr sz="1400" b="0">
                          <a:solidFill>
                            <a:srgbClr val="1B2430"/>
                          </a:solidFill>
                          <a:latin typeface="Calibri"/>
                        </a:rPr>
                        <a:t>23</a:t>
                      </a:r>
                    </a:p>
                  </a:txBody>
                  <a:tcPr>
                    <a:solidFill>
                      <a:srgbClr val="FFFFF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EXTENDED</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31</a:t>
                      </a:r>
                    </a:p>
                  </a:txBody>
                  <a:tcPr>
                    <a:solidFill>
                      <a:srgbClr val="F1F4F8"/>
                    </a:solidFill>
                  </a:tcPr>
                </a:tc>
                <a:tc>
                  <a:txBody>
                    <a:bodyPr/>
                    <a:lstStyle/>
                    <a:p>
                      <a:r>
                        <a:rPr sz="1400" b="0">
                          <a:solidFill>
                            <a:srgbClr val="1B2430"/>
                          </a:solidFill>
                          <a:latin typeface="Calibri"/>
                        </a:rPr>
                        <a:t>36</a:t>
                      </a:r>
                    </a:p>
                  </a:txBody>
                  <a:tcPr>
                    <a:solidFill>
                      <a:srgbClr val="F1F4F8"/>
                    </a:solidFill>
                  </a:tcPr>
                </a:tc>
                <a:tc>
                  <a:txBody>
                    <a:bodyPr/>
                    <a:lstStyle/>
                    <a:p>
                      <a:r>
                        <a:rPr sz="1400" b="0">
                          <a:solidFill>
                            <a:srgbClr val="1B2430"/>
                          </a:solidFill>
                          <a:latin typeface="Calibri"/>
                        </a:rPr>
                        <a:t>32</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34</a:t>
                      </a:r>
                    </a:p>
                  </a:txBody>
                  <a:tcPr>
                    <a:solidFill>
                      <a:srgbClr val="FFFFFF"/>
                    </a:solidFill>
                  </a:tcPr>
                </a:tc>
                <a:tc>
                  <a:txBody>
                    <a:bodyPr/>
                    <a:lstStyle/>
                    <a:p>
                      <a:r>
                        <a:rPr sz="1400" b="0">
                          <a:solidFill>
                            <a:srgbClr val="1B2430"/>
                          </a:solidFill>
                          <a:latin typeface="Calibri"/>
                        </a:rPr>
                        <a:t>34</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150</a:t>
                      </a:r>
                    </a:p>
                  </a:txBody>
                  <a:tcPr>
                    <a:solidFill>
                      <a:srgbClr val="F1F4F8"/>
                    </a:solidFill>
                  </a:tcPr>
                </a:tc>
              </a:tr>
              <a:tr h="520000">
                <a:tc>
                  <a:txBody>
                    <a:bodyPr/>
                    <a:lstStyle/>
                    <a:p>
                      <a:r>
                        <a:rPr sz="1400" b="0">
                          <a:solidFill>
                            <a:srgbClr val="1B2430"/>
                          </a:solidFill>
                          <a:latin typeface="Calibri"/>
                        </a:rPr>
                        <a:t>CUDA (T4)</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22</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360</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84</a:t>
                      </a:r>
                    </a:p>
                  </a:txBody>
                  <a:tcPr>
                    <a:solidFill>
                      <a:srgbClr val="F1F4F8"/>
                    </a:solidFill>
                  </a:tcPr>
                </a:tc>
                <a:tc>
                  <a:txBody>
                    <a:bodyPr/>
                    <a:lstStyle/>
                    <a:p>
                      <a:r>
                        <a:rPr sz="1400" b="0">
                          <a:solidFill>
                            <a:srgbClr val="1B2430"/>
                          </a:solidFill>
                          <a:latin typeface="Calibri"/>
                        </a:rPr>
                        <a:t>410</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02_ort_bench.py</a:t>
            </a:r>
          </a:p>
          <a:p>
            <a:r>
              <a:rPr sz="1000">
                <a:solidFill>
                  <a:srgbClr val="E2E8F0"/>
                </a:solidFill>
                <a:latin typeface="Consolas"/>
              </a:rPr>
              <a:t>import onnxruntime as ort, numpy as np, time, pandas as pd, sys</a:t>
            </a:r>
          </a:p>
          <a:p>
            <a:r>
              <a:rPr sz="1000">
                <a:solidFill>
                  <a:srgbClr val="E2E8F0"/>
                </a:solidFill>
                <a:latin typeface="Consolas"/>
              </a:rPr>
              <a:t> </a:t>
            </a:r>
          </a:p>
          <a:p>
            <a:r>
              <a:rPr sz="1000">
                <a:solidFill>
                  <a:srgbClr val="E2E8F0"/>
                </a:solidFill>
                <a:latin typeface="Consolas"/>
              </a:rPr>
              <a:t>def bench(path, provider, opt_level, batch=1, takror=100):</a:t>
            </a:r>
          </a:p>
          <a:p>
            <a:r>
              <a:rPr sz="1000">
                <a:solidFill>
                  <a:srgbClr val="E2E8F0"/>
                </a:solidFill>
                <a:latin typeface="Consolas"/>
              </a:rPr>
              <a:t>    so = ort.SessionOptions()</a:t>
            </a:r>
          </a:p>
          <a:p>
            <a:r>
              <a:rPr sz="1000">
                <a:solidFill>
                  <a:srgbClr val="E2E8F0"/>
                </a:solidFill>
                <a:latin typeface="Consolas"/>
              </a:rPr>
              <a:t>    so.graph_optimization_level = opt_level</a:t>
            </a:r>
          </a:p>
          <a:p>
            <a:r>
              <a:rPr sz="1000">
                <a:solidFill>
                  <a:srgbClr val="E2E8F0"/>
                </a:solidFill>
                <a:latin typeface="Consolas"/>
              </a:rPr>
              <a:t>    so.intra_op_num_threads = 8</a:t>
            </a:r>
          </a:p>
          <a:p>
            <a:r>
              <a:rPr sz="1000">
                <a:solidFill>
                  <a:srgbClr val="E2E8F0"/>
                </a:solidFill>
                <a:latin typeface="Consolas"/>
              </a:rPr>
              <a:t>    sess = ort.InferenceSession(path, so, providers=[provider])</a:t>
            </a:r>
          </a:p>
          <a:p>
            <a:r>
              <a:rPr sz="1000">
                <a:solidFill>
                  <a:srgbClr val="E2E8F0"/>
                </a:solidFill>
                <a:latin typeface="Consolas"/>
              </a:rPr>
              <a:t>    x = np.random.rand(batch, 3, 224, 224).astype(np.float32)</a:t>
            </a:r>
          </a:p>
          <a:p>
            <a:r>
              <a:rPr sz="1000">
                <a:solidFill>
                  <a:srgbClr val="E2E8F0"/>
                </a:solidFill>
                <a:latin typeface="Consolas"/>
              </a:rPr>
              <a:t>    for _ in range(10): sess.run(None, {"input": x})</a:t>
            </a:r>
          </a:p>
          <a:p>
            <a:r>
              <a:rPr sz="1000">
                <a:solidFill>
                  <a:srgbClr val="E2E8F0"/>
                </a:solidFill>
                <a:latin typeface="Consolas"/>
              </a:rPr>
              <a:t>    t = []</a:t>
            </a:r>
          </a:p>
          <a:p>
            <a:r>
              <a:rPr sz="1000">
                <a:solidFill>
                  <a:srgbClr val="E2E8F0"/>
                </a:solidFill>
                <a:latin typeface="Consolas"/>
              </a:rPr>
              <a:t>    for _ in range(takror):</a:t>
            </a:r>
          </a:p>
          <a:p>
            <a:r>
              <a:rPr sz="1000">
                <a:solidFill>
                  <a:srgbClr val="E2E8F0"/>
                </a:solidFill>
                <a:latin typeface="Consolas"/>
              </a:rPr>
              <a:t>        t0 = time.perf_counter(); sess.run(None, {"input": x}); t.append(time.perf_counter() - t0)</a:t>
            </a:r>
          </a:p>
          <a:p>
            <a:r>
              <a:rPr sz="1000">
                <a:solidFill>
                  <a:srgbClr val="E2E8F0"/>
                </a:solidFill>
                <a:latin typeface="Consolas"/>
              </a:rPr>
              <a:t>    t = np.array(t) * 1e3</a:t>
            </a:r>
          </a:p>
          <a:p>
            <a:r>
              <a:rPr sz="1000">
                <a:solidFill>
                  <a:srgbClr val="E2E8F0"/>
                </a:solidFill>
                <a:latin typeface="Consolas"/>
              </a:rPr>
              <a:t>    return dict(fayl=path, provider=provider.replace("ExecutionProvider",""), opt=str(opt_level).split(".")[-1],</a:t>
            </a:r>
          </a:p>
          <a:p>
            <a:r>
              <a:rPr sz="1000">
                <a:solidFill>
                  <a:srgbClr val="E2E8F0"/>
                </a:solidFill>
                <a:latin typeface="Consolas"/>
              </a:rPr>
              <a:t>                batch=batch, p50_ms=round(np.percentile(t,50),2), p95_ms=round(np.percentile(t,95),2),</a:t>
            </a:r>
          </a:p>
          <a:p>
            <a:r>
              <a:rPr sz="1000">
                <a:solidFill>
                  <a:srgbClr val="E2E8F0"/>
                </a:solidFill>
                <a:latin typeface="Consolas"/>
              </a:rPr>
              <a:t>                throughput=round(batch / (np.mean(t)/1e3), 1))</a:t>
            </a:r>
          </a:p>
          <a:p>
            <a:r>
              <a:rPr sz="1000">
                <a:solidFill>
                  <a:srgbClr val="E2E8F0"/>
                </a:solidFill>
                <a:latin typeface="Consolas"/>
              </a:rPr>
              <a:t> </a:t>
            </a:r>
          </a:p>
          <a:p>
            <a:r>
              <a:rPr sz="1000">
                <a:solidFill>
                  <a:srgbClr val="E2E8F0"/>
                </a:solidFill>
                <a:latin typeface="Consolas"/>
              </a:rPr>
              <a:t>L = ort.GraphOptimizationLevel</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INT8 kvantlash ONNX Runtime'da (dinamik va statik)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03_quantize.py</a:t>
            </a:r>
          </a:p>
          <a:p>
            <a:r>
              <a:rPr sz="1000">
                <a:solidFill>
                  <a:srgbClr val="E2E8F0"/>
                </a:solidFill>
                <a:latin typeface="Consolas"/>
              </a:rPr>
              <a:t>import numpy as np, onnx, glob</a:t>
            </a:r>
          </a:p>
          <a:p>
            <a:r>
              <a:rPr sz="1000">
                <a:solidFill>
                  <a:srgbClr val="E2E8F0"/>
                </a:solidFill>
                <a:latin typeface="Consolas"/>
              </a:rPr>
              <a:t>from PIL import Image</a:t>
            </a:r>
          </a:p>
          <a:p>
            <a:r>
              <a:rPr sz="1000">
                <a:solidFill>
                  <a:srgbClr val="E2E8F0"/>
                </a:solidFill>
                <a:latin typeface="Consolas"/>
              </a:rPr>
              <a:t>from onnxruntime.quantization import (quantize_dynamic, quantize_static, QuantType, QuantFormat,</a:t>
            </a:r>
          </a:p>
          <a:p>
            <a:r>
              <a:rPr sz="1000">
                <a:solidFill>
                  <a:srgbClr val="E2E8F0"/>
                </a:solidFill>
                <a:latin typeface="Consolas"/>
              </a:rPr>
              <a:t>                                      CalibrationDataReader, CalibrationMethod)</a:t>
            </a:r>
          </a:p>
          <a:p>
            <a:r>
              <a:rPr sz="1000">
                <a:solidFill>
                  <a:srgbClr val="E2E8F0"/>
                </a:solidFill>
                <a:latin typeface="Consolas"/>
              </a:rPr>
              <a:t>from onnxruntime.quantization.preprocess import quant_pre_process</a:t>
            </a:r>
          </a:p>
          <a:p>
            <a:r>
              <a:rPr sz="1000">
                <a:solidFill>
                  <a:srgbClr val="E2E8F0"/>
                </a:solidFill>
                <a:latin typeface="Consolas"/>
              </a:rPr>
              <a:t> </a:t>
            </a:r>
          </a:p>
          <a:p>
            <a:r>
              <a:rPr sz="1000">
                <a:solidFill>
                  <a:srgbClr val="7FD6D7"/>
                </a:solidFill>
                <a:latin typeface="Consolas"/>
              </a:rPr>
              <a:t># 3a. Oldindan ishlov: shakl inferensi + optimallashtirish (kvantlash sifati uchun tavsiya)</a:t>
            </a:r>
          </a:p>
          <a:p>
            <a:r>
              <a:rPr sz="1000">
                <a:solidFill>
                  <a:srgbClr val="E2E8F0"/>
                </a:solidFill>
                <a:latin typeface="Consolas"/>
              </a:rPr>
              <a:t>quant_pre_process("resnet50_fp32.onnx", "resnet50_prep.onnx")</a:t>
            </a:r>
          </a:p>
          <a:p>
            <a:r>
              <a:rPr sz="1000">
                <a:solidFill>
                  <a:srgbClr val="E2E8F0"/>
                </a:solidFill>
                <a:latin typeface="Consolas"/>
              </a:rPr>
              <a:t> </a:t>
            </a:r>
          </a:p>
          <a:p>
            <a:r>
              <a:rPr sz="1000">
                <a:solidFill>
                  <a:srgbClr val="7FD6D7"/>
                </a:solidFill>
                <a:latin typeface="Consolas"/>
              </a:rPr>
              <a:t># 3b. Dinamik kvantlash — kalibrlashsiz, faqat vaznlar</a:t>
            </a:r>
          </a:p>
          <a:p>
            <a:r>
              <a:rPr sz="1000">
                <a:solidFill>
                  <a:srgbClr val="E2E8F0"/>
                </a:solidFill>
                <a:latin typeface="Consolas"/>
              </a:rPr>
              <a:t>quantize_dynamic("resnet50_prep.onnx", "resnet50_dyn.onnx", weight_type=QuantType.QInt8)</a:t>
            </a:r>
          </a:p>
          <a:p>
            <a:r>
              <a:rPr sz="1000">
                <a:solidFill>
                  <a:srgbClr val="E2E8F0"/>
                </a:solidFill>
                <a:latin typeface="Consolas"/>
              </a:rPr>
              <a:t> </a:t>
            </a:r>
          </a:p>
          <a:p>
            <a:r>
              <a:rPr sz="1000">
                <a:solidFill>
                  <a:srgbClr val="7FD6D7"/>
                </a:solidFill>
                <a:latin typeface="Consolas"/>
              </a:rPr>
              <a:t># 3c. Statik kvantlash — kalibrlash to'plami bilan</a:t>
            </a:r>
          </a:p>
          <a:p>
            <a:r>
              <a:rPr sz="1000">
                <a:solidFill>
                  <a:srgbClr val="E2E8F0"/>
                </a:solidFill>
                <a:latin typeface="Consolas"/>
              </a:rPr>
              <a:t>MEAN = np.array([0.485, 0.456, 0.406], dtype=np.float32)[:, None, None]</a:t>
            </a:r>
          </a:p>
          <a:p>
            <a:r>
              <a:rPr sz="1000">
                <a:solidFill>
                  <a:srgbClr val="E2E8F0"/>
                </a:solidFill>
                <a:latin typeface="Consolas"/>
              </a:rPr>
              <a:t>STD  = np.array([0.229, 0.224, 0.225], dtype=np.float32)[:, None, None]</a:t>
            </a:r>
          </a:p>
          <a:p>
            <a:r>
              <a:rPr sz="1000">
                <a:solidFill>
                  <a:srgbClr val="E2E8F0"/>
                </a:solidFill>
                <a:latin typeface="Consolas"/>
              </a:rPr>
              <a:t>def preprocess(path):</a:t>
            </a:r>
          </a:p>
          <a:p>
            <a:r>
              <a:rPr sz="1000">
                <a:solidFill>
                  <a:srgbClr val="E2E8F0"/>
                </a:solidFill>
                <a:latin typeface="Consolas"/>
              </a:rPr>
              <a:t>    img = Image.open(path).convert("RGB").resize((256, 256)).crop((16, 16, 240, 240))</a:t>
            </a:r>
          </a:p>
          <a:p>
            <a:r>
              <a:rPr sz="1000">
                <a:solidFill>
                  <a:srgbClr val="E2E8F0"/>
                </a:solidFill>
                <a:latin typeface="Consolas"/>
              </a:rPr>
              <a:t>    a = np.asarray(img, dtype=np.float32).transpose(2, 0, 1) / 255.0</a:t>
            </a:r>
          </a:p>
          <a:p>
            <a:r>
              <a:rPr sz="1000">
                <a:solidFill>
                  <a:srgbClr val="E2E8F0"/>
                </a:solidFill>
                <a:latin typeface="Consolas"/>
              </a:rPr>
              <a:t>    return ((a - MEAN) / STD)[None]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(ImageNet val 1000 tasvir,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Dinamik kvantlash ResNet-50 da deyarli tezlanish bermadi, chunki konvolyutsiyalar faollashuvlarni har safar ish vaqtida kvantlash xarajati bilan ishlaydi — dinamik usul Transformer/LSTM kabi MatMul og'ir modellar uchun. Statik INT8 esa…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Hajm, MB</a:t>
                      </a:r>
                    </a:p>
                  </a:txBody>
                  <a:tcPr>
                    <a:solidFill>
                      <a:srgbClr val="2D5C8F"/>
                    </a:solidFill>
                  </a:tcPr>
                </a:tc>
                <a:tc>
                  <a:txBody>
                    <a:bodyPr/>
                    <a:lstStyle/>
                    <a:p>
                      <a:r>
                        <a:rPr sz="1400" b="1">
                          <a:solidFill>
                            <a:srgbClr val="FFFFFF"/>
                          </a:solidFill>
                          <a:latin typeface="Calibri"/>
                        </a:rPr>
                        <a:t>CPU p50, ms (batch 1)</a:t>
                      </a:r>
                    </a:p>
                  </a:txBody>
                  <a:tcPr>
                    <a:solidFill>
                      <a:srgbClr val="2D5C8F"/>
                    </a:solidFill>
                  </a:tcPr>
                </a:tc>
                <a:tc>
                  <a:txBody>
                    <a:bodyPr/>
                    <a:lstStyle/>
                    <a:p>
                      <a:r>
                        <a:rPr sz="1400" b="1">
                          <a:solidFill>
                            <a:srgbClr val="FFFFFF"/>
                          </a:solidFill>
                          <a:latin typeface="Calibri"/>
                        </a:rPr>
                        <a:t>Top-1, %</a:t>
                      </a:r>
                    </a:p>
                  </a:txBody>
                  <a:tcPr>
                    <a:solidFill>
                      <a:srgbClr val="2D5C8F"/>
                    </a:solidFill>
                  </a:tcPr>
                </a:tc>
                <a:tc>
                  <a:txBody>
                    <a:bodyPr/>
                    <a:lstStyle/>
                    <a:p>
                      <a:r>
                        <a:rPr sz="1400" b="1">
                          <a:solidFill>
                            <a:srgbClr val="FFFFFF"/>
                          </a:solidFill>
                          <a:latin typeface="Calibri"/>
                        </a:rPr>
                        <a:t>Aniqlik farqi</a:t>
                      </a:r>
                    </a:p>
                  </a:txBody>
                  <a:tcPr>
                    <a:solidFill>
                      <a:srgbClr val="2D5C8F"/>
                    </a:solidFill>
                  </a:tcPr>
                </a:tc>
              </a:tr>
              <a:tr h="520000">
                <a:tc>
                  <a:txBody>
                    <a:bodyPr/>
                    <a:lstStyle/>
                    <a:p>
                      <a:r>
                        <a:rPr sz="1400" b="0">
                          <a:solidFill>
                            <a:srgbClr val="1B2430"/>
                          </a:solidFill>
                          <a:latin typeface="Calibri"/>
                        </a:rPr>
                        <a:t>FP32 (ORT ALL)</a:t>
                      </a:r>
                    </a:p>
                  </a:txBody>
                  <a:tcPr>
                    <a:solidFill>
                      <a:srgbClr val="F1F4F8"/>
                    </a:solidFill>
                  </a:tcPr>
                </a:tc>
                <a:tc>
                  <a:txBody>
                    <a:bodyPr/>
                    <a:lstStyle/>
                    <a:p>
                      <a:r>
                        <a:rPr sz="1400" b="0">
                          <a:solidFill>
                            <a:srgbClr val="1B2430"/>
                          </a:solidFill>
                          <a:latin typeface="Calibri"/>
                        </a:rPr>
                        <a:t>98</a:t>
                      </a:r>
                    </a:p>
                  </a:txBody>
                  <a:tcPr>
                    <a:solidFill>
                      <a:srgbClr val="F1F4F8"/>
                    </a:solidFill>
                  </a:tcPr>
                </a:tc>
                <a:tc>
                  <a:txBody>
                    <a:bodyPr/>
                    <a:lstStyle/>
                    <a:p>
                      <a:r>
                        <a:rPr sz="1400" b="0">
                          <a:solidFill>
                            <a:srgbClr val="1B2430"/>
                          </a:solidFill>
                          <a:latin typeface="Calibri"/>
                        </a:rPr>
                        <a:t>29</a:t>
                      </a:r>
                    </a:p>
                  </a:txBody>
                  <a:tcPr>
                    <a:solidFill>
                      <a:srgbClr val="F1F4F8"/>
                    </a:solidFill>
                  </a:tcPr>
                </a:tc>
                <a:tc>
                  <a:txBody>
                    <a:bodyPr/>
                    <a:lstStyle/>
                    <a:p>
                      <a:r>
                        <a:rPr sz="1400" b="0">
                          <a:solidFill>
                            <a:srgbClr val="1B2430"/>
                          </a:solidFill>
                          <a:latin typeface="Calibri"/>
                        </a:rPr>
                        <a:t>80,3</a:t>
                      </a:r>
                    </a:p>
                  </a:txBody>
                  <a:tcPr>
                    <a:solidFill>
                      <a:srgbClr val="F1F4F8"/>
                    </a:solidFill>
                  </a:tcPr>
                </a:tc>
                <a:tc>
                  <a:txBody>
                    <a:bodyPr/>
                    <a:lstStyle/>
                    <a:p>
                      <a:r>
                        <a:rPr sz="1400" b="0">
                          <a:solidFill>
                            <a:srgbClr val="1B2430"/>
                          </a:solidFill>
                          <a:latin typeface="Calibri"/>
                        </a:rPr>
                        <a:t>—</a:t>
                      </a:r>
                    </a:p>
                  </a:txBody>
                  <a:tcPr>
                    <a:solidFill>
                      <a:srgbClr val="F1F4F8"/>
                    </a:solidFill>
                  </a:tcPr>
                </a:tc>
              </a:tr>
              <a:tr h="520000">
                <a:tc>
                  <a:txBody>
                    <a:bodyPr/>
                    <a:lstStyle/>
                    <a:p>
                      <a:r>
                        <a:rPr sz="1400" b="0">
                          <a:solidFill>
                            <a:srgbClr val="1B2430"/>
                          </a:solidFill>
                          <a:latin typeface="Calibri"/>
                        </a:rPr>
                        <a:t>Dinamik INT8</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27</a:t>
                      </a:r>
                    </a:p>
                  </a:txBody>
                  <a:tcPr>
                    <a:solidFill>
                      <a:srgbClr val="FFFFFF"/>
                    </a:solidFill>
                  </a:tcPr>
                </a:tc>
                <a:tc>
                  <a:txBody>
                    <a:bodyPr/>
                    <a:lstStyle/>
                    <a:p>
                      <a:r>
                        <a:rPr sz="1400" b="0">
                          <a:solidFill>
                            <a:srgbClr val="1B2430"/>
                          </a:solidFill>
                          <a:latin typeface="Calibri"/>
                        </a:rPr>
                        <a:t>80,1</a:t>
                      </a:r>
                    </a:p>
                  </a:txBody>
                  <a:tcPr>
                    <a:solidFill>
                      <a:srgbClr val="FFFFFF"/>
                    </a:solidFill>
                  </a:tcPr>
                </a:tc>
                <a:tc>
                  <a:txBody>
                    <a:bodyPr/>
                    <a:lstStyle/>
                    <a:p>
                      <a:r>
                        <a:rPr sz="1400" b="0">
                          <a:solidFill>
                            <a:srgbClr val="1B2430"/>
                          </a:solidFill>
                          <a:latin typeface="Calibri"/>
                        </a:rPr>
                        <a:t>−0,2 p.p.</a:t>
                      </a:r>
                    </a:p>
                  </a:txBody>
                  <a:tcPr>
                    <a:solidFill>
                      <a:srgbClr val="FFFFFF"/>
                    </a:solidFill>
                  </a:tcPr>
                </a:tc>
              </a:tr>
              <a:tr h="520000">
                <a:tc>
                  <a:txBody>
                    <a:bodyPr/>
                    <a:lstStyle/>
                    <a:p>
                      <a:r>
                        <a:rPr sz="1400" b="0">
                          <a:solidFill>
                            <a:srgbClr val="1B2430"/>
                          </a:solidFill>
                          <a:latin typeface="Calibri"/>
                        </a:rPr>
                        <a:t>Statik INT8, per-channel, Percentile</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11 (VNNI bilan), 18 (VNNI'siz)</a:t>
                      </a:r>
                    </a:p>
                  </a:txBody>
                  <a:tcPr>
                    <a:solidFill>
                      <a:srgbClr val="F1F4F8"/>
                    </a:solidFill>
                  </a:tcPr>
                </a:tc>
                <a:tc>
                  <a:txBody>
                    <a:bodyPr/>
                    <a:lstStyle/>
                    <a:p>
                      <a:r>
                        <a:rPr sz="1400" b="0">
                          <a:solidFill>
                            <a:srgbClr val="1B2430"/>
                          </a:solidFill>
                          <a:latin typeface="Calibri"/>
                        </a:rPr>
                        <a:t>79,6</a:t>
                      </a:r>
                    </a:p>
                  </a:txBody>
                  <a:tcPr>
                    <a:solidFill>
                      <a:srgbClr val="F1F4F8"/>
                    </a:solidFill>
                  </a:tcPr>
                </a:tc>
                <a:tc>
                  <a:txBody>
                    <a:bodyPr/>
                    <a:lstStyle/>
                    <a:p>
                      <a:r>
                        <a:rPr sz="1400" b="0">
                          <a:solidFill>
                            <a:srgbClr val="1B2430"/>
                          </a:solidFill>
                          <a:latin typeface="Calibri"/>
                        </a:rPr>
                        <a:t>−0,7 p.p.</a:t>
                      </a:r>
                    </a:p>
                  </a:txBody>
                  <a:tcPr>
                    <a:solidFill>
                      <a:srgbClr val="F1F4F8"/>
                    </a:solidFill>
                  </a:tcPr>
                </a:tc>
              </a:tr>
              <a:tr h="520000">
                <a:tc>
                  <a:txBody>
                    <a:bodyPr/>
                    <a:lstStyle/>
                    <a:p>
                      <a:r>
                        <a:rPr sz="1400" b="0">
                          <a:solidFill>
                            <a:srgbClr val="1B2430"/>
                          </a:solidFill>
                          <a:latin typeface="Calibri"/>
                        </a:rPr>
                        <a:t>Statik INT8, per-tensor, MinMax</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11</a:t>
                      </a:r>
                    </a:p>
                  </a:txBody>
                  <a:tcPr>
                    <a:solidFill>
                      <a:srgbClr val="FFFFFF"/>
                    </a:solidFill>
                  </a:tcPr>
                </a:tc>
                <a:tc>
                  <a:txBody>
                    <a:bodyPr/>
                    <a:lstStyle/>
                    <a:p>
                      <a:r>
                        <a:rPr sz="1400" b="0">
                          <a:solidFill>
                            <a:srgbClr val="1B2430"/>
                          </a:solidFill>
                          <a:latin typeface="Calibri"/>
                        </a:rPr>
                        <a:t>77,8</a:t>
                      </a:r>
                    </a:p>
                  </a:txBody>
                  <a:tcPr>
                    <a:solidFill>
                      <a:srgbClr val="FFFFFF"/>
                    </a:solidFill>
                  </a:tcPr>
                </a:tc>
                <a:tc>
                  <a:txBody>
                    <a:bodyPr/>
                    <a:lstStyle/>
                    <a:p>
                      <a:r>
                        <a:rPr sz="1400" b="0">
                          <a:solidFill>
                            <a:srgbClr val="1B2430"/>
                          </a:solidFill>
                          <a:latin typeface="Calibri"/>
                        </a:rPr>
                        <a:t>−2,5 p.p.</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4-qadam. Aniqlikni o'lchash (barcha variantlar uchun umumiy skript)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04_accuracy.py — Imagenette/ImageNet val kichik to'plamida top-1 aniqlik</a:t>
            </a:r>
          </a:p>
          <a:p>
            <a:r>
              <a:rPr sz="1000">
                <a:solidFill>
                  <a:srgbClr val="E2E8F0"/>
                </a:solidFill>
                <a:latin typeface="Consolas"/>
              </a:rPr>
              <a:t>import onnxruntime as ort, numpy as np, glob, json, sys</a:t>
            </a:r>
          </a:p>
          <a:p>
            <a:r>
              <a:rPr sz="1000">
                <a:solidFill>
                  <a:srgbClr val="E2E8F0"/>
                </a:solidFill>
                <a:latin typeface="Consolas"/>
              </a:rPr>
              <a:t>from PIL import Image</a:t>
            </a:r>
          </a:p>
          <a:p>
            <a:r>
              <a:rPr sz="1000">
                <a:solidFill>
                  <a:srgbClr val="E2E8F0"/>
                </a:solidFill>
                <a:latin typeface="Consolas"/>
              </a:rPr>
              <a:t>from preprocess_utils import preprocess           # 3-qadamdagi preprocess() ni shu nomli modulga ko'chiring</a:t>
            </a:r>
          </a:p>
          <a:p>
            <a:r>
              <a:rPr sz="1000">
                <a:solidFill>
                  <a:srgbClr val="E2E8F0"/>
                </a:solidFill>
                <a:latin typeface="Consolas"/>
              </a:rPr>
              <a:t>labels = json.load(open("val_labels.json"))      # {fayl_nomi: sinf_indeksi}</a:t>
            </a:r>
          </a:p>
          <a:p>
            <a:r>
              <a:rPr sz="1000">
                <a:solidFill>
                  <a:srgbClr val="E2E8F0"/>
                </a:solidFill>
                <a:latin typeface="Consolas"/>
              </a:rPr>
              <a:t>def top1(path, provider="CPUExecutionProvider", n=1000):</a:t>
            </a:r>
          </a:p>
          <a:p>
            <a:r>
              <a:rPr sz="1000">
                <a:solidFill>
                  <a:srgbClr val="E2E8F0"/>
                </a:solidFill>
                <a:latin typeface="Consolas"/>
              </a:rPr>
              <a:t>    sess = ort.InferenceSession(path, providers=[provider])</a:t>
            </a:r>
          </a:p>
          <a:p>
            <a:r>
              <a:rPr sz="1000">
                <a:solidFill>
                  <a:srgbClr val="E2E8F0"/>
                </a:solidFill>
                <a:latin typeface="Consolas"/>
              </a:rPr>
              <a:t>    togri = 0; files = sorted(labels)[:n]</a:t>
            </a:r>
          </a:p>
          <a:p>
            <a:r>
              <a:rPr sz="1000">
                <a:solidFill>
                  <a:srgbClr val="E2E8F0"/>
                </a:solidFill>
                <a:latin typeface="Consolas"/>
              </a:rPr>
              <a:t>    for f in files:</a:t>
            </a:r>
          </a:p>
          <a:p>
            <a:r>
              <a:rPr sz="1000">
                <a:solidFill>
                  <a:srgbClr val="E2E8F0"/>
                </a:solidFill>
                <a:latin typeface="Consolas"/>
              </a:rPr>
              <a:t>        out = sess.run(None, {"input": preprocess(f"val/{f}")})[0]</a:t>
            </a:r>
          </a:p>
          <a:p>
            <a:r>
              <a:rPr sz="1000">
                <a:solidFill>
                  <a:srgbClr val="E2E8F0"/>
                </a:solidFill>
                <a:latin typeface="Consolas"/>
              </a:rPr>
              <a:t>        togri += int(out.argmax() == labels[f])</a:t>
            </a:r>
          </a:p>
          <a:p>
            <a:r>
              <a:rPr sz="1000">
                <a:solidFill>
                  <a:srgbClr val="E2E8F0"/>
                </a:solidFill>
                <a:latin typeface="Consolas"/>
              </a:rPr>
              <a:t>    return togri / len(files)</a:t>
            </a:r>
          </a:p>
          <a:p>
            <a:r>
              <a:rPr sz="1000">
                <a:solidFill>
                  <a:srgbClr val="E2E8F0"/>
                </a:solidFill>
                <a:latin typeface="Consolas"/>
              </a:rPr>
              <a:t>for p in sys.argv[1:]:</a:t>
            </a:r>
          </a:p>
          <a:p>
            <a:r>
              <a:rPr sz="1000">
                <a:solidFill>
                  <a:srgbClr val="E2E8F0"/>
                </a:solidFill>
                <a:latin typeface="Consolas"/>
              </a:rPr>
              <a:t>    print(f"{p}: top-1 = {top1(p)*100:.2f}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(NVIDIA T4, batch 8, taxminiy; bo'sh quvvat ~25 Vt):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TensorRT FP32 ONNX Runtime CUDA'dan 1,6 baravar tez — yadro tanlovi (tactic) va to'liqroq birlashtirish hisobiga. FP16 T4 ning Tensor Core'larini ishga tushirdi: 2,7 baravar tezlanish, aniqlik deyarli o'zgarmadi.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Dvigatel</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c>
                  <a:txBody>
                    <a:bodyPr/>
                    <a:lstStyle/>
                    <a:p>
                      <a:r>
                        <a:rPr sz="1400" b="1">
                          <a:solidFill>
                            <a:srgbClr val="FFFFFF"/>
                          </a:solidFill>
                          <a:latin typeface="Calibri"/>
                        </a:rPr>
                        <a:t>O'rtacha quvvat, Vt</a:t>
                      </a:r>
                    </a:p>
                  </a:txBody>
                  <a:tcPr>
                    <a:solidFill>
                      <a:srgbClr val="2D5C8F"/>
                    </a:solidFill>
                  </a:tcPr>
                </a:tc>
                <a:tc>
                  <a:txBody>
                    <a:bodyPr/>
                    <a:lstStyle/>
                    <a:p>
                      <a:r>
                        <a:rPr sz="1400" b="1">
                          <a:solidFill>
                            <a:srgbClr val="FFFFFF"/>
                          </a:solidFill>
                          <a:latin typeface="Calibri"/>
                        </a:rPr>
                        <a:t>mJ/rasm</a:t>
                      </a:r>
                    </a:p>
                  </a:txBody>
                  <a:tcPr>
                    <a:solidFill>
                      <a:srgbClr val="2D5C8F"/>
                    </a:solidFill>
                  </a:tcPr>
                </a:tc>
              </a:tr>
              <a:tr h="520000">
                <a:tc>
                  <a:txBody>
                    <a:bodyPr/>
                    <a:lstStyle/>
                    <a:p>
                      <a:r>
                        <a:rPr sz="1400" b="0">
                          <a:solidFill>
                            <a:srgbClr val="1B2430"/>
                          </a:solidFill>
                          <a:latin typeface="Calibri"/>
                        </a:rPr>
                        <a:t>ORT CUDA FP32 (2-qadam)</a:t>
                      </a:r>
                    </a:p>
                  </a:txBody>
                  <a:tcPr>
                    <a:solidFill>
                      <a:srgbClr val="F1F4F8"/>
                    </a:solidFill>
                  </a:tcPr>
                </a:tc>
                <a:tc>
                  <a:txBody>
                    <a:bodyPr/>
                    <a:lstStyle/>
                    <a:p>
                      <a:r>
                        <a:rPr sz="1400" b="0">
                          <a:solidFill>
                            <a:srgbClr val="1B2430"/>
                          </a:solidFill>
                          <a:latin typeface="Calibri"/>
                        </a:rPr>
                        <a:t>22</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360</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180</a:t>
                      </a:r>
                    </a:p>
                  </a:txBody>
                  <a:tcPr>
                    <a:solidFill>
                      <a:srgbClr val="F1F4F8"/>
                    </a:solidFill>
                  </a:tcPr>
                </a:tc>
              </a:tr>
              <a:tr h="520000">
                <a:tc>
                  <a:txBody>
                    <a:bodyPr/>
                    <a:lstStyle/>
                    <a:p>
                      <a:r>
                        <a:rPr sz="1400" b="0">
                          <a:solidFill>
                            <a:srgbClr val="1B2430"/>
                          </a:solidFill>
                          <a:latin typeface="Calibri"/>
                        </a:rPr>
                        <a:t>TensorRT FP32</a:t>
                      </a:r>
                    </a:p>
                  </a:txBody>
                  <a:tcPr>
                    <a:solidFill>
                      <a:srgbClr val="FFFFFF"/>
                    </a:solidFill>
                  </a:tcPr>
                </a:tc>
                <a:tc>
                  <a:txBody>
                    <a:bodyPr/>
                    <a:lstStyle/>
                    <a:p>
                      <a:r>
                        <a:rPr sz="1400" b="0">
                          <a:solidFill>
                            <a:srgbClr val="1B2430"/>
                          </a:solidFill>
                          <a:latin typeface="Calibri"/>
                        </a:rPr>
                        <a:t>14</a:t>
                      </a:r>
                    </a:p>
                  </a:txBody>
                  <a:tcPr>
                    <a:solidFill>
                      <a:srgbClr val="FFFFFF"/>
                    </a:solidFill>
                  </a:tcPr>
                </a:tc>
                <a:tc>
                  <a:txBody>
                    <a:bodyPr/>
                    <a:lstStyle/>
                    <a:p>
                      <a:r>
                        <a:rPr sz="1400" b="0">
                          <a:solidFill>
                            <a:srgbClr val="1B2430"/>
                          </a:solidFill>
                          <a:latin typeface="Calibri"/>
                        </a:rPr>
                        <a:t>15</a:t>
                      </a:r>
                    </a:p>
                  </a:txBody>
                  <a:tcPr>
                    <a:solidFill>
                      <a:srgbClr val="FFFFFF"/>
                    </a:solidFill>
                  </a:tcPr>
                </a:tc>
                <a:tc>
                  <a:txBody>
                    <a:bodyPr/>
                    <a:lstStyle/>
                    <a:p>
                      <a:r>
                        <a:rPr sz="1400" b="0">
                          <a:solidFill>
                            <a:srgbClr val="1B2430"/>
                          </a:solidFill>
                          <a:latin typeface="Calibri"/>
                        </a:rPr>
                        <a:t>570</a:t>
                      </a:r>
                    </a:p>
                  </a:txBody>
                  <a:tcPr>
                    <a:solidFill>
                      <a:srgbClr val="FFFFFF"/>
                    </a:solidFill>
                  </a:tcPr>
                </a:tc>
                <a:tc>
                  <a:txBody>
                    <a:bodyPr/>
                    <a:lstStyle/>
                    <a:p>
                      <a:r>
                        <a:rPr sz="1400" b="0">
                          <a:solidFill>
                            <a:srgbClr val="1B2430"/>
                          </a:solidFill>
                          <a:latin typeface="Calibri"/>
                        </a:rPr>
                        <a:t>68</a:t>
                      </a:r>
                    </a:p>
                  </a:txBody>
                  <a:tcPr>
                    <a:solidFill>
                      <a:srgbClr val="FFFFFF"/>
                    </a:solidFill>
                  </a:tcPr>
                </a:tc>
                <a:tc>
                  <a:txBody>
                    <a:bodyPr/>
                    <a:lstStyle/>
                    <a:p>
                      <a:r>
                        <a:rPr sz="1400" b="0">
                          <a:solidFill>
                            <a:srgbClr val="1B2430"/>
                          </a:solidFill>
                          <a:latin typeface="Calibri"/>
                        </a:rPr>
                        <a:t>119</a:t>
                      </a:r>
                    </a:p>
                  </a:txBody>
                  <a:tcPr>
                    <a:solidFill>
                      <a:srgbClr val="FFFFFF"/>
                    </a:solidFill>
                  </a:tcPr>
                </a:tc>
              </a:tr>
              <a:tr h="520000">
                <a:tc>
                  <a:txBody>
                    <a:bodyPr/>
                    <a:lstStyle/>
                    <a:p>
                      <a:r>
                        <a:rPr sz="1400" b="0">
                          <a:solidFill>
                            <a:srgbClr val="1B2430"/>
                          </a:solidFill>
                          <a:latin typeface="Calibri"/>
                        </a:rPr>
                        <a:t>TensorRT FP16</a:t>
                      </a:r>
                    </a:p>
                  </a:txBody>
                  <a:tcPr>
                    <a:solidFill>
                      <a:srgbClr val="F1F4F8"/>
                    </a:solidFill>
                  </a:tcPr>
                </a:tc>
                <a:tc>
                  <a:txBody>
                    <a:bodyPr/>
                    <a:lstStyle/>
                    <a:p>
                      <a:r>
                        <a:rPr sz="1400" b="0">
                          <a:solidFill>
                            <a:srgbClr val="1B2430"/>
                          </a:solidFill>
                          <a:latin typeface="Calibri"/>
                        </a:rPr>
                        <a:t>5,2</a:t>
                      </a:r>
                    </a:p>
                  </a:txBody>
                  <a:tcPr>
                    <a:solidFill>
                      <a:srgbClr val="F1F4F8"/>
                    </a:solidFill>
                  </a:tcPr>
                </a:tc>
                <a:tc>
                  <a:txBody>
                    <a:bodyPr/>
                    <a:lstStyle/>
                    <a:p>
                      <a:r>
                        <a:rPr sz="1400" b="0">
                          <a:solidFill>
                            <a:srgbClr val="1B2430"/>
                          </a:solidFill>
                          <a:latin typeface="Calibri"/>
                        </a:rPr>
                        <a:t>5,8</a:t>
                      </a:r>
                    </a:p>
                  </a:txBody>
                  <a:tcPr>
                    <a:solidFill>
                      <a:srgbClr val="F1F4F8"/>
                    </a:solidFill>
                  </a:tcPr>
                </a:tc>
                <a:tc>
                  <a:txBody>
                    <a:bodyPr/>
                    <a:lstStyle/>
                    <a:p>
                      <a:r>
                        <a:rPr sz="1400" b="0">
                          <a:solidFill>
                            <a:srgbClr val="1B2430"/>
                          </a:solidFill>
                          <a:latin typeface="Calibri"/>
                        </a:rPr>
                        <a:t>1540</a:t>
                      </a:r>
                    </a:p>
                  </a:txBody>
                  <a:tcPr>
                    <a:solidFill>
                      <a:srgbClr val="F1F4F8"/>
                    </a:solidFill>
                  </a:tcPr>
                </a:tc>
                <a:tc>
                  <a:txBody>
                    <a:bodyPr/>
                    <a:lstStyle/>
                    <a:p>
                      <a:r>
                        <a:rPr sz="1400" b="0">
                          <a:solidFill>
                            <a:srgbClr val="1B2430"/>
                          </a:solidFill>
                          <a:latin typeface="Calibri"/>
                        </a:rPr>
                        <a:t>70</a:t>
                      </a:r>
                    </a:p>
                  </a:txBody>
                  <a:tcPr>
                    <a:solidFill>
                      <a:srgbClr val="F1F4F8"/>
                    </a:solidFill>
                  </a:tcPr>
                </a:tc>
                <a:tc>
                  <a:txBody>
                    <a:bodyPr/>
                    <a:lstStyle/>
                    <a:p>
                      <a:r>
                        <a:rPr sz="1400" b="0">
                          <a:solidFill>
                            <a:srgbClr val="1B2430"/>
                          </a:solidFill>
                          <a:latin typeface="Calibri"/>
                        </a:rPr>
                        <a:t>45</a:t>
                      </a:r>
                    </a:p>
                  </a:txBody>
                  <a:tcPr>
                    <a:solidFill>
                      <a:srgbClr val="F1F4F8"/>
                    </a:solidFill>
                  </a:tcPr>
                </a:tc>
              </a:tr>
              <a:tr h="520000">
                <a:tc>
                  <a:txBody>
                    <a:bodyPr/>
                    <a:lstStyle/>
                    <a:p>
                      <a:r>
                        <a:rPr sz="1400" b="0">
                          <a:solidFill>
                            <a:srgbClr val="1B2430"/>
                          </a:solidFill>
                          <a:latin typeface="Calibri"/>
                        </a:rPr>
                        <a:t>TensorRT INT8</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2580</a:t>
                      </a:r>
                    </a:p>
                  </a:txBody>
                  <a:tcPr>
                    <a:solidFill>
                      <a:srgbClr val="FFFFFF"/>
                    </a:solidFill>
                  </a:tcPr>
                </a:tc>
                <a:tc>
                  <a:txBody>
                    <a:bodyPr/>
                    <a:lstStyle/>
                    <a:p>
                      <a:r>
                        <a:rPr sz="1400" b="0">
                          <a:solidFill>
                            <a:srgbClr val="1B2430"/>
                          </a:solidFill>
                          <a:latin typeface="Calibri"/>
                        </a:rPr>
                        <a:t>69</a:t>
                      </a:r>
                    </a:p>
                  </a:txBody>
                  <a:tcPr>
                    <a:solidFill>
                      <a:srgbClr val="FFFFFF"/>
                    </a:solidFill>
                  </a:tcPr>
                </a:tc>
                <a:tc>
                  <a:txBody>
                    <a:bodyPr/>
                    <a:lstStyle/>
                    <a:p>
                      <a:r>
                        <a:rPr sz="1400" b="0">
                          <a:solidFill>
                            <a:srgbClr val="1B2430"/>
                          </a:solidFill>
                          <a:latin typeface="Calibri"/>
                        </a:rPr>
                        <a:t>27</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05_trt_build.sh — trtexec vositasi TensorRT bilan birga keladi</a:t>
            </a:r>
          </a:p>
          <a:p>
            <a:r>
              <a:rPr sz="1000">
                <a:solidFill>
                  <a:srgbClr val="E2E8F0"/>
                </a:solidFill>
                <a:latin typeface="Consolas"/>
              </a:rPr>
              <a:t>trtexec --onnx=resnet50_fp32.onnx --saveEngine=rn50_fp32.plan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trt_fp32.log</a:t>
            </a:r>
          </a:p>
          <a:p>
            <a:r>
              <a:rPr sz="1000">
                <a:solidFill>
                  <a:srgbClr val="E2E8F0"/>
                </a:solidFill>
                <a:latin typeface="Consolas"/>
              </a:rPr>
              <a:t>trtexec --onnx=resnet50_fp32.onnx --saveEngine=rn50_fp16.plan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trt_fp16.log</a:t>
            </a:r>
          </a:p>
          <a:p>
            <a:r>
              <a:rPr sz="1000">
                <a:solidFill>
                  <a:srgbClr val="7FD6D7"/>
                </a:solidFill>
                <a:latin typeface="Consolas"/>
              </a:rPr>
              <a:t># INT8: Q/DQ tugunli ONNX (3-qadamdagi resnet50_int8.onnx) to'g'ridan-to'g'ri qabul qilinadi</a:t>
            </a:r>
          </a:p>
          <a:p>
            <a:r>
              <a:rPr sz="1000">
                <a:solidFill>
                  <a:srgbClr val="E2E8F0"/>
                </a:solidFill>
                <a:latin typeface="Consolas"/>
              </a:rPr>
              <a:t>trtexec --onnx=resnet50_int8.onnx --saveEngine=rn50_int8.plan --int8 --fp16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trt_int8.log</a:t>
            </a:r>
          </a:p>
          <a:p>
            <a:r>
              <a:rPr sz="1000">
                <a:solidFill>
                  <a:srgbClr val="E2E8F0"/>
                </a:solidFill>
                <a:latin typeface="Consolas"/>
              </a:rPr>
              <a:t>grep -E "GPU Compute Time|Throughput" trt_*.log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06_trt_infer.py — Python'dan dvigatelni ishga tushirish va quvvatni o'lchash</a:t>
            </a:r>
          </a:p>
          <a:p>
            <a:r>
              <a:rPr sz="1000">
                <a:solidFill>
                  <a:srgbClr val="E2E8F0"/>
                </a:solidFill>
                <a:latin typeface="Consolas"/>
              </a:rPr>
              <a:t>import tensorrt as trt, pycuda.driver as cuda, pycuda.autoinit, numpy as np, time, threading, subprocess</a:t>
            </a:r>
          </a:p>
          <a:p>
            <a:r>
              <a:rPr sz="1000">
                <a:solidFill>
                  <a:srgbClr val="E2E8F0"/>
                </a:solidFill>
                <a:latin typeface="Consolas"/>
              </a:rPr>
              <a:t> </a:t>
            </a:r>
          </a:p>
          <a:p>
            <a:r>
              <a:rPr sz="1000">
                <a:solidFill>
                  <a:srgbClr val="E2E8F0"/>
                </a:solidFill>
                <a:latin typeface="Consolas"/>
              </a:rPr>
              <a:t>def quvvat_kuzat(stop, natija):</a:t>
            </a:r>
          </a:p>
          <a:p>
            <a:r>
              <a:rPr sz="1000">
                <a:solidFill>
                  <a:srgbClr val="E2E8F0"/>
                </a:solidFill>
                <a:latin typeface="Consolas"/>
              </a:rPr>
              <a:t>    while not stop.is_set():</a:t>
            </a:r>
          </a:p>
          <a:p>
            <a:r>
              <a:rPr sz="1000">
                <a:solidFill>
                  <a:srgbClr val="E2E8F0"/>
                </a:solidFill>
                <a:latin typeface="Consolas"/>
              </a:rPr>
              <a:t>        w = subprocess.run(["nvidia-smi", "--query-gpu=power.draw", "--format=csv,noheader,nounits"],</a:t>
            </a:r>
          </a:p>
          <a:p>
            <a:r>
              <a:rPr sz="1000">
                <a:solidFill>
                  <a:srgbClr val="E2E8F0"/>
                </a:solidFill>
                <a:latin typeface="Consolas"/>
              </a:rPr>
              <a:t>                           capture_output=True, text=True).stdout.strip()</a:t>
            </a:r>
          </a:p>
          <a:p>
            <a:r>
              <a:rPr sz="1000">
                <a:solidFill>
                  <a:srgbClr val="E2E8F0"/>
                </a:solidFill>
                <a:latin typeface="Consolas"/>
              </a:rPr>
              <a:t>        natija.append(float(w)); time.sleep(0.1)</a:t>
            </a:r>
          </a:p>
          <a:p>
            <a:r>
              <a:rPr sz="1000">
                <a:solidFill>
                  <a:srgbClr val="E2E8F0"/>
                </a:solidFill>
                <a:latin typeface="Consolas"/>
              </a:rPr>
              <a:t> </a:t>
            </a:r>
          </a:p>
          <a:p>
            <a:r>
              <a:rPr sz="1000">
                <a:solidFill>
                  <a:srgbClr val="E2E8F0"/>
                </a:solidFill>
                <a:latin typeface="Consolas"/>
              </a:rPr>
              <a:t>def bench(plan, batch=8, takror=300):</a:t>
            </a:r>
          </a:p>
          <a:p>
            <a:r>
              <a:rPr sz="1000">
                <a:solidFill>
                  <a:srgbClr val="E2E8F0"/>
                </a:solidFill>
                <a:latin typeface="Consolas"/>
              </a:rPr>
              <a:t>    logger = trt.Logger(trt.Logger.WARNING)</a:t>
            </a:r>
          </a:p>
          <a:p>
            <a:r>
              <a:rPr sz="1000">
                <a:solidFill>
                  <a:srgbClr val="E2E8F0"/>
                </a:solidFill>
                <a:latin typeface="Consolas"/>
              </a:rPr>
              <a:t>    with open(plan, "rb") as f, trt.Runtime(logger) as rt:</a:t>
            </a:r>
          </a:p>
          <a:p>
            <a:r>
              <a:rPr sz="1000">
                <a:solidFill>
                  <a:srgbClr val="E2E8F0"/>
                </a:solidFill>
                <a:latin typeface="Consolas"/>
              </a:rPr>
              <a:t>        engine = rt.deserialize_cuda_engine(f.read())</a:t>
            </a:r>
          </a:p>
          <a:p>
            <a:r>
              <a:rPr sz="1000">
                <a:solidFill>
                  <a:srgbClr val="E2E8F0"/>
                </a:solidFill>
                <a:latin typeface="Consolas"/>
              </a:rPr>
              <a:t>    ctx = engine.create_execution_context()</a:t>
            </a:r>
          </a:p>
          <a:p>
            <a:r>
              <a:rPr sz="1000">
                <a:solidFill>
                  <a:srgbClr val="E2E8F0"/>
                </a:solidFill>
                <a:latin typeface="Consolas"/>
              </a:rPr>
              <a:t>    ctx.set_input_shape("input", (batch, 3, 224, 224))</a:t>
            </a:r>
          </a:p>
          <a:p>
            <a:r>
              <a:rPr sz="1000">
                <a:solidFill>
                  <a:srgbClr val="E2E8F0"/>
                </a:solidFill>
                <a:latin typeface="Consolas"/>
              </a:rPr>
              <a:t>    h_in = np.random.rand(batch, 3, 224, 224).astype(np.float32); h_out = np.empty((batch, 1000), np.float32)</a:t>
            </a:r>
          </a:p>
          <a:p>
            <a:r>
              <a:rPr sz="1000">
                <a:solidFill>
                  <a:srgbClr val="E2E8F0"/>
                </a:solidFill>
                <a:latin typeface="Consolas"/>
              </a:rPr>
              <a:t>    d_in, d_out = cuda.mem_alloc(h_in.nbytes), cuda.mem_alloc(h_out.nbytes)</a:t>
            </a:r>
          </a:p>
          <a:p>
            <a:r>
              <a:rPr sz="1000">
                <a:solidFill>
                  <a:srgbClr val="E2E8F0"/>
                </a:solidFill>
                <a:latin typeface="Consolas"/>
              </a:rPr>
              <a:t>    ctx.set_tensor_address("input", int(d_in)); ctx.set_tensor_address("logits", int(d_out))</a:t>
            </a:r>
          </a:p>
          <a:p>
            <a:r>
              <a:rPr sz="1000">
                <a:solidFill>
                  <a:srgbClr val="E2E8F0"/>
                </a:solidFill>
                <a:latin typeface="Consolas"/>
              </a:rPr>
              <a:t>    stream = cuda.Stream(); cuda.memcpy_htod_async(d_in, h_in, stream)</a:t>
            </a:r>
          </a:p>
          <a:p>
            <a:r>
              <a:rPr sz="1000">
                <a:solidFill>
                  <a:srgbClr val="E2E8F0"/>
                </a:solidFill>
                <a:latin typeface="Consolas"/>
              </a:rPr>
              <a:t>    for _ in range(20): ctx.execute_async_v3(stream.handle)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(8 yadroli Intel CPU, AVX-512 VNNI, taxminiy): FP32 p50 ≈ 24 ms, INT8 p50 ≈ 8 ms (3 baravar), top-1 ≈ 79,8 % (NNCF ning aniqlikni saqlovchi aralash preset'i). RAPL orqali energiya: FP32 ≈ 1,1 J/rasm, INT8 ≈ 0,38 J/rasm (paketli 65 Vt 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05_openvino.py</a:t>
            </a:r>
          </a:p>
          <a:p>
            <a:r>
              <a:rPr sz="1000">
                <a:solidFill>
                  <a:srgbClr val="E2E8F0"/>
                </a:solidFill>
                <a:latin typeface="Consolas"/>
              </a:rPr>
              <a:t>import openvino as ov, nncf, numpy as np, time, glob, torch</a:t>
            </a:r>
          </a:p>
          <a:p>
            <a:r>
              <a:rPr sz="1000">
                <a:solidFill>
                  <a:srgbClr val="E2E8F0"/>
                </a:solidFill>
                <a:latin typeface="Consolas"/>
              </a:rPr>
              <a:t>core = ov.Core()</a:t>
            </a:r>
          </a:p>
          <a:p>
            <a:r>
              <a:rPr sz="1000">
                <a:solidFill>
                  <a:srgbClr val="E2E8F0"/>
                </a:solidFill>
                <a:latin typeface="Consolas"/>
              </a:rPr>
              <a:t>model = core.read_model("resnet50_fp32.onnx")</a:t>
            </a:r>
          </a:p>
          <a:p>
            <a:r>
              <a:rPr sz="1000">
                <a:solidFill>
                  <a:srgbClr val="E2E8F0"/>
                </a:solidFill>
                <a:latin typeface="Consolas"/>
              </a:rPr>
              <a:t>calib = nncf.Dataset([preprocess(f) for f in sorted(glob.glob("calib/*.JPEG"))[:300]])</a:t>
            </a:r>
          </a:p>
          <a:p>
            <a:r>
              <a:rPr sz="1000">
                <a:solidFill>
                  <a:srgbClr val="E2E8F0"/>
                </a:solidFill>
                <a:latin typeface="Consolas"/>
              </a:rPr>
              <a:t>q_model = nncf.quantize(model, calib, preset=nncf.QuantizationPreset.MIXED, subset_size=300)</a:t>
            </a:r>
          </a:p>
          <a:p>
            <a:r>
              <a:rPr sz="1000">
                <a:solidFill>
                  <a:srgbClr val="E2E8F0"/>
                </a:solidFill>
                <a:latin typeface="Consolas"/>
              </a:rPr>
              <a:t>ov.save_model(q_model, "resnet50_ov_int8.xml")</a:t>
            </a:r>
          </a:p>
          <a:p>
            <a:r>
              <a:rPr sz="1000">
                <a:solidFill>
                  <a:srgbClr val="E2E8F0"/>
                </a:solidFill>
                <a:latin typeface="Consolas"/>
              </a:rPr>
              <a:t>for nomi, m in (("FP32", model), ("INT8", q_model)):</a:t>
            </a:r>
          </a:p>
          <a:p>
            <a:r>
              <a:rPr sz="1000">
                <a:solidFill>
                  <a:srgbClr val="E2E8F0"/>
                </a:solidFill>
                <a:latin typeface="Consolas"/>
              </a:rPr>
              <a:t>    comp = core.compile_model(m, "CPU", {"PERFORMANCE_HINT": "LATENCY"})</a:t>
            </a:r>
          </a:p>
          <a:p>
            <a:r>
              <a:rPr sz="1000">
                <a:solidFill>
                  <a:srgbClr val="E2E8F0"/>
                </a:solidFill>
                <a:latin typeface="Consolas"/>
              </a:rPr>
              <a:t>    req = comp.create_infer_request(); x = np.random.rand(1, 3, 224, 224).astype(np.float32)</a:t>
            </a:r>
          </a:p>
          <a:p>
            <a:r>
              <a:rPr sz="1000">
                <a:solidFill>
                  <a:srgbClr val="E2E8F0"/>
                </a:solidFill>
                <a:latin typeface="Consolas"/>
              </a:rPr>
              <a:t>    for _ in range(10): req.infer({0: x})</a:t>
            </a:r>
          </a:p>
          <a:p>
            <a:r>
              <a:rPr sz="1000">
                <a:solidFill>
                  <a:srgbClr val="E2E8F0"/>
                </a:solidFill>
                <a:latin typeface="Consolas"/>
              </a:rPr>
              <a:t>    t = []</a:t>
            </a:r>
          </a:p>
          <a:p>
            <a:r>
              <a:rPr sz="1000">
                <a:solidFill>
                  <a:srgbClr val="E2E8F0"/>
                </a:solidFill>
                <a:latin typeface="Consolas"/>
              </a:rPr>
              <a:t>    for _ in range(100):</a:t>
            </a:r>
          </a:p>
          <a:p>
            <a:r>
              <a:rPr sz="1000">
                <a:solidFill>
                  <a:srgbClr val="E2E8F0"/>
                </a:solidFill>
                <a:latin typeface="Consolas"/>
              </a:rPr>
              <a:t>        t0 = time.perf_counter(); req.infer({0: x}); t.append(time.perf_counter()-t0)</a:t>
            </a:r>
          </a:p>
          <a:p>
            <a:r>
              <a:rPr sz="1000">
                <a:solidFill>
                  <a:srgbClr val="E2E8F0"/>
                </a:solidFill>
                <a:latin typeface="Consolas"/>
              </a:rPr>
              <a:t>    print(f"OpenVINO {nomi}: p50 {np.percentile(t,50)*1e3:.1f} ms  p95 {np.percentile(t,95)*1e3:.1f}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Yakuniy jadval va Pareto tahlili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Barcha o'lchovlarni bitta jadvalga yig'ing (konfiguratsiya, apparat, p50, p95, throughput, hajm, top-1, mJ/rasm) va ikki o'qli tahlil qiling: latency–aniqlik va throughput–energiya. Pareto-optimal nuqtalar — boshqa hech bir konfiguratsiya ikkala ko'rsatkichda…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Hisobot (5–7 bet): (1) muhit — CPU/GPU modeli, VNNI/Tensor Core mavjudligi, kutubxona versiyalari; (2) eksport natijasi — tugunlar soni, opset, PyTorch bilan maksimal farq; (3) 2-qadam…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Qo'shimcha 10 ball: QAT (PyTorch torch.ao.quantization yoki NNCF) bilan 1–2 epox qayta o'qitib, INT8 aniqligini FP32 ga 0,2 p.p. ichida yaqinlashtirish; yoki Transformer modelini (masalan, DistilBERT) xuddi shu metodika bilan tahlil qilib, dinamik…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ONNX eksport to'g'ri (dinamik o'q, tekshiruv, PyTorch bilan moslik)</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ONNX Runtime o'lchovlari 4 darajada va paketlar bo'yicha bajarilgan, Little qonuni bilan izohlangan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Statik INT8 kvantlash kalibrlash bilan bajarilgan, kamida 2 kalibrlash usuli solishtirilgan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Aniqlik kamida 1000 tasvirda o'lchangan, yo'qotish tahlil qilingan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TensorRT (FP32/FP16/INT8) yoki OpenVINO (FP32/INT8) o'lchovlari quvvat bilan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Pareto tahlili va asoslangan tavsiya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Hisobot va himoya</a:t>
                      </a:r>
                    </a:p>
                  </a:txBody>
                  <a:tcPr>
                    <a:solidFill>
                      <a:srgbClr val="F1F4F8"/>
                    </a:solidFill>
                  </a:tcPr>
                </a:tc>
                <a:tc>
                  <a:txBody>
                    <a:bodyPr/>
                    <a:lstStyle/>
                    <a:p>
                      <a:r>
                        <a:rPr sz="1000" b="0">
                          <a:solidFill>
                            <a:srgbClr val="1B2430"/>
                          </a:solidFill>
                          <a:latin typeface="Calibri"/>
                        </a:rPr>
                        <a:t>10</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natijalari uch xulosa beradi. Birinchi: optimallashtirish zanjiri multiplikativ — grafik birlashtirish (1,5×), to'g'ri dvigatel (1,6×), FP16 (2,7×), INT8 (1,7×) ketma-ket qo'llanib, GPU'da 11 baravar, CPU'da 4–5 baravar yaxshilanish beradi, va bu…</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O'lchovlar sintetik kirishda va bitta jarayonda olingan; real xizmatda so'rovlar notekis keladi, paket dinamik shakllanadi, oldindan ishlov (JPEG dekodlash, resize) ko'pincha inferensdan uzoq — ResNet-50 INT8 3 ms bo'lsa, JPEG dekodlash CPU'da…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Muqobil yondashuvlar: kvantlashdan tashqari, siyraklashtirish (pruning; Ampere'da 2:4 strukturali siyraklik Tensor Core'da 2 baravar beradi), bilimni distillash (knowledge distillation; kichikroq talaba model), arxitektura qidiruvi (EfficientNet, MobileNetV3…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Eksportda statik paket o'lchami qoldirish. dynamic_axes ko'rsatilmasa, model faqat batch=1 da ishlaydi va throughput o'lchovi mumkin bo'lmaydi; TensorRT'da esa optimizatsiya profili…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Eksportdan keyin mosligini tekshirmaslik. Opset nomuvofiqligi, eval() chaqirilmagani (BatchNorm/Dropout o'qitish rejimida qoladi) yoki tracing'da yo'qolgan shartli tarmoq jim xato beradi.…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Kalibrlashni tasodifiy shovqin bilan bajarish. Faollashuv diapazonlari real ma'lumotga bog'liq; np.random.rand bilan kalibrlangan model 10–30 p.p. aniqlik yo'qotadi. Kamida 100–500 real,…</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Barcha qatlamlarni INT8 qilish. Birinchi konvolyutsiya va oxirgi to'liq bog'langan qatlam, Softmax, SiLU/GELU kabi operatorlar kvantlashga sezgir. Aniqlik tushsa, qatlamma-qatlam tahlil…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CPU'da INT8 tezlanishini kutib, VNNI/AMX yo'qligini tekshirmaslik. Eski CPU'larda INT8 FP32 dan sekin bo'lishi mumkin (emulatsiya). lscpu | grep -o 'avx512_vnni\|amx' bilan tekshiring.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TensorRT dvigatelini bir GPU'da qurib, boshqasida ishlatish. Engine arxitektura (SM versiyasi) va TensorRT versiyasiga bog'langan; T4 da qurilgan dvigatel A100 da ishlamaydi. Konteynerga…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Quvvatni bitta nuqtada o'lchash. nvidia-smi o'qishlari 100 ms da yangilanadi va bo'sh/yuklangan holatlar aralashadi. Kamida 10–30 soniyalik yuklama davomida o'rtachani oling, bo'sh quvvatni…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Aniqlikni faqat umumiy top-1 bilan baholash. Kvantlash ba'zi sinflar yoki kam uchraydigan holatlarga nomutanosib ta'sir qilishi mumkin. Sinflar bo'yicha chalkashlik matritsasi (confusion…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Dinamik kvantlash ResNet-50 da tezlanish bermadi, lekin BERT'da 2 baravar beradi. Ikkala arxitekturaning hisoblash profili bu farqni qanday tushuntiradi?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Per-channel kvantlash per-tensor'ga nisbatan aniqlikni nega yaxshilaydi? Buni konvolyutsiya vaznlarining kanallar bo'yicha taqsimoti nuqtai nazaridan tushuntiring va qaysi qatlamlarda farq…</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Percentile kalibrlash MinMax'dan nima uchun yaxshi natija berdi? Qanday ma'lumot taqsimotida aksincha bo'lishi mumkin?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TensorRT FP16 quvvatni deyarli o'zgartirmagan holda throughput'ni 2,7 baravar oshirdi. Agar maqsad quvvatni kamaytirish bo'lsa (masalan, batareyali qurilma), bu natijadan qanday…</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Latency–throughput kompromissini Little qonuni orqali ifodalang va 50 ms p95 talabi bilan 2000 so'rov/s ni ta'minlash uchun T4 INT8 dvigatelida qanday paket o'lchami va nechta nusxa…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1000 tasvirda o'lchangan 0,7 p.p. aniqlik farqi statistik jihatdan ishonchlimi? Ishonch intervalini baholang va qanday to'plam hajmi kerakligini ayting.</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ONNX Runtime universal, TensorRT tezroq, OpenVINO Intel uchun. Ko'p turdagi apparatga (bulut GPU + chekka Intel NUC + Jetson) joylanadigan mahsulot uchun qanday optimallashtirish…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Kvantlash xavfsizlik nuqtai nazaridan yangi muammo tug'dirishi mumkinmi (masalan, adversarial mustahkamlik o'zgarishi)? Fikringizni asoslang.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(sillabusdagi 2-mustaqil ta'lim topshirig'i). O'zingiz tanlagan modelni (ob'ekt aniqlash — YOLOv8s, segmentatsiya — DeepLabV3, yoki NLP — DistilBERT) TensorRT, ONNX Runtime yoki OpenVINO yordamida optimallashtiring: FP32 → FP16 → INT8 (statik PTQ,…</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Sezgirlik tahlili: statik INT8 ResNet-50 (yoki o'z modelingiz) uchun har bir qatlamni alohida FP32 da qoldirib, aniqlik tiklanishini o'lchang; eng sezgir 3 qatlamni aniqlang va aralash konfiguratsiya (INT8 + 3 ta FP16/FP32 qatlam) uchun latency…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Qo'shimcha topshiriqlar (10 ta)</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Quyidagi topshiriqlar virtual laboratoriyada bajariladi (sayt ichidagi CPU sandbox: 2 yadro, 1,5 GB, tarmoq yo'q, 90 s) — laboratoriya bosqichlari kodini o'zgartirib bajariladi, har…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Opset va tugunlar — oson, 5 ball.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Optimallashtirish darajalari jadvali — oson, 5 ball.</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Kvantlash formulasi — oson, 5 ball.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 to'plami hajmi — o'rta, 10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Sezgir qatlam tahlili — o'rta, 10 ball.</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Paket va kechikish byudjeti — o'rta, 10 ball.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MLP vs CNN: dinamik kvantlash farqi — o'rta, 10 ball.</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QAT bilan aniqlikni tiklash — qiyin, 15 ball.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Latency taqsimoti va ishonch intervali — qiyin, 15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To'liq Pareto hisoboti o'z modelingiz uchun — qiyin, 15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10</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sonli formatlar, maxsus arxitekturalarda aniqlik va unumdorlik.</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[2] Kneusel, R. T. Artificial Intelligence Engineering: A Practical Guide for AI Applications. No Starch Press, 2023. — modelni ishlab chiqarishga tayyorlash.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[3] Amershi, S. va boshq. Machine Learning Engineering. MIT Press, 2025. — inferens unumdorligi va ekspluatatsiya talablari.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Morgan &amp; Claypool, 2020. — kvantlash, siyraklashtirish va energiya samaradorligi…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TensorRT Developer Guide, trtexec, INT8 kalibrlash va Q/DQ qo'llab-quvvatlash (https://developer.nvidia.com).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 torch.onnx, torch.ao.quantization (https://pytorch.org).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[10] ONNX rasmiy sayti va spetsifikatsiyasi — operatorlar va opset versiyalari (https://onnx.ai).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ONNX Runtime hujjatlari — kvantlash, grafik optimallashtirish, ijro provayderlari (https://onnxruntime.ai/docs).</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OpenVINO hujjatlari va NNCF (https://docs.openvino.ai).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Jacob, B. va boshq. Quantization and Training of Neural Networks for Efficient Integer-Arithmetic-Only Inference. CVPR 2018. — butun sonli kvantlash sxemasi va QAT asoslari.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53</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Nagel, M. va boshq. A White Paper on Neural Network Quantization. arXiv:2106.08295, 2021. — PTQ va QAT amaliy tavsiyalari.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54</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A3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https://aiscan.airi.uz/ktm/#/c/mis2104/mavzu/A3</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
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Optimallashtirish bir necha qatlamda amalga oshiriladi. 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 Tizim darajasida: paketlash (batching), parallel oqimlar, xotira havzalari (memory pool). Mashg'ulotda biz dastlabki uch qatlamni amalda bajaramiz, to'rtinchisi A4 da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Vositalar tanlovi apparatga bog'liq: NVIDIA GPU — TensorRT (eng yuqori unumdorlik, lekin vendor-bog'liq); CPU va ko'p platformali yechim — ONNX Runtime (Microsoft, ochiq kod, CPU/CUDA/TensorRT/OpenVINO provayderlari); Intel CPU/iGPU/NPU — OpenVINO. ONNX formati bu dvigatellar orasidagi umumiy til bo'lib, PyTorch yoki TensorFlow'dan bir marta eksport qilingan model har uchalasida ishlatilishi mumkin. Mashg'ulot shu ketma-ketlikda tuzilgan: eksport → ONNX Runtime (barcha talabalar uchun, GPU shart emas) → kvantlash → TensorRT yoki OpenVINO (apparatga qarab) → yakuniy taqqoslash.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 neyron tarmoqni hisoblash grafigi sifatida ifodalovchi ochiq standart: tugunlar — operatorlar (Conv, MatMul, Relu, Softmax va boshqalar, opset versiyasiga qarab 190 dan ortiq), qirralar — tensorlar. Har bir opset versiyasi operatorlar semantikasini qat'iy belgilaydi; PyTorch 2.x odatda opset 17–18 ni eksport qiladi. Eksportda ikki yondashuv bor: kuzatish (tracing) — model bitta namuna kirish bilan ishga tushiriladi va bajarilgan amallar yoziladi (shartli tarmoqlanishlar yo'qoladi); skript (TorchScript yoki yangi torch.export — Dynamo asosida) — Python kodi tahlil qilinadi. Eksportdan keyin onnx.checker.check_model grafikning to'g'riligini, onnxruntime esa natijaning PyTorch bilan mosligini (odatda 1e-4 nisbiy xato) tekshirish uchun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 neyron tarmoqni hisoblash grafigi sifatida ifodalovchi ochiq standart: tugunlar — operatorlar (Conv, MatMul, Relu, Softmax va boshqalar, opset versiyasiga qarab 190 dan ortiq), qirralar — tensorlar. Har bir opset versiyasi operatorlar semantikasini qat'iy belgilaydi; PyTorch 2.x odatda opset 17–18 ni eksport qiladi. Eksportda ikki yondashuv bor: kuzatish (tracing) — model bitta namuna kirish bilan ishga tushiriladi va bajarilgan amallar yoziladi (shartli tarmoqlanishlar yo'qoladi); skript (TorchScript yoki yangi torch.export — Dynamo asosida) — Python kodi tahlil qilinadi. Eksportdan keyin onnx.checker.check_model grafikning to'g'riligini, onnxruntime esa natijaning PyTorch bilan mosligini (odatda 1e-4 nisbiy xato) tekshirish uchun ishlatiladi.</a:t>
            </a:r>
          </a:p>
          <a:p/>
          <a:p>
            <a:r>
              <a:t>Grafik optimallashtirish darajalari ONNX Runtime'da uchta: basic (constant folding, keraksiz Cast/Identity olib tashlash), extended (Conv+BN, MatMul+Add, GELU/LayerNorm birlashtirish — provayderga bog'liq), all (layout optimallashtirish, NCHWc). TensorRT esa qurish (build) bosqichida yanada agressiv: qatlamlarni vertikal (ketma-ket) va gorizontal (parallel bir xil qatlamlar) birlashtirish, har qatlam uchun yuzlab yadro variantidan eng tezini o'lchab tanlash (bu 1–10 daqiqa olishi mumkin), xotira rejasini oldindan tuzish.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FP32 (1 ishora, 8 eksponenta, 23 mantissa biti) — o'qitishning standart formati. FP16 (5 eksponenta, 10 mantissa) diapazoni ±65 504 bilan cheklangan — katta faollashuvlar toshadi (overflow); BF16 (8 eksponenta, 7 mantissa) FP32 diapazonini saqlaydi, aniqlik pastroq, lekin o'qitish uchun barqaror. Inferensda FP16 ko'pchilik ko'rish modellari uchun aniqlikni deyarli o'zgartirmaydi (top-1 farqi 0,1 foiz punktdan kam), xotirani ikki baravar kamaytiradi va Tensor Core'larda 2–4 baravar tezlanish beradi (A2 ga qarang). «Aralash» deyilishining sababi — ba'zi operatorlar (Softmax, LayerNorm, yig'indi) raqamli barqarorlik uchun FP32 da qoladi; TensorRT va ONNX Runtime buni avtomatik hal qiladi, dasturchi esa qaysi qatlamlar FP32 da qolishini belgilashi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haqiqiy sonlarni 8 bitli (yoki kamroq) butun songa akslantirish: q = round(x / s) + z, bu yerda s — masshtab (scale), z — nol nuqta (zero point). Simmetrik kvantlashda z = 0 va s = max|x| / 127; asimmetrikda diapazon [x_min, x_max] to'liq ishlatiladi. Masshtab butun tensor uchun bitta (per-tensor) yoki har chiqish kanali uchun alohida (per-channel) bo'lishi mumkin; per-channel vaznlar uchun aniqlikni sezilarli yaxshilaydi.</a:t>
            </a:r>
          </a:p>
          <a:p/>
          <a:p>
            <a:r>
              <a:t>Statik kvantlashda faollashuvlarning diapazoni kalibrlash to'plamidan aniqlanadi; usullar: MinMax (chetki qiymatlarga sezgir), Entropy/KL-divergentsiya (TensorRT standart), Percentile (99,99 foizlik), MSE. Noto'g'ri kalibrlash — INT8 modellarining aniqlik yo'qotishining asosiy sababi. Kvantlashning apparat foydasi: INT8 ko'paytirish FP32 ga nisbatan 4 baravar kam xotira trafigi, Tensor Core'da 2 baravar (FP16 ga nisbatan) ko'proq operatsiya, CPU'da VNNI/AMX buyruqlari orqali 3–4 baravar tezlanish; Edge TPU va ko'pgina NPU'lar faqat INT8 ni qo'llab-quvvatlaydi.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 asosiy yondashuv:</a:t>
            </a:r>
          </a:p>
          <a:p/>
          <a:p>
            <a:r>
              <a:t>Statik kvantlashda faollashuvlarning diapazoni kalibrlash to'plamidan aniqlanadi; usullar: MinMax (chetki qiymatlarga sezgir), Entropy/KL-divergentsiya (TensorRT standart), Percentile (99,99 foizlik), MSE. Noto'g'ri kalibrlash — INT8 modellarining aniqlik yo'qotishining asosiy sababi. Kvantlashning apparat foydasi: INT8 ko'paytirish FP32 ga nisbatan 4 baravar kam xotira trafigi, Tensor Core'da 2 baravar (FP16 ga nisbatan) ko'proq operatsiya, CPU'da VNNI/AMX buyruqlari orqali 3–4 baravar tezlanish; Edge TPU va ko'pgina NPU'lar faqat INT8 ni qo'llab-quvvatlaydi.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 bitta so'rov uchun vaqt; taqsimot sifatida o'lchanadi, hisobotda p50, p95, p99 beriladi, chunki foydalanuvchi tajribasini aynan sekin so'rovlar belgilaydi. Throughput — birlik vaqtda bajarilgan inferenslar; paketlash orqali oshadi, lekin paket to'lguncha kutish latency'ni oshiradi — bu kompromiss har bir xizmat uchun alohida sozlanadi. Little qonuni ularni bog'laydi: parallellik = throughput × latency; masalan, 1000 so'rov/s va 20 ms latency uchun tizimda bir vaqtda 20 ta so'rov bo'lishi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 inferens boshiga joul: E = P_o'rtacha × t_inferens yoki inferens/s / Vt. GPU'da quvvat nvidia-smi --query-gpu=power.draw yoki NVML orqali 100 ms oraliqda o'qiladi; Jetson'da tegrastats; Intel CPU'da RAPL (/sys/class/powercap/intel-rapl) yoki perf stat -e power/energy-pkg/. Muhim nozik jihat: bo'sh (idle) quvvatni ayirish kerakmi? Ikki ko'rsatkich ham beriladi: to'liq (TCO uchun) va dinamik (algoritm samaradorligi uchun). A1 da ko'rilgan Roofline modeli bu yerda ham ishlaydi: kvantlash bir vaqtda ham hisoblash cho'qqisini (INT8 tezroq), ham xotira talabini (4 baravar kam bayt) yaxshilaydi, shuning uchun u har ikki rejimdagi modellarga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 tasvir tasniflash modelini ONNX Runtime va TensorRT/OpenVINO yordamida optimallashtirish va unumdorlikni to'liq baholash».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 tasvir tasniflash modelini ONNX Runtime va TensorRT/OpenVINO yordamida optimallashtirish va unumdorlikni to'liq baholash».</a:t>
            </a:r>
          </a:p>
          <a:p/>
          <a:p>
            <a:r>
              <a:t>Talab qilinadigan muhit. Apparat: x86 CPU (kamida 4 yadro, AVX2; VNNI bo'lsa INT8 tezlanishi yaqqolroq); NVIDIA GPU (ixtiyoriy, TensorRT qismi uchun; T4, RTX 3060 yoki yuqori); Intel CPU bo'lsa OpenVINO qismi bajariladi. Dasturiy ta'minot: Ubuntu 22.04; Python 3.10; torch&gt;=2.2, torchvision&gt;=0.17, onnx&gt;=1.15, onnxruntime&gt;=1.17 (GPU uchun onnxruntime-gpu), onnxscript, numpy, pandas, pillow; TensorRT 8.6 yoki 10.x (CUDA 12 bilan; pip install tensorrt yoki NVIDIA NGC konteyneri nvcr.io/nvidia/tensorrt:24.xx-py3); OpenVINO 2024.x (pip install openvino nncf). Ma'lumotlar: ImageNet validatsiya to'plamidan 1000 ta tasvir (yoki Imagenette kichik to'plami — 10 sinf, ochiq) — aniqlikni o'lchash va kalibrlash uchun. Vaqt: 2 akademik soat auditoriyada; TensorRT qurish va to'liq o'lchovlar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 qilinadigan muhit. Apparat: x86 CPU (kamida 4 yadro, AVX2; VNNI bo'lsa INT8 tezlanishi yaqqolroq); NVIDIA GPU (ixtiyoriy, TensorRT qismi uchun; T4, RTX 3060 yoki yuqori); Intel CPU bo'lsa OpenVINO qismi bajariladi. Dasturiy ta'minot: Ubuntu 22.04; Python 3.10; torch&gt;=2.2, torchvision&gt;=0.17, onnx&gt;=1.15, onnxruntime&gt;=1.17 (GPU uchun onnxruntime-gpu), onnxscript, numpy, pandas, pillow; TensorRT 8.6 yoki 10.x (CUDA 12 bilan; pip install tensorrt yoki NVIDIA NGC konteyneri nvcr.io/nvidia/tensorrt:24.xx-py3); OpenVINO 2024.x (pip install openvino nncf). Ma'lumotlar: ImageNet validatsiya to'plamidan 1000 ta tasvir (yoki Imagenette kichik to'plami — 10 sinf, ochiq) — aniqlikni o'lchash va kalibrlash uchun. Vaqt: 2 akademik soat auditoriyada; TensorRT qurish va to'liq o'lchovlar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CPU, taxminiy): PyTorch FP32 p50 ≈ 45–70 ms; ONNX faylda 120–130 tugun (Conv, BatchNormalization, Relu, Add, MaxPool, GlobalAveragePool, Gemm), hajmi ≈ 98 MB (25,6 million parametr × 4 bayt).</a:t>
            </a:r>
          </a:p>
          <a:p/>
          <a:p>
            <a:r>
              <a:t>Nima bo'ldi va nega. dynamic_axes paket o'lchamini o'zgaruvchan qiladi — keyin throughput o'lchovida 1, 8, 32 paketlarni bitta fayl bilan sinaymiz. do_constant_folding eksport paytidayoq doimiy qism-grafiklarni hisoblaydi. Etalon latency keyingi barcha solishtirishlar uchun 1,0× nuqtasi.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CPU, taxminiy): PyTorch FP32 p50 ≈ 45–70 ms; ONNX faylda 120–130 tugun (Conv, BatchNormalization, Relu, Add, MaxPool, GlobalAveragePool, Gemm), hajmi ≈ 98 MB (25,6 million parametr × 4 bayt).</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 Model hajmi 4 baravar kichraydi — bu chekka qurilmalar uchun hal qiluvchi (A4).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(ImageNet val 1000 tasvir, taxminiy):</a:t>
            </a:r>
          </a:p>
          <a:p/>
          <a:p>
            <a:r>
              <a:t>Nima bo'ldi va nega. 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 Model hajmi 4 baravar kichraydi — bu chekka qurilmalar uchun hal qiluvchi (A4).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(ImageNet val 1000 tasvir, taxminiy):</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 Bu natija M8 dagi asosiy tezisni tasdiqlaydi: bir xil apparatda energiya samaradorligi asosan dasturiy optimallashtirish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(NVIDIA T4, batch 8, taxminiy; bo'sh quvvat ~25 Vt):</a:t>
            </a:r>
          </a:p>
          <a:p/>
          <a:p>
            <a:r>
              <a:t>Nima bo'ldi va nega. 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 Bu natija M8 dagi asosiy tezisni tasdiqlaydi: bir xil apparatda energiya samaradorligi asosan dasturiy optimallashtirish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(NVIDIA T4, batch 8, taxminiy; bo'sh quvvat ~25 Vt):</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Intel CPU, AVX-512 VNNI, taxminiy): FP32 p50 ≈ 24 ms, INT8 p50 ≈ 8 ms (3 baravar), top-1 ≈ 79,8 % (NNCF ning aniqlikni saqlovchi aralash preset'i). RAPL orqali energiya: FP32 ≈ 1,1 J/rasm, INT8 ≈ 0,38 J/rasm (paketli 65 Vt CPU).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Intel CPU, AVX-512 VNNI, taxminiy): FP32 p50 ≈ 24 ms, INT8 p50 ≈ 8 ms (3 baravar), top-1 ≈ 79,8 % (NNCF ning aniqlikni saqlovchi aralash preset'i). RAPL orqali energiya: FP32 ≈ 1,1 J/rasm, INT8 ≈ 0,38 J/rasm (paketli 65 Vt CPU).</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o'lchovlarni bitta jadvalga yig'ing (konfiguratsiya, apparat, p50, p95, throughput, hajm, top-1, mJ/rasm) va ikki o'qli tahlil qiling: latency–aniqlik va throughput–energiya. Pareto-optimal nuqtalar — boshqa hech bir konfiguratsiya ikkala ko'rsatkichda ham undan yaxshi bo'lmaganlar. Odatda FP16 TensorRT (aniqlik deyarli saqlangan, 3 baravar tezroq) va INT8 (eng tez, 0,7 p.p. yo'qotish) Pareto chegarasida bo'ladi; qaysi birini tanlash talabga bog'liq: tibbiy tasniflash uchun FP16, 1000 kamerali kuzatuv uchun INT8.</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(5–7 bet): (1) muhit — CPU/GPU modeli, VNNI/Tensor Core mavjudligi, kutubxona versiyalari; (2) eksport natijasi — tugunlar soni, opset, PyTorch bilan maksimal farq; (3) 2-qadam jadvali va optimallashtirish darajalarining izohi; (4) kvantlash jadvali — hajm, latency, aniqlik; kalibrlash usullari solishtiruvi; (5) TensorRT yoki OpenVINO jadvali quvvat bilan; (6) yakuniy Pareto jadvali va grafigi (ikki o'q); (7) tavsiya — aniq ssenariy (A1 dagi SHV tizimi yoki talaba tanlagan boshqa) uchun konfiguratsiya va asoslash; (8) xulosa.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QAT (PyTorch torch.ao.quantization yoki NNCF) bilan 1–2 epox qayta o'qitib, INT8 aniqligini FP32 ga 0,2 p.p. ichida yaqinlashtirish; yoki Transformer modelini (masalan, DistilBERT) xuddi shu metodika bilan tahlil qilib, dinamik kvantlashning konvolyutsion modeldan farqli natija berishini ko'rsatish.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QAT (PyTorch torch.ao.quantization yoki NNCF) bilan 1–2 epox qayta o'qitib, INT8 aniqligini FP32 ga 0,2 p.p. ichida yaqinlashtirish; yoki Transformer modelini (masalan, DistilBERT) xuddi shu metodika bilan tahlil qilib, dinamik kvantlashning konvolyutsion modeldan farqli natija berishini ko'rsatish.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Cheklovlar. 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 Aniqlik 1000 tasvirda o'lchandi — statistik ishonch intervali ±2,5 p.p. atrofida, shuning uchun 0,2 p.p. farqlar faqat to'liq 50 000 tasvirli validatsiyada ishonchli.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Muqobil yondashuvlar: kvantlashdan tashqari, siyraklashtirish (pruning; Ampere'da 2:4 strukturali siyraklik Tensor Core'da 2 baravar beradi), bilimni distillash (knowledge distillation; kichikroq talaba model), arxitektura qidiruvi (EfficientNet, MobileNetV3 kabi inferensga mo'ljallangan tarmoqlar); LLM'lar uchun INT4/FP8 vazn kvantlashi (GPTQ, AWQ) va KV-kesh kvantlashi. Ko'p hollarda eng yaxshi natija — arxitekturani almashtirish: ResNet-50 INT8 (3,1 ms) o'rniga EfficientNet-B0 FP16 (1,5 ms) xuddi shunday aniqlikni beradi.</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51683799537b3413.jpg"/>
          <p:cNvPicPr>
            <a:picLocks noChangeAspect="1"/>
          </p:cNvPicPr>
          <p:nvPr/>
        </p:nvPicPr>
        <p:blipFill>
          <a:blip r:embed="rId2"/>
          <a:srcRect l="12500" r="12500"/>
          <a:stretch>
            <a:fillRect/>
          </a:stretch>
        </p:blipFill>
        <p:spPr>
          <a:xfrm>
            <a:off x="7850000" y="1500000"/>
            <a:ext cx="3300000" cy="3300000"/>
          </a:xfrm>
          <a:prstGeom prst="ellipse">
            <a:avLst/>
          </a:prstGeom>
          <a:ln w="19050">
            <a:solidFill>
              <a:srgbClr val="22D3EE"/>
            </a:solidFill>
          </a:ln>
        </p:spPr>
      </p:pic>
      <p:sp>
        <p:nvSpPr>
          <p:cNvPr id="71" name="TextBox 70"/>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Ank Kumar · Wikimedia Commons · CC BY-SA 4.0</a:t>
            </a:r>
          </a:p>
        </p:txBody>
      </p:sp>
      <p:sp>
        <p:nvSpPr>
          <p:cNvPr id="72" name="Rounded Rectangle 71"/>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A3 · 2 soat</a:t>
            </a:r>
          </a:p>
        </p:txBody>
      </p:sp>
      <p:sp>
        <p:nvSpPr>
          <p:cNvPr id="73" name="TextBox 72"/>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74" name="TextBox 73"/>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tizimlarini optimallashtirish va unumdorligini baholash</a:t>
            </a:r>
          </a:p>
        </p:txBody>
      </p:sp>
      <p:sp>
        <p:nvSpPr>
          <p:cNvPr id="75" name="Rectangle 74"/>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200"/>
                            </p:stCondLst>
                            <p:childTnLst>
                              <p:par>
                                <p:cTn id="264" presetID="53" presetClass="entr" presetSubtype="16" fill="hold" grpId="0" nodeType="afterEffect">
                                  <p:stCondLst>
                                    <p:cond delay="0"/>
                                  </p:stCondLst>
                                  <p:childTnLst>
                                    <p:set>
                                      <p:cBhvr>
                                        <p:cTn id="265" dur="1" fill="hold">
                                          <p:stCondLst>
                                            <p:cond delay="0"/>
                                          </p:stCondLst>
                                        </p:cTn>
                                        <p:tgtEl>
                                          <p:spTgt spid="69"/>
                                        </p:tgtEl>
                                        <p:attrNameLst>
                                          <p:attrName>style.visibility</p:attrName>
                                        </p:attrNameLst>
                                      </p:cBhvr>
                                      <p:to>
                                        <p:strVal val="visible"/>
                                      </p:to>
                                    </p:set>
                                    <p:animEffect transition="in" filter="fade">
                                      <p:cBhvr>
                                        <p:cTn id="266" dur="550"/>
                                        <p:tgtEl>
                                          <p:spTgt spid="69"/>
                                        </p:tgtEl>
                                      </p:cBhvr>
                                    </p:animEffect>
                                    <p:anim calcmode="lin" valueType="num">
                                      <p:cBhvr additive="base">
                                        <p:cTn id="267" dur="550" fill="hold"/>
                                        <p:tgtEl>
                                          <p:spTgt spid="69"/>
                                        </p:tgtEl>
                                        <p:attrNameLst>
                                          <p:attrName>ppt_w</p:attrName>
                                        </p:attrNameLst>
                                      </p:cBhvr>
                                      <p:tavLst>
                                        <p:tav tm="0">
                                          <p:val>
                                            <p:strVal val="0"/>
                                          </p:val>
                                        </p:tav>
                                        <p:tav tm="100000">
                                          <p:val>
                                            <p:strVal val="#ppt_w"/>
                                          </p:val>
                                        </p:tav>
                                      </p:tavLst>
                                    </p:anim>
                                    <p:anim calcmode="lin" valueType="num">
                                      <p:cBhvr additive="base">
                                        <p:cTn id="268" dur="550" fill="hold"/>
                                        <p:tgtEl>
                                          <p:spTgt spid="69"/>
                                        </p:tgtEl>
                                        <p:attrNameLst>
                                          <p:attrName>ppt_h</p:attrName>
                                        </p:attrNameLst>
                                      </p:cBhvr>
                                      <p:tavLst>
                                        <p:tav tm="0">
                                          <p:val>
                                            <p:strVal val="0"/>
                                          </p:val>
                                        </p:tav>
                                        <p:tav tm="100000">
                                          <p:val>
                                            <p:strVal val="#ppt_h"/>
                                          </p:val>
                                        </p:tav>
                                      </p:tavLst>
                                    </p:anim>
                                  </p:childTnLst>
                                </p:cTn>
                              </p:par>
                            </p:childTnLst>
                          </p:cTn>
                        </p:par>
                        <p:par>
                          <p:cTn id="269" fill="hold">
                            <p:stCondLst>
                              <p:cond delay="200"/>
                            </p:stCondLst>
                            <p:childTnLst>
                              <p:par>
                                <p:cTn id="270" presetID="53" presetClass="entr" presetSubtype="16" fill="hold" grpId="0" nodeType="afterEffect">
                                  <p:stCondLst>
                                    <p:cond delay="0"/>
                                  </p:stCondLst>
                                  <p:childTnLst>
                                    <p:set>
                                      <p:cBhvr>
                                        <p:cTn id="271" dur="1" fill="hold">
                                          <p:stCondLst>
                                            <p:cond delay="0"/>
                                          </p:stCondLst>
                                        </p:cTn>
                                        <p:tgtEl>
                                          <p:spTgt spid="68"/>
                                        </p:tgtEl>
                                        <p:attrNameLst>
                                          <p:attrName>style.visibility</p:attrName>
                                        </p:attrNameLst>
                                      </p:cBhvr>
                                      <p:to>
                                        <p:strVal val="visible"/>
                                      </p:to>
                                    </p:set>
                                    <p:animEffect transition="in" filter="fade">
                                      <p:cBhvr>
                                        <p:cTn id="272" dur="550"/>
                                        <p:tgtEl>
                                          <p:spTgt spid="68"/>
                                        </p:tgtEl>
                                      </p:cBhvr>
                                    </p:animEffect>
                                    <p:anim calcmode="lin" valueType="num">
                                      <p:cBhvr additive="base">
                                        <p:cTn id="273" dur="550" fill="hold"/>
                                        <p:tgtEl>
                                          <p:spTgt spid="68"/>
                                        </p:tgtEl>
                                        <p:attrNameLst>
                                          <p:attrName>ppt_w</p:attrName>
                                        </p:attrNameLst>
                                      </p:cBhvr>
                                      <p:tavLst>
                                        <p:tav tm="0">
                                          <p:val>
                                            <p:strVal val="0"/>
                                          </p:val>
                                        </p:tav>
                                        <p:tav tm="100000">
                                          <p:val>
                                            <p:strVal val="#ppt_w"/>
                                          </p:val>
                                        </p:tav>
                                      </p:tavLst>
                                    </p:anim>
                                    <p:anim calcmode="lin" valueType="num">
                                      <p:cBhvr additive="base">
                                        <p:cTn id="274" dur="550" fill="hold"/>
                                        <p:tgtEl>
                                          <p:spTgt spid="68"/>
                                        </p:tgtEl>
                                        <p:attrNameLst>
                                          <p:attrName>ppt_h</p:attrName>
                                        </p:attrNameLst>
                                      </p:cBhvr>
                                      <p:tavLst>
                                        <p:tav tm="0">
                                          <p:val>
                                            <p:strVal val="0"/>
                                          </p:val>
                                        </p:tav>
                                        <p:tav tm="100000">
                                          <p:val>
                                            <p:strVal val="#ppt_h"/>
                                          </p:val>
                                        </p:tav>
                                      </p:tavLst>
                                    </p:anim>
                                  </p:childTnLst>
                                </p:cTn>
                              </p:par>
                            </p:childTnLst>
                          </p:cTn>
                        </p:par>
                        <p:par>
                          <p:cTn id="275" fill="hold">
                            <p:stCondLst>
                              <p:cond delay="200"/>
                            </p:stCondLst>
                            <p:childTnLst>
                              <p:par>
                                <p:cTn id="276" presetID="53" presetClass="entr" presetSubtype="16" fill="hold" grpId="0" nodeType="afterEffect">
                                  <p:stCondLst>
                                    <p:cond delay="0"/>
                                  </p:stCondLst>
                                  <p:childTnLst>
                                    <p:set>
                                      <p:cBhvr>
                                        <p:cTn id="277" dur="1" fill="hold">
                                          <p:stCondLst>
                                            <p:cond delay="0"/>
                                          </p:stCondLst>
                                        </p:cTn>
                                        <p:tgtEl>
                                          <p:spTgt spid="70"/>
                                        </p:tgtEl>
                                        <p:attrNameLst>
                                          <p:attrName>style.visibility</p:attrName>
                                        </p:attrNameLst>
                                      </p:cBhvr>
                                      <p:to>
                                        <p:strVal val="visible"/>
                                      </p:to>
                                    </p:set>
                                    <p:animEffect transition="in" filter="fade">
                                      <p:cBhvr>
                                        <p:cTn id="278" dur="550"/>
                                        <p:tgtEl>
                                          <p:spTgt spid="70"/>
                                        </p:tgtEl>
                                      </p:cBhvr>
                                    </p:animEffect>
                                    <p:anim calcmode="lin" valueType="num">
                                      <p:cBhvr additive="base">
                                        <p:cTn id="279" dur="550" fill="hold"/>
                                        <p:tgtEl>
                                          <p:spTgt spid="70"/>
                                        </p:tgtEl>
                                        <p:attrNameLst>
                                          <p:attrName>ppt_w</p:attrName>
                                        </p:attrNameLst>
                                      </p:cBhvr>
                                      <p:tavLst>
                                        <p:tav tm="0">
                                          <p:val>
                                            <p:strVal val="0"/>
                                          </p:val>
                                        </p:tav>
                                        <p:tav tm="100000">
                                          <p:val>
                                            <p:strVal val="#ppt_w"/>
                                          </p:val>
                                        </p:tav>
                                      </p:tavLst>
                                    </p:anim>
                                    <p:anim calcmode="lin" valueType="num">
                                      <p:cBhvr additive="base">
                                        <p:cTn id="280" dur="550" fill="hold"/>
                                        <p:tgtEl>
                                          <p:spTgt spid="70"/>
                                        </p:tgtEl>
                                        <p:attrNameLst>
                                          <p:attrName>ppt_h</p:attrName>
                                        </p:attrNameLst>
                                      </p:cBhvr>
                                      <p:tavLst>
                                        <p:tav tm="0">
                                          <p:val>
                                            <p:strVal val="0"/>
                                          </p:val>
                                        </p:tav>
                                        <p:tav tm="100000">
                                          <p:val>
                                            <p:strVal val="#ppt_h"/>
                                          </p:val>
                                        </p:tav>
                                      </p:tavLst>
                                    </p:anim>
                                  </p:childTnLst>
                                </p:cTn>
                              </p:par>
                            </p:childTnLst>
                          </p:cTn>
                        </p:par>
                        <p:par>
                          <p:cTn id="281" fill="hold">
                            <p:stCondLst>
                              <p:cond delay="200"/>
                            </p:stCondLst>
                            <p:childTnLst>
                              <p:par>
                                <p:cTn id="282" presetID="10" presetClass="entr" presetSubtype="0" fill="hold" grpId="0" nodeType="afterEffect">
                                  <p:stCondLst>
                                    <p:cond delay="0"/>
                                  </p:stCondLst>
                                  <p:childTnLst>
                                    <p:set>
                                      <p:cBhvr>
                                        <p:cTn id="283" dur="1" fill="hold">
                                          <p:stCondLst>
                                            <p:cond delay="0"/>
                                          </p:stCondLst>
                                        </p:cTn>
                                        <p:tgtEl>
                                          <p:spTgt spid="71"/>
                                        </p:tgtEl>
                                        <p:attrNameLst>
                                          <p:attrName>style.visibility</p:attrName>
                                        </p:attrNameLst>
                                      </p:cBhvr>
                                      <p:to>
                                        <p:strVal val="visible"/>
                                      </p:to>
                                    </p:set>
                                    <p:animEffect transition="in" filter="fade">
                                      <p:cBhvr>
                                        <p:cTn id="284" dur="550"/>
                                        <p:tgtEl>
                                          <p:spTgt spid="71"/>
                                        </p:tgtEl>
                                      </p:cBhvr>
                                    </p:animEffect>
                                  </p:childTnLst>
                                </p:cTn>
                              </p:par>
                            </p:childTnLst>
                          </p:cTn>
                        </p:par>
                        <p:par>
                          <p:cTn id="285" fill="hold">
                            <p:stCondLst>
                              <p:cond delay="350"/>
                            </p:stCondLst>
                            <p:childTnLst>
                              <p:par>
                                <p:cTn id="286" presetID="10" presetClass="entr" presetSubtype="0" fill="hold" grpId="0" nodeType="afterEffect">
                                  <p:stCondLst>
                                    <p:cond delay="0"/>
                                  </p:stCondLst>
                                  <p:childTnLst>
                                    <p:set>
                                      <p:cBhvr>
                                        <p:cTn id="287" dur="1" fill="hold">
                                          <p:stCondLst>
                                            <p:cond delay="0"/>
                                          </p:stCondLst>
                                        </p:cTn>
                                        <p:tgtEl>
                                          <p:spTgt spid="73"/>
                                        </p:tgtEl>
                                        <p:attrNameLst>
                                          <p:attrName>style.visibility</p:attrName>
                                        </p:attrNameLst>
                                      </p:cBhvr>
                                      <p:to>
                                        <p:strVal val="visible"/>
                                      </p:to>
                                    </p:set>
                                    <p:animEffect transition="in" filter="fade">
                                      <p:cBhvr>
                                        <p:cTn id="288" dur="550"/>
                                        <p:tgtEl>
                                          <p:spTgt spid="73"/>
                                        </p:tgtEl>
                                      </p:cBhvr>
                                    </p:animEffect>
                                  </p:childTnLst>
                                </p:cTn>
                              </p:par>
                            </p:childTnLst>
                          </p:cTn>
                        </p:par>
                        <p:par>
                          <p:cTn id="289" fill="hold">
                            <p:stCondLst>
                              <p:cond delay="500"/>
                            </p:stCondLst>
                            <p:childTnLst>
                              <p:par>
                                <p:cTn id="290" presetID="2" presetClass="entr" presetSubtype="8" fill="hold" grpId="0" nodeType="afterEffect">
                                  <p:stCondLst>
                                    <p:cond delay="0"/>
                                  </p:stCondLst>
                                  <p:childTnLst>
                                    <p:set>
                                      <p:cBhvr>
                                        <p:cTn id="291" dur="1" fill="hold">
                                          <p:stCondLst>
                                            <p:cond delay="0"/>
                                          </p:stCondLst>
                                        </p:cTn>
                                        <p:tgtEl>
                                          <p:spTgt spid="72"/>
                                        </p:tgtEl>
                                        <p:attrNameLst>
                                          <p:attrName>style.visibility</p:attrName>
                                        </p:attrNameLst>
                                      </p:cBhvr>
                                      <p:to>
                                        <p:strVal val="visible"/>
                                      </p:to>
                                    </p:set>
                                    <p:anim calcmode="lin" valueType="num">
                                      <p:cBhvr additive="base">
                                        <p:cTn id="293" dur="550" fill="hold"/>
                                        <p:tgtEl>
                                          <p:spTgt spid="72"/>
                                        </p:tgtEl>
                                        <p:attrNameLst>
                                          <p:attrName>ppt_x</p:attrName>
                                        </p:attrNameLst>
                                      </p:cBhvr>
                                      <p:tavLst>
                                        <p:tav tm="0">
                                          <p:val>
                                            <p:strVal val="0-#ppt_w/2"/>
                                          </p:val>
                                        </p:tav>
                                        <p:tav tm="100000">
                                          <p:val>
                                            <p:strVal val="#ppt_x"/>
                                          </p:val>
                                        </p:tav>
                                      </p:tavLst>
                                    </p:anim>
                                    <p:anim calcmode="lin" valueType="num">
                                      <p:cBhvr additive="base">
                                        <p:cTn id="294" dur="550" fill="hold"/>
                                        <p:tgtEl>
                                          <p:spTgt spid="72"/>
                                        </p:tgtEl>
                                        <p:attrNameLst>
                                          <p:attrName>ppt_y</p:attrName>
                                        </p:attrNameLst>
                                      </p:cBhvr>
                                      <p:tavLst>
                                        <p:tav tm="0">
                                          <p:val>
                                            <p:strVal val="#ppt_y"/>
                                          </p:val>
                                        </p:tav>
                                        <p:tav tm="100000">
                                          <p:val>
                                            <p:strVal val="#ppt_y"/>
                                          </p:val>
                                        </p:tav>
                                      </p:tavLst>
                                    </p:anim>
                                  </p:childTnLst>
                                </p:cTn>
                              </p:par>
                            </p:childTnLst>
                          </p:cTn>
                        </p:par>
                        <p:par>
                          <p:cTn id="295" fill="hold">
                            <p:stCondLst>
                              <p:cond delay="650"/>
                            </p:stCondLst>
                            <p:childTnLst>
                              <p:par>
                                <p:cTn id="296" presetID="42" presetClass="entr" presetSubtype="0" fill="hold" grpId="0" nodeType="afterEffect">
                                  <p:stCondLst>
                                    <p:cond delay="0"/>
                                  </p:stCondLst>
                                  <p:childTnLst>
                                    <p:set>
                                      <p:cBhvr>
                                        <p:cTn id="297" dur="1" fill="hold">
                                          <p:stCondLst>
                                            <p:cond delay="0"/>
                                          </p:stCondLst>
                                        </p:cTn>
                                        <p:tgtEl>
                                          <p:spTgt spid="74"/>
                                        </p:tgtEl>
                                        <p:attrNameLst>
                                          <p:attrName>style.visibility</p:attrName>
                                        </p:attrNameLst>
                                      </p:cBhvr>
                                      <p:to>
                                        <p:strVal val="visible"/>
                                      </p:to>
                                    </p:set>
                                    <p:animEffect transition="in" filter="fade">
                                      <p:cBhvr>
                                        <p:cTn id="298" dur="550"/>
                                        <p:tgtEl>
                                          <p:spTgt spid="74"/>
                                        </p:tgtEl>
                                      </p:cBhvr>
                                    </p:animEffect>
                                    <p:anim calcmode="lin" valueType="num">
                                      <p:cBhvr additive="base">
                                        <p:cTn id="299" dur="550" fill="hold"/>
                                        <p:tgtEl>
                                          <p:spTgt spid="74"/>
                                        </p:tgtEl>
                                        <p:attrNameLst>
                                          <p:attrName>ppt_x</p:attrName>
                                        </p:attrNameLst>
                                      </p:cBhvr>
                                      <p:tavLst>
                                        <p:tav tm="0">
                                          <p:val>
                                            <p:strVal val="#ppt_x"/>
                                          </p:val>
                                        </p:tav>
                                        <p:tav tm="100000">
                                          <p:val>
                                            <p:strVal val="#ppt_x"/>
                                          </p:val>
                                        </p:tav>
                                      </p:tavLst>
                                    </p:anim>
                                    <p:anim calcmode="lin" valueType="num">
                                      <p:cBhvr additive="base">
                                        <p:cTn id="300" dur="550" fill="hold"/>
                                        <p:tgtEl>
                                          <p:spTgt spid="74"/>
                                        </p:tgtEl>
                                        <p:attrNameLst>
                                          <p:attrName>ppt_y</p:attrName>
                                        </p:attrNameLst>
                                      </p:cBhvr>
                                      <p:tavLst>
                                        <p:tav tm="0">
                                          <p:val>
                                            <p:strVal val="#ppt_y+.08"/>
                                          </p:val>
                                        </p:tav>
                                        <p:tav tm="100000">
                                          <p:val>
                                            <p:strVal val="#ppt_y"/>
                                          </p:val>
                                        </p:tav>
                                      </p:tavLst>
                                    </p:anim>
                                  </p:childTnLst>
                                </p:cTn>
                              </p:par>
                            </p:childTnLst>
                          </p:cTn>
                        </p:par>
                        <p:par>
                          <p:cTn id="301" fill="hold">
                            <p:stCondLst>
                              <p:cond delay="800"/>
                            </p:stCondLst>
                            <p:childTnLst>
                              <p:par>
                                <p:cTn id="302" presetID="22" presetClass="entr" presetSubtype="8" fill="hold" grpId="0" nodeType="afterEffect">
                                  <p:stCondLst>
                                    <p:cond delay="0"/>
                                  </p:stCondLst>
                                  <p:childTnLst>
                                    <p:set>
                                      <p:cBhvr>
                                        <p:cTn id="303" dur="1" fill="hold">
                                          <p:stCondLst>
                                            <p:cond delay="0"/>
                                          </p:stCondLst>
                                        </p:cTn>
                                        <p:tgtEl>
                                          <p:spTgt spid="75"/>
                                        </p:tgtEl>
                                        <p:attrNameLst>
                                          <p:attrName>style.visibility</p:attrName>
                                        </p:attrNameLst>
                                      </p:cBhvr>
                                      <p:to>
                                        <p:strVal val="visible"/>
                                      </p:to>
                                    </p:set>
                                    <p:animEffect transition="in" filter="wipe(left)">
                                      <p:cBhvr>
                                        <p:cTn id="305" dur="800"/>
                                        <p:tgtEl>
                                          <p:spTgt spid="75"/>
                                        </p:tgtEl>
                                      </p:cBhvr>
                                    </p:animEffect>
                                  </p:childTnLst>
                                </p:cTn>
                              </p:par>
                            </p:childTnLst>
                          </p:cTn>
                        </p:par>
                        <p:par>
                          <p:cTn id="306" fill="hold">
                            <p:stCondLst>
                              <p:cond delay="950"/>
                            </p:stCondLst>
                            <p:childTnLst>
                              <p:par>
                                <p:cTn id="307" presetID="10" presetClass="entr" presetSubtype="0" fill="hold" grpId="0" nodeType="afterEffect">
                                  <p:stCondLst>
                                    <p:cond delay="0"/>
                                  </p:stCondLst>
                                  <p:childTnLst>
                                    <p:set>
                                      <p:cBhvr>
                                        <p:cTn id="308" dur="1" fill="hold">
                                          <p:stCondLst>
                                            <p:cond delay="0"/>
                                          </p:stCondLst>
                                        </p:cTn>
                                        <p:tgtEl>
                                          <p:spTgt spid="76"/>
                                        </p:tgtEl>
                                        <p:attrNameLst>
                                          <p:attrName>style.visibility</p:attrName>
                                        </p:attrNameLst>
                                      </p:cBhvr>
                                      <p:to>
                                        <p:strVal val="visible"/>
                                      </p:to>
                                    </p:set>
                                    <p:animEffect transition="in" filter="fade">
                                      <p:cBhvr>
                                        <p:cTn id="309" dur="5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9" grpId="0" animBg="1"/>
      <p:bldP spid="68" grpId="0" animBg="1"/>
      <p:bldP spid="71" grpId="0" animBg="1"/>
      <p:bldP spid="73" grpId="0" animBg="1"/>
      <p:bldP spid="72" grpId="0" animBg="1"/>
      <p:bldP spid="74" grpId="0" animBg="1"/>
      <p:bldP spid="75" grpId="0" animBg="1"/>
      <p:bldP spid="7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50827a6ac4641797.jpg"/>
          <p:cNvPicPr>
            <a:picLocks noChangeAspect="1"/>
          </p:cNvPicPr>
          <p:nvPr/>
        </p:nvPicPr>
        <p:blipFill>
          <a:blip r:embed="rId2"/>
          <a:srcRect l="16080" r="16080"/>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Skitterphoto · Wikimedia Commons · CC0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Mashg'ulotning maqsadi — o'qitilgan neyron tarmoq modelini ishlab chiqarish muhitiga tayyorlashning asosiy bosqichlarini amalda bajarish: modelni ONNX (Open Neural Network Exchange) formatiga eksport qilish, ONNX Runtime, TensorRT yoki OpenVINO kabi inferens…</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PyTorch modelini ONNX ga eksport qilib, grafikni tekshiradi va dinamik o'lchamlar, opset versiyasi kabi parametrlarni to'g'ri tanlaydi;</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ONNX Runtime'da CPU va GPU ijro provayderlari (execution provider) bilan inferensni ishga tushirib, grafik optimallashtirish darajalarining ta'sirini o'lchaydi;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Statik va dinamik kvantlash, FP16 va INT8 rejimlarini qo'llab, kalibrlash (calibration) jarayonini tushuntiradi va aniqlik yo'qotilishini o'lchaydi;</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TensorRT dvigatelini qurib, FP32/FP16/INT8 rejimlarini solishtiradi (GPU mavjud bo'lsa) yoki OpenVINO bilan CPU'da xuddi shu tahlilni bajaradi;</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Latency (p50/p95/p99), throughput (so'rov/s) va energiya (inferens boshiga joul) ko'rsatkichlarini bir xil metodika bilan o'lchab, Pareto tahlili asosida ishlab chiqarish uchun konfiguratsiya tanlaydi.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Mavzu fanning TN4 (AI tizimlarini optimallashtirish usullarini qo'llash) va TN5 (unumdorlikni o'lchash va baholash) ta'lim natijalariga xizmat qiladi; M8 va M10 ma'ruzalarining amaliy davomi hamda sillabusdagi 2-mustaqil ta'lim topshirig'ining bevosita…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a9fb684e85dd3f6a.jpg"/>
          <p:cNvPicPr>
            <a:picLocks noChangeAspect="1"/>
          </p:cNvPicPr>
          <p:nvPr/>
        </p:nvPicPr>
        <p:blipFill>
          <a:blip r:embed="rId2"/>
          <a:srcRect l="12480" r="12480"/>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Rstoplabe14 at English Wikipedia · Wikimedia Commons · Public domain</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O'qitilgan model — mahsulotning yarmi.</a:t>
            </a:r>
          </a:p>
          <a:p>
            <a:pPr>
              <a:spcBef>
                <a:spcPts val="400"/>
              </a:spcBef>
            </a:pPr>
            <a:r>
              <a:rPr sz="1400">
                <a:solidFill>
                  <a:srgbClr val="AEBBD9"/>
                </a:solidFill>
                <a:latin typeface="Segoe UI"/>
              </a:rPr>
              <a:t>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Optimallashtirish bir necha qatlamda amalga oshiriladi.</a:t>
            </a:r>
          </a:p>
          <a:p>
            <a:pPr>
              <a:spcBef>
                <a:spcPts val="400"/>
              </a:spcBef>
            </a:pPr>
            <a:r>
              <a:rPr sz="1400">
                <a:solidFill>
                  <a:srgbClr val="AEBBD9"/>
                </a:solidFill>
                <a:latin typeface="Segoe UI"/>
              </a:rPr>
              <a:t>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Vositalar tanlovi apparatga bog'liq: NVIDIA GPU — TensorRT (eng yuqori unumdorlik, lekin vendor-bog'liq); CPU va ko'p platformali yechim — ONNX Runtime (Microsoft, ochiq kod, CPU/CUDA/TensorRT/OpenVINO provayderlari); Intel CPU/iGPU/NPU — OpenVINO.</a:t>
            </a:r>
          </a:p>
          <a:p>
            <a:pPr>
              <a:spcBef>
                <a:spcPts val="400"/>
              </a:spcBef>
            </a:pPr>
            <a:r>
              <a:rPr sz="1600">
                <a:solidFill>
                  <a:srgbClr val="AEBBD9"/>
                </a:solidFill>
                <a:latin typeface="Segoe UI"/>
              </a:rPr>
              <a:t>ONNX formati bu dvigatellar orasidagi umumiy til bo'lib, PyTorch yoki TensorFlow'dan bir marta eksport qilingan model har uchalasida ishlatilishi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7014033f090db279.jpg"/>
          <p:cNvPicPr>
            <a:picLocks noChangeAspect="1"/>
          </p:cNvPicPr>
          <p:nvPr/>
        </p:nvPicPr>
        <p:blipFill>
          <a:blip r:embed="rId2"/>
          <a:srcRect l="19384" r="19384"/>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ONNX formati va grafik optimallashtirish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ONNX — neyron tarmoqni hisoblash grafigi sifatida ifodalovchi ochiq standart: tugunlar — operatorlar (Conv, MatMul, Relu, Softmax va boshqalar, opset versiyasiga qarab 190 dan ortiq), qirralar — tensorlar.</a:t>
            </a:r>
          </a:p>
          <a:p>
            <a:pPr>
              <a:spcBef>
                <a:spcPts val="400"/>
              </a:spcBef>
            </a:pPr>
            <a:r>
              <a:rPr sz="1600">
                <a:solidFill>
                  <a:srgbClr val="AEBBD9"/>
                </a:solidFill>
                <a:latin typeface="Segoe UI"/>
              </a:rPr>
              <a:t>Har bir opset versiyasi operatorlar semantikasini qat'iy belgilaydi; PyTorch 2.x odatda opset 17–18 ni eksport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ONNX formati va grafik optimallashtirish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Eksportda ikki yondashuv bor: kuzatish (tracing) — model bitta namuna kirish bilan ishga tushiriladi va bajarilgan amallar yoziladi (shartli tarmoqlanishlar yo'qoladi); skript (TorchScript yoki yangi torch.export — Dynamo asosida) — Python kodi tahlil…</a:t>
            </a:r>
          </a:p>
          <a:p>
            <a:pPr>
              <a:spcBef>
                <a:spcPts val="400"/>
              </a:spcBef>
            </a:pPr>
            <a:r>
              <a:rPr sz="1400">
                <a:solidFill>
                  <a:srgbClr val="AEBBD9"/>
                </a:solidFill>
                <a:latin typeface="Segoe UI"/>
              </a:rPr>
              <a:t>Eksportdan keyin onnx.checker.check_model grafikning to'g'riligini, onnxruntime esa natijaning PyTorch bilan mosligini (odatda 1e-4 nisbiy xato) tekshirish uchun ishlatiladi.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400" b="0">
                <a:solidFill>
                  <a:srgbClr val="E8EEFA"/>
                </a:solidFill>
                <a:latin typeface="Segoe UI"/>
              </a:rPr>
              <a:t>Grafik optimallashtirish darajalari ONNX Runtime'da uchta: basic (constant folding, keraksiz Cast/Identity olib tashlash), extended (Conv+BN, MatMul+Add, GELU/LayerNorm birlashtirish — provayderga bog'liq), all (layout optimallashtirish, NCHWc).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Aralash aniqlik va sonli formatlar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FP32 (1 ishora, 8 eksponenta, 23 mantissa biti) — o'qitishning standart formati.</a:t>
            </a:r>
          </a:p>
          <a:p>
            <a:pPr>
              <a:spcBef>
                <a:spcPts val="400"/>
              </a:spcBef>
            </a:pPr>
            <a:r>
              <a:rPr sz="1400">
                <a:solidFill>
                  <a:srgbClr val="AEBBD9"/>
                </a:solidFill>
                <a:latin typeface="Segoe UI"/>
              </a:rPr>
              <a:t>FP16 (5 eksponenta, 10 mantissa) diapazoni ±65 504 bilan cheklangan — katta faollashuvlar toshadi (overflow); BF16 (8 eksponenta, 7 mantissa) FP32 diapazonini saqlaydi, aniqlik pastroq, lekin o'qitish uchun barqaror. Inferensda FP16 ko'pchilik ko'rish modellari uchun aniqlikni deyarli o'zgartirmaydi (top-1 farqi 0,1 foiz punktdan kam), xotirani ikki baravar kamaytiradi va Tensor Core'larda 2–4 baravar tezlanish beradi (A2 ga qarang).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nazariya va turlari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Kvantlash — haqiqiy sonlarni 8 bitli (yoki kamroq) butun songa akslantirish: q = round(x / s) + z, bu yerda s — masshtab (scale), z — nol nuqta (zero point).</a:t>
            </a:r>
          </a:p>
          <a:p>
            <a:pPr>
              <a:spcBef>
                <a:spcPts val="400"/>
              </a:spcBef>
            </a:pPr>
            <a:r>
              <a:rPr sz="1300">
                <a:solidFill>
                  <a:srgbClr val="AEBBD9"/>
                </a:solidFill>
                <a:latin typeface="Segoe UI"/>
              </a:rPr>
              <a:t>Simmetrik kvantlashda z = 0 va s = max|x| / 127; asimmetrikda diapazon [x_min, x_max] to'liq ishlatiladi. Masshtab butun tensor uchun bitta (per-tensor) yoki har chiqish kanali uchun alohida (per-channel) bo'lishi mumkin; per-channel vaznlar uchun aniqlikni sezilarli yaxshilaydi.</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Statik kvantlashda faollashuvlarning diapazoni kalibrlash to'plamidan aniqlanadi; usullar: MinMax (chetki qiymatlarga sezgir), Entropy/KL-divergentsiya (TensorRT standart), Percentile (99,99 foizlik), MSE.</a:t>
            </a:r>
          </a:p>
          <a:p>
            <a:pPr>
              <a:spcBef>
                <a:spcPts val="400"/>
              </a:spcBef>
            </a:pPr>
            <a:r>
              <a:rPr sz="1300">
                <a:solidFill>
                  <a:srgbClr val="AEBBD9"/>
                </a:solidFill>
                <a:latin typeface="Segoe UI"/>
              </a:rPr>
              <a:t>Noto'g'ri kalibrlash — INT8 modellarining aniqlik yo'qotishining asosiy sababi.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nazariya va turlari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4" name="Table 23"/>
          <p:cNvGraphicFramePr>
            <a:graphicFrameLocks noGrp="1"/>
          </p:cNvGraphicFramePr>
          <p:nvPr/>
        </p:nvGraphicFramePr>
        <p:xfrm>
          <a:off x="550000" y="1400000"/>
          <a:ext cx="11100000" cy="208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200" b="1">
                          <a:solidFill>
                            <a:srgbClr val="22D3EE"/>
                          </a:solidFill>
                          <a:latin typeface="Segoe UI"/>
                        </a:rPr>
                        <a:t>Usul</a:t>
                      </a:r>
                    </a:p>
                  </a:txBody>
                  <a:tcPr>
                    <a:solidFill>
                      <a:srgbClr val="1C2755"/>
                    </a:solidFill>
                  </a:tcPr>
                </a:tc>
                <a:tc>
                  <a:txBody>
                    <a:bodyPr/>
                    <a:lstStyle/>
                    <a:p>
                      <a:r>
                        <a:rPr sz="1200" b="1">
                          <a:solidFill>
                            <a:srgbClr val="22D3EE"/>
                          </a:solidFill>
                          <a:latin typeface="Segoe UI"/>
                        </a:rPr>
                        <a:t>Nima kvantlanadi</a:t>
                      </a:r>
                    </a:p>
                  </a:txBody>
                  <a:tcPr>
                    <a:solidFill>
                      <a:srgbClr val="1C2755"/>
                    </a:solidFill>
                  </a:tcPr>
                </a:tc>
                <a:tc>
                  <a:txBody>
                    <a:bodyPr/>
                    <a:lstStyle/>
                    <a:p>
                      <a:r>
                        <a:rPr sz="1200" b="1">
                          <a:solidFill>
                            <a:srgbClr val="22D3EE"/>
                          </a:solidFill>
                          <a:latin typeface="Segoe UI"/>
                        </a:rPr>
                        <a:t>Kalibrlash</a:t>
                      </a:r>
                    </a:p>
                  </a:txBody>
                  <a:tcPr>
                    <a:solidFill>
                      <a:srgbClr val="1C2755"/>
                    </a:solidFill>
                  </a:tcPr>
                </a:tc>
                <a:tc>
                  <a:txBody>
                    <a:bodyPr/>
                    <a:lstStyle/>
                    <a:p>
                      <a:r>
                        <a:rPr sz="1200" b="1">
                          <a:solidFill>
                            <a:srgbClr val="22D3EE"/>
                          </a:solidFill>
                          <a:latin typeface="Segoe UI"/>
                        </a:rPr>
                        <a:t>Aniqlik yo'qotishi</a:t>
                      </a:r>
                    </a:p>
                  </a:txBody>
                  <a:tcPr>
                    <a:solidFill>
                      <a:srgbClr val="1C2755"/>
                    </a:solidFill>
                  </a:tcPr>
                </a:tc>
                <a:tc>
                  <a:txBody>
                    <a:bodyPr/>
                    <a:lstStyle/>
                    <a:p>
                      <a:r>
                        <a:rPr sz="1200" b="1">
                          <a:solidFill>
                            <a:srgbClr val="22D3EE"/>
                          </a:solidFill>
                          <a:latin typeface="Segoe UI"/>
                        </a:rPr>
                        <a:t>Tezlanish (CPU)</a:t>
                      </a:r>
                    </a:p>
                  </a:txBody>
                  <a:tcPr>
                    <a:solidFill>
                      <a:srgbClr val="1C2755"/>
                    </a:solidFill>
                  </a:tcPr>
                </a:tc>
              </a:tr>
              <a:tr h="520000">
                <a:tc>
                  <a:txBody>
                    <a:bodyPr/>
                    <a:lstStyle/>
                    <a:p>
                      <a:r>
                        <a:rPr sz="1200" b="0">
                          <a:solidFill>
                            <a:srgbClr val="E8EEFA"/>
                          </a:solidFill>
                          <a:latin typeface="Segoe UI"/>
                        </a:rPr>
                        <a:t>Dinamik kvantlash</a:t>
                      </a:r>
                    </a:p>
                  </a:txBody>
                  <a:tcPr>
                    <a:solidFill>
                      <a:srgbClr val="111834"/>
                    </a:solidFill>
                  </a:tcPr>
                </a:tc>
                <a:tc>
                  <a:txBody>
                    <a:bodyPr/>
                    <a:lstStyle/>
                    <a:p>
                      <a:r>
                        <a:rPr sz="1200" b="0">
                          <a:solidFill>
                            <a:srgbClr val="E8EEFA"/>
                          </a:solidFill>
                          <a:latin typeface="Segoe UI"/>
                        </a:rPr>
                        <a:t>vaznlar statik, faollashuvlar ish vaqtida</a:t>
                      </a:r>
                    </a:p>
                  </a:txBody>
                  <a:tcPr>
                    <a:solidFill>
                      <a:srgbClr val="111834"/>
                    </a:solidFill>
                  </a:tcPr>
                </a:tc>
                <a:tc>
                  <a:txBody>
                    <a:bodyPr/>
                    <a:lstStyle/>
                    <a:p>
                      <a:r>
                        <a:rPr sz="1200" b="0">
                          <a:solidFill>
                            <a:srgbClr val="E8EEFA"/>
                          </a:solidFill>
                          <a:latin typeface="Segoe UI"/>
                        </a:rPr>
                        <a:t>yo'q</a:t>
                      </a:r>
                    </a:p>
                  </a:txBody>
                  <a:tcPr>
                    <a:solidFill>
                      <a:srgbClr val="111834"/>
                    </a:solidFill>
                  </a:tcPr>
                </a:tc>
                <a:tc>
                  <a:txBody>
                    <a:bodyPr/>
                    <a:lstStyle/>
                    <a:p>
                      <a:r>
                        <a:rPr sz="1200" b="0">
                          <a:solidFill>
                            <a:srgbClr val="E8EEFA"/>
                          </a:solidFill>
                          <a:latin typeface="Segoe UI"/>
                        </a:rPr>
                        <a:t>kam</a:t>
                      </a:r>
                    </a:p>
                  </a:txBody>
                  <a:tcPr>
                    <a:solidFill>
                      <a:srgbClr val="111834"/>
                    </a:solidFill>
                  </a:tcPr>
                </a:tc>
                <a:tc>
                  <a:txBody>
                    <a:bodyPr/>
                    <a:lstStyle/>
                    <a:p>
                      <a:r>
                        <a:rPr sz="1200" b="0">
                          <a:solidFill>
                            <a:srgbClr val="E8EEFA"/>
                          </a:solidFill>
                          <a:latin typeface="Segoe UI"/>
                        </a:rPr>
                        <a:t>1,5–2,5× (MatMul og'ir modellar)</a:t>
                      </a:r>
                    </a:p>
                  </a:txBody>
                  <a:tcPr>
                    <a:solidFill>
                      <a:srgbClr val="111834"/>
                    </a:solidFill>
                  </a:tcPr>
                </a:tc>
              </a:tr>
              <a:tr h="520000">
                <a:tc>
                  <a:txBody>
                    <a:bodyPr/>
                    <a:lstStyle/>
                    <a:p>
                      <a:r>
                        <a:rPr sz="1200" b="0">
                          <a:solidFill>
                            <a:srgbClr val="E8EEFA"/>
                          </a:solidFill>
                          <a:latin typeface="Segoe UI"/>
                        </a:rPr>
                        <a:t>Statik kvantlash (PTQ)</a:t>
                      </a:r>
                    </a:p>
                  </a:txBody>
                  <a:tcPr>
                    <a:solidFill>
                      <a:srgbClr val="161F40"/>
                    </a:solidFill>
                  </a:tcPr>
                </a:tc>
                <a:tc>
                  <a:txBody>
                    <a:bodyPr/>
                    <a:lstStyle/>
                    <a:p>
                      <a:r>
                        <a:rPr sz="1200" b="0">
                          <a:solidFill>
                            <a:srgbClr val="E8EEFA"/>
                          </a:solidFill>
                          <a:latin typeface="Segoe UI"/>
                        </a:rPr>
                        <a:t>vaznlar va faollashuvlar</a:t>
                      </a:r>
                    </a:p>
                  </a:txBody>
                  <a:tcPr>
                    <a:solidFill>
                      <a:srgbClr val="161F40"/>
                    </a:solidFill>
                  </a:tcPr>
                </a:tc>
                <a:tc>
                  <a:txBody>
                    <a:bodyPr/>
                    <a:lstStyle/>
                    <a:p>
                      <a:r>
                        <a:rPr sz="1200" b="0">
                          <a:solidFill>
                            <a:srgbClr val="E8EEFA"/>
                          </a:solidFill>
                          <a:latin typeface="Segoe UI"/>
                        </a:rPr>
                        <a:t>100–1000 namuna</a:t>
                      </a:r>
                    </a:p>
                  </a:txBody>
                  <a:tcPr>
                    <a:solidFill>
                      <a:srgbClr val="161F40"/>
                    </a:solidFill>
                  </a:tcPr>
                </a:tc>
                <a:tc>
                  <a:txBody>
                    <a:bodyPr/>
                    <a:lstStyle/>
                    <a:p>
                      <a:r>
                        <a:rPr sz="1200" b="0">
                          <a:solidFill>
                            <a:srgbClr val="E8EEFA"/>
                          </a:solidFill>
                          <a:latin typeface="Segoe UI"/>
                        </a:rPr>
                        <a:t>o'rtacha (0,5–2 p.p.)</a:t>
                      </a:r>
                    </a:p>
                  </a:txBody>
                  <a:tcPr>
                    <a:solidFill>
                      <a:srgbClr val="161F40"/>
                    </a:solidFill>
                  </a:tcPr>
                </a:tc>
                <a:tc>
                  <a:txBody>
                    <a:bodyPr/>
                    <a:lstStyle/>
                    <a:p>
                      <a:r>
                        <a:rPr sz="1200" b="0">
                          <a:solidFill>
                            <a:srgbClr val="E8EEFA"/>
                          </a:solidFill>
                          <a:latin typeface="Segoe UI"/>
                        </a:rPr>
                        <a:t>2–4×</a:t>
                      </a:r>
                    </a:p>
                  </a:txBody>
                  <a:tcPr>
                    <a:solidFill>
                      <a:srgbClr val="161F40"/>
                    </a:solidFill>
                  </a:tcPr>
                </a:tc>
              </a:tr>
              <a:tr h="520000">
                <a:tc>
                  <a:txBody>
                    <a:bodyPr/>
                    <a:lstStyle/>
                    <a:p>
                      <a:r>
                        <a:rPr sz="1200" b="0">
                          <a:solidFill>
                            <a:srgbClr val="E8EEFA"/>
                          </a:solidFill>
                          <a:latin typeface="Segoe UI"/>
                        </a:rPr>
                        <a:t>Kvantlashni hisobga olgan o'qitish (QAT)</a:t>
                      </a:r>
                    </a:p>
                  </a:txBody>
                  <a:tcPr>
                    <a:solidFill>
                      <a:srgbClr val="111834"/>
                    </a:solidFill>
                  </a:tcPr>
                </a:tc>
                <a:tc>
                  <a:txBody>
                    <a:bodyPr/>
                    <a:lstStyle/>
                    <a:p>
                      <a:r>
                        <a:rPr sz="1200" b="0">
                          <a:solidFill>
                            <a:srgbClr val="E8EEFA"/>
                          </a:solidFill>
                          <a:latin typeface="Segoe UI"/>
                        </a:rPr>
                        <a:t>vaznlar va faollashuvlar, soxta kvantlash bilan o'qitiladi</a:t>
                      </a:r>
                    </a:p>
                  </a:txBody>
                  <a:tcPr>
                    <a:solidFill>
                      <a:srgbClr val="111834"/>
                    </a:solidFill>
                  </a:tcPr>
                </a:tc>
                <a:tc>
                  <a:txBody>
                    <a:bodyPr/>
                    <a:lstStyle/>
                    <a:p>
                      <a:r>
                        <a:rPr sz="1200" b="0">
                          <a:solidFill>
                            <a:srgbClr val="E8EEFA"/>
                          </a:solidFill>
                          <a:latin typeface="Segoe UI"/>
                        </a:rPr>
                        <a:t>o'qitish to'plami</a:t>
                      </a:r>
                    </a:p>
                  </a:txBody>
                  <a:tcPr>
                    <a:solidFill>
                      <a:srgbClr val="111834"/>
                    </a:solidFill>
                  </a:tcPr>
                </a:tc>
                <a:tc>
                  <a:txBody>
                    <a:bodyPr/>
                    <a:lstStyle/>
                    <a:p>
                      <a:r>
                        <a:rPr sz="1200" b="0">
                          <a:solidFill>
                            <a:srgbClr val="E8EEFA"/>
                          </a:solidFill>
                          <a:latin typeface="Segoe UI"/>
                        </a:rPr>
                        <a:t>minimal</a:t>
                      </a:r>
                    </a:p>
                  </a:txBody>
                  <a:tcPr>
                    <a:solidFill>
                      <a:srgbClr val="111834"/>
                    </a:solidFill>
                  </a:tcPr>
                </a:tc>
                <a:tc>
                  <a:txBody>
                    <a:bodyPr/>
                    <a:lstStyle/>
                    <a:p>
                      <a:r>
                        <a:rPr sz="1200" b="0">
                          <a:solidFill>
                            <a:srgbClr val="E8EEFA"/>
                          </a:solidFill>
                          <a:latin typeface="Segoe UI"/>
                        </a:rPr>
                        <a:t>2–4×</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ko'rsatkichlari va energiya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531520"/>
            <a:ext cx="50000" cy="25169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Latency — bitta so'rov uchun vaqt; taqsimot sifatida o'lchanadi, hisobotda p50, p95, p99 beriladi, chunki foydalanuvchi tajribasini aynan sekin so'rovlar belgilaydi.</a:t>
            </a:r>
          </a:p>
          <a:p>
            <a:pPr>
              <a:spcBef>
                <a:spcPts val="400"/>
              </a:spcBef>
            </a:pPr>
            <a:r>
              <a:rPr sz="1400">
                <a:solidFill>
                  <a:srgbClr val="AEBBD9"/>
                </a:solidFill>
                <a:latin typeface="Segoe UI"/>
              </a:rPr>
              <a:t>Throughput — birlik vaqtda bajarilgan inferenslar; paketlash orqali oshadi, lekin paket to'lguncha kutish latency'ni oshiradi — bu kompromiss har bir xizmat uchun alohida sozlanadi. Little qonuni ularni bog'laydi: parallellik = throughput × latency; masalan, 1000 so'rov/s va 20 ms latency uchun tizimda bir vaqtda 20 ta so'rov bo'lishi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ko'rsatkichlari va energiya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363880"/>
            <a:ext cx="50000" cy="2852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Energiya samaradorligi — inferens boshiga joul: E = P_o'rtacha × t_inferens yoki inferens/s / Vt.</a:t>
            </a:r>
          </a:p>
          <a:p>
            <a:pPr>
              <a:spcBef>
                <a:spcPts val="400"/>
              </a:spcBef>
            </a:pPr>
            <a:r>
              <a:rPr sz="1600">
                <a:solidFill>
                  <a:srgbClr val="AEBBD9"/>
                </a:solidFill>
                <a:latin typeface="Segoe UI"/>
              </a:rPr>
              <a:t>GPU'da quvvat nvidia-smi --query-gpu=power.draw yoki NVML orqali 100 ms oraliqda o'qiladi; Jetson'da tegrastats; Intel CPU'da RAPL (/sys/class/powercap/intel-rapl) yoki perf stat -e power/energy-pkg/. Muhim nozik jihat: bo'sh (idle) quvvatni ayirish kerakmi? Ikki ko'rsatkich ham beriladi: to'liq (TCO uchun) va dinamik (algoritm samaradorligi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Vositalarni taqqoslash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5" name="Table 24"/>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ONNX Runtime</a:t>
                      </a:r>
                    </a:p>
                  </a:txBody>
                  <a:tcPr>
                    <a:solidFill>
                      <a:srgbClr val="1C2755"/>
                    </a:solidFill>
                  </a:tcPr>
                </a:tc>
                <a:tc>
                  <a:txBody>
                    <a:bodyPr/>
                    <a:lstStyle/>
                    <a:p>
                      <a:r>
                        <a:rPr sz="1200" b="1">
                          <a:solidFill>
                            <a:srgbClr val="22D3EE"/>
                          </a:solidFill>
                          <a:latin typeface="Segoe UI"/>
                        </a:rPr>
                        <a:t>TensorRT</a:t>
                      </a:r>
                    </a:p>
                  </a:txBody>
                  <a:tcPr>
                    <a:solidFill>
                      <a:srgbClr val="1C2755"/>
                    </a:solidFill>
                  </a:tcPr>
                </a:tc>
                <a:tc>
                  <a:txBody>
                    <a:bodyPr/>
                    <a:lstStyle/>
                    <a:p>
                      <a:r>
                        <a:rPr sz="1200" b="1">
                          <a:solidFill>
                            <a:srgbClr val="22D3EE"/>
                          </a:solidFill>
                          <a:latin typeface="Segoe UI"/>
                        </a:rPr>
                        <a:t>OpenVINO</a:t>
                      </a:r>
                    </a:p>
                  </a:txBody>
                  <a:tcPr>
                    <a:solidFill>
                      <a:srgbClr val="1C2755"/>
                    </a:solidFill>
                  </a:tcPr>
                </a:tc>
              </a:tr>
              <a:tr h="520000">
                <a:tc>
                  <a:txBody>
                    <a:bodyPr/>
                    <a:lstStyle/>
                    <a:p>
                      <a:r>
                        <a:rPr sz="1200" b="0">
                          <a:solidFill>
                            <a:srgbClr val="E8EEFA"/>
                          </a:solidFill>
                          <a:latin typeface="Segoe UI"/>
                        </a:rPr>
                        <a:t>Ishlab chiquvchi</a:t>
                      </a:r>
                    </a:p>
                  </a:txBody>
                  <a:tcPr>
                    <a:solidFill>
                      <a:srgbClr val="111834"/>
                    </a:solidFill>
                  </a:tcPr>
                </a:tc>
                <a:tc>
                  <a:txBody>
                    <a:bodyPr/>
                    <a:lstStyle/>
                    <a:p>
                      <a:r>
                        <a:rPr sz="1200" b="0">
                          <a:solidFill>
                            <a:srgbClr val="E8EEFA"/>
                          </a:solidFill>
                          <a:latin typeface="Segoe UI"/>
                        </a:rPr>
                        <a:t>Microsoft (ochiq kod)</a:t>
                      </a:r>
                    </a:p>
                  </a:txBody>
                  <a:tcPr>
                    <a:solidFill>
                      <a:srgbClr val="111834"/>
                    </a:solidFill>
                  </a:tcPr>
                </a:tc>
                <a:tc>
                  <a:txBody>
                    <a:bodyPr/>
                    <a:lstStyle/>
                    <a:p>
                      <a:r>
                        <a:rPr sz="1200" b="0">
                          <a:solidFill>
                            <a:srgbClr val="E8EEFA"/>
                          </a:solidFill>
                          <a:latin typeface="Segoe UI"/>
                        </a:rPr>
                        <a:t>NVIDIA (yopiq yadro, ochiq parser)</a:t>
                      </a:r>
                    </a:p>
                  </a:txBody>
                  <a:tcPr>
                    <a:solidFill>
                      <a:srgbClr val="111834"/>
                    </a:solidFill>
                  </a:tcPr>
                </a:tc>
                <a:tc>
                  <a:txBody>
                    <a:bodyPr/>
                    <a:lstStyle/>
                    <a:p>
                      <a:r>
                        <a:rPr sz="1200" b="0">
                          <a:solidFill>
                            <a:srgbClr val="E8EEFA"/>
                          </a:solidFill>
                          <a:latin typeface="Segoe UI"/>
                        </a:rPr>
                        <a:t>Intel (ochiq kod)</a:t>
                      </a:r>
                    </a:p>
                  </a:txBody>
                  <a:tcPr>
                    <a:solidFill>
                      <a:srgbClr val="111834"/>
                    </a:solidFill>
                  </a:tcPr>
                </a:tc>
              </a:tr>
              <a:tr h="520000">
                <a:tc>
                  <a:txBody>
                    <a:bodyPr/>
                    <a:lstStyle/>
                    <a:p>
                      <a:r>
                        <a:rPr sz="1200" b="0">
                          <a:solidFill>
                            <a:srgbClr val="E8EEFA"/>
                          </a:solidFill>
                          <a:latin typeface="Segoe UI"/>
                        </a:rPr>
                        <a:t>Maqsadli apparat</a:t>
                      </a:r>
                    </a:p>
                  </a:txBody>
                  <a:tcPr>
                    <a:solidFill>
                      <a:srgbClr val="161F40"/>
                    </a:solidFill>
                  </a:tcPr>
                </a:tc>
                <a:tc>
                  <a:txBody>
                    <a:bodyPr/>
                    <a:lstStyle/>
                    <a:p>
                      <a:r>
                        <a:rPr sz="1200" b="0">
                          <a:solidFill>
                            <a:srgbClr val="E8EEFA"/>
                          </a:solidFill>
                          <a:latin typeface="Segoe UI"/>
                        </a:rPr>
                        <a:t>CPU, NVIDIA/AMD GPU, NPU, mobil</a:t>
                      </a:r>
                    </a:p>
                  </a:txBody>
                  <a:tcPr>
                    <a:solidFill>
                      <a:srgbClr val="161F40"/>
                    </a:solidFill>
                  </a:tcPr>
                </a:tc>
                <a:tc>
                  <a:txBody>
                    <a:bodyPr/>
                    <a:lstStyle/>
                    <a:p>
                      <a:r>
                        <a:rPr sz="1200" b="0">
                          <a:solidFill>
                            <a:srgbClr val="E8EEFA"/>
                          </a:solidFill>
                          <a:latin typeface="Segoe UI"/>
                        </a:rPr>
                        <a:t>faqat NVIDIA GPU va Jetson</a:t>
                      </a:r>
                    </a:p>
                  </a:txBody>
                  <a:tcPr>
                    <a:solidFill>
                      <a:srgbClr val="161F40"/>
                    </a:solidFill>
                  </a:tcPr>
                </a:tc>
                <a:tc>
                  <a:txBody>
                    <a:bodyPr/>
                    <a:lstStyle/>
                    <a:p>
                      <a:r>
                        <a:rPr sz="1200" b="0">
                          <a:solidFill>
                            <a:srgbClr val="E8EEFA"/>
                          </a:solidFill>
                          <a:latin typeface="Segoe UI"/>
                        </a:rPr>
                        <a:t>Intel CPU, iGPU, NPU, ARM CPU</a:t>
                      </a:r>
                    </a:p>
                  </a:txBody>
                  <a:tcPr>
                    <a:solidFill>
                      <a:srgbClr val="161F40"/>
                    </a:solidFill>
                  </a:tcPr>
                </a:tc>
              </a:tr>
              <a:tr h="520000">
                <a:tc>
                  <a:txBody>
                    <a:bodyPr/>
                    <a:lstStyle/>
                    <a:p>
                      <a:r>
                        <a:rPr sz="1200" b="0">
                          <a:solidFill>
                            <a:srgbClr val="E8EEFA"/>
                          </a:solidFill>
                          <a:latin typeface="Segoe UI"/>
                        </a:rPr>
                        <a:t>Kirish formati</a:t>
                      </a:r>
                    </a:p>
                  </a:txBody>
                  <a:tcPr>
                    <a:solidFill>
                      <a:srgbClr val="111834"/>
                    </a:solidFill>
                  </a:tcPr>
                </a:tc>
                <a:tc>
                  <a:txBody>
                    <a:bodyPr/>
                    <a:lstStyle/>
                    <a:p>
                      <a:r>
                        <a:rPr sz="1200" b="0">
                          <a:solidFill>
                            <a:srgbClr val="E8EEFA"/>
                          </a:solidFill>
                          <a:latin typeface="Segoe UI"/>
                        </a:rPr>
                        <a:t>ONNX</a:t>
                      </a:r>
                    </a:p>
                  </a:txBody>
                  <a:tcPr>
                    <a:solidFill>
                      <a:srgbClr val="111834"/>
                    </a:solidFill>
                  </a:tcPr>
                </a:tc>
                <a:tc>
                  <a:txBody>
                    <a:bodyPr/>
                    <a:lstStyle/>
                    <a:p>
                      <a:r>
                        <a:rPr sz="1200" b="0">
                          <a:solidFill>
                            <a:srgbClr val="E8EEFA"/>
                          </a:solidFill>
                          <a:latin typeface="Segoe UI"/>
                        </a:rPr>
                        <a:t>ONNX, TF, PyTorch (torch-tensorrt)</a:t>
                      </a:r>
                    </a:p>
                  </a:txBody>
                  <a:tcPr>
                    <a:solidFill>
                      <a:srgbClr val="111834"/>
                    </a:solidFill>
                  </a:tcPr>
                </a:tc>
                <a:tc>
                  <a:txBody>
                    <a:bodyPr/>
                    <a:lstStyle/>
                    <a:p>
                      <a:r>
                        <a:rPr sz="1200" b="0">
                          <a:solidFill>
                            <a:srgbClr val="E8EEFA"/>
                          </a:solidFill>
                          <a:latin typeface="Segoe UI"/>
                        </a:rPr>
                        <a:t>ONNX, TF, PyTorch, PaddlePaddle</a:t>
                      </a:r>
                    </a:p>
                  </a:txBody>
                  <a:tcPr>
                    <a:solidFill>
                      <a:srgbClr val="111834"/>
                    </a:solidFill>
                  </a:tcPr>
                </a:tc>
              </a:tr>
              <a:tr h="520000">
                <a:tc>
                  <a:txBody>
                    <a:bodyPr/>
                    <a:lstStyle/>
                    <a:p>
                      <a:r>
                        <a:rPr sz="1200" b="0">
                          <a:solidFill>
                            <a:srgbClr val="E8EEFA"/>
                          </a:solidFill>
                          <a:latin typeface="Segoe UI"/>
                        </a:rPr>
                        <a:t>Kvantlash</a:t>
                      </a:r>
                    </a:p>
                  </a:txBody>
                  <a:tcPr>
                    <a:solidFill>
                      <a:srgbClr val="161F40"/>
                    </a:solidFill>
                  </a:tcPr>
                </a:tc>
                <a:tc>
                  <a:txBody>
                    <a:bodyPr/>
                    <a:lstStyle/>
                    <a:p>
                      <a:r>
                        <a:rPr sz="1200" b="0">
                          <a:solidFill>
                            <a:srgbClr val="E8EEFA"/>
                          </a:solidFill>
                          <a:latin typeface="Segoe UI"/>
                        </a:rPr>
                        <a:t>statik/dinamik PTQ, QAT import</a:t>
                      </a:r>
                    </a:p>
                  </a:txBody>
                  <a:tcPr>
                    <a:solidFill>
                      <a:srgbClr val="161F40"/>
                    </a:solidFill>
                  </a:tcPr>
                </a:tc>
                <a:tc>
                  <a:txBody>
                    <a:bodyPr/>
                    <a:lstStyle/>
                    <a:p>
                      <a:r>
                        <a:rPr sz="1200" b="0">
                          <a:solidFill>
                            <a:srgbClr val="E8EEFA"/>
                          </a:solidFill>
                          <a:latin typeface="Segoe UI"/>
                        </a:rPr>
                        <a:t>INT8 PTQ (kalibrlash), QAT (Q/DQ)</a:t>
                      </a:r>
                    </a:p>
                  </a:txBody>
                  <a:tcPr>
                    <a:solidFill>
                      <a:srgbClr val="161F40"/>
                    </a:solidFill>
                  </a:tcPr>
                </a:tc>
                <a:tc>
                  <a:txBody>
                    <a:bodyPr/>
                    <a:lstStyle/>
                    <a:p>
                      <a:r>
                        <a:rPr sz="1200" b="0">
                          <a:solidFill>
                            <a:srgbClr val="E8EEFA"/>
                          </a:solidFill>
                          <a:latin typeface="Segoe UI"/>
                        </a:rPr>
                        <a:t>NNCF (PTQ, QAT), INT8/INT4</a:t>
                      </a:r>
                    </a:p>
                  </a:txBody>
                  <a:tcPr>
                    <a:solidFill>
                      <a:srgbClr val="161F40"/>
                    </a:solidFill>
                  </a:tcPr>
                </a:tc>
              </a:tr>
              <a:tr h="520000">
                <a:tc>
                  <a:txBody>
                    <a:bodyPr/>
                    <a:lstStyle/>
                    <a:p>
                      <a:r>
                        <a:rPr sz="1200" b="0">
                          <a:solidFill>
                            <a:srgbClr val="E8EEFA"/>
                          </a:solidFill>
                          <a:latin typeface="Segoe UI"/>
                        </a:rPr>
                        <a:t>Qurish vaqti</a:t>
                      </a:r>
                    </a:p>
                  </a:txBody>
                  <a:tcPr>
                    <a:solidFill>
                      <a:srgbClr val="111834"/>
                    </a:solidFill>
                  </a:tcPr>
                </a:tc>
                <a:tc>
                  <a:txBody>
                    <a:bodyPr/>
                    <a:lstStyle/>
                    <a:p>
                      <a:r>
                        <a:rPr sz="1200" b="0">
                          <a:solidFill>
                            <a:srgbClr val="E8EEFA"/>
                          </a:solidFill>
                          <a:latin typeface="Segoe UI"/>
                        </a:rPr>
                        <a:t>sekundlar</a:t>
                      </a:r>
                    </a:p>
                  </a:txBody>
                  <a:tcPr>
                    <a:solidFill>
                      <a:srgbClr val="111834"/>
                    </a:solidFill>
                  </a:tcPr>
                </a:tc>
                <a:tc>
                  <a:txBody>
                    <a:bodyPr/>
                    <a:lstStyle/>
                    <a:p>
                      <a:r>
                        <a:rPr sz="1200" b="0">
                          <a:solidFill>
                            <a:srgbClr val="E8EEFA"/>
                          </a:solidFill>
                          <a:latin typeface="Segoe UI"/>
                        </a:rPr>
                        <a:t>daqiqalar (tactic qidiruvi)</a:t>
                      </a:r>
                    </a:p>
                  </a:txBody>
                  <a:tcPr>
                    <a:solidFill>
                      <a:srgbClr val="111834"/>
                    </a:solidFill>
                  </a:tcPr>
                </a:tc>
                <a:tc>
                  <a:txBody>
                    <a:bodyPr/>
                    <a:lstStyle/>
                    <a:p>
                      <a:r>
                        <a:rPr sz="1200" b="0">
                          <a:solidFill>
                            <a:srgbClr val="E8EEFA"/>
                          </a:solidFill>
                          <a:latin typeface="Segoe UI"/>
                        </a:rPr>
                        <a:t>sekundlar</a:t>
                      </a:r>
                    </a:p>
                  </a:txBody>
                  <a:tcPr>
                    <a:solidFill>
                      <a:srgbClr val="111834"/>
                    </a:solidFill>
                  </a:tcPr>
                </a:tc>
              </a:tr>
              <a:tr h="520000">
                <a:tc>
                  <a:txBody>
                    <a:bodyPr/>
                    <a:lstStyle/>
                    <a:p>
                      <a:r>
                        <a:rPr sz="1200" b="0">
                          <a:solidFill>
                            <a:srgbClr val="E8EEFA"/>
                          </a:solidFill>
                          <a:latin typeface="Segoe UI"/>
                        </a:rPr>
                        <a:t>Ko'chma dvigatel</a:t>
                      </a:r>
                    </a:p>
                  </a:txBody>
                  <a:tcPr>
                    <a:solidFill>
                      <a:srgbClr val="161F40"/>
                    </a:solidFill>
                  </a:tcPr>
                </a:tc>
                <a:tc>
                  <a:txBody>
                    <a:bodyPr/>
                    <a:lstStyle/>
                    <a:p>
                      <a:r>
                        <a:rPr sz="1200" b="0">
                          <a:solidFill>
                            <a:srgbClr val="E8EEFA"/>
                          </a:solidFill>
                          <a:latin typeface="Segoe UI"/>
                        </a:rPr>
                        <a:t>ONNX fayl universal</a:t>
                      </a:r>
                    </a:p>
                  </a:txBody>
                  <a:tcPr>
                    <a:solidFill>
                      <a:srgbClr val="161F40"/>
                    </a:solidFill>
                  </a:tcPr>
                </a:tc>
                <a:tc>
                  <a:txBody>
                    <a:bodyPr/>
                    <a:lstStyle/>
                    <a:p>
                      <a:r>
                        <a:rPr sz="1200" b="0">
                          <a:solidFill>
                            <a:srgbClr val="E8EEFA"/>
                          </a:solidFill>
                          <a:latin typeface="Segoe UI"/>
                        </a:rPr>
                        <a:t>engine faqat shu GPU va versiya uchun</a:t>
                      </a:r>
                    </a:p>
                  </a:txBody>
                  <a:tcPr>
                    <a:solidFill>
                      <a:srgbClr val="161F40"/>
                    </a:solidFill>
                  </a:tcPr>
                </a:tc>
                <a:tc>
                  <a:txBody>
                    <a:bodyPr/>
                    <a:lstStyle/>
                    <a:p>
                      <a:r>
                        <a:rPr sz="1200" b="0">
                          <a:solidFill>
                            <a:srgbClr val="E8EEFA"/>
                          </a:solidFill>
                          <a:latin typeface="Segoe UI"/>
                        </a:rPr>
                        <a:t>IR fayl Intel platformalari uchun</a:t>
                      </a:r>
                    </a:p>
                  </a:txBody>
                  <a:tcPr>
                    <a:solidFill>
                      <a:srgbClr val="161F40"/>
                    </a:solidFill>
                  </a:tcPr>
                </a:tc>
              </a:tr>
              <a:tr h="520000">
                <a:tc>
                  <a:txBody>
                    <a:bodyPr/>
                    <a:lstStyle/>
                    <a:p>
                      <a:r>
                        <a:rPr sz="1200" b="0">
                          <a:solidFill>
                            <a:srgbClr val="E8EEFA"/>
                          </a:solidFill>
                          <a:latin typeface="Segoe UI"/>
                        </a:rPr>
                        <a:t>Odatiy tezlanish (FP32 PyTorch'ga nisbatan)</a:t>
                      </a:r>
                    </a:p>
                  </a:txBody>
                  <a:tcPr>
                    <a:solidFill>
                      <a:srgbClr val="111834"/>
                    </a:solidFill>
                  </a:tcPr>
                </a:tc>
                <a:tc>
                  <a:txBody>
                    <a:bodyPr/>
                    <a:lstStyle/>
                    <a:p>
                      <a:r>
                        <a:rPr sz="1200" b="0">
                          <a:solidFill>
                            <a:srgbClr val="E8EEFA"/>
                          </a:solidFill>
                          <a:latin typeface="Segoe UI"/>
                        </a:rPr>
                        <a:t>CPU 1,5–3×</a:t>
                      </a:r>
                    </a:p>
                  </a:txBody>
                  <a:tcPr>
                    <a:solidFill>
                      <a:srgbClr val="111834"/>
                    </a:solidFill>
                  </a:tcPr>
                </a:tc>
                <a:tc>
                  <a:txBody>
                    <a:bodyPr/>
                    <a:lstStyle/>
                    <a:p>
                      <a:r>
                        <a:rPr sz="1200" b="0">
                          <a:solidFill>
                            <a:srgbClr val="E8EEFA"/>
                          </a:solidFill>
                          <a:latin typeface="Segoe UI"/>
                        </a:rPr>
                        <a:t>GPU 3–8× (FP16/INT8 bilan)</a:t>
                      </a:r>
                    </a:p>
                  </a:txBody>
                  <a:tcPr>
                    <a:solidFill>
                      <a:srgbClr val="111834"/>
                    </a:solidFill>
                  </a:tcPr>
                </a:tc>
                <a:tc>
                  <a:txBody>
                    <a:bodyPr/>
                    <a:lstStyle/>
                    <a:p>
                      <a:r>
                        <a:rPr sz="1200" b="0">
                          <a:solidFill>
                            <a:srgbClr val="E8EEFA"/>
                          </a:solidFill>
                          <a:latin typeface="Segoe UI"/>
                        </a:rPr>
                        <a:t>CPU 2–5×</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231dc67b26af241c.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5" name="TextBox 3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Mailane vanesa · Wikimedia Commons · CC0</a:t>
            </a:r>
          </a:p>
        </p:txBody>
      </p:sp>
      <p:sp>
        <p:nvSpPr>
          <p:cNvPr id="36" name="TextBox 3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7" name="TextBox 3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38" name="TextBox 3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39" name="Rectangle 3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150"/>
                            </p:stCondLst>
                            <p:childTnLst>
                              <p:par>
                                <p:cTn id="124" presetID="53" presetClass="entr" presetSubtype="16"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additive="base">
                                        <p:cTn id="127" dur="550" fill="hold"/>
                                        <p:tgtEl>
                                          <p:spTgt spid="33"/>
                                        </p:tgtEl>
                                        <p:attrNameLst>
                                          <p:attrName>ppt_w</p:attrName>
                                        </p:attrNameLst>
                                      </p:cBhvr>
                                      <p:tavLst>
                                        <p:tav tm="0">
                                          <p:val>
                                            <p:strVal val="0"/>
                                          </p:val>
                                        </p:tav>
                                        <p:tav tm="100000">
                                          <p:val>
                                            <p:strVal val="#ppt_w"/>
                                          </p:val>
                                        </p:tav>
                                      </p:tavLst>
                                    </p:anim>
                                    <p:anim calcmode="lin" valueType="num">
                                      <p:cBhvr additive="base">
                                        <p:cTn id="128" dur="550" fill="hold"/>
                                        <p:tgtEl>
                                          <p:spTgt spid="33"/>
                                        </p:tgtEl>
                                        <p:attrNameLst>
                                          <p:attrName>ppt_h</p:attrName>
                                        </p:attrNameLst>
                                      </p:cBhvr>
                                      <p:tavLst>
                                        <p:tav tm="0">
                                          <p:val>
                                            <p:strVal val="0"/>
                                          </p:val>
                                        </p:tav>
                                        <p:tav tm="100000">
                                          <p:val>
                                            <p:strVal val="#ppt_h"/>
                                          </p:val>
                                        </p:tav>
                                      </p:tavLst>
                                    </p:anim>
                                  </p:childTnLst>
                                </p:cTn>
                              </p:par>
                            </p:childTnLst>
                          </p:cTn>
                        </p:par>
                        <p:par>
                          <p:cTn id="129" fill="hold">
                            <p:stCondLst>
                              <p:cond delay="150"/>
                            </p:stCondLst>
                            <p:childTnLst>
                              <p:par>
                                <p:cTn id="130" presetID="53" presetClass="entr" presetSubtype="16" fill="hold" grpId="0" nodeType="afterEffect">
                                  <p:stCondLst>
                                    <p:cond delay="0"/>
                                  </p:stCondLst>
                                  <p:childTnLst>
                                    <p:set>
                                      <p:cBhvr>
                                        <p:cTn id="131" dur="1" fill="hold">
                                          <p:stCondLst>
                                            <p:cond delay="0"/>
                                          </p:stCondLst>
                                        </p:cTn>
                                        <p:tgtEl>
                                          <p:spTgt spid="34"/>
                                        </p:tgtEl>
                                        <p:attrNameLst>
                                          <p:attrName>style.visibility</p:attrName>
                                        </p:attrNameLst>
                                      </p:cBhvr>
                                      <p:to>
                                        <p:strVal val="visible"/>
                                      </p:to>
                                    </p:set>
                                    <p:animEffect transition="in" filter="fade">
                                      <p:cBhvr>
                                        <p:cTn id="132" dur="550"/>
                                        <p:tgtEl>
                                          <p:spTgt spid="34"/>
                                        </p:tgtEl>
                                      </p:cBhvr>
                                    </p:animEffect>
                                    <p:anim calcmode="lin" valueType="num">
                                      <p:cBhvr additive="base">
                                        <p:cTn id="133" dur="550" fill="hold"/>
                                        <p:tgtEl>
                                          <p:spTgt spid="34"/>
                                        </p:tgtEl>
                                        <p:attrNameLst>
                                          <p:attrName>ppt_w</p:attrName>
                                        </p:attrNameLst>
                                      </p:cBhvr>
                                      <p:tavLst>
                                        <p:tav tm="0">
                                          <p:val>
                                            <p:strVal val="0"/>
                                          </p:val>
                                        </p:tav>
                                        <p:tav tm="100000">
                                          <p:val>
                                            <p:strVal val="#ppt_w"/>
                                          </p:val>
                                        </p:tav>
                                      </p:tavLst>
                                    </p:anim>
                                    <p:anim calcmode="lin" valueType="num">
                                      <p:cBhvr additive="base">
                                        <p:cTn id="134" dur="550" fill="hold"/>
                                        <p:tgtEl>
                                          <p:spTgt spid="34"/>
                                        </p:tgtEl>
                                        <p:attrNameLst>
                                          <p:attrName>ppt_h</p:attrName>
                                        </p:attrNameLst>
                                      </p:cBhvr>
                                      <p:tavLst>
                                        <p:tav tm="0">
                                          <p:val>
                                            <p:strVal val="0"/>
                                          </p:val>
                                        </p:tav>
                                        <p:tav tm="100000">
                                          <p:val>
                                            <p:strVal val="#ppt_h"/>
                                          </p:val>
                                        </p:tav>
                                      </p:tavLst>
                                    </p:anim>
                                  </p:childTnLst>
                                </p:cTn>
                              </p:par>
                            </p:childTnLst>
                          </p:cTn>
                        </p:par>
                        <p:par>
                          <p:cTn id="135" fill="hold">
                            <p:stCondLst>
                              <p:cond delay="150"/>
                            </p:stCondLst>
                            <p:childTnLst>
                              <p:par>
                                <p:cTn id="136" presetID="10" presetClass="entr" presetSubtype="0" fill="hold" grpId="0" nodeType="afterEffect">
                                  <p:stCondLst>
                                    <p:cond delay="0"/>
                                  </p:stCondLst>
                                  <p:childTnLst>
                                    <p:set>
                                      <p:cBhvr>
                                        <p:cTn id="137" dur="1" fill="hold">
                                          <p:stCondLst>
                                            <p:cond delay="0"/>
                                          </p:stCondLst>
                                        </p:cTn>
                                        <p:tgtEl>
                                          <p:spTgt spid="35"/>
                                        </p:tgtEl>
                                        <p:attrNameLst>
                                          <p:attrName>style.visibility</p:attrName>
                                        </p:attrNameLst>
                                      </p:cBhvr>
                                      <p:to>
                                        <p:strVal val="visible"/>
                                      </p:to>
                                    </p:set>
                                    <p:animEffect transition="in" filter="fade">
                                      <p:cBhvr>
                                        <p:cTn id="138" dur="550"/>
                                        <p:tgtEl>
                                          <p:spTgt spid="35"/>
                                        </p:tgtEl>
                                      </p:cBhvr>
                                    </p:animEffect>
                                  </p:childTnLst>
                                </p:cTn>
                              </p:par>
                            </p:childTnLst>
                          </p:cTn>
                        </p:par>
                        <p:par>
                          <p:cTn id="139" fill="hold">
                            <p:stCondLst>
                              <p:cond delay="350"/>
                            </p:stCondLst>
                            <p:childTnLst>
                              <p:par>
                                <p:cTn id="140" presetID="53" presetClass="entr" presetSubtype="16"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anim calcmode="lin" valueType="num">
                                      <p:cBhvr additive="base">
                                        <p:cTn id="143" dur="550" fill="hold"/>
                                        <p:tgtEl>
                                          <p:spTgt spid="36"/>
                                        </p:tgtEl>
                                        <p:attrNameLst>
                                          <p:attrName>ppt_w</p:attrName>
                                        </p:attrNameLst>
                                      </p:cBhvr>
                                      <p:tavLst>
                                        <p:tav tm="0">
                                          <p:val>
                                            <p:strVal val="0"/>
                                          </p:val>
                                        </p:tav>
                                        <p:tav tm="100000">
                                          <p:val>
                                            <p:strVal val="#ppt_w"/>
                                          </p:val>
                                        </p:tav>
                                      </p:tavLst>
                                    </p:anim>
                                    <p:anim calcmode="lin" valueType="num">
                                      <p:cBhvr additive="base">
                                        <p:cTn id="144" dur="550" fill="hold"/>
                                        <p:tgtEl>
                                          <p:spTgt spid="36"/>
                                        </p:tgtEl>
                                        <p:attrNameLst>
                                          <p:attrName>ppt_h</p:attrName>
                                        </p:attrNameLst>
                                      </p:cBhvr>
                                      <p:tavLst>
                                        <p:tav tm="0">
                                          <p:val>
                                            <p:strVal val="0"/>
                                          </p:val>
                                        </p:tav>
                                        <p:tav tm="100000">
                                          <p:val>
                                            <p:strVal val="#ppt_h"/>
                                          </p:val>
                                        </p:tav>
                                      </p:tavLst>
                                    </p:anim>
                                  </p:childTnLst>
                                </p:cTn>
                              </p:par>
                            </p:childTnLst>
                          </p:cTn>
                        </p:par>
                        <p:par>
                          <p:cTn id="145" fill="hold">
                            <p:stCondLst>
                              <p:cond delay="450"/>
                            </p:stCondLst>
                            <p:childTnLst>
                              <p:par>
                                <p:cTn id="146" presetID="10" presetClass="entr" presetSubtype="0" fill="hold" grpId="0" nodeType="afterEffect">
                                  <p:stCondLst>
                                    <p:cond delay="0"/>
                                  </p:stCondLst>
                                  <p:childTnLst>
                                    <p:set>
                                      <p:cBhvr>
                                        <p:cTn id="147" dur="1" fill="hold">
                                          <p:stCondLst>
                                            <p:cond delay="0"/>
                                          </p:stCondLst>
                                        </p:cTn>
                                        <p:tgtEl>
                                          <p:spTgt spid="37"/>
                                        </p:tgtEl>
                                        <p:attrNameLst>
                                          <p:attrName>style.visibility</p:attrName>
                                        </p:attrNameLst>
                                      </p:cBhvr>
                                      <p:to>
                                        <p:strVal val="visible"/>
                                      </p:to>
                                    </p:set>
                                    <p:animEffect transition="in" filter="fade">
                                      <p:cBhvr>
                                        <p:cTn id="148" dur="550"/>
                                        <p:tgtEl>
                                          <p:spTgt spid="37"/>
                                        </p:tgtEl>
                                      </p:cBhvr>
                                    </p:animEffect>
                                  </p:childTnLst>
                                </p:cTn>
                              </p:par>
                            </p:childTnLst>
                          </p:cTn>
                        </p:par>
                        <p:par>
                          <p:cTn id="149" fill="hold">
                            <p:stCondLst>
                              <p:cond delay="550"/>
                            </p:stCondLst>
                            <p:childTnLst>
                              <p:par>
                                <p:cTn id="150" presetID="2" presetClass="entr" presetSubtype="8"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 calcmode="lin" valueType="num">
                                      <p:cBhvr additive="base">
                                        <p:cTn id="153" dur="550" fill="hold"/>
                                        <p:tgtEl>
                                          <p:spTgt spid="38"/>
                                        </p:tgtEl>
                                        <p:attrNameLst>
                                          <p:attrName>ppt_x</p:attrName>
                                        </p:attrNameLst>
                                      </p:cBhvr>
                                      <p:tavLst>
                                        <p:tav tm="0">
                                          <p:val>
                                            <p:strVal val="0-#ppt_w/2"/>
                                          </p:val>
                                        </p:tav>
                                        <p:tav tm="100000">
                                          <p:val>
                                            <p:strVal val="#ppt_x"/>
                                          </p:val>
                                        </p:tav>
                                      </p:tavLst>
                                    </p:anim>
                                    <p:anim calcmode="lin" valueType="num">
                                      <p:cBhvr additive="base">
                                        <p:cTn id="154" dur="550" fill="hold"/>
                                        <p:tgtEl>
                                          <p:spTgt spid="38"/>
                                        </p:tgtEl>
                                        <p:attrNameLst>
                                          <p:attrName>ppt_y</p:attrName>
                                        </p:attrNameLst>
                                      </p:cBhvr>
                                      <p:tavLst>
                                        <p:tav tm="0">
                                          <p:val>
                                            <p:strVal val="#ppt_y"/>
                                          </p:val>
                                        </p:tav>
                                        <p:tav tm="100000">
                                          <p:val>
                                            <p:strVal val="#ppt_y"/>
                                          </p:val>
                                        </p:tav>
                                      </p:tavLst>
                                    </p:anim>
                                  </p:childTnLst>
                                </p:cTn>
                              </p:par>
                            </p:childTnLst>
                          </p:cTn>
                        </p:par>
                        <p:par>
                          <p:cTn id="155" fill="hold">
                            <p:stCondLst>
                              <p:cond delay="650"/>
                            </p:stCondLst>
                            <p:childTnLst>
                              <p:par>
                                <p:cTn id="156" presetID="22" presetClass="entr" presetSubtype="8" fill="hold" grpId="0" nodeType="afterEffect">
                                  <p:stCondLst>
                                    <p:cond delay="0"/>
                                  </p:stCondLst>
                                  <p:childTnLst>
                                    <p:set>
                                      <p:cBhvr>
                                        <p:cTn id="157" dur="1" fill="hold">
                                          <p:stCondLst>
                                            <p:cond delay="0"/>
                                          </p:stCondLst>
                                        </p:cTn>
                                        <p:tgtEl>
                                          <p:spTgt spid="39"/>
                                        </p:tgtEl>
                                        <p:attrNameLst>
                                          <p:attrName>style.visibility</p:attrName>
                                        </p:attrNameLst>
                                      </p:cBhvr>
                                      <p:to>
                                        <p:strVal val="visible"/>
                                      </p:to>
                                    </p:set>
                                    <p:animEffect transition="in" filter="wipe(left)">
                                      <p:cBhvr>
                                        <p:cTn id="159" dur="8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Laboratoriya topshirig'i: «ResNet-50 tasvir tasniflash modelini ONNX Runtime va TensorRT/OpenVINO yordamida optimallashtirish va unumdorlikni to'liq baholash».</a:t>
            </a:r>
          </a:p>
        </p:txBody>
      </p:sp>
      <p:sp>
        <p:nvSpPr>
          <p:cNvPr id="32" name="Rounded Rectangle 31"/>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591120"/>
          </a:xfrm>
          <a:prstGeom prst="rect">
            <a:avLst/>
          </a:prstGeom>
          <a:noFill/>
        </p:spPr>
        <p:txBody>
          <a:bodyPr wrap="square" anchor="ctr">
            <a:spAutoFit/>
          </a:bodyPr>
          <a:lstStyle/>
          <a:p>
            <a:r>
              <a:rPr sz="1700" b="1">
                <a:solidFill>
                  <a:srgbClr val="E8EEFA"/>
                </a:solidFill>
                <a:latin typeface="Segoe UI"/>
              </a:rPr>
              <a:t>Talab qilinadigan muhit.</a:t>
            </a:r>
          </a:p>
          <a:p>
            <a:pPr>
              <a:spcBef>
                <a:spcPts val="400"/>
              </a:spcBef>
            </a:pPr>
            <a:r>
              <a:rPr sz="1600">
                <a:solidFill>
                  <a:srgbClr val="AEBBD9"/>
                </a:solidFill>
                <a:latin typeface="Segoe UI"/>
              </a:rPr>
              <a:t>Apparat: x86 CPU (kamida 4 yadro, AVX2; VNNI bo'lsa INT8 tezlanishi yaqqolroq); NVIDIA GPU (ixtiyoriy, TensorRT qismi uchun; T4, RTX 3060 yoki yuqori); Intel CPU bo'lsa OpenVINO qismi bajariladi.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Dasturiy ta'minot: Ubuntu 22.04; Python 3.10; torch&gt;=2.2, torchvision&gt;=0.17, onnx&gt;=1.15, onnxruntime&gt;=1.17 (GPU uchun onnxruntime-gpu), onnxscript, numpy, pandas, pillow; TensorRT 8.6 yoki 10.x (CUDA 12 bilan; pip install tensorrt yoki NVIDIA NGC konteyneri…</a:t>
            </a:r>
          </a:p>
          <a:p>
            <a:pPr>
              <a:spcBef>
                <a:spcPts val="400"/>
              </a:spcBef>
            </a:pPr>
            <a:r>
              <a:rPr sz="1400">
                <a:solidFill>
                  <a:srgbClr val="AEBBD9"/>
                </a:solidFill>
                <a:latin typeface="Segoe UI"/>
              </a:rPr>
              <a:t>Ma'lumotlar: ImageNet validatsiya to'plamidan 1000 ta tasvir (yoki Imagenette kichik to'plami — 10 sinf, ochiq) — aniqlikni o'lchash va kalibrlash uchun. Vaqt: 2 akademik soat auditoriyada; TensorRT qurish va to'liq o'lchovlar uyda yakunlanadi.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Etalon: PyTorch FP32 va ONNX eksport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Kutilgan natija (8 yadroli CPU, taxminiy): PyTorch FP32 p50 ≈ 45–70 ms; ONNX faylda 120–130 tugun (Conv, BatchNormalization, Relu, Add, MaxPool, GlobalAveragePool, Gemm), hajmi ≈ 98 MB (25,6 million parametr × 4 bayt).</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Nima bo'ldi va nega. dynamic_axes paket o'lchamini o'zgaruvchan qiladi — keyin throughput o'lchovida 1, 8, 32 paketlarni bitta fayl bilan sinaymiz. do_constant_folding eksport paytidayoq doimiy qism-grafiklarni hisoblaydi.</a:t>
            </a:r>
          </a:p>
          <a:p>
            <a:pPr>
              <a:spcBef>
                <a:spcPts val="400"/>
              </a:spcBef>
            </a:pPr>
            <a:r>
              <a:rPr sz="1400">
                <a:solidFill>
                  <a:srgbClr val="AEBBD9"/>
                </a:solidFill>
                <a:latin typeface="Segoe UI"/>
              </a:rPr>
              <a:t>Etalon latency keyingi barcha solishtirishlar uchun 1,0× nuqtasi.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Etalon: PyTorch FP32 va ONNX eksport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01_export.py</a:t>
            </a:r>
          </a:p>
          <a:p>
            <a:r>
              <a:rPr sz="1000">
                <a:solidFill>
                  <a:srgbClr val="DBE4F5"/>
                </a:solidFill>
                <a:latin typeface="Consolas"/>
              </a:rPr>
              <a:t>import torch, torchvision, onnx, time, numpy as np</a:t>
            </a:r>
          </a:p>
          <a:p>
            <a:r>
              <a:rPr sz="1000">
                <a:solidFill>
                  <a:srgbClr val="DBE4F5"/>
                </a:solidFill>
                <a:latin typeface="Consolas"/>
              </a:rPr>
              <a:t> </a:t>
            </a:r>
          </a:p>
          <a:p>
            <a:r>
              <a:rPr sz="1000">
                <a:solidFill>
                  <a:srgbClr val="DBE4F5"/>
                </a:solidFill>
                <a:latin typeface="Consolas"/>
              </a:rPr>
              <a:t>model = torchvision.models.resnet50(weights="IMAGENET1K_V2").eval()</a:t>
            </a:r>
          </a:p>
          <a:p>
            <a:r>
              <a:rPr sz="1000">
                <a:solidFill>
                  <a:srgbClr val="DBE4F5"/>
                </a:solidFill>
                <a:latin typeface="Consolas"/>
              </a:rPr>
              <a:t>x = torch.randn(1, 3, 224, 224)</a:t>
            </a:r>
          </a:p>
          <a:p>
            <a:r>
              <a:rPr sz="1000">
                <a:solidFill>
                  <a:srgbClr val="DBE4F5"/>
                </a:solidFill>
                <a:latin typeface="Consolas"/>
              </a:rPr>
              <a:t> </a:t>
            </a:r>
          </a:p>
          <a:p>
            <a:r>
              <a:rPr sz="1000">
                <a:solidFill>
                  <a:srgbClr val="6EE7B7"/>
                </a:solidFill>
                <a:latin typeface="Consolas"/>
              </a:rPr>
              <a:t># PyTorch CPU etalon latency (paket 1)</a:t>
            </a:r>
          </a:p>
          <a:p>
            <a:r>
              <a:rPr sz="1000">
                <a:solidFill>
                  <a:srgbClr val="DBE4F5"/>
                </a:solidFill>
                <a:latin typeface="Consolas"/>
              </a:rPr>
              <a:t>with torch.inference_mode():</a:t>
            </a:r>
          </a:p>
          <a:p>
            <a:r>
              <a:rPr sz="1000">
                <a:solidFill>
                  <a:srgbClr val="DBE4F5"/>
                </a:solidFill>
                <a:latin typeface="Consolas"/>
              </a:rPr>
              <a:t>    for _ in range(5): model(x)</a:t>
            </a:r>
          </a:p>
          <a:p>
            <a:r>
              <a:rPr sz="1000">
                <a:solidFill>
                  <a:srgbClr val="DBE4F5"/>
                </a:solidFill>
                <a:latin typeface="Consolas"/>
              </a:rPr>
              <a:t>    t = []</a:t>
            </a:r>
          </a:p>
          <a:p>
            <a:r>
              <a:rPr sz="1000">
                <a:solidFill>
                  <a:srgbClr val="DBE4F5"/>
                </a:solidFill>
                <a:latin typeface="Consolas"/>
              </a:rPr>
              <a:t>    for _ in range(50):</a:t>
            </a:r>
          </a:p>
          <a:p>
            <a:r>
              <a:rPr sz="1000">
                <a:solidFill>
                  <a:srgbClr val="DBE4F5"/>
                </a:solidFill>
                <a:latin typeface="Consolas"/>
              </a:rPr>
              <a:t>        t0 = time.perf_counter(); model(x); t.append(time.perf_counter() - t0)</a:t>
            </a:r>
          </a:p>
          <a:p>
            <a:r>
              <a:rPr sz="1000">
                <a:solidFill>
                  <a:srgbClr val="DBE4F5"/>
                </a:solidFill>
                <a:latin typeface="Consolas"/>
              </a:rPr>
              <a:t>print(f"PyTorch FP32 CPU, batch 1: p50 {np.percentile(t,50)*1e3:.1f} ms  p95 {np.percentile(t,95)*1e3:.1f} ms")</a:t>
            </a:r>
          </a:p>
          <a:p>
            <a:r>
              <a:rPr sz="1000">
                <a:solidFill>
                  <a:srgbClr val="DBE4F5"/>
                </a:solidFill>
                <a:latin typeface="Consolas"/>
              </a:rPr>
              <a:t> </a:t>
            </a:r>
          </a:p>
          <a:p>
            <a:r>
              <a:rPr sz="1000">
                <a:solidFill>
                  <a:srgbClr val="DBE4F5"/>
                </a:solidFill>
                <a:latin typeface="Consolas"/>
              </a:rPr>
              <a:t>torch.onnx.export(</a:t>
            </a:r>
          </a:p>
          <a:p>
            <a:r>
              <a:rPr sz="1000">
                <a:solidFill>
                  <a:srgbClr val="DBE4F5"/>
                </a:solidFill>
                <a:latin typeface="Consolas"/>
              </a:rPr>
              <a:t>    model, x, "resnet50_fp32.onnx",</a:t>
            </a:r>
          </a:p>
          <a:p>
            <a:r>
              <a:rPr sz="1000">
                <a:solidFill>
                  <a:srgbClr val="DBE4F5"/>
                </a:solidFill>
                <a:latin typeface="Consolas"/>
              </a:rPr>
              <a:t>    input_names=["input"], output_names=["logits"],</a:t>
            </a:r>
          </a:p>
          <a:p>
            <a:r>
              <a:rPr sz="1000">
                <a:solidFill>
                  <a:srgbClr val="DBE4F5"/>
                </a:solidFill>
                <a:latin typeface="Consolas"/>
              </a:rPr>
              <a:t>    dynamic_axes={"input": {0: "batch"}, "logits": {0: "batch"}},</a:t>
            </a:r>
          </a:p>
          <a:p>
            <a:r>
              <a:rPr sz="1000">
                <a:solidFill>
                  <a:srgbClr val="DBE4F5"/>
                </a:solidFill>
                <a:latin typeface="Consolas"/>
              </a:rPr>
              <a:t>    opset_version=17, do_constant_folding=True,</a:t>
            </a:r>
          </a:p>
          <a:p>
            <a:r>
              <a:rPr sz="1000">
                <a:solidFill>
                  <a:srgbClr val="DBE4F5"/>
                </a:solidFill>
                <a:latin typeface="Consolas"/>
              </a:rPr>
              <a:t>)</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ONNX Runtime: CPU va GPU provayderlari, optimallashtirish darajalari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ONNX Runtime: CPU va GPU provayderlari, optimallashtirish darajalari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graphicFrame>
        <p:nvGraphicFramePr>
          <p:cNvPr id="23" name="Table 22"/>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provider</a:t>
                      </a:r>
                    </a:p>
                  </a:txBody>
                  <a:tcPr>
                    <a:solidFill>
                      <a:srgbClr val="1C2755"/>
                    </a:solidFill>
                  </a:tcPr>
                </a:tc>
                <a:tc>
                  <a:txBody>
                    <a:bodyPr/>
                    <a:lstStyle/>
                    <a:p>
                      <a:r>
                        <a:rPr sz="1400" b="1">
                          <a:solidFill>
                            <a:srgbClr val="22D3EE"/>
                          </a:solidFill>
                          <a:latin typeface="Segoe UI"/>
                        </a:rPr>
                        <a:t>opt</a:t>
                      </a:r>
                    </a:p>
                  </a:txBody>
                  <a:tcPr>
                    <a:solidFill>
                      <a:srgbClr val="1C2755"/>
                    </a:solidFill>
                  </a:tcPr>
                </a:tc>
                <a:tc>
                  <a:txBody>
                    <a:bodyPr/>
                    <a:lstStyle/>
                    <a:p>
                      <a:r>
                        <a:rPr sz="1400" b="1">
                          <a:solidFill>
                            <a:srgbClr val="22D3EE"/>
                          </a:solidFill>
                          <a:latin typeface="Segoe UI"/>
                        </a:rPr>
                        <a:t>batch</a:t>
                      </a:r>
                    </a:p>
                  </a:txBody>
                  <a:tcPr>
                    <a:solidFill>
                      <a:srgbClr val="1C2755"/>
                    </a:solidFill>
                  </a:tcPr>
                </a:tc>
                <a:tc>
                  <a:txBody>
                    <a:bodyPr/>
                    <a:lstStyle/>
                    <a:p>
                      <a:r>
                        <a:rPr sz="1400" b="1">
                          <a:solidFill>
                            <a:srgbClr val="22D3EE"/>
                          </a:solidFill>
                          <a:latin typeface="Segoe UI"/>
                        </a:rPr>
                        <a:t>p50, ms</a:t>
                      </a:r>
                    </a:p>
                  </a:txBody>
                  <a:tcPr>
                    <a:solidFill>
                      <a:srgbClr val="1C2755"/>
                    </a:solidFill>
                  </a:tcPr>
                </a:tc>
                <a:tc>
                  <a:txBody>
                    <a:bodyPr/>
                    <a:lstStyle/>
                    <a:p>
                      <a:r>
                        <a:rPr sz="1400" b="1">
                          <a:solidFill>
                            <a:srgbClr val="22D3EE"/>
                          </a:solidFill>
                          <a:latin typeface="Segoe UI"/>
                        </a:rPr>
                        <a:t>p95, ms</a:t>
                      </a:r>
                    </a:p>
                  </a:txBody>
                  <a:tcPr>
                    <a:solidFill>
                      <a:srgbClr val="1C2755"/>
                    </a:solidFill>
                  </a:tcPr>
                </a:tc>
                <a:tc>
                  <a:txBody>
                    <a:bodyPr/>
                    <a:lstStyle/>
                    <a:p>
                      <a:r>
                        <a:rPr sz="1400" b="1">
                          <a:solidFill>
                            <a:srgbClr val="22D3EE"/>
                          </a:solidFill>
                          <a:latin typeface="Segoe UI"/>
                        </a:rPr>
                        <a:t>throughput, rasm/s</a:t>
                      </a:r>
                    </a:p>
                  </a:txBody>
                  <a:tcPr>
                    <a:solidFill>
                      <a:srgbClr val="1C2755"/>
                    </a:solidFill>
                  </a:tcPr>
                </a:tc>
              </a:tr>
              <a:tr h="520000">
                <a:tc>
                  <a:txBody>
                    <a:bodyPr/>
                    <a:lstStyle/>
                    <a:p>
                      <a:r>
                        <a:rPr sz="1400" b="0">
                          <a:solidFill>
                            <a:srgbClr val="E8EEFA"/>
                          </a:solidFill>
                          <a:latin typeface="Segoe UI"/>
                        </a:rPr>
                        <a:t>CPU</a:t>
                      </a:r>
                    </a:p>
                  </a:txBody>
                  <a:tcPr>
                    <a:solidFill>
                      <a:srgbClr val="111834"/>
                    </a:solidFill>
                  </a:tcPr>
                </a:tc>
                <a:tc>
                  <a:txBody>
                    <a:bodyPr/>
                    <a:lstStyle/>
                    <a:p>
                      <a:r>
                        <a:rPr sz="1400" b="0">
                          <a:solidFill>
                            <a:srgbClr val="E8EEFA"/>
                          </a:solidFill>
                          <a:latin typeface="Segoe UI"/>
                        </a:rPr>
                        <a:t>DISABLE_ALL</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48</a:t>
                      </a:r>
                    </a:p>
                  </a:txBody>
                  <a:tcPr>
                    <a:solidFill>
                      <a:srgbClr val="111834"/>
                    </a:solidFill>
                  </a:tcPr>
                </a:tc>
                <a:tc>
                  <a:txBody>
                    <a:bodyPr/>
                    <a:lstStyle/>
                    <a:p>
                      <a:r>
                        <a:rPr sz="1400" b="0">
                          <a:solidFill>
                            <a:srgbClr val="E8EEFA"/>
                          </a:solidFill>
                          <a:latin typeface="Segoe UI"/>
                        </a:rPr>
                        <a:t>55</a:t>
                      </a:r>
                    </a:p>
                  </a:txBody>
                  <a:tcPr>
                    <a:solidFill>
                      <a:srgbClr val="111834"/>
                    </a:solidFill>
                  </a:tcPr>
                </a:tc>
                <a:tc>
                  <a:txBody>
                    <a:bodyPr/>
                    <a:lstStyle/>
                    <a:p>
                      <a:r>
                        <a:rPr sz="1400" b="0">
                          <a:solidFill>
                            <a:srgbClr val="E8EEFA"/>
                          </a:solidFill>
                          <a:latin typeface="Segoe UI"/>
                        </a:rPr>
                        <a:t>20</a:t>
                      </a:r>
                    </a:p>
                  </a:txBody>
                  <a:tcPr>
                    <a:solidFill>
                      <a:srgbClr val="111834"/>
                    </a:solidFill>
                  </a:tcPr>
                </a:tc>
              </a:tr>
              <a:tr h="520000">
                <a:tc>
                  <a:txBody>
                    <a:bodyPr/>
                    <a:lstStyle/>
                    <a:p>
                      <a:r>
                        <a:rPr sz="1400" b="0">
                          <a:solidFill>
                            <a:srgbClr val="E8EEFA"/>
                          </a:solidFill>
                          <a:latin typeface="Segoe UI"/>
                        </a:rPr>
                        <a:t>CPU</a:t>
                      </a:r>
                    </a:p>
                  </a:txBody>
                  <a:tcPr>
                    <a:solidFill>
                      <a:srgbClr val="161F40"/>
                    </a:solidFill>
                  </a:tcPr>
                </a:tc>
                <a:tc>
                  <a:txBody>
                    <a:bodyPr/>
                    <a:lstStyle/>
                    <a:p>
                      <a:r>
                        <a:rPr sz="1400" b="0">
                          <a:solidFill>
                            <a:srgbClr val="E8EEFA"/>
                          </a:solidFill>
                          <a:latin typeface="Segoe UI"/>
                        </a:rPr>
                        <a:t>BASIC</a:t>
                      </a:r>
                    </a:p>
                  </a:txBody>
                  <a:tcPr>
                    <a:solidFill>
                      <a:srgbClr val="161F40"/>
                    </a:solidFill>
                  </a:tcPr>
                </a:tc>
                <a:tc>
                  <a:txBody>
                    <a:bodyPr/>
                    <a:lstStyle/>
                    <a:p>
                      <a:r>
                        <a:rPr sz="1400" b="0">
                          <a:solidFill>
                            <a:srgbClr val="E8EEFA"/>
                          </a:solidFill>
                          <a:latin typeface="Segoe UI"/>
                        </a:rPr>
                        <a:t>1</a:t>
                      </a:r>
                    </a:p>
                  </a:txBody>
                  <a:tcPr>
                    <a:solidFill>
                      <a:srgbClr val="161F40"/>
                    </a:solidFill>
                  </a:tcPr>
                </a:tc>
                <a:tc>
                  <a:txBody>
                    <a:bodyPr/>
                    <a:lstStyle/>
                    <a:p>
                      <a:r>
                        <a:rPr sz="1400" b="0">
                          <a:solidFill>
                            <a:srgbClr val="E8EEFA"/>
                          </a:solidFill>
                          <a:latin typeface="Segoe UI"/>
                        </a:rPr>
                        <a:t>42</a:t>
                      </a:r>
                    </a:p>
                  </a:txBody>
                  <a:tcPr>
                    <a:solidFill>
                      <a:srgbClr val="161F40"/>
                    </a:solidFill>
                  </a:tcPr>
                </a:tc>
                <a:tc>
                  <a:txBody>
                    <a:bodyPr/>
                    <a:lstStyle/>
                    <a:p>
                      <a:r>
                        <a:rPr sz="1400" b="0">
                          <a:solidFill>
                            <a:srgbClr val="E8EEFA"/>
                          </a:solidFill>
                          <a:latin typeface="Segoe UI"/>
                        </a:rPr>
                        <a:t>48</a:t>
                      </a:r>
                    </a:p>
                  </a:txBody>
                  <a:tcPr>
                    <a:solidFill>
                      <a:srgbClr val="161F40"/>
                    </a:solidFill>
                  </a:tcPr>
                </a:tc>
                <a:tc>
                  <a:txBody>
                    <a:bodyPr/>
                    <a:lstStyle/>
                    <a:p>
                      <a:r>
                        <a:rPr sz="1400" b="0">
                          <a:solidFill>
                            <a:srgbClr val="E8EEFA"/>
                          </a:solidFill>
                          <a:latin typeface="Segoe UI"/>
                        </a:rPr>
                        <a:t>23</a:t>
                      </a:r>
                    </a:p>
                  </a:txBody>
                  <a:tcPr>
                    <a:solidFill>
                      <a:srgbClr val="161F40"/>
                    </a:solidFill>
                  </a:tcPr>
                </a:tc>
              </a:tr>
              <a:tr h="520000">
                <a:tc>
                  <a:txBody>
                    <a:bodyPr/>
                    <a:lstStyle/>
                    <a:p>
                      <a:r>
                        <a:rPr sz="1400" b="0">
                          <a:solidFill>
                            <a:srgbClr val="E8EEFA"/>
                          </a:solidFill>
                          <a:latin typeface="Segoe UI"/>
                        </a:rPr>
                        <a:t>CPU</a:t>
                      </a:r>
                    </a:p>
                  </a:txBody>
                  <a:tcPr>
                    <a:solidFill>
                      <a:srgbClr val="111834"/>
                    </a:solidFill>
                  </a:tcPr>
                </a:tc>
                <a:tc>
                  <a:txBody>
                    <a:bodyPr/>
                    <a:lstStyle/>
                    <a:p>
                      <a:r>
                        <a:rPr sz="1400" b="0">
                          <a:solidFill>
                            <a:srgbClr val="E8EEFA"/>
                          </a:solidFill>
                          <a:latin typeface="Segoe UI"/>
                        </a:rPr>
                        <a:t>EXTENDED</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31</a:t>
                      </a:r>
                    </a:p>
                  </a:txBody>
                  <a:tcPr>
                    <a:solidFill>
                      <a:srgbClr val="111834"/>
                    </a:solidFill>
                  </a:tcPr>
                </a:tc>
                <a:tc>
                  <a:txBody>
                    <a:bodyPr/>
                    <a:lstStyle/>
                    <a:p>
                      <a:r>
                        <a:rPr sz="1400" b="0">
                          <a:solidFill>
                            <a:srgbClr val="E8EEFA"/>
                          </a:solidFill>
                          <a:latin typeface="Segoe UI"/>
                        </a:rPr>
                        <a:t>36</a:t>
                      </a:r>
                    </a:p>
                  </a:txBody>
                  <a:tcPr>
                    <a:solidFill>
                      <a:srgbClr val="111834"/>
                    </a:solidFill>
                  </a:tcPr>
                </a:tc>
                <a:tc>
                  <a:txBody>
                    <a:bodyPr/>
                    <a:lstStyle/>
                    <a:p>
                      <a:r>
                        <a:rPr sz="1400" b="0">
                          <a:solidFill>
                            <a:srgbClr val="E8EEFA"/>
                          </a:solidFill>
                          <a:latin typeface="Segoe UI"/>
                        </a:rPr>
                        <a:t>32</a:t>
                      </a:r>
                    </a:p>
                  </a:txBody>
                  <a:tcPr>
                    <a:solidFill>
                      <a:srgbClr val="111834"/>
                    </a:solidFill>
                  </a:tcPr>
                </a:tc>
              </a:tr>
              <a:tr h="520000">
                <a:tc>
                  <a:txBody>
                    <a:bodyPr/>
                    <a:lstStyle/>
                    <a:p>
                      <a:r>
                        <a:rPr sz="1400" b="0">
                          <a:solidFill>
                            <a:srgbClr val="E8EEFA"/>
                          </a:solidFill>
                          <a:latin typeface="Segoe UI"/>
                        </a:rPr>
                        <a:t>CPU</a:t>
                      </a:r>
                    </a:p>
                  </a:txBody>
                  <a:tcPr>
                    <a:solidFill>
                      <a:srgbClr val="161F40"/>
                    </a:solidFill>
                  </a:tcPr>
                </a:tc>
                <a:tc>
                  <a:txBody>
                    <a:bodyPr/>
                    <a:lstStyle/>
                    <a:p>
                      <a:r>
                        <a:rPr sz="1400" b="0">
                          <a:solidFill>
                            <a:srgbClr val="E8EEFA"/>
                          </a:solidFill>
                          <a:latin typeface="Segoe UI"/>
                        </a:rPr>
                        <a:t>ALL</a:t>
                      </a:r>
                    </a:p>
                  </a:txBody>
                  <a:tcPr>
                    <a:solidFill>
                      <a:srgbClr val="161F40"/>
                    </a:solidFill>
                  </a:tcPr>
                </a:tc>
                <a:tc>
                  <a:txBody>
                    <a:bodyPr/>
                    <a:lstStyle/>
                    <a:p>
                      <a:r>
                        <a:rPr sz="1400" b="0">
                          <a:solidFill>
                            <a:srgbClr val="E8EEFA"/>
                          </a:solidFill>
                          <a:latin typeface="Segoe UI"/>
                        </a:rPr>
                        <a:t>1</a:t>
                      </a:r>
                    </a:p>
                  </a:txBody>
                  <a:tcPr>
                    <a:solidFill>
                      <a:srgbClr val="161F40"/>
                    </a:solidFill>
                  </a:tcPr>
                </a:tc>
                <a:tc>
                  <a:txBody>
                    <a:bodyPr/>
                    <a:lstStyle/>
                    <a:p>
                      <a:r>
                        <a:rPr sz="1400" b="0">
                          <a:solidFill>
                            <a:srgbClr val="E8EEFA"/>
                          </a:solidFill>
                          <a:latin typeface="Segoe UI"/>
                        </a:rPr>
                        <a:t>29</a:t>
                      </a:r>
                    </a:p>
                  </a:txBody>
                  <a:tcPr>
                    <a:solidFill>
                      <a:srgbClr val="161F40"/>
                    </a:solidFill>
                  </a:tcPr>
                </a:tc>
                <a:tc>
                  <a:txBody>
                    <a:bodyPr/>
                    <a:lstStyle/>
                    <a:p>
                      <a:r>
                        <a:rPr sz="1400" b="0">
                          <a:solidFill>
                            <a:srgbClr val="E8EEFA"/>
                          </a:solidFill>
                          <a:latin typeface="Segoe UI"/>
                        </a:rPr>
                        <a:t>34</a:t>
                      </a:r>
                    </a:p>
                  </a:txBody>
                  <a:tcPr>
                    <a:solidFill>
                      <a:srgbClr val="161F40"/>
                    </a:solidFill>
                  </a:tcPr>
                </a:tc>
                <a:tc>
                  <a:txBody>
                    <a:bodyPr/>
                    <a:lstStyle/>
                    <a:p>
                      <a:r>
                        <a:rPr sz="1400" b="0">
                          <a:solidFill>
                            <a:srgbClr val="E8EEFA"/>
                          </a:solidFill>
                          <a:latin typeface="Segoe UI"/>
                        </a:rPr>
                        <a:t>34</a:t>
                      </a:r>
                    </a:p>
                  </a:txBody>
                  <a:tcPr>
                    <a:solidFill>
                      <a:srgbClr val="161F40"/>
                    </a:solidFill>
                  </a:tcPr>
                </a:tc>
              </a:tr>
              <a:tr h="520000">
                <a:tc>
                  <a:txBody>
                    <a:bodyPr/>
                    <a:lstStyle/>
                    <a:p>
                      <a:r>
                        <a:rPr sz="1400" b="0">
                          <a:solidFill>
                            <a:srgbClr val="E8EEFA"/>
                          </a:solidFill>
                          <a:latin typeface="Segoe UI"/>
                        </a:rPr>
                        <a:t>CUDA (T4)</a:t>
                      </a:r>
                    </a:p>
                  </a:txBody>
                  <a:tcPr>
                    <a:solidFill>
                      <a:srgbClr val="111834"/>
                    </a:solidFill>
                  </a:tcPr>
                </a:tc>
                <a:tc>
                  <a:txBody>
                    <a:bodyPr/>
                    <a:lstStyle/>
                    <a:p>
                      <a:r>
                        <a:rPr sz="1400" b="0">
                          <a:solidFill>
                            <a:srgbClr val="E8EEFA"/>
                          </a:solidFill>
                          <a:latin typeface="Segoe UI"/>
                        </a:rPr>
                        <a:t>ALL</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6,5</a:t>
                      </a:r>
                    </a:p>
                  </a:txBody>
                  <a:tcPr>
                    <a:solidFill>
                      <a:srgbClr val="111834"/>
                    </a:solidFill>
                  </a:tcPr>
                </a:tc>
                <a:tc>
                  <a:txBody>
                    <a:bodyPr/>
                    <a:lstStyle/>
                    <a:p>
                      <a:r>
                        <a:rPr sz="1400" b="0">
                          <a:solidFill>
                            <a:srgbClr val="E8EEFA"/>
                          </a:solidFill>
                          <a:latin typeface="Segoe UI"/>
                        </a:rPr>
                        <a:t>7,8</a:t>
                      </a:r>
                    </a:p>
                  </a:txBody>
                  <a:tcPr>
                    <a:solidFill>
                      <a:srgbClr val="111834"/>
                    </a:solidFill>
                  </a:tcPr>
                </a:tc>
                <a:tc>
                  <a:txBody>
                    <a:bodyPr/>
                    <a:lstStyle/>
                    <a:p>
                      <a:r>
                        <a:rPr sz="1400" b="0">
                          <a:solidFill>
                            <a:srgbClr val="E8EEFA"/>
                          </a:solidFill>
                          <a:latin typeface="Segoe UI"/>
                        </a:rPr>
                        <a:t>150</a:t>
                      </a:r>
                    </a:p>
                  </a:txBody>
                  <a:tcPr>
                    <a:solidFill>
                      <a:srgbClr val="111834"/>
                    </a:solidFill>
                  </a:tcPr>
                </a:tc>
              </a:tr>
              <a:tr h="520000">
                <a:tc>
                  <a:txBody>
                    <a:bodyPr/>
                    <a:lstStyle/>
                    <a:p>
                      <a:r>
                        <a:rPr sz="1400" b="0">
                          <a:solidFill>
                            <a:srgbClr val="E8EEFA"/>
                          </a:solidFill>
                          <a:latin typeface="Segoe UI"/>
                        </a:rPr>
                        <a:t>CUDA (T4)</a:t>
                      </a:r>
                    </a:p>
                  </a:txBody>
                  <a:tcPr>
                    <a:solidFill>
                      <a:srgbClr val="161F40"/>
                    </a:solidFill>
                  </a:tcPr>
                </a:tc>
                <a:tc>
                  <a:txBody>
                    <a:bodyPr/>
                    <a:lstStyle/>
                    <a:p>
                      <a:r>
                        <a:rPr sz="1400" b="0">
                          <a:solidFill>
                            <a:srgbClr val="E8EEFA"/>
                          </a:solidFill>
                          <a:latin typeface="Segoe UI"/>
                        </a:rPr>
                        <a:t>ALL</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22</a:t>
                      </a:r>
                    </a:p>
                  </a:txBody>
                  <a:tcPr>
                    <a:solidFill>
                      <a:srgbClr val="161F40"/>
                    </a:solidFill>
                  </a:tcPr>
                </a:tc>
                <a:tc>
                  <a:txBody>
                    <a:bodyPr/>
                    <a:lstStyle/>
                    <a:p>
                      <a:r>
                        <a:rPr sz="1400" b="0">
                          <a:solidFill>
                            <a:srgbClr val="E8EEFA"/>
                          </a:solidFill>
                          <a:latin typeface="Segoe UI"/>
                        </a:rPr>
                        <a:t>25</a:t>
                      </a:r>
                    </a:p>
                  </a:txBody>
                  <a:tcPr>
                    <a:solidFill>
                      <a:srgbClr val="161F40"/>
                    </a:solidFill>
                  </a:tcPr>
                </a:tc>
                <a:tc>
                  <a:txBody>
                    <a:bodyPr/>
                    <a:lstStyle/>
                    <a:p>
                      <a:r>
                        <a:rPr sz="1400" b="0">
                          <a:solidFill>
                            <a:srgbClr val="E8EEFA"/>
                          </a:solidFill>
                          <a:latin typeface="Segoe UI"/>
                        </a:rPr>
                        <a:t>360</a:t>
                      </a:r>
                    </a:p>
                  </a:txBody>
                  <a:tcPr>
                    <a:solidFill>
                      <a:srgbClr val="161F40"/>
                    </a:solidFill>
                  </a:tcPr>
                </a:tc>
              </a:tr>
              <a:tr h="520000">
                <a:tc>
                  <a:txBody>
                    <a:bodyPr/>
                    <a:lstStyle/>
                    <a:p>
                      <a:r>
                        <a:rPr sz="1400" b="0">
                          <a:solidFill>
                            <a:srgbClr val="E8EEFA"/>
                          </a:solidFill>
                          <a:latin typeface="Segoe UI"/>
                        </a:rPr>
                        <a:t>CUDA (T4)</a:t>
                      </a:r>
                    </a:p>
                  </a:txBody>
                  <a:tcPr>
                    <a:solidFill>
                      <a:srgbClr val="111834"/>
                    </a:solidFill>
                  </a:tcPr>
                </a:tc>
                <a:tc>
                  <a:txBody>
                    <a:bodyPr/>
                    <a:lstStyle/>
                    <a:p>
                      <a:r>
                        <a:rPr sz="1400" b="0">
                          <a:solidFill>
                            <a:srgbClr val="E8EEFA"/>
                          </a:solidFill>
                          <a:latin typeface="Segoe UI"/>
                        </a:rPr>
                        <a:t>ALL</a:t>
                      </a:r>
                    </a:p>
                  </a:txBody>
                  <a:tcPr>
                    <a:solidFill>
                      <a:srgbClr val="111834"/>
                    </a:solidFill>
                  </a:tcPr>
                </a:tc>
                <a:tc>
                  <a:txBody>
                    <a:bodyPr/>
                    <a:lstStyle/>
                    <a:p>
                      <a:r>
                        <a:rPr sz="1400" b="0">
                          <a:solidFill>
                            <a:srgbClr val="E8EEFA"/>
                          </a:solidFill>
                          <a:latin typeface="Segoe UI"/>
                        </a:rPr>
                        <a:t>32</a:t>
                      </a:r>
                    </a:p>
                  </a:txBody>
                  <a:tcPr>
                    <a:solidFill>
                      <a:srgbClr val="111834"/>
                    </a:solidFill>
                  </a:tcPr>
                </a:tc>
                <a:tc>
                  <a:txBody>
                    <a:bodyPr/>
                    <a:lstStyle/>
                    <a:p>
                      <a:r>
                        <a:rPr sz="1400" b="0">
                          <a:solidFill>
                            <a:srgbClr val="E8EEFA"/>
                          </a:solidFill>
                          <a:latin typeface="Segoe UI"/>
                        </a:rPr>
                        <a:t>78</a:t>
                      </a:r>
                    </a:p>
                  </a:txBody>
                  <a:tcPr>
                    <a:solidFill>
                      <a:srgbClr val="111834"/>
                    </a:solidFill>
                  </a:tcPr>
                </a:tc>
                <a:tc>
                  <a:txBody>
                    <a:bodyPr/>
                    <a:lstStyle/>
                    <a:p>
                      <a:r>
                        <a:rPr sz="1400" b="0">
                          <a:solidFill>
                            <a:srgbClr val="E8EEFA"/>
                          </a:solidFill>
                          <a:latin typeface="Segoe UI"/>
                        </a:rPr>
                        <a:t>84</a:t>
                      </a:r>
                    </a:p>
                  </a:txBody>
                  <a:tcPr>
                    <a:solidFill>
                      <a:srgbClr val="111834"/>
                    </a:solidFill>
                  </a:tcPr>
                </a:tc>
                <a:tc>
                  <a:txBody>
                    <a:bodyPr/>
                    <a:lstStyle/>
                    <a:p>
                      <a:r>
                        <a:rPr sz="1400" b="0">
                          <a:solidFill>
                            <a:srgbClr val="E8EEFA"/>
                          </a:solidFill>
                          <a:latin typeface="Segoe UI"/>
                        </a:rPr>
                        <a:t>410</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ONNX Runtime: CPU va GPU provayderlari, optimallashtirish darajalari — kod</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02_ort_bench.py</a:t>
            </a:r>
          </a:p>
          <a:p>
            <a:r>
              <a:rPr sz="1000">
                <a:solidFill>
                  <a:srgbClr val="DBE4F5"/>
                </a:solidFill>
                <a:latin typeface="Consolas"/>
              </a:rPr>
              <a:t>import onnxruntime as ort, numpy as np, time, pandas as pd, sys</a:t>
            </a:r>
          </a:p>
          <a:p>
            <a:r>
              <a:rPr sz="1000">
                <a:solidFill>
                  <a:srgbClr val="DBE4F5"/>
                </a:solidFill>
                <a:latin typeface="Consolas"/>
              </a:rPr>
              <a:t> </a:t>
            </a:r>
          </a:p>
          <a:p>
            <a:r>
              <a:rPr sz="1000">
                <a:solidFill>
                  <a:srgbClr val="DBE4F5"/>
                </a:solidFill>
                <a:latin typeface="Consolas"/>
              </a:rPr>
              <a:t>def bench(path, provider, opt_level, batch=1, takror=100):</a:t>
            </a:r>
          </a:p>
          <a:p>
            <a:r>
              <a:rPr sz="1000">
                <a:solidFill>
                  <a:srgbClr val="DBE4F5"/>
                </a:solidFill>
                <a:latin typeface="Consolas"/>
              </a:rPr>
              <a:t>    so = ort.SessionOptions()</a:t>
            </a:r>
          </a:p>
          <a:p>
            <a:r>
              <a:rPr sz="1000">
                <a:solidFill>
                  <a:srgbClr val="DBE4F5"/>
                </a:solidFill>
                <a:latin typeface="Consolas"/>
              </a:rPr>
              <a:t>    so.graph_optimization_level = opt_level</a:t>
            </a:r>
          </a:p>
          <a:p>
            <a:r>
              <a:rPr sz="1000">
                <a:solidFill>
                  <a:srgbClr val="DBE4F5"/>
                </a:solidFill>
                <a:latin typeface="Consolas"/>
              </a:rPr>
              <a:t>    so.intra_op_num_threads = 8</a:t>
            </a:r>
          </a:p>
          <a:p>
            <a:r>
              <a:rPr sz="1000">
                <a:solidFill>
                  <a:srgbClr val="DBE4F5"/>
                </a:solidFill>
                <a:latin typeface="Consolas"/>
              </a:rPr>
              <a:t>    sess = ort.InferenceSession(path, so, providers=[provider])</a:t>
            </a:r>
          </a:p>
          <a:p>
            <a:r>
              <a:rPr sz="1000">
                <a:solidFill>
                  <a:srgbClr val="DBE4F5"/>
                </a:solidFill>
                <a:latin typeface="Consolas"/>
              </a:rPr>
              <a:t>    x = np.random.rand(batch, 3, 224, 224).astype(np.float32)</a:t>
            </a:r>
          </a:p>
          <a:p>
            <a:r>
              <a:rPr sz="1000">
                <a:solidFill>
                  <a:srgbClr val="DBE4F5"/>
                </a:solidFill>
                <a:latin typeface="Consolas"/>
              </a:rPr>
              <a:t>    for _ in range(10): sess.run(None, {"input": x})</a:t>
            </a:r>
          </a:p>
          <a:p>
            <a:r>
              <a:rPr sz="1000">
                <a:solidFill>
                  <a:srgbClr val="DBE4F5"/>
                </a:solidFill>
                <a:latin typeface="Consolas"/>
              </a:rPr>
              <a:t>    t = []</a:t>
            </a:r>
          </a:p>
          <a:p>
            <a:r>
              <a:rPr sz="1000">
                <a:solidFill>
                  <a:srgbClr val="DBE4F5"/>
                </a:solidFill>
                <a:latin typeface="Consolas"/>
              </a:rPr>
              <a:t>    for _ in range(takror):</a:t>
            </a:r>
          </a:p>
          <a:p>
            <a:r>
              <a:rPr sz="1000">
                <a:solidFill>
                  <a:srgbClr val="DBE4F5"/>
                </a:solidFill>
                <a:latin typeface="Consolas"/>
              </a:rPr>
              <a:t>        t0 = time.perf_counter(); sess.run(None, {"input": x}); t.append(time.perf_counter() - t0)</a:t>
            </a:r>
          </a:p>
          <a:p>
            <a:r>
              <a:rPr sz="1000">
                <a:solidFill>
                  <a:srgbClr val="DBE4F5"/>
                </a:solidFill>
                <a:latin typeface="Consolas"/>
              </a:rPr>
              <a:t>    t = np.array(t) * 1e3</a:t>
            </a:r>
          </a:p>
          <a:p>
            <a:r>
              <a:rPr sz="1000">
                <a:solidFill>
                  <a:srgbClr val="DBE4F5"/>
                </a:solidFill>
                <a:latin typeface="Consolas"/>
              </a:rPr>
              <a:t>    return dict(fayl=path, provider=provider.replace("ExecutionProvider",""), opt=str(opt_level).split(".")[-1],</a:t>
            </a:r>
          </a:p>
          <a:p>
            <a:r>
              <a:rPr sz="1000">
                <a:solidFill>
                  <a:srgbClr val="DBE4F5"/>
                </a:solidFill>
                <a:latin typeface="Consolas"/>
              </a:rPr>
              <a:t>                batch=batch, p50_ms=round(np.percentile(t,50),2), p95_ms=round(np.percentile(t,95),2),</a:t>
            </a:r>
          </a:p>
          <a:p>
            <a:r>
              <a:rPr sz="1000">
                <a:solidFill>
                  <a:srgbClr val="DBE4F5"/>
                </a:solidFill>
                <a:latin typeface="Consolas"/>
              </a:rPr>
              <a:t>                throughput=round(batch / (np.mean(t)/1e3), 1))</a:t>
            </a:r>
          </a:p>
          <a:p>
            <a:r>
              <a:rPr sz="1000">
                <a:solidFill>
                  <a:srgbClr val="DBE4F5"/>
                </a:solidFill>
                <a:latin typeface="Consolas"/>
              </a:rPr>
              <a:t> </a:t>
            </a:r>
          </a:p>
          <a:p>
            <a:r>
              <a:rPr sz="1000">
                <a:solidFill>
                  <a:srgbClr val="DBE4F5"/>
                </a:solidFill>
                <a:latin typeface="Consolas"/>
              </a:rPr>
              <a:t>L = ort.GraphOptimizationLevel</a:t>
            </a:r>
          </a:p>
          <a:p>
            <a:r>
              <a:rPr sz="1000">
                <a:solidFill>
                  <a:srgbClr val="DBE4F5"/>
                </a:solidFill>
                <a:latin typeface="Consolas"/>
              </a:rPr>
              <a:t>qatorlar = []</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INT8 kvantlash ONNX Runtime'da (dinamik va statik)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03_quantize.py</a:t>
            </a:r>
          </a:p>
          <a:p>
            <a:r>
              <a:rPr sz="1000">
                <a:solidFill>
                  <a:srgbClr val="DBE4F5"/>
                </a:solidFill>
                <a:latin typeface="Consolas"/>
              </a:rPr>
              <a:t>import numpy as np, onnx, glob</a:t>
            </a:r>
          </a:p>
          <a:p>
            <a:r>
              <a:rPr sz="1000">
                <a:solidFill>
                  <a:srgbClr val="DBE4F5"/>
                </a:solidFill>
                <a:latin typeface="Consolas"/>
              </a:rPr>
              <a:t>from PIL import Image</a:t>
            </a:r>
          </a:p>
          <a:p>
            <a:r>
              <a:rPr sz="1000">
                <a:solidFill>
                  <a:srgbClr val="DBE4F5"/>
                </a:solidFill>
                <a:latin typeface="Consolas"/>
              </a:rPr>
              <a:t>from onnxruntime.quantization import (quantize_dynamic, quantize_static, QuantType, QuantFormat,</a:t>
            </a:r>
          </a:p>
          <a:p>
            <a:r>
              <a:rPr sz="1000">
                <a:solidFill>
                  <a:srgbClr val="DBE4F5"/>
                </a:solidFill>
                <a:latin typeface="Consolas"/>
              </a:rPr>
              <a:t>                                      CalibrationDataReader, CalibrationMethod)</a:t>
            </a:r>
          </a:p>
          <a:p>
            <a:r>
              <a:rPr sz="1000">
                <a:solidFill>
                  <a:srgbClr val="DBE4F5"/>
                </a:solidFill>
                <a:latin typeface="Consolas"/>
              </a:rPr>
              <a:t>from onnxruntime.quantization.preprocess import quant_pre_process</a:t>
            </a:r>
          </a:p>
          <a:p>
            <a:r>
              <a:rPr sz="1000">
                <a:solidFill>
                  <a:srgbClr val="DBE4F5"/>
                </a:solidFill>
                <a:latin typeface="Consolas"/>
              </a:rPr>
              <a:t> </a:t>
            </a:r>
          </a:p>
          <a:p>
            <a:r>
              <a:rPr sz="1000">
                <a:solidFill>
                  <a:srgbClr val="6EE7B7"/>
                </a:solidFill>
                <a:latin typeface="Consolas"/>
              </a:rPr>
              <a:t># 3a. Oldindan ishlov: shakl inferensi + optimallashtirish (kvantlash sifati uchun tavsiya)</a:t>
            </a:r>
          </a:p>
          <a:p>
            <a:r>
              <a:rPr sz="1000">
                <a:solidFill>
                  <a:srgbClr val="DBE4F5"/>
                </a:solidFill>
                <a:latin typeface="Consolas"/>
              </a:rPr>
              <a:t>quant_pre_process("resnet50_fp32.onnx", "resnet50_prep.onnx")</a:t>
            </a:r>
          </a:p>
          <a:p>
            <a:r>
              <a:rPr sz="1000">
                <a:solidFill>
                  <a:srgbClr val="DBE4F5"/>
                </a:solidFill>
                <a:latin typeface="Consolas"/>
              </a:rPr>
              <a:t> </a:t>
            </a:r>
          </a:p>
          <a:p>
            <a:r>
              <a:rPr sz="1000">
                <a:solidFill>
                  <a:srgbClr val="6EE7B7"/>
                </a:solidFill>
                <a:latin typeface="Consolas"/>
              </a:rPr>
              <a:t># 3b. Dinamik kvantlash — kalibrlashsiz, faqat vaznlar</a:t>
            </a:r>
          </a:p>
          <a:p>
            <a:r>
              <a:rPr sz="1000">
                <a:solidFill>
                  <a:srgbClr val="DBE4F5"/>
                </a:solidFill>
                <a:latin typeface="Consolas"/>
              </a:rPr>
              <a:t>quantize_dynamic("resnet50_prep.onnx", "resnet50_dyn.onnx", weight_type=QuantType.QInt8)</a:t>
            </a:r>
          </a:p>
          <a:p>
            <a:r>
              <a:rPr sz="1000">
                <a:solidFill>
                  <a:srgbClr val="DBE4F5"/>
                </a:solidFill>
                <a:latin typeface="Consolas"/>
              </a:rPr>
              <a:t> </a:t>
            </a:r>
          </a:p>
          <a:p>
            <a:r>
              <a:rPr sz="1000">
                <a:solidFill>
                  <a:srgbClr val="6EE7B7"/>
                </a:solidFill>
                <a:latin typeface="Consolas"/>
              </a:rPr>
              <a:t># 3c. Statik kvantlash — kalibrlash to'plami bilan</a:t>
            </a:r>
          </a:p>
          <a:p>
            <a:r>
              <a:rPr sz="1000">
                <a:solidFill>
                  <a:srgbClr val="DBE4F5"/>
                </a:solidFill>
                <a:latin typeface="Consolas"/>
              </a:rPr>
              <a:t>MEAN = np.array([0.485, 0.456, 0.406], dtype=np.float32)[:, None, None]</a:t>
            </a:r>
          </a:p>
          <a:p>
            <a:r>
              <a:rPr sz="1000">
                <a:solidFill>
                  <a:srgbClr val="DBE4F5"/>
                </a:solidFill>
                <a:latin typeface="Consolas"/>
              </a:rPr>
              <a:t>STD  = np.array([0.229, 0.224, 0.225], dtype=np.float32)[:, None, None]</a:t>
            </a:r>
          </a:p>
          <a:p>
            <a:r>
              <a:rPr sz="1000">
                <a:solidFill>
                  <a:srgbClr val="DBE4F5"/>
                </a:solidFill>
                <a:latin typeface="Consolas"/>
              </a:rPr>
              <a:t>def preprocess(path):</a:t>
            </a:r>
          </a:p>
          <a:p>
            <a:r>
              <a:rPr sz="1000">
                <a:solidFill>
                  <a:srgbClr val="DBE4F5"/>
                </a:solidFill>
                <a:latin typeface="Consolas"/>
              </a:rPr>
              <a:t>    img = Image.open(path).convert("RGB").resize((256, 256)).crop((16, 16, 240, 240))</a:t>
            </a:r>
          </a:p>
          <a:p>
            <a:r>
              <a:rPr sz="1000">
                <a:solidFill>
                  <a:srgbClr val="DBE4F5"/>
                </a:solidFill>
                <a:latin typeface="Consolas"/>
              </a:rPr>
              <a:t>    a = np.asarray(img, dtype=np.float32).transpose(2, 0, 1) / 255.0</a:t>
            </a:r>
          </a:p>
          <a:p>
            <a:r>
              <a:rPr sz="1000">
                <a:solidFill>
                  <a:srgbClr val="DBE4F5"/>
                </a:solidFill>
                <a:latin typeface="Consolas"/>
              </a:rPr>
              <a:t>    return ((a - MEAN) / STD)[None]</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Aniqlikni o'lchash (barcha variantlar uchun umumiy skript)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Aniqlikni o'lchash (barcha variantlar uchun umumiy skript)</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graphicFrame>
        <p:nvGraphicFramePr>
          <p:cNvPr id="21" name="Table 20"/>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Model</a:t>
                      </a:r>
                    </a:p>
                  </a:txBody>
                  <a:tcPr>
                    <a:solidFill>
                      <a:srgbClr val="1C2755"/>
                    </a:solidFill>
                  </a:tcPr>
                </a:tc>
                <a:tc>
                  <a:txBody>
                    <a:bodyPr/>
                    <a:lstStyle/>
                    <a:p>
                      <a:r>
                        <a:rPr sz="1400" b="1">
                          <a:solidFill>
                            <a:srgbClr val="22D3EE"/>
                          </a:solidFill>
                          <a:latin typeface="Segoe UI"/>
                        </a:rPr>
                        <a:t>Hajm, MB</a:t>
                      </a:r>
                    </a:p>
                  </a:txBody>
                  <a:tcPr>
                    <a:solidFill>
                      <a:srgbClr val="1C2755"/>
                    </a:solidFill>
                  </a:tcPr>
                </a:tc>
                <a:tc>
                  <a:txBody>
                    <a:bodyPr/>
                    <a:lstStyle/>
                    <a:p>
                      <a:r>
                        <a:rPr sz="1400" b="1">
                          <a:solidFill>
                            <a:srgbClr val="22D3EE"/>
                          </a:solidFill>
                          <a:latin typeface="Segoe UI"/>
                        </a:rPr>
                        <a:t>CPU p50, ms (batch 1)</a:t>
                      </a:r>
                    </a:p>
                  </a:txBody>
                  <a:tcPr>
                    <a:solidFill>
                      <a:srgbClr val="1C2755"/>
                    </a:solidFill>
                  </a:tcPr>
                </a:tc>
                <a:tc>
                  <a:txBody>
                    <a:bodyPr/>
                    <a:lstStyle/>
                    <a:p>
                      <a:r>
                        <a:rPr sz="1400" b="1">
                          <a:solidFill>
                            <a:srgbClr val="22D3EE"/>
                          </a:solidFill>
                          <a:latin typeface="Segoe UI"/>
                        </a:rPr>
                        <a:t>Top-1, %</a:t>
                      </a:r>
                    </a:p>
                  </a:txBody>
                  <a:tcPr>
                    <a:solidFill>
                      <a:srgbClr val="1C2755"/>
                    </a:solidFill>
                  </a:tcPr>
                </a:tc>
                <a:tc>
                  <a:txBody>
                    <a:bodyPr/>
                    <a:lstStyle/>
                    <a:p>
                      <a:r>
                        <a:rPr sz="1400" b="1">
                          <a:solidFill>
                            <a:srgbClr val="22D3EE"/>
                          </a:solidFill>
                          <a:latin typeface="Segoe UI"/>
                        </a:rPr>
                        <a:t>Aniqlik farqi</a:t>
                      </a:r>
                    </a:p>
                  </a:txBody>
                  <a:tcPr>
                    <a:solidFill>
                      <a:srgbClr val="1C2755"/>
                    </a:solidFill>
                  </a:tcPr>
                </a:tc>
              </a:tr>
              <a:tr h="520000">
                <a:tc>
                  <a:txBody>
                    <a:bodyPr/>
                    <a:lstStyle/>
                    <a:p>
                      <a:r>
                        <a:rPr sz="1400" b="0">
                          <a:solidFill>
                            <a:srgbClr val="E8EEFA"/>
                          </a:solidFill>
                          <a:latin typeface="Segoe UI"/>
                        </a:rPr>
                        <a:t>FP32 (ORT ALL)</a:t>
                      </a:r>
                    </a:p>
                  </a:txBody>
                  <a:tcPr>
                    <a:solidFill>
                      <a:srgbClr val="111834"/>
                    </a:solidFill>
                  </a:tcPr>
                </a:tc>
                <a:tc>
                  <a:txBody>
                    <a:bodyPr/>
                    <a:lstStyle/>
                    <a:p>
                      <a:r>
                        <a:rPr sz="1400" b="0">
                          <a:solidFill>
                            <a:srgbClr val="E8EEFA"/>
                          </a:solidFill>
                          <a:latin typeface="Segoe UI"/>
                        </a:rPr>
                        <a:t>98</a:t>
                      </a:r>
                    </a:p>
                  </a:txBody>
                  <a:tcPr>
                    <a:solidFill>
                      <a:srgbClr val="111834"/>
                    </a:solidFill>
                  </a:tcPr>
                </a:tc>
                <a:tc>
                  <a:txBody>
                    <a:bodyPr/>
                    <a:lstStyle/>
                    <a:p>
                      <a:r>
                        <a:rPr sz="1400" b="0">
                          <a:solidFill>
                            <a:srgbClr val="E8EEFA"/>
                          </a:solidFill>
                          <a:latin typeface="Segoe UI"/>
                        </a:rPr>
                        <a:t>29</a:t>
                      </a:r>
                    </a:p>
                  </a:txBody>
                  <a:tcPr>
                    <a:solidFill>
                      <a:srgbClr val="111834"/>
                    </a:solidFill>
                  </a:tcPr>
                </a:tc>
                <a:tc>
                  <a:txBody>
                    <a:bodyPr/>
                    <a:lstStyle/>
                    <a:p>
                      <a:r>
                        <a:rPr sz="1400" b="0">
                          <a:solidFill>
                            <a:srgbClr val="E8EEFA"/>
                          </a:solidFill>
                          <a:latin typeface="Segoe UI"/>
                        </a:rPr>
                        <a:t>80,3</a:t>
                      </a:r>
                    </a:p>
                  </a:txBody>
                  <a:tcPr>
                    <a:solidFill>
                      <a:srgbClr val="111834"/>
                    </a:solidFill>
                  </a:tcPr>
                </a:tc>
                <a:tc>
                  <a:txBody>
                    <a:bodyPr/>
                    <a:lstStyle/>
                    <a:p>
                      <a:r>
                        <a:rPr sz="1400" b="0">
                          <a:solidFill>
                            <a:srgbClr val="E8EEFA"/>
                          </a:solidFill>
                          <a:latin typeface="Segoe UI"/>
                        </a:rPr>
                        <a:t>—</a:t>
                      </a:r>
                    </a:p>
                  </a:txBody>
                  <a:tcPr>
                    <a:solidFill>
                      <a:srgbClr val="111834"/>
                    </a:solidFill>
                  </a:tcPr>
                </a:tc>
              </a:tr>
              <a:tr h="520000">
                <a:tc>
                  <a:txBody>
                    <a:bodyPr/>
                    <a:lstStyle/>
                    <a:p>
                      <a:r>
                        <a:rPr sz="1400" b="0">
                          <a:solidFill>
                            <a:srgbClr val="E8EEFA"/>
                          </a:solidFill>
                          <a:latin typeface="Segoe UI"/>
                        </a:rPr>
                        <a:t>Dinamik INT8</a:t>
                      </a:r>
                    </a:p>
                  </a:txBody>
                  <a:tcPr>
                    <a:solidFill>
                      <a:srgbClr val="161F40"/>
                    </a:solidFill>
                  </a:tcPr>
                </a:tc>
                <a:tc>
                  <a:txBody>
                    <a:bodyPr/>
                    <a:lstStyle/>
                    <a:p>
                      <a:r>
                        <a:rPr sz="1400" b="0">
                          <a:solidFill>
                            <a:srgbClr val="E8EEFA"/>
                          </a:solidFill>
                          <a:latin typeface="Segoe UI"/>
                        </a:rPr>
                        <a:t>25</a:t>
                      </a:r>
                    </a:p>
                  </a:txBody>
                  <a:tcPr>
                    <a:solidFill>
                      <a:srgbClr val="161F40"/>
                    </a:solidFill>
                  </a:tcPr>
                </a:tc>
                <a:tc>
                  <a:txBody>
                    <a:bodyPr/>
                    <a:lstStyle/>
                    <a:p>
                      <a:r>
                        <a:rPr sz="1400" b="0">
                          <a:solidFill>
                            <a:srgbClr val="E8EEFA"/>
                          </a:solidFill>
                          <a:latin typeface="Segoe UI"/>
                        </a:rPr>
                        <a:t>27</a:t>
                      </a:r>
                    </a:p>
                  </a:txBody>
                  <a:tcPr>
                    <a:solidFill>
                      <a:srgbClr val="161F40"/>
                    </a:solidFill>
                  </a:tcPr>
                </a:tc>
                <a:tc>
                  <a:txBody>
                    <a:bodyPr/>
                    <a:lstStyle/>
                    <a:p>
                      <a:r>
                        <a:rPr sz="1400" b="0">
                          <a:solidFill>
                            <a:srgbClr val="E8EEFA"/>
                          </a:solidFill>
                          <a:latin typeface="Segoe UI"/>
                        </a:rPr>
                        <a:t>80,1</a:t>
                      </a:r>
                    </a:p>
                  </a:txBody>
                  <a:tcPr>
                    <a:solidFill>
                      <a:srgbClr val="161F40"/>
                    </a:solidFill>
                  </a:tcPr>
                </a:tc>
                <a:tc>
                  <a:txBody>
                    <a:bodyPr/>
                    <a:lstStyle/>
                    <a:p>
                      <a:r>
                        <a:rPr sz="1400" b="0">
                          <a:solidFill>
                            <a:srgbClr val="E8EEFA"/>
                          </a:solidFill>
                          <a:latin typeface="Segoe UI"/>
                        </a:rPr>
                        <a:t>−0,2 p.p.</a:t>
                      </a:r>
                    </a:p>
                  </a:txBody>
                  <a:tcPr>
                    <a:solidFill>
                      <a:srgbClr val="161F40"/>
                    </a:solidFill>
                  </a:tcPr>
                </a:tc>
              </a:tr>
              <a:tr h="520000">
                <a:tc>
                  <a:txBody>
                    <a:bodyPr/>
                    <a:lstStyle/>
                    <a:p>
                      <a:r>
                        <a:rPr sz="1400" b="0">
                          <a:solidFill>
                            <a:srgbClr val="E8EEFA"/>
                          </a:solidFill>
                          <a:latin typeface="Segoe UI"/>
                        </a:rPr>
                        <a:t>Statik INT8, per-channel, Percentile</a:t>
                      </a:r>
                    </a:p>
                  </a:txBody>
                  <a:tcPr>
                    <a:solidFill>
                      <a:srgbClr val="111834"/>
                    </a:solidFill>
                  </a:tcPr>
                </a:tc>
                <a:tc>
                  <a:txBody>
                    <a:bodyPr/>
                    <a:lstStyle/>
                    <a:p>
                      <a:r>
                        <a:rPr sz="1400" b="0">
                          <a:solidFill>
                            <a:srgbClr val="E8EEFA"/>
                          </a:solidFill>
                          <a:latin typeface="Segoe UI"/>
                        </a:rPr>
                        <a:t>25</a:t>
                      </a:r>
                    </a:p>
                  </a:txBody>
                  <a:tcPr>
                    <a:solidFill>
                      <a:srgbClr val="111834"/>
                    </a:solidFill>
                  </a:tcPr>
                </a:tc>
                <a:tc>
                  <a:txBody>
                    <a:bodyPr/>
                    <a:lstStyle/>
                    <a:p>
                      <a:r>
                        <a:rPr sz="1400" b="0">
                          <a:solidFill>
                            <a:srgbClr val="E8EEFA"/>
                          </a:solidFill>
                          <a:latin typeface="Segoe UI"/>
                        </a:rPr>
                        <a:t>11 (VNNI bilan), 18 (VNNI'siz)</a:t>
                      </a:r>
                    </a:p>
                  </a:txBody>
                  <a:tcPr>
                    <a:solidFill>
                      <a:srgbClr val="111834"/>
                    </a:solidFill>
                  </a:tcPr>
                </a:tc>
                <a:tc>
                  <a:txBody>
                    <a:bodyPr/>
                    <a:lstStyle/>
                    <a:p>
                      <a:r>
                        <a:rPr sz="1400" b="0">
                          <a:solidFill>
                            <a:srgbClr val="E8EEFA"/>
                          </a:solidFill>
                          <a:latin typeface="Segoe UI"/>
                        </a:rPr>
                        <a:t>79,6</a:t>
                      </a:r>
                    </a:p>
                  </a:txBody>
                  <a:tcPr>
                    <a:solidFill>
                      <a:srgbClr val="111834"/>
                    </a:solidFill>
                  </a:tcPr>
                </a:tc>
                <a:tc>
                  <a:txBody>
                    <a:bodyPr/>
                    <a:lstStyle/>
                    <a:p>
                      <a:r>
                        <a:rPr sz="1400" b="0">
                          <a:solidFill>
                            <a:srgbClr val="E8EEFA"/>
                          </a:solidFill>
                          <a:latin typeface="Segoe UI"/>
                        </a:rPr>
                        <a:t>−0,7 p.p.</a:t>
                      </a:r>
                    </a:p>
                  </a:txBody>
                  <a:tcPr>
                    <a:solidFill>
                      <a:srgbClr val="111834"/>
                    </a:solidFill>
                  </a:tcPr>
                </a:tc>
              </a:tr>
              <a:tr h="520000">
                <a:tc>
                  <a:txBody>
                    <a:bodyPr/>
                    <a:lstStyle/>
                    <a:p>
                      <a:r>
                        <a:rPr sz="1400" b="0">
                          <a:solidFill>
                            <a:srgbClr val="E8EEFA"/>
                          </a:solidFill>
                          <a:latin typeface="Segoe UI"/>
                        </a:rPr>
                        <a:t>Statik INT8, per-tensor, MinMax</a:t>
                      </a:r>
                    </a:p>
                  </a:txBody>
                  <a:tcPr>
                    <a:solidFill>
                      <a:srgbClr val="161F40"/>
                    </a:solidFill>
                  </a:tcPr>
                </a:tc>
                <a:tc>
                  <a:txBody>
                    <a:bodyPr/>
                    <a:lstStyle/>
                    <a:p>
                      <a:r>
                        <a:rPr sz="1400" b="0">
                          <a:solidFill>
                            <a:srgbClr val="E8EEFA"/>
                          </a:solidFill>
                          <a:latin typeface="Segoe UI"/>
                        </a:rPr>
                        <a:t>25</a:t>
                      </a:r>
                    </a:p>
                  </a:txBody>
                  <a:tcPr>
                    <a:solidFill>
                      <a:srgbClr val="161F40"/>
                    </a:solidFill>
                  </a:tcPr>
                </a:tc>
                <a:tc>
                  <a:txBody>
                    <a:bodyPr/>
                    <a:lstStyle/>
                    <a:p>
                      <a:r>
                        <a:rPr sz="1400" b="0">
                          <a:solidFill>
                            <a:srgbClr val="E8EEFA"/>
                          </a:solidFill>
                          <a:latin typeface="Segoe UI"/>
                        </a:rPr>
                        <a:t>11</a:t>
                      </a:r>
                    </a:p>
                  </a:txBody>
                  <a:tcPr>
                    <a:solidFill>
                      <a:srgbClr val="161F40"/>
                    </a:solidFill>
                  </a:tcPr>
                </a:tc>
                <a:tc>
                  <a:txBody>
                    <a:bodyPr/>
                    <a:lstStyle/>
                    <a:p>
                      <a:r>
                        <a:rPr sz="1400" b="0">
                          <a:solidFill>
                            <a:srgbClr val="E8EEFA"/>
                          </a:solidFill>
                          <a:latin typeface="Segoe UI"/>
                        </a:rPr>
                        <a:t>77,8</a:t>
                      </a:r>
                    </a:p>
                  </a:txBody>
                  <a:tcPr>
                    <a:solidFill>
                      <a:srgbClr val="161F40"/>
                    </a:solidFill>
                  </a:tcPr>
                </a:tc>
                <a:tc>
                  <a:txBody>
                    <a:bodyPr/>
                    <a:lstStyle/>
                    <a:p>
                      <a:r>
                        <a:rPr sz="1400" b="0">
                          <a:solidFill>
                            <a:srgbClr val="E8EEFA"/>
                          </a:solidFill>
                          <a:latin typeface="Segoe UI"/>
                        </a:rPr>
                        <a:t>−2,5 p.p.</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Aniqlikni o'lchash (barcha variantlar uchun umumiy skript)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04_accuracy.py — Imagenette/ImageNet val kichik to'plamida top-1 aniqlik</a:t>
            </a:r>
          </a:p>
          <a:p>
            <a:r>
              <a:rPr sz="1000">
                <a:solidFill>
                  <a:srgbClr val="DBE4F5"/>
                </a:solidFill>
                <a:latin typeface="Consolas"/>
              </a:rPr>
              <a:t>import onnxruntime as ort, numpy as np, glob, json, sys</a:t>
            </a:r>
          </a:p>
          <a:p>
            <a:r>
              <a:rPr sz="1000">
                <a:solidFill>
                  <a:srgbClr val="DBE4F5"/>
                </a:solidFill>
                <a:latin typeface="Consolas"/>
              </a:rPr>
              <a:t>from PIL import Image</a:t>
            </a:r>
          </a:p>
          <a:p>
            <a:r>
              <a:rPr sz="1000">
                <a:solidFill>
                  <a:srgbClr val="DBE4F5"/>
                </a:solidFill>
                <a:latin typeface="Consolas"/>
              </a:rPr>
              <a:t>from preprocess_utils import preprocess           # 3-qadamdagi preprocess() ni shu nomli modulga ko'chiring</a:t>
            </a:r>
          </a:p>
          <a:p>
            <a:r>
              <a:rPr sz="1000">
                <a:solidFill>
                  <a:srgbClr val="DBE4F5"/>
                </a:solidFill>
                <a:latin typeface="Consolas"/>
              </a:rPr>
              <a:t>labels = json.load(open("val_labels.json"))      # {fayl_nomi: sinf_indeksi}</a:t>
            </a:r>
          </a:p>
          <a:p>
            <a:r>
              <a:rPr sz="1000">
                <a:solidFill>
                  <a:srgbClr val="DBE4F5"/>
                </a:solidFill>
                <a:latin typeface="Consolas"/>
              </a:rPr>
              <a:t>def top1(path, provider="CPUExecutionProvider", n=1000):</a:t>
            </a:r>
          </a:p>
          <a:p>
            <a:r>
              <a:rPr sz="1000">
                <a:solidFill>
                  <a:srgbClr val="DBE4F5"/>
                </a:solidFill>
                <a:latin typeface="Consolas"/>
              </a:rPr>
              <a:t>    sess = ort.InferenceSession(path, providers=[provider])</a:t>
            </a:r>
          </a:p>
          <a:p>
            <a:r>
              <a:rPr sz="1000">
                <a:solidFill>
                  <a:srgbClr val="DBE4F5"/>
                </a:solidFill>
                <a:latin typeface="Consolas"/>
              </a:rPr>
              <a:t>    togri = 0; files = sorted(labels)[:n]</a:t>
            </a:r>
          </a:p>
          <a:p>
            <a:r>
              <a:rPr sz="1000">
                <a:solidFill>
                  <a:srgbClr val="DBE4F5"/>
                </a:solidFill>
                <a:latin typeface="Consolas"/>
              </a:rPr>
              <a:t>    for f in files:</a:t>
            </a:r>
          </a:p>
          <a:p>
            <a:r>
              <a:rPr sz="1000">
                <a:solidFill>
                  <a:srgbClr val="DBE4F5"/>
                </a:solidFill>
                <a:latin typeface="Consolas"/>
              </a:rPr>
              <a:t>        out = sess.run(None, {"input": preprocess(f"val/{f}")})[0]</a:t>
            </a:r>
          </a:p>
          <a:p>
            <a:r>
              <a:rPr sz="1000">
                <a:solidFill>
                  <a:srgbClr val="DBE4F5"/>
                </a:solidFill>
                <a:latin typeface="Consolas"/>
              </a:rPr>
              <a:t>        togri += int(out.argmax() == labels[f])</a:t>
            </a:r>
          </a:p>
          <a:p>
            <a:r>
              <a:rPr sz="1000">
                <a:solidFill>
                  <a:srgbClr val="DBE4F5"/>
                </a:solidFill>
                <a:latin typeface="Consolas"/>
              </a:rPr>
              <a:t>    return togri / len(files)</a:t>
            </a:r>
          </a:p>
          <a:p>
            <a:r>
              <a:rPr sz="1000">
                <a:solidFill>
                  <a:srgbClr val="DBE4F5"/>
                </a:solidFill>
                <a:latin typeface="Consolas"/>
              </a:rPr>
              <a:t>for p in sys.argv[1:]:</a:t>
            </a:r>
          </a:p>
          <a:p>
            <a:r>
              <a:rPr sz="1000">
                <a:solidFill>
                  <a:srgbClr val="DBE4F5"/>
                </a:solidFill>
                <a:latin typeface="Consolas"/>
              </a:rPr>
              <a:t>    print(f"{p}: top-1 = {top1(p)*100:.2f}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graphicFrame>
        <p:nvGraphicFramePr>
          <p:cNvPr id="24" name="Table 23"/>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Dvigatel</a:t>
                      </a:r>
                    </a:p>
                  </a:txBody>
                  <a:tcPr>
                    <a:solidFill>
                      <a:srgbClr val="1C2755"/>
                    </a:solidFill>
                  </a:tcPr>
                </a:tc>
                <a:tc>
                  <a:txBody>
                    <a:bodyPr/>
                    <a:lstStyle/>
                    <a:p>
                      <a:r>
                        <a:rPr sz="1400" b="1">
                          <a:solidFill>
                            <a:srgbClr val="22D3EE"/>
                          </a:solidFill>
                          <a:latin typeface="Segoe UI"/>
                        </a:rPr>
                        <a:t>p50, ms</a:t>
                      </a:r>
                    </a:p>
                  </a:txBody>
                  <a:tcPr>
                    <a:solidFill>
                      <a:srgbClr val="1C2755"/>
                    </a:solidFill>
                  </a:tcPr>
                </a:tc>
                <a:tc>
                  <a:txBody>
                    <a:bodyPr/>
                    <a:lstStyle/>
                    <a:p>
                      <a:r>
                        <a:rPr sz="1400" b="1">
                          <a:solidFill>
                            <a:srgbClr val="22D3EE"/>
                          </a:solidFill>
                          <a:latin typeface="Segoe UI"/>
                        </a:rPr>
                        <a:t>p95, ms</a:t>
                      </a:r>
                    </a:p>
                  </a:txBody>
                  <a:tcPr>
                    <a:solidFill>
                      <a:srgbClr val="1C2755"/>
                    </a:solidFill>
                  </a:tcPr>
                </a:tc>
                <a:tc>
                  <a:txBody>
                    <a:bodyPr/>
                    <a:lstStyle/>
                    <a:p>
                      <a:r>
                        <a:rPr sz="1400" b="1">
                          <a:solidFill>
                            <a:srgbClr val="22D3EE"/>
                          </a:solidFill>
                          <a:latin typeface="Segoe UI"/>
                        </a:rPr>
                        <a:t>Throughput, rasm/s</a:t>
                      </a:r>
                    </a:p>
                  </a:txBody>
                  <a:tcPr>
                    <a:solidFill>
                      <a:srgbClr val="1C2755"/>
                    </a:solidFill>
                  </a:tcPr>
                </a:tc>
                <a:tc>
                  <a:txBody>
                    <a:bodyPr/>
                    <a:lstStyle/>
                    <a:p>
                      <a:r>
                        <a:rPr sz="1400" b="1">
                          <a:solidFill>
                            <a:srgbClr val="22D3EE"/>
                          </a:solidFill>
                          <a:latin typeface="Segoe UI"/>
                        </a:rPr>
                        <a:t>O'rtacha quvvat, Vt</a:t>
                      </a:r>
                    </a:p>
                  </a:txBody>
                  <a:tcPr>
                    <a:solidFill>
                      <a:srgbClr val="1C2755"/>
                    </a:solidFill>
                  </a:tcPr>
                </a:tc>
                <a:tc>
                  <a:txBody>
                    <a:bodyPr/>
                    <a:lstStyle/>
                    <a:p>
                      <a:r>
                        <a:rPr sz="1400" b="1">
                          <a:solidFill>
                            <a:srgbClr val="22D3EE"/>
                          </a:solidFill>
                          <a:latin typeface="Segoe UI"/>
                        </a:rPr>
                        <a:t>mJ/rasm</a:t>
                      </a:r>
                    </a:p>
                  </a:txBody>
                  <a:tcPr>
                    <a:solidFill>
                      <a:srgbClr val="1C2755"/>
                    </a:solidFill>
                  </a:tcPr>
                </a:tc>
              </a:tr>
              <a:tr h="520000">
                <a:tc>
                  <a:txBody>
                    <a:bodyPr/>
                    <a:lstStyle/>
                    <a:p>
                      <a:r>
                        <a:rPr sz="1400" b="0">
                          <a:solidFill>
                            <a:srgbClr val="E8EEFA"/>
                          </a:solidFill>
                          <a:latin typeface="Segoe UI"/>
                        </a:rPr>
                        <a:t>ORT CUDA FP32 (2-qadam)</a:t>
                      </a:r>
                    </a:p>
                  </a:txBody>
                  <a:tcPr>
                    <a:solidFill>
                      <a:srgbClr val="111834"/>
                    </a:solidFill>
                  </a:tcPr>
                </a:tc>
                <a:tc>
                  <a:txBody>
                    <a:bodyPr/>
                    <a:lstStyle/>
                    <a:p>
                      <a:r>
                        <a:rPr sz="1400" b="0">
                          <a:solidFill>
                            <a:srgbClr val="E8EEFA"/>
                          </a:solidFill>
                          <a:latin typeface="Segoe UI"/>
                        </a:rPr>
                        <a:t>22</a:t>
                      </a:r>
                    </a:p>
                  </a:txBody>
                  <a:tcPr>
                    <a:solidFill>
                      <a:srgbClr val="111834"/>
                    </a:solidFill>
                  </a:tcPr>
                </a:tc>
                <a:tc>
                  <a:txBody>
                    <a:bodyPr/>
                    <a:lstStyle/>
                    <a:p>
                      <a:r>
                        <a:rPr sz="1400" b="0">
                          <a:solidFill>
                            <a:srgbClr val="E8EEFA"/>
                          </a:solidFill>
                          <a:latin typeface="Segoe UI"/>
                        </a:rPr>
                        <a:t>25</a:t>
                      </a:r>
                    </a:p>
                  </a:txBody>
                  <a:tcPr>
                    <a:solidFill>
                      <a:srgbClr val="111834"/>
                    </a:solidFill>
                  </a:tcPr>
                </a:tc>
                <a:tc>
                  <a:txBody>
                    <a:bodyPr/>
                    <a:lstStyle/>
                    <a:p>
                      <a:r>
                        <a:rPr sz="1400" b="0">
                          <a:solidFill>
                            <a:srgbClr val="E8EEFA"/>
                          </a:solidFill>
                          <a:latin typeface="Segoe UI"/>
                        </a:rPr>
                        <a:t>360</a:t>
                      </a:r>
                    </a:p>
                  </a:txBody>
                  <a:tcPr>
                    <a:solidFill>
                      <a:srgbClr val="111834"/>
                    </a:solidFill>
                  </a:tcPr>
                </a:tc>
                <a:tc>
                  <a:txBody>
                    <a:bodyPr/>
                    <a:lstStyle/>
                    <a:p>
                      <a:r>
                        <a:rPr sz="1400" b="0">
                          <a:solidFill>
                            <a:srgbClr val="E8EEFA"/>
                          </a:solidFill>
                          <a:latin typeface="Segoe UI"/>
                        </a:rPr>
                        <a:t>65</a:t>
                      </a:r>
                    </a:p>
                  </a:txBody>
                  <a:tcPr>
                    <a:solidFill>
                      <a:srgbClr val="111834"/>
                    </a:solidFill>
                  </a:tcPr>
                </a:tc>
                <a:tc>
                  <a:txBody>
                    <a:bodyPr/>
                    <a:lstStyle/>
                    <a:p>
                      <a:r>
                        <a:rPr sz="1400" b="0">
                          <a:solidFill>
                            <a:srgbClr val="E8EEFA"/>
                          </a:solidFill>
                          <a:latin typeface="Segoe UI"/>
                        </a:rPr>
                        <a:t>180</a:t>
                      </a:r>
                    </a:p>
                  </a:txBody>
                  <a:tcPr>
                    <a:solidFill>
                      <a:srgbClr val="111834"/>
                    </a:solidFill>
                  </a:tcPr>
                </a:tc>
              </a:tr>
              <a:tr h="520000">
                <a:tc>
                  <a:txBody>
                    <a:bodyPr/>
                    <a:lstStyle/>
                    <a:p>
                      <a:r>
                        <a:rPr sz="1400" b="0">
                          <a:solidFill>
                            <a:srgbClr val="E8EEFA"/>
                          </a:solidFill>
                          <a:latin typeface="Segoe UI"/>
                        </a:rPr>
                        <a:t>TensorRT FP32</a:t>
                      </a:r>
                    </a:p>
                  </a:txBody>
                  <a:tcPr>
                    <a:solidFill>
                      <a:srgbClr val="161F40"/>
                    </a:solidFill>
                  </a:tcPr>
                </a:tc>
                <a:tc>
                  <a:txBody>
                    <a:bodyPr/>
                    <a:lstStyle/>
                    <a:p>
                      <a:r>
                        <a:rPr sz="1400" b="0">
                          <a:solidFill>
                            <a:srgbClr val="E8EEFA"/>
                          </a:solidFill>
                          <a:latin typeface="Segoe UI"/>
                        </a:rPr>
                        <a:t>14</a:t>
                      </a:r>
                    </a:p>
                  </a:txBody>
                  <a:tcPr>
                    <a:solidFill>
                      <a:srgbClr val="161F40"/>
                    </a:solidFill>
                  </a:tcPr>
                </a:tc>
                <a:tc>
                  <a:txBody>
                    <a:bodyPr/>
                    <a:lstStyle/>
                    <a:p>
                      <a:r>
                        <a:rPr sz="1400" b="0">
                          <a:solidFill>
                            <a:srgbClr val="E8EEFA"/>
                          </a:solidFill>
                          <a:latin typeface="Segoe UI"/>
                        </a:rPr>
                        <a:t>15</a:t>
                      </a:r>
                    </a:p>
                  </a:txBody>
                  <a:tcPr>
                    <a:solidFill>
                      <a:srgbClr val="161F40"/>
                    </a:solidFill>
                  </a:tcPr>
                </a:tc>
                <a:tc>
                  <a:txBody>
                    <a:bodyPr/>
                    <a:lstStyle/>
                    <a:p>
                      <a:r>
                        <a:rPr sz="1400" b="0">
                          <a:solidFill>
                            <a:srgbClr val="E8EEFA"/>
                          </a:solidFill>
                          <a:latin typeface="Segoe UI"/>
                        </a:rPr>
                        <a:t>570</a:t>
                      </a:r>
                    </a:p>
                  </a:txBody>
                  <a:tcPr>
                    <a:solidFill>
                      <a:srgbClr val="161F40"/>
                    </a:solidFill>
                  </a:tcPr>
                </a:tc>
                <a:tc>
                  <a:txBody>
                    <a:bodyPr/>
                    <a:lstStyle/>
                    <a:p>
                      <a:r>
                        <a:rPr sz="1400" b="0">
                          <a:solidFill>
                            <a:srgbClr val="E8EEFA"/>
                          </a:solidFill>
                          <a:latin typeface="Segoe UI"/>
                        </a:rPr>
                        <a:t>68</a:t>
                      </a:r>
                    </a:p>
                  </a:txBody>
                  <a:tcPr>
                    <a:solidFill>
                      <a:srgbClr val="161F40"/>
                    </a:solidFill>
                  </a:tcPr>
                </a:tc>
                <a:tc>
                  <a:txBody>
                    <a:bodyPr/>
                    <a:lstStyle/>
                    <a:p>
                      <a:r>
                        <a:rPr sz="1400" b="0">
                          <a:solidFill>
                            <a:srgbClr val="E8EEFA"/>
                          </a:solidFill>
                          <a:latin typeface="Segoe UI"/>
                        </a:rPr>
                        <a:t>119</a:t>
                      </a:r>
                    </a:p>
                  </a:txBody>
                  <a:tcPr>
                    <a:solidFill>
                      <a:srgbClr val="161F40"/>
                    </a:solidFill>
                  </a:tcPr>
                </a:tc>
              </a:tr>
              <a:tr h="520000">
                <a:tc>
                  <a:txBody>
                    <a:bodyPr/>
                    <a:lstStyle/>
                    <a:p>
                      <a:r>
                        <a:rPr sz="1400" b="0">
                          <a:solidFill>
                            <a:srgbClr val="E8EEFA"/>
                          </a:solidFill>
                          <a:latin typeface="Segoe UI"/>
                        </a:rPr>
                        <a:t>TensorRT FP16</a:t>
                      </a:r>
                    </a:p>
                  </a:txBody>
                  <a:tcPr>
                    <a:solidFill>
                      <a:srgbClr val="111834"/>
                    </a:solidFill>
                  </a:tcPr>
                </a:tc>
                <a:tc>
                  <a:txBody>
                    <a:bodyPr/>
                    <a:lstStyle/>
                    <a:p>
                      <a:r>
                        <a:rPr sz="1400" b="0">
                          <a:solidFill>
                            <a:srgbClr val="E8EEFA"/>
                          </a:solidFill>
                          <a:latin typeface="Segoe UI"/>
                        </a:rPr>
                        <a:t>5,2</a:t>
                      </a:r>
                    </a:p>
                  </a:txBody>
                  <a:tcPr>
                    <a:solidFill>
                      <a:srgbClr val="111834"/>
                    </a:solidFill>
                  </a:tcPr>
                </a:tc>
                <a:tc>
                  <a:txBody>
                    <a:bodyPr/>
                    <a:lstStyle/>
                    <a:p>
                      <a:r>
                        <a:rPr sz="1400" b="0">
                          <a:solidFill>
                            <a:srgbClr val="E8EEFA"/>
                          </a:solidFill>
                          <a:latin typeface="Segoe UI"/>
                        </a:rPr>
                        <a:t>5,8</a:t>
                      </a:r>
                    </a:p>
                  </a:txBody>
                  <a:tcPr>
                    <a:solidFill>
                      <a:srgbClr val="111834"/>
                    </a:solidFill>
                  </a:tcPr>
                </a:tc>
                <a:tc>
                  <a:txBody>
                    <a:bodyPr/>
                    <a:lstStyle/>
                    <a:p>
                      <a:r>
                        <a:rPr sz="1400" b="0">
                          <a:solidFill>
                            <a:srgbClr val="E8EEFA"/>
                          </a:solidFill>
                          <a:latin typeface="Segoe UI"/>
                        </a:rPr>
                        <a:t>1540</a:t>
                      </a:r>
                    </a:p>
                  </a:txBody>
                  <a:tcPr>
                    <a:solidFill>
                      <a:srgbClr val="111834"/>
                    </a:solidFill>
                  </a:tcPr>
                </a:tc>
                <a:tc>
                  <a:txBody>
                    <a:bodyPr/>
                    <a:lstStyle/>
                    <a:p>
                      <a:r>
                        <a:rPr sz="1400" b="0">
                          <a:solidFill>
                            <a:srgbClr val="E8EEFA"/>
                          </a:solidFill>
                          <a:latin typeface="Segoe UI"/>
                        </a:rPr>
                        <a:t>70</a:t>
                      </a:r>
                    </a:p>
                  </a:txBody>
                  <a:tcPr>
                    <a:solidFill>
                      <a:srgbClr val="111834"/>
                    </a:solidFill>
                  </a:tcPr>
                </a:tc>
                <a:tc>
                  <a:txBody>
                    <a:bodyPr/>
                    <a:lstStyle/>
                    <a:p>
                      <a:r>
                        <a:rPr sz="1400" b="0">
                          <a:solidFill>
                            <a:srgbClr val="E8EEFA"/>
                          </a:solidFill>
                          <a:latin typeface="Segoe UI"/>
                        </a:rPr>
                        <a:t>45</a:t>
                      </a:r>
                    </a:p>
                  </a:txBody>
                  <a:tcPr>
                    <a:solidFill>
                      <a:srgbClr val="111834"/>
                    </a:solidFill>
                  </a:tcPr>
                </a:tc>
              </a:tr>
              <a:tr h="520000">
                <a:tc>
                  <a:txBody>
                    <a:bodyPr/>
                    <a:lstStyle/>
                    <a:p>
                      <a:r>
                        <a:rPr sz="1400" b="0">
                          <a:solidFill>
                            <a:srgbClr val="E8EEFA"/>
                          </a:solidFill>
                          <a:latin typeface="Segoe UI"/>
                        </a:rPr>
                        <a:t>TensorRT INT8</a:t>
                      </a:r>
                    </a:p>
                  </a:txBody>
                  <a:tcPr>
                    <a:solidFill>
                      <a:srgbClr val="161F40"/>
                    </a:solidFill>
                  </a:tcPr>
                </a:tc>
                <a:tc>
                  <a:txBody>
                    <a:bodyPr/>
                    <a:lstStyle/>
                    <a:p>
                      <a:r>
                        <a:rPr sz="1400" b="0">
                          <a:solidFill>
                            <a:srgbClr val="E8EEFA"/>
                          </a:solidFill>
                          <a:latin typeface="Segoe UI"/>
                        </a:rPr>
                        <a:t>3,1</a:t>
                      </a:r>
                    </a:p>
                  </a:txBody>
                  <a:tcPr>
                    <a:solidFill>
                      <a:srgbClr val="161F40"/>
                    </a:solidFill>
                  </a:tcPr>
                </a:tc>
                <a:tc>
                  <a:txBody>
                    <a:bodyPr/>
                    <a:lstStyle/>
                    <a:p>
                      <a:r>
                        <a:rPr sz="1400" b="0">
                          <a:solidFill>
                            <a:srgbClr val="E8EEFA"/>
                          </a:solidFill>
                          <a:latin typeface="Segoe UI"/>
                        </a:rPr>
                        <a:t>3,5</a:t>
                      </a:r>
                    </a:p>
                  </a:txBody>
                  <a:tcPr>
                    <a:solidFill>
                      <a:srgbClr val="161F40"/>
                    </a:solidFill>
                  </a:tcPr>
                </a:tc>
                <a:tc>
                  <a:txBody>
                    <a:bodyPr/>
                    <a:lstStyle/>
                    <a:p>
                      <a:r>
                        <a:rPr sz="1400" b="0">
                          <a:solidFill>
                            <a:srgbClr val="E8EEFA"/>
                          </a:solidFill>
                          <a:latin typeface="Segoe UI"/>
                        </a:rPr>
                        <a:t>2580</a:t>
                      </a:r>
                    </a:p>
                  </a:txBody>
                  <a:tcPr>
                    <a:solidFill>
                      <a:srgbClr val="161F40"/>
                    </a:solidFill>
                  </a:tcPr>
                </a:tc>
                <a:tc>
                  <a:txBody>
                    <a:bodyPr/>
                    <a:lstStyle/>
                    <a:p>
                      <a:r>
                        <a:rPr sz="1400" b="0">
                          <a:solidFill>
                            <a:srgbClr val="E8EEFA"/>
                          </a:solidFill>
                          <a:latin typeface="Segoe UI"/>
                        </a:rPr>
                        <a:t>69</a:t>
                      </a:r>
                    </a:p>
                  </a:txBody>
                  <a:tcPr>
                    <a:solidFill>
                      <a:srgbClr val="161F40"/>
                    </a:solidFill>
                  </a:tcPr>
                </a:tc>
                <a:tc>
                  <a:txBody>
                    <a:bodyPr/>
                    <a:lstStyle/>
                    <a:p>
                      <a:r>
                        <a:rPr sz="1400" b="0">
                          <a:solidFill>
                            <a:srgbClr val="E8EEFA"/>
                          </a:solidFill>
                          <a:latin typeface="Segoe UI"/>
                        </a:rPr>
                        <a:t>27</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 — kod 1</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1" name="Rounded Rectangle 20"/>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05_trt_build.sh — trtexec vositasi TensorRT bilan birga keladi</a:t>
            </a:r>
          </a:p>
          <a:p>
            <a:r>
              <a:rPr sz="1000">
                <a:solidFill>
                  <a:srgbClr val="DBE4F5"/>
                </a:solidFill>
                <a:latin typeface="Consolas"/>
              </a:rPr>
              <a:t>trtexec --onnx=resnet50_fp32.onnx --saveEngine=rn50_fp32.plan \</a:t>
            </a:r>
          </a:p>
          <a:p>
            <a:r>
              <a:rPr sz="1000">
                <a:solidFill>
                  <a:srgbClr val="DBE4F5"/>
                </a:solidFill>
                <a:latin typeface="Consolas"/>
              </a:rPr>
              <a:t>        --minShapes=input:1x3x224x224 --optShapes=input:8x3x224x224 --maxShapes=input:32x3x224x224 \</a:t>
            </a:r>
          </a:p>
          <a:p>
            <a:r>
              <a:rPr sz="1000">
                <a:solidFill>
                  <a:srgbClr val="DBE4F5"/>
                </a:solidFill>
                <a:latin typeface="Consolas"/>
              </a:rPr>
              <a:t>        --iterations=200 --warmUp=500 --percentile=95 &gt; trt_fp32.log</a:t>
            </a:r>
          </a:p>
          <a:p>
            <a:r>
              <a:rPr sz="1000">
                <a:solidFill>
                  <a:srgbClr val="DBE4F5"/>
                </a:solidFill>
                <a:latin typeface="Consolas"/>
              </a:rPr>
              <a:t>trtexec --onnx=resnet50_fp32.onnx --saveEngine=rn50_fp16.plan --fp16 \</a:t>
            </a:r>
          </a:p>
          <a:p>
            <a:r>
              <a:rPr sz="1000">
                <a:solidFill>
                  <a:srgbClr val="DBE4F5"/>
                </a:solidFill>
                <a:latin typeface="Consolas"/>
              </a:rPr>
              <a:t>        --minShapes=input:1x3x224x224 --optShapes=input:8x3x224x224 --maxShapes=input:32x3x224x224 \</a:t>
            </a:r>
          </a:p>
          <a:p>
            <a:r>
              <a:rPr sz="1000">
                <a:solidFill>
                  <a:srgbClr val="DBE4F5"/>
                </a:solidFill>
                <a:latin typeface="Consolas"/>
              </a:rPr>
              <a:t>        --iterations=200 --warmUp=500 --percentile=95 &gt; trt_fp16.log</a:t>
            </a:r>
          </a:p>
          <a:p>
            <a:r>
              <a:rPr sz="1000">
                <a:solidFill>
                  <a:srgbClr val="6EE7B7"/>
                </a:solidFill>
                <a:latin typeface="Consolas"/>
              </a:rPr>
              <a:t># INT8: Q/DQ tugunli ONNX (3-qadamdagi resnet50_int8.onnx) to'g'ridan-to'g'ri qabul qilinadi</a:t>
            </a:r>
          </a:p>
          <a:p>
            <a:r>
              <a:rPr sz="1000">
                <a:solidFill>
                  <a:srgbClr val="DBE4F5"/>
                </a:solidFill>
                <a:latin typeface="Consolas"/>
              </a:rPr>
              <a:t>trtexec --onnx=resnet50_int8.onnx --saveEngine=rn50_int8.plan --int8 --fp16 \</a:t>
            </a:r>
          </a:p>
          <a:p>
            <a:r>
              <a:rPr sz="1000">
                <a:solidFill>
                  <a:srgbClr val="DBE4F5"/>
                </a:solidFill>
                <a:latin typeface="Consolas"/>
              </a:rPr>
              <a:t>        --minShapes=input:1x3x224x224 --optShapes=input:8x3x224x224 --maxShapes=input:32x3x224x224 \</a:t>
            </a:r>
          </a:p>
          <a:p>
            <a:r>
              <a:rPr sz="1000">
                <a:solidFill>
                  <a:srgbClr val="DBE4F5"/>
                </a:solidFill>
                <a:latin typeface="Consolas"/>
              </a:rPr>
              <a:t>        --iterations=200 --warmUp=500 --percentile=95 &gt; trt_int8.log</a:t>
            </a:r>
          </a:p>
          <a:p>
            <a:r>
              <a:rPr sz="1000">
                <a:solidFill>
                  <a:srgbClr val="DBE4F5"/>
                </a:solidFill>
                <a:latin typeface="Consolas"/>
              </a:rPr>
              <a:t>grep -E "GPU Compute Time|Throughput" trt_*.log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50"/>
                                        <p:tgtEl>
                                          <p:spTgt spid="23"/>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50"/>
                                        <p:tgtEl>
                                          <p:spTgt spid="24"/>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wipe(left)">
                                      <p:cBhvr>
                                        <p:cTn id="34"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 — kod 2</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06_trt_infer.py — Python'dan dvigatelni ishga tushirish va quvvatni o'lchash</a:t>
            </a:r>
          </a:p>
          <a:p>
            <a:r>
              <a:rPr sz="1000">
                <a:solidFill>
                  <a:srgbClr val="DBE4F5"/>
                </a:solidFill>
                <a:latin typeface="Consolas"/>
              </a:rPr>
              <a:t>import tensorrt as trt, pycuda.driver as cuda, pycuda.autoinit, numpy as np, time, threading, subprocess</a:t>
            </a:r>
          </a:p>
          <a:p>
            <a:r>
              <a:rPr sz="1000">
                <a:solidFill>
                  <a:srgbClr val="DBE4F5"/>
                </a:solidFill>
                <a:latin typeface="Consolas"/>
              </a:rPr>
              <a:t> </a:t>
            </a:r>
          </a:p>
          <a:p>
            <a:r>
              <a:rPr sz="1000">
                <a:solidFill>
                  <a:srgbClr val="DBE4F5"/>
                </a:solidFill>
                <a:latin typeface="Consolas"/>
              </a:rPr>
              <a:t>def quvvat_kuzat(stop, natija):</a:t>
            </a:r>
          </a:p>
          <a:p>
            <a:r>
              <a:rPr sz="1000">
                <a:solidFill>
                  <a:srgbClr val="DBE4F5"/>
                </a:solidFill>
                <a:latin typeface="Consolas"/>
              </a:rPr>
              <a:t>    while not stop.is_set():</a:t>
            </a:r>
          </a:p>
          <a:p>
            <a:r>
              <a:rPr sz="1000">
                <a:solidFill>
                  <a:srgbClr val="DBE4F5"/>
                </a:solidFill>
                <a:latin typeface="Consolas"/>
              </a:rPr>
              <a:t>        w = subprocess.run(["nvidia-smi", "--query-gpu=power.draw", "--format=csv,noheader,nounits"],</a:t>
            </a:r>
          </a:p>
          <a:p>
            <a:r>
              <a:rPr sz="1000">
                <a:solidFill>
                  <a:srgbClr val="DBE4F5"/>
                </a:solidFill>
                <a:latin typeface="Consolas"/>
              </a:rPr>
              <a:t>                           capture_output=True, text=True).stdout.strip()</a:t>
            </a:r>
          </a:p>
          <a:p>
            <a:r>
              <a:rPr sz="1000">
                <a:solidFill>
                  <a:srgbClr val="DBE4F5"/>
                </a:solidFill>
                <a:latin typeface="Consolas"/>
              </a:rPr>
              <a:t>        natija.append(float(w)); time.sleep(0.1)</a:t>
            </a:r>
          </a:p>
          <a:p>
            <a:r>
              <a:rPr sz="1000">
                <a:solidFill>
                  <a:srgbClr val="DBE4F5"/>
                </a:solidFill>
                <a:latin typeface="Consolas"/>
              </a:rPr>
              <a:t> </a:t>
            </a:r>
          </a:p>
          <a:p>
            <a:r>
              <a:rPr sz="1000">
                <a:solidFill>
                  <a:srgbClr val="DBE4F5"/>
                </a:solidFill>
                <a:latin typeface="Consolas"/>
              </a:rPr>
              <a:t>def bench(plan, batch=8, takror=300):</a:t>
            </a:r>
          </a:p>
          <a:p>
            <a:r>
              <a:rPr sz="1000">
                <a:solidFill>
                  <a:srgbClr val="DBE4F5"/>
                </a:solidFill>
                <a:latin typeface="Consolas"/>
              </a:rPr>
              <a:t>    logger = trt.Logger(trt.Logger.WARNING)</a:t>
            </a:r>
          </a:p>
          <a:p>
            <a:r>
              <a:rPr sz="1000">
                <a:solidFill>
                  <a:srgbClr val="DBE4F5"/>
                </a:solidFill>
                <a:latin typeface="Consolas"/>
              </a:rPr>
              <a:t>    with open(plan, "rb") as f, trt.Runtime(logger) as rt:</a:t>
            </a:r>
          </a:p>
          <a:p>
            <a:r>
              <a:rPr sz="1000">
                <a:solidFill>
                  <a:srgbClr val="DBE4F5"/>
                </a:solidFill>
                <a:latin typeface="Consolas"/>
              </a:rPr>
              <a:t>        engine = rt.deserialize_cuda_engine(f.read())</a:t>
            </a:r>
          </a:p>
          <a:p>
            <a:r>
              <a:rPr sz="1000">
                <a:solidFill>
                  <a:srgbClr val="DBE4F5"/>
                </a:solidFill>
                <a:latin typeface="Consolas"/>
              </a:rPr>
              <a:t>    ctx = engine.create_execution_context()</a:t>
            </a:r>
          </a:p>
          <a:p>
            <a:r>
              <a:rPr sz="1000">
                <a:solidFill>
                  <a:srgbClr val="DBE4F5"/>
                </a:solidFill>
                <a:latin typeface="Consolas"/>
              </a:rPr>
              <a:t>    ctx.set_input_shape("input", (batch, 3, 224, 224))</a:t>
            </a:r>
          </a:p>
          <a:p>
            <a:r>
              <a:rPr sz="1000">
                <a:solidFill>
                  <a:srgbClr val="DBE4F5"/>
                </a:solidFill>
                <a:latin typeface="Consolas"/>
              </a:rPr>
              <a:t>    h_in = np.random.rand(batch, 3, 224, 224).astype(np.float32); h_out = np.empty((batch, 1000), np.float32)</a:t>
            </a:r>
          </a:p>
          <a:p>
            <a:r>
              <a:rPr sz="1000">
                <a:solidFill>
                  <a:srgbClr val="DBE4F5"/>
                </a:solidFill>
                <a:latin typeface="Consolas"/>
              </a:rPr>
              <a:t>    d_in, d_out = cuda.mem_alloc(h_in.nbytes), cuda.mem_alloc(h_out.nbytes)</a:t>
            </a:r>
          </a:p>
          <a:p>
            <a:r>
              <a:rPr sz="1000">
                <a:solidFill>
                  <a:srgbClr val="DBE4F5"/>
                </a:solidFill>
                <a:latin typeface="Consolas"/>
              </a:rPr>
              <a:t>    ctx.set_tensor_address("input", int(d_in)); ctx.set_tensor_address("logits", int(d_out))</a:t>
            </a:r>
          </a:p>
          <a:p>
            <a:r>
              <a:rPr sz="1000">
                <a:solidFill>
                  <a:srgbClr val="DBE4F5"/>
                </a:solidFill>
                <a:latin typeface="Consolas"/>
              </a:rPr>
              <a:t>    stream = cuda.Stream(); cuda.memcpy_htod_async(d_in, h_in, stream)</a:t>
            </a:r>
          </a:p>
          <a:p>
            <a:r>
              <a:rPr sz="1000">
                <a:solidFill>
                  <a:srgbClr val="DBE4F5"/>
                </a:solidFill>
                <a:latin typeface="Consolas"/>
              </a:rPr>
              <a:t>    for _ in range(20): ctx.execute_async_v3(stream.handle)</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(muqobil, Intel CPU). OpenVINO va NNCF</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Kutilgan natija (8 yadroli Intel CPU, AVX-512 VNNI, taxminiy): FP32 p50 ≈ 24 ms, INT8 p50 ≈ 8 ms (3 baravar), top-1 ≈ 79,8 % (NNCF ning aniqlikni saqlovchi aralash preset'i).</a:t>
            </a:r>
          </a:p>
          <a:p>
            <a:pPr>
              <a:spcBef>
                <a:spcPts val="400"/>
              </a:spcBef>
            </a:pPr>
            <a:r>
              <a:rPr sz="1600">
                <a:solidFill>
                  <a:srgbClr val="AEBBD9"/>
                </a:solidFill>
                <a:latin typeface="Segoe UI"/>
              </a:rPr>
              <a:t>RAPL orqali energiya: FP32 ≈ 1,1 J/rasm, INT8 ≈ 0,38 J/rasm (paketli 65 Vt CPU).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(muqobil, Intel CPU). OpenVINO va NNCF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05_openvino.py</a:t>
            </a:r>
          </a:p>
          <a:p>
            <a:r>
              <a:rPr sz="1000">
                <a:solidFill>
                  <a:srgbClr val="DBE4F5"/>
                </a:solidFill>
                <a:latin typeface="Consolas"/>
              </a:rPr>
              <a:t>import openvino as ov, nncf, numpy as np, time, glob, torch</a:t>
            </a:r>
          </a:p>
          <a:p>
            <a:r>
              <a:rPr sz="1000">
                <a:solidFill>
                  <a:srgbClr val="DBE4F5"/>
                </a:solidFill>
                <a:latin typeface="Consolas"/>
              </a:rPr>
              <a:t>core = ov.Core()</a:t>
            </a:r>
          </a:p>
          <a:p>
            <a:r>
              <a:rPr sz="1000">
                <a:solidFill>
                  <a:srgbClr val="DBE4F5"/>
                </a:solidFill>
                <a:latin typeface="Consolas"/>
              </a:rPr>
              <a:t>model = core.read_model("resnet50_fp32.onnx")</a:t>
            </a:r>
          </a:p>
          <a:p>
            <a:r>
              <a:rPr sz="1000">
                <a:solidFill>
                  <a:srgbClr val="DBE4F5"/>
                </a:solidFill>
                <a:latin typeface="Consolas"/>
              </a:rPr>
              <a:t>calib = nncf.Dataset([preprocess(f) for f in sorted(glob.glob("calib/*.JPEG"))[:300]])</a:t>
            </a:r>
          </a:p>
          <a:p>
            <a:r>
              <a:rPr sz="1000">
                <a:solidFill>
                  <a:srgbClr val="DBE4F5"/>
                </a:solidFill>
                <a:latin typeface="Consolas"/>
              </a:rPr>
              <a:t>q_model = nncf.quantize(model, calib, preset=nncf.QuantizationPreset.MIXED, subset_size=300)</a:t>
            </a:r>
          </a:p>
          <a:p>
            <a:r>
              <a:rPr sz="1000">
                <a:solidFill>
                  <a:srgbClr val="DBE4F5"/>
                </a:solidFill>
                <a:latin typeface="Consolas"/>
              </a:rPr>
              <a:t>ov.save_model(q_model, "resnet50_ov_int8.xml")</a:t>
            </a:r>
          </a:p>
          <a:p>
            <a:r>
              <a:rPr sz="1000">
                <a:solidFill>
                  <a:srgbClr val="DBE4F5"/>
                </a:solidFill>
                <a:latin typeface="Consolas"/>
              </a:rPr>
              <a:t>for nomi, m in (("FP32", model), ("INT8", q_model)):</a:t>
            </a:r>
          </a:p>
          <a:p>
            <a:r>
              <a:rPr sz="1000">
                <a:solidFill>
                  <a:srgbClr val="DBE4F5"/>
                </a:solidFill>
                <a:latin typeface="Consolas"/>
              </a:rPr>
              <a:t>    comp = core.compile_model(m, "CPU", {"PERFORMANCE_HINT": "LATENCY"})</a:t>
            </a:r>
          </a:p>
          <a:p>
            <a:r>
              <a:rPr sz="1000">
                <a:solidFill>
                  <a:srgbClr val="DBE4F5"/>
                </a:solidFill>
                <a:latin typeface="Consolas"/>
              </a:rPr>
              <a:t>    req = comp.create_infer_request(); x = np.random.rand(1, 3, 224, 224).astype(np.float32)</a:t>
            </a:r>
          </a:p>
          <a:p>
            <a:r>
              <a:rPr sz="1000">
                <a:solidFill>
                  <a:srgbClr val="DBE4F5"/>
                </a:solidFill>
                <a:latin typeface="Consolas"/>
              </a:rPr>
              <a:t>    for _ in range(10): req.infer({0: x})</a:t>
            </a:r>
          </a:p>
          <a:p>
            <a:r>
              <a:rPr sz="1000">
                <a:solidFill>
                  <a:srgbClr val="DBE4F5"/>
                </a:solidFill>
                <a:latin typeface="Consolas"/>
              </a:rPr>
              <a:t>    t = []</a:t>
            </a:r>
          </a:p>
          <a:p>
            <a:r>
              <a:rPr sz="1000">
                <a:solidFill>
                  <a:srgbClr val="DBE4F5"/>
                </a:solidFill>
                <a:latin typeface="Consolas"/>
              </a:rPr>
              <a:t>    for _ in range(100):</a:t>
            </a:r>
          </a:p>
          <a:p>
            <a:r>
              <a:rPr sz="1000">
                <a:solidFill>
                  <a:srgbClr val="DBE4F5"/>
                </a:solidFill>
                <a:latin typeface="Consolas"/>
              </a:rPr>
              <a:t>        t0 = time.perf_counter(); req.infer({0: x}); t.append(time.perf_counter()-t0)</a:t>
            </a:r>
          </a:p>
          <a:p>
            <a:r>
              <a:rPr sz="1000">
                <a:solidFill>
                  <a:srgbClr val="DBE4F5"/>
                </a:solidFill>
                <a:latin typeface="Consolas"/>
              </a:rPr>
              <a:t>    print(f"OpenVINO {nomi}: p50 {np.percentile(t,50)*1e3:.1f} ms  p95 {np.percentile(t,95)*1e3:.1f}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Yakuniy jadval va Pareto tahlili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Barcha o'lchovlarni bitta jadvalga yig'ing (konfiguratsiya, apparat, p50, p95, throughput, hajm, top-1, mJ/rasm) va ikki o'qli tahlil qiling: latency–aniqlik va throughput–energiya.</a:t>
            </a:r>
          </a:p>
          <a:p>
            <a:pPr>
              <a:spcBef>
                <a:spcPts val="400"/>
              </a:spcBef>
            </a:pPr>
            <a:r>
              <a:rPr sz="1600">
                <a:solidFill>
                  <a:srgbClr val="AEBBD9"/>
                </a:solidFill>
                <a:latin typeface="Segoe UI"/>
              </a:rPr>
              <a:t>Pareto-optimal nuqtalar — boshqa hech bir konfiguratsiya ikkala ko'rsatkichda ham undan yaxshi bo'lmaganlar.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(5–7 bet): (1) muhit — CPU/GPU modeli, VNNI/Tensor Core mavjudligi, kutubxona versiyalari; (2) eksport natijasi — tugunlar soni, opset, PyTorch bilan maksimal farq; (3) 2-qadam jadvali va optimallashtirish darajalarining izohi; (4) kvantlash jadvali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QAT (PyTorch torch.ao.quantization yoki NNCF) bilan 1–2 epox qayta o'qitib, INT8 aniqligini FP32 ga 0,2 p.p. ichida yaqinlashtirish; yoki Transformer modelini (masalan, DistilBERT) xuddi shu metodika bilan tahlil qilib, dinamik…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graphicFrame>
        <p:nvGraphicFramePr>
          <p:cNvPr id="20" name="Table 19"/>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ONNX eksport to'g'ri (dinamik o'q, tekshiruv, PyTorch bilan moslik)</a:t>
                      </a:r>
                    </a:p>
                  </a:txBody>
                  <a:tcPr>
                    <a:solidFill>
                      <a:srgbClr val="111834"/>
                    </a:solidFill>
                  </a:tcPr>
                </a:tc>
                <a:tc>
                  <a:txBody>
                    <a:bodyPr/>
                    <a:lstStyle/>
                    <a:p>
                      <a:r>
                        <a:rPr sz="1000" b="0">
                          <a:solidFill>
                            <a:srgbClr val="E8EEFA"/>
                          </a:solidFill>
                          <a:latin typeface="Segoe UI"/>
                        </a:rPr>
                        <a:t>10</a:t>
                      </a:r>
                    </a:p>
                  </a:txBody>
                  <a:tcPr>
                    <a:solidFill>
                      <a:srgbClr val="111834"/>
                    </a:solidFill>
                  </a:tcPr>
                </a:tc>
              </a:tr>
              <a:tr h="520000">
                <a:tc>
                  <a:txBody>
                    <a:bodyPr/>
                    <a:lstStyle/>
                    <a:p>
                      <a:r>
                        <a:rPr sz="1000" b="0">
                          <a:solidFill>
                            <a:srgbClr val="E8EEFA"/>
                          </a:solidFill>
                          <a:latin typeface="Segoe UI"/>
                        </a:rPr>
                        <a:t>ONNX Runtime o'lchovlari 4 darajada va paketlar bo'yicha bajarilgan, Little qonuni bilan izohlangan</a:t>
                      </a:r>
                    </a:p>
                  </a:txBody>
                  <a:tcPr>
                    <a:solidFill>
                      <a:srgbClr val="161F40"/>
                    </a:solidFill>
                  </a:tcPr>
                </a:tc>
                <a:tc>
                  <a:txBody>
                    <a:bodyPr/>
                    <a:lstStyle/>
                    <a:p>
                      <a:r>
                        <a:rPr sz="1000" b="0">
                          <a:solidFill>
                            <a:srgbClr val="E8EEFA"/>
                          </a:solidFill>
                          <a:latin typeface="Segoe UI"/>
                        </a:rPr>
                        <a:t>15</a:t>
                      </a:r>
                    </a:p>
                  </a:txBody>
                  <a:tcPr>
                    <a:solidFill>
                      <a:srgbClr val="161F40"/>
                    </a:solidFill>
                  </a:tcPr>
                </a:tc>
              </a:tr>
              <a:tr h="520000">
                <a:tc>
                  <a:txBody>
                    <a:bodyPr/>
                    <a:lstStyle/>
                    <a:p>
                      <a:r>
                        <a:rPr sz="1000" b="0">
                          <a:solidFill>
                            <a:srgbClr val="E8EEFA"/>
                          </a:solidFill>
                          <a:latin typeface="Segoe UI"/>
                        </a:rPr>
                        <a:t>Statik INT8 kvantlash kalibrlash bilan bajarilgan, kamida 2 kalibrlash usuli solishtirilgan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Aniqlik kamida 1000 tasvirda o'lchangan, yo'qotish tahlil qilingan</a:t>
                      </a:r>
                    </a:p>
                  </a:txBody>
                  <a:tcPr>
                    <a:solidFill>
                      <a:srgbClr val="161F40"/>
                    </a:solidFill>
                  </a:tcPr>
                </a:tc>
                <a:tc>
                  <a:txBody>
                    <a:bodyPr/>
                    <a:lstStyle/>
                    <a:p>
                      <a:r>
                        <a:rPr sz="1000" b="0">
                          <a:solidFill>
                            <a:srgbClr val="E8EEFA"/>
                          </a:solidFill>
                          <a:latin typeface="Segoe UI"/>
                        </a:rPr>
                        <a:t>15</a:t>
                      </a:r>
                    </a:p>
                  </a:txBody>
                  <a:tcPr>
                    <a:solidFill>
                      <a:srgbClr val="161F40"/>
                    </a:solidFill>
                  </a:tcPr>
                </a:tc>
              </a:tr>
              <a:tr h="520000">
                <a:tc>
                  <a:txBody>
                    <a:bodyPr/>
                    <a:lstStyle/>
                    <a:p>
                      <a:r>
                        <a:rPr sz="1000" b="0">
                          <a:solidFill>
                            <a:srgbClr val="E8EEFA"/>
                          </a:solidFill>
                          <a:latin typeface="Segoe UI"/>
                        </a:rPr>
                        <a:t>TensorRT (FP32/FP16/INT8) yoki OpenVINO (FP32/INT8) o'lchovlari quvvat bilan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Pareto tahlili va asoslangan tavsiya</a:t>
                      </a:r>
                    </a:p>
                  </a:txBody>
                  <a:tcPr>
                    <a:solidFill>
                      <a:srgbClr val="161F40"/>
                    </a:solidFill>
                  </a:tcPr>
                </a:tc>
                <a:tc>
                  <a:txBody>
                    <a:bodyPr/>
                    <a:lstStyle/>
                    <a:p>
                      <a:r>
                        <a:rPr sz="1000" b="0">
                          <a:solidFill>
                            <a:srgbClr val="E8EEFA"/>
                          </a:solidFill>
                          <a:latin typeface="Segoe UI"/>
                        </a:rPr>
                        <a:t>10</a:t>
                      </a:r>
                    </a:p>
                  </a:txBody>
                  <a:tcPr>
                    <a:solidFill>
                      <a:srgbClr val="161F40"/>
                    </a:solidFill>
                  </a:tcPr>
                </a:tc>
              </a:tr>
              <a:tr h="520000">
                <a:tc>
                  <a:txBody>
                    <a:bodyPr/>
                    <a:lstStyle/>
                    <a:p>
                      <a:r>
                        <a:rPr sz="1000" b="0">
                          <a:solidFill>
                            <a:srgbClr val="E8EEFA"/>
                          </a:solidFill>
                          <a:latin typeface="Segoe UI"/>
                        </a:rPr>
                        <a:t>Hisobot va himoya</a:t>
                      </a:r>
                    </a:p>
                  </a:txBody>
                  <a:tcPr>
                    <a:solidFill>
                      <a:srgbClr val="111834"/>
                    </a:solidFill>
                  </a:tcPr>
                </a:tc>
                <a:tc>
                  <a:txBody>
                    <a:bodyPr/>
                    <a:lstStyle/>
                    <a:p>
                      <a:r>
                        <a:rPr sz="1000" b="0">
                          <a:solidFill>
                            <a:srgbClr val="E8EEFA"/>
                          </a:solidFill>
                          <a:latin typeface="Segoe UI"/>
                        </a:rPr>
                        <a:t>10</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ipe(left)">
                                      <p:cBhvr>
                                        <p:cTn id="16" dur="8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647c865f7367349f.jpg"/>
          <p:cNvPicPr>
            <a:picLocks noChangeAspect="1"/>
          </p:cNvPicPr>
          <p:nvPr/>
        </p:nvPicPr>
        <p:blipFill>
          <a:blip r:embed="rId2"/>
          <a:srcRect t="18917" b="18917"/>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Asurnipal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Mashg'ulot natijalari uch xulosa beradi.</a:t>
            </a:r>
          </a:p>
          <a:p>
            <a:pPr>
              <a:spcBef>
                <a:spcPts val="400"/>
              </a:spcBef>
            </a:pPr>
            <a:r>
              <a:rPr sz="1400">
                <a:solidFill>
                  <a:srgbClr val="AEBBD9"/>
                </a:solidFill>
                <a:latin typeface="Segoe UI"/>
              </a:rPr>
              <a:t>Birinchi: optimallashtirish zanjiri multiplikativ — grafik birlashtirish (1,5×), to'g'ri dvigatel (1,6×), FP16 (2,7×), INT8 (1,7×) ketma-ket qo'llanib, GPU'da 11 baravar, CPU'da 4–5 baravar yaxshilanish beradi, va bu modelni qayta o'qitmasdan erishiladi.</a:t>
            </a:r>
          </a:p>
        </p:txBody>
      </p:sp>
      <p:sp>
        <p:nvSpPr>
          <p:cNvPr id="33" name="Rounded Rectangle 32"/>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Ikkinchi: aniqlik yo'qotishi muhandislik qarorlariga bog'liq — per-tensor MinMax kvantlash 2,5 p.p. yo'qotadi, per-channel Percentile 0,7, QAT esa 0,2 gacha tushiradi; «INT8 aniqlikni buzadi» degan umumiy fikr aslida «yomon kalibrlash aniqlikni buzadi»…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Cheklovlar.</a:t>
            </a:r>
          </a:p>
          <a:p>
            <a:pPr>
              <a:spcBef>
                <a:spcPts val="400"/>
              </a:spcBef>
            </a:pPr>
            <a:r>
              <a:rPr sz="1600">
                <a:solidFill>
                  <a:srgbClr val="AEBBD9"/>
                </a:solidFill>
                <a:latin typeface="Segoe UI"/>
              </a:rPr>
              <a:t>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Muqobil yondashuvlar: kvantlashdan tashqari, siyraklashtirish (pruning; Ampere'da 2:4 strukturali siyraklik Tensor Core'da 2 baravar beradi), bilimni distillash (knowledge distillation; kichikroq talaba model), arxitektura qidiruvi (EfficientNet, MobileNetV3…</a:t>
            </a:r>
          </a:p>
          <a:p>
            <a:pPr>
              <a:spcBef>
                <a:spcPts val="400"/>
              </a:spcBef>
            </a:pPr>
            <a:r>
              <a:rPr sz="1600">
                <a:solidFill>
                  <a:srgbClr val="AEBBD9"/>
                </a:solidFill>
                <a:latin typeface="Segoe UI"/>
              </a:rPr>
              <a:t>Ko'p hollarda eng yaxshi natija — arxitekturani almashtirish: ResNet-50 INT8 (3,1 ms) o'rniga EfficientNet-B0 FP16 (1,5 ms) xuddi shunday aniqlikni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5a01db9c3f5ef7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6" name="Rounded Rectangle 25"/>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Eksportda statik paket o'lchami qoldirish. dynamic_axes ko'rsatilmasa, model faqat batch=1 da ishlaydi va throughput o'lchovi mumkin bo'lmaydi; TensorRT'da esa optimizatsiya profili berilmaydi.</a:t>
            </a:r>
          </a:p>
        </p:txBody>
      </p:sp>
      <p:sp>
        <p:nvSpPr>
          <p:cNvPr id="30" name="Rounded Rectangle 29"/>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Eksportdan keyin mosligini tekshirmaslik. Opset nomuvofiqligi, eval() chaqirilmagani (BatchNorm/Dropout o'qitish rejimida qoladi) yoki tracing'da yo'qolgan shartli tarmoq jim xato beradi. Har doim PyTorch va ORT chiqishlarini np.allclose(..., rtol=1e-3, atol=1e-4) bilan solishtiring.</a:t>
            </a:r>
          </a:p>
        </p:txBody>
      </p:sp>
      <p:sp>
        <p:nvSpPr>
          <p:cNvPr id="34" name="Rounded Rectangle 33"/>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Kalibrlashni tasodifiy shovqin bilan bajarish. Faollashuv diapazonlari real ma'lumotga bog'liq; np.random.rand bilan kalibrlangan model 10–30 p.p. aniqlik yo'qotadi. Kamida 100–500 real, oldindan ishlov berilgan namuna ishlating — va ular o'qitish taqsimotini aks ettirsin.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48</a:t>
            </a:r>
          </a:p>
        </p:txBody>
      </p:sp>
      <p:sp>
        <p:nvSpPr>
          <p:cNvPr id="24" name="Rounded Rectangle 23"/>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7" name="TextBox 26"/>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p:txBody>
      </p:sp>
      <p:sp>
        <p:nvSpPr>
          <p:cNvPr id="28" name="Rounded Rectangle 27"/>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CPU'da INT8 tezlanishini kutib, VNNI/AMX yo'qligini tekshirmaslik. Eski CPU'larda INT8 FP32 dan sekin bo'lishi mumkin (emulatsiya). lscpu | grep -o 'avx512_vnni\|amx' bilan tekshiring.</a:t>
            </a:r>
          </a:p>
        </p:txBody>
      </p:sp>
      <p:sp>
        <p:nvSpPr>
          <p:cNvPr id="32" name="Rounded Rectangle 31"/>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5" name="TextBox 34"/>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sp>
        <p:nvSpPr>
          <p:cNvPr id="23" name="Rounded Rectangle 22"/>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6" name="TextBox 25"/>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Quvvatni bitta nuqtada o'lchash. nvidia-smi o'qishlari 100 ms da yangilanadi va bo'sh/yuklangan holatlar aralashadi. Kamida 10–30 soniyalik yuklama davomida o'rtachani oling, bo'sh quvvatni alohida o'lchang va ikkala ko'rsatkichni hisobotda bering.</a:t>
            </a:r>
          </a:p>
        </p:txBody>
      </p:sp>
      <p:sp>
        <p:nvSpPr>
          <p:cNvPr id="27" name="Rounded Rectangle 26"/>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0" name="TextBox 29"/>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Aniqlikni faqat umumiy top-1 bilan baholash. Kvantlash ba'zi sinflar yoki kam uchraydigan holatlarga nomutanosib ta'sir qilishi mumkin. Sinflar bo'yicha chalkashlik matritsasi (confusion matrix) farqini ham tekshiring — ayniqsa tibbiy va xavfsizlik ilovalarida.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5" name="Rounded Rectangle 24"/>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2"/>
          <a:stretch>
            <a:fillRect/>
          </a:stretch>
        </p:blipFill>
        <p:spPr>
          <a:xfrm>
            <a:off x="8300000" y="1600000"/>
            <a:ext cx="3200000" cy="3200000"/>
          </a:xfrm>
          <a:prstGeom prst="rect">
            <a:avLst/>
          </a:prstGeom>
        </p:spPr>
      </p:pic>
      <p:sp>
        <p:nvSpPr>
          <p:cNvPr id="27" name="TextBox 26"/>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A3 → 🧪 Virtual bajarish (6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ppt_x</p:attrName>
                                        </p:attrNameLst>
                                      </p:cBhvr>
                                      <p:tavLst>
                                        <p:tav tm="0">
                                          <p:val>
                                            <p:strVal val="#ppt_x"/>
                                          </p:val>
                                        </p:tav>
                                        <p:tav tm="100000">
                                          <p:val>
                                            <p:strVal val="#ppt_x"/>
                                          </p:val>
                                        </p:tav>
                                      </p:tavLst>
                                    </p:anim>
                                    <p:anim calcmode="lin" valueType="num">
                                      <p:cBhvr additive="base">
                                        <p:cTn id="29"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7"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9" name="Rectangle 98"/>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1" name="TextBox 100"/>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0"/>
                            </p:stCondLst>
                            <p:childTnLst>
                              <p:par>
                                <p:cTn id="380" presetID="10" presetClass="entr" presetSubtype="0"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childTnLst>
                                </p:cTn>
                              </p:par>
                            </p:childTnLst>
                          </p:cTn>
                        </p:par>
                        <p:par>
                          <p:cTn id="383" fill="hold">
                            <p:stCondLst>
                              <p:cond delay="200"/>
                            </p:stCondLst>
                            <p:childTnLst>
                              <p:par>
                                <p:cTn id="384" presetID="53" presetClass="entr" presetSubtype="16" fill="hold" grpId="0" nodeType="afterEffect">
                                  <p:stCondLst>
                                    <p:cond delay="0"/>
                                  </p:stCondLst>
                                  <p:childTnLst>
                                    <p:set>
                                      <p:cBhvr>
                                        <p:cTn id="385" dur="1" fill="hold">
                                          <p:stCondLst>
                                            <p:cond delay="0"/>
                                          </p:stCondLst>
                                        </p:cTn>
                                        <p:tgtEl>
                                          <p:spTgt spid="98"/>
                                        </p:tgtEl>
                                        <p:attrNameLst>
                                          <p:attrName>style.visibility</p:attrName>
                                        </p:attrNameLst>
                                      </p:cBhvr>
                                      <p:to>
                                        <p:strVal val="visible"/>
                                      </p:to>
                                    </p:set>
                                    <p:animEffect transition="in" filter="fade">
                                      <p:cBhvr>
                                        <p:cTn id="386" dur="550"/>
                                        <p:tgtEl>
                                          <p:spTgt spid="98"/>
                                        </p:tgtEl>
                                      </p:cBhvr>
                                    </p:animEffect>
                                    <p:anim calcmode="lin" valueType="num">
                                      <p:cBhvr additive="base">
                                        <p:cTn id="387" dur="550" fill="hold"/>
                                        <p:tgtEl>
                                          <p:spTgt spid="98"/>
                                        </p:tgtEl>
                                        <p:attrNameLst>
                                          <p:attrName>ppt_w</p:attrName>
                                        </p:attrNameLst>
                                      </p:cBhvr>
                                      <p:tavLst>
                                        <p:tav tm="0">
                                          <p:val>
                                            <p:strVal val="0"/>
                                          </p:val>
                                        </p:tav>
                                        <p:tav tm="100000">
                                          <p:val>
                                            <p:strVal val="#ppt_w"/>
                                          </p:val>
                                        </p:tav>
                                      </p:tavLst>
                                    </p:anim>
                                    <p:anim calcmode="lin" valueType="num">
                                      <p:cBhvr additive="base">
                                        <p:cTn id="388" dur="550" fill="hold"/>
                                        <p:tgtEl>
                                          <p:spTgt spid="98"/>
                                        </p:tgtEl>
                                        <p:attrNameLst>
                                          <p:attrName>ppt_h</p:attrName>
                                        </p:attrNameLst>
                                      </p:cBhvr>
                                      <p:tavLst>
                                        <p:tav tm="0">
                                          <p:val>
                                            <p:strVal val="0"/>
                                          </p:val>
                                        </p:tav>
                                        <p:tav tm="100000">
                                          <p:val>
                                            <p:strVal val="#ppt_h"/>
                                          </p:val>
                                        </p:tav>
                                      </p:tavLst>
                                    </p:anim>
                                  </p:childTnLst>
                                </p:cTn>
                              </p:par>
                            </p:childTnLst>
                          </p:cTn>
                        </p:par>
                        <p:par>
                          <p:cTn id="389" fill="hold">
                            <p:stCondLst>
                              <p:cond delay="350"/>
                            </p:stCondLst>
                            <p:childTnLst>
                              <p:par>
                                <p:cTn id="390" presetID="22" presetClass="entr" presetSubtype="8" fill="hold" grpId="0" nodeType="afterEffect">
                                  <p:stCondLst>
                                    <p:cond delay="0"/>
                                  </p:stCondLst>
                                  <p:childTnLst>
                                    <p:set>
                                      <p:cBhvr>
                                        <p:cTn id="391" dur="1" fill="hold">
                                          <p:stCondLst>
                                            <p:cond delay="0"/>
                                          </p:stCondLst>
                                        </p:cTn>
                                        <p:tgtEl>
                                          <p:spTgt spid="99"/>
                                        </p:tgtEl>
                                        <p:attrNameLst>
                                          <p:attrName>style.visibility</p:attrName>
                                        </p:attrNameLst>
                                      </p:cBhvr>
                                      <p:to>
                                        <p:strVal val="visible"/>
                                      </p:to>
                                    </p:set>
                                    <p:animEffect transition="in" filter="wipe(left)">
                                      <p:cBhvr>
                                        <p:cTn id="393" dur="800"/>
                                        <p:tgtEl>
                                          <p:spTgt spid="99"/>
                                        </p:tgtEl>
                                      </p:cBhvr>
                                    </p:animEffect>
                                  </p:childTnLst>
                                </p:cTn>
                              </p:par>
                            </p:childTnLst>
                          </p:cTn>
                        </p:par>
                        <p:par>
                          <p:cTn id="394" fill="hold">
                            <p:stCondLst>
                              <p:cond delay="500"/>
                            </p:stCondLst>
                            <p:childTnLst>
                              <p:par>
                                <p:cTn id="395" presetID="42" presetClass="entr" presetSubtype="0" fill="hold" grpId="0" nodeType="afterEffect">
                                  <p:stCondLst>
                                    <p:cond delay="0"/>
                                  </p:stCondLst>
                                  <p:childTnLst>
                                    <p:set>
                                      <p:cBhvr>
                                        <p:cTn id="396" dur="1" fill="hold">
                                          <p:stCondLst>
                                            <p:cond delay="0"/>
                                          </p:stCondLst>
                                        </p:cTn>
                                        <p:tgtEl>
                                          <p:spTgt spid="100"/>
                                        </p:tgtEl>
                                        <p:attrNameLst>
                                          <p:attrName>style.visibility</p:attrName>
                                        </p:attrNameLst>
                                      </p:cBhvr>
                                      <p:to>
                                        <p:strVal val="visible"/>
                                      </p:to>
                                    </p:set>
                                    <p:animEffect transition="in" filter="fade">
                                      <p:cBhvr>
                                        <p:cTn id="397" dur="550"/>
                                        <p:tgtEl>
                                          <p:spTgt spid="100"/>
                                        </p:tgtEl>
                                      </p:cBhvr>
                                    </p:animEffect>
                                    <p:anim calcmode="lin" valueType="num">
                                      <p:cBhvr additive="base">
                                        <p:cTn id="398" dur="550" fill="hold"/>
                                        <p:tgtEl>
                                          <p:spTgt spid="100"/>
                                        </p:tgtEl>
                                        <p:attrNameLst>
                                          <p:attrName>ppt_x</p:attrName>
                                        </p:attrNameLst>
                                      </p:cBhvr>
                                      <p:tavLst>
                                        <p:tav tm="0">
                                          <p:val>
                                            <p:strVal val="#ppt_x"/>
                                          </p:val>
                                        </p:tav>
                                        <p:tav tm="100000">
                                          <p:val>
                                            <p:strVal val="#ppt_x"/>
                                          </p:val>
                                        </p:tav>
                                      </p:tavLst>
                                    </p:anim>
                                    <p:anim calcmode="lin" valueType="num">
                                      <p:cBhvr additive="base">
                                        <p:cTn id="399" dur="550" fill="hold"/>
                                        <p:tgtEl>
                                          <p:spTgt spid="100"/>
                                        </p:tgtEl>
                                        <p:attrNameLst>
                                          <p:attrName>ppt_y</p:attrName>
                                        </p:attrNameLst>
                                      </p:cBhvr>
                                      <p:tavLst>
                                        <p:tav tm="0">
                                          <p:val>
                                            <p:strVal val="#ppt_y+.08"/>
                                          </p:val>
                                        </p:tav>
                                        <p:tav tm="100000">
                                          <p:val>
                                            <p:strVal val="#ppt_y"/>
                                          </p:val>
                                        </p:tav>
                                      </p:tavLst>
                                    </p:anim>
                                  </p:childTnLst>
                                </p:cTn>
                              </p:par>
                            </p:childTnLst>
                          </p:cTn>
                        </p:par>
                        <p:par>
                          <p:cTn id="400" fill="hold">
                            <p:stCondLst>
                              <p:cond delay="650"/>
                            </p:stCondLst>
                            <p:childTnLst>
                              <p:par>
                                <p:cTn id="401" presetID="10" presetClass="entr" presetSubtype="0" fill="hold" grpId="0" nodeType="afterEffect">
                                  <p:stCondLst>
                                    <p:cond delay="0"/>
                                  </p:stCondLst>
                                  <p:childTnLst>
                                    <p:set>
                                      <p:cBhvr>
                                        <p:cTn id="402" dur="1" fill="hold">
                                          <p:stCondLst>
                                            <p:cond delay="0"/>
                                          </p:stCondLst>
                                        </p:cTn>
                                        <p:tgtEl>
                                          <p:spTgt spid="101"/>
                                        </p:tgtEl>
                                        <p:attrNameLst>
                                          <p:attrName>style.visibility</p:attrName>
                                        </p:attrNameLst>
                                      </p:cBhvr>
                                      <p:to>
                                        <p:strVal val="visible"/>
                                      </p:to>
                                    </p:set>
                                    <p:animEffect transition="in" filter="fade">
                                      <p:cBhvr>
                                        <p:cTn id="403" dur="550"/>
                                        <p:tgtEl>
                                          <p:spTgt spid="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
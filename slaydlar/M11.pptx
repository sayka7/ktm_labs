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Mavzuning maqsadi — katta til modellarini (Large Language Models, LLM) hisoblash tizimlari muhandisi nuqtai nazaridan o'rganish: Transformer arxitekturasining hisoblash va xotira xususiyatlari qanday, o'qitish va inferens uchun qanday infratuzilma talab qilinadi, bilimni tashqi manbalardan olish (RAG) va agentlar LLM tizimini qanday murakkablashtiradi hamda bularning barchasi GPU klasterlari va yuqori unumdor hisoblash infratuzilmasi talablariga qanday aylanadi. Oldingi ma'ruzalardagi parallel hisoblash (M3), optimallashtirish (M8) va unumdorlik tahlili (M10) bilimlari bu yerda eng murakkab zamonaviy ish yukiga qo'llaniladi.</a:t>
            </a:r>
          </a:p>
          <a:p/>
          <a:p>
            <a:r>
              <a:t>Mavzuni o'zlashtirgach talaba:</a:t>
            </a:r>
          </a:p>
          <a:p/>
          <a:p>
            <a:r>
              <a:t>Transformer blokining tarkibini va uning hisoblash murakkabligini (parametrlar soni, token boshiga FLOP, diqqat mexanizmining kontekst uzunligiga kvadratik bog'liqligi) hisoblab bera oladi.</a:t>
            </a:r>
          </a:p>
          <a:p/>
          <a:p>
            <a:r>
              <a:t>LLM inferensining ikki fazasini (prefill va decode) farqlay oladi, KV-kesh (KV cache) hajmini hisoblay oladi va PagedAttention, uzluksiz partiyalash (continuous batching), spekulyativ dekodlash kabi tizim darajasidagi optimallashtirishlarning mohiyatini tushuntira oladi.</a:t>
            </a:r>
          </a:p>
          <a:p/>
          <a:p>
            <a:r>
              <a:t>RAG arxitekturasini loyihalay oladi: hujjatlarni bo'laklash, embedding modeli, vektor indeks turlari (Flat, IVF, HNSW, PQ) va ularning aniqlik–tezlik–xotira murosasi, qayta saralash.</a:t>
            </a:r>
          </a:p>
          <a:p/>
          <a:p>
            <a:r>
              <a:t>AI agentlarining tuzilishini (rejalashtirish, vosita chaqirish, xotira) va ularning infratuzilmaga qo'yadigan qo'shimcha talablarini (kechikish zanjiri, xavfsizlik, kuzatuv) tavsiflay oladi.</a:t>
            </a:r>
          </a:p>
          <a:p/>
          <a:p>
            <a:r>
              <a:t>Berilgan model va ish yuki uchun GPU klasteri talablarini — xotira, hisoblash, tarmoq o'tkazuvchanligi, saqlash — miqdoriy hisoblab, vLLM kabi xizmat ko'rsatish tizimida amalda ishga tushira oladi.</a:t>
            </a:r>
          </a:p>
          <a:p/>
          <a:p>
            <a:r>
              <a:t>Mavzu fanning TN2 (platformalarni tahlil qilish), TN3 (tizimlarni loyihalash), TN4 (optimallashtirish) va TN6 (xizmatlarni ekspluatatsiya qilish) natijalariga xizmat qiladi hamda 5-mustaqil ta'lim topshirig'i (LLM muhandislik muammolari: prompt engineering, RAG, xavfsizlik, hallutsinatsiya) uchun asos bo'ladi.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Mavzuning maqsadi — katta til modellarini (Large Language Models, LLM) hisoblash tizimlari muhandisi nuqtai nazaridan o'rganish: Transformer arxitekturasining hisoblash va xotira xususiyatlari qanday, o'qitish va inferens uchun qanday infratuzilma talab qilinadi, bilimni tashqi manbalardan olish (RAG) va agentlar LLM tizimini qanday murakkablashtiradi hamda bularning barchasi GPU klasterlari va yuqori unumdor hisoblash infratuzilmasi talablariga qanday aylanadi. Oldingi ma'ruzalardagi parallel hisoblash (M3), optimallashtirish (M8) va unumdorlik tahlili (M10) bilimlari bu yerda eng murakkab zamonaviy ish yukiga qo'llaniladi.</a:t>
            </a:r>
          </a:p>
          <a:p/>
          <a:p>
            <a:r>
              <a:t>Mavzuni o'zlashtirgach talaba:</a:t>
            </a:r>
          </a:p>
          <a:p/>
          <a:p>
            <a:r>
              <a:t>Transformer blokining tarkibini va uning hisoblash murakkabligini (parametrlar soni, token boshiga FLOP, diqqat mexanizmining kontekst uzunligiga kvadratik bog'liqligi) hisoblab bera oladi.</a:t>
            </a:r>
          </a:p>
          <a:p/>
          <a:p>
            <a:r>
              <a:t>LLM inferensining ikki fazasini (prefill va decode) farqlay oladi, KV-kesh (KV cache) hajmini hisoblay oladi va PagedAttention, uzluksiz partiyalash (continuous batching), spekulyativ dekodlash kabi tizim darajasidagi optimallashtirishlarning mohiyatini tushuntira oladi.</a:t>
            </a:r>
          </a:p>
          <a:p/>
          <a:p>
            <a:r>
              <a:t>RAG arxitekturasini loyihalay oladi: hujjatlarni bo'laklash, embedding modeli, vektor indeks turlari (Flat, IVF, HNSW, PQ) va ularning aniqlik–tezlik–xotira murosasi, qayta saralash.</a:t>
            </a:r>
          </a:p>
          <a:p/>
          <a:p>
            <a:r>
              <a:t>AI agentlarining tuzilishini (rejalashtirish, vosita chaqirish, xotira) va ularning infratuzilmaga qo'yadigan qo'shimcha talablarini (kechikish zanjiri, xavfsizlik, kuzatuv) tavsiflay oladi.</a:t>
            </a:r>
          </a:p>
          <a:p/>
          <a:p>
            <a:r>
              <a:t>Berilgan model va ish yuki uchun GPU klasteri talablarini — xotira, hisoblash, tarmoq o'tkazuvchanligi, saqlash — miqdoriy hisoblab, vLLM kabi xizmat ko'rsatish tizimida amalda ishga tushira oladi.</a:t>
            </a:r>
          </a:p>
          <a:p/>
          <a:p>
            <a:r>
              <a:t>Mavzu fanning TN2 (platformalarni tahlil qilish), TN3 (tizimlarni loyihalash), TN4 (optimallashtirish) va TN6 (xizmatlarni ekspluatatsiya qilish) natijalariga xizmat qiladi hamda 5-mustaqil ta'lim topshirig'i (LLM muhandislik muammolari: prompt engineering, RAG, xavfsizlik, hallutsinatsiya) uchun asos bo'ladi.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2017-yilda «Attention Is All You Need» maqolasida taklif qilingan Transformer arxitekturasi dastlab mashina tarjimasi uchun yaratilgan edi; oradan besh yil o'tib u yuz milliardlab parametrli modellar — GPT, Llama, Qwen, Gemma, Mistral — asosida butun bir sanoatni vujudga keltirdi. Bu modellar nafaqat algoritmik yutuq, balki hisoblash tizimlari uchun misli ko'rilmagan sinovdir. Llama 3.1 405B modelini o'qitish uchun Meta 16 000 ta H100 GPU'dan iborat klasterdan foydalangan; 15 trillion token ustida o'qitish o'nlab million GPU-soat talab qilgan. Inferens tomonda esa har bir foydalanuvchi so'rovi GPU xotirasida gigabaytlab KV-keshni band qiladi va millionlab foydalanuvchilarga xizmat ko'rsatish o'ziga xos infratuzilma muammolarini tug'diradi.</a:t>
            </a:r>
          </a:p>
          <a:p/>
          <a:p>
            <a:r>
              <a:t>LLM ish yukining o'ziga xosligi uning ikki yuzliligida. O'qitish va promptni qayta ishlash (prefill) — katta matritsa ko'paytmalari, hisoblash bilan cheklangan, tensor yadrolarini to'liq yuklaydi. Token-token generatsiya (decode) esa har qadamda butun model og'irliklarini xotiradan o'qib, atigi bitta token hisoblaydi — xotira o'tkazuvchanligi bilan cheklangan, M10'da ko'rganimizdek arifmetik intensivligi 1 ga yaqin. Bitta tizim ikkala rejimda samarali ishlashi kerak; bu PagedAttention, uzluksiz partiyalash, FlashAttention kabi tizim darajasidagi ixtirolarni keltirib chiqardi, va ular 2022–2024-yillarda LLM xizmatlarining narxini o'n martalab tushirdi.</a:t>
            </a:r>
          </a:p>
          <a:p/>
          <a:p>
            <a:r>
              <a:t>Shu bilan birga, LLM yolg'iz ishlamaydi. Modelning bilimi o'qitish sanasida to'xtaydi va u tashkilotning ichki hujjatlarini bilmaydi; u ishonchli ko'rinadigan, lekin noto'g'ri javoblar («hallutsinatsiya») berishga moyil. Retrieval-Augmented Generation (RAG) bu muammoni tashqi bilim bazasidan tegishli parchalarni topib, promptga qo'shish orqali hal qiladi — va shu bilan tizimga yangi komponent, vektor bazani kiritadi. Agentlar esa LLM'ni vositalar (qidiruv, kod bajarish, API) bilan jihozlab, ko'p qadamli vazifalarni bajaradi — har qadam yana bir LLM chaqiruvi, demak, kechikish va narx zanjiri. Shunday qilib, «LLM tizimi» bugun model, inferens serveri, vektor baza, vositalar va orkestratsiya qatlamidan iborat taqsimlangan tizim bo'lib, uni loyihalash kompyuter tizimlari muhandisligining markaziy vazifalaridan biriga aylandi.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Dekoder-only Transformer (zamonaviy LLM'larning aksariyati shu turda) L ta bir xil blokdan iborat. Har blok ikki qismdan tuziladi: ko'p boshli o'z-o'ziga diqqat (multi-head self-attention) va pozitsiya bo'yicha to'liq bog'langan tarmoq (feed-forward network, FFN), har biri qoldiq bog'lanish (residual) va normalizatsiya (LayerNorm yoki RMSNorm) bilan o'ralgan. Diqqat mexanizmi har token uchun so'rov (Q), kalit (K) va qiymat (V) vektorlarini d_model × d_model proyeksiyalar orqali hisoblaydi, so'ngra softmax(QKᵀ / √d_k) · V ifodasini bajaradi. Mohiyati: har token kontekstdagi barcha oldingi tokenlar bilan «mosligini» hisoblab, ularning qiymatlarini vaznli yig'adi. FFN odatda d_model → 4·d_model → d_model (yoki SwiGLU variantida 8/3·d_model) o'lchamli ikki chiziqli qatlam. Pozitsiya ma'lumoti RoPE (rotary position embedding) orqali Q va K'ga kiritiladi.</a:t>
            </a:r>
          </a:p>
          <a:p/>
          <a:p>
            <a:r>
              <a:t>Parametrlar soni taxminan P ≈ 12 · L · d_model² (diqqat 4·d², FFN 8·d²) plus embedding V · d_model. Masalan, Llama 2 7B: L = 32, d_model = 4096 → 12 · 32 · 4096² ≈ 6,4 milliard, embedding bilan ≈ 6,7 milliard. Token boshiga hisoblash: har parametr bitta ko'paytirish-qo'shish, ya'ni ≈ 2P FLOP (oldinga), o'qitishda orqaga tarqatish bilan ≈ 6P FLOP. Diqqatning o'zi qo'shimcha 4 · L · n · d_model FLOP (n — kontekst uzunligi) talab qiladi, bu uzun kontekstda (n ≫ d) ustun kela boshlaydi va QKᵀ matritsasi n² xotira talab qiladi — n = 32 000 da bitta bosh uchun 2 GB FP16. FlashAttention (Dao va boshq., 2022) bu matritsani hech qachon HBM'ga yozmasdan, bloklab SRAM'da hisoblaydi: FLOP soni o'zgarmaydi, lekin xotira murojaatlari O(n²) dan O(n) ga tushadi va amalda 2–4 marta tezlashish beradi — Roofline tilida bu arifmetik intensivlikni oshirish.</a:t>
            </a:r>
          </a:p>
          <a:p/>
          <a:p>
            <a:r>
              <a:t>Zamonaviy modellarda KV-keshni kamaytirish uchun guruhlangan so'rov diqqati (grouped-query attention, GQA) ishlatiladi: 32 ta Q boshiga atigi 8 ta K/V boshi to'g'ri keladi (Llama 3, Mistral). Aralash ekspertlar (mixture of experts, MoE) arxitekturasida FFN bir nechta «ekspert»ga bo'linadi va har token uchun faqat 2 tasi faollashadi (Mixtral 8×7B: 47 milliard parametr, token boshiga 13 milliard faol) — bu hisoblashni kamaytiradi, lekin xotira talabini emas, va ekspertlar o'rtasida yuk muvozanati muammosini tug'diradi.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O'qitish narxi oddiy formula bilan baholanadi: C ≈ 6 · P · D FLOP, bu yerda D — o'qitish tokenlari soni. Chinchilla tadqiqoti (Hoffmann va boshq., 2022) berilgan hisoblash byudjetida optimal nisbat D ≈ 20 · P ekanini ko'rsatdi, biroq inferens narxini hisobga olgan zamonaviy modellar ancha ko'proq tokenda o'qitiladi (Llama 3 8B — 15 trillion, ya'ni D ≈ 1900 · P). Misol: 70 milliard parametrli modelni 15 trillion tokenda o'qitish 6 · 7·10¹⁰ · 1,5·10¹³ ≈ 6,3·10²⁴ FLOP. H100'ning BF16 cho'qqisi 989 TFLOPS, real MFU 40 foiz → ≈ 400 TFLOPS → 1,6·10¹⁰ GPU-sekund ≈ 4,4 million GPU-soat; 4096 GPU'da ≈ 45 kun. Meta'ning Llama 3 70B uchun e'lon qilgan ≈ 6,4 million GPU-soati shu tartibda (pastroq MFU va nosozliklar bilan). O'qitishda xotira talabi parametr boshiga ≈ 16 bayt (BF16 og'irlik 2 + BF16 gradient 2 + FP32 asosiy nusxa 4 + Adam momentlari 8) plus faollashuvlar: 70B uchun faqat holatlar 1,1 TB — bu bitta GPU'ga sig'maydi, shuning uchun ZeRO/FSDP (holatlarni GPU'lar o'rtasida bo'lish), tensor parallelizm (qatlam ichida), konveyer parallelizmi (qatlamlar bo'yicha) va ma'lumot parallelizmi birgalikda — «3D parallelizm» — ishlatiladi.</a:t>
            </a:r>
          </a:p>
          <a:p/>
          <a:p>
            <a:r>
              <a:t>Inferens ikki fazadan iborat. Prefill — promptning barcha tokenlarini bir vaqtda qayta ishlash: n_prompt tokenli prompt uchun 2 · P · n_prompt FLOP, katta matritsalar, compute-bound; u birinchi tokengacha vaqtni (TTFT) belgilaydi. Decode — har qadamda bitta token generatsiya: 2P FLOP, lekin barcha og'irliklar (2P bayt FP16'da) va KV-kesh o'qiladi, memory-bound; u tokenlar orasidagi vaqtni belgilaydi. Shuning uchun bitta ketma-ketlik uchun maksimal tezlik ≈ B_HBM / (model hajmi): 8B FP16 model (16 GB) A100 80 GB'da (2039 GB/s) ≈ 127 token/s nazariy chegara, amalda 80–100. Throughput'ni oshirishning yagona yo'li — ko'p ketma-ketlikni bir vaqtda dekodlash (partiyalash): og'irliklar bir marta o'qiladi, 32 token hisoblanadi; intensivlik 32 marta oshadi.</a:t>
            </a:r>
          </a:p>
          <a:p/>
          <a:p>
            <a:r>
              <a:t>KV-kesh — dekodlashda har qadamda oldingi tokenlarning K va V vektorlarini qayta hisoblamaslik uchun saqlanadigan xotira. Token boshiga hajmi: 2 · L · n_kv_heads · d_head · bayt. Llama 2 7B (MHA, 32 bosh): 2 · 32 · 32 · 128 · 2 = 512 KB/token; Llama 3.1 8B (GQA, 8 bosh): 2 · 32 · 8 · 128 · 2 = 128 KB/token; Llama 3.1 70B: 2 · 80 · 8 · 128 · 2 = 320 KB/token. 8 000 tokenli kontekst 8B model uchun 1 GB, 70B uchun 2,5 GB — bitta foydalanuvchi uchun. 80 GB GPU'da 8B model (16 GB) qolgan 60 GB'ga ≈ 60 ta 8K-kontekstli ketma-ketlik sig'dira oladi. Muammo shundaki, an'anaviy tizimlar har ketma-ketlik uchun maksimal uzunlikka xotira oldindan ajratadi va 60–80 foizi isrof bo'ladi. vLLM tizimidagi PagedAttention (Kwon va boshq., 2023) operatsion tizim virtual xotirasi g'oyasini oladi: KV-kesh belgilangan hajmli «sahifa»larga (masalan, 16 token) bo'linadi, ketma-ketlik o'sgan sari sahifalar kerak bo'lganda ajratiladi, bir xil prefiksli so'rovlar sahifalarni bo'lishadi. Natija — xotira isrofi 4 foizdan kam, throughput 2–4 marta yuqori.</a:t>
            </a:r>
          </a:p>
          <a:p/>
          <a:p>
            <a:r>
              <a:t>Ikkinchi asosiy optimallashtirish — uzluksiz partiyalash (continuous batching, Orca tizimidan): partiya butun so'rovlar darajasida emas, iteratsiya darajasida tuziladi; bitta ketma-ketlik tugashi bilan uning o'rnini navbatdagi so'rov egallaydi, GPU hech qachon qisqa so'rovlar tugashini kutmaydi. Uchinchisi — spekulyativ dekodlash (speculative decoding): kichik «qoralama» model bir necha tokenni tez taklif qiladi, katta model ularni bitta prefill-ga o'xshash qadamda parallel tekshiradi; decode memory-bound bo'lgani uchun 4 tokenni tekshirish 1 tokenni hisoblash bilan deyarli bir xil vaqt oladi, natijada 2–3 marta tezlashish, chiqish taqsimoti esa aynan saqlanadi. To'rtinchisi — kvantlash: og'irliklarni INT8/INT4 (GPTQ, AWQ) yoki FP8'ga o'tkazish xotirani va shu bilan decode vaqtini 2–4 marta kamaytiradi; KV-keshni FP8'ga kvantlash sig'imni ikki marta oshiradi. Beshinchisi — prefiks keshlash: tizim prompti yoki umumiy hujjat prefiksining KV-keshi so'rovlar o'rtasida saqlanadi, TTFT keskin tushadi.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(Lewis va boshq., 2020) tizimi ikki bosqichda ishlaydi. Tayyorgarlik (indekslash): hujjatlar bo'laklarga (chunk, odatda 200–1000 token, qisman ustma-ust) bo'linadi, har bo'lak embedding modeli orqali zich vektorga (384–1024 o'lcham) aylantiriladi va vektor indeksga yoziladi. So'rov vaqtida: foydalanuvchi savoli xuddi shu model bilan vektorga aylantiriladi, indeksdan eng yaqin k bo'lak (odatda kosinus o'xshashligi bo'yicha) topiladi, ular promptga kontekst sifatida qo'shiladi va LLM javob yaratadi. Afzalliklari: modelni qayta o'qitmasdan bilimni yangilash, javobni manbaga bog'lash (iqtibos), hallutsinatsiyani kamaytirish, maxfiy hujjatlarni model og'irliklariga kiritmaslik. Sifat zanjirning eng zaif bo'g'ini bilan belgilanadi: yomon bo'laklash yoki mos kelmaydigan embedding modeli har qanday LLM'ni foydasiz qiladi.</a:t>
            </a:r>
          </a:p>
          <a:p/>
          <a:p>
            <a:r>
              <a:t>Vektor qidiruvning markaziy masalasi — N ta d-o'lchamli vektor orasidan so'rovga eng yaqin k tasini tez topish. To'liq qidiruv (Flat, brute force) O(N · d) — 1 million × 768 o'lcham uchun GPU'da bir necha millisekund, lekin 100 million uchun sekin va 300 GB xotira. Taxminiy eng yaqin qo'shni (approximate nearest neighbor, ANN) indekslari aniqlikning bir qismini tezlik va xotiraga almashtiradi. IVF (inverted file): vektorlar k-means bilan n_list klasterga bo'linadi, so'rov vaqtida faqat n_probe eng yaqin klaster tekshiriladi — tezlik 10–100 marta, recall n_probe bilan sozlanadi. HNSW (hierarchical navigable small world): ko'p qatlamli graf, qidiruv yuqori qatlamdan pastga «yo'l topib» tushadi — eng yuqori recall/tezlik nisbati, lekin xotira hajmi katta (vektor + graf qirralari) va qurish sekin. PQ (product quantization): vektor m sub-vektorga bo'linib, har biri 256 ta kod bilan kvantlanadi — 768 o'lchamli FP32 vektor (3 KB) 96 baytga siqiladi, xotira 32 marta kamayadi, recall biroz tushadi. Amaliyotda kombinatsiyalar ishlatiladi: IVF4096,PQ64 yuz millionlab vektor uchun, HNSW32 o'n millionlargacha.</a:t>
            </a:r>
          </a:p>
          <a:p/>
          <a:p>
            <a:r>
              <a:t>Vektor baza (vector database) — indeks ustiga metama'lumot filtrlash, CRUD, persistentlik, replikatsiya va API qo'shadigan tizim. FAISS (Meta) — kutubxona, baza emas: eng tez va moslashuvchan, GPU qo'llab-quvvatlaydi, lekin saqlash va filtrlashni o'zingiz yozasiz. Chroma — yengil, Python'ga joylashtiriladigan, prototiplar uchun qulay (ichida HNSW). Milvus, Qdrant, Weaviate — taqsimlangan, ishlab chiqarish darajasidagi serverlar; pgvector — PostgreSQL kengaytmasi, mavjud relyatsion ma'lumot bilan birga saqlash uchun. Tanlov mezonlari: vektorlar soni (10⁶ — har qanday, 10⁹ — faqat taqsimlangan), filtrlash murakkabligi, yangilanish chastotasi, mavjud infratuzilma. Sifatni oshirish usullari: gibrid qidiruv (zich vektor + BM25 kalit so'z, natijalar RRF bilan birlashtiriladi), qayta saralash (cross-encoder reranker, masalan bge-reranker, top-50 ni top-5 ga qisqartiradi, aniqlikni sezilarli oshiradi, lekin har juftlik uchun model chaqiruvi), so'rovni qayta yozish, ierarxik bo'laklash.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 LLM'ni qaror qabul qiluvchi «miya» sifatida ishlatuvchi, vositalar (tools) bilan muhit bilan o'zaro ta'sir qiluvchi va ko'p qadamli vazifalarni bajaruvchi tizim. ReAct naqshi (reasoning + acting) asosiy sikl: model fikrlaydi, vosita chaqiruvini tuziladigan formatda (JSON) chiqaradi, tizim vositani bajaradi (qidiruv, kod, SQL, API), natija promptga qaytariladi, sikl takrorlanadi. Zamonaviy modellar vosita chaqirishga maxsus o'qitilgan (function calling); Model Context Protocol (MCP) kabi standartlar vositalarni tavsiflash va ulashni birxillashtiradi. Agent xotirasi qisqa muddatli (kontekst oynasi) va uzoq muddatli (vektor baza — RAG agentning xotirasi bo'ladi) qismlardan iborat.</a:t>
            </a:r>
          </a:p>
          <a:p/>
          <a:p>
            <a:r>
              <a:t>Infratuzilma nuqtai nazaridan agentlar uch yangi talab qo'yadi. Birinchidan, kechikish zanjiri: bitta foydalanuvchi vazifasi 5–20 ta LLM chaqiruvi va vosita bajarilishidan iborat, umumiy vaqt o'nlab soniya; shuning uchun har chaqiruvning TTFT va prefiks keshlash hal qiluvchi, oqimli (streaming) javob va parallel vosita chaqiruvi zarur. Ikkinchidan, xavfsizlik: agent haqiqiy amallar bajaradi (fayl o'chirish, pul o'tkazish, xat yuborish), bilvosita prompt injection (M9) orqali uni aldash mumkin — vositalarga eng kam imtiyoz, sandbox (konteyner) ichida kod bajarish, qaytarib bo'lmaydigan amallar uchun inson tasdig'i majburiy. Uchinchidan, kuzatuv (observability): har qadam — prompt, javob, vosita kirish-chiqishi, token sarfi, kechikish — izlanadi (tracing, masalan OpenTelemetry asosida), aks holda nosozlikni topib bo'lmaydi va narxni nazorat qilib bo'lmaydi. Ko'p agentli tizimlarda (bir agent rejalashtiradi, boshqalar bajaradi) bu talablar ko'payadi va orkestratsiya qatlami (navbatlar, holat mashinasi, qayta urinish) kerak bo'ladi.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infratuzilmasini loyihalash to'rt resursni muvozanatlashdan boshlanadi: GPU xotirasi, hisoblash, tugunlar ichidagi va orasidagi tarmoq, saqlash. Xotira talabi inferens uchun: og'irliklar (P × bayt) + KV-kesh (foydalanuvchilar × kontekst × token boshiga KB) + faollashuvlar (5–10 %). 70B FP16: 140 GB og'irlik — 2 ta H100 80 GB'ga tensor parallelizm bilan sig'adi, lekin KV-kesh uchun joy qolmaydi; 4 ta H100 (320 GB) bilan 180 GB kesh → ≈ 70 ta 8K ketma-ketlik; FP8'da 70 GB og'irlik va 2 ta GPU amaliy minimal. 405B FP16: 810 GB — 8 ta H100 (640 GB) yetmaydi, FP8'da 405 GB — bitta 8-GPU tugun to'liq band. Tensor parallelizm tugun ichida qoladi, chunki har qatlamda all-reduce talab qiladi va NVLink (H100: 900 GB/s ikki tomonlama) kerak; PCIe Gen5 (128 GB/s) orqali tensor parallelizm 3–5 marta sekin.</a:t>
            </a:r>
          </a:p>
          <a:p/>
          <a:p>
            <a:r>
              <a:t>O'qitish klasteri uchun tugun — standart birlik: DGX H100 (8 × H100 SXM 80 GB, NVSwitch orqali to'liq bog'langan, 2 × Intel Xeon, 2 TB RAM, 8 × 400 Gb/s InfiniBand NDR adapter — har GPU'ga bittadan, ≈ 10 kW). Tugunlar orasidagi tarmoq ma'lumot parallelizmidagi gradient all-reduce'ni va konveyer parallelizmidagi faollashuv uzatishni ko'taradi; 70B modelning BF16 gradientlari 140 GB — har qadamda ring all-reduce bilan har tugun 2 × 140 GB × (N−1)/N uzatadi, 400 Gb/s × 8 = 3,2 Tb/s = 400 GB/s tugun o'tkazuvchanligida ≈ 0,7 soniya, bu hisoblash bilan ustma-ust qo'yilishi shart. Tarmoq topologiyasi — rail-optimized fat-tree yoki Dragonfly, RDMA (GPUDirect RDMA bilan GPU xotirasidan to'g'ridan-to'g'ri tarmoqqa). Saqlash: o'qitish to'plami (15T token ≈ 60 TB matn) va nazorat nuqtalari (checkpoint; 70B uchun optimizator holati bilan ≈ 1 TB, har 30–60 daqiqada yoziladi) parallel fayl tizimiga (Lustre, GPFS, yoki obyekt saqlash + lokal NVMe kesh) 10–100 GB/s tezlikda yoziladi. Ishonchlilik: 16 000 GPU'li klasterda Meta 54 kunlik o'qitish davomida 466 ta uzilishni qayd etgan (asosan GPU va HBM nosozliklari) — avtomatik nazorat nuqtasidan tiklash va nosoz tugunni almashtirish infratuzilmaning bir qismi.</a:t>
            </a:r>
          </a:p>
          <a:p/>
          <a:p>
            <a:r>
              <a:t>Energiya va joylashtirish: 1 000 ta H100 ≈ 1,3 MW IT quvvat, PUE 1,2 bilan 1,6 MW; suyuqlik sovutish 700 vattlik GPU'lar uchun standartga aylanmoqda. Dasturiy stek: konteynerlar (NVIDIA NGC obrazlari), orkestratsiya (Slurm — HPC an'anasi, Kubernetes + GPU Operator — bulut an'anasi, Ray — Python-markaziy), o'qitish freymvorklari (Megatron-LM, DeepSpeed, PyTorch FSDP), inferens serverlari (vLLM, TensorRT-LLM, SGLang, Triton Inference Server), monitoring (DCGM eksportchi, Prometheus, Grafana). Bulut va o'z infratuzilma tanlovi: H100 bulutda soatiga 2–4 dollar (2025), 1000 GPU'li klaster yiliga 20–35 million dollar; sotib olish va joylashtirish 3 yilda shunga yaqin, lekin band bo'lish darajasi 70 foizdan past bo'lsa bulut arzon.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Misolda biz to'liq LLM tizimini kichik masshtabda quramiz: vLLM bilan Llama 3.1 8B Instruct modelini OpenAI-mos API sifatida ishga tushiramiz, o'z hujjatlarimizdan FAISS (va muqobil sifatida Chroma) bilan vektor indeks tuzamiz, RAG konveyerini yig'amiz, TTFT va token tezligini o'lchaymiz va yakunda 70B model uchun klaster talablarini hisoblaymiz. Muhit: bitta NVIDIA A100 80 GB (yoki 40 GB — partiya cheklanadi; 24 GB GPU'da AWQ kvantlangan variant), Python 3.10, CUDA 12. Raqamlar taxminiy.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vLLM og'irliklarni (16 GB) yuklaydi, so'ngra --gpu-memory-utilization 0.90 bo'yicha 72 GB dan qolgan ≈ 54 GB'ni KV-kesh sahifalari uchun oldindan ajratadi va logda «# GPU blocks: ~27 000» kabi qator chiqaradi — har blok 16 token, 128 KB/token × 16 = 2 MB; 27 000 × 16 ≈ 430 000 token umumiy kesh sig'imi, ya'ni 8K kontekstli ≈ 50 parallel ketma-ketlik. --enable-prefix-caching bir xil tizim prompti yoki hujjat prefiksining KV-keshini so'rovlar o'rtasida qayta ishlatadi — RAG uchun muhim. Server OpenAI-mos /v1/chat/completions nuqtasini ochadi, shuning uchun istalgan OpenAI mijozi ishlaydi.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500 so'zli bo'laklar 100 so'z ustma-ust tushadi — chegarada bo'lingan jumla ikkala bo'lakda ham saqlanadi. bge-m3 1024 o'lchamli, ko'p tilli embedding modeli; normalize_embeddings=True vektorlarni birlik uzunlikka keltiradi, shunda ichki ko'paytma kosinus o'xshashligiga teng bo'ladi. A100'da 12 000 bo'lak ≈ 40–60 soniyada kodlanadi (taxminiy). Embedding modeli indekslash va so'rov uchun bir xil bo'lishi shart.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12 000 vektor uchun Flat qidiruv CPU'da ≈ 3–5 ms, HNSW ≈ 0,1–0,2 ms, recall@5 ≈ 0,98–0,99 (taxminiy). Bu hajmda farq amaliy ahamiyatga ega emas — Flat yetarli; lekin 1 million bo'lakda Flat 100 ms dan oshadi, HNSW esa 1 ms atrofida qoladi, shu sababli biz o'sishga tayyor indeksni tanlaymiz. efSearch ni 16 ga tushirsak qidiruv tezlashadi, recall 0,93 ga tushadi — bu sozlanadigan murosa. Xotira: 12 000 × 1024 × 4 = 49 MB vektor, HNSW grafi qo'shimcha ≈ 12 000 × 32 × 2 × 4 ≈ 3 MB.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Chroma xuddi shu HNSW'ni ichida ishlatadi, lekin hujjat matni, metama'lumot va diskda saqlashni qo'shadi; where filtri yil bo'yicha cheklaydi — FAISS'da buni o'zingiz yozishingiz kerak bo'lardi. Bir necha yuz ming bo'lakgacha Chroma qulay; undan katta yoki ko'p foydalanuvchili tizimda Qdrant/Milvus yoki pgvector'ga o'tiladi.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5 ta bo'lak (≈ 2 500–3 000 token) va tizim prompti bilan prefill ≈ 3 000 token: 2 × 8·10⁹ × 3000 = 4,8·10¹³ FLOP, A100'da nazariy 150 ms, amalda TTFT ≈ 200–350 ms (taxminiy; prefiks keshlash bilan tizim prompti qismi ikkinchi so'rovdan boshlab tejaladi). Decode bitta ketma-ketlik uchun ≈ 80–100 token/s, 400 tokenli javob ≈ 4–5 soniya. temperature=0.1 faktik javoblar uchun tasodifiylikni kamaytiradi; manba raqamlarini talab qilish hallutsinatsiyani tekshirishni osonlashtiradi — javobdagi har [n] ni haqiqiy bo'lak bilan solishtirish mumkin.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200 so'rov sekundiga 8 ta tezlikda (Puasson) yuboriladi, har biri 3 000 kirish, 300 chiqish token — RAG profiliga yaqin. Kutilgan natija A100 80 GB'da (taxminiy): median TTFT 300–600 ms, p99 TTFT 1,5–2,5 s, tokenlar orasidagi median vaqt 15–25 ms, umumiy chiqish throughput 1 500–2 500 token/s, kirish bilan birga 15 000–25 000 token/s. --request-rate ni 16 ga oshirsak, navbat to'planadi va p99 TTFT 5 soniyadan oshadi — bu tizimning to'yinish nuqtasi; kechikish byudjeti p99 TTFT ≤ 2 s bo'lsa, bitta A100 ≈ 8–10 so'rov/s ko'taradi. vLLM /metrics nuqtasi Prometheus formatida KV-kesh bandligi, navbatdagi so'rovlar, prefiks kesh urish foizini beradi — ular yukni kuzatish uchun asosiy ko'rsatkichlar.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natija (hisob): 70B FP16 — og'irlik 140 GB, 320 KB/token, 64 foydalanuvchi × 8K = 160 GB kesh, jami ≈ 324 GB → 8 × H100 (TP = 8, bitta tugun); 70B FP8 — 70 GB + 80 GB → ≈ 162 GB → 4 × H100; 405B FP8 — 405 GB + 126-qatlamli 504 KB/token × 32 × 8K = 126 GB → ≈ 574 GB → 8 × H100 to'liq. O'qitish: 6,3·10²⁴ FLOP, ≈ 4,4 million GPU-soat, 4096 GPU'da ≈ 45 kun; faqat optimizator holatlari 1,12 TB → kamida 16 GPU, amalda faollashuvlar va parallelizm xarajatlari bilan 64 GPU dan boshlab fine-tune va yuzlab–minglab GPU to'liq o'qitish uchun. Bu hisoblar loyihalashning boshlang'ich nuqtasi; yakuniy konfiguratsiya 6-qadamdagi kabi yuk sinovi bilan tasdiqlanadi.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Misol tizimining ko'rsatkichlari (A100 80 GB, 8B BF16, taxminiy): TTFT 200–350 ms (bitta so'rov), 300–600 ms (8 so'rov/s yuk ostida); decode 80–100 tok/s (bitta), umumiy 1 500–2 500 tok/s (yuk ostida); KV-kesh sig'imi ≈ 430 000 token; vektor qidiruv 0,2 ms (HNSW, 12 000 bo'lak). Birinchi xulosa: RAG'da LLM'ning o'zi emas, prompt uzunligi kechikishni belgilaydi — 5 bo'lak o'rniga 3 ta yoki qayta saralash bilan qisqartirilgan kontekst TTFT'ni deyarli ikki marta kamaytiradi va GPU vaqtini tejaydi; vektor qidiruv esa umumiy kechikishning 0,1 foizidan kam. Ikkinchi xulosa: bitta foydalanuvchi uchun tok/s xotira o'tkazuvchanligi bilan chegaralangan (M10 Roofline), yuk ostida esa throughput partiyalash hisobiga 20 marta oshadi — bu ikki rejim uchun turli optimallashtirish kerak: interaktiv uchun spekulyativ dekodlash va kvantlash, ommaviy uchun katta partiya va uzun navbat. Uchinchi xulosa: 70B va undan katta modellar uchun xotira hisobi tugun konfiguratsiyasini qat'iy belgilaydi va FP8 kvantlash GPU sonini ikki marta kamaytiradi — bu sifat tekshiruvi bilan birga ko'rib chiqilishi kerak bo'lgan iqtisodiy qaror.</a:t>
            </a:r>
          </a:p>
          <a:p/>
          <a:p>
            <a:r>
              <a:t>Cheklovlar: biz RAG sifatini (javob to'g'riligi, iqtibos aniqligi) o'lchamadik — buning uchun baholash to'plami (savol–javob–manba juftliklari) va retrieval metrikalari (recall@k, MRR) hamda javob metrikalari (faithfulness, answer relevance; RAGAS kabi vositalar) kerak. Bitta GPU'da o'lchov TP va tugunlararo tarmoq ta'sirini ko'rsatmaydi. Sintetik yuk real foydalanuvchi taqsimotidan farq qiladi. Muqobil yondashuvlar: TensorRT-LLM (NVIDIA uchun ko'pincha 10–30 foiz yuqori throughput, lekin kompilyatsiya talab qiladi), SGLang (RadixAttention bilan prefiks keshlash, agentlar uchun qulay), gibrid qidiruv + reranker (sifat uchun), uzun kontekstli model o'rniga RAG yoki aksincha (100K kontekst hujjatlarni to'liq joylashtiradi, lekin har so'rovda prefill narxi 30 marta yuqori — prefiks keshlash bilan qisman hal bo'ladi).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KV-keshni hisobga olmasdan GPU tanlash. «70B FP16 = 140 GB = 2 × 80 GB» hisobi keshsiz; real xizmatda kesh og'irliklardan katta bo'lishi mumkin. Token boshiga KB'ni hisoblang va foydalanuvchilar × kontekstga ko'paytiring.</a:t>
            </a:r>
          </a:p>
          <a:p/>
          <a:p>
            <a:r>
              <a:t>Decode tezligini FLOPS bilan baholash. Bitta ketma-ketlik uchun chegara B_HBM / model hajmi; kuchliroq hisoblash yordam bermaydi, kvantlash va partiyalash yordam beradi.</a:t>
            </a:r>
          </a:p>
          <a:p/>
          <a:p>
            <a:r>
              <a:t>Indekslash va so'rovda turli embedding modellarini (yoki versiyalarini) ishlatish. Vektor fazolar mos kelmaydi, qidiruv tasodifiy natija beradi. Model nomi va versiyasini indeks metama'lumotida saqlang.</a:t>
            </a:r>
          </a:p>
          <a:p/>
          <a:p>
            <a:r>
              <a:t>Bo'laklash strategiyasini sinamaslik. Juda katta bo'lak — shovqin va uzun prompt, juda kichik — kontekst yo'qoladi. 300–800 token va ustma-ust tushish bilan boshlang, baholash to'plamida recall@k ni o'lchab sozlang.</a:t>
            </a:r>
          </a:p>
          <a:p/>
          <a:p>
            <a:r>
              <a:t>Flat indeksni millionlab vektor uchun ishlatish yoki aksincha, mingta vektor uchun murakkab IVF-PQ qurish. Hajm va recall talabiga qarab tanlang; HNSW ko'pchilik o'rta hajmli holatlar uchun standart.</a:t>
            </a:r>
          </a:p>
          <a:p/>
          <a:p>
            <a:r>
              <a:t>Prefiks keshlash va uzluksiz partiyalashsiz xizmat. Oddiy transformers.generate sikli bilan server qurish vLLM'dan 10–20 marta past throughput beradi; tayyor inferens serverini ishlating.</a:t>
            </a:r>
          </a:p>
          <a:p/>
          <a:p>
            <a:r>
              <a:t>RAG'ni hallutsinatsiyaning to'liq davosi deb bilish. Model kontekstga zid javob berishi yoki topilmagan ma'lumotni to'qishi mumkin; «topilmadi» ko'rsatmasi, iqtibos talabi, faithfulness baholash va zarur bo'lsa ikkinchi model bilan tekshiruv kerak.</a:t>
            </a:r>
          </a:p>
          <a:p/>
          <a:p>
            <a:r>
              <a:t>Agentlarga cheksiz vositalar va cheksiz sikl berish. Maksimal qadam soni, byudjet (token va vaqt), sandbox, eng kam imtiyoz va inson tasdig'i — agent infratuzilmasining majburiy qismi; har qadamni izlang (tracing).</a:t>
            </a:r>
          </a:p>
          <a:p/>
          <a:p>
            <a:r>
              <a:t>Tarmoqni e'tiborsiz qoldirish. Tensor parallelizm PCIe orqali 3–5 marta sekin; ko'p tugunli o'qitishda InfiniBand/RoCE va GPUDirect RDMA'siz masshtablanuvchanlik 50 foizdan pastga tushadi.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KV-keshni hisobga olmasdan GPU tanlash. «70B FP16 = 140 GB = 2 × 80 GB» hisobi keshsiz; real xizmatda kesh og'irliklardan katta bo'lishi mumkin. Token boshiga KB'ni hisoblang va foydalanuvchilar × kontekstga ko'paytiring.</a:t>
            </a:r>
          </a:p>
          <a:p/>
          <a:p>
            <a:r>
              <a:t>Decode tezligini FLOPS bilan baholash. Bitta ketma-ketlik uchun chegara B_HBM / model hajmi; kuchliroq hisoblash yordam bermaydi, kvantlash va partiyalash yordam beradi.</a:t>
            </a:r>
          </a:p>
          <a:p/>
          <a:p>
            <a:r>
              <a:t>Indekslash va so'rovda turli embedding modellarini (yoki versiyalarini) ishlatish. Vektor fazolar mos kelmaydi, qidiruv tasodifiy natija beradi. Model nomi va versiyasini indeks metama'lumotida saqlang.</a:t>
            </a:r>
          </a:p>
          <a:p/>
          <a:p>
            <a:r>
              <a:t>Bo'laklash strategiyasini sinamaslik. Juda katta bo'lak — shovqin va uzun prompt, juda kichik — kontekst yo'qoladi. 300–800 token va ustma-ust tushish bilan boshlang, baholash to'plamida recall@k ni o'lchab sozlang.</a:t>
            </a:r>
          </a:p>
          <a:p/>
          <a:p>
            <a:r>
              <a:t>Flat indeksni millionlab vektor uchun ishlatish yoki aksincha, mingta vektor uchun murakkab IVF-PQ qurish. Hajm va recall talabiga qarab tanlang; HNSW ko'pchilik o'rta hajmli holatlar uchun standart.</a:t>
            </a:r>
          </a:p>
          <a:p/>
          <a:p>
            <a:r>
              <a:t>Prefiks keshlash va uzluksiz partiyalashsiz xizmat. Oddiy transformers.generate sikli bilan server qurish vLLM'dan 10–20 marta past throughput beradi; tayyor inferens serverini ishlating.</a:t>
            </a:r>
          </a:p>
          <a:p/>
          <a:p>
            <a:r>
              <a:t>RAG'ni hallutsinatsiyaning to'liq davosi deb bilish. Model kontekstga zid javob berishi yoki topilmagan ma'lumotni to'qishi mumkin; «topilmadi» ko'rsatmasi, iqtibos talabi, faithfulness baholash va zarur bo'lsa ikkinchi model bilan tekshiruv kerak.</a:t>
            </a:r>
          </a:p>
          <a:p/>
          <a:p>
            <a:r>
              <a:t>Agentlarga cheksiz vositalar va cheksiz sikl berish. Maksimal qadam soni, byudjet (token va vaqt), sandbox, eng kam imtiyoz va inson tasdig'i — agent infratuzilmasining majburiy qismi; har qadamni izlang (tracing).</a:t>
            </a:r>
          </a:p>
          <a:p/>
          <a:p>
            <a:r>
              <a:t>Tarmoqni e'tiborsiz qoldirish. Tensor parallelizm PCIe orqali 3–5 marta sekin; ko'p tugunli o'qitishda InfiniBand/RoCE va GPUDirect RDMA'siz masshtablanuvchanlik 50 foizdan pastga tushadi.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Llama 3.1 8B modeli uchun 32K kontekstli 100 foydalanuvchiga xizmat ko'rsatish uchun KV-kesh hajmini hisoblang. GQA'siz (32 K/V bosh) bo'lganida qancha bo'lar edi? Bu arxitektura qarorining infratuzilmaga ta'sirini izohlang.</a:t>
            </a:r>
          </a:p>
          <a:p/>
          <a:p>
            <a:r>
              <a:t>Nima uchun prefill compute-bound, decode esa memory-bound? Har biri uchun Roofline'da taxminiy intensivlikni keltiring va mos optimallashtirishni ayting.</a:t>
            </a:r>
          </a:p>
          <a:p/>
          <a:p>
            <a:r>
              <a:t>Spekulyativ dekodlash qanday qilib chiqish taqsimotini o'zgartirmasdan tezlashish beradi? U qaysi sharoitda foyda bermaydi?</a:t>
            </a:r>
          </a:p>
          <a:p/>
          <a:p>
            <a:r>
              <a:t>PagedAttention operatsion tizimning virtual xotirasi bilan qanday o'xshash? Qaysi muammoni hal qiladi va qanday yangi xarajat kiritadi?</a:t>
            </a:r>
          </a:p>
          <a:p/>
          <a:p>
            <a:r>
              <a:t>HNSW va IVF-PQ indekslarini xotira, qurish vaqti, qidiruv tezligi va recall bo'yicha taqqoslang. 500 million bo'lakli korporativ arxiv uchun qaysini tanlaysiz va nima uchun?</a:t>
            </a:r>
          </a:p>
          <a:p/>
          <a:p>
            <a:r>
              <a:t>RAG tizimida javob sifati pasaygan: muammo retrieval'da yoki generatsiyada ekanini qanday ajratasiz? Qaysi metrikalar va tajribalar kerak?</a:t>
            </a:r>
          </a:p>
          <a:p/>
          <a:p>
            <a:r>
              <a:t>Uzun kontekstli model (128K) RAG'ni almashtira oladimi? Narx, kechikish va sifat nuqtai nazaridan tahlil qiling.</a:t>
            </a:r>
          </a:p>
          <a:p/>
          <a:p>
            <a:r>
              <a:t>Agent tizimida bilvosita prompt injection xavfini kamaytirish uchun qaysi infratuzilma choralarini ko'rasiz? Nima uchun faqat prompt darajasidagi ko'rsatmalar yetarli emas?</a:t>
            </a:r>
          </a:p>
          <a:p/>
          <a:p>
            <a:r>
              <a:t>70B modelni o'qitish uchun 512 × H100 klaster uchun tugunlararo tarmoq o'tkazuvchanligi talabini baholang: har qadamda qancha ma'lumot uzatiladi va u hisoblash vaqti bilan qanday nisbatda?</a:t>
            </a:r>
          </a:p>
          <a:p/>
          <a:p>
            <a:r>
              <a:t>Bulut ijarasi va o'z klasterini qurish o'rtasidagi tanlovga qaysi omillar (band bo'lish, energiya, ishonchlilik, ma'lumot maxfiyligi) qanday ta'sir qiladi? Miqdoriy mezon taklif qiling.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Llama 3.1 8B modeli uchun 32K kontekstli 100 foydalanuvchiga xizmat ko'rsatish uchun KV-kesh hajmini hisoblang. GQA'siz (32 K/V bosh) bo'lganida qancha bo'lar edi? Bu arxitektura qarorining infratuzilmaga ta'sirini izohlang.</a:t>
            </a:r>
          </a:p>
          <a:p/>
          <a:p>
            <a:r>
              <a:t>Nima uchun prefill compute-bound, decode esa memory-bound? Har biri uchun Roofline'da taxminiy intensivlikni keltiring va mos optimallashtirishni ayting.</a:t>
            </a:r>
          </a:p>
          <a:p/>
          <a:p>
            <a:r>
              <a:t>Spekulyativ dekodlash qanday qilib chiqish taqsimotini o'zgartirmasdan tezlashish beradi? U qaysi sharoitda foyda bermaydi?</a:t>
            </a:r>
          </a:p>
          <a:p/>
          <a:p>
            <a:r>
              <a:t>PagedAttention operatsion tizimning virtual xotirasi bilan qanday o'xshash? Qaysi muammoni hal qiladi va qanday yangi xarajat kiritadi?</a:t>
            </a:r>
          </a:p>
          <a:p/>
          <a:p>
            <a:r>
              <a:t>HNSW va IVF-PQ indekslarini xotira, qurish vaqti, qidiruv tezligi va recall bo'yicha taqqoslang. 500 million bo'lakli korporativ arxiv uchun qaysini tanlaysiz va nima uchun?</a:t>
            </a:r>
          </a:p>
          <a:p/>
          <a:p>
            <a:r>
              <a:t>RAG tizimida javob sifati pasaygan: muammo retrieval'da yoki generatsiyada ekanini qanday ajratasiz? Qaysi metrikalar va tajribalar kerak?</a:t>
            </a:r>
          </a:p>
          <a:p/>
          <a:p>
            <a:r>
              <a:t>Uzun kontekstli model (128K) RAG'ni almashtira oladimi? Narx, kechikish va sifat nuqtai nazaridan tahlil qiling.</a:t>
            </a:r>
          </a:p>
          <a:p/>
          <a:p>
            <a:r>
              <a:t>Agent tizimida bilvosita prompt injection xavfini kamaytirish uchun qaysi infratuzilma choralarini ko'rasiz? Nima uchun faqat prompt darajasidagi ko'rsatmalar yetarli emas?</a:t>
            </a:r>
          </a:p>
          <a:p/>
          <a:p>
            <a:r>
              <a:t>70B modelni o'qitish uchun 512 × H100 klaster uchun tugunlararo tarmoq o'tkazuvchanligi talabini baholang: har qadamda qancha ma'lumot uzatiladi va u hisoblash vaqti bilan qanday nisbatda?</a:t>
            </a:r>
          </a:p>
          <a:p/>
          <a:p>
            <a:r>
              <a:t>Bulut ijarasi va o'z klasterini qurish o'rtasidagi tanlovga qaysi omillar (band bo'lish, energiya, ishonchlilik, ma'lumot maxfiyligi) qanday ta'sir qiladi? Miqdoriy mezon taklif qiling.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1-topshiriq (amaliy, 5-mustaqil ta'lim topshirig'iga bog'liq). O'zingiz tanlagan 50–200 sahifali hujjatlar to'plami (masalan, fan sillabuslari, texnik standartlar, ochiq qonun hujjatlari) asosida RAG tizimini quring: vLLM (yoki 24 GB'dan kichik GPU'da Ollama/llama.cpp) bilan ochiq model, sentence-transformers embedding, FAISS yoki Chroma indeks. Kamida 30 ta savol–javob–manba juftligidan iborat baholash to'plami tuzing va: (a) ikki bo'laklash strategiyasi va ikki k qiymati uchun recall@k va javob to'g'riligini o'lchang; (b) TTFT va tok/s ni bitta so'rov va 5 parallel so'rov uchun o'lchang; (c) kamida 5 ta hallutsinatsiya yoki noto'g'ri iqtibos holatini tahlil qilib, sababini (retrieval yoki generatsiya) aniqlang; (d) bitta yaxshilash (reranker, gibrid qidiruv yoki prompt o'zgarishi) qo'llab, qayta o'lchang. Baholash mezoni: tizimning ishlashi va takrorlanuvchanligi — 30 %, baholash to'plami va metrikalar to'g'riligi — 30 %, xatolar tahlili va yaxshilash natijasi — 25 %, hisobot — 15 %.</a:t>
            </a:r>
          </a:p>
          <a:p/>
          <a:p>
            <a:r>
              <a:t>2-topshiriq (hisobiy). Tashkilot uchun ichki LLM yordamchisi loyihasini hisoblang: 500 xodim, kunduzi o'rtacha 20 parallel so'rov, cho'qqida 60, o'rtacha prompt 4 000 token (RAG bilan), javob 300 token, p99 TTFT ≤ 2 s. Ikki variant — 8B FP16 va 70B FP8 — uchun GPU soni va turini (A100/H100/L40S), KV-kesh hajmini, tugun konfiguratsiyasini, yillik energiya va bulut ijara narxini (ochiq narxlar asosida) hisoblang va sifat–narx bo'yicha tavsiya bering. Baholash mezoni: hisoblar to'g'riligi va taxminlarning aniq ko'rsatilishi — 50 %, variantlar taqqoslashining asoslanganligi — 35 %, hujjat sifati — 15 %.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Hennessy, J. L., &amp; Patterson, D. A. Computer Architecture: A Quantitative Approach. 7th Edition. Morgan Kaufmann, 2024 (domenga xos arxitekturalar, xotira o'tkazuvchanligi).</a:t>
            </a:r>
          </a:p>
          <a:p/>
          <a:p>
            <a:r>
              <a:t>[2] Kneusel, R. T. Artificial Intelligence Engineering: A Practical Guide for AI Applications. No Starch Press, 2023.</a:t>
            </a:r>
          </a:p>
          <a:p/>
          <a:p>
            <a:r>
              <a:t>[3] Amershi, S., Begel, A., Bird, C. va boshq. Machine Learning Engineering. MIT Press, 2025.</a:t>
            </a:r>
          </a:p>
          <a:p/>
          <a:p>
            <a:r>
              <a:t>[6] NVIDIA Developer Portal — https://developer.nvidia.com (H100/DGX spetsifikatsiyalari, TensorRT-LLM, NCCL).</a:t>
            </a:r>
          </a:p>
          <a:p/>
          <a:p>
            <a:r>
              <a:t>[7] PyTorch rasmiy hujjatlari — https://pytorch.org (FSDP, scaled_dot_product_attention).</a:t>
            </a:r>
          </a:p>
          <a:p/>
          <a:p>
            <a:r>
              <a:t>Vaswani, A., Shazeer, N., Parmar, N. va boshq. Attention Is All You Need. NeurIPS 2017. arXiv:1706.03762.</a:t>
            </a:r>
          </a:p>
          <a:p/>
          <a:p>
            <a:r>
              <a:t>Kwon, W., Li, Z., Zhuang, S. va boshq. Efficient Memory Management for Large Language Model Serving with PagedAttention. SOSP 2023. arXiv:2309.06180.</a:t>
            </a:r>
          </a:p>
          <a:p/>
          <a:p>
            <a:r>
              <a:t>Lewis, P., Perez, E., Piktus, A. va boshq. Retrieval-Augmented Generation for Knowledge-Intensive NLP Tasks. NeurIPS 2020. arXiv:2005.11401.</a:t>
            </a:r>
          </a:p>
          <a:p/>
          <a:p>
            <a:r>
              <a:t>Hoffmann, J., Borgeaud, S., Mensch, A. va boshq. Training Compute-Optimal Large Language Models. 2022. arXiv:2203.15556.</a:t>
            </a:r>
          </a:p>
          <a:p/>
          <a:p>
            <a:r>
              <a:t>Dao, T., Fu, D. Y., Ermon, S., Rudra, A., &amp; Ré, C. FlashAttention: Fast and Memory-Efficient Exact Attention with IO-Awareness. NeurIPS 2022. arXiv:2205.14135.</a:t>
            </a:r>
          </a:p>
          <a:p/>
          <a:p>
            <a:r>
              <a:t>Johnson, J., Douze, M., &amp; Jégou, H. Billion-scale similarity search with GPUs. IEEE Transactions on Big Data, 2019. arXiv:1702.08734; FAISS kutubxonasi: https://github.com/facebookresearch/faiss</a:t>
            </a:r>
          </a:p>
          <a:p/>
          <a:p>
            <a:r>
              <a:t>vLLM rasmiy hujjatlari: https://docs.vllm.ai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Hennessy, J. L., &amp; Patterson, D. A. Computer Architecture: A Quantitative Approach. 7th Edition. Morgan Kaufmann, 2024 (domenga xos arxitekturalar, xotira o'tkazuvchanligi).</a:t>
            </a:r>
          </a:p>
          <a:p/>
          <a:p>
            <a:r>
              <a:t>[2] Kneusel, R. T. Artificial Intelligence Engineering: A Practical Guide for AI Applications. No Starch Press, 2023.</a:t>
            </a:r>
          </a:p>
          <a:p/>
          <a:p>
            <a:r>
              <a:t>[3] Amershi, S., Begel, A., Bird, C. va boshq. Machine Learning Engineering. MIT Press, 2025.</a:t>
            </a:r>
          </a:p>
          <a:p/>
          <a:p>
            <a:r>
              <a:t>[6] NVIDIA Developer Portal — https://developer.nvidia.com (H100/DGX spetsifikatsiyalari, TensorRT-LLM, NCCL).</a:t>
            </a:r>
          </a:p>
          <a:p/>
          <a:p>
            <a:r>
              <a:t>[7] PyTorch rasmiy hujjatlari — https://pytorch.org (FSDP, scaled_dot_product_attention).</a:t>
            </a:r>
          </a:p>
          <a:p/>
          <a:p>
            <a:r>
              <a:t>Vaswani, A., Shazeer, N., Parmar, N. va boshq. Attention Is All You Need. NeurIPS 2017. arXiv:1706.03762.</a:t>
            </a:r>
          </a:p>
          <a:p/>
          <a:p>
            <a:r>
              <a:t>Kwon, W., Li, Z., Zhuang, S. va boshq. Efficient Memory Management for Large Language Model Serving with PagedAttention. SOSP 2023. arXiv:2309.06180.</a:t>
            </a:r>
          </a:p>
          <a:p/>
          <a:p>
            <a:r>
              <a:t>Lewis, P., Perez, E., Piktus, A. va boshq. Retrieval-Augmented Generation for Knowledge-Intensive NLP Tasks. NeurIPS 2020. arXiv:2005.11401.</a:t>
            </a:r>
          </a:p>
          <a:p/>
          <a:p>
            <a:r>
              <a:t>Hoffmann, J., Borgeaud, S., Mensch, A. va boshq. Training Compute-Optimal Large Language Models. 2022. arXiv:2203.15556.</a:t>
            </a:r>
          </a:p>
          <a:p/>
          <a:p>
            <a:r>
              <a:t>Dao, T., Fu, D. Y., Ermon, S., Rudra, A., &amp; Ré, C. FlashAttention: Fast and Memory-Efficient Exact Attention with IO-Awareness. NeurIPS 2022. arXiv:2205.14135.</a:t>
            </a:r>
          </a:p>
          <a:p/>
          <a:p>
            <a:r>
              <a:t>Johnson, J., Douze, M., &amp; Jégou, H. Billion-scale similarity search with GPUs. IEEE Transactions on Big Data, 2019. arXiv:1702.08734; FAISS kutubxonasi: https://github.com/facebookresearch/faiss</a:t>
            </a:r>
          </a:p>
          <a:p/>
          <a:p>
            <a:r>
              <a:t>vLLM rasmiy hujjatlari: https://docs.vllm.ai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00000"/>
            <a:ext cx="12192000" cy="6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700000"/>
            <a:ext cx="108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5" name="TextBox 4"/>
          <p:cNvSpPr txBox="1"/>
          <p:nvPr/>
        </p:nvSpPr>
        <p:spPr>
          <a:xfrm>
            <a:off x="700000" y="1350000"/>
            <a:ext cx="10800000" cy="500000"/>
          </a:xfrm>
          <a:prstGeom prst="rect">
            <a:avLst/>
          </a:prstGeom>
          <a:noFill/>
        </p:spPr>
        <p:txBody>
          <a:bodyPr wrap="square" anchor="t" lIns="50800" rIns="50800">
            <a:spAutoFit/>
          </a:bodyPr>
          <a:lstStyle/>
          <a:p>
            <a:pPr algn="l"/>
            <a:r>
              <a:rPr sz="1600" b="1">
                <a:solidFill>
                  <a:srgbClr val="7FD6D7"/>
                </a:solidFill>
                <a:latin typeface="Calibri"/>
              </a:rPr>
              <a:t>MA'RUZA · M11 · 2 soat</a:t>
            </a:r>
          </a:p>
        </p:txBody>
      </p:sp>
      <p:sp>
        <p:nvSpPr>
          <p:cNvPr id="6" name="TextBox 5"/>
          <p:cNvSpPr txBox="1"/>
          <p:nvPr/>
        </p:nvSpPr>
        <p:spPr>
          <a:xfrm>
            <a:off x="700000" y="1950000"/>
            <a:ext cx="10800000" cy="2500000"/>
          </a:xfrm>
          <a:prstGeom prst="rect">
            <a:avLst/>
          </a:prstGeom>
          <a:noFill/>
        </p:spPr>
        <p:txBody>
          <a:bodyPr wrap="square" anchor="t" lIns="50800" rIns="50800">
            <a:spAutoFit/>
          </a:bodyPr>
          <a:lstStyle/>
          <a:p>
            <a:pPr algn="l"/>
            <a:r>
              <a:rPr sz="3800" b="1">
                <a:solidFill>
                  <a:srgbClr val="FFFFFF"/>
                </a:solidFill>
                <a:latin typeface="Calibri"/>
              </a:rPr>
              <a:t>Katta til modellari uchun kompyuter tizimlari va hisoblash infratuzilmasi</a:t>
            </a:r>
          </a:p>
        </p:txBody>
      </p:sp>
      <p:sp>
        <p:nvSpPr>
          <p:cNvPr id="7" name="TextBox 6"/>
          <p:cNvSpPr txBox="1"/>
          <p:nvPr/>
        </p:nvSpPr>
        <p:spPr>
          <a:xfrm>
            <a:off x="700000" y="4950000"/>
            <a:ext cx="108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MAVZU</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Mavzuning maqsadi va o'rganish natijalari</a:t>
            </a:r>
          </a:p>
          <a:p>
            <a:pPr>
              <a:spcAft>
                <a:spcPts val="900"/>
              </a:spcAft>
            </a:pPr>
            <a:r>
              <a:rPr sz="2000" b="1">
                <a:solidFill>
                  <a:srgbClr val="0F8B8D"/>
                </a:solidFill>
              </a:rPr>
              <a:t>▪  </a:t>
            </a:r>
            <a:r>
              <a:rPr sz="2000">
                <a:solidFill>
                  <a:srgbClr val="1B2430"/>
                </a:solidFill>
                <a:latin typeface="Calibri"/>
              </a:rPr>
              <a:t>Kirish</a:t>
            </a:r>
          </a:p>
          <a:p>
            <a:pPr>
              <a:spcAft>
                <a:spcPts val="900"/>
              </a:spcAft>
            </a:pPr>
            <a:r>
              <a:rPr sz="2000" b="1">
                <a:solidFill>
                  <a:srgbClr val="0F8B8D"/>
                </a:solidFill>
              </a:rPr>
              <a:t>▪  </a:t>
            </a:r>
            <a:r>
              <a:rPr sz="2000">
                <a:solidFill>
                  <a:srgbClr val="1B2430"/>
                </a:solidFill>
                <a:latin typeface="Calibri"/>
              </a:rPr>
              <a:t>Nazariy asoslar</a:t>
            </a:r>
          </a:p>
          <a:p>
            <a:pPr>
              <a:spcAft>
                <a:spcPts val="900"/>
              </a:spcAft>
            </a:pPr>
            <a:r>
              <a:rPr sz="2000" b="1">
                <a:solidFill>
                  <a:srgbClr val="0F8B8D"/>
                </a:solidFill>
              </a:rPr>
              <a:t>▪  </a:t>
            </a:r>
            <a:r>
              <a:rPr sz="2000">
                <a:solidFill>
                  <a:srgbClr val="1B2430"/>
                </a:solidFill>
                <a:latin typeface="Calibri"/>
              </a:rPr>
              <a:t>Amaliy misol</a:t>
            </a:r>
          </a:p>
          <a:p>
            <a:pPr>
              <a:spcAft>
                <a:spcPts val="900"/>
              </a:spcAft>
            </a:pPr>
            <a:r>
              <a:rPr sz="2000" b="1">
                <a:solidFill>
                  <a:srgbClr val="0F8B8D"/>
                </a:solidFill>
              </a:rPr>
              <a:t>▪  </a:t>
            </a:r>
            <a:r>
              <a:rPr sz="2000">
                <a:solidFill>
                  <a:srgbClr val="1B2430"/>
                </a:solidFill>
                <a:latin typeface="Calibri"/>
              </a:rPr>
              <a:t>Natijalarni tahlil qilish</a:t>
            </a:r>
          </a:p>
          <a:p>
            <a:pPr>
              <a:spcAft>
                <a:spcPts val="900"/>
              </a:spcAft>
            </a:pPr>
            <a:r>
              <a:rPr sz="2000" b="1">
                <a:solidFill>
                  <a:srgbClr val="0F8B8D"/>
                </a:solidFill>
              </a:rPr>
              <a:t>▪  </a:t>
            </a:r>
            <a:r>
              <a:rPr sz="2000">
                <a:solidFill>
                  <a:srgbClr val="1B2430"/>
                </a:solidFill>
                <a:latin typeface="Calibri"/>
              </a:rPr>
              <a:t>Keng tarqalgan xatolar va amaliy tavsiyalar</a:t>
            </a:r>
          </a:p>
          <a:p>
            <a:pPr>
              <a:spcAft>
                <a:spcPts val="900"/>
              </a:spcAft>
            </a:pPr>
            <a:r>
              <a:rPr sz="2000" b="1">
                <a:solidFill>
                  <a:srgbClr val="0F8B8D"/>
                </a:solidFill>
              </a:rPr>
              <a:t>▪  </a:t>
            </a:r>
            <a:r>
              <a:rPr sz="2000">
                <a:solidFill>
                  <a:srgbClr val="1B2430"/>
                </a:solidFill>
                <a:latin typeface="Calibri"/>
              </a:rPr>
              <a:t>Nazorat savollari</a:t>
            </a:r>
          </a:p>
          <a:p>
            <a:pPr>
              <a:spcAft>
                <a:spcPts val="900"/>
              </a:spcAft>
            </a:pPr>
            <a:r>
              <a:rPr sz="2000" b="1">
                <a:solidFill>
                  <a:srgbClr val="0F8B8D"/>
                </a:solidFill>
              </a:rPr>
              <a:t>▪  </a:t>
            </a:r>
            <a:r>
              <a:rPr sz="2000">
                <a:solidFill>
                  <a:srgbClr val="1B2430"/>
                </a:solidFill>
                <a:latin typeface="Calibri"/>
              </a:rPr>
              <a:t>Mustaqil ish uchun topshiriq</a:t>
            </a:r>
          </a:p>
          <a:p>
            <a:pPr>
              <a:spcAft>
                <a:spcPts val="900"/>
              </a:spcAft>
            </a:pPr>
            <a:r>
              <a:rPr sz="2000" b="1">
                <a:solidFill>
                  <a:srgbClr val="0F8B8D"/>
                </a:solidFill>
              </a:rPr>
              <a:t>▪  </a:t>
            </a:r>
            <a:r>
              <a:rPr sz="2000">
                <a:solidFill>
                  <a:srgbClr val="1B2430"/>
                </a:solidFill>
                <a:latin typeface="Calibri"/>
              </a:rPr>
              <a:t>Foydalanilgan manbalar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Mavzuning maqsadi — katta til modellarini (Large Language Models, LLM) hisoblash tizimlari muhandisi nuqtai nazaridan o'rganish: Transformer arxitekturasining hisoblash va xotira…</a:t>
            </a:r>
          </a:p>
          <a:p>
            <a:pPr>
              <a:spcAft>
                <a:spcPts val="900"/>
              </a:spcAft>
            </a:pPr>
            <a:r>
              <a:rPr sz="1600" b="1">
                <a:solidFill>
                  <a:srgbClr val="0F8B8D"/>
                </a:solidFill>
              </a:rPr>
              <a:t>▪  </a:t>
            </a:r>
            <a:r>
              <a:rPr sz="1600">
                <a:solidFill>
                  <a:srgbClr val="1B2430"/>
                </a:solidFill>
                <a:latin typeface="Calibri"/>
              </a:rPr>
              <a:t>Mavzuni o'zlashtirgach talaba:</a:t>
            </a:r>
          </a:p>
          <a:p>
            <a:pPr>
              <a:spcAft>
                <a:spcPts val="900"/>
              </a:spcAft>
            </a:pPr>
            <a:r>
              <a:rPr sz="1600" b="1">
                <a:solidFill>
                  <a:srgbClr val="0F8B8D"/>
                </a:solidFill>
              </a:rPr>
              <a:t>▪  </a:t>
            </a:r>
            <a:r>
              <a:rPr sz="1600">
                <a:solidFill>
                  <a:srgbClr val="1B2430"/>
                </a:solidFill>
                <a:latin typeface="Calibri"/>
              </a:rPr>
              <a:t>Transformer blokining tarkibini va uning hisoblash murakkabligini (parametrlar soni, token boshiga FLOP, diqqat mexanizmining kontekst uzunligiga kvadratik bog'liqligi) hisoblab bera oladi.</a:t>
            </a:r>
          </a:p>
          <a:p>
            <a:pPr>
              <a:spcAft>
                <a:spcPts val="900"/>
              </a:spcAft>
            </a:pPr>
            <a:r>
              <a:rPr sz="1600" b="1">
                <a:solidFill>
                  <a:srgbClr val="0F8B8D"/>
                </a:solidFill>
              </a:rPr>
              <a:t>▪  </a:t>
            </a:r>
            <a:r>
              <a:rPr sz="1600">
                <a:solidFill>
                  <a:srgbClr val="1B2430"/>
                </a:solidFill>
                <a:latin typeface="Calibri"/>
              </a:rPr>
              <a:t>LLM inferensining ikki fazasini (prefill va decode) farqlay oladi, KV-kesh (KV cache) hajmini hisoblay oladi va PagedAttention, uzluksiz partiyalash (continuous batching), spekulyativ…</a:t>
            </a:r>
          </a:p>
          <a:p>
            <a:pPr>
              <a:spcAft>
                <a:spcPts val="900"/>
              </a:spcAft>
            </a:pPr>
            <a:r>
              <a:rPr sz="1600" b="1">
                <a:solidFill>
                  <a:srgbClr val="0F8B8D"/>
                </a:solidFill>
              </a:rPr>
              <a:t>▪  </a:t>
            </a:r>
            <a:r>
              <a:rPr sz="1600">
                <a:solidFill>
                  <a:srgbClr val="1B2430"/>
                </a:solidFill>
                <a:latin typeface="Calibri"/>
              </a:rPr>
              <a:t>RAG arxitekturasini loyihalay oladi: hujjatlarni bo'laklash, embedding modeli, vektor indeks turlari (Flat, IVF, HNSW, PQ) va ularning aniqlik–tezlik–xotira murosasi, qayta saralash.</a:t>
            </a:r>
          </a:p>
          <a:p>
            <a:pPr>
              <a:spcAft>
                <a:spcPts val="900"/>
              </a:spcAft>
            </a:pPr>
            <a:r>
              <a:rPr sz="1600" b="1">
                <a:solidFill>
                  <a:srgbClr val="0F8B8D"/>
                </a:solidFill>
              </a:rPr>
              <a:t>▪  </a:t>
            </a:r>
            <a:r>
              <a:rPr sz="1600">
                <a:solidFill>
                  <a:srgbClr val="1B2430"/>
                </a:solidFill>
                <a:latin typeface="Calibri"/>
              </a:rPr>
              <a:t>AI agentlarining tuzilishini (rejalashtirish, vosita chaqirish, xotira) va ularning infratuzilmaga qo'yadigan qo'shimcha talablarini (kechikish zanjiri, xavfsizlik, kuzatuv) tavsiflay oladi.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Berilgan model va ish yuki uchun GPU klasteri talablarini — xotira, hisoblash, tarmoq o'tkazuvchanligi, saqlash — miqdoriy hisoblab, vLLM kabi xizmat ko'rsatish tizimida amalda ishga…</a:t>
            </a:r>
          </a:p>
          <a:p>
            <a:pPr>
              <a:spcAft>
                <a:spcPts val="900"/>
              </a:spcAft>
            </a:pPr>
            <a:r>
              <a:rPr sz="2000" b="1">
                <a:solidFill>
                  <a:srgbClr val="0F8B8D"/>
                </a:solidFill>
              </a:rPr>
              <a:t>▪  </a:t>
            </a:r>
            <a:r>
              <a:rPr sz="2000">
                <a:solidFill>
                  <a:srgbClr val="1B2430"/>
                </a:solidFill>
                <a:latin typeface="Calibri"/>
              </a:rPr>
              <a:t>Mavzu fanning TN2 (platformalarni tahlil qilish), TN3 (tizimlarni loyihalash), TN4 (optimallashtirish) va TN6 (xizmatlarni ekspluatatsiya qilish) natijalariga xizmat qiladi hamda 5-mustaqil…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Kirish</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2017-yilda «Attention Is All You Need» maqolasida taklif qilingan Transformer arxitekturasi dastlab mashina tarjimasi uchun yaratilgan edi; oradan besh yil o'tib u yuz milliardlab parametrli modellar — GPT, Llama, Qwen, Gemma, Mistral — asosida butun bir…</a:t>
            </a:r>
          </a:p>
          <a:p>
            <a:pPr>
              <a:spcAft>
                <a:spcPts val="900"/>
              </a:spcAft>
            </a:pPr>
            <a:r>
              <a:rPr sz="1800" b="1">
                <a:solidFill>
                  <a:srgbClr val="0F8B8D"/>
                </a:solidFill>
              </a:rPr>
              <a:t>▪  </a:t>
            </a:r>
            <a:r>
              <a:rPr sz="1800">
                <a:solidFill>
                  <a:srgbClr val="1B2430"/>
                </a:solidFill>
                <a:latin typeface="Calibri"/>
              </a:rPr>
              <a:t>LLM ish yukining o'ziga xosligi uning ikki yuzliligida. O'qitish va promptni qayta ishlash (prefill) — katta matritsa ko'paytmalari, hisoblash bilan cheklangan, tensor yadrolarini to'liq yuklaydi.</a:t>
            </a:r>
          </a:p>
          <a:p>
            <a:pPr>
              <a:spcAft>
                <a:spcPts val="900"/>
              </a:spcAft>
            </a:pPr>
            <a:r>
              <a:rPr sz="1800" b="1">
                <a:solidFill>
                  <a:srgbClr val="0F8B8D"/>
                </a:solidFill>
              </a:rPr>
              <a:t>▪  </a:t>
            </a:r>
            <a:r>
              <a:rPr sz="1800">
                <a:solidFill>
                  <a:srgbClr val="1B2430"/>
                </a:solidFill>
                <a:latin typeface="Calibri"/>
              </a:rPr>
              <a:t>Shu bilan birga, LLM yolg'iz ishlamaydi. Modelning bilimi o'qitish sanasida to'xtaydi va u tashkilotning ichki hujjatlarini bilmaydi; u ishonchli ko'rinadigan, lekin noto'g'ri javoblar («hallutsinatsiya») berishga moyil. Retrieval-Augmented Generation (RAG)…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Transformer arxitekturasi va uning hisoblash xususiyatlari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6</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Dekoder-only Transformer (zamonaviy LLM'larning aksariyati shu turda) L ta bir xil blokdan iborat. Har blok ikki qismdan tuziladi: ko'p boshli o'z-o'ziga diqqat (multi-head self-attention) va pozitsiya bo'yicha to'liq bog'langan tarmoq (feed-forward network,…</a:t>
            </a:r>
          </a:p>
          <a:p>
            <a:pPr>
              <a:spcAft>
                <a:spcPts val="900"/>
              </a:spcAft>
            </a:pPr>
            <a:r>
              <a:rPr sz="1800" b="1">
                <a:solidFill>
                  <a:srgbClr val="0F8B8D"/>
                </a:solidFill>
              </a:rPr>
              <a:t>▪  </a:t>
            </a:r>
            <a:r>
              <a:rPr sz="1800">
                <a:solidFill>
                  <a:srgbClr val="1B2430"/>
                </a:solidFill>
                <a:latin typeface="Calibri"/>
              </a:rPr>
              <a:t>Parametrlar soni taxminan P ≈ 12 · L · d_model² (diqqat 4·d², FFN 8·d²) plus embedding V · d_model. Masalan, Llama 2 7B: L = 32, d_model = 4096 → 12 · 32 · 4096² ≈ 6,4 milliard, embedding bilan ≈ 6,7 milliard.</a:t>
            </a:r>
          </a:p>
          <a:p>
            <a:pPr>
              <a:spcAft>
                <a:spcPts val="900"/>
              </a:spcAft>
            </a:pPr>
            <a:r>
              <a:rPr sz="1800" b="1">
                <a:solidFill>
                  <a:srgbClr val="0F8B8D"/>
                </a:solidFill>
              </a:rPr>
              <a:t>▪  </a:t>
            </a:r>
            <a:r>
              <a:rPr sz="1800">
                <a:solidFill>
                  <a:srgbClr val="1B2430"/>
                </a:solidFill>
                <a:latin typeface="Calibri"/>
              </a:rPr>
              <a:t>Zamonaviy modellarda KV-keshni kamaytirish uchun guruhlangan so'rov diqqati (grouped-query attention, GQA) ishlatiladi: 32 ta Q boshiga atigi 8 ta K/V boshi to'g'ri keladi (Llama 3, Mistral). Aralash ekspertlar (mixture of experts, MoE) arxitekturasida FFN…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100" b="1">
                <a:solidFill>
                  <a:srgbClr val="FFFFFF"/>
                </a:solidFill>
                <a:latin typeface="Calibri"/>
              </a:rPr>
              <a:t>LLM o'qitish va inferens: masshtab, xotira va tizim optimallashtirishlari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O'qitish narxi oddiy formula bilan baholanadi: C ≈ 6 · P · D FLOP, bu yerda D — o'qitish tokenlari soni.</a:t>
            </a:r>
          </a:p>
          <a:p>
            <a:pPr>
              <a:spcAft>
                <a:spcPts val="900"/>
              </a:spcAft>
            </a:pPr>
            <a:r>
              <a:rPr sz="1800" b="1">
                <a:solidFill>
                  <a:srgbClr val="0F8B8D"/>
                </a:solidFill>
              </a:rPr>
              <a:t>▪  </a:t>
            </a:r>
            <a:r>
              <a:rPr sz="1800">
                <a:solidFill>
                  <a:srgbClr val="1B2430"/>
                </a:solidFill>
                <a:latin typeface="Calibri"/>
              </a:rPr>
              <a:t>Inferens ikki fazadan iborat. Prefill — promptning barcha tokenlarini bir vaqtda qayta ishlash: n_prompt tokenli prompt uchun 2 · P · n_prompt FLOP, katta matritsalar, compute-bound; u…</a:t>
            </a:r>
          </a:p>
          <a:p>
            <a:pPr>
              <a:spcAft>
                <a:spcPts val="900"/>
              </a:spcAft>
            </a:pPr>
            <a:r>
              <a:rPr sz="1800" b="1">
                <a:solidFill>
                  <a:srgbClr val="0F8B8D"/>
                </a:solidFill>
              </a:rPr>
              <a:t>▪  </a:t>
            </a:r>
            <a:r>
              <a:rPr sz="1800">
                <a:solidFill>
                  <a:srgbClr val="1B2430"/>
                </a:solidFill>
                <a:latin typeface="Calibri"/>
              </a:rPr>
              <a:t>KV-kesh — dekodlashda har qadamda oldingi tokenlarning K va V vektorlarini qayta hisoblamaslik uchun saqlanadigan xotira.</a:t>
            </a:r>
          </a:p>
          <a:p>
            <a:pPr>
              <a:spcAft>
                <a:spcPts val="900"/>
              </a:spcAft>
            </a:pPr>
            <a:r>
              <a:rPr sz="1800" b="1">
                <a:solidFill>
                  <a:srgbClr val="0F8B8D"/>
                </a:solidFill>
              </a:rPr>
              <a:t>▪  </a:t>
            </a:r>
            <a:r>
              <a:rPr sz="1800">
                <a:solidFill>
                  <a:srgbClr val="1B2430"/>
                </a:solidFill>
                <a:latin typeface="Calibri"/>
              </a:rPr>
              <a:t>Ikkinchi asosiy optimallashtirish — uzluksiz partiyalash (continuous batching, Orca tizimidan): partiya butun so'rovlar darajasida emas, iteratsiya darajasida tuziladi; bitta ketma-ketlik…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100" b="1">
                <a:solidFill>
                  <a:srgbClr val="FFFFFF"/>
                </a:solidFill>
                <a:latin typeface="Calibri"/>
              </a:rPr>
              <a:t>LLM o'qitish va inferens: masshtab, xotira va tizim optimallashtirishlari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8</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00000" y="1350000"/>
          <a:ext cx="11200000" cy="364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400" b="1">
                          <a:solidFill>
                            <a:srgbClr val="FFFFFF"/>
                          </a:solidFill>
                          <a:latin typeface="Calibri"/>
                        </a:rPr>
                        <a:t>Usul</a:t>
                      </a:r>
                    </a:p>
                  </a:txBody>
                  <a:tcPr>
                    <a:solidFill>
                      <a:srgbClr val="2D5C8F"/>
                    </a:solidFill>
                  </a:tcPr>
                </a:tc>
                <a:tc>
                  <a:txBody>
                    <a:bodyPr/>
                    <a:lstStyle/>
                    <a:p>
                      <a:r>
                        <a:rPr sz="1400" b="1">
                          <a:solidFill>
                            <a:srgbClr val="FFFFFF"/>
                          </a:solidFill>
                          <a:latin typeface="Calibri"/>
                        </a:rPr>
                        <a:t>Nimani yaxshilaydi</a:t>
                      </a:r>
                    </a:p>
                  </a:txBody>
                  <a:tcPr>
                    <a:solidFill>
                      <a:srgbClr val="2D5C8F"/>
                    </a:solidFill>
                  </a:tcPr>
                </a:tc>
                <a:tc>
                  <a:txBody>
                    <a:bodyPr/>
                    <a:lstStyle/>
                    <a:p>
                      <a:r>
                        <a:rPr sz="1400" b="1">
                          <a:solidFill>
                            <a:srgbClr val="FFFFFF"/>
                          </a:solidFill>
                          <a:latin typeface="Calibri"/>
                        </a:rPr>
                        <a:t>Mexanizm</a:t>
                      </a:r>
                    </a:p>
                  </a:txBody>
                  <a:tcPr>
                    <a:solidFill>
                      <a:srgbClr val="2D5C8F"/>
                    </a:solidFill>
                  </a:tcPr>
                </a:tc>
                <a:tc>
                  <a:txBody>
                    <a:bodyPr/>
                    <a:lstStyle/>
                    <a:p>
                      <a:r>
                        <a:rPr sz="1400" b="1">
                          <a:solidFill>
                            <a:srgbClr val="FFFFFF"/>
                          </a:solidFill>
                          <a:latin typeface="Calibri"/>
                        </a:rPr>
                        <a:t>Tipik yutuq</a:t>
                      </a:r>
                    </a:p>
                  </a:txBody>
                  <a:tcPr>
                    <a:solidFill>
                      <a:srgbClr val="2D5C8F"/>
                    </a:solidFill>
                  </a:tcPr>
                </a:tc>
              </a:tr>
              <a:tr h="520000">
                <a:tc>
                  <a:txBody>
                    <a:bodyPr/>
                    <a:lstStyle/>
                    <a:p>
                      <a:r>
                        <a:rPr sz="1400" b="0">
                          <a:solidFill>
                            <a:srgbClr val="1B2430"/>
                          </a:solidFill>
                          <a:latin typeface="Calibri"/>
                        </a:rPr>
                        <a:t>FlashAttention</a:t>
                      </a:r>
                    </a:p>
                  </a:txBody>
                  <a:tcPr>
                    <a:solidFill>
                      <a:srgbClr val="F1F4F8"/>
                    </a:solidFill>
                  </a:tcPr>
                </a:tc>
                <a:tc>
                  <a:txBody>
                    <a:bodyPr/>
                    <a:lstStyle/>
                    <a:p>
                      <a:r>
                        <a:rPr sz="1400" b="0">
                          <a:solidFill>
                            <a:srgbClr val="1B2430"/>
                          </a:solidFill>
                          <a:latin typeface="Calibri"/>
                        </a:rPr>
                        <a:t>Prefill tezligi, uzun kontekst xotirasi</a:t>
                      </a:r>
                    </a:p>
                  </a:txBody>
                  <a:tcPr>
                    <a:solidFill>
                      <a:srgbClr val="F1F4F8"/>
                    </a:solidFill>
                  </a:tcPr>
                </a:tc>
                <a:tc>
                  <a:txBody>
                    <a:bodyPr/>
                    <a:lstStyle/>
                    <a:p>
                      <a:r>
                        <a:rPr sz="1400" b="0">
                          <a:solidFill>
                            <a:srgbClr val="1B2430"/>
                          </a:solidFill>
                          <a:latin typeface="Calibri"/>
                        </a:rPr>
                        <a:t>SRAM'da bloklab hisoblash</a:t>
                      </a:r>
                    </a:p>
                  </a:txBody>
                  <a:tcPr>
                    <a:solidFill>
                      <a:srgbClr val="F1F4F8"/>
                    </a:solidFill>
                  </a:tcPr>
                </a:tc>
                <a:tc>
                  <a:txBody>
                    <a:bodyPr/>
                    <a:lstStyle/>
                    <a:p>
                      <a:r>
                        <a:rPr sz="1400" b="0">
                          <a:solidFill>
                            <a:srgbClr val="1B2430"/>
                          </a:solidFill>
                          <a:latin typeface="Calibri"/>
                        </a:rPr>
                        <a:t>2–4× tezroq, xotira O(n)</a:t>
                      </a:r>
                    </a:p>
                  </a:txBody>
                  <a:tcPr>
                    <a:solidFill>
                      <a:srgbClr val="F1F4F8"/>
                    </a:solidFill>
                  </a:tcPr>
                </a:tc>
              </a:tr>
              <a:tr h="520000">
                <a:tc>
                  <a:txBody>
                    <a:bodyPr/>
                    <a:lstStyle/>
                    <a:p>
                      <a:r>
                        <a:rPr sz="1400" b="0">
                          <a:solidFill>
                            <a:srgbClr val="1B2430"/>
                          </a:solidFill>
                          <a:latin typeface="Calibri"/>
                        </a:rPr>
                        <a:t>PagedAttention</a:t>
                      </a:r>
                    </a:p>
                  </a:txBody>
                  <a:tcPr>
                    <a:solidFill>
                      <a:srgbClr val="FFFFFF"/>
                    </a:solidFill>
                  </a:tcPr>
                </a:tc>
                <a:tc>
                  <a:txBody>
                    <a:bodyPr/>
                    <a:lstStyle/>
                    <a:p>
                      <a:r>
                        <a:rPr sz="1400" b="0">
                          <a:solidFill>
                            <a:srgbClr val="1B2430"/>
                          </a:solidFill>
                          <a:latin typeface="Calibri"/>
                        </a:rPr>
                        <a:t>KV-kesh sig'imi, throughput</a:t>
                      </a:r>
                    </a:p>
                  </a:txBody>
                  <a:tcPr>
                    <a:solidFill>
                      <a:srgbClr val="FFFFFF"/>
                    </a:solidFill>
                  </a:tcPr>
                </a:tc>
                <a:tc>
                  <a:txBody>
                    <a:bodyPr/>
                    <a:lstStyle/>
                    <a:p>
                      <a:r>
                        <a:rPr sz="1400" b="0">
                          <a:solidFill>
                            <a:srgbClr val="1B2430"/>
                          </a:solidFill>
                          <a:latin typeface="Calibri"/>
                        </a:rPr>
                        <a:t>Sahifalangan xotira</a:t>
                      </a:r>
                    </a:p>
                  </a:txBody>
                  <a:tcPr>
                    <a:solidFill>
                      <a:srgbClr val="FFFFFF"/>
                    </a:solidFill>
                  </a:tcPr>
                </a:tc>
                <a:tc>
                  <a:txBody>
                    <a:bodyPr/>
                    <a:lstStyle/>
                    <a:p>
                      <a:r>
                        <a:rPr sz="1400" b="0">
                          <a:solidFill>
                            <a:srgbClr val="1B2430"/>
                          </a:solidFill>
                          <a:latin typeface="Calibri"/>
                        </a:rPr>
                        <a:t>Isrof 60–80 % → 4 % dan kam</a:t>
                      </a:r>
                    </a:p>
                  </a:txBody>
                  <a:tcPr>
                    <a:solidFill>
                      <a:srgbClr val="FFFFFF"/>
                    </a:solidFill>
                  </a:tcPr>
                </a:tc>
              </a:tr>
              <a:tr h="520000">
                <a:tc>
                  <a:txBody>
                    <a:bodyPr/>
                    <a:lstStyle/>
                    <a:p>
                      <a:r>
                        <a:rPr sz="1400" b="0">
                          <a:solidFill>
                            <a:srgbClr val="1B2430"/>
                          </a:solidFill>
                          <a:latin typeface="Calibri"/>
                        </a:rPr>
                        <a:t>Continuous batching</a:t>
                      </a:r>
                    </a:p>
                  </a:txBody>
                  <a:tcPr>
                    <a:solidFill>
                      <a:srgbClr val="F1F4F8"/>
                    </a:solidFill>
                  </a:tcPr>
                </a:tc>
                <a:tc>
                  <a:txBody>
                    <a:bodyPr/>
                    <a:lstStyle/>
                    <a:p>
                      <a:r>
                        <a:rPr sz="1400" b="0">
                          <a:solidFill>
                            <a:srgbClr val="1B2430"/>
                          </a:solidFill>
                          <a:latin typeface="Calibri"/>
                        </a:rPr>
                        <a:t>Throughput, GPU bandligi</a:t>
                      </a:r>
                    </a:p>
                  </a:txBody>
                  <a:tcPr>
                    <a:solidFill>
                      <a:srgbClr val="F1F4F8"/>
                    </a:solidFill>
                  </a:tcPr>
                </a:tc>
                <a:tc>
                  <a:txBody>
                    <a:bodyPr/>
                    <a:lstStyle/>
                    <a:p>
                      <a:r>
                        <a:rPr sz="1400" b="0">
                          <a:solidFill>
                            <a:srgbClr val="1B2430"/>
                          </a:solidFill>
                          <a:latin typeface="Calibri"/>
                        </a:rPr>
                        <a:t>Iteratsiya darajasida partiya</a:t>
                      </a:r>
                    </a:p>
                  </a:txBody>
                  <a:tcPr>
                    <a:solidFill>
                      <a:srgbClr val="F1F4F8"/>
                    </a:solidFill>
                  </a:tcPr>
                </a:tc>
                <a:tc>
                  <a:txBody>
                    <a:bodyPr/>
                    <a:lstStyle/>
                    <a:p>
                      <a:r>
                        <a:rPr sz="1400" b="0">
                          <a:solidFill>
                            <a:srgbClr val="1B2430"/>
                          </a:solidFill>
                          <a:latin typeface="Calibri"/>
                        </a:rPr>
                        <a:t>2–10× throughput</a:t>
                      </a:r>
                    </a:p>
                  </a:txBody>
                  <a:tcPr>
                    <a:solidFill>
                      <a:srgbClr val="F1F4F8"/>
                    </a:solidFill>
                  </a:tcPr>
                </a:tc>
              </a:tr>
              <a:tr h="520000">
                <a:tc>
                  <a:txBody>
                    <a:bodyPr/>
                    <a:lstStyle/>
                    <a:p>
                      <a:r>
                        <a:rPr sz="1400" b="0">
                          <a:solidFill>
                            <a:srgbClr val="1B2430"/>
                          </a:solidFill>
                          <a:latin typeface="Calibri"/>
                        </a:rPr>
                        <a:t>Spekulyativ dekodlash</a:t>
                      </a:r>
                    </a:p>
                  </a:txBody>
                  <a:tcPr>
                    <a:solidFill>
                      <a:srgbClr val="FFFFFF"/>
                    </a:solidFill>
                  </a:tcPr>
                </a:tc>
                <a:tc>
                  <a:txBody>
                    <a:bodyPr/>
                    <a:lstStyle/>
                    <a:p>
                      <a:r>
                        <a:rPr sz="1400" b="0">
                          <a:solidFill>
                            <a:srgbClr val="1B2430"/>
                          </a:solidFill>
                          <a:latin typeface="Calibri"/>
                        </a:rPr>
                        <a:t>Decode kechikishi</a:t>
                      </a:r>
                    </a:p>
                  </a:txBody>
                  <a:tcPr>
                    <a:solidFill>
                      <a:srgbClr val="FFFFFF"/>
                    </a:solidFill>
                  </a:tcPr>
                </a:tc>
                <a:tc>
                  <a:txBody>
                    <a:bodyPr/>
                    <a:lstStyle/>
                    <a:p>
                      <a:r>
                        <a:rPr sz="1400" b="0">
                          <a:solidFill>
                            <a:srgbClr val="1B2430"/>
                          </a:solidFill>
                          <a:latin typeface="Calibri"/>
                        </a:rPr>
                        <a:t>Qoralama + parallel tekshiruv</a:t>
                      </a:r>
                    </a:p>
                  </a:txBody>
                  <a:tcPr>
                    <a:solidFill>
                      <a:srgbClr val="FFFFFF"/>
                    </a:solidFill>
                  </a:tcPr>
                </a:tc>
                <a:tc>
                  <a:txBody>
                    <a:bodyPr/>
                    <a:lstStyle/>
                    <a:p>
                      <a:r>
                        <a:rPr sz="1400" b="0">
                          <a:solidFill>
                            <a:srgbClr val="1B2430"/>
                          </a:solidFill>
                          <a:latin typeface="Calibri"/>
                        </a:rPr>
                        <a:t>2–3× tok/s</a:t>
                      </a:r>
                    </a:p>
                  </a:txBody>
                  <a:tcPr>
                    <a:solidFill>
                      <a:srgbClr val="FFFFFF"/>
                    </a:solidFill>
                  </a:tcPr>
                </a:tc>
              </a:tr>
              <a:tr h="520000">
                <a:tc>
                  <a:txBody>
                    <a:bodyPr/>
                    <a:lstStyle/>
                    <a:p>
                      <a:r>
                        <a:rPr sz="1400" b="0">
                          <a:solidFill>
                            <a:srgbClr val="1B2430"/>
                          </a:solidFill>
                          <a:latin typeface="Calibri"/>
                        </a:rPr>
                        <a:t>INT4/FP8 kvantlash</a:t>
                      </a:r>
                    </a:p>
                  </a:txBody>
                  <a:tcPr>
                    <a:solidFill>
                      <a:srgbClr val="F1F4F8"/>
                    </a:solidFill>
                  </a:tcPr>
                </a:tc>
                <a:tc>
                  <a:txBody>
                    <a:bodyPr/>
                    <a:lstStyle/>
                    <a:p>
                      <a:r>
                        <a:rPr sz="1400" b="0">
                          <a:solidFill>
                            <a:srgbClr val="1B2430"/>
                          </a:solidFill>
                          <a:latin typeface="Calibri"/>
                        </a:rPr>
                        <a:t>Xotira, decode tezligi</a:t>
                      </a:r>
                    </a:p>
                  </a:txBody>
                  <a:tcPr>
                    <a:solidFill>
                      <a:srgbClr val="F1F4F8"/>
                    </a:solidFill>
                  </a:tcPr>
                </a:tc>
                <a:tc>
                  <a:txBody>
                    <a:bodyPr/>
                    <a:lstStyle/>
                    <a:p>
                      <a:r>
                        <a:rPr sz="1400" b="0">
                          <a:solidFill>
                            <a:srgbClr val="1B2430"/>
                          </a:solidFill>
                          <a:latin typeface="Calibri"/>
                        </a:rPr>
                        <a:t>Kam bayt o'qish</a:t>
                      </a:r>
                    </a:p>
                  </a:txBody>
                  <a:tcPr>
                    <a:solidFill>
                      <a:srgbClr val="F1F4F8"/>
                    </a:solidFill>
                  </a:tcPr>
                </a:tc>
                <a:tc>
                  <a:txBody>
                    <a:bodyPr/>
                    <a:lstStyle/>
                    <a:p>
                      <a:r>
                        <a:rPr sz="1400" b="0">
                          <a:solidFill>
                            <a:srgbClr val="1B2430"/>
                          </a:solidFill>
                          <a:latin typeface="Calibri"/>
                        </a:rPr>
                        <a:t>2–4× xotira, sifat −0…2 %</a:t>
                      </a:r>
                    </a:p>
                  </a:txBody>
                  <a:tcPr>
                    <a:solidFill>
                      <a:srgbClr val="F1F4F8"/>
                    </a:solidFill>
                  </a:tcPr>
                </a:tc>
              </a:tr>
              <a:tr h="520000">
                <a:tc>
                  <a:txBody>
                    <a:bodyPr/>
                    <a:lstStyle/>
                    <a:p>
                      <a:r>
                        <a:rPr sz="1400" b="0">
                          <a:solidFill>
                            <a:srgbClr val="1B2430"/>
                          </a:solidFill>
                          <a:latin typeface="Calibri"/>
                        </a:rPr>
                        <a:t>GQA / MQA</a:t>
                      </a:r>
                    </a:p>
                  </a:txBody>
                  <a:tcPr>
                    <a:solidFill>
                      <a:srgbClr val="FFFFFF"/>
                    </a:solidFill>
                  </a:tcPr>
                </a:tc>
                <a:tc>
                  <a:txBody>
                    <a:bodyPr/>
                    <a:lstStyle/>
                    <a:p>
                      <a:r>
                        <a:rPr sz="1400" b="0">
                          <a:solidFill>
                            <a:srgbClr val="1B2430"/>
                          </a:solidFill>
                          <a:latin typeface="Calibri"/>
                        </a:rPr>
                        <a:t>KV-kesh hajmi</a:t>
                      </a:r>
                    </a:p>
                  </a:txBody>
                  <a:tcPr>
                    <a:solidFill>
                      <a:srgbClr val="FFFFFF"/>
                    </a:solidFill>
                  </a:tcPr>
                </a:tc>
                <a:tc>
                  <a:txBody>
                    <a:bodyPr/>
                    <a:lstStyle/>
                    <a:p>
                      <a:r>
                        <a:rPr sz="1400" b="0">
                          <a:solidFill>
                            <a:srgbClr val="1B2430"/>
                          </a:solidFill>
                          <a:latin typeface="Calibri"/>
                        </a:rPr>
                        <a:t>K/V boshlarni bo'lishish</a:t>
                      </a:r>
                    </a:p>
                  </a:txBody>
                  <a:tcPr>
                    <a:solidFill>
                      <a:srgbClr val="FFFFFF"/>
                    </a:solidFill>
                  </a:tcPr>
                </a:tc>
                <a:tc>
                  <a:txBody>
                    <a:bodyPr/>
                    <a:lstStyle/>
                    <a:p>
                      <a:r>
                        <a:rPr sz="1400" b="0">
                          <a:solidFill>
                            <a:srgbClr val="1B2430"/>
                          </a:solidFill>
                          <a:latin typeface="Calibri"/>
                        </a:rPr>
                        <a:t>4–8× kichik kesh</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Retrieval-Augmented Generation va vektor bazalar</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RAG (Lewis va boshq., 2020) tizimi ikki bosqichda ishlaydi. Tayyorgarlik (indekslash): hujjatlar bo'laklarga (chunk, odatda 200–1000 token, qisman ustma-ust) bo'linadi, har bo'lak embedding modeli orqali zich vektorga (384–1024 o'lcham) aylantiriladi va…</a:t>
            </a:r>
          </a:p>
          <a:p>
            <a:pPr>
              <a:spcAft>
                <a:spcPts val="900"/>
              </a:spcAft>
            </a:pPr>
            <a:r>
              <a:rPr sz="1600" b="1">
                <a:solidFill>
                  <a:srgbClr val="0F8B8D"/>
                </a:solidFill>
              </a:rPr>
              <a:t>▪  </a:t>
            </a:r>
            <a:r>
              <a:rPr sz="1600">
                <a:solidFill>
                  <a:srgbClr val="1B2430"/>
                </a:solidFill>
                <a:latin typeface="Calibri"/>
              </a:rPr>
              <a:t>Vektor qidiruvning markaziy masalasi — N ta d-o'lchamli vektor orasidan so'rovga eng yaqin k tasini tez topish. To'liq qidiruv (Flat, brute force) O(N · d) — 1 million × 768 o'lcham uchun GPU'da bir necha millisekund, lekin 100 million uchun sekin va 300 GB…</a:t>
            </a:r>
          </a:p>
          <a:p>
            <a:pPr>
              <a:spcAft>
                <a:spcPts val="900"/>
              </a:spcAft>
            </a:pPr>
            <a:r>
              <a:rPr sz="1600" b="1">
                <a:solidFill>
                  <a:srgbClr val="0F8B8D"/>
                </a:solidFill>
              </a:rPr>
              <a:t>▪  </a:t>
            </a:r>
            <a:r>
              <a:rPr sz="1600">
                <a:solidFill>
                  <a:srgbClr val="1B2430"/>
                </a:solidFill>
                <a:latin typeface="Calibri"/>
              </a:rPr>
              <a:t>Vektor baza (vector database) — indeks ustiga metama'lumot filtrlash, CRUD, persistentlik, replikatsiya va API qo'shadigan tizim. FAISS (Meta) — kutubxona, baza emas: eng tez va moslashuvchan, GPU qo'llab-quvvatlaydi, lekin saqlash va filtrlashni o'zingiz…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Retrieval-Augmented Generation va vektor bazalar</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00000" y="1350000"/>
          <a:ext cx="11200000" cy="3120000"/>
        </p:xfrm>
        <a:graphic>
          <a:graphicData uri="http://schemas.openxmlformats.org/drawingml/2006/table">
            <a:tbl>
              <a:tblPr firstRow="1" bandRow="1">
                <a:tableStyleId>{5C22544A-7EE6-4342-B048-85BDC9FD1C3A}</a:tableStyleId>
              </a:tblPr>
              <a:tblGrid>
                <a:gridCol w="2240000"/>
                <a:gridCol w="2240000"/>
                <a:gridCol w="2240000"/>
                <a:gridCol w="2240000"/>
                <a:gridCol w="2240000"/>
              </a:tblGrid>
              <a:tr h="520000">
                <a:tc>
                  <a:txBody>
                    <a:bodyPr/>
                    <a:lstStyle/>
                    <a:p>
                      <a:r>
                        <a:rPr sz="1400" b="1">
                          <a:solidFill>
                            <a:srgbClr val="FFFFFF"/>
                          </a:solidFill>
                          <a:latin typeface="Calibri"/>
                        </a:rPr>
                        <a:t>Indeks</a:t>
                      </a:r>
                    </a:p>
                  </a:txBody>
                  <a:tcPr>
                    <a:solidFill>
                      <a:srgbClr val="2D5C8F"/>
                    </a:solidFill>
                  </a:tcPr>
                </a:tc>
                <a:tc>
                  <a:txBody>
                    <a:bodyPr/>
                    <a:lstStyle/>
                    <a:p>
                      <a:r>
                        <a:rPr sz="1400" b="1">
                          <a:solidFill>
                            <a:srgbClr val="FFFFFF"/>
                          </a:solidFill>
                          <a:latin typeface="Calibri"/>
                        </a:rPr>
                        <a:t>Qidiruv vaqti (1M, d=768, taxminiy)</a:t>
                      </a:r>
                    </a:p>
                  </a:txBody>
                  <a:tcPr>
                    <a:solidFill>
                      <a:srgbClr val="2D5C8F"/>
                    </a:solidFill>
                  </a:tcPr>
                </a:tc>
                <a:tc>
                  <a:txBody>
                    <a:bodyPr/>
                    <a:lstStyle/>
                    <a:p>
                      <a:r>
                        <a:rPr sz="1400" b="1">
                          <a:solidFill>
                            <a:srgbClr val="FFFFFF"/>
                          </a:solidFill>
                          <a:latin typeface="Calibri"/>
                        </a:rPr>
                        <a:t>Xotira</a:t>
                      </a:r>
                    </a:p>
                  </a:txBody>
                  <a:tcPr>
                    <a:solidFill>
                      <a:srgbClr val="2D5C8F"/>
                    </a:solidFill>
                  </a:tcPr>
                </a:tc>
                <a:tc>
                  <a:txBody>
                    <a:bodyPr/>
                    <a:lstStyle/>
                    <a:p>
                      <a:r>
                        <a:rPr sz="1400" b="1">
                          <a:solidFill>
                            <a:srgbClr val="FFFFFF"/>
                          </a:solidFill>
                          <a:latin typeface="Calibri"/>
                        </a:rPr>
                        <a:t>Recall@10</a:t>
                      </a:r>
                    </a:p>
                  </a:txBody>
                  <a:tcPr>
                    <a:solidFill>
                      <a:srgbClr val="2D5C8F"/>
                    </a:solidFill>
                  </a:tcPr>
                </a:tc>
                <a:tc>
                  <a:txBody>
                    <a:bodyPr/>
                    <a:lstStyle/>
                    <a:p>
                      <a:r>
                        <a:rPr sz="1400" b="1">
                          <a:solidFill>
                            <a:srgbClr val="FFFFFF"/>
                          </a:solidFill>
                          <a:latin typeface="Calibri"/>
                        </a:rPr>
                        <a:t>Qurish</a:t>
                      </a:r>
                    </a:p>
                  </a:txBody>
                  <a:tcPr>
                    <a:solidFill>
                      <a:srgbClr val="2D5C8F"/>
                    </a:solidFill>
                  </a:tcPr>
                </a:tc>
              </a:tr>
              <a:tr h="520000">
                <a:tc>
                  <a:txBody>
                    <a:bodyPr/>
                    <a:lstStyle/>
                    <a:p>
                      <a:r>
                        <a:rPr sz="1400" b="0">
                          <a:solidFill>
                            <a:srgbClr val="1B2430"/>
                          </a:solidFill>
                          <a:latin typeface="Calibri"/>
                        </a:rPr>
                        <a:t>Flat (CPU)</a:t>
                      </a:r>
                    </a:p>
                  </a:txBody>
                  <a:tcPr>
                    <a:solidFill>
                      <a:srgbClr val="F1F4F8"/>
                    </a:solidFill>
                  </a:tcPr>
                </a:tc>
                <a:tc>
                  <a:txBody>
                    <a:bodyPr/>
                    <a:lstStyle/>
                    <a:p>
                      <a:r>
                        <a:rPr sz="1400" b="0">
                          <a:solidFill>
                            <a:srgbClr val="1B2430"/>
                          </a:solidFill>
                          <a:latin typeface="Calibri"/>
                        </a:rPr>
                        <a:t>50–150 ms</a:t>
                      </a:r>
                    </a:p>
                  </a:txBody>
                  <a:tcPr>
                    <a:solidFill>
                      <a:srgbClr val="F1F4F8"/>
                    </a:solidFill>
                  </a:tcPr>
                </a:tc>
                <a:tc>
                  <a:txBody>
                    <a:bodyPr/>
                    <a:lstStyle/>
                    <a:p>
                      <a:r>
                        <a:rPr sz="1400" b="0">
                          <a:solidFill>
                            <a:srgbClr val="1B2430"/>
                          </a:solidFill>
                          <a:latin typeface="Calibri"/>
                        </a:rPr>
                        <a:t>3 GB</a:t>
                      </a:r>
                    </a:p>
                  </a:txBody>
                  <a:tcPr>
                    <a:solidFill>
                      <a:srgbClr val="F1F4F8"/>
                    </a:solidFill>
                  </a:tcPr>
                </a:tc>
                <a:tc>
                  <a:txBody>
                    <a:bodyPr/>
                    <a:lstStyle/>
                    <a:p>
                      <a:r>
                        <a:rPr sz="1400" b="0">
                          <a:solidFill>
                            <a:srgbClr val="1B2430"/>
                          </a:solidFill>
                          <a:latin typeface="Calibri"/>
                        </a:rPr>
                        <a:t>100 %</a:t>
                      </a:r>
                    </a:p>
                  </a:txBody>
                  <a:tcPr>
                    <a:solidFill>
                      <a:srgbClr val="F1F4F8"/>
                    </a:solidFill>
                  </a:tcPr>
                </a:tc>
                <a:tc>
                  <a:txBody>
                    <a:bodyPr/>
                    <a:lstStyle/>
                    <a:p>
                      <a:r>
                        <a:rPr sz="1400" b="0">
                          <a:solidFill>
                            <a:srgbClr val="1B2430"/>
                          </a:solidFill>
                          <a:latin typeface="Calibri"/>
                        </a:rPr>
                        <a:t>0</a:t>
                      </a:r>
                    </a:p>
                  </a:txBody>
                  <a:tcPr>
                    <a:solidFill>
                      <a:srgbClr val="F1F4F8"/>
                    </a:solidFill>
                  </a:tcPr>
                </a:tc>
              </a:tr>
              <a:tr h="520000">
                <a:tc>
                  <a:txBody>
                    <a:bodyPr/>
                    <a:lstStyle/>
                    <a:p>
                      <a:r>
                        <a:rPr sz="1400" b="0">
                          <a:solidFill>
                            <a:srgbClr val="1B2430"/>
                          </a:solidFill>
                          <a:latin typeface="Calibri"/>
                        </a:rPr>
                        <a:t>Flat (GPU)</a:t>
                      </a:r>
                    </a:p>
                  </a:txBody>
                  <a:tcPr>
                    <a:solidFill>
                      <a:srgbClr val="FFFFFF"/>
                    </a:solidFill>
                  </a:tcPr>
                </a:tc>
                <a:tc>
                  <a:txBody>
                    <a:bodyPr/>
                    <a:lstStyle/>
                    <a:p>
                      <a:r>
                        <a:rPr sz="1400" b="0">
                          <a:solidFill>
                            <a:srgbClr val="1B2430"/>
                          </a:solidFill>
                          <a:latin typeface="Calibri"/>
                        </a:rPr>
                        <a:t>1–3 ms</a:t>
                      </a:r>
                    </a:p>
                  </a:txBody>
                  <a:tcPr>
                    <a:solidFill>
                      <a:srgbClr val="FFFFFF"/>
                    </a:solidFill>
                  </a:tcPr>
                </a:tc>
                <a:tc>
                  <a:txBody>
                    <a:bodyPr/>
                    <a:lstStyle/>
                    <a:p>
                      <a:r>
                        <a:rPr sz="1400" b="0">
                          <a:solidFill>
                            <a:srgbClr val="1B2430"/>
                          </a:solidFill>
                          <a:latin typeface="Calibri"/>
                        </a:rPr>
                        <a:t>3 GB</a:t>
                      </a:r>
                    </a:p>
                  </a:txBody>
                  <a:tcPr>
                    <a:solidFill>
                      <a:srgbClr val="FFFFFF"/>
                    </a:solidFill>
                  </a:tcPr>
                </a:tc>
                <a:tc>
                  <a:txBody>
                    <a:bodyPr/>
                    <a:lstStyle/>
                    <a:p>
                      <a:r>
                        <a:rPr sz="1400" b="0">
                          <a:solidFill>
                            <a:srgbClr val="1B2430"/>
                          </a:solidFill>
                          <a:latin typeface="Calibri"/>
                        </a:rPr>
                        <a:t>100 %</a:t>
                      </a:r>
                    </a:p>
                  </a:txBody>
                  <a:tcPr>
                    <a:solidFill>
                      <a:srgbClr val="FFFFFF"/>
                    </a:solidFill>
                  </a:tcPr>
                </a:tc>
                <a:tc>
                  <a:txBody>
                    <a:bodyPr/>
                    <a:lstStyle/>
                    <a:p>
                      <a:r>
                        <a:rPr sz="1400" b="0">
                          <a:solidFill>
                            <a:srgbClr val="1B2430"/>
                          </a:solidFill>
                          <a:latin typeface="Calibri"/>
                        </a:rPr>
                        <a:t>0</a:t>
                      </a:r>
                    </a:p>
                  </a:txBody>
                  <a:tcPr>
                    <a:solidFill>
                      <a:srgbClr val="FFFFFF"/>
                    </a:solidFill>
                  </a:tcPr>
                </a:tc>
              </a:tr>
              <a:tr h="520000">
                <a:tc>
                  <a:txBody>
                    <a:bodyPr/>
                    <a:lstStyle/>
                    <a:p>
                      <a:r>
                        <a:rPr sz="1400" b="0">
                          <a:solidFill>
                            <a:srgbClr val="1B2430"/>
                          </a:solidFill>
                          <a:latin typeface="Calibri"/>
                        </a:rPr>
                        <a:t>IVF1024, nprobe=16</a:t>
                      </a:r>
                    </a:p>
                  </a:txBody>
                  <a:tcPr>
                    <a:solidFill>
                      <a:srgbClr val="F1F4F8"/>
                    </a:solidFill>
                  </a:tcPr>
                </a:tc>
                <a:tc>
                  <a:txBody>
                    <a:bodyPr/>
                    <a:lstStyle/>
                    <a:p>
                      <a:r>
                        <a:rPr sz="1400" b="0">
                          <a:solidFill>
                            <a:srgbClr val="1B2430"/>
                          </a:solidFill>
                          <a:latin typeface="Calibri"/>
                        </a:rPr>
                        <a:t>2–5 ms</a:t>
                      </a:r>
                    </a:p>
                  </a:txBody>
                  <a:tcPr>
                    <a:solidFill>
                      <a:srgbClr val="F1F4F8"/>
                    </a:solidFill>
                  </a:tcPr>
                </a:tc>
                <a:tc>
                  <a:txBody>
                    <a:bodyPr/>
                    <a:lstStyle/>
                    <a:p>
                      <a:r>
                        <a:rPr sz="1400" b="0">
                          <a:solidFill>
                            <a:srgbClr val="1B2430"/>
                          </a:solidFill>
                          <a:latin typeface="Calibri"/>
                        </a:rPr>
                        <a:t>3 GB</a:t>
                      </a:r>
                    </a:p>
                  </a:txBody>
                  <a:tcPr>
                    <a:solidFill>
                      <a:srgbClr val="F1F4F8"/>
                    </a:solidFill>
                  </a:tcPr>
                </a:tc>
                <a:tc>
                  <a:txBody>
                    <a:bodyPr/>
                    <a:lstStyle/>
                    <a:p>
                      <a:r>
                        <a:rPr sz="1400" b="0">
                          <a:solidFill>
                            <a:srgbClr val="1B2430"/>
                          </a:solidFill>
                          <a:latin typeface="Calibri"/>
                        </a:rPr>
                        <a:t>90–95 %</a:t>
                      </a:r>
                    </a:p>
                  </a:txBody>
                  <a:tcPr>
                    <a:solidFill>
                      <a:srgbClr val="F1F4F8"/>
                    </a:solidFill>
                  </a:tcPr>
                </a:tc>
                <a:tc>
                  <a:txBody>
                    <a:bodyPr/>
                    <a:lstStyle/>
                    <a:p>
                      <a:r>
                        <a:rPr sz="1400" b="0">
                          <a:solidFill>
                            <a:srgbClr val="1B2430"/>
                          </a:solidFill>
                          <a:latin typeface="Calibri"/>
                        </a:rPr>
                        <a:t>daqiqalar</a:t>
                      </a:r>
                    </a:p>
                  </a:txBody>
                  <a:tcPr>
                    <a:solidFill>
                      <a:srgbClr val="F1F4F8"/>
                    </a:solidFill>
                  </a:tcPr>
                </a:tc>
              </a:tr>
              <a:tr h="520000">
                <a:tc>
                  <a:txBody>
                    <a:bodyPr/>
                    <a:lstStyle/>
                    <a:p>
                      <a:r>
                        <a:rPr sz="1400" b="0">
                          <a:solidFill>
                            <a:srgbClr val="1B2430"/>
                          </a:solidFill>
                          <a:latin typeface="Calibri"/>
                        </a:rPr>
                        <a:t>HNSW32, ef=64</a:t>
                      </a:r>
                    </a:p>
                  </a:txBody>
                  <a:tcPr>
                    <a:solidFill>
                      <a:srgbClr val="FFFFFF"/>
                    </a:solidFill>
                  </a:tcPr>
                </a:tc>
                <a:tc>
                  <a:txBody>
                    <a:bodyPr/>
                    <a:lstStyle/>
                    <a:p>
                      <a:r>
                        <a:rPr sz="1400" b="0">
                          <a:solidFill>
                            <a:srgbClr val="1B2430"/>
                          </a:solidFill>
                          <a:latin typeface="Calibri"/>
                        </a:rPr>
                        <a:t>0,3–1 ms</a:t>
                      </a:r>
                    </a:p>
                  </a:txBody>
                  <a:tcPr>
                    <a:solidFill>
                      <a:srgbClr val="FFFFFF"/>
                    </a:solidFill>
                  </a:tcPr>
                </a:tc>
                <a:tc>
                  <a:txBody>
                    <a:bodyPr/>
                    <a:lstStyle/>
                    <a:p>
                      <a:r>
                        <a:rPr sz="1400" b="0">
                          <a:solidFill>
                            <a:srgbClr val="1B2430"/>
                          </a:solidFill>
                          <a:latin typeface="Calibri"/>
                        </a:rPr>
                        <a:t>4–5 GB</a:t>
                      </a:r>
                    </a:p>
                  </a:txBody>
                  <a:tcPr>
                    <a:solidFill>
                      <a:srgbClr val="FFFFFF"/>
                    </a:solidFill>
                  </a:tcPr>
                </a:tc>
                <a:tc>
                  <a:txBody>
                    <a:bodyPr/>
                    <a:lstStyle/>
                    <a:p>
                      <a:r>
                        <a:rPr sz="1400" b="0">
                          <a:solidFill>
                            <a:srgbClr val="1B2430"/>
                          </a:solidFill>
                          <a:latin typeface="Calibri"/>
                        </a:rPr>
                        <a:t>97–99 %</a:t>
                      </a:r>
                    </a:p>
                  </a:txBody>
                  <a:tcPr>
                    <a:solidFill>
                      <a:srgbClr val="FFFFFF"/>
                    </a:solidFill>
                  </a:tcPr>
                </a:tc>
                <a:tc>
                  <a:txBody>
                    <a:bodyPr/>
                    <a:lstStyle/>
                    <a:p>
                      <a:r>
                        <a:rPr sz="1400" b="0">
                          <a:solidFill>
                            <a:srgbClr val="1B2430"/>
                          </a:solidFill>
                          <a:latin typeface="Calibri"/>
                        </a:rPr>
                        <a:t>10–30 daqiqa</a:t>
                      </a:r>
                    </a:p>
                  </a:txBody>
                  <a:tcPr>
                    <a:solidFill>
                      <a:srgbClr val="FFFFFF"/>
                    </a:solidFill>
                  </a:tcPr>
                </a:tc>
              </a:tr>
              <a:tr h="520000">
                <a:tc>
                  <a:txBody>
                    <a:bodyPr/>
                    <a:lstStyle/>
                    <a:p>
                      <a:r>
                        <a:rPr sz="1400" b="0">
                          <a:solidFill>
                            <a:srgbClr val="1B2430"/>
                          </a:solidFill>
                          <a:latin typeface="Calibri"/>
                        </a:rPr>
                        <a:t>IVF1024,PQ64</a:t>
                      </a:r>
                    </a:p>
                  </a:txBody>
                  <a:tcPr>
                    <a:solidFill>
                      <a:srgbClr val="F1F4F8"/>
                    </a:solidFill>
                  </a:tcPr>
                </a:tc>
                <a:tc>
                  <a:txBody>
                    <a:bodyPr/>
                    <a:lstStyle/>
                    <a:p>
                      <a:r>
                        <a:rPr sz="1400" b="0">
                          <a:solidFill>
                            <a:srgbClr val="1B2430"/>
                          </a:solidFill>
                          <a:latin typeface="Calibri"/>
                        </a:rPr>
                        <a:t>1–3 ms</a:t>
                      </a:r>
                    </a:p>
                  </a:txBody>
                  <a:tcPr>
                    <a:solidFill>
                      <a:srgbClr val="F1F4F8"/>
                    </a:solidFill>
                  </a:tcPr>
                </a:tc>
                <a:tc>
                  <a:txBody>
                    <a:bodyPr/>
                    <a:lstStyle/>
                    <a:p>
                      <a:r>
                        <a:rPr sz="1400" b="0">
                          <a:solidFill>
                            <a:srgbClr val="1B2430"/>
                          </a:solidFill>
                          <a:latin typeface="Calibri"/>
                        </a:rPr>
                        <a:t>0,1 GB</a:t>
                      </a:r>
                    </a:p>
                  </a:txBody>
                  <a:tcPr>
                    <a:solidFill>
                      <a:srgbClr val="F1F4F8"/>
                    </a:solidFill>
                  </a:tcPr>
                </a:tc>
                <a:tc>
                  <a:txBody>
                    <a:bodyPr/>
                    <a:lstStyle/>
                    <a:p>
                      <a:r>
                        <a:rPr sz="1400" b="0">
                          <a:solidFill>
                            <a:srgbClr val="1B2430"/>
                          </a:solidFill>
                          <a:latin typeface="Calibri"/>
                        </a:rPr>
                        <a:t>80–90 %</a:t>
                      </a:r>
                    </a:p>
                  </a:txBody>
                  <a:tcPr>
                    <a:solidFill>
                      <a:srgbClr val="F1F4F8"/>
                    </a:solidFill>
                  </a:tcPr>
                </a:tc>
                <a:tc>
                  <a:txBody>
                    <a:bodyPr/>
                    <a:lstStyle/>
                    <a:p>
                      <a:r>
                        <a:rPr sz="1400" b="0">
                          <a:solidFill>
                            <a:srgbClr val="1B2430"/>
                          </a:solidFill>
                          <a:latin typeface="Calibri"/>
                        </a:rPr>
                        <a:t>daqiqalar</a:t>
                      </a:r>
                    </a:p>
                  </a:txBody>
                  <a:tcPr>
                    <a:solidFill>
                      <a:srgbClr val="F1F4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Sun'iy intellekt agentlari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11</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Agent — LLM'ni qaror qabul qiluvchi «miya» sifatida ishlatuvchi, vositalar (tools) bilan muhit bilan o'zaro ta'sir qiluvchi va ko'p qadamli vazifalarni bajaruvchi tizim. ReAct naqshi (reasoning + acting) asosiy sikl: model fikrlaydi, vosita chaqiruvini…</a:t>
            </a:r>
          </a:p>
          <a:p>
            <a:pPr>
              <a:spcAft>
                <a:spcPts val="900"/>
              </a:spcAft>
            </a:pPr>
            <a:r>
              <a:rPr sz="2000" b="1">
                <a:solidFill>
                  <a:srgbClr val="0F8B8D"/>
                </a:solidFill>
              </a:rPr>
              <a:t>▪  </a:t>
            </a:r>
            <a:r>
              <a:rPr sz="2000">
                <a:solidFill>
                  <a:srgbClr val="1B2430"/>
                </a:solidFill>
                <a:latin typeface="Calibri"/>
              </a:rPr>
              <a:t>Infratuzilma nuqtai nazaridan agentlar uch yangi talab qo'yadi. Birinchidan, kechikish zanjiri: bitta foydalanuvchi vazifasi 5–20 ta LLM chaqiruvi va vosita bajarilishidan iborat, umumiy vaqt o'nlab soniya; shuning uchun har chaqiruvning TTFT va prefiks…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LLM uchun GPU klasterlari va yuqori unumdor infratuzilma</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12</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LLM infratuzilmasini loyihalash to'rt resursni muvozanatlashdan boshlanadi: GPU xotirasi, hisoblash, tugunlar ichidagi va orasidagi tarmoq, saqlash. Xotira talabi inferens uchun: og'irliklar (P × bayt) + KV-kesh (foydalanuvchilar × kontekst × token boshiga…</a:t>
            </a:r>
          </a:p>
          <a:p>
            <a:pPr>
              <a:spcAft>
                <a:spcPts val="900"/>
              </a:spcAft>
            </a:pPr>
            <a:r>
              <a:rPr sz="1800" b="1">
                <a:solidFill>
                  <a:srgbClr val="0F8B8D"/>
                </a:solidFill>
              </a:rPr>
              <a:t>▪  </a:t>
            </a:r>
            <a:r>
              <a:rPr sz="1800">
                <a:solidFill>
                  <a:srgbClr val="1B2430"/>
                </a:solidFill>
                <a:latin typeface="Calibri"/>
              </a:rPr>
              <a:t>O'qitish klasteri uchun tugun — standart birlik: DGX H100 (8 × H100 SXM 80 GB, NVSwitch orqali to'liq bog'langan, 2 × Intel Xeon, 2 TB RAM, 8 × 400 Gb/s InfiniBand NDR adapter — har GPU'ga bittadan, ≈ 10 kW). Tugunlar orasidagi tarmoq ma'lumot…</a:t>
            </a:r>
          </a:p>
          <a:p>
            <a:pPr>
              <a:spcAft>
                <a:spcPts val="900"/>
              </a:spcAft>
            </a:pPr>
            <a:r>
              <a:rPr sz="1800" b="1">
                <a:solidFill>
                  <a:srgbClr val="0F8B8D"/>
                </a:solidFill>
              </a:rPr>
              <a:t>▪  </a:t>
            </a:r>
            <a:r>
              <a:rPr sz="1800">
                <a:solidFill>
                  <a:srgbClr val="1B2430"/>
                </a:solidFill>
                <a:latin typeface="Calibri"/>
              </a:rPr>
              <a:t>Energiya va joylashtirish: 1 000 ta H100 ≈ 1,3 MW IT quvvat, PUE 1,2 bilan 1,6 MW; suyuqlik sovutish 700 vattlik GPU'lar uchun standartga aylanmoqda. Dasturiy stek: konteynerlar (NVIDIA NGC obrazlari), orkestratsiya (Slurm — HPC an'anasi, Kubernetes + GPU…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Amaliy misol</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13</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Misolda biz to'liq LLM tizimini kichik masshtabda quramiz: vLLM bilan Llama 3.1 8B Instruct modelini OpenAI-mos API sifatida ishga tushiramiz, o'z hujjatlarimizdan FAISS (va muqobil sifatida Chroma) bilan vektor indeks tuzamiz, RAG konveyerini yig'amiz, TTFT…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1-qadam. vLLM bilan modelni xizmatga qo'yish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14</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vLLM og'irliklarni (16 GB) yuklaydi, so'ngra --gpu-memory-utilization 0.90 bo'yicha 72 GB dan qolgan ≈ 54 GB'ni KV-kesh sahifalari uchun oldindan ajratadi va logda «# GPU blocks: ~27 000» kabi qator chiqaradi — har blok 16 token, 128…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1-qadam. vLLM bilan modelni xizmatga qo'yish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15</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200">
                <a:solidFill>
                  <a:srgbClr val="E2E8F0"/>
                </a:solidFill>
                <a:latin typeface="Consolas"/>
              </a:rPr>
              <a:t>pip install vllm sentence-transformers faiss-cpu chromadb openai</a:t>
            </a:r>
          </a:p>
          <a:p>
            <a:r>
              <a:rPr sz="1200">
                <a:solidFill>
                  <a:srgbClr val="7FD6D7"/>
                </a:solidFill>
                <a:latin typeface="Consolas"/>
              </a:rPr>
              <a:t># Hugging Face'dan model yuklash uchun token kerak (Llama litsenziyasini qabul qilgan akkaunt)</a:t>
            </a:r>
          </a:p>
          <a:p>
            <a:r>
              <a:rPr sz="1200">
                <a:solidFill>
                  <a:srgbClr val="E2E8F0"/>
                </a:solidFill>
                <a:latin typeface="Consolas"/>
              </a:rPr>
              <a:t>export HF_TOKEN=hf_...</a:t>
            </a:r>
          </a:p>
          <a:p>
            <a:r>
              <a:rPr sz="1200">
                <a:solidFill>
                  <a:srgbClr val="E2E8F0"/>
                </a:solidFill>
                <a:latin typeface="Consolas"/>
              </a:rPr>
              <a:t>python3 -m vllm.entrypoints.openai.api_server \</a:t>
            </a:r>
          </a:p>
          <a:p>
            <a:r>
              <a:rPr sz="1200">
                <a:solidFill>
                  <a:srgbClr val="E2E8F0"/>
                </a:solidFill>
                <a:latin typeface="Consolas"/>
              </a:rPr>
              <a:t>    --model meta-llama/Llama-3.1-8B-Instruct \</a:t>
            </a:r>
          </a:p>
          <a:p>
            <a:r>
              <a:rPr sz="1200">
                <a:solidFill>
                  <a:srgbClr val="E2E8F0"/>
                </a:solidFill>
                <a:latin typeface="Consolas"/>
              </a:rPr>
              <a:t>    --dtype bfloat16 --max-model-len 8192 \</a:t>
            </a:r>
          </a:p>
          <a:p>
            <a:r>
              <a:rPr sz="1200">
                <a:solidFill>
                  <a:srgbClr val="E2E8F0"/>
                </a:solidFill>
                <a:latin typeface="Consolas"/>
              </a:rPr>
              <a:t>    --gpu-memory-utilization 0.90 --enable-prefix-caching \</a:t>
            </a:r>
          </a:p>
          <a:p>
            <a:r>
              <a:rPr sz="1200">
                <a:solidFill>
                  <a:srgbClr val="E2E8F0"/>
                </a:solidFill>
                <a:latin typeface="Consolas"/>
              </a:rPr>
              <a:t>    --port 8000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2-qadam. Hujjatlarni bo'laklash va embedding</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16</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500 so'zli bo'laklar 100 so'z ustma-ust tushadi — chegarada bo'lingan jumla ikkala bo'lakda ham saqlanadi. bge-m3 1024 o'lchamli, ko'p tilli embedding modeli; normalize_embeddings=True vektorlarni birlik uzunlikka keltiradi, shunda ichki…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2-qadam. Hujjatlarni bo'laklash va embedding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17</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000">
                <a:solidFill>
                  <a:srgbClr val="E2E8F0"/>
                </a:solidFill>
                <a:latin typeface="Consolas"/>
              </a:rPr>
              <a:t>import glob, re</a:t>
            </a:r>
          </a:p>
          <a:p>
            <a:r>
              <a:rPr sz="1000">
                <a:solidFill>
                  <a:srgbClr val="E2E8F0"/>
                </a:solidFill>
                <a:latin typeface="Consolas"/>
              </a:rPr>
              <a:t>from sentence_transformers import SentenceTransformer</a:t>
            </a:r>
          </a:p>
          <a:p>
            <a:r>
              <a:rPr sz="1000">
                <a:solidFill>
                  <a:srgbClr val="E2E8F0"/>
                </a:solidFill>
                <a:latin typeface="Consolas"/>
              </a:rPr>
              <a:t>import numpy as np</a:t>
            </a:r>
          </a:p>
          <a:p>
            <a:r>
              <a:rPr sz="1000">
                <a:solidFill>
                  <a:srgbClr val="E2E8F0"/>
                </a:solidFill>
                <a:latin typeface="Consolas"/>
              </a:rPr>
              <a:t> </a:t>
            </a:r>
          </a:p>
          <a:p>
            <a:r>
              <a:rPr sz="1000">
                <a:solidFill>
                  <a:srgbClr val="E2E8F0"/>
                </a:solidFill>
                <a:latin typeface="Consolas"/>
              </a:rPr>
              <a:t>def chunk(text, size=500, overlap=100):</a:t>
            </a:r>
          </a:p>
          <a:p>
            <a:r>
              <a:rPr sz="1000">
                <a:solidFill>
                  <a:srgbClr val="E2E8F0"/>
                </a:solidFill>
                <a:latin typeface="Consolas"/>
              </a:rPr>
              <a:t>    words = text.split(); out = []</a:t>
            </a:r>
          </a:p>
          <a:p>
            <a:r>
              <a:rPr sz="1000">
                <a:solidFill>
                  <a:srgbClr val="E2E8F0"/>
                </a:solidFill>
                <a:latin typeface="Consolas"/>
              </a:rPr>
              <a:t>    for i in range(0, len(words), size - overlap):</a:t>
            </a:r>
          </a:p>
          <a:p>
            <a:r>
              <a:rPr sz="1000">
                <a:solidFill>
                  <a:srgbClr val="E2E8F0"/>
                </a:solidFill>
                <a:latin typeface="Consolas"/>
              </a:rPr>
              <a:t>        out.append(" ".join(words[i:i+size]))</a:t>
            </a:r>
          </a:p>
          <a:p>
            <a:r>
              <a:rPr sz="1000">
                <a:solidFill>
                  <a:srgbClr val="E2E8F0"/>
                </a:solidFill>
                <a:latin typeface="Consolas"/>
              </a:rPr>
              <a:t>    return out</a:t>
            </a:r>
          </a:p>
          <a:p>
            <a:r>
              <a:rPr sz="1000">
                <a:solidFill>
                  <a:srgbClr val="E2E8F0"/>
                </a:solidFill>
                <a:latin typeface="Consolas"/>
              </a:rPr>
              <a:t> </a:t>
            </a:r>
          </a:p>
          <a:p>
            <a:r>
              <a:rPr sz="1000">
                <a:solidFill>
                  <a:srgbClr val="E2E8F0"/>
                </a:solidFill>
                <a:latin typeface="Consolas"/>
              </a:rPr>
              <a:t>docs = []   # (manba, bo'lak matni)</a:t>
            </a:r>
          </a:p>
          <a:p>
            <a:r>
              <a:rPr sz="1000">
                <a:solidFill>
                  <a:srgbClr val="E2E8F0"/>
                </a:solidFill>
                <a:latin typeface="Consolas"/>
              </a:rPr>
              <a:t>for path in glob.glob("corpus/*.txt"):       # masalan, universitet nizomlari, texnik hujjatlar</a:t>
            </a:r>
          </a:p>
          <a:p>
            <a:r>
              <a:rPr sz="1000">
                <a:solidFill>
                  <a:srgbClr val="E2E8F0"/>
                </a:solidFill>
                <a:latin typeface="Consolas"/>
              </a:rPr>
              <a:t>    text = open(path, encoding="utf-8").read()</a:t>
            </a:r>
          </a:p>
          <a:p>
            <a:r>
              <a:rPr sz="1000">
                <a:solidFill>
                  <a:srgbClr val="E2E8F0"/>
                </a:solidFill>
                <a:latin typeface="Consolas"/>
              </a:rPr>
              <a:t>    docs += [(path, c) for c in chunk(text)]</a:t>
            </a:r>
          </a:p>
          <a:p>
            <a:r>
              <a:rPr sz="1000">
                <a:solidFill>
                  <a:srgbClr val="E2E8F0"/>
                </a:solidFill>
                <a:latin typeface="Consolas"/>
              </a:rPr>
              <a:t>print("Bo'laklar:", len(docs))                  # masalan, 12 000</a:t>
            </a:r>
          </a:p>
          <a:p>
            <a:r>
              <a:rPr sz="1000">
                <a:solidFill>
                  <a:srgbClr val="E2E8F0"/>
                </a:solidFill>
                <a:latin typeface="Consolas"/>
              </a:rPr>
              <a:t> </a:t>
            </a:r>
          </a:p>
          <a:p>
            <a:r>
              <a:rPr sz="1000">
                <a:solidFill>
                  <a:srgbClr val="E2E8F0"/>
                </a:solidFill>
                <a:latin typeface="Consolas"/>
              </a:rPr>
              <a:t>emb_model = SentenceTransformer("BAAI/bge-m3", device="cuda")   # ko'p tilli, o'zbekchani ham qo'llaydi</a:t>
            </a:r>
          </a:p>
          <a:p>
            <a:r>
              <a:rPr sz="1000">
                <a:solidFill>
                  <a:srgbClr val="E2E8F0"/>
                </a:solidFill>
                <a:latin typeface="Consolas"/>
              </a:rPr>
              <a:t>emb = emb_model.encode([c for _, c in docs], batch_size=64, normalize_embeddings=True,</a:t>
            </a:r>
          </a:p>
          <a:p>
            <a:r>
              <a:rPr sz="1000">
                <a:solidFill>
                  <a:srgbClr val="E2E8F0"/>
                </a:solidFill>
                <a:latin typeface="Consolas"/>
              </a:rPr>
              <a:t>                       show_progress_bar=True).astype("float32")   # (12000, 1024)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3-qadam. FAISS indeks: Flat va HNSW taqqoslash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18</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12 000 vektor uchun Flat qidiruv CPU'da ≈ 3–5 ms, HNSW ≈ 0,1–0,2 ms, recall@5 ≈ 0,98–0,99 (taxminiy). Bu hajmda farq amaliy ahamiyatga ega emas — Flat yetarli; lekin 1 million bo'lakda Flat 100 ms dan oshadi, HNSW esa 1 ms atrofida…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3-qadam. FAISS indeks: Flat va HNSW taqqoslash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19</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000">
                <a:solidFill>
                  <a:srgbClr val="E2E8F0"/>
                </a:solidFill>
                <a:latin typeface="Consolas"/>
              </a:rPr>
              <a:t>import faiss, time</a:t>
            </a:r>
          </a:p>
          <a:p>
            <a:r>
              <a:rPr sz="1000">
                <a:solidFill>
                  <a:srgbClr val="E2E8F0"/>
                </a:solidFill>
                <a:latin typeface="Consolas"/>
              </a:rPr>
              <a:t>d = emb.shape[1]</a:t>
            </a:r>
          </a:p>
          <a:p>
            <a:r>
              <a:rPr sz="1000">
                <a:solidFill>
                  <a:srgbClr val="E2E8F0"/>
                </a:solidFill>
                <a:latin typeface="Consolas"/>
              </a:rPr>
              <a:t>flat = faiss.IndexFlatIP(d); flat.add(emb)                      # aniq qidiruv, ichki ko'paytma</a:t>
            </a:r>
          </a:p>
          <a:p>
            <a:r>
              <a:rPr sz="1000">
                <a:solidFill>
                  <a:srgbClr val="E2E8F0"/>
                </a:solidFill>
                <a:latin typeface="Consolas"/>
              </a:rPr>
              <a:t>hnsw = faiss.IndexHNSWFlat(d, 32, faiss.METRIC_INNER_PRODUCT)   # M=32 qo'shni</a:t>
            </a:r>
          </a:p>
          <a:p>
            <a:r>
              <a:rPr sz="1000">
                <a:solidFill>
                  <a:srgbClr val="E2E8F0"/>
                </a:solidFill>
                <a:latin typeface="Consolas"/>
              </a:rPr>
              <a:t>hnsw.hnsw.efConstruction = 200; hnsw.add(emb); hnsw.hnsw.efSearch = 64</a:t>
            </a:r>
          </a:p>
          <a:p>
            <a:r>
              <a:rPr sz="1000">
                <a:solidFill>
                  <a:srgbClr val="E2E8F0"/>
                </a:solidFill>
                <a:latin typeface="Consolas"/>
              </a:rPr>
              <a:t>faiss.write_index(hnsw, "corpus_hnsw.faiss")</a:t>
            </a:r>
          </a:p>
          <a:p>
            <a:r>
              <a:rPr sz="1000">
                <a:solidFill>
                  <a:srgbClr val="E2E8F0"/>
                </a:solidFill>
                <a:latin typeface="Consolas"/>
              </a:rPr>
              <a:t> </a:t>
            </a:r>
          </a:p>
          <a:p>
            <a:r>
              <a:rPr sz="1000">
                <a:solidFill>
                  <a:srgbClr val="E2E8F0"/>
                </a:solidFill>
                <a:latin typeface="Consolas"/>
              </a:rPr>
              <a:t>q = emb_model.encode(["Magistrantlar uchun dissertatsiya himoyasi tartibi qanday?"],</a:t>
            </a:r>
          </a:p>
          <a:p>
            <a:r>
              <a:rPr sz="1000">
                <a:solidFill>
                  <a:srgbClr val="E2E8F0"/>
                </a:solidFill>
                <a:latin typeface="Consolas"/>
              </a:rPr>
              <a:t>                     normalize_embeddings=True).astype("float32")</a:t>
            </a:r>
          </a:p>
          <a:p>
            <a:r>
              <a:rPr sz="1000">
                <a:solidFill>
                  <a:srgbClr val="E2E8F0"/>
                </a:solidFill>
                <a:latin typeface="Consolas"/>
              </a:rPr>
              <a:t>for name, idx in [("Flat", flat), ("HNSW", hnsw)]:</a:t>
            </a:r>
          </a:p>
          <a:p>
            <a:r>
              <a:rPr sz="1000">
                <a:solidFill>
                  <a:srgbClr val="E2E8F0"/>
                </a:solidFill>
                <a:latin typeface="Consolas"/>
              </a:rPr>
              <a:t>    t0 = time.perf_counter(); D, I = idx.search(q, 5); dt = (time.perf_counter()-t0)*1000</a:t>
            </a:r>
          </a:p>
          <a:p>
            <a:r>
              <a:rPr sz="1000">
                <a:solidFill>
                  <a:srgbClr val="E2E8F0"/>
                </a:solidFill>
                <a:latin typeface="Consolas"/>
              </a:rPr>
              <a:t>    print(name, f"{dt:.2f} ms", I[0], np.round(D[0], 3))</a:t>
            </a:r>
          </a:p>
          <a:p>
            <a:r>
              <a:rPr sz="1000">
                <a:solidFill>
                  <a:srgbClr val="E2E8F0"/>
                </a:solidFill>
                <a:latin typeface="Consolas"/>
              </a:rPr>
              <a:t> </a:t>
            </a:r>
          </a:p>
          <a:p>
            <a:r>
              <a:rPr sz="1000">
                <a:solidFill>
                  <a:srgbClr val="7FD6D7"/>
                </a:solidFill>
                <a:latin typeface="Consolas"/>
              </a:rPr>
              <a:t># Recall@5 baholash: 500 tasodifiy so'rov bo'yicha HNSW natijasini Flat bilan solishtirish</a:t>
            </a:r>
          </a:p>
          <a:p>
            <a:r>
              <a:rPr sz="1000">
                <a:solidFill>
                  <a:srgbClr val="E2E8F0"/>
                </a:solidFill>
                <a:latin typeface="Consolas"/>
              </a:rPr>
              <a:t>qs = emb[np.random.choice(len(emb), 500, replace=False)]</a:t>
            </a:r>
          </a:p>
          <a:p>
            <a:r>
              <a:rPr sz="1000">
                <a:solidFill>
                  <a:srgbClr val="E2E8F0"/>
                </a:solidFill>
                <a:latin typeface="Consolas"/>
              </a:rPr>
              <a:t>_, I_flat = flat.search(qs, 5); _, I_hnsw = hnsw.search(qs, 5)</a:t>
            </a:r>
          </a:p>
          <a:p>
            <a:r>
              <a:rPr sz="1000">
                <a:solidFill>
                  <a:srgbClr val="E2E8F0"/>
                </a:solidFill>
                <a:latin typeface="Consolas"/>
              </a:rPr>
              <a:t>recall = np.mean([len(set(a) &amp; set(b))/5 for a, b in zip(I_flat, I_hnsw)])</a:t>
            </a:r>
          </a:p>
          <a:p>
            <a:r>
              <a:rPr sz="1000">
                <a:solidFill>
                  <a:srgbClr val="E2E8F0"/>
                </a:solidFill>
                <a:latin typeface="Consolas"/>
              </a:rPr>
              <a:t>print("HNSW recall@5:", round(recall, 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4-qadam. Muqobil: Chroma bilan metama'lumotli saqlash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20</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Chroma xuddi shu HNSW'ni ichida ishlatadi, lekin hujjat matni, metama'lumot va diskda saqlashni qo'shadi; where filtri yil bo'yicha cheklaydi — FAISS'da buni o'zingiz yozishingiz kerak bo'lardi. Bir necha yuz ming bo'lakgacha Chroma…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4-qadam. Muqobil: Chroma bilan metama'lumotli saqlash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21</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200">
                <a:solidFill>
                  <a:srgbClr val="E2E8F0"/>
                </a:solidFill>
                <a:latin typeface="Consolas"/>
              </a:rPr>
              <a:t>import chromadb</a:t>
            </a:r>
          </a:p>
          <a:p>
            <a:r>
              <a:rPr sz="1200">
                <a:solidFill>
                  <a:srgbClr val="E2E8F0"/>
                </a:solidFill>
                <a:latin typeface="Consolas"/>
              </a:rPr>
              <a:t>client = chromadb.PersistentClient(path="./chroma_db")</a:t>
            </a:r>
          </a:p>
          <a:p>
            <a:r>
              <a:rPr sz="1200">
                <a:solidFill>
                  <a:srgbClr val="E2E8F0"/>
                </a:solidFill>
                <a:latin typeface="Consolas"/>
              </a:rPr>
              <a:t>col = client.get_or_create_collection("corpus", metadata={"hnsw:space": "cosine"})</a:t>
            </a:r>
          </a:p>
          <a:p>
            <a:r>
              <a:rPr sz="1200">
                <a:solidFill>
                  <a:srgbClr val="E2E8F0"/>
                </a:solidFill>
                <a:latin typeface="Consolas"/>
              </a:rPr>
              <a:t>col.add(ids=[f"c{i}" for i in range(len(docs))],</a:t>
            </a:r>
          </a:p>
          <a:p>
            <a:r>
              <a:rPr sz="1200">
                <a:solidFill>
                  <a:srgbClr val="E2E8F0"/>
                </a:solidFill>
                <a:latin typeface="Consolas"/>
              </a:rPr>
              <a:t>        embeddings=emb.tolist(),</a:t>
            </a:r>
          </a:p>
          <a:p>
            <a:r>
              <a:rPr sz="1200">
                <a:solidFill>
                  <a:srgbClr val="E2E8F0"/>
                </a:solidFill>
                <a:latin typeface="Consolas"/>
              </a:rPr>
              <a:t>        documents=[c for _, c in docs],</a:t>
            </a:r>
          </a:p>
          <a:p>
            <a:r>
              <a:rPr sz="1200">
                <a:solidFill>
                  <a:srgbClr val="E2E8F0"/>
                </a:solidFill>
                <a:latin typeface="Consolas"/>
              </a:rPr>
              <a:t>        metadatas=[{"source": p, "year": 2026} for p, _ in docs])</a:t>
            </a:r>
          </a:p>
          <a:p>
            <a:r>
              <a:rPr sz="1200">
                <a:solidFill>
                  <a:srgbClr val="E2E8F0"/>
                </a:solidFill>
                <a:latin typeface="Consolas"/>
              </a:rPr>
              <a:t>res = col.query(query_embeddings=q.tolist(), n_results=5, where={"year": {"$gte": 2024}})</a:t>
            </a:r>
          </a:p>
          <a:p>
            <a:r>
              <a:rPr sz="1200">
                <a:solidFill>
                  <a:srgbClr val="E2E8F0"/>
                </a:solidFill>
                <a:latin typeface="Consolas"/>
              </a:rPr>
              <a:t>print(res["documents"][0][0][:200])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5-qadam. RAG konveyeri va LLM chaqiruvi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22</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5 ta bo'lak (≈ 2 500–3 000 token) va tizim prompti bilan prefill ≈ 3 000 token: 2 × 8·10⁹ × 3000 = 4,8·10¹³ FLOP, A100'da nazariy 150 ms, amalda TTFT ≈ 200–350 ms (taxminiy; prefiks keshlash bilan tizim prompti qismi ikkinchi so'rovdan…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5-qadam. RAG konveyeri va LLM chaqiruvi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23</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000">
                <a:solidFill>
                  <a:srgbClr val="E2E8F0"/>
                </a:solidFill>
                <a:latin typeface="Consolas"/>
              </a:rPr>
              <a:t>from openai import OpenAI</a:t>
            </a:r>
          </a:p>
          <a:p>
            <a:r>
              <a:rPr sz="1000">
                <a:solidFill>
                  <a:srgbClr val="E2E8F0"/>
                </a:solidFill>
                <a:latin typeface="Consolas"/>
              </a:rPr>
              <a:t>llm = OpenAI(base_url="http://localhost:8000/v1", api_key="EMPTY")</a:t>
            </a:r>
          </a:p>
          <a:p>
            <a:r>
              <a:rPr sz="1000">
                <a:solidFill>
                  <a:srgbClr val="E2E8F0"/>
                </a:solidFill>
                <a:latin typeface="Consolas"/>
              </a:rPr>
              <a:t>SYSTEM = ("Siz universitet hujjatlari bo'yicha yordamchisiz. Faqat berilgan kontekstga tayanib, "</a:t>
            </a:r>
          </a:p>
          <a:p>
            <a:r>
              <a:rPr sz="1000">
                <a:solidFill>
                  <a:srgbClr val="E2E8F0"/>
                </a:solidFill>
                <a:latin typeface="Consolas"/>
              </a:rPr>
              <a:t>          "o'zbek tilida javob bering. Kontekstda javob bo'lmasa, 'Hujjatlarda topilmadi' deng. "</a:t>
            </a:r>
          </a:p>
          <a:p>
            <a:r>
              <a:rPr sz="1000">
                <a:solidFill>
                  <a:srgbClr val="E2E8F0"/>
                </a:solidFill>
                <a:latin typeface="Consolas"/>
              </a:rPr>
              <a:t>          "Har da'vodan keyin [manba raqami] ko'rsating.")</a:t>
            </a:r>
          </a:p>
          <a:p>
            <a:r>
              <a:rPr sz="1000">
                <a:solidFill>
                  <a:srgbClr val="E2E8F0"/>
                </a:solidFill>
                <a:latin typeface="Consolas"/>
              </a:rPr>
              <a:t> </a:t>
            </a:r>
          </a:p>
          <a:p>
            <a:r>
              <a:rPr sz="1000">
                <a:solidFill>
                  <a:srgbClr val="E2E8F0"/>
                </a:solidFill>
                <a:latin typeface="Consolas"/>
              </a:rPr>
              <a:t>def rag_answer(question, k=5):</a:t>
            </a:r>
          </a:p>
          <a:p>
            <a:r>
              <a:rPr sz="1000">
                <a:solidFill>
                  <a:srgbClr val="E2E8F0"/>
                </a:solidFill>
                <a:latin typeface="Consolas"/>
              </a:rPr>
              <a:t>    qv = emb_model.encode([question], normalize_embeddings=True).astype("float32")</a:t>
            </a:r>
          </a:p>
          <a:p>
            <a:r>
              <a:rPr sz="1000">
                <a:solidFill>
                  <a:srgbClr val="E2E8F0"/>
                </a:solidFill>
                <a:latin typeface="Consolas"/>
              </a:rPr>
              <a:t>    _, I = hnsw.search(qv, k)</a:t>
            </a:r>
          </a:p>
          <a:p>
            <a:r>
              <a:rPr sz="1000">
                <a:solidFill>
                  <a:srgbClr val="E2E8F0"/>
                </a:solidFill>
                <a:latin typeface="Consolas"/>
              </a:rPr>
              <a:t>    ctx = "\n\n".join(f"[{j+1}] ({docs[i][0]}) {docs[i][1]}" for j, i in enumerate(I[0]))</a:t>
            </a:r>
          </a:p>
          <a:p>
            <a:r>
              <a:rPr sz="1000">
                <a:solidFill>
                  <a:srgbClr val="E2E8F0"/>
                </a:solidFill>
                <a:latin typeface="Consolas"/>
              </a:rPr>
              <a:t>    t0 = time.perf_counter(); first = None; out = []</a:t>
            </a:r>
          </a:p>
          <a:p>
            <a:r>
              <a:rPr sz="1000">
                <a:solidFill>
                  <a:srgbClr val="E2E8F0"/>
                </a:solidFill>
                <a:latin typeface="Consolas"/>
              </a:rPr>
              <a:t>    stream = llm.chat.completions.create(</a:t>
            </a:r>
          </a:p>
          <a:p>
            <a:r>
              <a:rPr sz="1000">
                <a:solidFill>
                  <a:srgbClr val="E2E8F0"/>
                </a:solidFill>
                <a:latin typeface="Consolas"/>
              </a:rPr>
              <a:t>        model="meta-llama/Llama-3.1-8B-Instruct", temperature=0.1, max_tokens=400, stream=True,</a:t>
            </a:r>
          </a:p>
          <a:p>
            <a:r>
              <a:rPr sz="1000">
                <a:solidFill>
                  <a:srgbClr val="E2E8F0"/>
                </a:solidFill>
                <a:latin typeface="Consolas"/>
              </a:rPr>
              <a:t>        messages=[{"role": "system", "content": SYSTEM},</a:t>
            </a:r>
          </a:p>
          <a:p>
            <a:r>
              <a:rPr sz="1000">
                <a:solidFill>
                  <a:srgbClr val="E2E8F0"/>
                </a:solidFill>
                <a:latin typeface="Consolas"/>
              </a:rPr>
              <a:t>                  {"role": "user", "content": f"Kontekst:\n{ctx}\n\nSavol: {question}"}])</a:t>
            </a:r>
          </a:p>
          <a:p>
            <a:r>
              <a:rPr sz="1000">
                <a:solidFill>
                  <a:srgbClr val="E2E8F0"/>
                </a:solidFill>
                <a:latin typeface="Consolas"/>
              </a:rPr>
              <a:t>    for ch in stream:</a:t>
            </a:r>
          </a:p>
          <a:p>
            <a:r>
              <a:rPr sz="1000">
                <a:solidFill>
                  <a:srgbClr val="E2E8F0"/>
                </a:solidFill>
                <a:latin typeface="Consolas"/>
              </a:rPr>
              <a:t>        tok = ch.choices[0].delta.content or ""</a:t>
            </a:r>
          </a:p>
          <a:p>
            <a:r>
              <a:rPr sz="1000">
                <a:solidFill>
                  <a:srgbClr val="E2E8F0"/>
                </a:solidFill>
                <a:latin typeface="Consolas"/>
              </a:rPr>
              <a:t>        if tok and first is None: first = time.perf_counter() - t0</a:t>
            </a:r>
          </a:p>
          <a:p>
            <a:r>
              <a:rPr sz="1000">
                <a:solidFill>
                  <a:srgbClr val="E2E8F0"/>
                </a:solidFill>
                <a:latin typeface="Consolas"/>
              </a:rPr>
              <a:t>        out.append(tok)</a:t>
            </a:r>
          </a:p>
          <a:p>
            <a:r>
              <a:rPr sz="1000">
                <a:solidFill>
                  <a:srgbClr val="E2E8F0"/>
                </a:solidFill>
                <a:latin typeface="Consolas"/>
              </a:rPr>
              <a:t>    total = time.perf_counter() - t0</a:t>
            </a:r>
          </a:p>
          <a:p>
            <a:r>
              <a:rPr sz="1000">
                <a:solidFill>
                  <a:srgbClr val="7FD6D7"/>
                </a:solidFill>
                <a:latin typeface="Consolas"/>
              </a:rPr>
              <a:t># … (to‘liq kod — mavzu matnida / GitHub’da)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6-qadam. Yuk ostida o'lchash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24</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200 so'rov sekundiga 8 ta tezlikda (Puasson) yuboriladi, har biri 3 000 kirish, 300 chiqish token — RAG profiliga yaqin. Kutilgan natija A100 80 GB'da (taxminiy): median TTFT 300–600 ms, p99 TTFT 1,5–2,5 s, tokenlar orasidagi median vaqt…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6-qadam. Yuk ostida o'lchash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25</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200">
                <a:solidFill>
                  <a:srgbClr val="7FD6D7"/>
                </a:solidFill>
                <a:latin typeface="Consolas"/>
              </a:rPr>
              <a:t># vLLM'ning o'z benchmark skripti (repozitoriyda benchmarks/ papkasi)</a:t>
            </a:r>
          </a:p>
          <a:p>
            <a:r>
              <a:rPr sz="1200">
                <a:solidFill>
                  <a:srgbClr val="E2E8F0"/>
                </a:solidFill>
                <a:latin typeface="Consolas"/>
              </a:rPr>
              <a:t>python3 benchmarks/benchmark_serving.py --backend openai-chat \</a:t>
            </a:r>
          </a:p>
          <a:p>
            <a:r>
              <a:rPr sz="1200">
                <a:solidFill>
                  <a:srgbClr val="E2E8F0"/>
                </a:solidFill>
                <a:latin typeface="Consolas"/>
              </a:rPr>
              <a:t>    --model meta-llama/Llama-3.1-8B-Instruct --base-url http://localhost:8000 \</a:t>
            </a:r>
          </a:p>
          <a:p>
            <a:r>
              <a:rPr sz="1200">
                <a:solidFill>
                  <a:srgbClr val="E2E8F0"/>
                </a:solidFill>
                <a:latin typeface="Consolas"/>
              </a:rPr>
              <a:t>    --dataset-name random --random-input-len 3000 --random-output-len 300 \</a:t>
            </a:r>
          </a:p>
          <a:p>
            <a:r>
              <a:rPr sz="1200">
                <a:solidFill>
                  <a:srgbClr val="E2E8F0"/>
                </a:solidFill>
                <a:latin typeface="Consolas"/>
              </a:rPr>
              <a:t>    --num-prompts 200 --request-rate 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7-qadam. 70B model uchun klaster talablarini hisoblash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26</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natija (hisob): 70B FP16 — og'irlik 140 GB, 320 KB/token, 64 foydalanuvchi × 8K = 160 GB kesh, jami ≈ 324 GB → 8 × H100 (TP = 8, bitta tugun); 70B FP8 — 70 GB + 80 GB → ≈ 162 GB → 4 × H100; 405B FP8 — 405 GB + 126-qatlamli 504 KB/token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7-qadam. 70B model uchun klaster talablarini hisoblash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27</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200">
                <a:solidFill>
                  <a:srgbClr val="E2E8F0"/>
                </a:solidFill>
                <a:latin typeface="Consolas"/>
              </a:rPr>
              <a:t>def infer_cluster(P_b, layers, kv_heads, d_head, users, ctx, w_bytes=2, kv_bytes=2,</a:t>
            </a:r>
          </a:p>
          <a:p>
            <a:r>
              <a:rPr sz="1200">
                <a:solidFill>
                  <a:srgbClr val="E2E8F0"/>
                </a:solidFill>
                <a:latin typeface="Consolas"/>
              </a:rPr>
              <a:t>                  gpu_mem_gb=80, util=0.9, overhead=0.08):</a:t>
            </a:r>
          </a:p>
          <a:p>
            <a:r>
              <a:rPr sz="1200">
                <a:solidFill>
                  <a:srgbClr val="E2E8F0"/>
                </a:solidFill>
                <a:latin typeface="Consolas"/>
              </a:rPr>
              <a:t>    weights = P_b*1e9*w_bytes/1e9                            # GB</a:t>
            </a:r>
          </a:p>
          <a:p>
            <a:r>
              <a:rPr sz="1200">
                <a:solidFill>
                  <a:srgbClr val="E2E8F0"/>
                </a:solidFill>
                <a:latin typeface="Consolas"/>
              </a:rPr>
              <a:t>    kv_tok = 2*layers*kv_heads*d_head*kv_bytes/1024          # KB/token</a:t>
            </a:r>
          </a:p>
          <a:p>
            <a:r>
              <a:rPr sz="1200">
                <a:solidFill>
                  <a:srgbClr val="E2E8F0"/>
                </a:solidFill>
                <a:latin typeface="Consolas"/>
              </a:rPr>
              <a:t>    kv_total = users*ctx*kv_tok/1024/1024                    # GB</a:t>
            </a:r>
          </a:p>
          <a:p>
            <a:r>
              <a:rPr sz="1200">
                <a:solidFill>
                  <a:srgbClr val="E2E8F0"/>
                </a:solidFill>
                <a:latin typeface="Consolas"/>
              </a:rPr>
              <a:t>    need = (weights + kv_total)*(1+overhead)</a:t>
            </a:r>
          </a:p>
          <a:p>
            <a:r>
              <a:rPr sz="1200">
                <a:solidFill>
                  <a:srgbClr val="E2E8F0"/>
                </a:solidFill>
                <a:latin typeface="Consolas"/>
              </a:rPr>
              <a:t>    gpus = int(np.ceil(need/(gpu_mem_gb*util)))</a:t>
            </a:r>
          </a:p>
          <a:p>
            <a:r>
              <a:rPr sz="1200">
                <a:solidFill>
                  <a:srgbClr val="E2E8F0"/>
                </a:solidFill>
                <a:latin typeface="Consolas"/>
              </a:rPr>
              <a:t>    tp = 1</a:t>
            </a:r>
          </a:p>
          <a:p>
            <a:r>
              <a:rPr sz="1200">
                <a:solidFill>
                  <a:srgbClr val="E2E8F0"/>
                </a:solidFill>
                <a:latin typeface="Consolas"/>
              </a:rPr>
              <a:t>    while tp &lt; gpus: tp *= 2                                 # tensor parallel 2 ning darajasi</a:t>
            </a:r>
          </a:p>
          <a:p>
            <a:r>
              <a:rPr sz="1200">
                <a:solidFill>
                  <a:srgbClr val="E2E8F0"/>
                </a:solidFill>
                <a:latin typeface="Consolas"/>
              </a:rPr>
              <a:t>    return weights, kv_tok, kv_total, need, tp</a:t>
            </a:r>
          </a:p>
          <a:p>
            <a:r>
              <a:rPr sz="1200">
                <a:solidFill>
                  <a:srgbClr val="E2E8F0"/>
                </a:solidFill>
                <a:latin typeface="Consolas"/>
              </a:rPr>
              <a:t> </a:t>
            </a:r>
          </a:p>
          <a:p>
            <a:r>
              <a:rPr sz="1200">
                <a:solidFill>
                  <a:srgbClr val="E2E8F0"/>
                </a:solidFill>
                <a:latin typeface="Consolas"/>
              </a:rPr>
              <a:t>for name, args in {"70B FP16": (70, 80, 8, 128, 64, 8192, 2),</a:t>
            </a:r>
          </a:p>
          <a:p>
            <a:r>
              <a:rPr sz="1200">
                <a:solidFill>
                  <a:srgbClr val="E2E8F0"/>
                </a:solidFill>
                <a:latin typeface="Consolas"/>
              </a:rPr>
              <a:t>                   "70B FP8":  (70, 80, 8, 128, 64, 8192, 1),</a:t>
            </a:r>
          </a:p>
          <a:p>
            <a:r>
              <a:rPr sz="1200">
                <a:solidFill>
                  <a:srgbClr val="E2E8F0"/>
                </a:solidFill>
                <a:latin typeface="Consolas"/>
              </a:rPr>
              <a:t>                   "405B FP8": (405, 126, 8, 128, 32, 8192, 1)}.items():</a:t>
            </a:r>
          </a:p>
          <a:p>
            <a:r>
              <a:rPr sz="1200">
                <a:solidFill>
                  <a:srgbClr val="E2E8F0"/>
                </a:solidFill>
                <a:latin typeface="Consolas"/>
              </a:rPr>
              <a:t>    w, kvt, kv, need, tp = infer_cluster(*args)</a:t>
            </a:r>
          </a:p>
          <a:p>
            <a:r>
              <a:rPr sz="1200">
                <a:solidFill>
                  <a:srgbClr val="E2E8F0"/>
                </a:solidFill>
                <a:latin typeface="Consolas"/>
              </a:rPr>
              <a:t>    print(f"{name}: og'irlik {w:.0f} GB, KV {kvt:.0f} KB/token, kesh {kv:.0f} GB, "</a:t>
            </a:r>
          </a:p>
          <a:p>
            <a:r>
              <a:rPr sz="1200">
                <a:solidFill>
                  <a:srgbClr val="E2E8F0"/>
                </a:solidFill>
                <a:latin typeface="Consolas"/>
              </a:rPr>
              <a:t>          f"jami {need:.0f} GB -&gt; {tp} x H100 80GB (TP={tp})")</a:t>
            </a:r>
          </a:p>
          <a:p>
            <a:r>
              <a:rPr sz="1200">
                <a:solidFill>
                  <a:srgbClr val="E2E8F0"/>
                </a:solidFill>
                <a:latin typeface="Consolas"/>
              </a:rPr>
              <a:t> </a:t>
            </a:r>
          </a:p>
          <a:p>
            <a:r>
              <a:rPr sz="1200">
                <a:solidFill>
                  <a:srgbClr val="7FD6D7"/>
                </a:solidFill>
                <a:latin typeface="Consolas"/>
              </a:rPr>
              <a:t># O'qitish: 70B, 15T token, H100 BF16 989 TFLOPS, MFU 0.4, 4096 GPU</a:t>
            </a:r>
          </a:p>
          <a:p>
            <a:r>
              <a:rPr sz="1200">
                <a:solidFill>
                  <a:srgbClr val="E2E8F0"/>
                </a:solidFill>
                <a:latin typeface="Consolas"/>
              </a:rPr>
              <a:t>flops = 6*70e9*15e12; gpu_s = flops/(989e12*0.4)</a:t>
            </a:r>
          </a:p>
          <a:p>
            <a:r>
              <a:rPr sz="1200">
                <a:solidFill>
                  <a:srgbClr val="7FD6D7"/>
                </a:solidFill>
                <a:latin typeface="Consolas"/>
              </a:rPr>
              <a:t># … (to‘liq kod — mavzu matnida / GitHub’da)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Natijalarni tahlil qilish</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28</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Misol tizimining ko'rsatkichlari (A100 80 GB, 8B BF16, taxminiy): TTFT 200–350 ms (bitta so'rov), 300–600 ms (8 so'rov/s yuk ostida); decode 80–100 tok/s (bitta), umumiy 1 500–2 500 tok/s (yuk ostida); KV-kesh sig'imi ≈ 430 000 token; vektor qidiruv 0,2 ms…</a:t>
            </a:r>
          </a:p>
          <a:p>
            <a:pPr>
              <a:spcAft>
                <a:spcPts val="900"/>
              </a:spcAft>
            </a:pPr>
            <a:r>
              <a:rPr sz="2000" b="1">
                <a:solidFill>
                  <a:srgbClr val="0F8B8D"/>
                </a:solidFill>
              </a:rPr>
              <a:t>▪  </a:t>
            </a:r>
            <a:r>
              <a:rPr sz="2000">
                <a:solidFill>
                  <a:srgbClr val="1B2430"/>
                </a:solidFill>
                <a:latin typeface="Calibri"/>
              </a:rPr>
              <a:t>Cheklovlar: biz RAG sifatini (javob to'g'riligi, iqtibos aniqligi) o'lchamadik — buning uchun baholash to'plami (savol–javob–manba juftliklari) va retrieval metrikalari (recall@k, MRR) hamda javob metrikalari (faithfulness, answer relevance; RAGAS kabi…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29</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KV-keshni hisobga olmasdan GPU tanlash. «70B FP16 = 140 GB = 2 × 80 GB» hisobi keshsiz; real xizmatda kesh og'irliklardan katta bo'lishi mumkin. Token boshiga KB'ni hisoblang va…</a:t>
            </a:r>
          </a:p>
          <a:p>
            <a:pPr>
              <a:spcAft>
                <a:spcPts val="900"/>
              </a:spcAft>
            </a:pPr>
            <a:r>
              <a:rPr sz="1600" b="1">
                <a:solidFill>
                  <a:srgbClr val="0F8B8D"/>
                </a:solidFill>
              </a:rPr>
              <a:t>▪  </a:t>
            </a:r>
            <a:r>
              <a:rPr sz="1600">
                <a:solidFill>
                  <a:srgbClr val="1B2430"/>
                </a:solidFill>
                <a:latin typeface="Calibri"/>
              </a:rPr>
              <a:t>Decode tezligini FLOPS bilan baholash. Bitta ketma-ketlik uchun chegara B_HBM / model hajmi; kuchliroq hisoblash yordam bermaydi, kvantlash va partiyalash yordam beradi.</a:t>
            </a:r>
          </a:p>
          <a:p>
            <a:pPr>
              <a:spcAft>
                <a:spcPts val="900"/>
              </a:spcAft>
            </a:pPr>
            <a:r>
              <a:rPr sz="1600" b="1">
                <a:solidFill>
                  <a:srgbClr val="0F8B8D"/>
                </a:solidFill>
              </a:rPr>
              <a:t>▪  </a:t>
            </a:r>
            <a:r>
              <a:rPr sz="1600">
                <a:solidFill>
                  <a:srgbClr val="1B2430"/>
                </a:solidFill>
                <a:latin typeface="Calibri"/>
              </a:rPr>
              <a:t>Indekslash va so'rovda turli embedding modellarini (yoki versiyalarini) ishlatish. Vektor fazolar mos kelmaydi, qidiruv tasodifiy natija beradi. Model nomi va versiyasini indeks…</a:t>
            </a:r>
          </a:p>
          <a:p>
            <a:pPr>
              <a:spcAft>
                <a:spcPts val="900"/>
              </a:spcAft>
            </a:pPr>
            <a:r>
              <a:rPr sz="1600" b="1">
                <a:solidFill>
                  <a:srgbClr val="0F8B8D"/>
                </a:solidFill>
              </a:rPr>
              <a:t>▪  </a:t>
            </a:r>
            <a:r>
              <a:rPr sz="1600">
                <a:solidFill>
                  <a:srgbClr val="1B2430"/>
                </a:solidFill>
                <a:latin typeface="Calibri"/>
              </a:rPr>
              <a:t>Bo'laklash strategiyasini sinamaslik. Juda katta bo'lak — shovqin va uzun prompt, juda kichik — kontekst yo'qoladi. 300–800 token va ustma-ust tushish bilan boshlang, baholash to'plamida…</a:t>
            </a:r>
          </a:p>
          <a:p>
            <a:pPr>
              <a:spcAft>
                <a:spcPts val="900"/>
              </a:spcAft>
            </a:pPr>
            <a:r>
              <a:rPr sz="1600" b="1">
                <a:solidFill>
                  <a:srgbClr val="0F8B8D"/>
                </a:solidFill>
              </a:rPr>
              <a:t>▪  </a:t>
            </a:r>
            <a:r>
              <a:rPr sz="1600">
                <a:solidFill>
                  <a:srgbClr val="1B2430"/>
                </a:solidFill>
                <a:latin typeface="Calibri"/>
              </a:rPr>
              <a:t>Flat indeksni millionlab vektor uchun ishlatish yoki aksincha, mingta vektor uchun murakkab IVF-PQ qurish. Hajm va recall talabiga qarab tanlang; HNSW ko'pchilik o'rta hajmli holatlar uchun…</a:t>
            </a:r>
          </a:p>
          <a:p>
            <a:pPr>
              <a:spcAft>
                <a:spcPts val="900"/>
              </a:spcAft>
            </a:pPr>
            <a:r>
              <a:rPr sz="1600" b="1">
                <a:solidFill>
                  <a:srgbClr val="0F8B8D"/>
                </a:solidFill>
              </a:rPr>
              <a:t>▪  </a:t>
            </a:r>
            <a:r>
              <a:rPr sz="1600">
                <a:solidFill>
                  <a:srgbClr val="1B2430"/>
                </a:solidFill>
                <a:latin typeface="Calibri"/>
              </a:rPr>
              <a:t>Prefiks keshlash va uzluksiz partiyalashsiz xizmat. Oddiy transformers.generate sikli bilan server qurish vLLM'dan 10–20 marta past throughput beradi; tayyor inferens serverini ishlating.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30</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RAG'ni hallutsinatsiyaning to'liq davosi deb bilish. Model kontekstga zid javob berishi yoki topilmagan ma'lumotni to'qishi mumkin; «topilmadi» ko'rsatmasi, iqtibos talabi, faithfulness…</a:t>
            </a:r>
          </a:p>
          <a:p>
            <a:pPr>
              <a:spcAft>
                <a:spcPts val="900"/>
              </a:spcAft>
            </a:pPr>
            <a:r>
              <a:rPr sz="1800" b="1">
                <a:solidFill>
                  <a:srgbClr val="0F8B8D"/>
                </a:solidFill>
              </a:rPr>
              <a:t>▪  </a:t>
            </a:r>
            <a:r>
              <a:rPr sz="1800">
                <a:solidFill>
                  <a:srgbClr val="1B2430"/>
                </a:solidFill>
                <a:latin typeface="Calibri"/>
              </a:rPr>
              <a:t>Agentlarga cheksiz vositalar va cheksiz sikl berish. Maksimal qadam soni, byudjet (token va vaqt), sandbox, eng kam imtiyoz va inson tasdig'i — agent infratuzilmasining majburiy qismi; har…</a:t>
            </a:r>
          </a:p>
          <a:p>
            <a:pPr>
              <a:spcAft>
                <a:spcPts val="900"/>
              </a:spcAft>
            </a:pPr>
            <a:r>
              <a:rPr sz="1800" b="1">
                <a:solidFill>
                  <a:srgbClr val="0F8B8D"/>
                </a:solidFill>
              </a:rPr>
              <a:t>▪  </a:t>
            </a:r>
            <a:r>
              <a:rPr sz="1800">
                <a:solidFill>
                  <a:srgbClr val="1B2430"/>
                </a:solidFill>
                <a:latin typeface="Calibri"/>
              </a:rPr>
              <a:t>Tarmoqni e'tiborsiz qoldirish. Tensor parallelizm PCIe orqali 3–5 marta sekin; ko'p tugunli o'qitishda InfiniBand/RoCE va GPUDirect RDMA'siz masshtablanuvchanlik 50 foizdan pastga tushadi.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Nazorat savollari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31</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Llama 3.1 8B modeli uchun 32K kontekstli 100 foydalanuvchiga xizmat ko'rsatish uchun KV-kesh hajmini hisoblang. GQA'siz (32 K/V bosh) bo'lganida qancha bo'lar edi? Bu arxitektura qarorining…</a:t>
            </a:r>
          </a:p>
          <a:p>
            <a:pPr>
              <a:spcAft>
                <a:spcPts val="900"/>
              </a:spcAft>
            </a:pPr>
            <a:r>
              <a:rPr sz="1600" b="1">
                <a:solidFill>
                  <a:srgbClr val="0F8B8D"/>
                </a:solidFill>
              </a:rPr>
              <a:t>▪  </a:t>
            </a:r>
            <a:r>
              <a:rPr sz="1600">
                <a:solidFill>
                  <a:srgbClr val="1B2430"/>
                </a:solidFill>
                <a:latin typeface="Calibri"/>
              </a:rPr>
              <a:t>Nima uchun prefill compute-bound, decode esa memory-bound? Har biri uchun Roofline'da taxminiy intensivlikni keltiring va mos optimallashtirishni ayting.</a:t>
            </a:r>
          </a:p>
          <a:p>
            <a:pPr>
              <a:spcAft>
                <a:spcPts val="900"/>
              </a:spcAft>
            </a:pPr>
            <a:r>
              <a:rPr sz="1600" b="1">
                <a:solidFill>
                  <a:srgbClr val="0F8B8D"/>
                </a:solidFill>
              </a:rPr>
              <a:t>▪  </a:t>
            </a:r>
            <a:r>
              <a:rPr sz="1600">
                <a:solidFill>
                  <a:srgbClr val="1B2430"/>
                </a:solidFill>
                <a:latin typeface="Calibri"/>
              </a:rPr>
              <a:t>Spekulyativ dekodlash qanday qilib chiqish taqsimotini o'zgartirmasdan tezlashish beradi? U qaysi sharoitda foyda bermaydi?</a:t>
            </a:r>
          </a:p>
          <a:p>
            <a:pPr>
              <a:spcAft>
                <a:spcPts val="900"/>
              </a:spcAft>
            </a:pPr>
            <a:r>
              <a:rPr sz="1600" b="1">
                <a:solidFill>
                  <a:srgbClr val="0F8B8D"/>
                </a:solidFill>
              </a:rPr>
              <a:t>▪  </a:t>
            </a:r>
            <a:r>
              <a:rPr sz="1600">
                <a:solidFill>
                  <a:srgbClr val="1B2430"/>
                </a:solidFill>
                <a:latin typeface="Calibri"/>
              </a:rPr>
              <a:t>PagedAttention operatsion tizimning virtual xotirasi bilan qanday o'xshash? Qaysi muammoni hal qiladi va qanday yangi xarajat kiritadi?</a:t>
            </a:r>
          </a:p>
          <a:p>
            <a:pPr>
              <a:spcAft>
                <a:spcPts val="900"/>
              </a:spcAft>
            </a:pPr>
            <a:r>
              <a:rPr sz="1600" b="1">
                <a:solidFill>
                  <a:srgbClr val="0F8B8D"/>
                </a:solidFill>
              </a:rPr>
              <a:t>▪  </a:t>
            </a:r>
            <a:r>
              <a:rPr sz="1600">
                <a:solidFill>
                  <a:srgbClr val="1B2430"/>
                </a:solidFill>
                <a:latin typeface="Calibri"/>
              </a:rPr>
              <a:t>HNSW va IVF-PQ indekslarini xotira, qurish vaqti, qidiruv tezligi va recall bo'yicha taqqoslang. 500 million bo'lakli korporativ arxiv uchun qaysini tanlaysiz va nima uchun?</a:t>
            </a:r>
          </a:p>
          <a:p>
            <a:pPr>
              <a:spcAft>
                <a:spcPts val="900"/>
              </a:spcAft>
            </a:pPr>
            <a:r>
              <a:rPr sz="1600" b="1">
                <a:solidFill>
                  <a:srgbClr val="0F8B8D"/>
                </a:solidFill>
              </a:rPr>
              <a:t>▪  </a:t>
            </a:r>
            <a:r>
              <a:rPr sz="1600">
                <a:solidFill>
                  <a:srgbClr val="1B2430"/>
                </a:solidFill>
                <a:latin typeface="Calibri"/>
              </a:rPr>
              <a:t>RAG tizimida javob sifati pasaygan: muammo retrieval'da yoki generatsiyada ekanini qanday ajratasiz? Qaysi metrikalar va tajribalar kerak?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Nazorat savollari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32</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Uzun kontekstli model (128K) RAG'ni almashtira oladimi? Narx, kechikish va sifat nuqtai nazaridan tahlil qiling.</a:t>
            </a:r>
          </a:p>
          <a:p>
            <a:pPr>
              <a:spcAft>
                <a:spcPts val="900"/>
              </a:spcAft>
            </a:pPr>
            <a:r>
              <a:rPr sz="1800" b="1">
                <a:solidFill>
                  <a:srgbClr val="0F8B8D"/>
                </a:solidFill>
              </a:rPr>
              <a:t>▪  </a:t>
            </a:r>
            <a:r>
              <a:rPr sz="1800">
                <a:solidFill>
                  <a:srgbClr val="1B2430"/>
                </a:solidFill>
                <a:latin typeface="Calibri"/>
              </a:rPr>
              <a:t>Agent tizimida bilvosita prompt injection xavfini kamaytirish uchun qaysi infratuzilma choralarini ko'rasiz? Nima uchun faqat prompt darajasidagi ko'rsatmalar yetarli emas?</a:t>
            </a:r>
          </a:p>
          <a:p>
            <a:pPr>
              <a:spcAft>
                <a:spcPts val="900"/>
              </a:spcAft>
            </a:pPr>
            <a:r>
              <a:rPr sz="1800" b="1">
                <a:solidFill>
                  <a:srgbClr val="0F8B8D"/>
                </a:solidFill>
              </a:rPr>
              <a:t>▪  </a:t>
            </a:r>
            <a:r>
              <a:rPr sz="1800">
                <a:solidFill>
                  <a:srgbClr val="1B2430"/>
                </a:solidFill>
                <a:latin typeface="Calibri"/>
              </a:rPr>
              <a:t>70B modelni o'qitish uchun 512 × H100 klaster uchun tugunlararo tarmoq o'tkazuvchanligi talabini baholang: har qadamda qancha ma'lumot uzatiladi va u hisoblash vaqti bilan qanday nisbatda?</a:t>
            </a:r>
          </a:p>
          <a:p>
            <a:pPr>
              <a:spcAft>
                <a:spcPts val="900"/>
              </a:spcAft>
            </a:pPr>
            <a:r>
              <a:rPr sz="1800" b="1">
                <a:solidFill>
                  <a:srgbClr val="0F8B8D"/>
                </a:solidFill>
              </a:rPr>
              <a:t>▪  </a:t>
            </a:r>
            <a:r>
              <a:rPr sz="1800">
                <a:solidFill>
                  <a:srgbClr val="1B2430"/>
                </a:solidFill>
                <a:latin typeface="Calibri"/>
              </a:rPr>
              <a:t>Bulut ijarasi va o'z klasterini qurish o'rtasidagi tanlovga qaysi omillar (band bo'lish, energiya, ishonchlilik, ma'lumot maxfiyligi) qanday ta'sir qiladi? Miqdoriy mezon taklif qiling.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Mustaqil ish uchun topshiriq</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33</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1-topshiriq (amaliy, 5-mustaqil ta'lim topshirig'iga bog'liq). O'zingiz tanlagan 50–200 sahifali hujjatlar to'plami (masalan, fan sillabuslari, texnik standartlar, ochiq qonun hujjatlari) asosida RAG tizimini quring: vLLM (yoki 24 GB'dan kichik GPU'da…</a:t>
            </a:r>
          </a:p>
          <a:p>
            <a:pPr>
              <a:spcAft>
                <a:spcPts val="900"/>
              </a:spcAft>
            </a:pPr>
            <a:r>
              <a:rPr sz="2000" b="1">
                <a:solidFill>
                  <a:srgbClr val="0F8B8D"/>
                </a:solidFill>
              </a:rPr>
              <a:t>▪  </a:t>
            </a:r>
            <a:r>
              <a:rPr sz="2000">
                <a:solidFill>
                  <a:srgbClr val="1B2430"/>
                </a:solidFill>
                <a:latin typeface="Calibri"/>
              </a:rPr>
              <a:t>2-topshiriq (hisobiy). Tashkilot uchun ichki LLM yordamchisi loyihasini hisoblang: 500 xodim, kunduzi o'rtacha 20 parallel so'rov, cho'qqida 60, o'rtacha prompt 4 000 token (RAG bilan), javob 300 token, p99 TTFT ≤ 2 s. Ikki variant — 8B FP16 va 70B FP8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34</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[1] Hennessy, J. L., &amp; Patterson, D. A. Computer Architecture: A Quantitative Approach. 7th Edition. Morgan Kaufmann, 2024 (domenga xos arxitekturalar, xotira o'tkazuvchanligi).</a:t>
            </a:r>
          </a:p>
          <a:p>
            <a:pPr>
              <a:spcAft>
                <a:spcPts val="900"/>
              </a:spcAft>
            </a:pPr>
            <a:r>
              <a:rPr sz="1800" b="1">
                <a:solidFill>
                  <a:srgbClr val="0F8B8D"/>
                </a:solidFill>
              </a:rPr>
              <a:t>▪  </a:t>
            </a:r>
            <a:r>
              <a:rPr sz="1800">
                <a:solidFill>
                  <a:srgbClr val="1B2430"/>
                </a:solidFill>
                <a:latin typeface="Calibri"/>
              </a:rPr>
              <a:t>[2] Kneusel, R. T. Artificial Intelligence Engineering: A Practical Guide for AI Applications. No Starch Press, 2023.</a:t>
            </a:r>
          </a:p>
          <a:p>
            <a:pPr>
              <a:spcAft>
                <a:spcPts val="900"/>
              </a:spcAft>
            </a:pPr>
            <a:r>
              <a:rPr sz="1800" b="1">
                <a:solidFill>
                  <a:srgbClr val="0F8B8D"/>
                </a:solidFill>
              </a:rPr>
              <a:t>▪  </a:t>
            </a:r>
            <a:r>
              <a:rPr sz="1800">
                <a:solidFill>
                  <a:srgbClr val="1B2430"/>
                </a:solidFill>
                <a:latin typeface="Calibri"/>
              </a:rPr>
              <a:t>[3] Amershi, S., Begel, A., Bird, C. va boshq. Machine Learning Engineering. MIT Press, 2025.</a:t>
            </a:r>
          </a:p>
          <a:p>
            <a:pPr>
              <a:spcAft>
                <a:spcPts val="900"/>
              </a:spcAft>
            </a:pPr>
            <a:r>
              <a:rPr sz="1800" b="1">
                <a:solidFill>
                  <a:srgbClr val="0F8B8D"/>
                </a:solidFill>
              </a:rPr>
              <a:t>▪  </a:t>
            </a:r>
            <a:r>
              <a:rPr sz="1800">
                <a:solidFill>
                  <a:srgbClr val="1B2430"/>
                </a:solidFill>
                <a:latin typeface="Calibri"/>
              </a:rPr>
              <a:t>[6] NVIDIA Developer Portal — https://developer.nvidia.com (H100/DGX spetsifikatsiyalari, TensorRT-LLM, NCCL).</a:t>
            </a:r>
          </a:p>
          <a:p>
            <a:pPr>
              <a:spcAft>
                <a:spcPts val="900"/>
              </a:spcAft>
            </a:pPr>
            <a:r>
              <a:rPr sz="1800" b="1">
                <a:solidFill>
                  <a:srgbClr val="0F8B8D"/>
                </a:solidFill>
              </a:rPr>
              <a:t>▪  </a:t>
            </a:r>
            <a:r>
              <a:rPr sz="1800">
                <a:solidFill>
                  <a:srgbClr val="1B2430"/>
                </a:solidFill>
                <a:latin typeface="Calibri"/>
              </a:rPr>
              <a:t>[7] PyTorch rasmiy hujjatlari — https://pytorch.org (FSDP, scaled_dot_product_attention).</a:t>
            </a:r>
          </a:p>
          <a:p>
            <a:pPr>
              <a:spcAft>
                <a:spcPts val="900"/>
              </a:spcAft>
            </a:pPr>
            <a:r>
              <a:rPr sz="1800" b="1">
                <a:solidFill>
                  <a:srgbClr val="0F8B8D"/>
                </a:solidFill>
              </a:rPr>
              <a:t>▪  </a:t>
            </a:r>
            <a:r>
              <a:rPr sz="1800">
                <a:solidFill>
                  <a:srgbClr val="1B2430"/>
                </a:solidFill>
                <a:latin typeface="Calibri"/>
              </a:rPr>
              <a:t>Vaswani, A., Shazeer, N., Parmar, N. va boshq. Attention Is All You Need. NeurIPS 2017. arXiv:1706.03762.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35</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Kwon, W., Li, Z., Zhuang, S. va boshq. Efficient Memory Management for Large Language Model Serving with PagedAttention. SOSP 2023. arXiv:2309.06180.</a:t>
            </a:r>
          </a:p>
          <a:p>
            <a:pPr>
              <a:spcAft>
                <a:spcPts val="900"/>
              </a:spcAft>
            </a:pPr>
            <a:r>
              <a:rPr sz="1600" b="1">
                <a:solidFill>
                  <a:srgbClr val="0F8B8D"/>
                </a:solidFill>
              </a:rPr>
              <a:t>▪  </a:t>
            </a:r>
            <a:r>
              <a:rPr sz="1600">
                <a:solidFill>
                  <a:srgbClr val="1B2430"/>
                </a:solidFill>
                <a:latin typeface="Calibri"/>
              </a:rPr>
              <a:t>Lewis, P., Perez, E., Piktus, A. va boshq. Retrieval-Augmented Generation for Knowledge-Intensive NLP Tasks. NeurIPS 2020. arXiv:2005.11401.</a:t>
            </a:r>
          </a:p>
          <a:p>
            <a:pPr>
              <a:spcAft>
                <a:spcPts val="900"/>
              </a:spcAft>
            </a:pPr>
            <a:r>
              <a:rPr sz="1600" b="1">
                <a:solidFill>
                  <a:srgbClr val="0F8B8D"/>
                </a:solidFill>
              </a:rPr>
              <a:t>▪  </a:t>
            </a:r>
            <a:r>
              <a:rPr sz="1600">
                <a:solidFill>
                  <a:srgbClr val="1B2430"/>
                </a:solidFill>
                <a:latin typeface="Calibri"/>
              </a:rPr>
              <a:t>Hoffmann, J., Borgeaud, S., Mensch, A. va boshq. Training Compute-Optimal Large Language Models. 2022. arXiv:2203.15556.</a:t>
            </a:r>
          </a:p>
          <a:p>
            <a:pPr>
              <a:spcAft>
                <a:spcPts val="900"/>
              </a:spcAft>
            </a:pPr>
            <a:r>
              <a:rPr sz="1600" b="1">
                <a:solidFill>
                  <a:srgbClr val="0F8B8D"/>
                </a:solidFill>
              </a:rPr>
              <a:t>▪  </a:t>
            </a:r>
            <a:r>
              <a:rPr sz="1600">
                <a:solidFill>
                  <a:srgbClr val="1B2430"/>
                </a:solidFill>
                <a:latin typeface="Calibri"/>
              </a:rPr>
              <a:t>Dao, T., Fu, D. Y., Ermon, S., Rudra, A., &amp; Ré, C. FlashAttention: Fast and Memory-Efficient Exact Attention with IO-Awareness. NeurIPS 2022. arXiv:2205.14135.</a:t>
            </a:r>
          </a:p>
          <a:p>
            <a:pPr>
              <a:spcAft>
                <a:spcPts val="900"/>
              </a:spcAft>
            </a:pPr>
            <a:r>
              <a:rPr sz="1600" b="1">
                <a:solidFill>
                  <a:srgbClr val="0F8B8D"/>
                </a:solidFill>
              </a:rPr>
              <a:t>▪  </a:t>
            </a:r>
            <a:r>
              <a:rPr sz="1600">
                <a:solidFill>
                  <a:srgbClr val="1B2430"/>
                </a:solidFill>
                <a:latin typeface="Calibri"/>
              </a:rPr>
              <a:t>Johnson, J., Douze, M., &amp; Jégou, H. Billion-scale similarity search with GPUs. IEEE Transactions on Big Data, 2019. arXiv:1702.08734; FAISS kutubxonasi:…</a:t>
            </a:r>
          </a:p>
          <a:p>
            <a:pPr>
              <a:spcAft>
                <a:spcPts val="900"/>
              </a:spcAft>
            </a:pPr>
            <a:r>
              <a:rPr sz="1600" b="1">
                <a:solidFill>
                  <a:srgbClr val="0F8B8D"/>
                </a:solidFill>
              </a:rPr>
              <a:t>▪  </a:t>
            </a:r>
            <a:r>
              <a:rPr sz="1600">
                <a:solidFill>
                  <a:srgbClr val="1B2430"/>
                </a:solidFill>
                <a:latin typeface="Calibri"/>
              </a:rPr>
              <a:t>vLLM rasmiy hujjatlari: https://docs.vllm.ai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SAVOLLAR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E’tiboringiz uchun rahmat!</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M11 · Katta til modellari uchun kompyuter tizimlari va hisoblash infratuzilmasi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36</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2000000"/>
            <a:ext cx="11000000" cy="2500000"/>
          </a:xfrm>
          <a:prstGeom prst="rect">
            <a:avLst/>
          </a:prstGeom>
          <a:noFill/>
        </p:spPr>
        <p:txBody>
          <a:bodyPr wrap="square" anchor="t" lIns="50800" rIns="50800">
            <a:spAutoFit/>
          </a:bodyPr>
          <a:lstStyle/>
          <a:p>
            <a:pPr algn="l"/>
            <a:r>
              <a:rPr sz="2000" b="0">
                <a:solidFill>
                  <a:srgbClr val="1B2430"/>
                </a:solidFill>
                <a:latin typeface="Calibri"/>
              </a:rPr>
              <a:t>Mavzu matni va materiallar: https://aiscan.airi.uz/ktm/#/c/mis2104/mavzu/M11</a:t>
            </a:r>
          </a:p>
          <a:p>
            <a:pPr algn="l"/>
            <a:r>
              <a:rPr sz="2000" b="0">
                <a:solidFill>
                  <a:srgbClr val="1B2430"/>
                </a:solidFill>
                <a:latin typeface="Calibri"/>
              </a:rPr>
              <a:t>Nazorat savollari va mustaqil ish — mavzu matnining oxirida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
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Dekoder-only Transformer (zamonaviy LLM'larning aksariyati shu turda) L ta bir xil blokdan iborat. Har blok ikki qismdan tuziladi: ko'p boshli o'z-o'ziga diqqat (multi-head self-attention) va pozitsiya bo'yicha to'liq bog'langan tarmoq (feed-forward network, FFN), har biri qoldiq bog'lanish (residual) va normalizatsiya (LayerNorm yoki RMSNorm) bilan o'ralgan. Diqqat mexanizmi har token uchun so'rov (Q), kalit (K) va qiymat (V) vektorlarini d_model × d_model proyeksiyalar orqali hisoblaydi, so'ngra softmax(QKᵀ / √d_k) · V ifodasini bajaradi. Mohiyati: har token kontekstdagi barcha oldingi tokenlar bilan «mosligini» hisoblab, ularning qiymatlarini vaznli yig'adi. FFN odatda d_model → 4·d_model → d_model (yoki SwiGLU variantida 8/3·d_model) o'lchamli ikki chiziqli qatlam. Pozitsiya ma'lumoti RoPE (rotary position embedding) orqali Q va K'ga kiritiladi.</a:t>
            </a:r>
          </a:p>
          <a:p/>
          <a:p>
            <a:r>
              <a:t>Parametrlar soni taxminan P ≈ 12 · L · d_model² (diqqat 4·d², FFN 8·d²) plus embedding V · d_model. Masalan, Llama 2 7B: L = 32, d_model = 4096 → 12 · 32 · 4096² ≈ 6,4 milliard, embedding bilan ≈ 6,7 milliard. Token boshiga hisoblash: har parametr bitta ko'paytirish-qo'shish, ya'ni ≈ 2P FLOP (oldinga), o'qitishda orqaga tarqatish bilan ≈ 6P FLOP. Diqqatning o'zi qo'shimcha 4 · L · n · d_model FLOP (n — kontekst uzunligi) talab qiladi, bu uzun kontekstda (n ≫ d) ustun kela boshlaydi va QKᵀ matritsasi n² xotira talab qiladi — n = 32 000 da bitta bosh uchun 2 GB FP16. FlashAttention (Dao va boshq., 2022) bu matritsani hech qachon HBM'ga yozmasdan, bloklab SRAM'da hisoblaydi: FLOP soni o'zgarmaydi, lekin xotira murojaatlari O(n²) dan O(n) ga tushadi va amalda 2–4 marta tezlashish beradi — Roofline tilida bu arifmetik intensivlikni oshirish.</a:t>
            </a:r>
          </a:p>
          <a:p/>
          <a:p>
            <a:r>
              <a:t>Zamonaviy modellarda KV-keshni kamaytirish uchun guruhlangan so'rov diqqati (grouped-query attention, GQA) ishlatiladi: 32 ta Q boshiga atigi 8 ta K/V boshi to'g'ri keladi (Llama 3, Mistral). Aralash ekspertlar (mixture of experts, MoE) arxitekturasida FFN bir nechta «ekspert»ga bo'linadi va har token uchun faqat 2 tasi faollashadi (Mixtral 8×7B: 47 milliard parametr, token boshiga 13 milliard faol) — bu hisoblashni kamaytiradi, lekin xotira talabini emas, va ekspertlar o'rtasida yuk muvozanati muammosini tug'diradi.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narxi oddiy formula bilan baholanadi: C ≈ 6 · P · D FLOP, bu yerda D — o'qitish tokenlari soni. 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 H100'ning BF16 cho'qqisi 989 TFLOPS, real MFU 40 foiz → ≈ 400 TFLOPS → 1,6·10¹⁰ GPU-sekund ≈ 4,4 million GPU-soat; 4096 GPU'da ≈ 45 kun. Meta'ning Llama 3 70B uchun e'lon qilgan ≈ 6,4 million GPU-soati shu tartibda (pastroq MFU va nosozliklar bilan). O'qitishda xotira talabi parametr boshiga ≈ 16 bayt (BF16 og'irlik 2 + BF16 gradient 2 + FP32 asosiy nusxa 4 + Adam momentlari 8) plus faollashuvlar: 70B uchun faqat holatlar 1,1 TB — bu bitta GPU'ga sig'maydi, shuning uchun ZeRO/FSDP (holatlarni GPU'lar o'rtasida bo'lish), tensor parallelizm (qatlam ichida), konveyer parallelizmi (qatlamlar bo'yicha) va ma'lumot parallelizmi birgalikda — «3D parallelizm» — ishlatiladi.</a:t>
            </a:r>
          </a:p>
          <a:p/>
          <a:p>
            <a:r>
              <a:t>Inferens ikki fazadan iborat. 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 Shuning uchun bitta ketma-ketlik uchun maksimal tezlik ≈ B_HBM / (model hajmi): 8B FP16 model (16 GB) A100 80 GB'da (2039 GB/s) ≈ 127 token/s nazariy chegara, amalda 80–100. Throughput'ni oshirishning yagona yo'li — ko'p ketma-ketlikni bir vaqtda dekodlash (partiyalash): og'irliklar bir marta o'qiladi, 32 token hisoblanadi; intensivlik 32 marta oshadi.</a:t>
            </a:r>
          </a:p>
          <a:p/>
          <a:p>
            <a:r>
              <a:t>KV-kesh — dekodlashda har qadamda oldingi tokenlarning K va V vektorlarini qayta hisoblamaslik uchun saqlanadigan xotira. 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 80 GB GPU'da 8B model (16 GB) qolgan 60 GB'ga ≈ 60 ta 8K-kontekstli ketma-ketlik sig'dira oladi. 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 Natija — xotira isrofi 4 foizdan kam, throughput 2–4 marta yuqori.</a:t>
            </a:r>
          </a:p>
          <a:p/>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(Lewis va boshq., 2020) tizimi ikki bosqichda ishlaydi. Tayyorgarlik (indekslash): hujjatlar bo'laklarga (chunk, odatda 200–1000 token, qisman ustma-ust) bo'linadi, har bo'lak embedding modeli orqali zich vektorga (384–1024 o'lcham) aylantiriladi va vektor indeksga yoziladi. So'rov vaqtida: foydalanuvchi savoli xuddi shu model bilan vektorga aylantiriladi, indeksdan eng yaqin k bo'lak (odatda kosinus o'xshashligi bo'yicha) topiladi, ular promptga kontekst sifatida qo'shiladi va LLM javob yaratadi. Afzalliklari: modelni qayta o'qitmasdan bilimni yangilash, javobni manbaga bog'lash (iqtibos), hallutsinatsiyani kamaytirish, maxfiy hujjatlarni model og'irliklariga kiritmaslik. Sifat zanjirning eng zaif bo'g'ini bilan belgilanadi: yomon bo'laklash yoki mos kelmaydigan embedding modeli har qanday LLM'ni foydasiz qiladi.</a:t>
            </a:r>
          </a:p>
          <a:p/>
          <a:p>
            <a:r>
              <a:t>Vektor qidiruvning markaziy masalasi — N ta d-o'lchamli vektor orasidan so'rovga eng yaqin k tasini tez topish. To'liq qidiruv (Flat, brute force) O(N · d) — 1 million × 768 o'lcham uchun GPU'da bir necha millisekund, lekin 100 million uchun sekin va 300 GB xotira. Taxminiy eng yaqin qo'shni (approximate nearest neighbor, ANN) indekslari aniqlikning bir qismini tezlik va xotiraga almashtiradi. IVF (inverted file): vektorlar k-means bilan n_list klasterga bo'linadi, so'rov vaqtida faqat n_probe eng yaqin klaster tekshiriladi — tezlik 10–100 marta, recall n_probe bilan sozlanadi. HNSW (hierarchical navigable small world): ko'p qatlamli graf, qidiruv yuqori qatlamdan pastga «yo'l topib» tushadi — eng yuqori recall/tezlik nisbati, lekin xotira hajmi katta (vektor + graf qirralari) va qurish sekin. PQ (product quantization): vektor m sub-vektorga bo'linib, har biri 256 ta kod bilan kvantlanadi — 768 o'lchamli FP32 vektor (3 KB) 96 baytga siqiladi, xotira 32 marta kamayadi, recall biroz tushadi. Amaliyotda kombinatsiyalar ishlatiladi: IVF4096,PQ64 yuz millionlab vektor uchun, HNSW32 o'n millionlargacha.</a:t>
            </a:r>
          </a:p>
          <a:p/>
          <a:p>
            <a:r>
              <a:t>Vektor baza (vector database) — indeks ustiga metama'lumot filtrlash, CRUD, persistentlik, replikatsiya va API qo'shadigan tizim. FAISS (Meta) — kutubxona, baza emas: eng tez va moslashuvchan, GPU qo'llab-quvvatlaydi, lekin saqlash va filtrlashni o'zingiz yozasiz. Chroma — yengil, Python'ga joylashtiriladigan, prototiplar uchun qulay (ichida HNSW). Milvus, Qdrant, Weaviate — taqsimlangan, ishlab chiqarish darajasidagi serverlar; pgvector — PostgreSQL kengaytmasi, mavjud relyatsion ma'lumot bilan birga saqlash uchun. Tanlov mezonlari: vektorlar soni (10⁶ — har qanday, 10⁹ — faqat taqsimlangan), filtrlash murakkabligi, yangilanish chastotasi, mavjud infratuzilma. Sifatni oshirish usullari: gibrid qidiruv (zich vektor + BM25 kalit so'z, natijalar RRF bilan birlashtiriladi), qayta saralash (cross-encoder reranker, masalan bge-reranker, top-50 ni top-5 ga qisqartiradi, aniqlikni sezilarli oshiradi, lekin har juftlik uchun model chaqiruvi), so'rovni qayta yozish, ierarxik bo'laklash.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 LLM'ni qaror qabul qiluvchi «miya» sifatida ishlatuvchi, vositalar (tools) bilan muhit bilan o'zaro ta'sir qiluvchi va ko'p qadamli vazifalarni bajaruvchi tizim. ReAct naqshi (reasoning + acting) asosiy sikl: model fikrlaydi, vosita chaqiruvini tuziladigan formatda (JSON) chiqaradi, tizim vositani bajaradi (qidiruv, kod, SQL, API), natija promptga qaytariladi, sikl takrorlanadi. Zamonaviy modellar vosita chaqirishga maxsus o'qitilgan (function calling); Model Context Protocol (MCP) kabi standartlar vositalarni tavsiflash va ulashni birxillashtiradi. Agent xotirasi qisqa muddatli (kontekst oynasi) va uzoq muddatli (vektor baza — RAG agentning xotirasi bo'ladi) qismlardan iborat.</a:t>
            </a:r>
          </a:p>
          <a:p/>
          <a:p>
            <a:r>
              <a:t>Infratuzilma nuqtai nazaridan agentlar uch yangi talab qo'yadi. Birinchidan, kechikish zanjiri: bitta foydalanuvchi vazifasi 5–20 ta LLM chaqiruvi va vosita bajarilishidan iborat, umumiy vaqt o'nlab soniya; shuning uchun har chaqiruvning TTFT va prefiks keshlash hal qiluvchi, oqimli (streaming) javob va parallel vosita chaqiruvi zarur. Ikkinchidan, xavfsizlik: agent haqiqiy amallar bajaradi (fayl o'chirish, pul o'tkazish, xat yuborish), bilvosita prompt injection (M9) orqali uni aldash mumkin — vositalarga eng kam imtiyoz, sandbox (konteyner) ichida kod bajarish, qaytarib bo'lmaydigan amallar uchun inson tasdig'i majburiy. Uchinchidan, kuzatuv (observability): har qadam — prompt, javob, vosita kirish-chiqishi, token sarfi, kechikish — izlanadi (tracing, masalan OpenTelemetry asosida), aks holda nosozlikni topib bo'lmaydi va narxni nazorat qilib bo'lmaydi. Ko'p agentli tizimlarda (bir agent rejalashtiradi, boshqalar bajaradi) bu talablar ko'payadi va orkestratsiya qatlami (navbatlar, holat mashinasi, qayta urinish) kerak bo'ladi.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infratuzilmasini loyihalash to'rt resursni muvozanatlashdan boshlanadi: GPU xotirasi, hisoblash, tugunlar ichidagi va orasidagi tarmoq, saqlash. Xotira talabi inferens uchun: og'irliklar (P × bayt) + KV-kesh (foydalanuvchilar × kontekst × token boshiga KB) + faollashuvlar (5–10 %). 70B FP16: 140 GB og'irlik — 2 ta H100 80 GB'ga tensor parallelizm bilan sig'adi, lekin KV-kesh uchun joy qolmaydi; 4 ta H100 (320 GB) bilan 180 GB kesh → ≈ 70 ta 8K ketma-ketlik; FP8'da 70 GB og'irlik va 2 ta GPU amaliy minimal. 405B FP16: 810 GB — 8 ta H100 (640 GB) yetmaydi, FP8'da 405 GB — bitta 8-GPU tugun to'liq band. Tensor parallelizm tugun ichida qoladi, chunki har qatlamda all-reduce talab qiladi va NVLink (H100: 900 GB/s ikki tomonlama) kerak; PCIe Gen5 (128 GB/s) orqali tensor parallelizm 3–5 marta sekin.</a:t>
            </a:r>
          </a:p>
          <a:p/>
          <a:p>
            <a:r>
              <a:t>O'qitish klasteri uchun tugun — standart birlik: DGX H100 (8 × H100 SXM 80 GB, NVSwitch orqali to'liq bog'langan, 2 × Intel Xeon, 2 TB RAM, 8 × 400 Gb/s InfiniBand NDR adapter — har GPU'ga bittadan, ≈ 10 kW). Tugunlar orasidagi tarmoq ma'lumot parallelizmidagi gradient all-reduce'ni va konveyer parallelizmidagi faollashuv uzatishni ko'taradi; 70B modelning BF16 gradientlari 140 GB — har qadamda ring all-reduce bilan har tugun 2 × 140 GB × (N−1)/N uzatadi, 400 Gb/s × 8 = 3,2 Tb/s = 400 GB/s tugun o'tkazuvchanligida ≈ 0,7 soniya, bu hisoblash bilan ustma-ust qo'yilishi shart. Tarmoq topologiyasi — rail-optimized fat-tree yoki Dragonfly, RDMA (GPUDirect RDMA bilan GPU xotirasidan to'g'ridan-to'g'ri tarmoqqa). Saqlash: o'qitish to'plami (15T token ≈ 60 TB matn) va nazorat nuqtalari (checkpoint; 70B uchun optimizator holati bilan ≈ 1 TB, har 30–60 daqiqada yoziladi) parallel fayl tizimiga (Lustre, GPFS, yoki obyekt saqlash + lokal NVMe kesh) 10–100 GB/s tezlikda yoziladi. Ishonchlilik: 16 000 GPU'li klasterda Meta 54 kunlik o'qitish davomida 466 ta uzilishni qayd etgan (asosan GPU va HBM nosozliklari) — avtomatik nazorat nuqtasidan tiklash va nosoz tugunni almashtirish infratuzilmaning bir qismi.</a:t>
            </a:r>
          </a:p>
          <a:p/>
          <a:p>
            <a:r>
              <a:t>Energiya va joylashtirish: 1 000 ta H100 ≈ 1,3 MW IT quvvat, PUE 1,2 bilan 1,6 MW; suyuqlik sovutish 700 vattlik GPU'lar uchun standartga aylanmoqda. Dasturiy stek: konteynerlar (NVIDIA NGC obrazlari), orkestratsiya (Slurm — HPC an'anasi, Kubernetes + GPU Operator — bulut an'anasi, Ray — Python-markaziy), o'qitish freymvorklari (Megatron-LM, DeepSpeed, PyTorch FSDP), inferens serverlari (vLLM, TensorRT-LLM, SGLang, Triton Inference Server), monitoring (DCGM eksportchi, Prometheus, Grafana). Bulut va o'z infratuzilma tanlovi: H100 bulutda soatiga 2–4 dollar (2025), 1000 GPU'li klaster yiliga 20–35 million dollar; sotib olish va joylashtirish 3 yilda shunga yaqin, lekin band bo'lish darajasi 70 foizdan past bo'lsa bulut arzon.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M11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Katta til modellari uchun kompyuter tizimlari va hisoblash infratuzilmasi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dd215ec158b12bac.jpg"/>
          <p:cNvPicPr>
            <a:picLocks noChangeAspect="1"/>
          </p:cNvPicPr>
          <p:nvPr/>
        </p:nvPicPr>
        <p:blipFill>
          <a:blip r:embed="rId2"/>
          <a:srcRect l="25957" r="25957"/>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Steve Jurvetson from Los Altos, USA · Wikimedia Commons · Public domain</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900" b="0">
                <a:solidFill>
                  <a:srgbClr val="1B2430"/>
                </a:solidFill>
                <a:latin typeface="Calibri"/>
              </a:rPr>
              <a:t>Transformer arxitekturasi va uning hisoblash xususiyatlari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900" b="0">
                <a:solidFill>
                  <a:srgbClr val="1B2430"/>
                </a:solidFill>
                <a:latin typeface="Calibri"/>
              </a:rPr>
              <a:t>LLM o'qitish va inferens: masshtab, xotira va tizim optimallashtirishlari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900" b="0">
                <a:solidFill>
                  <a:srgbClr val="1B2430"/>
                </a:solidFill>
                <a:latin typeface="Calibri"/>
              </a:rPr>
              <a:t>Retrieval-Augmented Generation va vektor bazalar</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900" b="0">
                <a:solidFill>
                  <a:srgbClr val="1B2430"/>
                </a:solidFill>
                <a:latin typeface="Calibri"/>
              </a:rPr>
              <a:t>Sun'iy intellekt agentlari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900" b="0">
                <a:solidFill>
                  <a:srgbClr val="1B2430"/>
                </a:solidFill>
                <a:latin typeface="Calibri"/>
              </a:rPr>
              <a:t>LLM uchun GPU klasterlari va yuqori unumdor infratuzilma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5aaee66b1893f8e.jpg"/>
          <p:cNvPicPr>
            <a:picLocks noChangeAspect="1"/>
          </p:cNvPicPr>
          <p:nvPr/>
        </p:nvPicPr>
        <p:blipFill>
          <a:blip r:embed="rId2"/>
          <a:srcRect l="10097" r="1009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Shuang Zhang, Rui Fan, Yuti Liu, Shuang Chen, Qiao Liu, Wanwen Zeng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Transformer arxitekturasi va uning hisoblash xususiyatlari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Transformer arxitekturasi va uning hisoblash xususiyatlari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Dekoder-only Transformer (zamonaviy LLM'larning aksariyati shu turda) L ta bir xil blokdan iborat. Har blok ikki qismdan tuziladi: ko'p boshli o'z-o'ziga diqqat (multi-head self-attention) va pozitsiya bo'yicha to'liq bog'langan tarmoq (feed-forward network,…</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Parametrlar soni taxminan P ≈ 12 · L · d_model² (diqqat 4·d², FFN 8·d²) plus embedding V · d_model. Masalan, Llama 2 7B: L = 32, d_model = 4096 → 12 · 32 · 4096² ≈ 6,4 milliard, embedding bilan ≈ 6,7 milliard.</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modellarda KV-keshni kamaytirish uchun guruhlangan so'rov diqqati (grouped-query attention, GQA) ishlatiladi: 32 ta Q boshiga atigi 8 ta K/V boshi to'g'ri keladi (Llama 3, Mistral). Aralash ekspertlar (mixture of experts, MoE) arxitekturasida FFN…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fe19331b9f4ded3.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极客湾Geekerwan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LLM o'qitish va inferens: masshtab, xotira va tizim optimallashtirishlari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LLM o'qitish va inferens: masshtab, xotira va tizim optimallashtirishlari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O'qitish narxi oddiy formula bilan baholanadi: C ≈ 6 · P · D FLOP, bu yerda D — o'qitish tokenlari soni.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Inferens ikki fazadan iborat. Prefill — promptning barcha tokenlarini bir vaqtda qayta ishlash: n_prompt tokenli prompt uchun 2 · P · n_prompt FLOP, katta matritsalar, compute-bound; u…</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KV-kesh — dekodlashda har qadamda oldingi tokenlarning K va V vektorlarini qayta hisoblamaslik uchun saqlanadigan xotira.</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Ikkinchi asosiy optimallashtirish — uzluksiz partiyalash (continuous batching, Orca tizimidan): partiya butun so'rovlar darajasida emas, iteratsiya darajasida tuziladi; bitta ketma-ketlik…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LLM o'qitish va inferens: masshtab, xotira va tizim optimallashtirishlari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Usul</a:t>
                      </a:r>
                    </a:p>
                  </a:txBody>
                  <a:tcPr>
                    <a:solidFill>
                      <a:srgbClr val="2D5C8F"/>
                    </a:solidFill>
                  </a:tcPr>
                </a:tc>
                <a:tc>
                  <a:txBody>
                    <a:bodyPr/>
                    <a:lstStyle/>
                    <a:p>
                      <a:r>
                        <a:rPr sz="1400" b="1">
                          <a:solidFill>
                            <a:srgbClr val="FFFFFF"/>
                          </a:solidFill>
                          <a:latin typeface="Calibri"/>
                        </a:rPr>
                        <a:t>Nimani yaxshilaydi</a:t>
                      </a:r>
                    </a:p>
                  </a:txBody>
                  <a:tcPr>
                    <a:solidFill>
                      <a:srgbClr val="2D5C8F"/>
                    </a:solidFill>
                  </a:tcPr>
                </a:tc>
                <a:tc>
                  <a:txBody>
                    <a:bodyPr/>
                    <a:lstStyle/>
                    <a:p>
                      <a:r>
                        <a:rPr sz="1400" b="1">
                          <a:solidFill>
                            <a:srgbClr val="FFFFFF"/>
                          </a:solidFill>
                          <a:latin typeface="Calibri"/>
                        </a:rPr>
                        <a:t>Mexanizm</a:t>
                      </a:r>
                    </a:p>
                  </a:txBody>
                  <a:tcPr>
                    <a:solidFill>
                      <a:srgbClr val="2D5C8F"/>
                    </a:solidFill>
                  </a:tcPr>
                </a:tc>
                <a:tc>
                  <a:txBody>
                    <a:bodyPr/>
                    <a:lstStyle/>
                    <a:p>
                      <a:r>
                        <a:rPr sz="1400" b="1">
                          <a:solidFill>
                            <a:srgbClr val="FFFFFF"/>
                          </a:solidFill>
                          <a:latin typeface="Calibri"/>
                        </a:rPr>
                        <a:t>Tipik yutuq</a:t>
                      </a:r>
                    </a:p>
                  </a:txBody>
                  <a:tcPr>
                    <a:solidFill>
                      <a:srgbClr val="2D5C8F"/>
                    </a:solidFill>
                  </a:tcPr>
                </a:tc>
              </a:tr>
              <a:tr h="520000">
                <a:tc>
                  <a:txBody>
                    <a:bodyPr/>
                    <a:lstStyle/>
                    <a:p>
                      <a:r>
                        <a:rPr sz="1400" b="0">
                          <a:solidFill>
                            <a:srgbClr val="1B2430"/>
                          </a:solidFill>
                          <a:latin typeface="Calibri"/>
                        </a:rPr>
                        <a:t>FlashAttention</a:t>
                      </a:r>
                    </a:p>
                  </a:txBody>
                  <a:tcPr>
                    <a:solidFill>
                      <a:srgbClr val="F1F4F8"/>
                    </a:solidFill>
                  </a:tcPr>
                </a:tc>
                <a:tc>
                  <a:txBody>
                    <a:bodyPr/>
                    <a:lstStyle/>
                    <a:p>
                      <a:r>
                        <a:rPr sz="1400" b="0">
                          <a:solidFill>
                            <a:srgbClr val="1B2430"/>
                          </a:solidFill>
                          <a:latin typeface="Calibri"/>
                        </a:rPr>
                        <a:t>Prefill tezligi, uzun kontekst xotirasi</a:t>
                      </a:r>
                    </a:p>
                  </a:txBody>
                  <a:tcPr>
                    <a:solidFill>
                      <a:srgbClr val="F1F4F8"/>
                    </a:solidFill>
                  </a:tcPr>
                </a:tc>
                <a:tc>
                  <a:txBody>
                    <a:bodyPr/>
                    <a:lstStyle/>
                    <a:p>
                      <a:r>
                        <a:rPr sz="1400" b="0">
                          <a:solidFill>
                            <a:srgbClr val="1B2430"/>
                          </a:solidFill>
                          <a:latin typeface="Calibri"/>
                        </a:rPr>
                        <a:t>SRAM'da bloklab hisoblash</a:t>
                      </a:r>
                    </a:p>
                  </a:txBody>
                  <a:tcPr>
                    <a:solidFill>
                      <a:srgbClr val="F1F4F8"/>
                    </a:solidFill>
                  </a:tcPr>
                </a:tc>
                <a:tc>
                  <a:txBody>
                    <a:bodyPr/>
                    <a:lstStyle/>
                    <a:p>
                      <a:r>
                        <a:rPr sz="1400" b="0">
                          <a:solidFill>
                            <a:srgbClr val="1B2430"/>
                          </a:solidFill>
                          <a:latin typeface="Calibri"/>
                        </a:rPr>
                        <a:t>2–4× tezroq, xotira O(n)</a:t>
                      </a:r>
                    </a:p>
                  </a:txBody>
                  <a:tcPr>
                    <a:solidFill>
                      <a:srgbClr val="F1F4F8"/>
                    </a:solidFill>
                  </a:tcPr>
                </a:tc>
              </a:tr>
              <a:tr h="520000">
                <a:tc>
                  <a:txBody>
                    <a:bodyPr/>
                    <a:lstStyle/>
                    <a:p>
                      <a:r>
                        <a:rPr sz="1400" b="0">
                          <a:solidFill>
                            <a:srgbClr val="1B2430"/>
                          </a:solidFill>
                          <a:latin typeface="Calibri"/>
                        </a:rPr>
                        <a:t>PagedAttention</a:t>
                      </a:r>
                    </a:p>
                  </a:txBody>
                  <a:tcPr>
                    <a:solidFill>
                      <a:srgbClr val="FFFFFF"/>
                    </a:solidFill>
                  </a:tcPr>
                </a:tc>
                <a:tc>
                  <a:txBody>
                    <a:bodyPr/>
                    <a:lstStyle/>
                    <a:p>
                      <a:r>
                        <a:rPr sz="1400" b="0">
                          <a:solidFill>
                            <a:srgbClr val="1B2430"/>
                          </a:solidFill>
                          <a:latin typeface="Calibri"/>
                        </a:rPr>
                        <a:t>KV-kesh sig'imi, throughput</a:t>
                      </a:r>
                    </a:p>
                  </a:txBody>
                  <a:tcPr>
                    <a:solidFill>
                      <a:srgbClr val="FFFFFF"/>
                    </a:solidFill>
                  </a:tcPr>
                </a:tc>
                <a:tc>
                  <a:txBody>
                    <a:bodyPr/>
                    <a:lstStyle/>
                    <a:p>
                      <a:r>
                        <a:rPr sz="1400" b="0">
                          <a:solidFill>
                            <a:srgbClr val="1B2430"/>
                          </a:solidFill>
                          <a:latin typeface="Calibri"/>
                        </a:rPr>
                        <a:t>Sahifalangan xotira</a:t>
                      </a:r>
                    </a:p>
                  </a:txBody>
                  <a:tcPr>
                    <a:solidFill>
                      <a:srgbClr val="FFFFFF"/>
                    </a:solidFill>
                  </a:tcPr>
                </a:tc>
                <a:tc>
                  <a:txBody>
                    <a:bodyPr/>
                    <a:lstStyle/>
                    <a:p>
                      <a:r>
                        <a:rPr sz="1400" b="0">
                          <a:solidFill>
                            <a:srgbClr val="1B2430"/>
                          </a:solidFill>
                          <a:latin typeface="Calibri"/>
                        </a:rPr>
                        <a:t>Isrof 60–80 % → 4 % dan kam</a:t>
                      </a:r>
                    </a:p>
                  </a:txBody>
                  <a:tcPr>
                    <a:solidFill>
                      <a:srgbClr val="FFFFFF"/>
                    </a:solidFill>
                  </a:tcPr>
                </a:tc>
              </a:tr>
              <a:tr h="520000">
                <a:tc>
                  <a:txBody>
                    <a:bodyPr/>
                    <a:lstStyle/>
                    <a:p>
                      <a:r>
                        <a:rPr sz="1400" b="0">
                          <a:solidFill>
                            <a:srgbClr val="1B2430"/>
                          </a:solidFill>
                          <a:latin typeface="Calibri"/>
                        </a:rPr>
                        <a:t>Continuous batching</a:t>
                      </a:r>
                    </a:p>
                  </a:txBody>
                  <a:tcPr>
                    <a:solidFill>
                      <a:srgbClr val="F1F4F8"/>
                    </a:solidFill>
                  </a:tcPr>
                </a:tc>
                <a:tc>
                  <a:txBody>
                    <a:bodyPr/>
                    <a:lstStyle/>
                    <a:p>
                      <a:r>
                        <a:rPr sz="1400" b="0">
                          <a:solidFill>
                            <a:srgbClr val="1B2430"/>
                          </a:solidFill>
                          <a:latin typeface="Calibri"/>
                        </a:rPr>
                        <a:t>Throughput, GPU bandligi</a:t>
                      </a:r>
                    </a:p>
                  </a:txBody>
                  <a:tcPr>
                    <a:solidFill>
                      <a:srgbClr val="F1F4F8"/>
                    </a:solidFill>
                  </a:tcPr>
                </a:tc>
                <a:tc>
                  <a:txBody>
                    <a:bodyPr/>
                    <a:lstStyle/>
                    <a:p>
                      <a:r>
                        <a:rPr sz="1400" b="0">
                          <a:solidFill>
                            <a:srgbClr val="1B2430"/>
                          </a:solidFill>
                          <a:latin typeface="Calibri"/>
                        </a:rPr>
                        <a:t>Iteratsiya darajasida partiya</a:t>
                      </a:r>
                    </a:p>
                  </a:txBody>
                  <a:tcPr>
                    <a:solidFill>
                      <a:srgbClr val="F1F4F8"/>
                    </a:solidFill>
                  </a:tcPr>
                </a:tc>
                <a:tc>
                  <a:txBody>
                    <a:bodyPr/>
                    <a:lstStyle/>
                    <a:p>
                      <a:r>
                        <a:rPr sz="1400" b="0">
                          <a:solidFill>
                            <a:srgbClr val="1B2430"/>
                          </a:solidFill>
                          <a:latin typeface="Calibri"/>
                        </a:rPr>
                        <a:t>2–10× throughput</a:t>
                      </a:r>
                    </a:p>
                  </a:txBody>
                  <a:tcPr>
                    <a:solidFill>
                      <a:srgbClr val="F1F4F8"/>
                    </a:solidFill>
                  </a:tcPr>
                </a:tc>
              </a:tr>
              <a:tr h="520000">
                <a:tc>
                  <a:txBody>
                    <a:bodyPr/>
                    <a:lstStyle/>
                    <a:p>
                      <a:r>
                        <a:rPr sz="1400" b="0">
                          <a:solidFill>
                            <a:srgbClr val="1B2430"/>
                          </a:solidFill>
                          <a:latin typeface="Calibri"/>
                        </a:rPr>
                        <a:t>Spekulyativ dekodlash</a:t>
                      </a:r>
                    </a:p>
                  </a:txBody>
                  <a:tcPr>
                    <a:solidFill>
                      <a:srgbClr val="FFFFFF"/>
                    </a:solidFill>
                  </a:tcPr>
                </a:tc>
                <a:tc>
                  <a:txBody>
                    <a:bodyPr/>
                    <a:lstStyle/>
                    <a:p>
                      <a:r>
                        <a:rPr sz="1400" b="0">
                          <a:solidFill>
                            <a:srgbClr val="1B2430"/>
                          </a:solidFill>
                          <a:latin typeface="Calibri"/>
                        </a:rPr>
                        <a:t>Decode kechikishi</a:t>
                      </a:r>
                    </a:p>
                  </a:txBody>
                  <a:tcPr>
                    <a:solidFill>
                      <a:srgbClr val="FFFFFF"/>
                    </a:solidFill>
                  </a:tcPr>
                </a:tc>
                <a:tc>
                  <a:txBody>
                    <a:bodyPr/>
                    <a:lstStyle/>
                    <a:p>
                      <a:r>
                        <a:rPr sz="1400" b="0">
                          <a:solidFill>
                            <a:srgbClr val="1B2430"/>
                          </a:solidFill>
                          <a:latin typeface="Calibri"/>
                        </a:rPr>
                        <a:t>Qoralama + parallel tekshiruv</a:t>
                      </a:r>
                    </a:p>
                  </a:txBody>
                  <a:tcPr>
                    <a:solidFill>
                      <a:srgbClr val="FFFFFF"/>
                    </a:solidFill>
                  </a:tcPr>
                </a:tc>
                <a:tc>
                  <a:txBody>
                    <a:bodyPr/>
                    <a:lstStyle/>
                    <a:p>
                      <a:r>
                        <a:rPr sz="1400" b="0">
                          <a:solidFill>
                            <a:srgbClr val="1B2430"/>
                          </a:solidFill>
                          <a:latin typeface="Calibri"/>
                        </a:rPr>
                        <a:t>2–3× tok/s</a:t>
                      </a:r>
                    </a:p>
                  </a:txBody>
                  <a:tcPr>
                    <a:solidFill>
                      <a:srgbClr val="FFFFFF"/>
                    </a:solidFill>
                  </a:tcPr>
                </a:tc>
              </a:tr>
              <a:tr h="520000">
                <a:tc>
                  <a:txBody>
                    <a:bodyPr/>
                    <a:lstStyle/>
                    <a:p>
                      <a:r>
                        <a:rPr sz="1400" b="0">
                          <a:solidFill>
                            <a:srgbClr val="1B2430"/>
                          </a:solidFill>
                          <a:latin typeface="Calibri"/>
                        </a:rPr>
                        <a:t>INT4/FP8 kvantlash</a:t>
                      </a:r>
                    </a:p>
                  </a:txBody>
                  <a:tcPr>
                    <a:solidFill>
                      <a:srgbClr val="F1F4F8"/>
                    </a:solidFill>
                  </a:tcPr>
                </a:tc>
                <a:tc>
                  <a:txBody>
                    <a:bodyPr/>
                    <a:lstStyle/>
                    <a:p>
                      <a:r>
                        <a:rPr sz="1400" b="0">
                          <a:solidFill>
                            <a:srgbClr val="1B2430"/>
                          </a:solidFill>
                          <a:latin typeface="Calibri"/>
                        </a:rPr>
                        <a:t>Xotira, decode tezligi</a:t>
                      </a:r>
                    </a:p>
                  </a:txBody>
                  <a:tcPr>
                    <a:solidFill>
                      <a:srgbClr val="F1F4F8"/>
                    </a:solidFill>
                  </a:tcPr>
                </a:tc>
                <a:tc>
                  <a:txBody>
                    <a:bodyPr/>
                    <a:lstStyle/>
                    <a:p>
                      <a:r>
                        <a:rPr sz="1400" b="0">
                          <a:solidFill>
                            <a:srgbClr val="1B2430"/>
                          </a:solidFill>
                          <a:latin typeface="Calibri"/>
                        </a:rPr>
                        <a:t>Kam bayt o'qish</a:t>
                      </a:r>
                    </a:p>
                  </a:txBody>
                  <a:tcPr>
                    <a:solidFill>
                      <a:srgbClr val="F1F4F8"/>
                    </a:solidFill>
                  </a:tcPr>
                </a:tc>
                <a:tc>
                  <a:txBody>
                    <a:bodyPr/>
                    <a:lstStyle/>
                    <a:p>
                      <a:r>
                        <a:rPr sz="1400" b="0">
                          <a:solidFill>
                            <a:srgbClr val="1B2430"/>
                          </a:solidFill>
                          <a:latin typeface="Calibri"/>
                        </a:rPr>
                        <a:t>2–4× xotira, sifat −0…2 %</a:t>
                      </a:r>
                    </a:p>
                  </a:txBody>
                  <a:tcPr>
                    <a:solidFill>
                      <a:srgbClr val="F1F4F8"/>
                    </a:solidFill>
                  </a:tcPr>
                </a:tc>
              </a:tr>
              <a:tr h="520000">
                <a:tc>
                  <a:txBody>
                    <a:bodyPr/>
                    <a:lstStyle/>
                    <a:p>
                      <a:r>
                        <a:rPr sz="1400" b="0">
                          <a:solidFill>
                            <a:srgbClr val="1B2430"/>
                          </a:solidFill>
                          <a:latin typeface="Calibri"/>
                        </a:rPr>
                        <a:t>GQA / MQA</a:t>
                      </a:r>
                    </a:p>
                  </a:txBody>
                  <a:tcPr>
                    <a:solidFill>
                      <a:srgbClr val="FFFFFF"/>
                    </a:solidFill>
                  </a:tcPr>
                </a:tc>
                <a:tc>
                  <a:txBody>
                    <a:bodyPr/>
                    <a:lstStyle/>
                    <a:p>
                      <a:r>
                        <a:rPr sz="1400" b="0">
                          <a:solidFill>
                            <a:srgbClr val="1B2430"/>
                          </a:solidFill>
                          <a:latin typeface="Calibri"/>
                        </a:rPr>
                        <a:t>KV-kesh hajmi</a:t>
                      </a:r>
                    </a:p>
                  </a:txBody>
                  <a:tcPr>
                    <a:solidFill>
                      <a:srgbClr val="FFFFFF"/>
                    </a:solidFill>
                  </a:tcPr>
                </a:tc>
                <a:tc>
                  <a:txBody>
                    <a:bodyPr/>
                    <a:lstStyle/>
                    <a:p>
                      <a:r>
                        <a:rPr sz="1400" b="0">
                          <a:solidFill>
                            <a:srgbClr val="1B2430"/>
                          </a:solidFill>
                          <a:latin typeface="Calibri"/>
                        </a:rPr>
                        <a:t>K/V boshlarni bo'lishish</a:t>
                      </a:r>
                    </a:p>
                  </a:txBody>
                  <a:tcPr>
                    <a:solidFill>
                      <a:srgbClr val="FFFFFF"/>
                    </a:solidFill>
                  </a:tcPr>
                </a:tc>
                <a:tc>
                  <a:txBody>
                    <a:bodyPr/>
                    <a:lstStyle/>
                    <a:p>
                      <a:r>
                        <a:rPr sz="1400" b="0">
                          <a:solidFill>
                            <a:srgbClr val="1B2430"/>
                          </a:solidFill>
                          <a:latin typeface="Calibri"/>
                        </a:rPr>
                        <a:t>4–8× kichik kesh</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6bb8841003cde62.jpg"/>
          <p:cNvPicPr>
            <a:picLocks noChangeAspect="1"/>
          </p:cNvPicPr>
          <p:nvPr/>
        </p:nvPicPr>
        <p:blipFill>
          <a:blip r:embed="rId2"/>
          <a:srcRect l="21474" r="2147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BalticServers.com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Retrieval-Augmented Generation va vektor bazalar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Retrieval-Augmented Generation va vektor bazalar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RAG (Lewis va boshq., 2020) tizimi ikki bosqichda ishlaydi. Tayyorgarlik (indekslash): hujjatlar bo'laklarga (chunk, odatda 200–1000 token, qisman ustma-ust) bo'linadi, har bo'lak embedding modeli orqali zich vektorga (384–1024 o'lcham) aylantiriladi va…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Vektor qidiruvning markaziy masalasi — N ta d-o'lchamli vektor orasidan so'rovga eng yaqin k tasini tez topish. To'liq qidiruv (Flat, brute force) O(N · d) — 1 million × 768 o'lcham uchun GPU'da bir necha millisekund, lekin 100 million uchun sekin va 300 GB…</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Vektor baza (vector database) — indeks ustiga metama'lumot filtrlash, CRUD, persistentlik, replikatsiya va API qo'shadigan tizim. FAISS (Meta) — kutubxona, baza emas: eng tez va moslashuvchan, GPU qo'llab-quvvatlaydi, lekin saqlash va filtrlashni o'zingiz…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Retrieval-Augmented Generation va vektor bazalar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Indeks</a:t>
                      </a:r>
                    </a:p>
                  </a:txBody>
                  <a:tcPr>
                    <a:solidFill>
                      <a:srgbClr val="2D5C8F"/>
                    </a:solidFill>
                  </a:tcPr>
                </a:tc>
                <a:tc>
                  <a:txBody>
                    <a:bodyPr/>
                    <a:lstStyle/>
                    <a:p>
                      <a:r>
                        <a:rPr sz="1400" b="1">
                          <a:solidFill>
                            <a:srgbClr val="FFFFFF"/>
                          </a:solidFill>
                          <a:latin typeface="Calibri"/>
                        </a:rPr>
                        <a:t>Qidiruv vaqti (1M, d=768, taxminiy)</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Recall@10</a:t>
                      </a:r>
                    </a:p>
                  </a:txBody>
                  <a:tcPr>
                    <a:solidFill>
                      <a:srgbClr val="2D5C8F"/>
                    </a:solidFill>
                  </a:tcPr>
                </a:tc>
                <a:tc>
                  <a:txBody>
                    <a:bodyPr/>
                    <a:lstStyle/>
                    <a:p>
                      <a:r>
                        <a:rPr sz="1400" b="1">
                          <a:solidFill>
                            <a:srgbClr val="FFFFFF"/>
                          </a:solidFill>
                          <a:latin typeface="Calibri"/>
                        </a:rPr>
                        <a:t>Qurish</a:t>
                      </a:r>
                    </a:p>
                  </a:txBody>
                  <a:tcPr>
                    <a:solidFill>
                      <a:srgbClr val="2D5C8F"/>
                    </a:solidFill>
                  </a:tcPr>
                </a:tc>
              </a:tr>
              <a:tr h="520000">
                <a:tc>
                  <a:txBody>
                    <a:bodyPr/>
                    <a:lstStyle/>
                    <a:p>
                      <a:r>
                        <a:rPr sz="1400" b="0">
                          <a:solidFill>
                            <a:srgbClr val="1B2430"/>
                          </a:solidFill>
                          <a:latin typeface="Calibri"/>
                        </a:rPr>
                        <a:t>Flat (CPU)</a:t>
                      </a:r>
                    </a:p>
                  </a:txBody>
                  <a:tcPr>
                    <a:solidFill>
                      <a:srgbClr val="F1F4F8"/>
                    </a:solidFill>
                  </a:tcPr>
                </a:tc>
                <a:tc>
                  <a:txBody>
                    <a:bodyPr/>
                    <a:lstStyle/>
                    <a:p>
                      <a:r>
                        <a:rPr sz="1400" b="0">
                          <a:solidFill>
                            <a:srgbClr val="1B2430"/>
                          </a:solidFill>
                          <a:latin typeface="Calibri"/>
                        </a:rPr>
                        <a:t>50–150 ms</a:t>
                      </a:r>
                    </a:p>
                  </a:txBody>
                  <a:tcPr>
                    <a:solidFill>
                      <a:srgbClr val="F1F4F8"/>
                    </a:solidFill>
                  </a:tcPr>
                </a:tc>
                <a:tc>
                  <a:txBody>
                    <a:bodyPr/>
                    <a:lstStyle/>
                    <a:p>
                      <a:r>
                        <a:rPr sz="1400" b="0">
                          <a:solidFill>
                            <a:srgbClr val="1B2430"/>
                          </a:solidFill>
                          <a:latin typeface="Calibri"/>
                        </a:rPr>
                        <a:t>3 GB</a:t>
                      </a:r>
                    </a:p>
                  </a:txBody>
                  <a:tcPr>
                    <a:solidFill>
                      <a:srgbClr val="F1F4F8"/>
                    </a:solidFill>
                  </a:tcPr>
                </a:tc>
                <a:tc>
                  <a:txBody>
                    <a:bodyPr/>
                    <a:lstStyle/>
                    <a:p>
                      <a:r>
                        <a:rPr sz="1400" b="0">
                          <a:solidFill>
                            <a:srgbClr val="1B2430"/>
                          </a:solidFill>
                          <a:latin typeface="Calibri"/>
                        </a:rPr>
                        <a:t>100 %</a:t>
                      </a:r>
                    </a:p>
                  </a:txBody>
                  <a:tcPr>
                    <a:solidFill>
                      <a:srgbClr val="F1F4F8"/>
                    </a:solidFill>
                  </a:tcPr>
                </a:tc>
                <a:tc>
                  <a:txBody>
                    <a:bodyPr/>
                    <a:lstStyle/>
                    <a:p>
                      <a:r>
                        <a:rPr sz="1400" b="0">
                          <a:solidFill>
                            <a:srgbClr val="1B2430"/>
                          </a:solidFill>
                          <a:latin typeface="Calibri"/>
                        </a:rPr>
                        <a:t>0</a:t>
                      </a:r>
                    </a:p>
                  </a:txBody>
                  <a:tcPr>
                    <a:solidFill>
                      <a:srgbClr val="F1F4F8"/>
                    </a:solidFill>
                  </a:tcPr>
                </a:tc>
              </a:tr>
              <a:tr h="520000">
                <a:tc>
                  <a:txBody>
                    <a:bodyPr/>
                    <a:lstStyle/>
                    <a:p>
                      <a:r>
                        <a:rPr sz="1400" b="0">
                          <a:solidFill>
                            <a:srgbClr val="1B2430"/>
                          </a:solidFill>
                          <a:latin typeface="Calibri"/>
                        </a:rPr>
                        <a:t>Flat (GPU)</a:t>
                      </a:r>
                    </a:p>
                  </a:txBody>
                  <a:tcPr>
                    <a:solidFill>
                      <a:srgbClr val="FFFFFF"/>
                    </a:solidFill>
                  </a:tcPr>
                </a:tc>
                <a:tc>
                  <a:txBody>
                    <a:bodyPr/>
                    <a:lstStyle/>
                    <a:p>
                      <a:r>
                        <a:rPr sz="1400" b="0">
                          <a:solidFill>
                            <a:srgbClr val="1B2430"/>
                          </a:solidFill>
                          <a:latin typeface="Calibri"/>
                        </a:rPr>
                        <a:t>1–3 ms</a:t>
                      </a:r>
                    </a:p>
                  </a:txBody>
                  <a:tcPr>
                    <a:solidFill>
                      <a:srgbClr val="FFFFFF"/>
                    </a:solidFill>
                  </a:tcPr>
                </a:tc>
                <a:tc>
                  <a:txBody>
                    <a:bodyPr/>
                    <a:lstStyle/>
                    <a:p>
                      <a:r>
                        <a:rPr sz="1400" b="0">
                          <a:solidFill>
                            <a:srgbClr val="1B2430"/>
                          </a:solidFill>
                          <a:latin typeface="Calibri"/>
                        </a:rPr>
                        <a:t>3 GB</a:t>
                      </a:r>
                    </a:p>
                  </a:txBody>
                  <a:tcPr>
                    <a:solidFill>
                      <a:srgbClr val="FFFFFF"/>
                    </a:solidFill>
                  </a:tcPr>
                </a:tc>
                <a:tc>
                  <a:txBody>
                    <a:bodyPr/>
                    <a:lstStyle/>
                    <a:p>
                      <a:r>
                        <a:rPr sz="1400" b="0">
                          <a:solidFill>
                            <a:srgbClr val="1B2430"/>
                          </a:solidFill>
                          <a:latin typeface="Calibri"/>
                        </a:rPr>
                        <a:t>100 %</a:t>
                      </a:r>
                    </a:p>
                  </a:txBody>
                  <a:tcPr>
                    <a:solidFill>
                      <a:srgbClr val="FFFFFF"/>
                    </a:solidFill>
                  </a:tcPr>
                </a:tc>
                <a:tc>
                  <a:txBody>
                    <a:bodyPr/>
                    <a:lstStyle/>
                    <a:p>
                      <a:r>
                        <a:rPr sz="1400" b="0">
                          <a:solidFill>
                            <a:srgbClr val="1B2430"/>
                          </a:solidFill>
                          <a:latin typeface="Calibri"/>
                        </a:rPr>
                        <a:t>0</a:t>
                      </a:r>
                    </a:p>
                  </a:txBody>
                  <a:tcPr>
                    <a:solidFill>
                      <a:srgbClr val="FFFFFF"/>
                    </a:solidFill>
                  </a:tcPr>
                </a:tc>
              </a:tr>
              <a:tr h="520000">
                <a:tc>
                  <a:txBody>
                    <a:bodyPr/>
                    <a:lstStyle/>
                    <a:p>
                      <a:r>
                        <a:rPr sz="1400" b="0">
                          <a:solidFill>
                            <a:srgbClr val="1B2430"/>
                          </a:solidFill>
                          <a:latin typeface="Calibri"/>
                        </a:rPr>
                        <a:t>IVF1024, nprobe=16</a:t>
                      </a:r>
                    </a:p>
                  </a:txBody>
                  <a:tcPr>
                    <a:solidFill>
                      <a:srgbClr val="F1F4F8"/>
                    </a:solidFill>
                  </a:tcPr>
                </a:tc>
                <a:tc>
                  <a:txBody>
                    <a:bodyPr/>
                    <a:lstStyle/>
                    <a:p>
                      <a:r>
                        <a:rPr sz="1400" b="0">
                          <a:solidFill>
                            <a:srgbClr val="1B2430"/>
                          </a:solidFill>
                          <a:latin typeface="Calibri"/>
                        </a:rPr>
                        <a:t>2–5 ms</a:t>
                      </a:r>
                    </a:p>
                  </a:txBody>
                  <a:tcPr>
                    <a:solidFill>
                      <a:srgbClr val="F1F4F8"/>
                    </a:solidFill>
                  </a:tcPr>
                </a:tc>
                <a:tc>
                  <a:txBody>
                    <a:bodyPr/>
                    <a:lstStyle/>
                    <a:p>
                      <a:r>
                        <a:rPr sz="1400" b="0">
                          <a:solidFill>
                            <a:srgbClr val="1B2430"/>
                          </a:solidFill>
                          <a:latin typeface="Calibri"/>
                        </a:rPr>
                        <a:t>3 GB</a:t>
                      </a:r>
                    </a:p>
                  </a:txBody>
                  <a:tcPr>
                    <a:solidFill>
                      <a:srgbClr val="F1F4F8"/>
                    </a:solidFill>
                  </a:tcPr>
                </a:tc>
                <a:tc>
                  <a:txBody>
                    <a:bodyPr/>
                    <a:lstStyle/>
                    <a:p>
                      <a:r>
                        <a:rPr sz="1400" b="0">
                          <a:solidFill>
                            <a:srgbClr val="1B2430"/>
                          </a:solidFill>
                          <a:latin typeface="Calibri"/>
                        </a:rPr>
                        <a:t>90–95 %</a:t>
                      </a:r>
                    </a:p>
                  </a:txBody>
                  <a:tcPr>
                    <a:solidFill>
                      <a:srgbClr val="F1F4F8"/>
                    </a:solidFill>
                  </a:tcPr>
                </a:tc>
                <a:tc>
                  <a:txBody>
                    <a:bodyPr/>
                    <a:lstStyle/>
                    <a:p>
                      <a:r>
                        <a:rPr sz="1400" b="0">
                          <a:solidFill>
                            <a:srgbClr val="1B2430"/>
                          </a:solidFill>
                          <a:latin typeface="Calibri"/>
                        </a:rPr>
                        <a:t>daqiqalar</a:t>
                      </a:r>
                    </a:p>
                  </a:txBody>
                  <a:tcPr>
                    <a:solidFill>
                      <a:srgbClr val="F1F4F8"/>
                    </a:solidFill>
                  </a:tcPr>
                </a:tc>
              </a:tr>
              <a:tr h="520000">
                <a:tc>
                  <a:txBody>
                    <a:bodyPr/>
                    <a:lstStyle/>
                    <a:p>
                      <a:r>
                        <a:rPr sz="1400" b="0">
                          <a:solidFill>
                            <a:srgbClr val="1B2430"/>
                          </a:solidFill>
                          <a:latin typeface="Calibri"/>
                        </a:rPr>
                        <a:t>HNSW32, ef=64</a:t>
                      </a:r>
                    </a:p>
                  </a:txBody>
                  <a:tcPr>
                    <a:solidFill>
                      <a:srgbClr val="FFFFFF"/>
                    </a:solidFill>
                  </a:tcPr>
                </a:tc>
                <a:tc>
                  <a:txBody>
                    <a:bodyPr/>
                    <a:lstStyle/>
                    <a:p>
                      <a:r>
                        <a:rPr sz="1400" b="0">
                          <a:solidFill>
                            <a:srgbClr val="1B2430"/>
                          </a:solidFill>
                          <a:latin typeface="Calibri"/>
                        </a:rPr>
                        <a:t>0,3–1 ms</a:t>
                      </a:r>
                    </a:p>
                  </a:txBody>
                  <a:tcPr>
                    <a:solidFill>
                      <a:srgbClr val="FFFFFF"/>
                    </a:solidFill>
                  </a:tcPr>
                </a:tc>
                <a:tc>
                  <a:txBody>
                    <a:bodyPr/>
                    <a:lstStyle/>
                    <a:p>
                      <a:r>
                        <a:rPr sz="1400" b="0">
                          <a:solidFill>
                            <a:srgbClr val="1B2430"/>
                          </a:solidFill>
                          <a:latin typeface="Calibri"/>
                        </a:rPr>
                        <a:t>4–5 GB</a:t>
                      </a:r>
                    </a:p>
                  </a:txBody>
                  <a:tcPr>
                    <a:solidFill>
                      <a:srgbClr val="FFFFFF"/>
                    </a:solidFill>
                  </a:tcPr>
                </a:tc>
                <a:tc>
                  <a:txBody>
                    <a:bodyPr/>
                    <a:lstStyle/>
                    <a:p>
                      <a:r>
                        <a:rPr sz="1400" b="0">
                          <a:solidFill>
                            <a:srgbClr val="1B2430"/>
                          </a:solidFill>
                          <a:latin typeface="Calibri"/>
                        </a:rPr>
                        <a:t>97–99 %</a:t>
                      </a:r>
                    </a:p>
                  </a:txBody>
                  <a:tcPr>
                    <a:solidFill>
                      <a:srgbClr val="FFFFFF"/>
                    </a:solidFill>
                  </a:tcPr>
                </a:tc>
                <a:tc>
                  <a:txBody>
                    <a:bodyPr/>
                    <a:lstStyle/>
                    <a:p>
                      <a:r>
                        <a:rPr sz="1400" b="0">
                          <a:solidFill>
                            <a:srgbClr val="1B2430"/>
                          </a:solidFill>
                          <a:latin typeface="Calibri"/>
                        </a:rPr>
                        <a:t>10–30 daqiqa</a:t>
                      </a:r>
                    </a:p>
                  </a:txBody>
                  <a:tcPr>
                    <a:solidFill>
                      <a:srgbClr val="FFFFFF"/>
                    </a:solidFill>
                  </a:tcPr>
                </a:tc>
              </a:tr>
              <a:tr h="520000">
                <a:tc>
                  <a:txBody>
                    <a:bodyPr/>
                    <a:lstStyle/>
                    <a:p>
                      <a:r>
                        <a:rPr sz="1400" b="0">
                          <a:solidFill>
                            <a:srgbClr val="1B2430"/>
                          </a:solidFill>
                          <a:latin typeface="Calibri"/>
                        </a:rPr>
                        <a:t>IVF1024,PQ64</a:t>
                      </a:r>
                    </a:p>
                  </a:txBody>
                  <a:tcPr>
                    <a:solidFill>
                      <a:srgbClr val="F1F4F8"/>
                    </a:solidFill>
                  </a:tcPr>
                </a:tc>
                <a:tc>
                  <a:txBody>
                    <a:bodyPr/>
                    <a:lstStyle/>
                    <a:p>
                      <a:r>
                        <a:rPr sz="1400" b="0">
                          <a:solidFill>
                            <a:srgbClr val="1B2430"/>
                          </a:solidFill>
                          <a:latin typeface="Calibri"/>
                        </a:rPr>
                        <a:t>1–3 ms</a:t>
                      </a:r>
                    </a:p>
                  </a:txBody>
                  <a:tcPr>
                    <a:solidFill>
                      <a:srgbClr val="F1F4F8"/>
                    </a:solidFill>
                  </a:tcPr>
                </a:tc>
                <a:tc>
                  <a:txBody>
                    <a:bodyPr/>
                    <a:lstStyle/>
                    <a:p>
                      <a:r>
                        <a:rPr sz="1400" b="0">
                          <a:solidFill>
                            <a:srgbClr val="1B2430"/>
                          </a:solidFill>
                          <a:latin typeface="Calibri"/>
                        </a:rPr>
                        <a:t>0,1 GB</a:t>
                      </a:r>
                    </a:p>
                  </a:txBody>
                  <a:tcPr>
                    <a:solidFill>
                      <a:srgbClr val="F1F4F8"/>
                    </a:solidFill>
                  </a:tcPr>
                </a:tc>
                <a:tc>
                  <a:txBody>
                    <a:bodyPr/>
                    <a:lstStyle/>
                    <a:p>
                      <a:r>
                        <a:rPr sz="1400" b="0">
                          <a:solidFill>
                            <a:srgbClr val="1B2430"/>
                          </a:solidFill>
                          <a:latin typeface="Calibri"/>
                        </a:rPr>
                        <a:t>80–90 %</a:t>
                      </a:r>
                    </a:p>
                  </a:txBody>
                  <a:tcPr>
                    <a:solidFill>
                      <a:srgbClr val="F1F4F8"/>
                    </a:solidFill>
                  </a:tcPr>
                </a:tc>
                <a:tc>
                  <a:txBody>
                    <a:bodyPr/>
                    <a:lstStyle/>
                    <a:p>
                      <a:r>
                        <a:rPr sz="1400" b="0">
                          <a:solidFill>
                            <a:srgbClr val="1B2430"/>
                          </a:solidFill>
                          <a:latin typeface="Calibri"/>
                        </a:rPr>
                        <a:t>daqiqalar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163d2bd924bd2a80.jpg"/>
          <p:cNvPicPr>
            <a:picLocks noChangeAspect="1"/>
          </p:cNvPicPr>
          <p:nvPr/>
        </p:nvPicPr>
        <p:blipFill>
          <a:blip r:embed="rId2"/>
          <a:srcRect l="7043" r="704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Nicholas-halodi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Sun'iy intellekt agentlari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agentlari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Agent — LLM'ni qaror qabul qiluvchi «miya» sifatida ishlatuvchi, vositalar (tools) bilan muhit bilan o'zaro ta'sir qiluvchi va ko'p qadamli vazifalarni bajaruvchi tizim. ReAct naqshi (reasoning + acting) asosiy sikl: model fikrlaydi, vosita chaqiruvini…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Infratuzilma nuqtai nazaridan agentlar uch yangi talab qo'yadi. Birinchidan, kechikish zanjiri: bitta foydalanuvchi vazifasi 5–20 ta LLM chaqiruvi va vosita bajarilishidan iborat, umumiy vaqt o'nlab soniya; shuning uchun har chaqiruvning TTFT va prefiks…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54d972447804f97.jpg"/>
          <p:cNvPicPr>
            <a:picLocks noChangeAspect="1"/>
          </p:cNvPicPr>
          <p:nvPr/>
        </p:nvPicPr>
        <p:blipFill>
          <a:blip r:embed="rId2"/>
          <a:srcRect l="28555" r="2855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Daniel Lu (User:dllu)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LLM uchun GPU klasterlari va yuqori unumdor infratuzilma</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LLM uchun GPU klasterlari va yuqori unumdor infratuzilma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LLM infratuzilmasini loyihalash to'rt resursni muvozanatlashdan boshlanadi: GPU xotirasi, hisoblash, tugunlar ichidagi va orasidagi tarmoq, saqlash. Xotira talabi inferens uchun: og'irliklar (P × bayt) + KV-kesh (foydalanuvchilar × kontekst × token boshiga…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O'qitish klasteri uchun tugun — standart birlik: DGX H100 (8 × H100 SXM 80 GB, NVSwitch orqali to'liq bog'langan, 2 × Intel Xeon, 2 TB RAM, 8 × 400 Gb/s InfiniBand NDR adapter — har GPU'ga bittadan, ≈ 10 kW). Tugunlar orasidagi tarmoq ma'lumot…</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va joylashtirish: 1 000 ta H100 ≈ 1,3 MW IT quvvat, PUE 1,2 bilan 1,6 MW; suyuqlik sovutish 700 vattlik GPU'lar uchun standartga aylanmoqda. Dasturiy stek: konteynerlar (NVIDIA NGC obrazlari), orkestratsiya (Slurm — HPC an'anasi, Kubernetes + GPU…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
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Dekoder-only Transformer (zamonaviy LLM'larning aksariyati shu turda) L ta bir xil blokdan iborat. Har blok ikki qismdan tuziladi: ko'p boshli o'z-o'ziga diqqat (multi-head self-attention) va pozitsiya bo'yicha to'liq bog'langan tarmoq (feed-forward network, FFN), har biri qoldiq bog'lanish (residual) va normalizatsiya (LayerNorm yoki RMSNorm) bilan o'ralgan. Diqqat mexanizmi har token uchun so'rov (Q), kalit (K) va qiymat (V) vektorlarini d_model × d_model proyeksiyalar orqali hisoblaydi, so'ngra softmax(QKᵀ / √d_k) · V ifodasini bajaradi. Mohiyati: har token kontekstdagi barcha oldingi tokenlar bilan «mosligini» hisoblab, ularning qiymatlarini vaznli yig'adi. FFN odatda d_model → 4·d_model → d_model (yoki SwiGLU variantida 8/3·d_model) o'lchamli ikki chiziqli qatlam. Pozitsiya ma'lumoti RoPE (rotary position embedding) orqali Q va K'ga kiritiladi.</a:t>
            </a:r>
          </a:p>
          <a:p/>
          <a:p>
            <a:r>
              <a:t>Parametrlar soni taxminan P ≈ 12 · L · d_model² (diqqat 4·d², FFN 8·d²) plus embedding V · d_model. Masalan, Llama 2 7B: L = 32, d_model = 4096 → 12 · 32 · 4096² ≈ 6,4 milliard, embedding bilan ≈ 6,7 milliard. Token boshiga hisoblash: har parametr bitta ko'paytirish-qo'shish, ya'ni ≈ 2P FLOP (oldinga), o'qitishda orqaga tarqatish bilan ≈ 6P FLOP. Diqqatning o'zi qo'shimcha 4 · L · n · d_model FLOP (n — kontekst uzunligi) talab qiladi, bu uzun kontekstda (n ≫ d) ustun kela boshlaydi va QKᵀ matritsasi n² xotira talab qiladi — n = 32 000 da bitta bosh uchun 2 GB FP16. FlashAttention (Dao va boshq., 2022) bu matritsani hech qachon HBM'ga yozmasdan, bloklab SRAM'da hisoblaydi: FLOP soni o'zgarmaydi, lekin xotira murojaatlari O(n²) dan O(n) ga tushadi va amalda 2–4 marta tezlashish beradi — Roofline tilida bu arifmetik intensivlikni oshirish.</a:t>
            </a:r>
          </a:p>
          <a:p/>
          <a:p>
            <a:r>
              <a:t>Zamonaviy modellarda KV-keshni kamaytirish uchun guruhlangan so'rov diqqati (grouped-query attention, GQA) ishlatiladi: 32 ta Q boshiga atigi 8 ta K/V boshi to'g'ri keladi (Llama 3, Mistral). Aralash ekspertlar (mixture of experts, MoE) arxitekturasida FFN bir nechta «ekspert»ga bo'linadi va har token uchun faqat 2 tasi faollashadi (Mixtral 8×7B: 47 milliard parametr, token boshiga 13 milliard faol) — bu hisoblashni kamaytiradi, lekin xotira talabini emas, va ekspertlar o'rtasida yuk muvozanati muammosini tug'diradi.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Dekoder-only Transformer (zamonaviy LLM'larning aksariyati shu turda) L ta bir xil blokdan iborat. Har blok ikki qismdan tuziladi: ko'p boshli o'z-o'ziga diqqat (multi-head self-attention) va pozitsiya bo'yicha to'liq bog'langan tarmoq (feed-forward network, FFN), har biri qoldiq bog'lanish (residual) va normalizatsiya (LayerNorm yoki RMSNorm) bilan o'ralgan. Diqqat mexanizmi har token uchun so'rov (Q), kalit (K) va qiymat (V) vektorlarini d_model × d_model proyeksiyalar orqali hisoblaydi, so'ngra softmax(QKᵀ / √d_k) · V ifodasini bajaradi. Mohiyati: har token kontekstdagi barcha oldingi tokenlar bilan «mosligini» hisoblab, ularning qiymatlarini vaznli yig'adi. FFN odatda d_model → 4·d_model → d_model (yoki SwiGLU variantida 8/3·d_model) o'lchamli ikki chiziqli qatlam. Pozitsiya ma'lumoti RoPE (rotary position embedding) orqali Q va K'ga kiritiladi.</a:t>
            </a:r>
          </a:p>
          <a:p/>
          <a:p>
            <a:r>
              <a:t>Parametrlar soni taxminan P ≈ 12 · L · d_model² (diqqat 4·d², FFN 8·d²) plus embedding V · d_model. Masalan, Llama 2 7B: L = 32, d_model = 4096 → 12 · 32 · 4096² ≈ 6,4 milliard, embedding bilan ≈ 6,7 milliard. Token boshiga hisoblash: har parametr bitta ko'paytirish-qo'shish, ya'ni ≈ 2P FLOP (oldinga), o'qitishda orqaga tarqatish bilan ≈ 6P FLOP. Diqqatning o'zi qo'shimcha 4 · L · n · d_model FLOP (n — kontekst uzunligi) talab qiladi, bu uzun kontekstda (n ≫ d) ustun kela boshlaydi va QKᵀ matritsasi n² xotira talab qiladi — n = 32 000 da bitta bosh uchun 2 GB FP16. FlashAttention (Dao va boshq., 2022) bu matritsani hech qachon HBM'ga yozmasdan, bloklab SRAM'da hisoblaydi: FLOP soni o'zgarmaydi, lekin xotira murojaatlari O(n²) dan O(n) ga tushadi va amalda 2–4 marta tezlashish beradi — Roofline tilida bu arifmetik intensivlikni oshirish.</a:t>
            </a:r>
          </a:p>
          <a:p/>
          <a:p>
            <a:r>
              <a:t>Zamonaviy modellarda KV-keshni kamaytirish uchun guruhlangan so'rov diqqati (grouped-query attention, GQA) ishlatiladi: 32 ta Q boshiga atigi 8 ta K/V boshi to'g'ri keladi (Llama 3, Mistral). Aralash ekspertlar (mixture of experts, MoE) arxitekturasida FFN bir nechta «ekspert»ga bo'linadi va har token uchun faqat 2 tasi faollashadi (Mixtral 8×7B: 47 milliard parametr, token boshiga 13 milliard faol) — bu hisoblashni kamaytiradi, lekin xotira talabini emas, va ekspertlar o'rtasida yuk muvozanati muammosini tug'diradi.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O'qitish narxi oddiy formula bilan baholanadi: C ≈ 6 · P · D FLOP, bu yerda D — o'qitish tokenlari soni. Chinchilla tadqiqoti (Hoffmann va boshq., 2022) berilgan hisoblash byudjetida optimal nisbat D ≈ 20 · P ekanini ko'rsatdi, biroq inferens narxini hisobga olgan zamonaviy modellar ancha ko'proq tokenda o'qitiladi (Llama 3 8B — 15 trillion, ya'ni D ≈ 1900 · P). Misol: 70 milliard parametrli modelni 15 trillion tokenda o'qitish 6 · 7·10¹⁰ · 1,5·10¹³ ≈ 6,3·10²⁴ FLOP. H100'ning BF16 cho'qqisi 989 TFLOPS, real MFU 40 foiz → ≈ 400 TFLOPS → 1,6·10¹⁰ GPU-sekund ≈ 4,4 million GPU-soat; 4096 GPU'da ≈ 45 kun. Meta'ning Llama 3 70B uchun e'lon qilgan ≈ 6,4 million GPU-soati shu tartibda (pastroq MFU va nosozliklar bilan). O'qitishda xotira talabi parametr boshiga ≈ 16 bayt (BF16 og'irlik 2 + BF16 gradient 2 + FP32 asosiy nusxa 4 + Adam momentlari 8) plus faollashuvlar: 70B uchun faqat holatlar 1,1 TB — bu bitta GPU'ga sig'maydi, shuning uchun ZeRO/FSDP (holatlarni GPU'lar o'rtasida bo'lish), tensor parallelizm (qatlam ichida), konveyer parallelizmi (qatlamlar bo'yicha) va ma'lumot parallelizmi birgalikda — «3D parallelizm» — ishlatiladi.</a:t>
            </a:r>
          </a:p>
          <a:p/>
          <a:p>
            <a:r>
              <a:t>Inferens ikki fazadan iborat. Prefill — promptning barcha tokenlarini bir vaqtda qayta ishlash: n_prompt tokenli prompt uchun 2 · P · n_prompt FLOP, katta matritsalar, compute-bound; u birinchi tokengacha vaqtni (TTFT) belgilaydi. Decode — har qadamda bitta token generatsiya: 2P FLOP, lekin barcha og'irliklar (2P bayt FP16'da) va KV-kesh o'qiladi, memory-bound; u tokenlar orasidagi vaqtni belgilaydi. Shuning uchun bitta ketma-ketlik uchun maksimal tezlik ≈ B_HBM / (model hajmi): 8B FP16 model (16 GB) A100 80 GB'da (2039 GB/s) ≈ 127 token/s nazariy chegara, amalda 80–100. Throughput'ni oshirishning yagona yo'li — ko'p ketma-ketlikni bir vaqtda dekodlash (partiyalash): og'irliklar bir marta o'qiladi, 32 token hisoblanadi; intensivlik 32 marta oshadi.</a:t>
            </a:r>
          </a:p>
          <a:p/>
          <a:p>
            <a:r>
              <a:t>KV-kesh — dekodlashda har qadamda oldingi tokenlarning K va V vektorlarini qayta hisoblamaslik uchun saqlanadigan xotira. Token boshiga hajmi: 2 · L · n_kv_heads · d_head · bayt. Llama 2 7B (MHA, 32 bosh): 2 · 32 · 32 · 128 · 2 = 512 KB/token; Llama 3.1 8B (GQA, 8 bosh): 2 · 32 · 8 · 128 · 2 = 128 KB/token; Llama 3.1 70B: 2 · 80 · 8 · 128 · 2 = 320 KB/token. 8 000 tokenli kontekst 8B model uchun 1 GB, 70B uchun 2,5 GB — bitta foydalanuvchi uchun. 80 GB GPU'da 8B model (16 GB) qolgan 60 GB'ga ≈ 60 ta 8K-kontekstli ketma-ketlik sig'dira oladi. Muammo shundaki, an'anaviy tizimlar har ketma-ketlik uchun maksimal uzunlikka xotira oldindan ajratadi va 60–80 foizi isrof bo'ladi. vLLM tizimidagi PagedAttention (Kwon va boshq., 2023) operatsion tizim virtual xotirasi g'oyasini oladi: KV-kesh belgilangan hajmli «sahifa»larga (masalan, 16 token) bo'linadi, ketma-ketlik o'sgan sari sahifalar kerak bo'lganda ajratiladi, bir xil prefiksli so'rovlar sahifalarni bo'lishadi. Natija — xotira isrofi 4 foizdan kam, throughput 2–4 marta yuqori.</a:t>
            </a:r>
          </a:p>
          <a:p/>
          <a:p>
            <a:r>
              <a:t>Ikkinchi asosiy optimallashtirish — uzluksiz partiyalash (continuous batching, Orca tizimidan): partiya butun so'rovlar darajasida emas, iteratsiya darajasida tuziladi; bitta ketma-ketlik tugashi bilan uning o'rnini navbatdagi so'rov egallaydi, GPU hech qachon qisqa so'rovlar tugashini kutmaydi. Uchinchisi — spekulyativ dekodlash (speculative decoding): kichik «qoralama» model bir necha tokenni tez taklif qiladi, katta model ularni bitta prefill-ga o'xshash qadamda parallel tekshiradi; decode memory-bound bo'lgani uchun 4 tokenni tekshirish 1 tokenni hisoblash bilan deyarli bir xil vaqt oladi, natijada 2–3 marta tezlashish, chiqish taqsimoti esa aynan saqlanadi. To'rtinchisi — kvantlash: og'irliklarni INT8/INT4 (GPTQ, AWQ) yoki FP8'ga o'tkazish xotirani va shu bilan decode vaqtini 2–4 marta kamaytiradi; KV-keshni FP8'ga kvantlash sig'imni ikki marta oshiradi. Beshinchisi — prefiks keshlash: tizim prompti yoki umumiy hujjat prefiksining KV-keshi so'rovlar o'rtasida saqlanadi, TTFT keskin tushadi.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O'qitish narxi oddiy formula bilan baholanadi: C ≈ 6 · P · D FLOP, bu yerda D — o'qitish tokenlari soni. Chinchilla tadqiqoti (Hoffmann va boshq., 2022) berilgan hisoblash byudjetida optimal nisbat D ≈ 20 · P ekanini ko'rsatdi, biroq inferens narxini hisobga olgan zamonaviy modellar ancha ko'proq tokenda o'qitiladi (Llama 3 8B — 15 trillion, ya'ni D ≈ 1900 · P). Misol: 70 milliard parametrli modelni 15 trillion tokenda o'qitish 6 · 7·10¹⁰ · 1,5·10¹³ ≈ 6,3·10²⁴ FLOP. H100'ning BF16 cho'qqisi 989 TFLOPS, real MFU 40 foiz → ≈ 400 TFLOPS → 1,6·10¹⁰ GPU-sekund ≈ 4,4 million GPU-soat; 4096 GPU'da ≈ 45 kun. Meta'ning Llama 3 70B uchun e'lon qilgan ≈ 6,4 million GPU-soati shu tartibda (pastroq MFU va nosozliklar bilan). O'qitishda xotira talabi parametr boshiga ≈ 16 bayt (BF16 og'irlik 2 + BF16 gradient 2 + FP32 asosiy nusxa 4 + Adam momentlari 8) plus faollashuvlar: 70B uchun faqat holatlar 1,1 TB — bu bitta GPU'ga sig'maydi, shuning uchun ZeRO/FSDP (holatlarni GPU'lar o'rtasida bo'lish), tensor parallelizm (qatlam ichida), konveyer parallelizmi (qatlamlar bo'yicha) va ma'lumot parallelizmi birgalikda — «3D parallelizm» — ishlatiladi.</a:t>
            </a:r>
          </a:p>
          <a:p/>
          <a:p>
            <a:r>
              <a:t>Inferens ikki fazadan iborat. Prefill — promptning barcha tokenlarini bir vaqtda qayta ishlash: n_prompt tokenli prompt uchun 2 · P · n_prompt FLOP, katta matritsalar, compute-bound; u birinchi tokengacha vaqtni (TTFT) belgilaydi. Decode — har qadamda bitta token generatsiya: 2P FLOP, lekin barcha og'irliklar (2P bayt FP16'da) va KV-kesh o'qiladi, memory-bound; u tokenlar orasidagi vaqtni belgilaydi. Shuning uchun bitta ketma-ketlik uchun maksimal tezlik ≈ B_HBM / (model hajmi): 8B FP16 model (16 GB) A100 80 GB'da (2039 GB/s) ≈ 127 token/s nazariy chegara, amalda 80–100. Throughput'ni oshirishning yagona yo'li — ko'p ketma-ketlikni bir vaqtda dekodlash (partiyalash): og'irliklar bir marta o'qiladi, 32 token hisoblanadi; intensivlik 32 marta oshadi.</a:t>
            </a:r>
          </a:p>
          <a:p/>
          <a:p>
            <a:r>
              <a:t>KV-kesh — dekodlashda har qadamda oldingi tokenlarning K va V vektorlarini qayta hisoblamaslik uchun saqlanadigan xotira. Token boshiga hajmi: 2 · L · n_kv_heads · d_head · bayt. Llama 2 7B (MHA, 32 bosh): 2 · 32 · 32 · 128 · 2 = 512 KB/token; Llama 3.1 8B (GQA, 8 bosh): 2 · 32 · 8 · 128 · 2 = 128 KB/token; Llama 3.1 70B: 2 · 80 · 8 · 128 · 2 = 320 KB/token. 8 000 tokenli kontekst 8B model uchun 1 GB, 70B uchun 2,5 GB — bitta foydalanuvchi uchun. 80 GB GPU'da 8B model (16 GB) qolgan 60 GB'ga ≈ 60 ta 8K-kontekstli ketma-ketlik sig'dira oladi. Muammo shundaki, an'anaviy tizimlar har ketma-ketlik uchun maksimal uzunlikka xotira oldindan ajratadi va 60–80 foizi isrof bo'ladi. vLLM tizimidagi PagedAttention (Kwon va boshq., 2023) operatsion tizim virtual xotirasi g'oyasini oladi: KV-kesh belgilangan hajmli «sahifa»larga (masalan, 16 token) bo'linadi, ketma-ketlik o'sgan sari sahifalar kerak bo'lganda ajratiladi, bir xil prefiksli so'rovlar sahifalarni bo'lishadi. Natija — xotira isrofi 4 foizdan kam, throughput 2–4 marta yuqori.</a:t>
            </a:r>
          </a:p>
          <a:p/>
          <a:p>
            <a:r>
              <a:t>Ikkinchi asosiy optimallashtirish — uzluksiz partiyalash (continuous batching, Orca tizimidan): partiya butun so'rovlar darajasida emas, iteratsiya darajasida tuziladi; bitta ketma-ketlik tugashi bilan uning o'rnini navbatdagi so'rov egallaydi, GPU hech qachon qisqa so'rovlar tugashini kutmaydi. Uchinchisi — spekulyativ dekodlash (speculative decoding): kichik «qoralama» model bir necha tokenni tez taklif qiladi, katta model ularni bitta prefill-ga o'xshash qadamda parallel tekshiradi; decode memory-bound bo'lgani uchun 4 tokenni tekshirish 1 tokenni hisoblash bilan deyarli bir xil vaqt oladi, natijada 2–3 marta tezlashish, chiqish taqsimoti esa aynan saqlanadi. To'rtinchisi — kvantlash: og'irliklarni INT8/INT4 (GPTQ, AWQ) yoki FP8'ga o'tkazish xotirani va shu bilan decode vaqtini 2–4 marta kamaytiradi; KV-keshni FP8'ga kvantlash sig'imni ikki marta oshiradi. Beshinchisi — prefiks keshlash: tizim prompti yoki umumiy hujjat prefiksining KV-keshi so'rovlar o'rtasida saqlanadi, TTFT keskin tushadi.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O'qitish narxi oddiy formula bilan baholanadi: C ≈ 6 · P · D FLOP, bu yerda D — o'qitish tokenlari soni. Chinchilla tadqiqoti (Hoffmann va boshq., 2022) berilgan hisoblash byudjetida optimal nisbat D ≈ 20 · P ekanini ko'rsatdi, biroq inferens narxini hisobga olgan zamonaviy modellar ancha ko'proq tokenda o'qitiladi (Llama 3 8B — 15 trillion, ya'ni D ≈ 1900 · P). Misol: 70 milliard parametrli modelni 15 trillion tokenda o'qitish 6 · 7·10¹⁰ · 1,5·10¹³ ≈ 6,3·10²⁴ FLOP. H100'ning BF16 cho'qqisi 989 TFLOPS, real MFU 40 foiz → ≈ 400 TFLOPS → 1,6·10¹⁰ GPU-sekund ≈ 4,4 million GPU-soat; 4096 GPU'da ≈ 45 kun. Meta'ning Llama 3 70B uchun e'lon qilgan ≈ 6,4 million GPU-soati shu tartibda (pastroq MFU va nosozliklar bilan). O'qitishda xotira talabi parametr boshiga ≈ 16 bayt (BF16 og'irlik 2 + BF16 gradient 2 + FP32 asosiy nusxa 4 + Adam momentlari 8) plus faollashuvlar: 70B uchun faqat holatlar 1,1 TB — bu bitta GPU'ga sig'maydi, shuning uchun ZeRO/FSDP (holatlarni GPU'lar o'rtasida bo'lish), tensor parallelizm (qatlam ichida), konveyer parallelizmi (qatlamlar bo'yicha) va ma'lumot parallelizmi birgalikda — «3D parallelizm» — ishlatiladi.</a:t>
            </a:r>
          </a:p>
          <a:p/>
          <a:p>
            <a:r>
              <a:t>Inferens ikki fazadan iborat. Prefill — promptning barcha tokenlarini bir vaqtda qayta ishlash: n_prompt tokenli prompt uchun 2 · P · n_prompt FLOP, katta matritsalar, compute-bound; u birinchi tokengacha vaqtni (TTFT) belgilaydi. Decode — har qadamda bitta token generatsiya: 2P FLOP, lekin barcha og'irliklar (2P bayt FP16'da) va KV-kesh o'qiladi, memory-bound; u tokenlar orasidagi vaqtni belgilaydi. Shuning uchun bitta ketma-ketlik uchun maksimal tezlik ≈ B_HBM / (model hajmi): 8B FP16 model (16 GB) A100 80 GB'da (2039 GB/s) ≈ 127 token/s nazariy chegara, amalda 80–100. Throughput'ni oshirishning yagona yo'li — ko'p ketma-ketlikni bir vaqtda dekodlash (partiyalash): og'irliklar bir marta o'qiladi, 32 token hisoblanadi; intensivlik 32 marta oshadi.</a:t>
            </a:r>
          </a:p>
          <a:p/>
          <a:p>
            <a:r>
              <a:t>KV-kesh — dekodlashda har qadamda oldingi tokenlarning K va V vektorlarini qayta hisoblamaslik uchun saqlanadigan xotira. Token boshiga hajmi: 2 · L · n_kv_heads · d_head · bayt. Llama 2 7B (MHA, 32 bosh): 2 · 32 · 32 · 128 · 2 = 512 KB/token; Llama 3.1 8B (GQA, 8 bosh): 2 · 32 · 8 · 128 · 2 = 128 KB/token; Llama 3.1 70B: 2 · 80 · 8 · 128 · 2 = 320 KB/token. 8 000 tokenli kontekst 8B model uchun 1 GB, 70B uchun 2,5 GB — bitta foydalanuvchi uchun. 80 GB GPU'da 8B model (16 GB) qolgan 60 GB'ga ≈ 60 ta 8K-kontekstli ketma-ketlik sig'dira oladi. Muammo shundaki, an'anaviy tizimlar har ketma-ketlik uchun maksimal uzunlikka xotira oldindan ajratadi va 60–80 foizi isrof bo'ladi. vLLM tizimidagi PagedAttention (Kwon va boshq., 2023) operatsion tizim virtual xotirasi g'oyasini oladi: KV-kesh belgilangan hajmli «sahifa»larga (masalan, 16 token) bo'linadi, ketma-ketlik o'sgan sari sahifalar kerak bo'lganda ajratiladi, bir xil prefiksli so'rovlar sahifalarni bo'lishadi. Natija — xotira isrofi 4 foizdan kam, throughput 2–4 marta yuqori.</a:t>
            </a:r>
          </a:p>
          <a:p/>
          <a:p>
            <a:r>
              <a:t>Ikkinchi asosiy optimallashtirish — uzluksiz partiyalash (continuous batching, Orca tizimidan): partiya butun so'rovlar darajasida emas, iteratsiya darajasida tuziladi; bitta ketma-ketlik tugashi bilan uning o'rnini navbatdagi so'rov egallaydi, GPU hech qachon qisqa so'rovlar tugashini kutmaydi. Uchinchisi — spekulyativ dekodlash (speculative decoding): kichik «qoralama» model bir necha tokenni tez taklif qiladi, katta model ularni bitta prefill-ga o'xshash qadamda parallel tekshiradi; decode memory-bound bo'lgani uchun 4 tokenni tekshirish 1 tokenni hisoblash bilan deyarli bir xil vaqt oladi, natijada 2–3 marta tezlashish, chiqish taqsimoti esa aynan saqlanadi. To'rtinchisi — kvantlash: og'irliklarni INT8/INT4 (GPTQ, AWQ) yoki FP8'ga o'tkazish xotirani va shu bilan decode vaqtini 2–4 marta kamaytiradi; KV-keshni FP8'ga kvantlash sig'imni ikki marta oshiradi. Beshinchisi — prefiks keshlash: tizim prompti yoki umumiy hujjat prefiksining KV-keshi so'rovlar o'rtasida saqlanadi, TTFT keskin tushadi.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(Lewis va boshq., 2020) tizimi ikki bosqichda ishlaydi. Tayyorgarlik (indekslash): hujjatlar bo'laklarga (chunk, odatda 200–1000 token, qisman ustma-ust) bo'linadi, har bo'lak embedding modeli orqali zich vektorga (384–1024 o'lcham) aylantiriladi va vektor indeksga yoziladi. So'rov vaqtida: foydalanuvchi savoli xuddi shu model bilan vektorga aylantiriladi, indeksdan eng yaqin k bo'lak (odatda kosinus o'xshashligi bo'yicha) topiladi, ular promptga kontekst sifatida qo'shiladi va LLM javob yaratadi. Afzalliklari: modelni qayta o'qitmasdan bilimni yangilash, javobni manbaga bog'lash (iqtibos), hallutsinatsiyani kamaytirish, maxfiy hujjatlarni model og'irliklariga kiritmaslik. Sifat zanjirning eng zaif bo'g'ini bilan belgilanadi: yomon bo'laklash yoki mos kelmaydigan embedding modeli har qanday LLM'ni foydasiz qiladi.</a:t>
            </a:r>
          </a:p>
          <a:p/>
          <a:p>
            <a:r>
              <a:t>Vektor qidiruvning markaziy masalasi — N ta d-o'lchamli vektor orasidan so'rovga eng yaqin k tasini tez topish. To'liq qidiruv (Flat, brute force) O(N · d) — 1 million × 768 o'lcham uchun GPU'da bir necha millisekund, lekin 100 million uchun sekin va 300 GB xotira. Taxminiy eng yaqin qo'shni (approximate nearest neighbor, ANN) indekslari aniqlikning bir qismini tezlik va xotiraga almashtiradi. IVF (inverted file): vektorlar k-means bilan n_list klasterga bo'linadi, so'rov vaqtida faqat n_probe eng yaqin klaster tekshiriladi — tezlik 10–100 marta, recall n_probe bilan sozlanadi. HNSW (hierarchical navigable small world): ko'p qatlamli graf, qidiruv yuqori qatlamdan pastga «yo'l topib» tushadi — eng yuqori recall/tezlik nisbati, lekin xotira hajmi katta (vektor + graf qirralari) va qurish sekin. PQ (product quantization): vektor m sub-vektorga bo'linib, har biri 256 ta kod bilan kvantlanadi — 768 o'lchamli FP32 vektor (3 KB) 96 baytga siqiladi, xotira 32 marta kamayadi, recall biroz tushadi. Amaliyotda kombinatsiyalar ishlatiladi: IVF4096,PQ64 yuz millionlab vektor uchun, HNSW32 o'n millionlargacha.</a:t>
            </a:r>
          </a:p>
          <a:p/>
          <a:p>
            <a:r>
              <a:t>Vektor baza (vector database) — indeks ustiga metama'lumot filtrlash, CRUD, persistentlik, replikatsiya va API qo'shadigan tizim. FAISS (Meta) — kutubxona, baza emas: eng tez va moslashuvchan, GPU qo'llab-quvvatlaydi, lekin saqlash va filtrlashni o'zingiz yozasiz. Chroma — yengil, Python'ga joylashtiriladigan, prototiplar uchun qulay (ichida HNSW). Milvus, Qdrant, Weaviate — taqsimlangan, ishlab chiqarish darajasidagi serverlar; pgvector — PostgreSQL kengaytmasi, mavjud relyatsion ma'lumot bilan birga saqlash uchun. Tanlov mezonlari: vektorlar soni (10⁶ — har qanday, 10⁹ — faqat taqsimlangan), filtrlash murakkabligi, yangilanish chastotasi, mavjud infratuzilma. Sifatni oshirish usullari: gibrid qidiruv (zich vektor + BM25 kalit so'z, natijalar RRF bilan birlashtiriladi), qayta saralash (cross-encoder reranker, masalan bge-reranker, top-50 ni top-5 ga qisqartiradi, aniqlikni sezilarli oshiradi, lekin har juftlik uchun model chaqiruvi), so'rovni qayta yozish, ierarxik bo'laklash.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(Lewis va boshq., 2020) tizimi ikki bosqichda ishlaydi. Tayyorgarlik (indekslash): hujjatlar bo'laklarga (chunk, odatda 200–1000 token, qisman ustma-ust) bo'linadi, har bo'lak embedding modeli orqali zich vektorga (384–1024 o'lcham) aylantiriladi va vektor indeksga yoziladi. So'rov vaqtida: foydalanuvchi savoli xuddi shu model bilan vektorga aylantiriladi, indeksdan eng yaqin k bo'lak (odatda kosinus o'xshashligi bo'yicha) topiladi, ular promptga kontekst sifatida qo'shiladi va LLM javob yaratadi. Afzalliklari: modelni qayta o'qitmasdan bilimni yangilash, javobni manbaga bog'lash (iqtibos), hallutsinatsiyani kamaytirish, maxfiy hujjatlarni model og'irliklariga kiritmaslik. Sifat zanjirning eng zaif bo'g'ini bilan belgilanadi: yomon bo'laklash yoki mos kelmaydigan embedding modeli har qanday LLM'ni foydasiz qiladi.</a:t>
            </a:r>
          </a:p>
          <a:p/>
          <a:p>
            <a:r>
              <a:t>Vektor qidiruvning markaziy masalasi — N ta d-o'lchamli vektor orasidan so'rovga eng yaqin k tasini tez topish. To'liq qidiruv (Flat, brute force) O(N · d) — 1 million × 768 o'lcham uchun GPU'da bir necha millisekund, lekin 100 million uchun sekin va 300 GB xotira. Taxminiy eng yaqin qo'shni (approximate nearest neighbor, ANN) indekslari aniqlikning bir qismini tezlik va xotiraga almashtiradi. IVF (inverted file): vektorlar k-means bilan n_list klasterga bo'linadi, so'rov vaqtida faqat n_probe eng yaqin klaster tekshiriladi — tezlik 10–100 marta, recall n_probe bilan sozlanadi. HNSW (hierarchical navigable small world): ko'p qatlamli graf, qidiruv yuqori qatlamdan pastga «yo'l topib» tushadi — eng yuqori recall/tezlik nisbati, lekin xotira hajmi katta (vektor + graf qirralari) va qurish sekin. PQ (product quantization): vektor m sub-vektorga bo'linib, har biri 256 ta kod bilan kvantlanadi — 768 o'lchamli FP32 vektor (3 KB) 96 baytga siqiladi, xotira 32 marta kamayadi, recall biroz tushadi. Amaliyotda kombinatsiyalar ishlatiladi: IVF4096,PQ64 yuz millionlab vektor uchun, HNSW32 o'n millionlargacha.</a:t>
            </a:r>
          </a:p>
          <a:p/>
          <a:p>
            <a:r>
              <a:t>Vektor baza (vector database) — indeks ustiga metama'lumot filtrlash, CRUD, persistentlik, replikatsiya va API qo'shadigan tizim. FAISS (Meta) — kutubxona, baza emas: eng tez va moslashuvchan, GPU qo'llab-quvvatlaydi, lekin saqlash va filtrlashni o'zingiz yozasiz. Chroma — yengil, Python'ga joylashtiriladigan, prototiplar uchun qulay (ichida HNSW). Milvus, Qdrant, Weaviate — taqsimlangan, ishlab chiqarish darajasidagi serverlar; pgvector — PostgreSQL kengaytmasi, mavjud relyatsion ma'lumot bilan birga saqlash uchun. Tanlov mezonlari: vektorlar soni (10⁶ — har qanday, 10⁹ — faqat taqsimlangan), filtrlash murakkabligi, yangilanish chastotasi, mavjud infratuzilma. Sifatni oshirish usullari: gibrid qidiruv (zich vektor + BM25 kalit so'z, natijalar RRF bilan birlashtiriladi), qayta saralash (cross-encoder reranker, masalan bge-reranker, top-50 ni top-5 ga qisqartiradi, aniqlikni sezilarli oshiradi, lekin har juftlik uchun model chaqiruvi), so'rovni qayta yozish, ierarxik bo'laklash.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 — LLM'ni qaror qabul qiluvchi «miya» sifatida ishlatuvchi, vositalar (tools) bilan muhit bilan o'zaro ta'sir qiluvchi va ko'p qadamli vazifalarni bajaruvchi tizim. ReAct naqshi (reasoning + acting) asosiy sikl: model fikrlaydi, vosita chaqiruvini tuziladigan formatda (JSON) chiqaradi, tizim vositani bajaradi (qidiruv, kod, SQL, API), natija promptga qaytariladi, sikl takrorlanadi. Zamonaviy modellar vosita chaqirishga maxsus o'qitilgan (function calling); Model Context Protocol (MCP) kabi standartlar vositalarni tavsiflash va ulashni birxillashtiradi. Agent xotirasi qisqa muddatli (kontekst oynasi) va uzoq muddatli (vektor baza — RAG agentning xotirasi bo'ladi) qismlardan iborat.</a:t>
            </a:r>
          </a:p>
          <a:p/>
          <a:p>
            <a:r>
              <a:t>Infratuzilma nuqtai nazaridan agentlar uch yangi talab qo'yadi. Birinchidan, kechikish zanjiri: bitta foydalanuvchi vazifasi 5–20 ta LLM chaqiruvi va vosita bajarilishidan iborat, umumiy vaqt o'nlab soniya; shuning uchun har chaqiruvning TTFT va prefiks keshlash hal qiluvchi, oqimli (streaming) javob va parallel vosita chaqiruvi zarur. Ikkinchidan, xavfsizlik: agent haqiqiy amallar bajaradi (fayl o'chirish, pul o'tkazish, xat yuborish), bilvosita prompt injection (M9) orqali uni aldash mumkin — vositalarga eng kam imtiyoz, sandbox (konteyner) ichida kod bajarish, qaytarib bo'lmaydigan amallar uchun inson tasdig'i majburiy. Uchinchidan, kuzatuv (observability): har qadam — prompt, javob, vosita kirish-chiqishi, token sarfi, kechikish — izlanadi (tracing, masalan OpenTelemetry asosida), aks holda nosozlikni topib bo'lmaydi va narxni nazorat qilib bo'lmaydi. Ko'p agentli tizimlarda (bir agent rejalashtiradi, boshqalar bajaradi) bu talablar ko'payadi va orkestratsiya qatlami (navbatlar, holat mashinasi, qayta urinish) kerak bo'ladi.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LLM infratuzilmasini loyihalash to'rt resursni muvozanatlashdan boshlanadi: GPU xotirasi, hisoblash, tugunlar ichidagi va orasidagi tarmoq, saqlash. Xotira talabi inferens uchun: og'irliklar (P × bayt) + KV-kesh (foydalanuvchilar × kontekst × token boshiga KB) + faollashuvlar (5–10 %). 70B FP16: 140 GB og'irlik — 2 ta H100 80 GB'ga tensor parallelizm bilan sig'adi, lekin KV-kesh uchun joy qolmaydi; 4 ta H100 (320 GB) bilan 180 GB kesh → ≈ 70 ta 8K ketma-ketlik; FP8'da 70 GB og'irlik va 2 ta GPU amaliy minimal. 405B FP16: 810 GB — 8 ta H100 (640 GB) yetmaydi, FP8'da 405 GB — bitta 8-GPU tugun to'liq band. Tensor parallelizm tugun ichida qoladi, chunki har qatlamda all-reduce talab qiladi va NVLink (H100: 900 GB/s ikki tomonlama) kerak; PCIe Gen5 (128 GB/s) orqali tensor parallelizm 3–5 marta sekin.</a:t>
            </a:r>
          </a:p>
          <a:p/>
          <a:p>
            <a:r>
              <a:t>O'qitish klasteri uchun tugun — standart birlik: DGX H100 (8 × H100 SXM 80 GB, NVSwitch orqali to'liq bog'langan, 2 × Intel Xeon, 2 TB RAM, 8 × 400 Gb/s InfiniBand NDR adapter — har GPU'ga bittadan, ≈ 10 kW). Tugunlar orasidagi tarmoq ma'lumot parallelizmidagi gradient all-reduce'ni va konveyer parallelizmidagi faollashuv uzatishni ko'taradi; 70B modelning BF16 gradientlari 140 GB — har qadamda ring all-reduce bilan har tugun 2 × 140 GB × (N−1)/N uzatadi, 400 Gb/s × 8 = 3,2 Tb/s = 400 GB/s tugun o'tkazuvchanligida ≈ 0,7 soniya, bu hisoblash bilan ustma-ust qo'yilishi shart. Tarmoq topologiyasi — rail-optimized fat-tree yoki Dragonfly, RDMA (GPUDirect RDMA bilan GPU xotirasidan to'g'ridan-to'g'ri tarmoqqa). Saqlash: o'qitish to'plami (15T token ≈ 60 TB matn) va nazorat nuqtalari (checkpoint; 70B uchun optimizator holati bilan ≈ 1 TB, har 30–60 daqiqada yoziladi) parallel fayl tizimiga (Lustre, GPFS, yoki obyekt saqlash + lokal NVMe kesh) 10–100 GB/s tezlikda yoziladi. Ishonchlilik: 16 000 GPU'li klasterda Meta 54 kunlik o'qitish davomida 466 ta uzilishni qayd etgan (asosan GPU va HBM nosozliklari) — avtomatik nazorat nuqtasidan tiklash va nosoz tugunni almashtirish infratuzilmaning bir qismi.</a:t>
            </a:r>
          </a:p>
          <a:p/>
          <a:p>
            <a:r>
              <a:t>Energiya va joylashtirish: 1 000 ta H100 ≈ 1,3 MW IT quvvat, PUE 1,2 bilan 1,6 MW; suyuqlik sovutish 700 vattlik GPU'lar uchun standartga aylanmoqda. Dasturiy stek: konteynerlar (NVIDIA NGC obrazlari), orkestratsiya (Slurm — HPC an'anasi, Kubernetes + GPU Operator — bulut an'anasi, Ray — Python-markaziy), o'qitish freymvorklari (Megatron-LM, DeepSpeed, PyTorch FSDP), inferens serverlari (vLLM, TensorRT-LLM, SGLang, Triton Inference Server), monitoring (DCGM eksportchi, Prometheus, Grafana). Bulut va o'z infratuzilma tanlovi: H100 bulutda soatiga 2–4 dollar (2025), 1000 GPU'li klaster yiliga 20–35 million dollar; sotib olish va joylashtirish 3 yilda shunga yaqin, lekin band bo'lish darajasi 70 foizdan past bo'lsa bulut arzon.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4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6900000" y="1466666"/>
            <a:ext cx="1633333"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6900000" y="19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900000" y="1950000"/>
            <a:ext cx="1633333"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900000" y="1950000"/>
            <a:ext cx="1633333"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6900000"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900000"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900000"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900000"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900000" y="2433333"/>
            <a:ext cx="1633333"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6900000" y="3400000"/>
            <a:ext cx="1633333"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6900000" y="4366666"/>
            <a:ext cx="1633333"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533333" y="1466666"/>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533333" y="14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33333" y="2433333"/>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533333"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533333" y="2433333"/>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8533333"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533333"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533333"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8533333"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8533333" y="2433333"/>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166666" y="1466666"/>
            <a:ext cx="1633334"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166666" y="1466666"/>
            <a:ext cx="1633334"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10166666" y="19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0166666" y="2433333"/>
            <a:ext cx="1633334"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10166666" y="1950000"/>
            <a:ext cx="1633334"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166666" y="3400000"/>
            <a:ext cx="1633334"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10166666" y="1950000"/>
            <a:ext cx="1633334"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0166666" y="3400000"/>
            <a:ext cx="1633334"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166666" y="43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10166666" y="1950000"/>
            <a:ext cx="1633334"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10166666" y="3400000"/>
            <a:ext cx="1633334"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10166666" y="48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68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68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68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8438333" y="13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8438333" y="23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8438333" y="3305000"/>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8438333" y="4271666"/>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8438333" y="5238333"/>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10071666" y="1371666"/>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0071666" y="2338333"/>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0071666" y="330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0071666" y="42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0071666" y="52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17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17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17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7700000" y="1350000"/>
            <a:ext cx="3600000" cy="3600000"/>
          </a:xfrm>
          <a:prstGeom prst="ellipse">
            <a:avLst/>
          </a:prstGeom>
          <a:noFill/>
          <a:ln w="381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7550000" y="1200000"/>
            <a:ext cx="3900000" cy="3900000"/>
          </a:xfrm>
          <a:prstGeom prst="ellipse">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4" name="Picture 63" descr="dd215ec158b12bac.jpg"/>
          <p:cNvPicPr>
            <a:picLocks noChangeAspect="1"/>
          </p:cNvPicPr>
          <p:nvPr/>
        </p:nvPicPr>
        <p:blipFill>
          <a:blip r:embed="rId2"/>
          <a:srcRect l="18867" r="18867"/>
          <a:stretch>
            <a:fillRect/>
          </a:stretch>
        </p:blipFill>
        <p:spPr>
          <a:xfrm>
            <a:off x="7850000" y="1500000"/>
            <a:ext cx="3300000" cy="3300000"/>
          </a:xfrm>
          <a:prstGeom prst="ellipse">
            <a:avLst/>
          </a:prstGeom>
          <a:ln w="19050">
            <a:solidFill>
              <a:srgbClr val="22D3EE"/>
            </a:solidFill>
          </a:ln>
        </p:spPr>
      </p:pic>
      <p:sp>
        <p:nvSpPr>
          <p:cNvPr id="65" name="TextBox 64"/>
          <p:cNvSpPr txBox="1"/>
          <p:nvPr/>
        </p:nvSpPr>
        <p:spPr>
          <a:xfrm>
            <a:off x="6900000" y="6350000"/>
            <a:ext cx="5000000" cy="260000"/>
          </a:xfrm>
          <a:prstGeom prst="rect">
            <a:avLst/>
          </a:prstGeom>
          <a:noFill/>
        </p:spPr>
        <p:txBody>
          <a:bodyPr wrap="square" anchor="t" lIns="50800" rIns="50800">
            <a:spAutoFit/>
          </a:bodyPr>
          <a:lstStyle/>
          <a:p>
            <a:pPr algn="r"/>
            <a:r>
              <a:rPr sz="800" b="0">
                <a:solidFill>
                  <a:srgbClr val="707EAA"/>
                </a:solidFill>
                <a:latin typeface="Segoe UI"/>
              </a:rPr>
              <a:t>Rasm: Steve Jurvetson from Los Altos, USA · Wikimedia Commons · Public domain</a:t>
            </a:r>
          </a:p>
        </p:txBody>
      </p:sp>
      <p:sp>
        <p:nvSpPr>
          <p:cNvPr id="66" name="Rounded Rectangle 65"/>
          <p:cNvSpPr/>
          <p:nvPr/>
        </p:nvSpPr>
        <p:spPr>
          <a:xfrm>
            <a:off x="700000" y="1250000"/>
            <a:ext cx="3400000" cy="400000"/>
          </a:xfrm>
          <a:prstGeom prst="roundRect">
            <a:avLst/>
          </a:prstGeom>
          <a:noFill/>
          <a:ln w="15875">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22D3EE"/>
                </a:solidFill>
                <a:latin typeface="Segoe UI"/>
              </a:rPr>
              <a:t>MA'RUZA · M11 · 2 soat</a:t>
            </a:r>
          </a:p>
        </p:txBody>
      </p:sp>
      <p:sp>
        <p:nvSpPr>
          <p:cNvPr id="67" name="TextBox 66"/>
          <p:cNvSpPr txBox="1"/>
          <p:nvPr/>
        </p:nvSpPr>
        <p:spPr>
          <a:xfrm>
            <a:off x="700000" y="650000"/>
            <a:ext cx="6400000" cy="500000"/>
          </a:xfrm>
          <a:prstGeom prst="rect">
            <a:avLst/>
          </a:prstGeom>
          <a:noFill/>
        </p:spPr>
        <p:txBody>
          <a:bodyPr wrap="square" anchor="t" lIns="50800" rIns="50800">
            <a:spAutoFit/>
          </a:bodyPr>
          <a:lstStyle/>
          <a:p>
            <a:pPr algn="l"/>
            <a:r>
              <a:rPr sz="1400" b="0">
                <a:solidFill>
                  <a:srgbClr val="AEBBD9"/>
                </a:solidFill>
                <a:latin typeface="Segoe UI"/>
              </a:rPr>
              <a:t>Sun'iy intellektga asoslangan kompyuter tizimlari muhandisligi</a:t>
            </a:r>
          </a:p>
        </p:txBody>
      </p:sp>
      <p:sp>
        <p:nvSpPr>
          <p:cNvPr id="68" name="TextBox 67"/>
          <p:cNvSpPr txBox="1"/>
          <p:nvPr/>
        </p:nvSpPr>
        <p:spPr>
          <a:xfrm>
            <a:off x="700000" y="1850000"/>
            <a:ext cx="6400000" cy="2700000"/>
          </a:xfrm>
          <a:prstGeom prst="rect">
            <a:avLst/>
          </a:prstGeom>
          <a:noFill/>
        </p:spPr>
        <p:txBody>
          <a:bodyPr wrap="square" anchor="t" lIns="50800" rIns="50800">
            <a:spAutoFit/>
          </a:bodyPr>
          <a:lstStyle/>
          <a:p>
            <a:pPr algn="l"/>
            <a:r>
              <a:rPr sz="2800" b="1">
                <a:solidFill>
                  <a:srgbClr val="E8EEFA"/>
                </a:solidFill>
                <a:latin typeface="Segoe UI"/>
              </a:rPr>
              <a:t>Katta til modellari uchun kompyuter tizimlari va hisoblash infratuzilmasi</a:t>
            </a:r>
          </a:p>
        </p:txBody>
      </p:sp>
      <p:sp>
        <p:nvSpPr>
          <p:cNvPr id="69" name="Rectangle 68"/>
          <p:cNvSpPr/>
          <p:nvPr/>
        </p:nvSpPr>
        <p:spPr>
          <a:xfrm>
            <a:off x="760000" y="4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00000" y="4850000"/>
            <a:ext cx="6400000" cy="1200000"/>
          </a:xfrm>
          <a:prstGeom prst="rect">
            <a:avLst/>
          </a:prstGeom>
          <a:noFill/>
        </p:spPr>
        <p:txBody>
          <a:bodyPr wrap="square" anchor="t" lIns="50800" rIns="50800">
            <a:spAutoFit/>
          </a:bodyPr>
          <a:lstStyle/>
          <a:p>
            <a:pPr algn="l"/>
            <a:r>
              <a:rPr sz="1400" b="0">
                <a:solidFill>
                  <a:srgbClr val="AEBBD9"/>
                </a:solidFill>
                <a:latin typeface="Segoe UI"/>
              </a:rPr>
              <a:t>O‘qituvchi: S.Iskandarova, t.f.f.d. (PhD), dotsent</a:t>
            </a:r>
          </a:p>
          <a:p>
            <a:pPr algn="l"/>
            <a:r>
              <a:rPr sz="1400" b="0">
                <a:solidFill>
                  <a:srgbClr val="AEBBD9"/>
                </a:solidFill>
                <a:latin typeface="Segoe UI"/>
              </a:rPr>
              <a:t>2026-2027 o‘quv yili</a:t>
            </a:r>
          </a:p>
          <a:p>
            <a:pPr algn="l"/>
            <a:r>
              <a:rPr sz="1400" b="0">
                <a:solidFill>
                  <a:srgbClr val="AEBBD9"/>
                </a:solidFill>
                <a:latin typeface="Segoe U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8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0"/>
                            </p:stCondLst>
                            <p:childTnLst>
                              <p:par>
                                <p:cTn id="236" presetID="10" presetClass="entr" presetSubtype="0" fill="hold" grpId="0" nodeType="afterEffect">
                                  <p:stCondLst>
                                    <p:cond delay="0"/>
                                  </p:stCondLst>
                                  <p:childTnLst>
                                    <p:set>
                                      <p:cBhvr>
                                        <p:cTn id="237" dur="1" fill="hold">
                                          <p:stCondLst>
                                            <p:cond delay="0"/>
                                          </p:stCondLst>
                                        </p:cTn>
                                        <p:tgtEl>
                                          <p:spTgt spid="61"/>
                                        </p:tgtEl>
                                        <p:attrNameLst>
                                          <p:attrName>style.visibility</p:attrName>
                                        </p:attrNameLst>
                                      </p:cBhvr>
                                      <p:to>
                                        <p:strVal val="visible"/>
                                      </p:to>
                                    </p:set>
                                    <p:animEffect transition="in" filter="fade">
                                      <p:cBhvr>
                                        <p:cTn id="238" dur="550"/>
                                        <p:tgtEl>
                                          <p:spTgt spid="61"/>
                                        </p:tgtEl>
                                      </p:cBhvr>
                                    </p:animEffect>
                                  </p:childTnLst>
                                </p:cTn>
                              </p:par>
                            </p:childTnLst>
                          </p:cTn>
                        </p:par>
                        <p:par>
                          <p:cTn id="239" fill="hold">
                            <p:stCondLst>
                              <p:cond delay="200"/>
                            </p:stCondLst>
                            <p:childTnLst>
                              <p:par>
                                <p:cTn id="240" presetID="53" presetClass="entr" presetSubtype="16" fill="hold" grpId="0" nodeType="afterEffect">
                                  <p:stCondLst>
                                    <p:cond delay="0"/>
                                  </p:stCondLst>
                                  <p:childTnLst>
                                    <p:set>
                                      <p:cBhvr>
                                        <p:cTn id="241" dur="1" fill="hold">
                                          <p:stCondLst>
                                            <p:cond delay="0"/>
                                          </p:stCondLst>
                                        </p:cTn>
                                        <p:tgtEl>
                                          <p:spTgt spid="63"/>
                                        </p:tgtEl>
                                        <p:attrNameLst>
                                          <p:attrName>style.visibility</p:attrName>
                                        </p:attrNameLst>
                                      </p:cBhvr>
                                      <p:to>
                                        <p:strVal val="visible"/>
                                      </p:to>
                                    </p:set>
                                    <p:animEffect transition="in" filter="fade">
                                      <p:cBhvr>
                                        <p:cTn id="242" dur="550"/>
                                        <p:tgtEl>
                                          <p:spTgt spid="63"/>
                                        </p:tgtEl>
                                      </p:cBhvr>
                                    </p:animEffect>
                                    <p:anim calcmode="lin" valueType="num">
                                      <p:cBhvr additive="base">
                                        <p:cTn id="243" dur="550" fill="hold"/>
                                        <p:tgtEl>
                                          <p:spTgt spid="63"/>
                                        </p:tgtEl>
                                        <p:attrNameLst>
                                          <p:attrName>ppt_w</p:attrName>
                                        </p:attrNameLst>
                                      </p:cBhvr>
                                      <p:tavLst>
                                        <p:tav tm="0">
                                          <p:val>
                                            <p:strVal val="0"/>
                                          </p:val>
                                        </p:tav>
                                        <p:tav tm="100000">
                                          <p:val>
                                            <p:strVal val="#ppt_w"/>
                                          </p:val>
                                        </p:tav>
                                      </p:tavLst>
                                    </p:anim>
                                    <p:anim calcmode="lin" valueType="num">
                                      <p:cBhvr additive="base">
                                        <p:cTn id="244" dur="550" fill="hold"/>
                                        <p:tgtEl>
                                          <p:spTgt spid="63"/>
                                        </p:tgtEl>
                                        <p:attrNameLst>
                                          <p:attrName>ppt_h</p:attrName>
                                        </p:attrNameLst>
                                      </p:cBhvr>
                                      <p:tavLst>
                                        <p:tav tm="0">
                                          <p:val>
                                            <p:strVal val="0"/>
                                          </p:val>
                                        </p:tav>
                                        <p:tav tm="100000">
                                          <p:val>
                                            <p:strVal val="#ppt_h"/>
                                          </p:val>
                                        </p:tav>
                                      </p:tavLst>
                                    </p:anim>
                                  </p:childTnLst>
                                </p:cTn>
                              </p:par>
                            </p:childTnLst>
                          </p:cTn>
                        </p:par>
                        <p:par>
                          <p:cTn id="245" fill="hold">
                            <p:stCondLst>
                              <p:cond delay="200"/>
                            </p:stCondLst>
                            <p:childTnLst>
                              <p:par>
                                <p:cTn id="246" presetID="53" presetClass="entr" presetSubtype="16" fill="hold" grpId="0" nodeType="afterEffect">
                                  <p:stCondLst>
                                    <p:cond delay="0"/>
                                  </p:stCondLst>
                                  <p:childTnLst>
                                    <p:set>
                                      <p:cBhvr>
                                        <p:cTn id="247" dur="1" fill="hold">
                                          <p:stCondLst>
                                            <p:cond delay="0"/>
                                          </p:stCondLst>
                                        </p:cTn>
                                        <p:tgtEl>
                                          <p:spTgt spid="62"/>
                                        </p:tgtEl>
                                        <p:attrNameLst>
                                          <p:attrName>style.visibility</p:attrName>
                                        </p:attrNameLst>
                                      </p:cBhvr>
                                      <p:to>
                                        <p:strVal val="visible"/>
                                      </p:to>
                                    </p:set>
                                    <p:animEffect transition="in" filter="fade">
                                      <p:cBhvr>
                                        <p:cTn id="248" dur="550"/>
                                        <p:tgtEl>
                                          <p:spTgt spid="62"/>
                                        </p:tgtEl>
                                      </p:cBhvr>
                                    </p:animEffect>
                                    <p:anim calcmode="lin" valueType="num">
                                      <p:cBhvr additive="base">
                                        <p:cTn id="249" dur="550" fill="hold"/>
                                        <p:tgtEl>
                                          <p:spTgt spid="62"/>
                                        </p:tgtEl>
                                        <p:attrNameLst>
                                          <p:attrName>ppt_w</p:attrName>
                                        </p:attrNameLst>
                                      </p:cBhvr>
                                      <p:tavLst>
                                        <p:tav tm="0">
                                          <p:val>
                                            <p:strVal val="0"/>
                                          </p:val>
                                        </p:tav>
                                        <p:tav tm="100000">
                                          <p:val>
                                            <p:strVal val="#ppt_w"/>
                                          </p:val>
                                        </p:tav>
                                      </p:tavLst>
                                    </p:anim>
                                    <p:anim calcmode="lin" valueType="num">
                                      <p:cBhvr additive="base">
                                        <p:cTn id="250" dur="550" fill="hold"/>
                                        <p:tgtEl>
                                          <p:spTgt spid="62"/>
                                        </p:tgtEl>
                                        <p:attrNameLst>
                                          <p:attrName>ppt_h</p:attrName>
                                        </p:attrNameLst>
                                      </p:cBhvr>
                                      <p:tavLst>
                                        <p:tav tm="0">
                                          <p:val>
                                            <p:strVal val="0"/>
                                          </p:val>
                                        </p:tav>
                                        <p:tav tm="100000">
                                          <p:val>
                                            <p:strVal val="#ppt_h"/>
                                          </p:val>
                                        </p:tav>
                                      </p:tavLst>
                                    </p:anim>
                                  </p:childTnLst>
                                </p:cTn>
                              </p:par>
                            </p:childTnLst>
                          </p:cTn>
                        </p:par>
                        <p:par>
                          <p:cTn id="251" fill="hold">
                            <p:stCondLst>
                              <p:cond delay="200"/>
                            </p:stCondLst>
                            <p:childTnLst>
                              <p:par>
                                <p:cTn id="252" presetID="53" presetClass="entr" presetSubtype="16" fill="hold" grpId="0" nodeType="afterEffect">
                                  <p:stCondLst>
                                    <p:cond delay="0"/>
                                  </p:stCondLst>
                                  <p:childTnLst>
                                    <p:set>
                                      <p:cBhvr>
                                        <p:cTn id="253" dur="1" fill="hold">
                                          <p:stCondLst>
                                            <p:cond delay="0"/>
                                          </p:stCondLst>
                                        </p:cTn>
                                        <p:tgtEl>
                                          <p:spTgt spid="64"/>
                                        </p:tgtEl>
                                        <p:attrNameLst>
                                          <p:attrName>style.visibility</p:attrName>
                                        </p:attrNameLst>
                                      </p:cBhvr>
                                      <p:to>
                                        <p:strVal val="visible"/>
                                      </p:to>
                                    </p:set>
                                    <p:animEffect transition="in" filter="fade">
                                      <p:cBhvr>
                                        <p:cTn id="254" dur="550"/>
                                        <p:tgtEl>
                                          <p:spTgt spid="64"/>
                                        </p:tgtEl>
                                      </p:cBhvr>
                                    </p:animEffect>
                                    <p:anim calcmode="lin" valueType="num">
                                      <p:cBhvr additive="base">
                                        <p:cTn id="255" dur="550" fill="hold"/>
                                        <p:tgtEl>
                                          <p:spTgt spid="64"/>
                                        </p:tgtEl>
                                        <p:attrNameLst>
                                          <p:attrName>ppt_w</p:attrName>
                                        </p:attrNameLst>
                                      </p:cBhvr>
                                      <p:tavLst>
                                        <p:tav tm="0">
                                          <p:val>
                                            <p:strVal val="0"/>
                                          </p:val>
                                        </p:tav>
                                        <p:tav tm="100000">
                                          <p:val>
                                            <p:strVal val="#ppt_w"/>
                                          </p:val>
                                        </p:tav>
                                      </p:tavLst>
                                    </p:anim>
                                    <p:anim calcmode="lin" valueType="num">
                                      <p:cBhvr additive="base">
                                        <p:cTn id="256" dur="550" fill="hold"/>
                                        <p:tgtEl>
                                          <p:spTgt spid="64"/>
                                        </p:tgtEl>
                                        <p:attrNameLst>
                                          <p:attrName>ppt_h</p:attrName>
                                        </p:attrNameLst>
                                      </p:cBhvr>
                                      <p:tavLst>
                                        <p:tav tm="0">
                                          <p:val>
                                            <p:strVal val="0"/>
                                          </p:val>
                                        </p:tav>
                                        <p:tav tm="100000">
                                          <p:val>
                                            <p:strVal val="#ppt_h"/>
                                          </p:val>
                                        </p:tav>
                                      </p:tavLst>
                                    </p:anim>
                                  </p:childTnLst>
                                </p:cTn>
                              </p:par>
                            </p:childTnLst>
                          </p:cTn>
                        </p:par>
                        <p:par>
                          <p:cTn id="257" fill="hold">
                            <p:stCondLst>
                              <p:cond delay="200"/>
                            </p:stCondLst>
                            <p:childTnLst>
                              <p:par>
                                <p:cTn id="258" presetID="10" presetClass="entr" presetSubtype="0" fill="hold" grpId="0" nodeType="afterEffect">
                                  <p:stCondLst>
                                    <p:cond delay="0"/>
                                  </p:stCondLst>
                                  <p:childTnLst>
                                    <p:set>
                                      <p:cBhvr>
                                        <p:cTn id="259" dur="1" fill="hold">
                                          <p:stCondLst>
                                            <p:cond delay="0"/>
                                          </p:stCondLst>
                                        </p:cTn>
                                        <p:tgtEl>
                                          <p:spTgt spid="65"/>
                                        </p:tgtEl>
                                        <p:attrNameLst>
                                          <p:attrName>style.visibility</p:attrName>
                                        </p:attrNameLst>
                                      </p:cBhvr>
                                      <p:to>
                                        <p:strVal val="visible"/>
                                      </p:to>
                                    </p:set>
                                    <p:animEffect transition="in" filter="fade">
                                      <p:cBhvr>
                                        <p:cTn id="260" dur="550"/>
                                        <p:tgtEl>
                                          <p:spTgt spid="65"/>
                                        </p:tgtEl>
                                      </p:cBhvr>
                                    </p:animEffect>
                                  </p:childTnLst>
                                </p:cTn>
                              </p:par>
                            </p:childTnLst>
                          </p:cTn>
                        </p:par>
                        <p:par>
                          <p:cTn id="261" fill="hold">
                            <p:stCondLst>
                              <p:cond delay="350"/>
                            </p:stCondLst>
                            <p:childTnLst>
                              <p:par>
                                <p:cTn id="262" presetID="10" presetClass="entr" presetSubtype="0" fill="hold" grpId="0" nodeType="afterEffect">
                                  <p:stCondLst>
                                    <p:cond delay="0"/>
                                  </p:stCondLst>
                                  <p:childTnLst>
                                    <p:set>
                                      <p:cBhvr>
                                        <p:cTn id="263" dur="1" fill="hold">
                                          <p:stCondLst>
                                            <p:cond delay="0"/>
                                          </p:stCondLst>
                                        </p:cTn>
                                        <p:tgtEl>
                                          <p:spTgt spid="67"/>
                                        </p:tgtEl>
                                        <p:attrNameLst>
                                          <p:attrName>style.visibility</p:attrName>
                                        </p:attrNameLst>
                                      </p:cBhvr>
                                      <p:to>
                                        <p:strVal val="visible"/>
                                      </p:to>
                                    </p:set>
                                    <p:animEffect transition="in" filter="fade">
                                      <p:cBhvr>
                                        <p:cTn id="264" dur="550"/>
                                        <p:tgtEl>
                                          <p:spTgt spid="67"/>
                                        </p:tgtEl>
                                      </p:cBhvr>
                                    </p:animEffect>
                                  </p:childTnLst>
                                </p:cTn>
                              </p:par>
                            </p:childTnLst>
                          </p:cTn>
                        </p:par>
                        <p:par>
                          <p:cTn id="265" fill="hold">
                            <p:stCondLst>
                              <p:cond delay="500"/>
                            </p:stCondLst>
                            <p:childTnLst>
                              <p:par>
                                <p:cTn id="266" presetID="2" presetClass="entr" presetSubtype="8" fill="hold" grpId="0" nodeType="afterEffect">
                                  <p:stCondLst>
                                    <p:cond delay="0"/>
                                  </p:stCondLst>
                                  <p:childTnLst>
                                    <p:set>
                                      <p:cBhvr>
                                        <p:cTn id="267" dur="1" fill="hold">
                                          <p:stCondLst>
                                            <p:cond delay="0"/>
                                          </p:stCondLst>
                                        </p:cTn>
                                        <p:tgtEl>
                                          <p:spTgt spid="66"/>
                                        </p:tgtEl>
                                        <p:attrNameLst>
                                          <p:attrName>style.visibility</p:attrName>
                                        </p:attrNameLst>
                                      </p:cBhvr>
                                      <p:to>
                                        <p:strVal val="visible"/>
                                      </p:to>
                                    </p:set>
                                    <p:anim calcmode="lin" valueType="num">
                                      <p:cBhvr additive="base">
                                        <p:cTn id="269" dur="550" fill="hold"/>
                                        <p:tgtEl>
                                          <p:spTgt spid="66"/>
                                        </p:tgtEl>
                                        <p:attrNameLst>
                                          <p:attrName>ppt_x</p:attrName>
                                        </p:attrNameLst>
                                      </p:cBhvr>
                                      <p:tavLst>
                                        <p:tav tm="0">
                                          <p:val>
                                            <p:strVal val="0-#ppt_w/2"/>
                                          </p:val>
                                        </p:tav>
                                        <p:tav tm="100000">
                                          <p:val>
                                            <p:strVal val="#ppt_x"/>
                                          </p:val>
                                        </p:tav>
                                      </p:tavLst>
                                    </p:anim>
                                    <p:anim calcmode="lin" valueType="num">
                                      <p:cBhvr additive="base">
                                        <p:cTn id="270" dur="550" fill="hold"/>
                                        <p:tgtEl>
                                          <p:spTgt spid="66"/>
                                        </p:tgtEl>
                                        <p:attrNameLst>
                                          <p:attrName>ppt_y</p:attrName>
                                        </p:attrNameLst>
                                      </p:cBhvr>
                                      <p:tavLst>
                                        <p:tav tm="0">
                                          <p:val>
                                            <p:strVal val="#ppt_y"/>
                                          </p:val>
                                        </p:tav>
                                        <p:tav tm="100000">
                                          <p:val>
                                            <p:strVal val="#ppt_y"/>
                                          </p:val>
                                        </p:tav>
                                      </p:tavLst>
                                    </p:anim>
                                  </p:childTnLst>
                                </p:cTn>
                              </p:par>
                            </p:childTnLst>
                          </p:cTn>
                        </p:par>
                        <p:par>
                          <p:cTn id="271" fill="hold">
                            <p:stCondLst>
                              <p:cond delay="650"/>
                            </p:stCondLst>
                            <p:childTnLst>
                              <p:par>
                                <p:cTn id="272" presetID="42" presetClass="entr" presetSubtype="0" fill="hold" grpId="0" nodeType="afterEffect">
                                  <p:stCondLst>
                                    <p:cond delay="0"/>
                                  </p:stCondLst>
                                  <p:childTnLst>
                                    <p:set>
                                      <p:cBhvr>
                                        <p:cTn id="273" dur="1" fill="hold">
                                          <p:stCondLst>
                                            <p:cond delay="0"/>
                                          </p:stCondLst>
                                        </p:cTn>
                                        <p:tgtEl>
                                          <p:spTgt spid="68"/>
                                        </p:tgtEl>
                                        <p:attrNameLst>
                                          <p:attrName>style.visibility</p:attrName>
                                        </p:attrNameLst>
                                      </p:cBhvr>
                                      <p:to>
                                        <p:strVal val="visible"/>
                                      </p:to>
                                    </p:set>
                                    <p:animEffect transition="in" filter="fade">
                                      <p:cBhvr>
                                        <p:cTn id="274" dur="550"/>
                                        <p:tgtEl>
                                          <p:spTgt spid="68"/>
                                        </p:tgtEl>
                                      </p:cBhvr>
                                    </p:animEffect>
                                    <p:anim calcmode="lin" valueType="num">
                                      <p:cBhvr additive="base">
                                        <p:cTn id="275" dur="550" fill="hold"/>
                                        <p:tgtEl>
                                          <p:spTgt spid="68"/>
                                        </p:tgtEl>
                                        <p:attrNameLst>
                                          <p:attrName>ppt_x</p:attrName>
                                        </p:attrNameLst>
                                      </p:cBhvr>
                                      <p:tavLst>
                                        <p:tav tm="0">
                                          <p:val>
                                            <p:strVal val="#ppt_x"/>
                                          </p:val>
                                        </p:tav>
                                        <p:tav tm="100000">
                                          <p:val>
                                            <p:strVal val="#ppt_x"/>
                                          </p:val>
                                        </p:tav>
                                      </p:tavLst>
                                    </p:anim>
                                    <p:anim calcmode="lin" valueType="num">
                                      <p:cBhvr additive="base">
                                        <p:cTn id="276" dur="550" fill="hold"/>
                                        <p:tgtEl>
                                          <p:spTgt spid="68"/>
                                        </p:tgtEl>
                                        <p:attrNameLst>
                                          <p:attrName>ppt_y</p:attrName>
                                        </p:attrNameLst>
                                      </p:cBhvr>
                                      <p:tavLst>
                                        <p:tav tm="0">
                                          <p:val>
                                            <p:strVal val="#ppt_y+.08"/>
                                          </p:val>
                                        </p:tav>
                                        <p:tav tm="100000">
                                          <p:val>
                                            <p:strVal val="#ppt_y"/>
                                          </p:val>
                                        </p:tav>
                                      </p:tavLst>
                                    </p:anim>
                                  </p:childTnLst>
                                </p:cTn>
                              </p:par>
                            </p:childTnLst>
                          </p:cTn>
                        </p:par>
                        <p:par>
                          <p:cTn id="277" fill="hold">
                            <p:stCondLst>
                              <p:cond delay="800"/>
                            </p:stCondLst>
                            <p:childTnLst>
                              <p:par>
                                <p:cTn id="278" presetID="22" presetClass="entr" presetSubtype="8" fill="hold" grpId="0" nodeType="afterEffect">
                                  <p:stCondLst>
                                    <p:cond delay="0"/>
                                  </p:stCondLst>
                                  <p:childTnLst>
                                    <p:set>
                                      <p:cBhvr>
                                        <p:cTn id="279" dur="1" fill="hold">
                                          <p:stCondLst>
                                            <p:cond delay="0"/>
                                          </p:stCondLst>
                                        </p:cTn>
                                        <p:tgtEl>
                                          <p:spTgt spid="69"/>
                                        </p:tgtEl>
                                        <p:attrNameLst>
                                          <p:attrName>style.visibility</p:attrName>
                                        </p:attrNameLst>
                                      </p:cBhvr>
                                      <p:to>
                                        <p:strVal val="visible"/>
                                      </p:to>
                                    </p:set>
                                    <p:animEffect transition="in" filter="wipe(left)">
                                      <p:cBhvr>
                                        <p:cTn id="281" dur="800"/>
                                        <p:tgtEl>
                                          <p:spTgt spid="69"/>
                                        </p:tgtEl>
                                      </p:cBhvr>
                                    </p:animEffect>
                                  </p:childTnLst>
                                </p:cTn>
                              </p:par>
                            </p:childTnLst>
                          </p:cTn>
                        </p:par>
                        <p:par>
                          <p:cTn id="282" fill="hold">
                            <p:stCondLst>
                              <p:cond delay="950"/>
                            </p:stCondLst>
                            <p:childTnLst>
                              <p:par>
                                <p:cTn id="283" presetID="10" presetClass="entr" presetSubtype="0" fill="hold" grpId="0" nodeType="afterEffect">
                                  <p:stCondLst>
                                    <p:cond delay="0"/>
                                  </p:stCondLst>
                                  <p:childTnLst>
                                    <p:set>
                                      <p:cBhvr>
                                        <p:cTn id="284" dur="1" fill="hold">
                                          <p:stCondLst>
                                            <p:cond delay="0"/>
                                          </p:stCondLst>
                                        </p:cTn>
                                        <p:tgtEl>
                                          <p:spTgt spid="70"/>
                                        </p:tgtEl>
                                        <p:attrNameLst>
                                          <p:attrName>style.visibility</p:attrName>
                                        </p:attrNameLst>
                                      </p:cBhvr>
                                      <p:to>
                                        <p:strVal val="visible"/>
                                      </p:to>
                                    </p:set>
                                    <p:animEffect transition="in" filter="fade">
                                      <p:cBhvr>
                                        <p:cTn id="285" dur="55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P spid="62" grpId="0" animBg="1"/>
      <p:bldP spid="65" grpId="0" animBg="1"/>
      <p:bldP spid="67" grpId="0" animBg="1"/>
      <p:bldP spid="66" grpId="0" animBg="1"/>
      <p:bldP spid="68" grpId="0" animBg="1"/>
      <p:bldP spid="69" grpId="0" animBg="1"/>
      <p:bldP spid="7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MA’RUZA REJASI</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Reja</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M11 · Katta til modellari uchun kompyuter tizimlari va hisoblash infratuzilmasi</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a:t>
            </a:r>
          </a:p>
        </p:txBody>
      </p:sp>
      <p:sp>
        <p:nvSpPr>
          <p:cNvPr id="26" name="Rounded Rectangle 25"/>
          <p:cNvSpPr/>
          <p:nvPr/>
        </p:nvSpPr>
        <p:spPr>
          <a:xfrm>
            <a:off x="550000" y="227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350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2350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9" name="TextBox 28"/>
          <p:cNvSpPr txBox="1"/>
          <p:nvPr/>
        </p:nvSpPr>
        <p:spPr>
          <a:xfrm>
            <a:off x="1300000" y="2310000"/>
            <a:ext cx="10250000" cy="440000"/>
          </a:xfrm>
          <a:prstGeom prst="rect">
            <a:avLst/>
          </a:prstGeom>
          <a:noFill/>
        </p:spPr>
        <p:txBody>
          <a:bodyPr wrap="square" anchor="ctr">
            <a:spAutoFit/>
          </a:bodyPr>
          <a:lstStyle/>
          <a:p>
            <a:r>
              <a:rPr sz="1600" b="0">
                <a:solidFill>
                  <a:srgbClr val="E8EEFA"/>
                </a:solidFill>
                <a:latin typeface="Segoe UI"/>
              </a:rPr>
              <a:t>Transformer arxitekturasi va uning hisoblash xususiyatlari</a:t>
            </a:r>
          </a:p>
        </p:txBody>
      </p:sp>
      <p:sp>
        <p:nvSpPr>
          <p:cNvPr id="30" name="Rounded Rectangle 29"/>
          <p:cNvSpPr/>
          <p:nvPr/>
        </p:nvSpPr>
        <p:spPr>
          <a:xfrm>
            <a:off x="550000" y="290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980000"/>
            <a:ext cx="50000" cy="360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2980000"/>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3" name="TextBox 32"/>
          <p:cNvSpPr txBox="1"/>
          <p:nvPr/>
        </p:nvSpPr>
        <p:spPr>
          <a:xfrm>
            <a:off x="1300000" y="2940000"/>
            <a:ext cx="10250000" cy="440000"/>
          </a:xfrm>
          <a:prstGeom prst="rect">
            <a:avLst/>
          </a:prstGeom>
          <a:noFill/>
        </p:spPr>
        <p:txBody>
          <a:bodyPr wrap="square" anchor="ctr">
            <a:spAutoFit/>
          </a:bodyPr>
          <a:lstStyle/>
          <a:p>
            <a:r>
              <a:rPr sz="1600" b="0">
                <a:solidFill>
                  <a:srgbClr val="E8EEFA"/>
                </a:solidFill>
                <a:latin typeface="Segoe UI"/>
              </a:rPr>
              <a:t>LLM o'qitish va inferens: masshtab, xotira va tizim optimallashtirishlari</a:t>
            </a:r>
          </a:p>
        </p:txBody>
      </p:sp>
      <p:sp>
        <p:nvSpPr>
          <p:cNvPr id="34" name="Rounded Rectangle 33"/>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3610000"/>
            <a:ext cx="50000" cy="36000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60000" y="3610000"/>
            <a:ext cx="360000" cy="36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7" name="TextBox 36"/>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Retrieval-Augmented Generation va vektor bazalar</a:t>
            </a:r>
          </a:p>
        </p:txBody>
      </p:sp>
      <p:sp>
        <p:nvSpPr>
          <p:cNvPr id="38" name="Rounded Rectangle 37"/>
          <p:cNvSpPr/>
          <p:nvPr/>
        </p:nvSpPr>
        <p:spPr>
          <a:xfrm>
            <a:off x="550000" y="416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0000" y="4240000"/>
            <a:ext cx="50000" cy="360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60000" y="4240000"/>
            <a:ext cx="360000" cy="36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41" name="TextBox 40"/>
          <p:cNvSpPr txBox="1"/>
          <p:nvPr/>
        </p:nvSpPr>
        <p:spPr>
          <a:xfrm>
            <a:off x="1300000" y="4200000"/>
            <a:ext cx="10250000" cy="440000"/>
          </a:xfrm>
          <a:prstGeom prst="rect">
            <a:avLst/>
          </a:prstGeom>
          <a:noFill/>
        </p:spPr>
        <p:txBody>
          <a:bodyPr wrap="square" anchor="ctr">
            <a:spAutoFit/>
          </a:bodyPr>
          <a:lstStyle/>
          <a:p>
            <a:r>
              <a:rPr sz="1600" b="0">
                <a:solidFill>
                  <a:srgbClr val="E8EEFA"/>
                </a:solidFill>
                <a:latin typeface="Segoe UI"/>
              </a:rPr>
              <a:t>Sun'iy intellekt agentlari</a:t>
            </a:r>
          </a:p>
        </p:txBody>
      </p:sp>
      <p:sp>
        <p:nvSpPr>
          <p:cNvPr id="42" name="Rounded Rectangle 41"/>
          <p:cNvSpPr/>
          <p:nvPr/>
        </p:nvSpPr>
        <p:spPr>
          <a:xfrm>
            <a:off x="550000" y="479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50000" y="4870000"/>
            <a:ext cx="50000" cy="360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760000" y="4870000"/>
            <a:ext cx="360000" cy="36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45" name="TextBox 44"/>
          <p:cNvSpPr txBox="1"/>
          <p:nvPr/>
        </p:nvSpPr>
        <p:spPr>
          <a:xfrm>
            <a:off x="1300000" y="4830000"/>
            <a:ext cx="10250000" cy="440000"/>
          </a:xfrm>
          <a:prstGeom prst="rect">
            <a:avLst/>
          </a:prstGeom>
          <a:noFill/>
        </p:spPr>
        <p:txBody>
          <a:bodyPr wrap="square" anchor="ctr">
            <a:spAutoFit/>
          </a:bodyPr>
          <a:lstStyle/>
          <a:p>
            <a:r>
              <a:rPr sz="1600" b="0">
                <a:solidFill>
                  <a:srgbClr val="E8EEFA"/>
                </a:solidFill>
                <a:latin typeface="Segoe UI"/>
              </a:rPr>
              <a:t>LLM uchun GPU klasterlari va yuqori unumdor infratuzilma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3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ppt_x</p:attrName>
                                        </p:attrNameLst>
                                      </p:cBhvr>
                                      <p:tavLst>
                                        <p:tav tm="0">
                                          <p:val>
                                            <p:strVal val="#ppt_x"/>
                                          </p:val>
                                        </p:tav>
                                        <p:tav tm="100000">
                                          <p:val>
                                            <p:strVal val="#ppt_x"/>
                                          </p:val>
                                        </p:tav>
                                      </p:tavLst>
                                    </p:anim>
                                    <p:anim calcmode="lin" valueType="num">
                                      <p:cBhvr additive="base">
                                        <p:cTn id="17" dur="550" fill="hold"/>
                                        <p:tgtEl>
                                          <p:spTgt spid="26"/>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ppt_x</p:attrName>
                                        </p:attrNameLst>
                                      </p:cBhvr>
                                      <p:tavLst>
                                        <p:tav tm="0">
                                          <p:val>
                                            <p:strVal val="#ppt_x"/>
                                          </p:val>
                                        </p:tav>
                                        <p:tav tm="100000">
                                          <p:val>
                                            <p:strVal val="#ppt_x"/>
                                          </p:val>
                                        </p:tav>
                                      </p:tavLst>
                                    </p:anim>
                                    <p:anim calcmode="lin" valueType="num">
                                      <p:cBhvr additive="base">
                                        <p:cTn id="23" dur="550" fill="hold"/>
                                        <p:tgtEl>
                                          <p:spTgt spid="27"/>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anim calcmode="lin" valueType="num">
                                      <p:cBhvr additive="base">
                                        <p:cTn id="28" dur="550" fill="hold"/>
                                        <p:tgtEl>
                                          <p:spTgt spid="28"/>
                                        </p:tgtEl>
                                        <p:attrNameLst>
                                          <p:attrName>ppt_w</p:attrName>
                                        </p:attrNameLst>
                                      </p:cBhvr>
                                      <p:tavLst>
                                        <p:tav tm="0">
                                          <p:val>
                                            <p:strVal val="0"/>
                                          </p:val>
                                        </p:tav>
                                        <p:tav tm="100000">
                                          <p:val>
                                            <p:strVal val="#ppt_w"/>
                                          </p:val>
                                        </p:tav>
                                      </p:tavLst>
                                    </p:anim>
                                    <p:anim calcmode="lin" valueType="num">
                                      <p:cBhvr additive="base">
                                        <p:cTn id="29" dur="550" fill="hold"/>
                                        <p:tgtEl>
                                          <p:spTgt spid="28"/>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fade">
                                      <p:cBhvr>
                                        <p:cTn id="33" dur="550"/>
                                        <p:tgtEl>
                                          <p:spTgt spid="29"/>
                                        </p:tgtEl>
                                      </p:cBhvr>
                                    </p:animEffect>
                                    <p:anim calcmode="lin" valueType="num">
                                      <p:cBhvr additive="base">
                                        <p:cTn id="34" dur="550" fill="hold"/>
                                        <p:tgtEl>
                                          <p:spTgt spid="29"/>
                                        </p:tgtEl>
                                        <p:attrNameLst>
                                          <p:attrName>ppt_x</p:attrName>
                                        </p:attrNameLst>
                                      </p:cBhvr>
                                      <p:tavLst>
                                        <p:tav tm="0">
                                          <p:val>
                                            <p:strVal val="#ppt_x"/>
                                          </p:val>
                                        </p:tav>
                                        <p:tav tm="100000">
                                          <p:val>
                                            <p:strVal val="#ppt_x"/>
                                          </p:val>
                                        </p:tav>
                                      </p:tavLst>
                                    </p:anim>
                                    <p:anim calcmode="lin" valueType="num">
                                      <p:cBhvr additive="base">
                                        <p:cTn id="35" dur="550" fill="hold"/>
                                        <p:tgtEl>
                                          <p:spTgt spid="29"/>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30"/>
                                        </p:tgtEl>
                                        <p:attrNameLst>
                                          <p:attrName>style.visibility</p:attrName>
                                        </p:attrNameLst>
                                      </p:cBhvr>
                                      <p:to>
                                        <p:strVal val="visible"/>
                                      </p:to>
                                    </p:set>
                                    <p:animEffect transition="in" filter="fade">
                                      <p:cBhvr>
                                        <p:cTn id="39" dur="550"/>
                                        <p:tgtEl>
                                          <p:spTgt spid="30"/>
                                        </p:tgtEl>
                                      </p:cBhvr>
                                    </p:animEffect>
                                    <p:anim calcmode="lin" valueType="num">
                                      <p:cBhvr additive="base">
                                        <p:cTn id="40" dur="550" fill="hold"/>
                                        <p:tgtEl>
                                          <p:spTgt spid="30"/>
                                        </p:tgtEl>
                                        <p:attrNameLst>
                                          <p:attrName>ppt_x</p:attrName>
                                        </p:attrNameLst>
                                      </p:cBhvr>
                                      <p:tavLst>
                                        <p:tav tm="0">
                                          <p:val>
                                            <p:strVal val="#ppt_x"/>
                                          </p:val>
                                        </p:tav>
                                        <p:tav tm="100000">
                                          <p:val>
                                            <p:strVal val="#ppt_x"/>
                                          </p:val>
                                        </p:tav>
                                      </p:tavLst>
                                    </p:anim>
                                    <p:anim calcmode="lin" valueType="num">
                                      <p:cBhvr additive="base">
                                        <p:cTn id="41" dur="550" fill="hold"/>
                                        <p:tgtEl>
                                          <p:spTgt spid="30"/>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31"/>
                                        </p:tgtEl>
                                        <p:attrNameLst>
                                          <p:attrName>style.visibility</p:attrName>
                                        </p:attrNameLst>
                                      </p:cBhvr>
                                      <p:to>
                                        <p:strVal val="visible"/>
                                      </p:to>
                                    </p:set>
                                    <p:animEffect transition="in" filter="fade">
                                      <p:cBhvr>
                                        <p:cTn id="45" dur="550"/>
                                        <p:tgtEl>
                                          <p:spTgt spid="31"/>
                                        </p:tgtEl>
                                      </p:cBhvr>
                                    </p:animEffect>
                                    <p:anim calcmode="lin" valueType="num">
                                      <p:cBhvr additive="base">
                                        <p:cTn id="46" dur="550" fill="hold"/>
                                        <p:tgtEl>
                                          <p:spTgt spid="31"/>
                                        </p:tgtEl>
                                        <p:attrNameLst>
                                          <p:attrName>ppt_x</p:attrName>
                                        </p:attrNameLst>
                                      </p:cBhvr>
                                      <p:tavLst>
                                        <p:tav tm="0">
                                          <p:val>
                                            <p:strVal val="#ppt_x"/>
                                          </p:val>
                                        </p:tav>
                                        <p:tav tm="100000">
                                          <p:val>
                                            <p:strVal val="#ppt_x"/>
                                          </p:val>
                                        </p:tav>
                                      </p:tavLst>
                                    </p:anim>
                                    <p:anim calcmode="lin" valueType="num">
                                      <p:cBhvr additive="base">
                                        <p:cTn id="47" dur="550" fill="hold"/>
                                        <p:tgtEl>
                                          <p:spTgt spid="31"/>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550"/>
                                        <p:tgtEl>
                                          <p:spTgt spid="32"/>
                                        </p:tgtEl>
                                      </p:cBhvr>
                                    </p:animEffect>
                                    <p:anim calcmode="lin" valueType="num">
                                      <p:cBhvr additive="base">
                                        <p:cTn id="52" dur="550" fill="hold"/>
                                        <p:tgtEl>
                                          <p:spTgt spid="32"/>
                                        </p:tgtEl>
                                        <p:attrNameLst>
                                          <p:attrName>ppt_w</p:attrName>
                                        </p:attrNameLst>
                                      </p:cBhvr>
                                      <p:tavLst>
                                        <p:tav tm="0">
                                          <p:val>
                                            <p:strVal val="0"/>
                                          </p:val>
                                        </p:tav>
                                        <p:tav tm="100000">
                                          <p:val>
                                            <p:strVal val="#ppt_w"/>
                                          </p:val>
                                        </p:tav>
                                      </p:tavLst>
                                    </p:anim>
                                    <p:anim calcmode="lin" valueType="num">
                                      <p:cBhvr additive="base">
                                        <p:cTn id="53" dur="550" fill="hold"/>
                                        <p:tgtEl>
                                          <p:spTgt spid="32"/>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33"/>
                                        </p:tgtEl>
                                        <p:attrNameLst>
                                          <p:attrName>style.visibility</p:attrName>
                                        </p:attrNameLst>
                                      </p:cBhvr>
                                      <p:to>
                                        <p:strVal val="visible"/>
                                      </p:to>
                                    </p:set>
                                    <p:animEffect transition="in" filter="fade">
                                      <p:cBhvr>
                                        <p:cTn id="57" dur="550"/>
                                        <p:tgtEl>
                                          <p:spTgt spid="33"/>
                                        </p:tgtEl>
                                      </p:cBhvr>
                                    </p:animEffect>
                                    <p:anim calcmode="lin" valueType="num">
                                      <p:cBhvr additive="base">
                                        <p:cTn id="58" dur="550" fill="hold"/>
                                        <p:tgtEl>
                                          <p:spTgt spid="33"/>
                                        </p:tgtEl>
                                        <p:attrNameLst>
                                          <p:attrName>ppt_x</p:attrName>
                                        </p:attrNameLst>
                                      </p:cBhvr>
                                      <p:tavLst>
                                        <p:tav tm="0">
                                          <p:val>
                                            <p:strVal val="#ppt_x"/>
                                          </p:val>
                                        </p:tav>
                                        <p:tav tm="100000">
                                          <p:val>
                                            <p:strVal val="#ppt_x"/>
                                          </p:val>
                                        </p:tav>
                                      </p:tavLst>
                                    </p:anim>
                                    <p:anim calcmode="lin" valueType="num">
                                      <p:cBhvr additive="base">
                                        <p:cTn id="59" dur="550" fill="hold"/>
                                        <p:tgtEl>
                                          <p:spTgt spid="33"/>
                                        </p:tgtEl>
                                        <p:attrNameLst>
                                          <p:attrName>ppt_y</p:attrName>
                                        </p:attrNameLst>
                                      </p:cBhvr>
                                      <p:tavLst>
                                        <p:tav tm="0">
                                          <p:val>
                                            <p:strVal val="#ppt_y+.08"/>
                                          </p:val>
                                        </p:tav>
                                        <p:tav tm="100000">
                                          <p:val>
                                            <p:strVal val="#ppt_y"/>
                                          </p:val>
                                        </p:tav>
                                      </p:tavLst>
                                    </p:anim>
                                  </p:childTnLst>
                                </p:cTn>
                              </p:par>
                            </p:childTnLst>
                          </p:cTn>
                        </p:par>
                        <p:par>
                          <p:cTn id="60" fill="hold">
                            <p:stCondLst>
                              <p:cond delay="600"/>
                            </p:stCondLst>
                            <p:childTnLst>
                              <p:par>
                                <p:cTn id="61" presetID="42" presetClass="entr" presetSubtype="0" fill="hold" grpId="0" nodeType="afterEffect">
                                  <p:stCondLst>
                                    <p:cond delay="0"/>
                                  </p:stCondLst>
                                  <p:childTnLst>
                                    <p:set>
                                      <p:cBhvr>
                                        <p:cTn id="62" dur="1" fill="hold">
                                          <p:stCondLst>
                                            <p:cond delay="0"/>
                                          </p:stCondLst>
                                        </p:cTn>
                                        <p:tgtEl>
                                          <p:spTgt spid="34"/>
                                        </p:tgtEl>
                                        <p:attrNameLst>
                                          <p:attrName>style.visibility</p:attrName>
                                        </p:attrNameLst>
                                      </p:cBhvr>
                                      <p:to>
                                        <p:strVal val="visible"/>
                                      </p:to>
                                    </p:set>
                                    <p:animEffect transition="in" filter="fade">
                                      <p:cBhvr>
                                        <p:cTn id="63" dur="550"/>
                                        <p:tgtEl>
                                          <p:spTgt spid="34"/>
                                        </p:tgtEl>
                                      </p:cBhvr>
                                    </p:animEffect>
                                    <p:anim calcmode="lin" valueType="num">
                                      <p:cBhvr additive="base">
                                        <p:cTn id="64" dur="550" fill="hold"/>
                                        <p:tgtEl>
                                          <p:spTgt spid="34"/>
                                        </p:tgtEl>
                                        <p:attrNameLst>
                                          <p:attrName>ppt_x</p:attrName>
                                        </p:attrNameLst>
                                      </p:cBhvr>
                                      <p:tavLst>
                                        <p:tav tm="0">
                                          <p:val>
                                            <p:strVal val="#ppt_x"/>
                                          </p:val>
                                        </p:tav>
                                        <p:tav tm="100000">
                                          <p:val>
                                            <p:strVal val="#ppt_x"/>
                                          </p:val>
                                        </p:tav>
                                      </p:tavLst>
                                    </p:anim>
                                    <p:anim calcmode="lin" valueType="num">
                                      <p:cBhvr additive="base">
                                        <p:cTn id="65" dur="550" fill="hold"/>
                                        <p:tgtEl>
                                          <p:spTgt spid="34"/>
                                        </p:tgtEl>
                                        <p:attrNameLst>
                                          <p:attrName>ppt_y</p:attrName>
                                        </p:attrNameLst>
                                      </p:cBhvr>
                                      <p:tavLst>
                                        <p:tav tm="0">
                                          <p:val>
                                            <p:strVal val="#ppt_y+.08"/>
                                          </p:val>
                                        </p:tav>
                                        <p:tav tm="100000">
                                          <p:val>
                                            <p:strVal val="#ppt_y"/>
                                          </p:val>
                                        </p:tav>
                                      </p:tavLst>
                                    </p:anim>
                                  </p:childTnLst>
                                </p:cTn>
                              </p:par>
                            </p:childTnLst>
                          </p:cTn>
                        </p:par>
                        <p:par>
                          <p:cTn id="66" fill="hold">
                            <p:stCondLst>
                              <p:cond delay="600"/>
                            </p:stCondLst>
                            <p:childTnLst>
                              <p:par>
                                <p:cTn id="67" presetID="42" presetClass="entr" presetSubtype="0" fill="hold" grpId="0" nodeType="afterEffect">
                                  <p:stCondLst>
                                    <p:cond delay="0"/>
                                  </p:stCondLst>
                                  <p:childTnLst>
                                    <p:set>
                                      <p:cBhvr>
                                        <p:cTn id="68" dur="1" fill="hold">
                                          <p:stCondLst>
                                            <p:cond delay="0"/>
                                          </p:stCondLst>
                                        </p:cTn>
                                        <p:tgtEl>
                                          <p:spTgt spid="35"/>
                                        </p:tgtEl>
                                        <p:attrNameLst>
                                          <p:attrName>style.visibility</p:attrName>
                                        </p:attrNameLst>
                                      </p:cBhvr>
                                      <p:to>
                                        <p:strVal val="visible"/>
                                      </p:to>
                                    </p:set>
                                    <p:animEffect transition="in" filter="fade">
                                      <p:cBhvr>
                                        <p:cTn id="69" dur="550"/>
                                        <p:tgtEl>
                                          <p:spTgt spid="35"/>
                                        </p:tgtEl>
                                      </p:cBhvr>
                                    </p:animEffect>
                                    <p:anim calcmode="lin" valueType="num">
                                      <p:cBhvr additive="base">
                                        <p:cTn id="70" dur="550" fill="hold"/>
                                        <p:tgtEl>
                                          <p:spTgt spid="35"/>
                                        </p:tgtEl>
                                        <p:attrNameLst>
                                          <p:attrName>ppt_x</p:attrName>
                                        </p:attrNameLst>
                                      </p:cBhvr>
                                      <p:tavLst>
                                        <p:tav tm="0">
                                          <p:val>
                                            <p:strVal val="#ppt_x"/>
                                          </p:val>
                                        </p:tav>
                                        <p:tav tm="100000">
                                          <p:val>
                                            <p:strVal val="#ppt_x"/>
                                          </p:val>
                                        </p:tav>
                                      </p:tavLst>
                                    </p:anim>
                                    <p:anim calcmode="lin" valueType="num">
                                      <p:cBhvr additive="base">
                                        <p:cTn id="71" dur="550" fill="hold"/>
                                        <p:tgtEl>
                                          <p:spTgt spid="35"/>
                                        </p:tgtEl>
                                        <p:attrNameLst>
                                          <p:attrName>ppt_y</p:attrName>
                                        </p:attrNameLst>
                                      </p:cBhvr>
                                      <p:tavLst>
                                        <p:tav tm="0">
                                          <p:val>
                                            <p:strVal val="#ppt_y+.08"/>
                                          </p:val>
                                        </p:tav>
                                        <p:tav tm="100000">
                                          <p:val>
                                            <p:strVal val="#ppt_y"/>
                                          </p:val>
                                        </p:tav>
                                      </p:tavLst>
                                    </p:anim>
                                  </p:childTnLst>
                                </p:cTn>
                              </p:par>
                            </p:childTnLst>
                          </p:cTn>
                        </p:par>
                        <p:par>
                          <p:cTn id="72" fill="hold">
                            <p:stCondLst>
                              <p:cond delay="600"/>
                            </p:stCondLst>
                            <p:childTnLst>
                              <p:par>
                                <p:cTn id="73" presetID="53" presetClass="entr" presetSubtype="16" fill="hold" grpId="0" nodeType="afterEffect">
                                  <p:stCondLst>
                                    <p:cond delay="0"/>
                                  </p:stCondLst>
                                  <p:childTnLst>
                                    <p:set>
                                      <p:cBhvr>
                                        <p:cTn id="74" dur="1" fill="hold">
                                          <p:stCondLst>
                                            <p:cond delay="0"/>
                                          </p:stCondLst>
                                        </p:cTn>
                                        <p:tgtEl>
                                          <p:spTgt spid="36"/>
                                        </p:tgtEl>
                                        <p:attrNameLst>
                                          <p:attrName>style.visibility</p:attrName>
                                        </p:attrNameLst>
                                      </p:cBhvr>
                                      <p:to>
                                        <p:strVal val="visible"/>
                                      </p:to>
                                    </p:set>
                                    <p:animEffect transition="in" filter="fade">
                                      <p:cBhvr>
                                        <p:cTn id="75" dur="550"/>
                                        <p:tgtEl>
                                          <p:spTgt spid="36"/>
                                        </p:tgtEl>
                                      </p:cBhvr>
                                    </p:animEffect>
                                    <p:anim calcmode="lin" valueType="num">
                                      <p:cBhvr additive="base">
                                        <p:cTn id="76" dur="550" fill="hold"/>
                                        <p:tgtEl>
                                          <p:spTgt spid="36"/>
                                        </p:tgtEl>
                                        <p:attrNameLst>
                                          <p:attrName>ppt_w</p:attrName>
                                        </p:attrNameLst>
                                      </p:cBhvr>
                                      <p:tavLst>
                                        <p:tav tm="0">
                                          <p:val>
                                            <p:strVal val="0"/>
                                          </p:val>
                                        </p:tav>
                                        <p:tav tm="100000">
                                          <p:val>
                                            <p:strVal val="#ppt_w"/>
                                          </p:val>
                                        </p:tav>
                                      </p:tavLst>
                                    </p:anim>
                                    <p:anim calcmode="lin" valueType="num">
                                      <p:cBhvr additive="base">
                                        <p:cTn id="77" dur="550" fill="hold"/>
                                        <p:tgtEl>
                                          <p:spTgt spid="36"/>
                                        </p:tgtEl>
                                        <p:attrNameLst>
                                          <p:attrName>ppt_h</p:attrName>
                                        </p:attrNameLst>
                                      </p:cBhvr>
                                      <p:tavLst>
                                        <p:tav tm="0">
                                          <p:val>
                                            <p:strVal val="0"/>
                                          </p:val>
                                        </p:tav>
                                        <p:tav tm="100000">
                                          <p:val>
                                            <p:strVal val="#ppt_h"/>
                                          </p:val>
                                        </p:tav>
                                      </p:tavLst>
                                    </p:anim>
                                  </p:childTnLst>
                                </p:cTn>
                              </p:par>
                            </p:childTnLst>
                          </p:cTn>
                        </p:par>
                        <p:par>
                          <p:cTn id="78" fill="hold">
                            <p:stCondLst>
                              <p:cond delay="600"/>
                            </p:stCondLst>
                            <p:childTnLst>
                              <p:par>
                                <p:cTn id="79" presetID="42" presetClass="entr" presetSubtype="0" fill="hold" grpId="0" nodeType="afterEffect">
                                  <p:stCondLst>
                                    <p:cond delay="0"/>
                                  </p:stCondLst>
                                  <p:childTnLst>
                                    <p:set>
                                      <p:cBhvr>
                                        <p:cTn id="80" dur="1" fill="hold">
                                          <p:stCondLst>
                                            <p:cond delay="0"/>
                                          </p:stCondLst>
                                        </p:cTn>
                                        <p:tgtEl>
                                          <p:spTgt spid="37"/>
                                        </p:tgtEl>
                                        <p:attrNameLst>
                                          <p:attrName>style.visibility</p:attrName>
                                        </p:attrNameLst>
                                      </p:cBhvr>
                                      <p:to>
                                        <p:strVal val="visible"/>
                                      </p:to>
                                    </p:set>
                                    <p:animEffect transition="in" filter="fade">
                                      <p:cBhvr>
                                        <p:cTn id="81" dur="550"/>
                                        <p:tgtEl>
                                          <p:spTgt spid="37"/>
                                        </p:tgtEl>
                                      </p:cBhvr>
                                    </p:animEffect>
                                    <p:anim calcmode="lin" valueType="num">
                                      <p:cBhvr additive="base">
                                        <p:cTn id="82" dur="550" fill="hold"/>
                                        <p:tgtEl>
                                          <p:spTgt spid="37"/>
                                        </p:tgtEl>
                                        <p:attrNameLst>
                                          <p:attrName>ppt_x</p:attrName>
                                        </p:attrNameLst>
                                      </p:cBhvr>
                                      <p:tavLst>
                                        <p:tav tm="0">
                                          <p:val>
                                            <p:strVal val="#ppt_x"/>
                                          </p:val>
                                        </p:tav>
                                        <p:tav tm="100000">
                                          <p:val>
                                            <p:strVal val="#ppt_x"/>
                                          </p:val>
                                        </p:tav>
                                      </p:tavLst>
                                    </p:anim>
                                    <p:anim calcmode="lin" valueType="num">
                                      <p:cBhvr additive="base">
                                        <p:cTn id="83" dur="550" fill="hold"/>
                                        <p:tgtEl>
                                          <p:spTgt spid="37"/>
                                        </p:tgtEl>
                                        <p:attrNameLst>
                                          <p:attrName>ppt_y</p:attrName>
                                        </p:attrNameLst>
                                      </p:cBhvr>
                                      <p:tavLst>
                                        <p:tav tm="0">
                                          <p:val>
                                            <p:strVal val="#ppt_y+.08"/>
                                          </p:val>
                                        </p:tav>
                                        <p:tav tm="100000">
                                          <p:val>
                                            <p:strVal val="#ppt_y"/>
                                          </p:val>
                                        </p:tav>
                                      </p:tavLst>
                                    </p:anim>
                                  </p:childTnLst>
                                </p:cTn>
                              </p:par>
                            </p:childTnLst>
                          </p:cTn>
                        </p:par>
                        <p:par>
                          <p:cTn id="84" fill="hold">
                            <p:stCondLst>
                              <p:cond delay="800"/>
                            </p:stCondLst>
                            <p:childTnLst>
                              <p:par>
                                <p:cTn id="85" presetID="42" presetClass="entr" presetSubtype="0" fill="hold" grpId="0" nodeType="afterEffect">
                                  <p:stCondLst>
                                    <p:cond delay="0"/>
                                  </p:stCondLst>
                                  <p:childTnLst>
                                    <p:set>
                                      <p:cBhvr>
                                        <p:cTn id="86" dur="1" fill="hold">
                                          <p:stCondLst>
                                            <p:cond delay="0"/>
                                          </p:stCondLst>
                                        </p:cTn>
                                        <p:tgtEl>
                                          <p:spTgt spid="38"/>
                                        </p:tgtEl>
                                        <p:attrNameLst>
                                          <p:attrName>style.visibility</p:attrName>
                                        </p:attrNameLst>
                                      </p:cBhvr>
                                      <p:to>
                                        <p:strVal val="visible"/>
                                      </p:to>
                                    </p:set>
                                    <p:animEffect transition="in" filter="fade">
                                      <p:cBhvr>
                                        <p:cTn id="87" dur="550"/>
                                        <p:tgtEl>
                                          <p:spTgt spid="38"/>
                                        </p:tgtEl>
                                      </p:cBhvr>
                                    </p:animEffect>
                                    <p:anim calcmode="lin" valueType="num">
                                      <p:cBhvr additive="base">
                                        <p:cTn id="88" dur="550" fill="hold"/>
                                        <p:tgtEl>
                                          <p:spTgt spid="38"/>
                                        </p:tgtEl>
                                        <p:attrNameLst>
                                          <p:attrName>ppt_x</p:attrName>
                                        </p:attrNameLst>
                                      </p:cBhvr>
                                      <p:tavLst>
                                        <p:tav tm="0">
                                          <p:val>
                                            <p:strVal val="#ppt_x"/>
                                          </p:val>
                                        </p:tav>
                                        <p:tav tm="100000">
                                          <p:val>
                                            <p:strVal val="#ppt_x"/>
                                          </p:val>
                                        </p:tav>
                                      </p:tavLst>
                                    </p:anim>
                                    <p:anim calcmode="lin" valueType="num">
                                      <p:cBhvr additive="base">
                                        <p:cTn id="89" dur="550" fill="hold"/>
                                        <p:tgtEl>
                                          <p:spTgt spid="38"/>
                                        </p:tgtEl>
                                        <p:attrNameLst>
                                          <p:attrName>ppt_y</p:attrName>
                                        </p:attrNameLst>
                                      </p:cBhvr>
                                      <p:tavLst>
                                        <p:tav tm="0">
                                          <p:val>
                                            <p:strVal val="#ppt_y+.08"/>
                                          </p:val>
                                        </p:tav>
                                        <p:tav tm="100000">
                                          <p:val>
                                            <p:strVal val="#ppt_y"/>
                                          </p:val>
                                        </p:tav>
                                      </p:tavLst>
                                    </p:anim>
                                  </p:childTnLst>
                                </p:cTn>
                              </p:par>
                            </p:childTnLst>
                          </p:cTn>
                        </p:par>
                        <p:par>
                          <p:cTn id="90" fill="hold">
                            <p:stCondLst>
                              <p:cond delay="800"/>
                            </p:stCondLst>
                            <p:childTnLst>
                              <p:par>
                                <p:cTn id="91" presetID="42" presetClass="entr" presetSubtype="0" fill="hold" grpId="0" nodeType="afterEffect">
                                  <p:stCondLst>
                                    <p:cond delay="0"/>
                                  </p:stCondLst>
                                  <p:childTnLst>
                                    <p:set>
                                      <p:cBhvr>
                                        <p:cTn id="92" dur="1" fill="hold">
                                          <p:stCondLst>
                                            <p:cond delay="0"/>
                                          </p:stCondLst>
                                        </p:cTn>
                                        <p:tgtEl>
                                          <p:spTgt spid="39"/>
                                        </p:tgtEl>
                                        <p:attrNameLst>
                                          <p:attrName>style.visibility</p:attrName>
                                        </p:attrNameLst>
                                      </p:cBhvr>
                                      <p:to>
                                        <p:strVal val="visible"/>
                                      </p:to>
                                    </p:set>
                                    <p:animEffect transition="in" filter="fade">
                                      <p:cBhvr>
                                        <p:cTn id="93" dur="550"/>
                                        <p:tgtEl>
                                          <p:spTgt spid="39"/>
                                        </p:tgtEl>
                                      </p:cBhvr>
                                    </p:animEffect>
                                    <p:anim calcmode="lin" valueType="num">
                                      <p:cBhvr additive="base">
                                        <p:cTn id="94" dur="550" fill="hold"/>
                                        <p:tgtEl>
                                          <p:spTgt spid="39"/>
                                        </p:tgtEl>
                                        <p:attrNameLst>
                                          <p:attrName>ppt_x</p:attrName>
                                        </p:attrNameLst>
                                      </p:cBhvr>
                                      <p:tavLst>
                                        <p:tav tm="0">
                                          <p:val>
                                            <p:strVal val="#ppt_x"/>
                                          </p:val>
                                        </p:tav>
                                        <p:tav tm="100000">
                                          <p:val>
                                            <p:strVal val="#ppt_x"/>
                                          </p:val>
                                        </p:tav>
                                      </p:tavLst>
                                    </p:anim>
                                    <p:anim calcmode="lin" valueType="num">
                                      <p:cBhvr additive="base">
                                        <p:cTn id="95" dur="550" fill="hold"/>
                                        <p:tgtEl>
                                          <p:spTgt spid="39"/>
                                        </p:tgtEl>
                                        <p:attrNameLst>
                                          <p:attrName>ppt_y</p:attrName>
                                        </p:attrNameLst>
                                      </p:cBhvr>
                                      <p:tavLst>
                                        <p:tav tm="0">
                                          <p:val>
                                            <p:strVal val="#ppt_y+.08"/>
                                          </p:val>
                                        </p:tav>
                                        <p:tav tm="100000">
                                          <p:val>
                                            <p:strVal val="#ppt_y"/>
                                          </p:val>
                                        </p:tav>
                                      </p:tavLst>
                                    </p:anim>
                                  </p:childTnLst>
                                </p:cTn>
                              </p:par>
                            </p:childTnLst>
                          </p:cTn>
                        </p:par>
                        <p:par>
                          <p:cTn id="96" fill="hold">
                            <p:stCondLst>
                              <p:cond delay="800"/>
                            </p:stCondLst>
                            <p:childTnLst>
                              <p:par>
                                <p:cTn id="97" presetID="53" presetClass="entr" presetSubtype="16" fill="hold" grpId="0" nodeType="afterEffect">
                                  <p:stCondLst>
                                    <p:cond delay="0"/>
                                  </p:stCondLst>
                                  <p:childTnLst>
                                    <p:set>
                                      <p:cBhvr>
                                        <p:cTn id="98" dur="1" fill="hold">
                                          <p:stCondLst>
                                            <p:cond delay="0"/>
                                          </p:stCondLst>
                                        </p:cTn>
                                        <p:tgtEl>
                                          <p:spTgt spid="40"/>
                                        </p:tgtEl>
                                        <p:attrNameLst>
                                          <p:attrName>style.visibility</p:attrName>
                                        </p:attrNameLst>
                                      </p:cBhvr>
                                      <p:to>
                                        <p:strVal val="visible"/>
                                      </p:to>
                                    </p:set>
                                    <p:animEffect transition="in" filter="fade">
                                      <p:cBhvr>
                                        <p:cTn id="99" dur="550"/>
                                        <p:tgtEl>
                                          <p:spTgt spid="40"/>
                                        </p:tgtEl>
                                      </p:cBhvr>
                                    </p:animEffect>
                                    <p:anim calcmode="lin" valueType="num">
                                      <p:cBhvr additive="base">
                                        <p:cTn id="100" dur="550" fill="hold"/>
                                        <p:tgtEl>
                                          <p:spTgt spid="40"/>
                                        </p:tgtEl>
                                        <p:attrNameLst>
                                          <p:attrName>ppt_w</p:attrName>
                                        </p:attrNameLst>
                                      </p:cBhvr>
                                      <p:tavLst>
                                        <p:tav tm="0">
                                          <p:val>
                                            <p:strVal val="0"/>
                                          </p:val>
                                        </p:tav>
                                        <p:tav tm="100000">
                                          <p:val>
                                            <p:strVal val="#ppt_w"/>
                                          </p:val>
                                        </p:tav>
                                      </p:tavLst>
                                    </p:anim>
                                    <p:anim calcmode="lin" valueType="num">
                                      <p:cBhvr additive="base">
                                        <p:cTn id="101" dur="550" fill="hold"/>
                                        <p:tgtEl>
                                          <p:spTgt spid="40"/>
                                        </p:tgtEl>
                                        <p:attrNameLst>
                                          <p:attrName>ppt_h</p:attrName>
                                        </p:attrNameLst>
                                      </p:cBhvr>
                                      <p:tavLst>
                                        <p:tav tm="0">
                                          <p:val>
                                            <p:strVal val="0"/>
                                          </p:val>
                                        </p:tav>
                                        <p:tav tm="100000">
                                          <p:val>
                                            <p:strVal val="#ppt_h"/>
                                          </p:val>
                                        </p:tav>
                                      </p:tavLst>
                                    </p:anim>
                                  </p:childTnLst>
                                </p:cTn>
                              </p:par>
                            </p:childTnLst>
                          </p:cTn>
                        </p:par>
                        <p:par>
                          <p:cTn id="102" fill="hold">
                            <p:stCondLst>
                              <p:cond delay="800"/>
                            </p:stCondLst>
                            <p:childTnLst>
                              <p:par>
                                <p:cTn id="103" presetID="42" presetClass="entr" presetSubtype="0" fill="hold" grpId="0" nodeType="afterEffect">
                                  <p:stCondLst>
                                    <p:cond delay="0"/>
                                  </p:stCondLst>
                                  <p:childTnLst>
                                    <p:set>
                                      <p:cBhvr>
                                        <p:cTn id="104" dur="1" fill="hold">
                                          <p:stCondLst>
                                            <p:cond delay="0"/>
                                          </p:stCondLst>
                                        </p:cTn>
                                        <p:tgtEl>
                                          <p:spTgt spid="41"/>
                                        </p:tgtEl>
                                        <p:attrNameLst>
                                          <p:attrName>style.visibility</p:attrName>
                                        </p:attrNameLst>
                                      </p:cBhvr>
                                      <p:to>
                                        <p:strVal val="visible"/>
                                      </p:to>
                                    </p:set>
                                    <p:animEffect transition="in" filter="fade">
                                      <p:cBhvr>
                                        <p:cTn id="105" dur="550"/>
                                        <p:tgtEl>
                                          <p:spTgt spid="41"/>
                                        </p:tgtEl>
                                      </p:cBhvr>
                                    </p:animEffect>
                                    <p:anim calcmode="lin" valueType="num">
                                      <p:cBhvr additive="base">
                                        <p:cTn id="106" dur="550" fill="hold"/>
                                        <p:tgtEl>
                                          <p:spTgt spid="41"/>
                                        </p:tgtEl>
                                        <p:attrNameLst>
                                          <p:attrName>ppt_x</p:attrName>
                                        </p:attrNameLst>
                                      </p:cBhvr>
                                      <p:tavLst>
                                        <p:tav tm="0">
                                          <p:val>
                                            <p:strVal val="#ppt_x"/>
                                          </p:val>
                                        </p:tav>
                                        <p:tav tm="100000">
                                          <p:val>
                                            <p:strVal val="#ppt_x"/>
                                          </p:val>
                                        </p:tav>
                                      </p:tavLst>
                                    </p:anim>
                                    <p:anim calcmode="lin" valueType="num">
                                      <p:cBhvr additive="base">
                                        <p:cTn id="107" dur="550" fill="hold"/>
                                        <p:tgtEl>
                                          <p:spTgt spid="41"/>
                                        </p:tgtEl>
                                        <p:attrNameLst>
                                          <p:attrName>ppt_y</p:attrName>
                                        </p:attrNameLst>
                                      </p:cBhvr>
                                      <p:tavLst>
                                        <p:tav tm="0">
                                          <p:val>
                                            <p:strVal val="#ppt_y+.08"/>
                                          </p:val>
                                        </p:tav>
                                        <p:tav tm="100000">
                                          <p:val>
                                            <p:strVal val="#ppt_y"/>
                                          </p:val>
                                        </p:tav>
                                      </p:tavLst>
                                    </p:anim>
                                  </p:childTnLst>
                                </p:cTn>
                              </p:par>
                            </p:childTnLst>
                          </p:cTn>
                        </p:par>
                        <p:par>
                          <p:cTn id="108" fill="hold">
                            <p:stCondLst>
                              <p:cond delay="1000"/>
                            </p:stCondLst>
                            <p:childTnLst>
                              <p:par>
                                <p:cTn id="109" presetID="42" presetClass="entr" presetSubtype="0" fill="hold" grpId="0" nodeType="afterEffect">
                                  <p:stCondLst>
                                    <p:cond delay="0"/>
                                  </p:stCondLst>
                                  <p:childTnLst>
                                    <p:set>
                                      <p:cBhvr>
                                        <p:cTn id="110" dur="1" fill="hold">
                                          <p:stCondLst>
                                            <p:cond delay="0"/>
                                          </p:stCondLst>
                                        </p:cTn>
                                        <p:tgtEl>
                                          <p:spTgt spid="42"/>
                                        </p:tgtEl>
                                        <p:attrNameLst>
                                          <p:attrName>style.visibility</p:attrName>
                                        </p:attrNameLst>
                                      </p:cBhvr>
                                      <p:to>
                                        <p:strVal val="visible"/>
                                      </p:to>
                                    </p:set>
                                    <p:animEffect transition="in" filter="fade">
                                      <p:cBhvr>
                                        <p:cTn id="111" dur="550"/>
                                        <p:tgtEl>
                                          <p:spTgt spid="42"/>
                                        </p:tgtEl>
                                      </p:cBhvr>
                                    </p:animEffect>
                                    <p:anim calcmode="lin" valueType="num">
                                      <p:cBhvr additive="base">
                                        <p:cTn id="112" dur="550" fill="hold"/>
                                        <p:tgtEl>
                                          <p:spTgt spid="42"/>
                                        </p:tgtEl>
                                        <p:attrNameLst>
                                          <p:attrName>ppt_x</p:attrName>
                                        </p:attrNameLst>
                                      </p:cBhvr>
                                      <p:tavLst>
                                        <p:tav tm="0">
                                          <p:val>
                                            <p:strVal val="#ppt_x"/>
                                          </p:val>
                                        </p:tav>
                                        <p:tav tm="100000">
                                          <p:val>
                                            <p:strVal val="#ppt_x"/>
                                          </p:val>
                                        </p:tav>
                                      </p:tavLst>
                                    </p:anim>
                                    <p:anim calcmode="lin" valueType="num">
                                      <p:cBhvr additive="base">
                                        <p:cTn id="113" dur="550" fill="hold"/>
                                        <p:tgtEl>
                                          <p:spTgt spid="42"/>
                                        </p:tgtEl>
                                        <p:attrNameLst>
                                          <p:attrName>ppt_y</p:attrName>
                                        </p:attrNameLst>
                                      </p:cBhvr>
                                      <p:tavLst>
                                        <p:tav tm="0">
                                          <p:val>
                                            <p:strVal val="#ppt_y+.08"/>
                                          </p:val>
                                        </p:tav>
                                        <p:tav tm="100000">
                                          <p:val>
                                            <p:strVal val="#ppt_y"/>
                                          </p:val>
                                        </p:tav>
                                      </p:tavLst>
                                    </p:anim>
                                  </p:childTnLst>
                                </p:cTn>
                              </p:par>
                            </p:childTnLst>
                          </p:cTn>
                        </p:par>
                        <p:par>
                          <p:cTn id="114" fill="hold">
                            <p:stCondLst>
                              <p:cond delay="1000"/>
                            </p:stCondLst>
                            <p:childTnLst>
                              <p:par>
                                <p:cTn id="115" presetID="42" presetClass="entr" presetSubtype="0" fill="hold" grpId="0" nodeType="afterEffect">
                                  <p:stCondLst>
                                    <p:cond delay="0"/>
                                  </p:stCondLst>
                                  <p:childTnLst>
                                    <p:set>
                                      <p:cBhvr>
                                        <p:cTn id="116" dur="1" fill="hold">
                                          <p:stCondLst>
                                            <p:cond delay="0"/>
                                          </p:stCondLst>
                                        </p:cTn>
                                        <p:tgtEl>
                                          <p:spTgt spid="43"/>
                                        </p:tgtEl>
                                        <p:attrNameLst>
                                          <p:attrName>style.visibility</p:attrName>
                                        </p:attrNameLst>
                                      </p:cBhvr>
                                      <p:to>
                                        <p:strVal val="visible"/>
                                      </p:to>
                                    </p:set>
                                    <p:animEffect transition="in" filter="fade">
                                      <p:cBhvr>
                                        <p:cTn id="117" dur="550"/>
                                        <p:tgtEl>
                                          <p:spTgt spid="43"/>
                                        </p:tgtEl>
                                      </p:cBhvr>
                                    </p:animEffect>
                                    <p:anim calcmode="lin" valueType="num">
                                      <p:cBhvr additive="base">
                                        <p:cTn id="118" dur="550" fill="hold"/>
                                        <p:tgtEl>
                                          <p:spTgt spid="43"/>
                                        </p:tgtEl>
                                        <p:attrNameLst>
                                          <p:attrName>ppt_x</p:attrName>
                                        </p:attrNameLst>
                                      </p:cBhvr>
                                      <p:tavLst>
                                        <p:tav tm="0">
                                          <p:val>
                                            <p:strVal val="#ppt_x"/>
                                          </p:val>
                                        </p:tav>
                                        <p:tav tm="100000">
                                          <p:val>
                                            <p:strVal val="#ppt_x"/>
                                          </p:val>
                                        </p:tav>
                                      </p:tavLst>
                                    </p:anim>
                                    <p:anim calcmode="lin" valueType="num">
                                      <p:cBhvr additive="base">
                                        <p:cTn id="119" dur="550" fill="hold"/>
                                        <p:tgtEl>
                                          <p:spTgt spid="43"/>
                                        </p:tgtEl>
                                        <p:attrNameLst>
                                          <p:attrName>ppt_y</p:attrName>
                                        </p:attrNameLst>
                                      </p:cBhvr>
                                      <p:tavLst>
                                        <p:tav tm="0">
                                          <p:val>
                                            <p:strVal val="#ppt_y+.08"/>
                                          </p:val>
                                        </p:tav>
                                        <p:tav tm="100000">
                                          <p:val>
                                            <p:strVal val="#ppt_y"/>
                                          </p:val>
                                        </p:tav>
                                      </p:tavLst>
                                    </p:anim>
                                  </p:childTnLst>
                                </p:cTn>
                              </p:par>
                            </p:childTnLst>
                          </p:cTn>
                        </p:par>
                        <p:par>
                          <p:cTn id="120" fill="hold">
                            <p:stCondLst>
                              <p:cond delay="1000"/>
                            </p:stCondLst>
                            <p:childTnLst>
                              <p:par>
                                <p:cTn id="121" presetID="53" presetClass="entr" presetSubtype="16" fill="hold" grpId="0" nodeType="afterEffect">
                                  <p:stCondLst>
                                    <p:cond delay="0"/>
                                  </p:stCondLst>
                                  <p:childTnLst>
                                    <p:set>
                                      <p:cBhvr>
                                        <p:cTn id="122" dur="1" fill="hold">
                                          <p:stCondLst>
                                            <p:cond delay="0"/>
                                          </p:stCondLst>
                                        </p:cTn>
                                        <p:tgtEl>
                                          <p:spTgt spid="44"/>
                                        </p:tgtEl>
                                        <p:attrNameLst>
                                          <p:attrName>style.visibility</p:attrName>
                                        </p:attrNameLst>
                                      </p:cBhvr>
                                      <p:to>
                                        <p:strVal val="visible"/>
                                      </p:to>
                                    </p:set>
                                    <p:animEffect transition="in" filter="fade">
                                      <p:cBhvr>
                                        <p:cTn id="123" dur="550"/>
                                        <p:tgtEl>
                                          <p:spTgt spid="44"/>
                                        </p:tgtEl>
                                      </p:cBhvr>
                                    </p:animEffect>
                                    <p:anim calcmode="lin" valueType="num">
                                      <p:cBhvr additive="base">
                                        <p:cTn id="124" dur="550" fill="hold"/>
                                        <p:tgtEl>
                                          <p:spTgt spid="44"/>
                                        </p:tgtEl>
                                        <p:attrNameLst>
                                          <p:attrName>ppt_w</p:attrName>
                                        </p:attrNameLst>
                                      </p:cBhvr>
                                      <p:tavLst>
                                        <p:tav tm="0">
                                          <p:val>
                                            <p:strVal val="0"/>
                                          </p:val>
                                        </p:tav>
                                        <p:tav tm="100000">
                                          <p:val>
                                            <p:strVal val="#ppt_w"/>
                                          </p:val>
                                        </p:tav>
                                      </p:tavLst>
                                    </p:anim>
                                    <p:anim calcmode="lin" valueType="num">
                                      <p:cBhvr additive="base">
                                        <p:cTn id="125" dur="550" fill="hold"/>
                                        <p:tgtEl>
                                          <p:spTgt spid="44"/>
                                        </p:tgtEl>
                                        <p:attrNameLst>
                                          <p:attrName>ppt_h</p:attrName>
                                        </p:attrNameLst>
                                      </p:cBhvr>
                                      <p:tavLst>
                                        <p:tav tm="0">
                                          <p:val>
                                            <p:strVal val="0"/>
                                          </p:val>
                                        </p:tav>
                                        <p:tav tm="100000">
                                          <p:val>
                                            <p:strVal val="#ppt_h"/>
                                          </p:val>
                                        </p:tav>
                                      </p:tavLst>
                                    </p:anim>
                                  </p:childTnLst>
                                </p:cTn>
                              </p:par>
                            </p:childTnLst>
                          </p:cTn>
                        </p:par>
                        <p:par>
                          <p:cTn id="126" fill="hold">
                            <p:stCondLst>
                              <p:cond delay="1000"/>
                            </p:stCondLst>
                            <p:childTnLst>
                              <p:par>
                                <p:cTn id="127" presetID="42" presetClass="entr" presetSubtype="0" fill="hold" grpId="0" nodeType="afterEffect">
                                  <p:stCondLst>
                                    <p:cond delay="0"/>
                                  </p:stCondLst>
                                  <p:childTnLst>
                                    <p:set>
                                      <p:cBhvr>
                                        <p:cTn id="128" dur="1" fill="hold">
                                          <p:stCondLst>
                                            <p:cond delay="0"/>
                                          </p:stCondLst>
                                        </p:cTn>
                                        <p:tgtEl>
                                          <p:spTgt spid="45"/>
                                        </p:tgtEl>
                                        <p:attrNameLst>
                                          <p:attrName>style.visibility</p:attrName>
                                        </p:attrNameLst>
                                      </p:cBhvr>
                                      <p:to>
                                        <p:strVal val="visible"/>
                                      </p:to>
                                    </p:set>
                                    <p:animEffect transition="in" filter="fade">
                                      <p:cBhvr>
                                        <p:cTn id="129" dur="550"/>
                                        <p:tgtEl>
                                          <p:spTgt spid="45"/>
                                        </p:tgtEl>
                                      </p:cBhvr>
                                    </p:animEffect>
                                    <p:anim calcmode="lin" valueType="num">
                                      <p:cBhvr additive="base">
                                        <p:cTn id="130" dur="550" fill="hold"/>
                                        <p:tgtEl>
                                          <p:spTgt spid="45"/>
                                        </p:tgtEl>
                                        <p:attrNameLst>
                                          <p:attrName>ppt_x</p:attrName>
                                        </p:attrNameLst>
                                      </p:cBhvr>
                                      <p:tavLst>
                                        <p:tav tm="0">
                                          <p:val>
                                            <p:strVal val="#ppt_x"/>
                                          </p:val>
                                        </p:tav>
                                        <p:tav tm="100000">
                                          <p:val>
                                            <p:strVal val="#ppt_x"/>
                                          </p:val>
                                        </p:tav>
                                      </p:tavLst>
                                    </p:anim>
                                    <p:anim calcmode="lin" valueType="num">
                                      <p:cBhvr additive="base">
                                        <p:cTn id="131" dur="550" fill="hold"/>
                                        <p:tgtEl>
                                          <p:spTgt spid="4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75aaee66b1893f8e.jpg"/>
          <p:cNvPicPr>
            <a:picLocks noChangeAspect="1"/>
          </p:cNvPicPr>
          <p:nvPr/>
        </p:nvPicPr>
        <p:blipFill>
          <a:blip r:embed="rId2"/>
          <a:srcRect l="271" r="271"/>
          <a:stretch>
            <a:fillRect/>
          </a:stretch>
        </p:blipFill>
        <p:spPr>
          <a:xfrm>
            <a:off x="6300000" y="800000"/>
            <a:ext cx="5300000" cy="4950000"/>
          </a:xfrm>
          <a:prstGeom prst="roundRect">
            <a:avLst/>
          </a:prstGeom>
          <a:ln w="19050">
            <a:solidFill>
              <a:srgbClr val="22D3EE"/>
            </a:solidFill>
          </a:ln>
        </p:spPr>
      </p:pic>
      <p:sp>
        <p:nvSpPr>
          <p:cNvPr id="43" name="TextBox 42"/>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Shuang Zhang, Rui Fan, Yuti Liu, Shuang Chen, Qiao Liu, Wanwen Zeng · Wikimedia Commons · CC BY 4.0</a:t>
            </a:r>
          </a:p>
        </p:txBody>
      </p:sp>
      <p:sp>
        <p:nvSpPr>
          <p:cNvPr id="44" name="TextBox 43"/>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01</a:t>
            </a:r>
          </a:p>
        </p:txBody>
      </p:sp>
      <p:sp>
        <p:nvSpPr>
          <p:cNvPr id="45" name="TextBox 44"/>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6" name="TextBox 45"/>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Transformer arxitekturasi va uning hisoblash xususiyatlari</a:t>
            </a:r>
          </a:p>
        </p:txBody>
      </p:sp>
      <p:sp>
        <p:nvSpPr>
          <p:cNvPr id="47" name="Rectangle 46"/>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9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150"/>
                            </p:stCondLst>
                            <p:childTnLst>
                              <p:par>
                                <p:cTn id="156" presetID="53" presetClass="entr" presetSubtype="16"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anim calcmode="lin" valueType="num">
                                      <p:cBhvr additive="base">
                                        <p:cTn id="159" dur="550" fill="hold"/>
                                        <p:tgtEl>
                                          <p:spTgt spid="41"/>
                                        </p:tgtEl>
                                        <p:attrNameLst>
                                          <p:attrName>ppt_w</p:attrName>
                                        </p:attrNameLst>
                                      </p:cBhvr>
                                      <p:tavLst>
                                        <p:tav tm="0">
                                          <p:val>
                                            <p:strVal val="0"/>
                                          </p:val>
                                        </p:tav>
                                        <p:tav tm="100000">
                                          <p:val>
                                            <p:strVal val="#ppt_w"/>
                                          </p:val>
                                        </p:tav>
                                      </p:tavLst>
                                    </p:anim>
                                    <p:anim calcmode="lin" valueType="num">
                                      <p:cBhvr additive="base">
                                        <p:cTn id="160" dur="550" fill="hold"/>
                                        <p:tgtEl>
                                          <p:spTgt spid="41"/>
                                        </p:tgtEl>
                                        <p:attrNameLst>
                                          <p:attrName>ppt_h</p:attrName>
                                        </p:attrNameLst>
                                      </p:cBhvr>
                                      <p:tavLst>
                                        <p:tav tm="0">
                                          <p:val>
                                            <p:strVal val="0"/>
                                          </p:val>
                                        </p:tav>
                                        <p:tav tm="100000">
                                          <p:val>
                                            <p:strVal val="#ppt_h"/>
                                          </p:val>
                                        </p:tav>
                                      </p:tavLst>
                                    </p:anim>
                                  </p:childTnLst>
                                </p:cTn>
                              </p:par>
                            </p:childTnLst>
                          </p:cTn>
                        </p:par>
                        <p:par>
                          <p:cTn id="161" fill="hold">
                            <p:stCondLst>
                              <p:cond delay="150"/>
                            </p:stCondLst>
                            <p:childTnLst>
                              <p:par>
                                <p:cTn id="162" presetID="53" presetClass="entr" presetSubtype="16" fill="hold" grpId="0" nodeType="afterEffect">
                                  <p:stCondLst>
                                    <p:cond delay="0"/>
                                  </p:stCondLst>
                                  <p:childTnLst>
                                    <p:set>
                                      <p:cBhvr>
                                        <p:cTn id="163" dur="1" fill="hold">
                                          <p:stCondLst>
                                            <p:cond delay="0"/>
                                          </p:stCondLst>
                                        </p:cTn>
                                        <p:tgtEl>
                                          <p:spTgt spid="42"/>
                                        </p:tgtEl>
                                        <p:attrNameLst>
                                          <p:attrName>style.visibility</p:attrName>
                                        </p:attrNameLst>
                                      </p:cBhvr>
                                      <p:to>
                                        <p:strVal val="visible"/>
                                      </p:to>
                                    </p:set>
                                    <p:animEffect transition="in" filter="fade">
                                      <p:cBhvr>
                                        <p:cTn id="164" dur="550"/>
                                        <p:tgtEl>
                                          <p:spTgt spid="42"/>
                                        </p:tgtEl>
                                      </p:cBhvr>
                                    </p:animEffect>
                                    <p:anim calcmode="lin" valueType="num">
                                      <p:cBhvr additive="base">
                                        <p:cTn id="165" dur="550" fill="hold"/>
                                        <p:tgtEl>
                                          <p:spTgt spid="42"/>
                                        </p:tgtEl>
                                        <p:attrNameLst>
                                          <p:attrName>ppt_w</p:attrName>
                                        </p:attrNameLst>
                                      </p:cBhvr>
                                      <p:tavLst>
                                        <p:tav tm="0">
                                          <p:val>
                                            <p:strVal val="0"/>
                                          </p:val>
                                        </p:tav>
                                        <p:tav tm="100000">
                                          <p:val>
                                            <p:strVal val="#ppt_w"/>
                                          </p:val>
                                        </p:tav>
                                      </p:tavLst>
                                    </p:anim>
                                    <p:anim calcmode="lin" valueType="num">
                                      <p:cBhvr additive="base">
                                        <p:cTn id="166" dur="550" fill="hold"/>
                                        <p:tgtEl>
                                          <p:spTgt spid="42"/>
                                        </p:tgtEl>
                                        <p:attrNameLst>
                                          <p:attrName>ppt_h</p:attrName>
                                        </p:attrNameLst>
                                      </p:cBhvr>
                                      <p:tavLst>
                                        <p:tav tm="0">
                                          <p:val>
                                            <p:strVal val="0"/>
                                          </p:val>
                                        </p:tav>
                                        <p:tav tm="100000">
                                          <p:val>
                                            <p:strVal val="#ppt_h"/>
                                          </p:val>
                                        </p:tav>
                                      </p:tavLst>
                                    </p:anim>
                                  </p:childTnLst>
                                </p:cTn>
                              </p:par>
                            </p:childTnLst>
                          </p:cTn>
                        </p:par>
                        <p:par>
                          <p:cTn id="167" fill="hold">
                            <p:stCondLst>
                              <p:cond delay="150"/>
                            </p:stCondLst>
                            <p:childTnLst>
                              <p:par>
                                <p:cTn id="168" presetID="10" presetClass="entr" presetSubtype="0"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childTnLst>
                                </p:cTn>
                              </p:par>
                            </p:childTnLst>
                          </p:cTn>
                        </p:par>
                        <p:par>
                          <p:cTn id="171" fill="hold">
                            <p:stCondLst>
                              <p:cond delay="350"/>
                            </p:stCondLst>
                            <p:childTnLst>
                              <p:par>
                                <p:cTn id="172" presetID="53" presetClass="entr" presetSubtype="16" fill="hold" grpId="0" nodeType="afterEffect">
                                  <p:stCondLst>
                                    <p:cond delay="0"/>
                                  </p:stCondLst>
                                  <p:childTnLst>
                                    <p:set>
                                      <p:cBhvr>
                                        <p:cTn id="173" dur="1" fill="hold">
                                          <p:stCondLst>
                                            <p:cond delay="0"/>
                                          </p:stCondLst>
                                        </p:cTn>
                                        <p:tgtEl>
                                          <p:spTgt spid="44"/>
                                        </p:tgtEl>
                                        <p:attrNameLst>
                                          <p:attrName>style.visibility</p:attrName>
                                        </p:attrNameLst>
                                      </p:cBhvr>
                                      <p:to>
                                        <p:strVal val="visible"/>
                                      </p:to>
                                    </p:set>
                                    <p:animEffect transition="in" filter="fade">
                                      <p:cBhvr>
                                        <p:cTn id="174" dur="550"/>
                                        <p:tgtEl>
                                          <p:spTgt spid="44"/>
                                        </p:tgtEl>
                                      </p:cBhvr>
                                    </p:animEffect>
                                    <p:anim calcmode="lin" valueType="num">
                                      <p:cBhvr additive="base">
                                        <p:cTn id="175" dur="550" fill="hold"/>
                                        <p:tgtEl>
                                          <p:spTgt spid="44"/>
                                        </p:tgtEl>
                                        <p:attrNameLst>
                                          <p:attrName>ppt_w</p:attrName>
                                        </p:attrNameLst>
                                      </p:cBhvr>
                                      <p:tavLst>
                                        <p:tav tm="0">
                                          <p:val>
                                            <p:strVal val="0"/>
                                          </p:val>
                                        </p:tav>
                                        <p:tav tm="100000">
                                          <p:val>
                                            <p:strVal val="#ppt_w"/>
                                          </p:val>
                                        </p:tav>
                                      </p:tavLst>
                                    </p:anim>
                                    <p:anim calcmode="lin" valueType="num">
                                      <p:cBhvr additive="base">
                                        <p:cTn id="176" dur="550" fill="hold"/>
                                        <p:tgtEl>
                                          <p:spTgt spid="44"/>
                                        </p:tgtEl>
                                        <p:attrNameLst>
                                          <p:attrName>ppt_h</p:attrName>
                                        </p:attrNameLst>
                                      </p:cBhvr>
                                      <p:tavLst>
                                        <p:tav tm="0">
                                          <p:val>
                                            <p:strVal val="0"/>
                                          </p:val>
                                        </p:tav>
                                        <p:tav tm="100000">
                                          <p:val>
                                            <p:strVal val="#ppt_h"/>
                                          </p:val>
                                        </p:tav>
                                      </p:tavLst>
                                    </p:anim>
                                  </p:childTnLst>
                                </p:cTn>
                              </p:par>
                            </p:childTnLst>
                          </p:cTn>
                        </p:par>
                        <p:par>
                          <p:cTn id="177" fill="hold">
                            <p:stCondLst>
                              <p:cond delay="450"/>
                            </p:stCondLst>
                            <p:childTnLst>
                              <p:par>
                                <p:cTn id="178" presetID="10" presetClass="entr" presetSubtype="0"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Effect transition="in" filter="fade">
                                      <p:cBhvr>
                                        <p:cTn id="180" dur="550"/>
                                        <p:tgtEl>
                                          <p:spTgt spid="45"/>
                                        </p:tgtEl>
                                      </p:cBhvr>
                                    </p:animEffect>
                                  </p:childTnLst>
                                </p:cTn>
                              </p:par>
                            </p:childTnLst>
                          </p:cTn>
                        </p:par>
                        <p:par>
                          <p:cTn id="181" fill="hold">
                            <p:stCondLst>
                              <p:cond delay="550"/>
                            </p:stCondLst>
                            <p:childTnLst>
                              <p:par>
                                <p:cTn id="182" presetID="2" presetClass="entr" presetSubtype="8" fill="hold" grpId="0" nodeType="afterEffect">
                                  <p:stCondLst>
                                    <p:cond delay="0"/>
                                  </p:stCondLst>
                                  <p:childTnLst>
                                    <p:set>
                                      <p:cBhvr>
                                        <p:cTn id="183" dur="1" fill="hold">
                                          <p:stCondLst>
                                            <p:cond delay="0"/>
                                          </p:stCondLst>
                                        </p:cTn>
                                        <p:tgtEl>
                                          <p:spTgt spid="46"/>
                                        </p:tgtEl>
                                        <p:attrNameLst>
                                          <p:attrName>style.visibility</p:attrName>
                                        </p:attrNameLst>
                                      </p:cBhvr>
                                      <p:to>
                                        <p:strVal val="visible"/>
                                      </p:to>
                                    </p:set>
                                    <p:anim calcmode="lin" valueType="num">
                                      <p:cBhvr additive="base">
                                        <p:cTn id="185" dur="550" fill="hold"/>
                                        <p:tgtEl>
                                          <p:spTgt spid="46"/>
                                        </p:tgtEl>
                                        <p:attrNameLst>
                                          <p:attrName>ppt_x</p:attrName>
                                        </p:attrNameLst>
                                      </p:cBhvr>
                                      <p:tavLst>
                                        <p:tav tm="0">
                                          <p:val>
                                            <p:strVal val="0-#ppt_w/2"/>
                                          </p:val>
                                        </p:tav>
                                        <p:tav tm="100000">
                                          <p:val>
                                            <p:strVal val="#ppt_x"/>
                                          </p:val>
                                        </p:tav>
                                      </p:tavLst>
                                    </p:anim>
                                    <p:anim calcmode="lin" valueType="num">
                                      <p:cBhvr additive="base">
                                        <p:cTn id="186" dur="550" fill="hold"/>
                                        <p:tgtEl>
                                          <p:spTgt spid="46"/>
                                        </p:tgtEl>
                                        <p:attrNameLst>
                                          <p:attrName>ppt_y</p:attrName>
                                        </p:attrNameLst>
                                      </p:cBhvr>
                                      <p:tavLst>
                                        <p:tav tm="0">
                                          <p:val>
                                            <p:strVal val="#ppt_y"/>
                                          </p:val>
                                        </p:tav>
                                        <p:tav tm="100000">
                                          <p:val>
                                            <p:strVal val="#ppt_y"/>
                                          </p:val>
                                        </p:tav>
                                      </p:tavLst>
                                    </p:anim>
                                  </p:childTnLst>
                                </p:cTn>
                              </p:par>
                            </p:childTnLst>
                          </p:cTn>
                        </p:par>
                        <p:par>
                          <p:cTn id="187" fill="hold">
                            <p:stCondLst>
                              <p:cond delay="650"/>
                            </p:stCondLst>
                            <p:childTnLst>
                              <p:par>
                                <p:cTn id="188" presetID="22" presetClass="entr" presetSubtype="8" fill="hold" grpId="0" nodeType="afterEffect">
                                  <p:stCondLst>
                                    <p:cond delay="0"/>
                                  </p:stCondLst>
                                  <p:childTnLst>
                                    <p:set>
                                      <p:cBhvr>
                                        <p:cTn id="189" dur="1" fill="hold">
                                          <p:stCondLst>
                                            <p:cond delay="0"/>
                                          </p:stCondLst>
                                        </p:cTn>
                                        <p:tgtEl>
                                          <p:spTgt spid="47"/>
                                        </p:tgtEl>
                                        <p:attrNameLst>
                                          <p:attrName>style.visibility</p:attrName>
                                        </p:attrNameLst>
                                      </p:cBhvr>
                                      <p:to>
                                        <p:strVal val="visible"/>
                                      </p:to>
                                    </p:set>
                                    <p:animEffect transition="in" filter="wipe(left)">
                                      <p:cBhvr>
                                        <p:cTn id="191" dur="8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3" grpId="0" animBg="1"/>
      <p:bldP spid="44" grpId="0" animBg="1"/>
      <p:bldP spid="45" grpId="0" animBg="1"/>
      <p:bldP spid="46" grpId="0" animBg="1"/>
      <p:bldP spid="47"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Transformer arxitekturasi va uning hisoblash xususiyatlari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M11 · Katta til modellari uchun kompyuter tizimlari va hisoblash infratuzilmasi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6a27f4734101be8b.jpg"/>
          <p:cNvPicPr>
            <a:picLocks noChangeAspect="1"/>
          </p:cNvPicPr>
          <p:nvPr/>
        </p:nvPicPr>
        <p:blipFill>
          <a:blip r:embed="rId2"/>
          <a:srcRect l="23199" r="23199"/>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Lawrence Systems · Wikimedia Commons · CC BY 3.0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097408"/>
            <a:ext cx="6750000" cy="16375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177408"/>
            <a:ext cx="50000" cy="147759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71620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2137408"/>
            <a:ext cx="5900000" cy="1557592"/>
          </a:xfrm>
          <a:prstGeom prst="rect">
            <a:avLst/>
          </a:prstGeom>
          <a:noFill/>
        </p:spPr>
        <p:txBody>
          <a:bodyPr wrap="square" anchor="ctr">
            <a:spAutoFit/>
          </a:bodyPr>
          <a:lstStyle/>
          <a:p>
            <a:r>
              <a:rPr sz="1400" b="1">
                <a:solidFill>
                  <a:srgbClr val="E8EEFA"/>
                </a:solidFill>
                <a:latin typeface="Segoe UI"/>
              </a:rPr>
              <a:t>Dekoder-only Transformer (zamonaviy LLM'larning aksariyati shu turda) L ta bir xil blokdan iborat.</a:t>
            </a:r>
          </a:p>
          <a:p>
            <a:pPr>
              <a:spcBef>
                <a:spcPts val="400"/>
              </a:spcBef>
            </a:pPr>
            <a:r>
              <a:rPr sz="1300">
                <a:solidFill>
                  <a:srgbClr val="AEBBD9"/>
                </a:solidFill>
                <a:latin typeface="Segoe UI"/>
              </a:rPr>
              <a:t>Har blok ikki qismdan tuziladi: ko'p boshli o'z-o'ziga diqqat (multi-head self-attention) va pozitsiya bo'yicha to'liq bog'langan tarmoq (feed-forward network, FFN), har biri qoldiq bog'lanish (residual) va normalizatsiya (LayerNorm yoki RMSNorm) bilan o'ralgan.</a:t>
            </a:r>
          </a:p>
        </p:txBody>
      </p:sp>
      <p:sp>
        <p:nvSpPr>
          <p:cNvPr id="31" name="Rounded Rectangle 30"/>
          <p:cNvSpPr/>
          <p:nvPr/>
        </p:nvSpPr>
        <p:spPr>
          <a:xfrm>
            <a:off x="550000" y="3845000"/>
            <a:ext cx="6750000" cy="16375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925000"/>
            <a:ext cx="50000" cy="147759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4463796"/>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4" name="TextBox 33"/>
          <p:cNvSpPr txBox="1"/>
          <p:nvPr/>
        </p:nvSpPr>
        <p:spPr>
          <a:xfrm>
            <a:off x="1300000" y="3885000"/>
            <a:ext cx="5900000" cy="1557592"/>
          </a:xfrm>
          <a:prstGeom prst="rect">
            <a:avLst/>
          </a:prstGeom>
          <a:noFill/>
        </p:spPr>
        <p:txBody>
          <a:bodyPr wrap="square" anchor="ctr">
            <a:spAutoFit/>
          </a:bodyPr>
          <a:lstStyle/>
          <a:p>
            <a:r>
              <a:rPr sz="1400" b="1">
                <a:solidFill>
                  <a:srgbClr val="E8EEFA"/>
                </a:solidFill>
                <a:latin typeface="Segoe UI"/>
              </a:rPr>
              <a:t>Parametrlar soni taxminan P ≈ 12 · L · d_model² (diqqat 4·d², FFN 8·d²) plus embedding V · d_model.</a:t>
            </a:r>
          </a:p>
          <a:p>
            <a:pPr>
              <a:spcBef>
                <a:spcPts val="400"/>
              </a:spcBef>
            </a:pPr>
            <a:r>
              <a:rPr sz="1300">
                <a:solidFill>
                  <a:srgbClr val="AEBBD9"/>
                </a:solidFill>
                <a:latin typeface="Segoe UI"/>
              </a:rPr>
              <a:t>Masalan, Llama 2 7B: L = 32, d_model = 4096 → 12 · 32 · 4096² ≈ 6,4 milliard, embedding bilan ≈ 6,7 milliard. Token boshiga hisoblash: har parametr bitta ko'paytirish-qo'shish, ya'ni ≈ 2P FLOP (oldinga), o'qitishda orqaga tarqatish bilan ≈ 6P FLOP.</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Transformer arxitekturasi va uning hisoblash xususiyatlari</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M11 · Katta til modellari uchun kompyuter tizimlari va hisoblash infratuzilmasi</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cf710a5104379813.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Chris Rycroft from Cambridge, Massachusetts, United States · Wikimedia Commons · CC BY 2.0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3088552"/>
            <a:ext cx="6750000" cy="140289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3168552"/>
            <a:ext cx="50000" cy="124289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29" name="TextBox 28"/>
          <p:cNvSpPr txBox="1"/>
          <p:nvPr/>
        </p:nvSpPr>
        <p:spPr>
          <a:xfrm>
            <a:off x="1300000" y="3128552"/>
            <a:ext cx="5900000" cy="1322896"/>
          </a:xfrm>
          <a:prstGeom prst="rect">
            <a:avLst/>
          </a:prstGeom>
          <a:noFill/>
        </p:spPr>
        <p:txBody>
          <a:bodyPr wrap="square" anchor="ctr">
            <a:spAutoFit/>
          </a:bodyPr>
          <a:lstStyle/>
          <a:p>
            <a:r>
              <a:rPr sz="1600" b="0">
                <a:solidFill>
                  <a:srgbClr val="E8EEFA"/>
                </a:solidFill>
                <a:latin typeface="Segoe UI"/>
              </a:rPr>
              <a:t>Zamonaviy modellarda KV-keshni kamaytirish uchun guruhlangan so'rov diqqati (grouped-query attention, GQA) ishlatiladi: 32 ta Q boshiga atigi 8 ta K/V boshi to'g'ri keladi (Llama 3, Mistral).</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3fe19331b9f4ded3.jpg"/>
          <p:cNvPicPr>
            <a:picLocks noChangeAspect="1"/>
          </p:cNvPicPr>
          <p:nvPr/>
        </p:nvPicPr>
        <p:blipFill>
          <a:blip r:embed="rId2"/>
          <a:srcRect l="19886" r="19886"/>
          <a:stretch>
            <a:fillRect/>
          </a:stretch>
        </p:blipFill>
        <p:spPr>
          <a:xfrm>
            <a:off x="6300000" y="800000"/>
            <a:ext cx="5300000" cy="4950000"/>
          </a:xfrm>
          <a:prstGeom prst="roundRect">
            <a:avLst/>
          </a:prstGeom>
          <a:ln w="19050">
            <a:solidFill>
              <a:srgbClr val="22D3EE"/>
            </a:solidFill>
          </a:ln>
        </p:spPr>
      </p:pic>
      <p:sp>
        <p:nvSpPr>
          <p:cNvPr id="43" name="TextBox 42"/>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极客湾Geekerwan · Wikimedia Commons · CC BY 3.0</a:t>
            </a:r>
          </a:p>
        </p:txBody>
      </p:sp>
      <p:sp>
        <p:nvSpPr>
          <p:cNvPr id="44" name="TextBox 43"/>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02</a:t>
            </a:r>
          </a:p>
        </p:txBody>
      </p:sp>
      <p:sp>
        <p:nvSpPr>
          <p:cNvPr id="45" name="TextBox 44"/>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6" name="TextBox 45"/>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LLM o'qitish va inferens: masshtab, xotira va tizim optimallashtirishlari</a:t>
            </a:r>
          </a:p>
        </p:txBody>
      </p:sp>
      <p:sp>
        <p:nvSpPr>
          <p:cNvPr id="47" name="Rectangle 46"/>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9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150"/>
                            </p:stCondLst>
                            <p:childTnLst>
                              <p:par>
                                <p:cTn id="156" presetID="53" presetClass="entr" presetSubtype="16"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anim calcmode="lin" valueType="num">
                                      <p:cBhvr additive="base">
                                        <p:cTn id="159" dur="550" fill="hold"/>
                                        <p:tgtEl>
                                          <p:spTgt spid="41"/>
                                        </p:tgtEl>
                                        <p:attrNameLst>
                                          <p:attrName>ppt_w</p:attrName>
                                        </p:attrNameLst>
                                      </p:cBhvr>
                                      <p:tavLst>
                                        <p:tav tm="0">
                                          <p:val>
                                            <p:strVal val="0"/>
                                          </p:val>
                                        </p:tav>
                                        <p:tav tm="100000">
                                          <p:val>
                                            <p:strVal val="#ppt_w"/>
                                          </p:val>
                                        </p:tav>
                                      </p:tavLst>
                                    </p:anim>
                                    <p:anim calcmode="lin" valueType="num">
                                      <p:cBhvr additive="base">
                                        <p:cTn id="160" dur="550" fill="hold"/>
                                        <p:tgtEl>
                                          <p:spTgt spid="41"/>
                                        </p:tgtEl>
                                        <p:attrNameLst>
                                          <p:attrName>ppt_h</p:attrName>
                                        </p:attrNameLst>
                                      </p:cBhvr>
                                      <p:tavLst>
                                        <p:tav tm="0">
                                          <p:val>
                                            <p:strVal val="0"/>
                                          </p:val>
                                        </p:tav>
                                        <p:tav tm="100000">
                                          <p:val>
                                            <p:strVal val="#ppt_h"/>
                                          </p:val>
                                        </p:tav>
                                      </p:tavLst>
                                    </p:anim>
                                  </p:childTnLst>
                                </p:cTn>
                              </p:par>
                            </p:childTnLst>
                          </p:cTn>
                        </p:par>
                        <p:par>
                          <p:cTn id="161" fill="hold">
                            <p:stCondLst>
                              <p:cond delay="150"/>
                            </p:stCondLst>
                            <p:childTnLst>
                              <p:par>
                                <p:cTn id="162" presetID="53" presetClass="entr" presetSubtype="16" fill="hold" grpId="0" nodeType="afterEffect">
                                  <p:stCondLst>
                                    <p:cond delay="0"/>
                                  </p:stCondLst>
                                  <p:childTnLst>
                                    <p:set>
                                      <p:cBhvr>
                                        <p:cTn id="163" dur="1" fill="hold">
                                          <p:stCondLst>
                                            <p:cond delay="0"/>
                                          </p:stCondLst>
                                        </p:cTn>
                                        <p:tgtEl>
                                          <p:spTgt spid="42"/>
                                        </p:tgtEl>
                                        <p:attrNameLst>
                                          <p:attrName>style.visibility</p:attrName>
                                        </p:attrNameLst>
                                      </p:cBhvr>
                                      <p:to>
                                        <p:strVal val="visible"/>
                                      </p:to>
                                    </p:set>
                                    <p:animEffect transition="in" filter="fade">
                                      <p:cBhvr>
                                        <p:cTn id="164" dur="550"/>
                                        <p:tgtEl>
                                          <p:spTgt spid="42"/>
                                        </p:tgtEl>
                                      </p:cBhvr>
                                    </p:animEffect>
                                    <p:anim calcmode="lin" valueType="num">
                                      <p:cBhvr additive="base">
                                        <p:cTn id="165" dur="550" fill="hold"/>
                                        <p:tgtEl>
                                          <p:spTgt spid="42"/>
                                        </p:tgtEl>
                                        <p:attrNameLst>
                                          <p:attrName>ppt_w</p:attrName>
                                        </p:attrNameLst>
                                      </p:cBhvr>
                                      <p:tavLst>
                                        <p:tav tm="0">
                                          <p:val>
                                            <p:strVal val="0"/>
                                          </p:val>
                                        </p:tav>
                                        <p:tav tm="100000">
                                          <p:val>
                                            <p:strVal val="#ppt_w"/>
                                          </p:val>
                                        </p:tav>
                                      </p:tavLst>
                                    </p:anim>
                                    <p:anim calcmode="lin" valueType="num">
                                      <p:cBhvr additive="base">
                                        <p:cTn id="166" dur="550" fill="hold"/>
                                        <p:tgtEl>
                                          <p:spTgt spid="42"/>
                                        </p:tgtEl>
                                        <p:attrNameLst>
                                          <p:attrName>ppt_h</p:attrName>
                                        </p:attrNameLst>
                                      </p:cBhvr>
                                      <p:tavLst>
                                        <p:tav tm="0">
                                          <p:val>
                                            <p:strVal val="0"/>
                                          </p:val>
                                        </p:tav>
                                        <p:tav tm="100000">
                                          <p:val>
                                            <p:strVal val="#ppt_h"/>
                                          </p:val>
                                        </p:tav>
                                      </p:tavLst>
                                    </p:anim>
                                  </p:childTnLst>
                                </p:cTn>
                              </p:par>
                            </p:childTnLst>
                          </p:cTn>
                        </p:par>
                        <p:par>
                          <p:cTn id="167" fill="hold">
                            <p:stCondLst>
                              <p:cond delay="150"/>
                            </p:stCondLst>
                            <p:childTnLst>
                              <p:par>
                                <p:cTn id="168" presetID="10" presetClass="entr" presetSubtype="0"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childTnLst>
                                </p:cTn>
                              </p:par>
                            </p:childTnLst>
                          </p:cTn>
                        </p:par>
                        <p:par>
                          <p:cTn id="171" fill="hold">
                            <p:stCondLst>
                              <p:cond delay="350"/>
                            </p:stCondLst>
                            <p:childTnLst>
                              <p:par>
                                <p:cTn id="172" presetID="53" presetClass="entr" presetSubtype="16" fill="hold" grpId="0" nodeType="afterEffect">
                                  <p:stCondLst>
                                    <p:cond delay="0"/>
                                  </p:stCondLst>
                                  <p:childTnLst>
                                    <p:set>
                                      <p:cBhvr>
                                        <p:cTn id="173" dur="1" fill="hold">
                                          <p:stCondLst>
                                            <p:cond delay="0"/>
                                          </p:stCondLst>
                                        </p:cTn>
                                        <p:tgtEl>
                                          <p:spTgt spid="44"/>
                                        </p:tgtEl>
                                        <p:attrNameLst>
                                          <p:attrName>style.visibility</p:attrName>
                                        </p:attrNameLst>
                                      </p:cBhvr>
                                      <p:to>
                                        <p:strVal val="visible"/>
                                      </p:to>
                                    </p:set>
                                    <p:animEffect transition="in" filter="fade">
                                      <p:cBhvr>
                                        <p:cTn id="174" dur="550"/>
                                        <p:tgtEl>
                                          <p:spTgt spid="44"/>
                                        </p:tgtEl>
                                      </p:cBhvr>
                                    </p:animEffect>
                                    <p:anim calcmode="lin" valueType="num">
                                      <p:cBhvr additive="base">
                                        <p:cTn id="175" dur="550" fill="hold"/>
                                        <p:tgtEl>
                                          <p:spTgt spid="44"/>
                                        </p:tgtEl>
                                        <p:attrNameLst>
                                          <p:attrName>ppt_w</p:attrName>
                                        </p:attrNameLst>
                                      </p:cBhvr>
                                      <p:tavLst>
                                        <p:tav tm="0">
                                          <p:val>
                                            <p:strVal val="0"/>
                                          </p:val>
                                        </p:tav>
                                        <p:tav tm="100000">
                                          <p:val>
                                            <p:strVal val="#ppt_w"/>
                                          </p:val>
                                        </p:tav>
                                      </p:tavLst>
                                    </p:anim>
                                    <p:anim calcmode="lin" valueType="num">
                                      <p:cBhvr additive="base">
                                        <p:cTn id="176" dur="550" fill="hold"/>
                                        <p:tgtEl>
                                          <p:spTgt spid="44"/>
                                        </p:tgtEl>
                                        <p:attrNameLst>
                                          <p:attrName>ppt_h</p:attrName>
                                        </p:attrNameLst>
                                      </p:cBhvr>
                                      <p:tavLst>
                                        <p:tav tm="0">
                                          <p:val>
                                            <p:strVal val="0"/>
                                          </p:val>
                                        </p:tav>
                                        <p:tav tm="100000">
                                          <p:val>
                                            <p:strVal val="#ppt_h"/>
                                          </p:val>
                                        </p:tav>
                                      </p:tavLst>
                                    </p:anim>
                                  </p:childTnLst>
                                </p:cTn>
                              </p:par>
                            </p:childTnLst>
                          </p:cTn>
                        </p:par>
                        <p:par>
                          <p:cTn id="177" fill="hold">
                            <p:stCondLst>
                              <p:cond delay="450"/>
                            </p:stCondLst>
                            <p:childTnLst>
                              <p:par>
                                <p:cTn id="178" presetID="10" presetClass="entr" presetSubtype="0"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Effect transition="in" filter="fade">
                                      <p:cBhvr>
                                        <p:cTn id="180" dur="550"/>
                                        <p:tgtEl>
                                          <p:spTgt spid="45"/>
                                        </p:tgtEl>
                                      </p:cBhvr>
                                    </p:animEffect>
                                  </p:childTnLst>
                                </p:cTn>
                              </p:par>
                            </p:childTnLst>
                          </p:cTn>
                        </p:par>
                        <p:par>
                          <p:cTn id="181" fill="hold">
                            <p:stCondLst>
                              <p:cond delay="550"/>
                            </p:stCondLst>
                            <p:childTnLst>
                              <p:par>
                                <p:cTn id="182" presetID="2" presetClass="entr" presetSubtype="8" fill="hold" grpId="0" nodeType="afterEffect">
                                  <p:stCondLst>
                                    <p:cond delay="0"/>
                                  </p:stCondLst>
                                  <p:childTnLst>
                                    <p:set>
                                      <p:cBhvr>
                                        <p:cTn id="183" dur="1" fill="hold">
                                          <p:stCondLst>
                                            <p:cond delay="0"/>
                                          </p:stCondLst>
                                        </p:cTn>
                                        <p:tgtEl>
                                          <p:spTgt spid="46"/>
                                        </p:tgtEl>
                                        <p:attrNameLst>
                                          <p:attrName>style.visibility</p:attrName>
                                        </p:attrNameLst>
                                      </p:cBhvr>
                                      <p:to>
                                        <p:strVal val="visible"/>
                                      </p:to>
                                    </p:set>
                                    <p:anim calcmode="lin" valueType="num">
                                      <p:cBhvr additive="base">
                                        <p:cTn id="185" dur="550" fill="hold"/>
                                        <p:tgtEl>
                                          <p:spTgt spid="46"/>
                                        </p:tgtEl>
                                        <p:attrNameLst>
                                          <p:attrName>ppt_x</p:attrName>
                                        </p:attrNameLst>
                                      </p:cBhvr>
                                      <p:tavLst>
                                        <p:tav tm="0">
                                          <p:val>
                                            <p:strVal val="0-#ppt_w/2"/>
                                          </p:val>
                                        </p:tav>
                                        <p:tav tm="100000">
                                          <p:val>
                                            <p:strVal val="#ppt_x"/>
                                          </p:val>
                                        </p:tav>
                                      </p:tavLst>
                                    </p:anim>
                                    <p:anim calcmode="lin" valueType="num">
                                      <p:cBhvr additive="base">
                                        <p:cTn id="186" dur="550" fill="hold"/>
                                        <p:tgtEl>
                                          <p:spTgt spid="46"/>
                                        </p:tgtEl>
                                        <p:attrNameLst>
                                          <p:attrName>ppt_y</p:attrName>
                                        </p:attrNameLst>
                                      </p:cBhvr>
                                      <p:tavLst>
                                        <p:tav tm="0">
                                          <p:val>
                                            <p:strVal val="#ppt_y"/>
                                          </p:val>
                                        </p:tav>
                                        <p:tav tm="100000">
                                          <p:val>
                                            <p:strVal val="#ppt_y"/>
                                          </p:val>
                                        </p:tav>
                                      </p:tavLst>
                                    </p:anim>
                                  </p:childTnLst>
                                </p:cTn>
                              </p:par>
                            </p:childTnLst>
                          </p:cTn>
                        </p:par>
                        <p:par>
                          <p:cTn id="187" fill="hold">
                            <p:stCondLst>
                              <p:cond delay="650"/>
                            </p:stCondLst>
                            <p:childTnLst>
                              <p:par>
                                <p:cTn id="188" presetID="22" presetClass="entr" presetSubtype="8" fill="hold" grpId="0" nodeType="afterEffect">
                                  <p:stCondLst>
                                    <p:cond delay="0"/>
                                  </p:stCondLst>
                                  <p:childTnLst>
                                    <p:set>
                                      <p:cBhvr>
                                        <p:cTn id="189" dur="1" fill="hold">
                                          <p:stCondLst>
                                            <p:cond delay="0"/>
                                          </p:stCondLst>
                                        </p:cTn>
                                        <p:tgtEl>
                                          <p:spTgt spid="47"/>
                                        </p:tgtEl>
                                        <p:attrNameLst>
                                          <p:attrName>style.visibility</p:attrName>
                                        </p:attrNameLst>
                                      </p:cBhvr>
                                      <p:to>
                                        <p:strVal val="visible"/>
                                      </p:to>
                                    </p:set>
                                    <p:animEffect transition="in" filter="wipe(left)">
                                      <p:cBhvr>
                                        <p:cTn id="191" dur="8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3" grpId="0" animBg="1"/>
      <p:bldP spid="44" grpId="0" animBg="1"/>
      <p:bldP spid="45" grpId="0" animBg="1"/>
      <p:bldP spid="46" grpId="0" animBg="1"/>
      <p:bldP spid="47"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3" name="TextBox 22"/>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LLM o'qitish va inferens: masshtab, xotira va tizim optimallashtirishlari</a:t>
            </a:r>
          </a:p>
        </p:txBody>
      </p:sp>
      <p:sp>
        <p:nvSpPr>
          <p:cNvPr id="24" name="Rectangle 23"/>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M11 · Katta til modellari uchun kompyuter tizimlari va hisoblash infratuzilmasi</a:t>
            </a:r>
          </a:p>
        </p:txBody>
      </p:sp>
      <p:sp>
        <p:nvSpPr>
          <p:cNvPr id="26" name="Rounded Rectangle 25"/>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7</a:t>
            </a:r>
          </a:p>
        </p:txBody>
      </p:sp>
      <p:sp>
        <p:nvSpPr>
          <p:cNvPr id="27" name="Rounded Rectangle 26"/>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7d63b53ff17fb657.jpg"/>
          <p:cNvPicPr>
            <a:picLocks noChangeAspect="1"/>
          </p:cNvPicPr>
          <p:nvPr/>
        </p:nvPicPr>
        <p:blipFill>
          <a:blip r:embed="rId2"/>
          <a:srcRect l="18235" r="18235"/>
          <a:stretch>
            <a:fillRect/>
          </a:stretch>
        </p:blipFill>
        <p:spPr>
          <a:xfrm>
            <a:off x="7620000" y="1430000"/>
            <a:ext cx="4050000" cy="4250000"/>
          </a:xfrm>
          <a:prstGeom prst="roundRect">
            <a:avLst/>
          </a:prstGeom>
          <a:ln w="19050">
            <a:solidFill>
              <a:srgbClr val="22D3EE"/>
            </a:solidFill>
          </a:ln>
        </p:spPr>
      </p:pic>
      <p:sp>
        <p:nvSpPr>
          <p:cNvPr id="29" name="TextBox 28"/>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Federal Bureau of Investigation · Wikimedia Commons · Public domain</a:t>
            </a:r>
          </a:p>
        </p:txBody>
      </p:sp>
      <p:sp>
        <p:nvSpPr>
          <p:cNvPr id="30" name="Rounded Rectangle 29"/>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1" name="Rounded Rectangle 30"/>
          <p:cNvSpPr/>
          <p:nvPr/>
        </p:nvSpPr>
        <p:spPr>
          <a:xfrm>
            <a:off x="550000" y="2686216"/>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2766216"/>
            <a:ext cx="50000" cy="204756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4" name="TextBox 33"/>
          <p:cNvSpPr txBox="1"/>
          <p:nvPr/>
        </p:nvSpPr>
        <p:spPr>
          <a:xfrm>
            <a:off x="1300000" y="2726216"/>
            <a:ext cx="5900000" cy="2127568"/>
          </a:xfrm>
          <a:prstGeom prst="rect">
            <a:avLst/>
          </a:prstGeom>
          <a:noFill/>
        </p:spPr>
        <p:txBody>
          <a:bodyPr wrap="square" anchor="ctr">
            <a:spAutoFit/>
          </a:bodyPr>
          <a:lstStyle/>
          <a:p>
            <a:r>
              <a:rPr sz="1700" b="1">
                <a:solidFill>
                  <a:srgbClr val="E8EEFA"/>
                </a:solidFill>
                <a:latin typeface="Segoe UI"/>
              </a:rPr>
              <a:t>O'qitish narxi oddiy formula bilan baholanadi: C ≈ 6 · P · D FLOP, bu yerda D — o'qitish tokenlari soni.</a:t>
            </a:r>
          </a:p>
          <a:p>
            <a:pPr>
              <a:spcBef>
                <a:spcPts val="400"/>
              </a:spcBef>
            </a:pPr>
            <a:r>
              <a:rPr sz="1600">
                <a:solidFill>
                  <a:srgbClr val="AEBBD9"/>
                </a:solidFill>
                <a:latin typeface="Segoe UI"/>
              </a:rPr>
              <a:t>Chinchilla tadqiqoti (Hoffmann va boshq., 2022) berilgan hisoblash byudjetida optimal nisbat D ≈ 20 · P ekanini ko'rsatdi, biroq inferens narxini hisobga olgan zamonaviy modellar ancha ko'proq tokenda o'qitiladi (Llama 3 8B — 15 trillion, ya'ni D ≈ 1900 · P).</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3"/>
                                        </p:tgtEl>
                                        <p:attrNameLst>
                                          <p:attrName>style.visibility</p:attrName>
                                        </p:attrNameLst>
                                      </p:cBhvr>
                                      <p:to>
                                        <p:strVal val="visible"/>
                                      </p:to>
                                    </p:set>
                                    <p:animEffect transition="in" filter="fade">
                                      <p:cBhvr>
                                        <p:cTn id="6" dur="550"/>
                                        <p:tgtEl>
                                          <p:spTgt spid="2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wipe(left)">
                                      <p:cBhvr>
                                        <p:cTn id="11" dur="800"/>
                                        <p:tgtEl>
                                          <p:spTgt spid="24"/>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fade">
                                      <p:cBhvr>
                                        <p:cTn id="15" dur="550"/>
                                        <p:tgtEl>
                                          <p:spTgt spid="27"/>
                                        </p:tgtEl>
                                      </p:cBhvr>
                                    </p:animEffect>
                                    <p:anim calcmode="lin" valueType="num">
                                      <p:cBhvr additive="base">
                                        <p:cTn id="16" dur="550" fill="hold"/>
                                        <p:tgtEl>
                                          <p:spTgt spid="27"/>
                                        </p:tgtEl>
                                        <p:attrNameLst>
                                          <p:attrName>ppt_w</p:attrName>
                                        </p:attrNameLst>
                                      </p:cBhvr>
                                      <p:tavLst>
                                        <p:tav tm="0">
                                          <p:val>
                                            <p:strVal val="0"/>
                                          </p:val>
                                        </p:tav>
                                        <p:tav tm="100000">
                                          <p:val>
                                            <p:strVal val="#ppt_w"/>
                                          </p:val>
                                        </p:tav>
                                      </p:tavLst>
                                    </p:anim>
                                    <p:anim calcmode="lin" valueType="num">
                                      <p:cBhvr additive="base">
                                        <p:cTn id="17" dur="550" fill="hold"/>
                                        <p:tgtEl>
                                          <p:spTgt spid="27"/>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8"/>
                                        </p:tgtEl>
                                        <p:attrNameLst>
                                          <p:attrName>style.visibility</p:attrName>
                                        </p:attrNameLst>
                                      </p:cBhvr>
                                      <p:to>
                                        <p:strVal val="visible"/>
                                      </p:to>
                                    </p:set>
                                    <p:animEffect transition="in" filter="fade">
                                      <p:cBhvr>
                                        <p:cTn id="21" dur="550"/>
                                        <p:tgtEl>
                                          <p:spTgt spid="28"/>
                                        </p:tgtEl>
                                      </p:cBhvr>
                                    </p:animEffect>
                                    <p:anim calcmode="lin" valueType="num">
                                      <p:cBhvr additive="base">
                                        <p:cTn id="22" dur="550" fill="hold"/>
                                        <p:tgtEl>
                                          <p:spTgt spid="28"/>
                                        </p:tgtEl>
                                        <p:attrNameLst>
                                          <p:attrName>ppt_w</p:attrName>
                                        </p:attrNameLst>
                                      </p:cBhvr>
                                      <p:tavLst>
                                        <p:tav tm="0">
                                          <p:val>
                                            <p:strVal val="0"/>
                                          </p:val>
                                        </p:tav>
                                        <p:tav tm="100000">
                                          <p:val>
                                            <p:strVal val="#ppt_w"/>
                                          </p:val>
                                        </p:tav>
                                      </p:tavLst>
                                    </p:anim>
                                    <p:anim calcmode="lin" valueType="num">
                                      <p:cBhvr additive="base">
                                        <p:cTn id="23" dur="550" fill="hold"/>
                                        <p:tgtEl>
                                          <p:spTgt spid="28"/>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550"/>
                                        <p:tgtEl>
                                          <p:spTgt spid="30"/>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550"/>
                                        <p:tgtEl>
                                          <p:spTgt spid="29"/>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550"/>
                                        <p:tgtEl>
                                          <p:spTgt spid="31"/>
                                        </p:tgtEl>
                                      </p:cBhvr>
                                    </p:animEffect>
                                    <p:anim calcmode="lin" valueType="num">
                                      <p:cBhvr additive="base">
                                        <p:cTn id="36" dur="550" fill="hold"/>
                                        <p:tgtEl>
                                          <p:spTgt spid="31"/>
                                        </p:tgtEl>
                                        <p:attrNameLst>
                                          <p:attrName>ppt_x</p:attrName>
                                        </p:attrNameLst>
                                      </p:cBhvr>
                                      <p:tavLst>
                                        <p:tav tm="0">
                                          <p:val>
                                            <p:strVal val="#ppt_x"/>
                                          </p:val>
                                        </p:tav>
                                        <p:tav tm="100000">
                                          <p:val>
                                            <p:strVal val="#ppt_x"/>
                                          </p:val>
                                        </p:tav>
                                      </p:tavLst>
                                    </p:anim>
                                    <p:anim calcmode="lin" valueType="num">
                                      <p:cBhvr additive="base">
                                        <p:cTn id="37" dur="550" fill="hold"/>
                                        <p:tgtEl>
                                          <p:spTgt spid="31"/>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2"/>
                                        </p:tgtEl>
                                        <p:attrNameLst>
                                          <p:attrName>style.visibility</p:attrName>
                                        </p:attrNameLst>
                                      </p:cBhvr>
                                      <p:to>
                                        <p:strVal val="visible"/>
                                      </p:to>
                                    </p:set>
                                    <p:animEffect transition="in" filter="fade">
                                      <p:cBhvr>
                                        <p:cTn id="41" dur="550"/>
                                        <p:tgtEl>
                                          <p:spTgt spid="32"/>
                                        </p:tgtEl>
                                      </p:cBhvr>
                                    </p:animEffect>
                                    <p:anim calcmode="lin" valueType="num">
                                      <p:cBhvr additive="base">
                                        <p:cTn id="42" dur="550" fill="hold"/>
                                        <p:tgtEl>
                                          <p:spTgt spid="32"/>
                                        </p:tgtEl>
                                        <p:attrNameLst>
                                          <p:attrName>ppt_x</p:attrName>
                                        </p:attrNameLst>
                                      </p:cBhvr>
                                      <p:tavLst>
                                        <p:tav tm="0">
                                          <p:val>
                                            <p:strVal val="#ppt_x"/>
                                          </p:val>
                                        </p:tav>
                                        <p:tav tm="100000">
                                          <p:val>
                                            <p:strVal val="#ppt_x"/>
                                          </p:val>
                                        </p:tav>
                                      </p:tavLst>
                                    </p:anim>
                                    <p:anim calcmode="lin" valueType="num">
                                      <p:cBhvr additive="base">
                                        <p:cTn id="43" dur="550" fill="hold"/>
                                        <p:tgtEl>
                                          <p:spTgt spid="32"/>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fade">
                                      <p:cBhvr>
                                        <p:cTn id="47" dur="550"/>
                                        <p:tgtEl>
                                          <p:spTgt spid="33"/>
                                        </p:tgtEl>
                                      </p:cBhvr>
                                    </p:animEffect>
                                    <p:anim calcmode="lin" valueType="num">
                                      <p:cBhvr additive="base">
                                        <p:cTn id="48" dur="550" fill="hold"/>
                                        <p:tgtEl>
                                          <p:spTgt spid="33"/>
                                        </p:tgtEl>
                                        <p:attrNameLst>
                                          <p:attrName>ppt_w</p:attrName>
                                        </p:attrNameLst>
                                      </p:cBhvr>
                                      <p:tavLst>
                                        <p:tav tm="0">
                                          <p:val>
                                            <p:strVal val="0"/>
                                          </p:val>
                                        </p:tav>
                                        <p:tav tm="100000">
                                          <p:val>
                                            <p:strVal val="#ppt_w"/>
                                          </p:val>
                                        </p:tav>
                                      </p:tavLst>
                                    </p:anim>
                                    <p:anim calcmode="lin" valueType="num">
                                      <p:cBhvr additive="base">
                                        <p:cTn id="49" dur="550" fill="hold"/>
                                        <p:tgtEl>
                                          <p:spTgt spid="33"/>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4"/>
                                        </p:tgtEl>
                                        <p:attrNameLst>
                                          <p:attrName>style.visibility</p:attrName>
                                        </p:attrNameLst>
                                      </p:cBhvr>
                                      <p:to>
                                        <p:strVal val="visible"/>
                                      </p:to>
                                    </p:set>
                                    <p:animEffect transition="in" filter="fade">
                                      <p:cBhvr>
                                        <p:cTn id="53" dur="550"/>
                                        <p:tgtEl>
                                          <p:spTgt spid="34"/>
                                        </p:tgtEl>
                                      </p:cBhvr>
                                    </p:animEffect>
                                    <p:anim calcmode="lin" valueType="num">
                                      <p:cBhvr additive="base">
                                        <p:cTn id="54" dur="550" fill="hold"/>
                                        <p:tgtEl>
                                          <p:spTgt spid="34"/>
                                        </p:tgtEl>
                                        <p:attrNameLst>
                                          <p:attrName>ppt_x</p:attrName>
                                        </p:attrNameLst>
                                      </p:cBhvr>
                                      <p:tavLst>
                                        <p:tav tm="0">
                                          <p:val>
                                            <p:strVal val="#ppt_x"/>
                                          </p:val>
                                        </p:tav>
                                        <p:tav tm="100000">
                                          <p:val>
                                            <p:strVal val="#ppt_x"/>
                                          </p:val>
                                        </p:tav>
                                      </p:tavLst>
                                    </p:anim>
                                    <p:anim calcmode="lin" valueType="num">
                                      <p:cBhvr additive="base">
                                        <p:cTn id="55"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7" grpId="0" animBg="1"/>
      <p:bldP spid="30" grpId="0" animBg="1"/>
      <p:bldP spid="29" grpId="0" animBg="1"/>
      <p:bldP spid="31" grpId="0" animBg="1"/>
      <p:bldP spid="32" grpId="0" animBg="1"/>
      <p:bldP spid="33" grpId="0" animBg="1"/>
      <p:bldP spid="34"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LLM o'qitish va inferens: masshtab, xotira va tizim optimallashtirishlari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M11 · Katta til modellari uchun kompyuter tizimlari va hisoblash infratuzilmasi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8</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5e64ed9f65e6a4ba.jpg"/>
          <p:cNvPicPr>
            <a:picLocks noChangeAspect="1"/>
          </p:cNvPicPr>
          <p:nvPr/>
        </p:nvPicPr>
        <p:blipFill>
          <a:blip r:embed="rId2"/>
          <a:srcRect l="23236" r="23236"/>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Maurizio Pesce from Milan, Italia · Wikimedia Commons · CC BY 2.0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632104"/>
            <a:ext cx="50000" cy="231579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0" name="TextBox 29"/>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Inferens ikki fazadan iborat.</a:t>
            </a:r>
          </a:p>
          <a:p>
            <a:pPr>
              <a:spcBef>
                <a:spcPts val="400"/>
              </a:spcBef>
            </a:pPr>
            <a:r>
              <a:rPr sz="1600">
                <a:solidFill>
                  <a:srgbClr val="AEBBD9"/>
                </a:solidFill>
                <a:latin typeface="Segoe UI"/>
              </a:rPr>
              <a:t>Prefill — promptning barcha tokenlarini bir vaqtda qayta ishlash: n_prompt tokenli prompt uchun 2 · P · n_prompt FLOP, katta matritsalar, compute-bound; u birinchi tokengacha vaqtni (TTFT) belgilaydi. Decode — har qadamda bitta token generatsiya: 2P FLOP, lekin barcha og'irliklar (2P bayt FP16'da) va KV-kesh o'qiladi, memory-bound; u tokenlar orasidagi vaqtni belgilaydi.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16" name="TextBox 15"/>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LLM o'qitish va inferens: masshtab, xotira va tizim optimallashtirishlari</a:t>
            </a:r>
          </a:p>
        </p:txBody>
      </p:sp>
      <p:sp>
        <p:nvSpPr>
          <p:cNvPr id="17" name="Rectangle 16"/>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M11 · Katta til modellari uchun kompyuter tizimlari va hisoblash infratuzilmasi</a:t>
            </a:r>
          </a:p>
        </p:txBody>
      </p:sp>
      <p:sp>
        <p:nvSpPr>
          <p:cNvPr id="19" name="Rounded Rectangle 18"/>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9</a:t>
            </a:r>
          </a:p>
        </p:txBody>
      </p:sp>
      <p:sp>
        <p:nvSpPr>
          <p:cNvPr id="20" name="Rounded Rectangle 19"/>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3a1192fc4d4728d0.jpg"/>
          <p:cNvPicPr>
            <a:picLocks noChangeAspect="1"/>
          </p:cNvPicPr>
          <p:nvPr/>
        </p:nvPicPr>
        <p:blipFill>
          <a:blip r:embed="rId2"/>
          <a:srcRect l="23199" r="23199"/>
          <a:stretch>
            <a:fillRect/>
          </a:stretch>
        </p:blipFill>
        <p:spPr>
          <a:xfrm>
            <a:off x="7620000" y="1430000"/>
            <a:ext cx="4050000" cy="4250000"/>
          </a:xfrm>
          <a:prstGeom prst="roundRect">
            <a:avLst/>
          </a:prstGeom>
          <a:ln w="19050">
            <a:solidFill>
              <a:srgbClr val="22D3EE"/>
            </a:solidFill>
          </a:ln>
        </p:spPr>
      </p:pic>
      <p:sp>
        <p:nvSpPr>
          <p:cNvPr id="22" name="TextBox 21"/>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Daniel Lu (User:dllu) · Wikimedia Commons · CC BY-SA 4.0</a:t>
            </a:r>
          </a:p>
        </p:txBody>
      </p:sp>
      <p:sp>
        <p:nvSpPr>
          <p:cNvPr id="23" name="Rounded Rectangle 22"/>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4" name="Rounded Rectangle 23"/>
          <p:cNvSpPr/>
          <p:nvPr/>
        </p:nvSpPr>
        <p:spPr>
          <a:xfrm>
            <a:off x="550000" y="1996824"/>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50000" y="2076824"/>
            <a:ext cx="50000" cy="157817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60000" y="2665912"/>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27" name="TextBox 26"/>
          <p:cNvSpPr txBox="1"/>
          <p:nvPr/>
        </p:nvSpPr>
        <p:spPr>
          <a:xfrm>
            <a:off x="1300000" y="2036824"/>
            <a:ext cx="5900000" cy="1658176"/>
          </a:xfrm>
          <a:prstGeom prst="rect">
            <a:avLst/>
          </a:prstGeom>
          <a:noFill/>
        </p:spPr>
        <p:txBody>
          <a:bodyPr wrap="square" anchor="ctr">
            <a:spAutoFit/>
          </a:bodyPr>
          <a:lstStyle/>
          <a:p>
            <a:r>
              <a:rPr sz="1500" b="1">
                <a:solidFill>
                  <a:srgbClr val="E8EEFA"/>
                </a:solidFill>
                <a:latin typeface="Segoe UI"/>
              </a:rPr>
              <a:t>KV-kesh — dekodlashda har qadamda oldingi tokenlarning K va V vektorlarini qayta hisoblamaslik uchun saqlanadigan xotira.</a:t>
            </a:r>
          </a:p>
          <a:p>
            <a:pPr>
              <a:spcBef>
                <a:spcPts val="400"/>
              </a:spcBef>
            </a:pPr>
            <a:r>
              <a:rPr sz="1400">
                <a:solidFill>
                  <a:srgbClr val="AEBBD9"/>
                </a:solidFill>
                <a:latin typeface="Segoe UI"/>
              </a:rPr>
              <a:t>Token boshiga hajmi: 2 · L · n_kv_heads · d_head · bayt. Llama 2 7B (MHA, 32 bosh): 2 · 32 · 32 · 128 · 2 = 512 KB/token; Llama 3.1 8B (GQA, 8 bosh): 2 · 32 · 8 · 128 · 2 = 128 KB/token; Llama 3.1 70B: 2 · 80 · 8 · 128 · 2 = 320 KB/token.</a:t>
            </a:r>
          </a:p>
        </p:txBody>
      </p:sp>
      <p:sp>
        <p:nvSpPr>
          <p:cNvPr id="28" name="Rounded Rectangle 27"/>
          <p:cNvSpPr/>
          <p:nvPr/>
        </p:nvSpPr>
        <p:spPr>
          <a:xfrm>
            <a:off x="550000" y="3845000"/>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3925000"/>
            <a:ext cx="50000" cy="1578176"/>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4514088"/>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1" name="TextBox 30"/>
          <p:cNvSpPr txBox="1"/>
          <p:nvPr/>
        </p:nvSpPr>
        <p:spPr>
          <a:xfrm>
            <a:off x="1300000" y="3885000"/>
            <a:ext cx="5900000" cy="1658176"/>
          </a:xfrm>
          <a:prstGeom prst="rect">
            <a:avLst/>
          </a:prstGeom>
          <a:noFill/>
        </p:spPr>
        <p:txBody>
          <a:bodyPr wrap="square" anchor="ctr">
            <a:spAutoFit/>
          </a:bodyPr>
          <a:lstStyle/>
          <a:p>
            <a:r>
              <a:rPr sz="1400" b="0">
                <a:solidFill>
                  <a:srgbClr val="E8EEFA"/>
                </a:solidFill>
                <a:latin typeface="Segoe UI"/>
              </a:rPr>
              <a:t>Ikkinchi asosiy optimallashtirish — uzluksiz partiyalash (continuous batching, Orca tizimidan): partiya butun so'rovlar darajasida emas, iteratsiya darajasida tuziladi; bitta ketma-ketlik tugashi bilan uning o'rnini navbatdagi so'rov egallaydi, GPU hech…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6"/>
                                        </p:tgtEl>
                                        <p:attrNameLst>
                                          <p:attrName>style.visibility</p:attrName>
                                        </p:attrNameLst>
                                      </p:cBhvr>
                                      <p:to>
                                        <p:strVal val="visible"/>
                                      </p:to>
                                    </p:set>
                                    <p:animEffect transition="in" filter="fade">
                                      <p:cBhvr>
                                        <p:cTn id="6" dur="550"/>
                                        <p:tgtEl>
                                          <p:spTgt spid="16"/>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wipe(left)">
                                      <p:cBhvr>
                                        <p:cTn id="11" dur="800"/>
                                        <p:tgtEl>
                                          <p:spTgt spid="17"/>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550"/>
                                        <p:tgtEl>
                                          <p:spTgt spid="20"/>
                                        </p:tgtEl>
                                      </p:cBhvr>
                                    </p:animEffect>
                                    <p:anim calcmode="lin" valueType="num">
                                      <p:cBhvr additive="base">
                                        <p:cTn id="16" dur="550" fill="hold"/>
                                        <p:tgtEl>
                                          <p:spTgt spid="20"/>
                                        </p:tgtEl>
                                        <p:attrNameLst>
                                          <p:attrName>ppt_w</p:attrName>
                                        </p:attrNameLst>
                                      </p:cBhvr>
                                      <p:tavLst>
                                        <p:tav tm="0">
                                          <p:val>
                                            <p:strVal val="0"/>
                                          </p:val>
                                        </p:tav>
                                        <p:tav tm="100000">
                                          <p:val>
                                            <p:strVal val="#ppt_w"/>
                                          </p:val>
                                        </p:tav>
                                      </p:tavLst>
                                    </p:anim>
                                    <p:anim calcmode="lin" valueType="num">
                                      <p:cBhvr additive="base">
                                        <p:cTn id="17" dur="550" fill="hold"/>
                                        <p:tgtEl>
                                          <p:spTgt spid="20"/>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1"/>
                                        </p:tgtEl>
                                        <p:attrNameLst>
                                          <p:attrName>style.visibility</p:attrName>
                                        </p:attrNameLst>
                                      </p:cBhvr>
                                      <p:to>
                                        <p:strVal val="visible"/>
                                      </p:to>
                                    </p:set>
                                    <p:animEffect transition="in" filter="fade">
                                      <p:cBhvr>
                                        <p:cTn id="21" dur="550"/>
                                        <p:tgtEl>
                                          <p:spTgt spid="21"/>
                                        </p:tgtEl>
                                      </p:cBhvr>
                                    </p:animEffect>
                                    <p:anim calcmode="lin" valueType="num">
                                      <p:cBhvr additive="base">
                                        <p:cTn id="22" dur="550" fill="hold"/>
                                        <p:tgtEl>
                                          <p:spTgt spid="21"/>
                                        </p:tgtEl>
                                        <p:attrNameLst>
                                          <p:attrName>ppt_w</p:attrName>
                                        </p:attrNameLst>
                                      </p:cBhvr>
                                      <p:tavLst>
                                        <p:tav tm="0">
                                          <p:val>
                                            <p:strVal val="0"/>
                                          </p:val>
                                        </p:tav>
                                        <p:tav tm="100000">
                                          <p:val>
                                            <p:strVal val="#ppt_w"/>
                                          </p:val>
                                        </p:tav>
                                      </p:tavLst>
                                    </p:anim>
                                    <p:anim calcmode="lin" valueType="num">
                                      <p:cBhvr additive="base">
                                        <p:cTn id="23" dur="550" fill="hold"/>
                                        <p:tgtEl>
                                          <p:spTgt spid="21"/>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550"/>
                                        <p:tgtEl>
                                          <p:spTgt spid="23"/>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2"/>
                                        </p:tgtEl>
                                        <p:attrNameLst>
                                          <p:attrName>style.visibility</p:attrName>
                                        </p:attrNameLst>
                                      </p:cBhvr>
                                      <p:to>
                                        <p:strVal val="visible"/>
                                      </p:to>
                                    </p:set>
                                    <p:animEffect transition="in" filter="fade">
                                      <p:cBhvr>
                                        <p:cTn id="31" dur="550"/>
                                        <p:tgtEl>
                                          <p:spTgt spid="22"/>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4"/>
                                        </p:tgtEl>
                                        <p:attrNameLst>
                                          <p:attrName>style.visibility</p:attrName>
                                        </p:attrNameLst>
                                      </p:cBhvr>
                                      <p:to>
                                        <p:strVal val="visible"/>
                                      </p:to>
                                    </p:set>
                                    <p:animEffect transition="in" filter="fade">
                                      <p:cBhvr>
                                        <p:cTn id="35" dur="550"/>
                                        <p:tgtEl>
                                          <p:spTgt spid="24"/>
                                        </p:tgtEl>
                                      </p:cBhvr>
                                    </p:animEffect>
                                    <p:anim calcmode="lin" valueType="num">
                                      <p:cBhvr additive="base">
                                        <p:cTn id="36" dur="550" fill="hold"/>
                                        <p:tgtEl>
                                          <p:spTgt spid="24"/>
                                        </p:tgtEl>
                                        <p:attrNameLst>
                                          <p:attrName>ppt_x</p:attrName>
                                        </p:attrNameLst>
                                      </p:cBhvr>
                                      <p:tavLst>
                                        <p:tav tm="0">
                                          <p:val>
                                            <p:strVal val="#ppt_x"/>
                                          </p:val>
                                        </p:tav>
                                        <p:tav tm="100000">
                                          <p:val>
                                            <p:strVal val="#ppt_x"/>
                                          </p:val>
                                        </p:tav>
                                      </p:tavLst>
                                    </p:anim>
                                    <p:anim calcmode="lin" valueType="num">
                                      <p:cBhvr additive="base">
                                        <p:cTn id="37" dur="550" fill="hold"/>
                                        <p:tgtEl>
                                          <p:spTgt spid="24"/>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5"/>
                                        </p:tgtEl>
                                        <p:attrNameLst>
                                          <p:attrName>style.visibility</p:attrName>
                                        </p:attrNameLst>
                                      </p:cBhvr>
                                      <p:to>
                                        <p:strVal val="visible"/>
                                      </p:to>
                                    </p:set>
                                    <p:animEffect transition="in" filter="fade">
                                      <p:cBhvr>
                                        <p:cTn id="41" dur="550"/>
                                        <p:tgtEl>
                                          <p:spTgt spid="25"/>
                                        </p:tgtEl>
                                      </p:cBhvr>
                                    </p:animEffect>
                                    <p:anim calcmode="lin" valueType="num">
                                      <p:cBhvr additive="base">
                                        <p:cTn id="42" dur="550" fill="hold"/>
                                        <p:tgtEl>
                                          <p:spTgt spid="25"/>
                                        </p:tgtEl>
                                        <p:attrNameLst>
                                          <p:attrName>ppt_x</p:attrName>
                                        </p:attrNameLst>
                                      </p:cBhvr>
                                      <p:tavLst>
                                        <p:tav tm="0">
                                          <p:val>
                                            <p:strVal val="#ppt_x"/>
                                          </p:val>
                                        </p:tav>
                                        <p:tav tm="100000">
                                          <p:val>
                                            <p:strVal val="#ppt_x"/>
                                          </p:val>
                                        </p:tav>
                                      </p:tavLst>
                                    </p:anim>
                                    <p:anim calcmode="lin" valueType="num">
                                      <p:cBhvr additive="base">
                                        <p:cTn id="43" dur="550" fill="hold"/>
                                        <p:tgtEl>
                                          <p:spTgt spid="25"/>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6"/>
                                        </p:tgtEl>
                                        <p:attrNameLst>
                                          <p:attrName>style.visibility</p:attrName>
                                        </p:attrNameLst>
                                      </p:cBhvr>
                                      <p:to>
                                        <p:strVal val="visible"/>
                                      </p:to>
                                    </p:set>
                                    <p:animEffect transition="in" filter="fade">
                                      <p:cBhvr>
                                        <p:cTn id="47" dur="550"/>
                                        <p:tgtEl>
                                          <p:spTgt spid="26"/>
                                        </p:tgtEl>
                                      </p:cBhvr>
                                    </p:animEffect>
                                    <p:anim calcmode="lin" valueType="num">
                                      <p:cBhvr additive="base">
                                        <p:cTn id="48" dur="550" fill="hold"/>
                                        <p:tgtEl>
                                          <p:spTgt spid="26"/>
                                        </p:tgtEl>
                                        <p:attrNameLst>
                                          <p:attrName>ppt_w</p:attrName>
                                        </p:attrNameLst>
                                      </p:cBhvr>
                                      <p:tavLst>
                                        <p:tav tm="0">
                                          <p:val>
                                            <p:strVal val="0"/>
                                          </p:val>
                                        </p:tav>
                                        <p:tav tm="100000">
                                          <p:val>
                                            <p:strVal val="#ppt_w"/>
                                          </p:val>
                                        </p:tav>
                                      </p:tavLst>
                                    </p:anim>
                                    <p:anim calcmode="lin" valueType="num">
                                      <p:cBhvr additive="base">
                                        <p:cTn id="49" dur="550" fill="hold"/>
                                        <p:tgtEl>
                                          <p:spTgt spid="26"/>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7"/>
                                        </p:tgtEl>
                                        <p:attrNameLst>
                                          <p:attrName>style.visibility</p:attrName>
                                        </p:attrNameLst>
                                      </p:cBhvr>
                                      <p:to>
                                        <p:strVal val="visible"/>
                                      </p:to>
                                    </p:set>
                                    <p:animEffect transition="in" filter="fade">
                                      <p:cBhvr>
                                        <p:cTn id="53" dur="550"/>
                                        <p:tgtEl>
                                          <p:spTgt spid="27"/>
                                        </p:tgtEl>
                                      </p:cBhvr>
                                    </p:animEffect>
                                    <p:anim calcmode="lin" valueType="num">
                                      <p:cBhvr additive="base">
                                        <p:cTn id="54" dur="550" fill="hold"/>
                                        <p:tgtEl>
                                          <p:spTgt spid="27"/>
                                        </p:tgtEl>
                                        <p:attrNameLst>
                                          <p:attrName>ppt_x</p:attrName>
                                        </p:attrNameLst>
                                      </p:cBhvr>
                                      <p:tavLst>
                                        <p:tav tm="0">
                                          <p:val>
                                            <p:strVal val="#ppt_x"/>
                                          </p:val>
                                        </p:tav>
                                        <p:tav tm="100000">
                                          <p:val>
                                            <p:strVal val="#ppt_x"/>
                                          </p:val>
                                        </p:tav>
                                      </p:tavLst>
                                    </p:anim>
                                    <p:anim calcmode="lin" valueType="num">
                                      <p:cBhvr additive="base">
                                        <p:cTn id="55" dur="550" fill="hold"/>
                                        <p:tgtEl>
                                          <p:spTgt spid="27"/>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28"/>
                                        </p:tgtEl>
                                        <p:attrNameLst>
                                          <p:attrName>style.visibility</p:attrName>
                                        </p:attrNameLst>
                                      </p:cBhvr>
                                      <p:to>
                                        <p:strVal val="visible"/>
                                      </p:to>
                                    </p:set>
                                    <p:animEffect transition="in" filter="fade">
                                      <p:cBhvr>
                                        <p:cTn id="59" dur="550"/>
                                        <p:tgtEl>
                                          <p:spTgt spid="28"/>
                                        </p:tgtEl>
                                      </p:cBhvr>
                                    </p:animEffect>
                                    <p:anim calcmode="lin" valueType="num">
                                      <p:cBhvr additive="base">
                                        <p:cTn id="60" dur="550" fill="hold"/>
                                        <p:tgtEl>
                                          <p:spTgt spid="28"/>
                                        </p:tgtEl>
                                        <p:attrNameLst>
                                          <p:attrName>ppt_x</p:attrName>
                                        </p:attrNameLst>
                                      </p:cBhvr>
                                      <p:tavLst>
                                        <p:tav tm="0">
                                          <p:val>
                                            <p:strVal val="#ppt_x"/>
                                          </p:val>
                                        </p:tav>
                                        <p:tav tm="100000">
                                          <p:val>
                                            <p:strVal val="#ppt_x"/>
                                          </p:val>
                                        </p:tav>
                                      </p:tavLst>
                                    </p:anim>
                                    <p:anim calcmode="lin" valueType="num">
                                      <p:cBhvr additive="base">
                                        <p:cTn id="61" dur="550" fill="hold"/>
                                        <p:tgtEl>
                                          <p:spTgt spid="28"/>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29"/>
                                        </p:tgtEl>
                                        <p:attrNameLst>
                                          <p:attrName>style.visibility</p:attrName>
                                        </p:attrNameLst>
                                      </p:cBhvr>
                                      <p:to>
                                        <p:strVal val="visible"/>
                                      </p:to>
                                    </p:set>
                                    <p:animEffect transition="in" filter="fade">
                                      <p:cBhvr>
                                        <p:cTn id="65" dur="550"/>
                                        <p:tgtEl>
                                          <p:spTgt spid="29"/>
                                        </p:tgtEl>
                                      </p:cBhvr>
                                    </p:animEffect>
                                    <p:anim calcmode="lin" valueType="num">
                                      <p:cBhvr additive="base">
                                        <p:cTn id="66" dur="550" fill="hold"/>
                                        <p:tgtEl>
                                          <p:spTgt spid="29"/>
                                        </p:tgtEl>
                                        <p:attrNameLst>
                                          <p:attrName>ppt_x</p:attrName>
                                        </p:attrNameLst>
                                      </p:cBhvr>
                                      <p:tavLst>
                                        <p:tav tm="0">
                                          <p:val>
                                            <p:strVal val="#ppt_x"/>
                                          </p:val>
                                        </p:tav>
                                        <p:tav tm="100000">
                                          <p:val>
                                            <p:strVal val="#ppt_x"/>
                                          </p:val>
                                        </p:tav>
                                      </p:tavLst>
                                    </p:anim>
                                    <p:anim calcmode="lin" valueType="num">
                                      <p:cBhvr additive="base">
                                        <p:cTn id="67" dur="550" fill="hold"/>
                                        <p:tgtEl>
                                          <p:spTgt spid="29"/>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0"/>
                                        </p:tgtEl>
                                        <p:attrNameLst>
                                          <p:attrName>style.visibility</p:attrName>
                                        </p:attrNameLst>
                                      </p:cBhvr>
                                      <p:to>
                                        <p:strVal val="visible"/>
                                      </p:to>
                                    </p:set>
                                    <p:animEffect transition="in" filter="fade">
                                      <p:cBhvr>
                                        <p:cTn id="71" dur="550"/>
                                        <p:tgtEl>
                                          <p:spTgt spid="30"/>
                                        </p:tgtEl>
                                      </p:cBhvr>
                                    </p:animEffect>
                                    <p:anim calcmode="lin" valueType="num">
                                      <p:cBhvr additive="base">
                                        <p:cTn id="72" dur="550" fill="hold"/>
                                        <p:tgtEl>
                                          <p:spTgt spid="30"/>
                                        </p:tgtEl>
                                        <p:attrNameLst>
                                          <p:attrName>ppt_w</p:attrName>
                                        </p:attrNameLst>
                                      </p:cBhvr>
                                      <p:tavLst>
                                        <p:tav tm="0">
                                          <p:val>
                                            <p:strVal val="0"/>
                                          </p:val>
                                        </p:tav>
                                        <p:tav tm="100000">
                                          <p:val>
                                            <p:strVal val="#ppt_w"/>
                                          </p:val>
                                        </p:tav>
                                      </p:tavLst>
                                    </p:anim>
                                    <p:anim calcmode="lin" valueType="num">
                                      <p:cBhvr additive="base">
                                        <p:cTn id="73" dur="550" fill="hold"/>
                                        <p:tgtEl>
                                          <p:spTgt spid="30"/>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1"/>
                                        </p:tgtEl>
                                        <p:attrNameLst>
                                          <p:attrName>style.visibility</p:attrName>
                                        </p:attrNameLst>
                                      </p:cBhvr>
                                      <p:to>
                                        <p:strVal val="visible"/>
                                      </p:to>
                                    </p:set>
                                    <p:animEffect transition="in" filter="fade">
                                      <p:cBhvr>
                                        <p:cTn id="77" dur="550"/>
                                        <p:tgtEl>
                                          <p:spTgt spid="31"/>
                                        </p:tgtEl>
                                      </p:cBhvr>
                                    </p:animEffect>
                                    <p:anim calcmode="lin" valueType="num">
                                      <p:cBhvr additive="base">
                                        <p:cTn id="78" dur="550" fill="hold"/>
                                        <p:tgtEl>
                                          <p:spTgt spid="31"/>
                                        </p:tgtEl>
                                        <p:attrNameLst>
                                          <p:attrName>ppt_x</p:attrName>
                                        </p:attrNameLst>
                                      </p:cBhvr>
                                      <p:tavLst>
                                        <p:tav tm="0">
                                          <p:val>
                                            <p:strVal val="#ppt_x"/>
                                          </p:val>
                                        </p:tav>
                                        <p:tav tm="100000">
                                          <p:val>
                                            <p:strVal val="#ppt_x"/>
                                          </p:val>
                                        </p:tav>
                                      </p:tavLst>
                                    </p:anim>
                                    <p:anim calcmode="lin" valueType="num">
                                      <p:cBhvr additive="base">
                                        <p:cTn id="79"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20" grpId="0" animBg="1"/>
      <p:bldP spid="23" grpId="0" animBg="1"/>
      <p:bldP spid="22" grpId="0" animBg="1"/>
      <p:bldP spid="24" grpId="0" animBg="1"/>
      <p:bldP spid="25" grpId="0" animBg="1"/>
      <p:bldP spid="26" grpId="0" animBg="1"/>
      <p:bldP spid="27" grpId="0" animBg="1"/>
      <p:bldP spid="28" grpId="0" animBg="1"/>
      <p:bldP spid="29" grpId="0" animBg="1"/>
      <p:bldP spid="30" grpId="0" animBg="1"/>
      <p:bldP spid="31"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LLM o'qitish va inferens: masshtab, xotira va tizim optimallashtirishlari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M11 · Katta til modellari uchun kompyuter tizimlari va hisoblash infratuzilmasi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10</a:t>
            </a:r>
          </a:p>
        </p:txBody>
      </p:sp>
      <p:graphicFrame>
        <p:nvGraphicFramePr>
          <p:cNvPr id="25" name="Table 24"/>
          <p:cNvGraphicFramePr>
            <a:graphicFrameLocks noGrp="1"/>
          </p:cNvGraphicFramePr>
          <p:nvPr/>
        </p:nvGraphicFramePr>
        <p:xfrm>
          <a:off x="550000" y="1400000"/>
          <a:ext cx="11100000" cy="3640000"/>
        </p:xfrm>
        <a:graphic>
          <a:graphicData uri="http://schemas.openxmlformats.org/drawingml/2006/table">
            <a:tbl>
              <a:tblPr firstRow="1" bandRow="1">
                <a:tableStyleId>{5C22544A-7EE6-4342-B048-85BDC9FD1C3A}</a:tableStyleId>
              </a:tblPr>
              <a:tblGrid>
                <a:gridCol w="2775000"/>
                <a:gridCol w="2775000"/>
                <a:gridCol w="2775000"/>
                <a:gridCol w="2775000"/>
              </a:tblGrid>
              <a:tr h="520000">
                <a:tc>
                  <a:txBody>
                    <a:bodyPr/>
                    <a:lstStyle/>
                    <a:p>
                      <a:r>
                        <a:rPr sz="1400" b="1">
                          <a:solidFill>
                            <a:srgbClr val="22D3EE"/>
                          </a:solidFill>
                          <a:latin typeface="Segoe UI"/>
                        </a:rPr>
                        <a:t>Usul</a:t>
                      </a:r>
                    </a:p>
                  </a:txBody>
                  <a:tcPr>
                    <a:solidFill>
                      <a:srgbClr val="1C2755"/>
                    </a:solidFill>
                  </a:tcPr>
                </a:tc>
                <a:tc>
                  <a:txBody>
                    <a:bodyPr/>
                    <a:lstStyle/>
                    <a:p>
                      <a:r>
                        <a:rPr sz="1400" b="1">
                          <a:solidFill>
                            <a:srgbClr val="22D3EE"/>
                          </a:solidFill>
                          <a:latin typeface="Segoe UI"/>
                        </a:rPr>
                        <a:t>Nimani yaxshilaydi</a:t>
                      </a:r>
                    </a:p>
                  </a:txBody>
                  <a:tcPr>
                    <a:solidFill>
                      <a:srgbClr val="1C2755"/>
                    </a:solidFill>
                  </a:tcPr>
                </a:tc>
                <a:tc>
                  <a:txBody>
                    <a:bodyPr/>
                    <a:lstStyle/>
                    <a:p>
                      <a:r>
                        <a:rPr sz="1400" b="1">
                          <a:solidFill>
                            <a:srgbClr val="22D3EE"/>
                          </a:solidFill>
                          <a:latin typeface="Segoe UI"/>
                        </a:rPr>
                        <a:t>Mexanizm</a:t>
                      </a:r>
                    </a:p>
                  </a:txBody>
                  <a:tcPr>
                    <a:solidFill>
                      <a:srgbClr val="1C2755"/>
                    </a:solidFill>
                  </a:tcPr>
                </a:tc>
                <a:tc>
                  <a:txBody>
                    <a:bodyPr/>
                    <a:lstStyle/>
                    <a:p>
                      <a:r>
                        <a:rPr sz="1400" b="1">
                          <a:solidFill>
                            <a:srgbClr val="22D3EE"/>
                          </a:solidFill>
                          <a:latin typeface="Segoe UI"/>
                        </a:rPr>
                        <a:t>Tipik yutuq</a:t>
                      </a:r>
                    </a:p>
                  </a:txBody>
                  <a:tcPr>
                    <a:solidFill>
                      <a:srgbClr val="1C2755"/>
                    </a:solidFill>
                  </a:tcPr>
                </a:tc>
              </a:tr>
              <a:tr h="520000">
                <a:tc>
                  <a:txBody>
                    <a:bodyPr/>
                    <a:lstStyle/>
                    <a:p>
                      <a:r>
                        <a:rPr sz="1400" b="0">
                          <a:solidFill>
                            <a:srgbClr val="E8EEFA"/>
                          </a:solidFill>
                          <a:latin typeface="Segoe UI"/>
                        </a:rPr>
                        <a:t>FlashAttention</a:t>
                      </a:r>
                    </a:p>
                  </a:txBody>
                  <a:tcPr>
                    <a:solidFill>
                      <a:srgbClr val="111834"/>
                    </a:solidFill>
                  </a:tcPr>
                </a:tc>
                <a:tc>
                  <a:txBody>
                    <a:bodyPr/>
                    <a:lstStyle/>
                    <a:p>
                      <a:r>
                        <a:rPr sz="1400" b="0">
                          <a:solidFill>
                            <a:srgbClr val="E8EEFA"/>
                          </a:solidFill>
                          <a:latin typeface="Segoe UI"/>
                        </a:rPr>
                        <a:t>Prefill tezligi, uzun kontekst xotirasi</a:t>
                      </a:r>
                    </a:p>
                  </a:txBody>
                  <a:tcPr>
                    <a:solidFill>
                      <a:srgbClr val="111834"/>
                    </a:solidFill>
                  </a:tcPr>
                </a:tc>
                <a:tc>
                  <a:txBody>
                    <a:bodyPr/>
                    <a:lstStyle/>
                    <a:p>
                      <a:r>
                        <a:rPr sz="1400" b="0">
                          <a:solidFill>
                            <a:srgbClr val="E8EEFA"/>
                          </a:solidFill>
                          <a:latin typeface="Segoe UI"/>
                        </a:rPr>
                        <a:t>SRAM'da bloklab hisoblash</a:t>
                      </a:r>
                    </a:p>
                  </a:txBody>
                  <a:tcPr>
                    <a:solidFill>
                      <a:srgbClr val="111834"/>
                    </a:solidFill>
                  </a:tcPr>
                </a:tc>
                <a:tc>
                  <a:txBody>
                    <a:bodyPr/>
                    <a:lstStyle/>
                    <a:p>
                      <a:r>
                        <a:rPr sz="1400" b="0">
                          <a:solidFill>
                            <a:srgbClr val="E8EEFA"/>
                          </a:solidFill>
                          <a:latin typeface="Segoe UI"/>
                        </a:rPr>
                        <a:t>2–4× tezroq, xotira O(n)</a:t>
                      </a:r>
                    </a:p>
                  </a:txBody>
                  <a:tcPr>
                    <a:solidFill>
                      <a:srgbClr val="111834"/>
                    </a:solidFill>
                  </a:tcPr>
                </a:tc>
              </a:tr>
              <a:tr h="520000">
                <a:tc>
                  <a:txBody>
                    <a:bodyPr/>
                    <a:lstStyle/>
                    <a:p>
                      <a:r>
                        <a:rPr sz="1400" b="0">
                          <a:solidFill>
                            <a:srgbClr val="E8EEFA"/>
                          </a:solidFill>
                          <a:latin typeface="Segoe UI"/>
                        </a:rPr>
                        <a:t>PagedAttention</a:t>
                      </a:r>
                    </a:p>
                  </a:txBody>
                  <a:tcPr>
                    <a:solidFill>
                      <a:srgbClr val="161F40"/>
                    </a:solidFill>
                  </a:tcPr>
                </a:tc>
                <a:tc>
                  <a:txBody>
                    <a:bodyPr/>
                    <a:lstStyle/>
                    <a:p>
                      <a:r>
                        <a:rPr sz="1400" b="0">
                          <a:solidFill>
                            <a:srgbClr val="E8EEFA"/>
                          </a:solidFill>
                          <a:latin typeface="Segoe UI"/>
                        </a:rPr>
                        <a:t>KV-kesh sig'imi, throughput</a:t>
                      </a:r>
                    </a:p>
                  </a:txBody>
                  <a:tcPr>
                    <a:solidFill>
                      <a:srgbClr val="161F40"/>
                    </a:solidFill>
                  </a:tcPr>
                </a:tc>
                <a:tc>
                  <a:txBody>
                    <a:bodyPr/>
                    <a:lstStyle/>
                    <a:p>
                      <a:r>
                        <a:rPr sz="1400" b="0">
                          <a:solidFill>
                            <a:srgbClr val="E8EEFA"/>
                          </a:solidFill>
                          <a:latin typeface="Segoe UI"/>
                        </a:rPr>
                        <a:t>Sahifalangan xotira</a:t>
                      </a:r>
                    </a:p>
                  </a:txBody>
                  <a:tcPr>
                    <a:solidFill>
                      <a:srgbClr val="161F40"/>
                    </a:solidFill>
                  </a:tcPr>
                </a:tc>
                <a:tc>
                  <a:txBody>
                    <a:bodyPr/>
                    <a:lstStyle/>
                    <a:p>
                      <a:r>
                        <a:rPr sz="1400" b="0">
                          <a:solidFill>
                            <a:srgbClr val="E8EEFA"/>
                          </a:solidFill>
                          <a:latin typeface="Segoe UI"/>
                        </a:rPr>
                        <a:t>Isrof 60–80 % → 4 % dan kam</a:t>
                      </a:r>
                    </a:p>
                  </a:txBody>
                  <a:tcPr>
                    <a:solidFill>
                      <a:srgbClr val="161F40"/>
                    </a:solidFill>
                  </a:tcPr>
                </a:tc>
              </a:tr>
              <a:tr h="520000">
                <a:tc>
                  <a:txBody>
                    <a:bodyPr/>
                    <a:lstStyle/>
                    <a:p>
                      <a:r>
                        <a:rPr sz="1400" b="0">
                          <a:solidFill>
                            <a:srgbClr val="E8EEFA"/>
                          </a:solidFill>
                          <a:latin typeface="Segoe UI"/>
                        </a:rPr>
                        <a:t>Continuous batching</a:t>
                      </a:r>
                    </a:p>
                  </a:txBody>
                  <a:tcPr>
                    <a:solidFill>
                      <a:srgbClr val="111834"/>
                    </a:solidFill>
                  </a:tcPr>
                </a:tc>
                <a:tc>
                  <a:txBody>
                    <a:bodyPr/>
                    <a:lstStyle/>
                    <a:p>
                      <a:r>
                        <a:rPr sz="1400" b="0">
                          <a:solidFill>
                            <a:srgbClr val="E8EEFA"/>
                          </a:solidFill>
                          <a:latin typeface="Segoe UI"/>
                        </a:rPr>
                        <a:t>Throughput, GPU bandligi</a:t>
                      </a:r>
                    </a:p>
                  </a:txBody>
                  <a:tcPr>
                    <a:solidFill>
                      <a:srgbClr val="111834"/>
                    </a:solidFill>
                  </a:tcPr>
                </a:tc>
                <a:tc>
                  <a:txBody>
                    <a:bodyPr/>
                    <a:lstStyle/>
                    <a:p>
                      <a:r>
                        <a:rPr sz="1400" b="0">
                          <a:solidFill>
                            <a:srgbClr val="E8EEFA"/>
                          </a:solidFill>
                          <a:latin typeface="Segoe UI"/>
                        </a:rPr>
                        <a:t>Iteratsiya darajasida partiya</a:t>
                      </a:r>
                    </a:p>
                  </a:txBody>
                  <a:tcPr>
                    <a:solidFill>
                      <a:srgbClr val="111834"/>
                    </a:solidFill>
                  </a:tcPr>
                </a:tc>
                <a:tc>
                  <a:txBody>
                    <a:bodyPr/>
                    <a:lstStyle/>
                    <a:p>
                      <a:r>
                        <a:rPr sz="1400" b="0">
                          <a:solidFill>
                            <a:srgbClr val="E8EEFA"/>
                          </a:solidFill>
                          <a:latin typeface="Segoe UI"/>
                        </a:rPr>
                        <a:t>2–10× throughput</a:t>
                      </a:r>
                    </a:p>
                  </a:txBody>
                  <a:tcPr>
                    <a:solidFill>
                      <a:srgbClr val="111834"/>
                    </a:solidFill>
                  </a:tcPr>
                </a:tc>
              </a:tr>
              <a:tr h="520000">
                <a:tc>
                  <a:txBody>
                    <a:bodyPr/>
                    <a:lstStyle/>
                    <a:p>
                      <a:r>
                        <a:rPr sz="1400" b="0">
                          <a:solidFill>
                            <a:srgbClr val="E8EEFA"/>
                          </a:solidFill>
                          <a:latin typeface="Segoe UI"/>
                        </a:rPr>
                        <a:t>Spekulyativ dekodlash</a:t>
                      </a:r>
                    </a:p>
                  </a:txBody>
                  <a:tcPr>
                    <a:solidFill>
                      <a:srgbClr val="161F40"/>
                    </a:solidFill>
                  </a:tcPr>
                </a:tc>
                <a:tc>
                  <a:txBody>
                    <a:bodyPr/>
                    <a:lstStyle/>
                    <a:p>
                      <a:r>
                        <a:rPr sz="1400" b="0">
                          <a:solidFill>
                            <a:srgbClr val="E8EEFA"/>
                          </a:solidFill>
                          <a:latin typeface="Segoe UI"/>
                        </a:rPr>
                        <a:t>Decode kechikishi</a:t>
                      </a:r>
                    </a:p>
                  </a:txBody>
                  <a:tcPr>
                    <a:solidFill>
                      <a:srgbClr val="161F40"/>
                    </a:solidFill>
                  </a:tcPr>
                </a:tc>
                <a:tc>
                  <a:txBody>
                    <a:bodyPr/>
                    <a:lstStyle/>
                    <a:p>
                      <a:r>
                        <a:rPr sz="1400" b="0">
                          <a:solidFill>
                            <a:srgbClr val="E8EEFA"/>
                          </a:solidFill>
                          <a:latin typeface="Segoe UI"/>
                        </a:rPr>
                        <a:t>Qoralama + parallel tekshiruv</a:t>
                      </a:r>
                    </a:p>
                  </a:txBody>
                  <a:tcPr>
                    <a:solidFill>
                      <a:srgbClr val="161F40"/>
                    </a:solidFill>
                  </a:tcPr>
                </a:tc>
                <a:tc>
                  <a:txBody>
                    <a:bodyPr/>
                    <a:lstStyle/>
                    <a:p>
                      <a:r>
                        <a:rPr sz="1400" b="0">
                          <a:solidFill>
                            <a:srgbClr val="E8EEFA"/>
                          </a:solidFill>
                          <a:latin typeface="Segoe UI"/>
                        </a:rPr>
                        <a:t>2–3× tok/s</a:t>
                      </a:r>
                    </a:p>
                  </a:txBody>
                  <a:tcPr>
                    <a:solidFill>
                      <a:srgbClr val="161F40"/>
                    </a:solidFill>
                  </a:tcPr>
                </a:tc>
              </a:tr>
              <a:tr h="520000">
                <a:tc>
                  <a:txBody>
                    <a:bodyPr/>
                    <a:lstStyle/>
                    <a:p>
                      <a:r>
                        <a:rPr sz="1400" b="0">
                          <a:solidFill>
                            <a:srgbClr val="E8EEFA"/>
                          </a:solidFill>
                          <a:latin typeface="Segoe UI"/>
                        </a:rPr>
                        <a:t>INT4/FP8 kvantlash</a:t>
                      </a:r>
                    </a:p>
                  </a:txBody>
                  <a:tcPr>
                    <a:solidFill>
                      <a:srgbClr val="111834"/>
                    </a:solidFill>
                  </a:tcPr>
                </a:tc>
                <a:tc>
                  <a:txBody>
                    <a:bodyPr/>
                    <a:lstStyle/>
                    <a:p>
                      <a:r>
                        <a:rPr sz="1400" b="0">
                          <a:solidFill>
                            <a:srgbClr val="E8EEFA"/>
                          </a:solidFill>
                          <a:latin typeface="Segoe UI"/>
                        </a:rPr>
                        <a:t>Xotira, decode tezligi</a:t>
                      </a:r>
                    </a:p>
                  </a:txBody>
                  <a:tcPr>
                    <a:solidFill>
                      <a:srgbClr val="111834"/>
                    </a:solidFill>
                  </a:tcPr>
                </a:tc>
                <a:tc>
                  <a:txBody>
                    <a:bodyPr/>
                    <a:lstStyle/>
                    <a:p>
                      <a:r>
                        <a:rPr sz="1400" b="0">
                          <a:solidFill>
                            <a:srgbClr val="E8EEFA"/>
                          </a:solidFill>
                          <a:latin typeface="Segoe UI"/>
                        </a:rPr>
                        <a:t>Kam bayt o'qish</a:t>
                      </a:r>
                    </a:p>
                  </a:txBody>
                  <a:tcPr>
                    <a:solidFill>
                      <a:srgbClr val="111834"/>
                    </a:solidFill>
                  </a:tcPr>
                </a:tc>
                <a:tc>
                  <a:txBody>
                    <a:bodyPr/>
                    <a:lstStyle/>
                    <a:p>
                      <a:r>
                        <a:rPr sz="1400" b="0">
                          <a:solidFill>
                            <a:srgbClr val="E8EEFA"/>
                          </a:solidFill>
                          <a:latin typeface="Segoe UI"/>
                        </a:rPr>
                        <a:t>2–4× xotira, sifat −0…2 %</a:t>
                      </a:r>
                    </a:p>
                  </a:txBody>
                  <a:tcPr>
                    <a:solidFill>
                      <a:srgbClr val="111834"/>
                    </a:solidFill>
                  </a:tcPr>
                </a:tc>
              </a:tr>
              <a:tr h="520000">
                <a:tc>
                  <a:txBody>
                    <a:bodyPr/>
                    <a:lstStyle/>
                    <a:p>
                      <a:r>
                        <a:rPr sz="1400" b="0">
                          <a:solidFill>
                            <a:srgbClr val="E8EEFA"/>
                          </a:solidFill>
                          <a:latin typeface="Segoe UI"/>
                        </a:rPr>
                        <a:t>GQA / MQA</a:t>
                      </a:r>
                    </a:p>
                  </a:txBody>
                  <a:tcPr>
                    <a:solidFill>
                      <a:srgbClr val="161F40"/>
                    </a:solidFill>
                  </a:tcPr>
                </a:tc>
                <a:tc>
                  <a:txBody>
                    <a:bodyPr/>
                    <a:lstStyle/>
                    <a:p>
                      <a:r>
                        <a:rPr sz="1400" b="0">
                          <a:solidFill>
                            <a:srgbClr val="E8EEFA"/>
                          </a:solidFill>
                          <a:latin typeface="Segoe UI"/>
                        </a:rPr>
                        <a:t>KV-kesh hajmi</a:t>
                      </a:r>
                    </a:p>
                  </a:txBody>
                  <a:tcPr>
                    <a:solidFill>
                      <a:srgbClr val="161F40"/>
                    </a:solidFill>
                  </a:tcPr>
                </a:tc>
                <a:tc>
                  <a:txBody>
                    <a:bodyPr/>
                    <a:lstStyle/>
                    <a:p>
                      <a:r>
                        <a:rPr sz="1400" b="0">
                          <a:solidFill>
                            <a:srgbClr val="E8EEFA"/>
                          </a:solidFill>
                          <a:latin typeface="Segoe UI"/>
                        </a:rPr>
                        <a:t>K/V boshlarni bo'lishish</a:t>
                      </a:r>
                    </a:p>
                  </a:txBody>
                  <a:tcPr>
                    <a:solidFill>
                      <a:srgbClr val="161F40"/>
                    </a:solidFill>
                  </a:tcPr>
                </a:tc>
                <a:tc>
                  <a:txBody>
                    <a:bodyPr/>
                    <a:lstStyle/>
                    <a:p>
                      <a:r>
                        <a:rPr sz="1400" b="0">
                          <a:solidFill>
                            <a:srgbClr val="E8EEFA"/>
                          </a:solidFill>
                          <a:latin typeface="Segoe UI"/>
                        </a:rPr>
                        <a:t>4–8× kichik kesh</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wipe(left)">
                                      <p:cBhvr>
                                        <p:cTn id="16" dur="8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e6bb8841003cde62.jpg"/>
          <p:cNvPicPr>
            <a:picLocks noChangeAspect="1"/>
          </p:cNvPicPr>
          <p:nvPr/>
        </p:nvPicPr>
        <p:blipFill>
          <a:blip r:embed="rId2"/>
          <a:srcRect l="14449" r="14449"/>
          <a:stretch>
            <a:fillRect/>
          </a:stretch>
        </p:blipFill>
        <p:spPr>
          <a:xfrm>
            <a:off x="6300000" y="800000"/>
            <a:ext cx="5300000" cy="4950000"/>
          </a:xfrm>
          <a:prstGeom prst="roundRect">
            <a:avLst/>
          </a:prstGeom>
          <a:ln w="19050">
            <a:solidFill>
              <a:srgbClr val="22D3EE"/>
            </a:solidFill>
          </a:ln>
        </p:spPr>
      </p:pic>
      <p:sp>
        <p:nvSpPr>
          <p:cNvPr id="39" name="TextBox 38"/>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BalticServers.com · Wikimedia Commons · CC BY-SA 3.0</a:t>
            </a:r>
          </a:p>
        </p:txBody>
      </p:sp>
      <p:sp>
        <p:nvSpPr>
          <p:cNvPr id="40" name="TextBox 39"/>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03</a:t>
            </a:r>
          </a:p>
        </p:txBody>
      </p:sp>
      <p:sp>
        <p:nvSpPr>
          <p:cNvPr id="41" name="TextBox 40"/>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2" name="TextBox 41"/>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Retrieval-Augmented Generation va vektor bazalar</a:t>
            </a:r>
          </a:p>
        </p:txBody>
      </p:sp>
      <p:sp>
        <p:nvSpPr>
          <p:cNvPr id="43" name="Rectangle 42"/>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7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150"/>
                            </p:stCondLst>
                            <p:childTnLst>
                              <p:par>
                                <p:cTn id="140" presetID="53" presetClass="entr" presetSubtype="16"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anim calcmode="lin" valueType="num">
                                      <p:cBhvr additive="base">
                                        <p:cTn id="143" dur="550" fill="hold"/>
                                        <p:tgtEl>
                                          <p:spTgt spid="37"/>
                                        </p:tgtEl>
                                        <p:attrNameLst>
                                          <p:attrName>ppt_w</p:attrName>
                                        </p:attrNameLst>
                                      </p:cBhvr>
                                      <p:tavLst>
                                        <p:tav tm="0">
                                          <p:val>
                                            <p:strVal val="0"/>
                                          </p:val>
                                        </p:tav>
                                        <p:tav tm="100000">
                                          <p:val>
                                            <p:strVal val="#ppt_w"/>
                                          </p:val>
                                        </p:tav>
                                      </p:tavLst>
                                    </p:anim>
                                    <p:anim calcmode="lin" valueType="num">
                                      <p:cBhvr additive="base">
                                        <p:cTn id="144" dur="550" fill="hold"/>
                                        <p:tgtEl>
                                          <p:spTgt spid="37"/>
                                        </p:tgtEl>
                                        <p:attrNameLst>
                                          <p:attrName>ppt_h</p:attrName>
                                        </p:attrNameLst>
                                      </p:cBhvr>
                                      <p:tavLst>
                                        <p:tav tm="0">
                                          <p:val>
                                            <p:strVal val="0"/>
                                          </p:val>
                                        </p:tav>
                                        <p:tav tm="100000">
                                          <p:val>
                                            <p:strVal val="#ppt_h"/>
                                          </p:val>
                                        </p:tav>
                                      </p:tavLst>
                                    </p:anim>
                                  </p:childTnLst>
                                </p:cTn>
                              </p:par>
                            </p:childTnLst>
                          </p:cTn>
                        </p:par>
                        <p:par>
                          <p:cTn id="145" fill="hold">
                            <p:stCondLst>
                              <p:cond delay="150"/>
                            </p:stCondLst>
                            <p:childTnLst>
                              <p:par>
                                <p:cTn id="146" presetID="53" presetClass="entr" presetSubtype="16" fill="hold" grpId="0" nodeType="afterEffect">
                                  <p:stCondLst>
                                    <p:cond delay="0"/>
                                  </p:stCondLst>
                                  <p:childTnLst>
                                    <p:set>
                                      <p:cBhvr>
                                        <p:cTn id="147" dur="1" fill="hold">
                                          <p:stCondLst>
                                            <p:cond delay="0"/>
                                          </p:stCondLst>
                                        </p:cTn>
                                        <p:tgtEl>
                                          <p:spTgt spid="38"/>
                                        </p:tgtEl>
                                        <p:attrNameLst>
                                          <p:attrName>style.visibility</p:attrName>
                                        </p:attrNameLst>
                                      </p:cBhvr>
                                      <p:to>
                                        <p:strVal val="visible"/>
                                      </p:to>
                                    </p:set>
                                    <p:animEffect transition="in" filter="fade">
                                      <p:cBhvr>
                                        <p:cTn id="148" dur="550"/>
                                        <p:tgtEl>
                                          <p:spTgt spid="38"/>
                                        </p:tgtEl>
                                      </p:cBhvr>
                                    </p:animEffect>
                                    <p:anim calcmode="lin" valueType="num">
                                      <p:cBhvr additive="base">
                                        <p:cTn id="149" dur="550" fill="hold"/>
                                        <p:tgtEl>
                                          <p:spTgt spid="38"/>
                                        </p:tgtEl>
                                        <p:attrNameLst>
                                          <p:attrName>ppt_w</p:attrName>
                                        </p:attrNameLst>
                                      </p:cBhvr>
                                      <p:tavLst>
                                        <p:tav tm="0">
                                          <p:val>
                                            <p:strVal val="0"/>
                                          </p:val>
                                        </p:tav>
                                        <p:tav tm="100000">
                                          <p:val>
                                            <p:strVal val="#ppt_w"/>
                                          </p:val>
                                        </p:tav>
                                      </p:tavLst>
                                    </p:anim>
                                    <p:anim calcmode="lin" valueType="num">
                                      <p:cBhvr additive="base">
                                        <p:cTn id="150" dur="550" fill="hold"/>
                                        <p:tgtEl>
                                          <p:spTgt spid="38"/>
                                        </p:tgtEl>
                                        <p:attrNameLst>
                                          <p:attrName>ppt_h</p:attrName>
                                        </p:attrNameLst>
                                      </p:cBhvr>
                                      <p:tavLst>
                                        <p:tav tm="0">
                                          <p:val>
                                            <p:strVal val="0"/>
                                          </p:val>
                                        </p:tav>
                                        <p:tav tm="100000">
                                          <p:val>
                                            <p:strVal val="#ppt_h"/>
                                          </p:val>
                                        </p:tav>
                                      </p:tavLst>
                                    </p:anim>
                                  </p:childTnLst>
                                </p:cTn>
                              </p:par>
                            </p:childTnLst>
                          </p:cTn>
                        </p:par>
                        <p:par>
                          <p:cTn id="151" fill="hold">
                            <p:stCondLst>
                              <p:cond delay="150"/>
                            </p:stCondLst>
                            <p:childTnLst>
                              <p:par>
                                <p:cTn id="152" presetID="10" presetClass="entr" presetSubtype="0" fill="hold" grpId="0" nodeType="afterEffect">
                                  <p:stCondLst>
                                    <p:cond delay="0"/>
                                  </p:stCondLst>
                                  <p:childTnLst>
                                    <p:set>
                                      <p:cBhvr>
                                        <p:cTn id="153" dur="1" fill="hold">
                                          <p:stCondLst>
                                            <p:cond delay="0"/>
                                          </p:stCondLst>
                                        </p:cTn>
                                        <p:tgtEl>
                                          <p:spTgt spid="39"/>
                                        </p:tgtEl>
                                        <p:attrNameLst>
                                          <p:attrName>style.visibility</p:attrName>
                                        </p:attrNameLst>
                                      </p:cBhvr>
                                      <p:to>
                                        <p:strVal val="visible"/>
                                      </p:to>
                                    </p:set>
                                    <p:animEffect transition="in" filter="fade">
                                      <p:cBhvr>
                                        <p:cTn id="154" dur="550"/>
                                        <p:tgtEl>
                                          <p:spTgt spid="39"/>
                                        </p:tgtEl>
                                      </p:cBhvr>
                                    </p:animEffect>
                                  </p:childTnLst>
                                </p:cTn>
                              </p:par>
                            </p:childTnLst>
                          </p:cTn>
                        </p:par>
                        <p:par>
                          <p:cTn id="155" fill="hold">
                            <p:stCondLst>
                              <p:cond delay="350"/>
                            </p:stCondLst>
                            <p:childTnLst>
                              <p:par>
                                <p:cTn id="156" presetID="53" presetClass="entr" presetSubtype="16" fill="hold" grpId="0" nodeType="afterEffect">
                                  <p:stCondLst>
                                    <p:cond delay="0"/>
                                  </p:stCondLst>
                                  <p:childTnLst>
                                    <p:set>
                                      <p:cBhvr>
                                        <p:cTn id="157" dur="1" fill="hold">
                                          <p:stCondLst>
                                            <p:cond delay="0"/>
                                          </p:stCondLst>
                                        </p:cTn>
                                        <p:tgtEl>
                                          <p:spTgt spid="40"/>
                                        </p:tgtEl>
                                        <p:attrNameLst>
                                          <p:attrName>style.visibility</p:attrName>
                                        </p:attrNameLst>
                                      </p:cBhvr>
                                      <p:to>
                                        <p:strVal val="visible"/>
                                      </p:to>
                                    </p:set>
                                    <p:animEffect transition="in" filter="fade">
                                      <p:cBhvr>
                                        <p:cTn id="158" dur="550"/>
                                        <p:tgtEl>
                                          <p:spTgt spid="40"/>
                                        </p:tgtEl>
                                      </p:cBhvr>
                                    </p:animEffect>
                                    <p:anim calcmode="lin" valueType="num">
                                      <p:cBhvr additive="base">
                                        <p:cTn id="159" dur="550" fill="hold"/>
                                        <p:tgtEl>
                                          <p:spTgt spid="40"/>
                                        </p:tgtEl>
                                        <p:attrNameLst>
                                          <p:attrName>ppt_w</p:attrName>
                                        </p:attrNameLst>
                                      </p:cBhvr>
                                      <p:tavLst>
                                        <p:tav tm="0">
                                          <p:val>
                                            <p:strVal val="0"/>
                                          </p:val>
                                        </p:tav>
                                        <p:tav tm="100000">
                                          <p:val>
                                            <p:strVal val="#ppt_w"/>
                                          </p:val>
                                        </p:tav>
                                      </p:tavLst>
                                    </p:anim>
                                    <p:anim calcmode="lin" valueType="num">
                                      <p:cBhvr additive="base">
                                        <p:cTn id="160" dur="550" fill="hold"/>
                                        <p:tgtEl>
                                          <p:spTgt spid="40"/>
                                        </p:tgtEl>
                                        <p:attrNameLst>
                                          <p:attrName>ppt_h</p:attrName>
                                        </p:attrNameLst>
                                      </p:cBhvr>
                                      <p:tavLst>
                                        <p:tav tm="0">
                                          <p:val>
                                            <p:strVal val="0"/>
                                          </p:val>
                                        </p:tav>
                                        <p:tav tm="100000">
                                          <p:val>
                                            <p:strVal val="#ppt_h"/>
                                          </p:val>
                                        </p:tav>
                                      </p:tavLst>
                                    </p:anim>
                                  </p:childTnLst>
                                </p:cTn>
                              </p:par>
                            </p:childTnLst>
                          </p:cTn>
                        </p:par>
                        <p:par>
                          <p:cTn id="161" fill="hold">
                            <p:stCondLst>
                              <p:cond delay="450"/>
                            </p:stCondLst>
                            <p:childTnLst>
                              <p:par>
                                <p:cTn id="162" presetID="10" presetClass="entr" presetSubtype="0" fill="hold" grpId="0" nodeType="afterEffect">
                                  <p:stCondLst>
                                    <p:cond delay="0"/>
                                  </p:stCondLst>
                                  <p:childTnLst>
                                    <p:set>
                                      <p:cBhvr>
                                        <p:cTn id="163" dur="1" fill="hold">
                                          <p:stCondLst>
                                            <p:cond delay="0"/>
                                          </p:stCondLst>
                                        </p:cTn>
                                        <p:tgtEl>
                                          <p:spTgt spid="41"/>
                                        </p:tgtEl>
                                        <p:attrNameLst>
                                          <p:attrName>style.visibility</p:attrName>
                                        </p:attrNameLst>
                                      </p:cBhvr>
                                      <p:to>
                                        <p:strVal val="visible"/>
                                      </p:to>
                                    </p:set>
                                    <p:animEffect transition="in" filter="fade">
                                      <p:cBhvr>
                                        <p:cTn id="164" dur="550"/>
                                        <p:tgtEl>
                                          <p:spTgt spid="41"/>
                                        </p:tgtEl>
                                      </p:cBhvr>
                                    </p:animEffect>
                                  </p:childTnLst>
                                </p:cTn>
                              </p:par>
                            </p:childTnLst>
                          </p:cTn>
                        </p:par>
                        <p:par>
                          <p:cTn id="165" fill="hold">
                            <p:stCondLst>
                              <p:cond delay="550"/>
                            </p:stCondLst>
                            <p:childTnLst>
                              <p:par>
                                <p:cTn id="166" presetID="2" presetClass="entr" presetSubtype="8" fill="hold" grpId="0" nodeType="afterEffect">
                                  <p:stCondLst>
                                    <p:cond delay="0"/>
                                  </p:stCondLst>
                                  <p:childTnLst>
                                    <p:set>
                                      <p:cBhvr>
                                        <p:cTn id="167" dur="1" fill="hold">
                                          <p:stCondLst>
                                            <p:cond delay="0"/>
                                          </p:stCondLst>
                                        </p:cTn>
                                        <p:tgtEl>
                                          <p:spTgt spid="42"/>
                                        </p:tgtEl>
                                        <p:attrNameLst>
                                          <p:attrName>style.visibility</p:attrName>
                                        </p:attrNameLst>
                                      </p:cBhvr>
                                      <p:to>
                                        <p:strVal val="visible"/>
                                      </p:to>
                                    </p:set>
                                    <p:anim calcmode="lin" valueType="num">
                                      <p:cBhvr additive="base">
                                        <p:cTn id="169" dur="550" fill="hold"/>
                                        <p:tgtEl>
                                          <p:spTgt spid="42"/>
                                        </p:tgtEl>
                                        <p:attrNameLst>
                                          <p:attrName>ppt_x</p:attrName>
                                        </p:attrNameLst>
                                      </p:cBhvr>
                                      <p:tavLst>
                                        <p:tav tm="0">
                                          <p:val>
                                            <p:strVal val="0-#ppt_w/2"/>
                                          </p:val>
                                        </p:tav>
                                        <p:tav tm="100000">
                                          <p:val>
                                            <p:strVal val="#ppt_x"/>
                                          </p:val>
                                        </p:tav>
                                      </p:tavLst>
                                    </p:anim>
                                    <p:anim calcmode="lin" valueType="num">
                                      <p:cBhvr additive="base">
                                        <p:cTn id="170" dur="550" fill="hold"/>
                                        <p:tgtEl>
                                          <p:spTgt spid="42"/>
                                        </p:tgtEl>
                                        <p:attrNameLst>
                                          <p:attrName>ppt_y</p:attrName>
                                        </p:attrNameLst>
                                      </p:cBhvr>
                                      <p:tavLst>
                                        <p:tav tm="0">
                                          <p:val>
                                            <p:strVal val="#ppt_y"/>
                                          </p:val>
                                        </p:tav>
                                        <p:tav tm="100000">
                                          <p:val>
                                            <p:strVal val="#ppt_y"/>
                                          </p:val>
                                        </p:tav>
                                      </p:tavLst>
                                    </p:anim>
                                  </p:childTnLst>
                                </p:cTn>
                              </p:par>
                            </p:childTnLst>
                          </p:cTn>
                        </p:par>
                        <p:par>
                          <p:cTn id="171" fill="hold">
                            <p:stCondLst>
                              <p:cond delay="650"/>
                            </p:stCondLst>
                            <p:childTnLst>
                              <p:par>
                                <p:cTn id="172" presetID="22" presetClass="entr" presetSubtype="8" fill="hold" grpId="0" nodeType="afterEffect">
                                  <p:stCondLst>
                                    <p:cond delay="0"/>
                                  </p:stCondLst>
                                  <p:childTnLst>
                                    <p:set>
                                      <p:cBhvr>
                                        <p:cTn id="173" dur="1" fill="hold">
                                          <p:stCondLst>
                                            <p:cond delay="0"/>
                                          </p:stCondLst>
                                        </p:cTn>
                                        <p:tgtEl>
                                          <p:spTgt spid="43"/>
                                        </p:tgtEl>
                                        <p:attrNameLst>
                                          <p:attrName>style.visibility</p:attrName>
                                        </p:attrNameLst>
                                      </p:cBhvr>
                                      <p:to>
                                        <p:strVal val="visible"/>
                                      </p:to>
                                    </p:set>
                                    <p:animEffect transition="in" filter="wipe(left)">
                                      <p:cBhvr>
                                        <p:cTn id="175" dur="8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9" grpId="0" animBg="1"/>
      <p:bldP spid="40" grpId="0" animBg="1"/>
      <p:bldP spid="41" grpId="0" animBg="1"/>
      <p:bldP spid="42" grpId="0" animBg="1"/>
      <p:bldP spid="43"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Retrieval-Augmented Generation va vektor bazalar</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M11 · Katta til modellari uchun kompyuter tizimlari va hisoblash infratuzilmasi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12</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9b19da2456b6c37.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Rsparks3 · Wikimedia Commons · CC0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762128"/>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1842128"/>
            <a:ext cx="50000" cy="181287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254856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1802128"/>
            <a:ext cx="5900000" cy="1892872"/>
          </a:xfrm>
          <a:prstGeom prst="rect">
            <a:avLst/>
          </a:prstGeom>
          <a:noFill/>
        </p:spPr>
        <p:txBody>
          <a:bodyPr wrap="square" anchor="ctr">
            <a:spAutoFit/>
          </a:bodyPr>
          <a:lstStyle/>
          <a:p>
            <a:r>
              <a:rPr sz="1500" b="1">
                <a:solidFill>
                  <a:srgbClr val="E8EEFA"/>
                </a:solidFill>
                <a:latin typeface="Segoe UI"/>
              </a:rPr>
              <a:t>RAG (Lewis va boshq., 2020) tizimi ikki bosqichda ishlaydi.</a:t>
            </a:r>
          </a:p>
          <a:p>
            <a:pPr>
              <a:spcBef>
                <a:spcPts val="400"/>
              </a:spcBef>
            </a:pPr>
            <a:r>
              <a:rPr sz="1400">
                <a:solidFill>
                  <a:srgbClr val="AEBBD9"/>
                </a:solidFill>
                <a:latin typeface="Segoe UI"/>
              </a:rPr>
              <a:t>Tayyorgarlik (indekslash): hujjatlar bo'laklarga (chunk, odatda 200–1000 token, qisman ustma-ust) bo'linadi, har bo'lak embedding modeli orqali zich vektorga (384–1024 o'lcham) aylantiriladi va vektor indeksga yoziladi.</a:t>
            </a:r>
          </a:p>
        </p:txBody>
      </p:sp>
      <p:sp>
        <p:nvSpPr>
          <p:cNvPr id="33" name="Rounded Rectangle 32"/>
          <p:cNvSpPr/>
          <p:nvPr/>
        </p:nvSpPr>
        <p:spPr>
          <a:xfrm>
            <a:off x="550000" y="3845000"/>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925000"/>
            <a:ext cx="50000" cy="181287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631436"/>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6" name="TextBox 35"/>
          <p:cNvSpPr txBox="1"/>
          <p:nvPr/>
        </p:nvSpPr>
        <p:spPr>
          <a:xfrm>
            <a:off x="1300000" y="3885000"/>
            <a:ext cx="5900000" cy="1892872"/>
          </a:xfrm>
          <a:prstGeom prst="rect">
            <a:avLst/>
          </a:prstGeom>
          <a:noFill/>
        </p:spPr>
        <p:txBody>
          <a:bodyPr wrap="square" anchor="ctr">
            <a:spAutoFit/>
          </a:bodyPr>
          <a:lstStyle/>
          <a:p>
            <a:r>
              <a:rPr sz="1500" b="1">
                <a:solidFill>
                  <a:srgbClr val="E8EEFA"/>
                </a:solidFill>
                <a:latin typeface="Segoe UI"/>
              </a:rPr>
              <a:t>Vektor qidiruvning markaziy masalasi — N ta d-o'lchamli vektor orasidan so'rovga eng yaqin k tasini tez topish.</a:t>
            </a:r>
          </a:p>
          <a:p>
            <a:pPr>
              <a:spcBef>
                <a:spcPts val="400"/>
              </a:spcBef>
            </a:pPr>
            <a:r>
              <a:rPr sz="1400">
                <a:solidFill>
                  <a:srgbClr val="AEBBD9"/>
                </a:solidFill>
                <a:latin typeface="Segoe UI"/>
              </a:rPr>
              <a:t>To'liq qidiruv (Flat, brute force) O(N · d) — 1 million × 768 o'lcham uchun GPU'da bir necha millisekund, lekin 100 million uchun sekin va 300 GB xotira. Taxminiy eng yaqin qo'shni (approximate nearest neighbor, ANN) indekslari aniqlikning bir qismini tezlik va xotiraga almashtiradi.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Retrieval-Augmented Generation va vektor bazalar</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M11 · Katta til modellari uchun kompyuter tizimlari va hisoblash infratuzilmasi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13</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6a27f4734101be8b.jpg"/>
          <p:cNvPicPr>
            <a:picLocks noChangeAspect="1"/>
          </p:cNvPicPr>
          <p:nvPr/>
        </p:nvPicPr>
        <p:blipFill>
          <a:blip r:embed="rId2"/>
          <a:srcRect l="23199" r="23199"/>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Lawrence Systems · Wikimedia Commons · CC BY 3.0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686216"/>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766216"/>
            <a:ext cx="50000" cy="2047568"/>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2" name="TextBox 31"/>
          <p:cNvSpPr txBox="1"/>
          <p:nvPr/>
        </p:nvSpPr>
        <p:spPr>
          <a:xfrm>
            <a:off x="1300000" y="2726216"/>
            <a:ext cx="5900000" cy="2127568"/>
          </a:xfrm>
          <a:prstGeom prst="rect">
            <a:avLst/>
          </a:prstGeom>
          <a:noFill/>
        </p:spPr>
        <p:txBody>
          <a:bodyPr wrap="square" anchor="ctr">
            <a:spAutoFit/>
          </a:bodyPr>
          <a:lstStyle/>
          <a:p>
            <a:r>
              <a:rPr sz="1700" b="1">
                <a:solidFill>
                  <a:srgbClr val="E8EEFA"/>
                </a:solidFill>
                <a:latin typeface="Segoe UI"/>
              </a:rPr>
              <a:t>Vektor baza (vector database) — indeks ustiga metama'lumot filtrlash, CRUD, persistentlik, replikatsiya va API qo'shadigan tizim.</a:t>
            </a:r>
          </a:p>
          <a:p>
            <a:pPr>
              <a:spcBef>
                <a:spcPts val="400"/>
              </a:spcBef>
            </a:pPr>
            <a:r>
              <a:rPr sz="1600">
                <a:solidFill>
                  <a:srgbClr val="AEBBD9"/>
                </a:solidFill>
                <a:latin typeface="Segoe UI"/>
              </a:rPr>
              <a:t>FAISS (Meta) — kutubxona, baza emas: eng tez va moslashuvchan, GPU qo'llab-quvvatlaydi, lekin saqlash va filtrlashni o'zingiz yozasiz. Chroma — yengil, Python'ga joylashtiriladigan, prototiplar uchun qulay (ichida HNSW).</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Retrieval-Augmented Generation va vektor bazalar</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M11 · Katta til modellari uchun kompyuter tizimlari va hisoblash infratuzilmasi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14</a:t>
            </a:r>
          </a:p>
        </p:txBody>
      </p:sp>
      <p:graphicFrame>
        <p:nvGraphicFramePr>
          <p:cNvPr id="24" name="Table 23"/>
          <p:cNvGraphicFramePr>
            <a:graphicFrameLocks noGrp="1"/>
          </p:cNvGraphicFramePr>
          <p:nvPr/>
        </p:nvGraphicFramePr>
        <p:xfrm>
          <a:off x="550000" y="1400000"/>
          <a:ext cx="11100000" cy="3120000"/>
        </p:xfrm>
        <a:graphic>
          <a:graphicData uri="http://schemas.openxmlformats.org/drawingml/2006/table">
            <a:tbl>
              <a:tblPr firstRow="1" bandRow="1">
                <a:tableStyleId>{5C22544A-7EE6-4342-B048-85BDC9FD1C3A}</a:tableStyleId>
              </a:tblPr>
              <a:tblGrid>
                <a:gridCol w="2220000"/>
                <a:gridCol w="2220000"/>
                <a:gridCol w="2220000"/>
                <a:gridCol w="2220000"/>
                <a:gridCol w="2220000"/>
              </a:tblGrid>
              <a:tr h="520000">
                <a:tc>
                  <a:txBody>
                    <a:bodyPr/>
                    <a:lstStyle/>
                    <a:p>
                      <a:r>
                        <a:rPr sz="1400" b="1">
                          <a:solidFill>
                            <a:srgbClr val="22D3EE"/>
                          </a:solidFill>
                          <a:latin typeface="Segoe UI"/>
                        </a:rPr>
                        <a:t>Indeks</a:t>
                      </a:r>
                    </a:p>
                  </a:txBody>
                  <a:tcPr>
                    <a:solidFill>
                      <a:srgbClr val="1C2755"/>
                    </a:solidFill>
                  </a:tcPr>
                </a:tc>
                <a:tc>
                  <a:txBody>
                    <a:bodyPr/>
                    <a:lstStyle/>
                    <a:p>
                      <a:r>
                        <a:rPr sz="1400" b="1">
                          <a:solidFill>
                            <a:srgbClr val="22D3EE"/>
                          </a:solidFill>
                          <a:latin typeface="Segoe UI"/>
                        </a:rPr>
                        <a:t>Qidiruv vaqti (1M, d=768, taxminiy)</a:t>
                      </a:r>
                    </a:p>
                  </a:txBody>
                  <a:tcPr>
                    <a:solidFill>
                      <a:srgbClr val="1C2755"/>
                    </a:solidFill>
                  </a:tcPr>
                </a:tc>
                <a:tc>
                  <a:txBody>
                    <a:bodyPr/>
                    <a:lstStyle/>
                    <a:p>
                      <a:r>
                        <a:rPr sz="1400" b="1">
                          <a:solidFill>
                            <a:srgbClr val="22D3EE"/>
                          </a:solidFill>
                          <a:latin typeface="Segoe UI"/>
                        </a:rPr>
                        <a:t>Xotira</a:t>
                      </a:r>
                    </a:p>
                  </a:txBody>
                  <a:tcPr>
                    <a:solidFill>
                      <a:srgbClr val="1C2755"/>
                    </a:solidFill>
                  </a:tcPr>
                </a:tc>
                <a:tc>
                  <a:txBody>
                    <a:bodyPr/>
                    <a:lstStyle/>
                    <a:p>
                      <a:r>
                        <a:rPr sz="1400" b="1">
                          <a:solidFill>
                            <a:srgbClr val="22D3EE"/>
                          </a:solidFill>
                          <a:latin typeface="Segoe UI"/>
                        </a:rPr>
                        <a:t>Recall@10</a:t>
                      </a:r>
                    </a:p>
                  </a:txBody>
                  <a:tcPr>
                    <a:solidFill>
                      <a:srgbClr val="1C2755"/>
                    </a:solidFill>
                  </a:tcPr>
                </a:tc>
                <a:tc>
                  <a:txBody>
                    <a:bodyPr/>
                    <a:lstStyle/>
                    <a:p>
                      <a:r>
                        <a:rPr sz="1400" b="1">
                          <a:solidFill>
                            <a:srgbClr val="22D3EE"/>
                          </a:solidFill>
                          <a:latin typeface="Segoe UI"/>
                        </a:rPr>
                        <a:t>Qurish</a:t>
                      </a:r>
                    </a:p>
                  </a:txBody>
                  <a:tcPr>
                    <a:solidFill>
                      <a:srgbClr val="1C2755"/>
                    </a:solidFill>
                  </a:tcPr>
                </a:tc>
              </a:tr>
              <a:tr h="520000">
                <a:tc>
                  <a:txBody>
                    <a:bodyPr/>
                    <a:lstStyle/>
                    <a:p>
                      <a:r>
                        <a:rPr sz="1400" b="0">
                          <a:solidFill>
                            <a:srgbClr val="E8EEFA"/>
                          </a:solidFill>
                          <a:latin typeface="Segoe UI"/>
                        </a:rPr>
                        <a:t>Flat (CPU)</a:t>
                      </a:r>
                    </a:p>
                  </a:txBody>
                  <a:tcPr>
                    <a:solidFill>
                      <a:srgbClr val="111834"/>
                    </a:solidFill>
                  </a:tcPr>
                </a:tc>
                <a:tc>
                  <a:txBody>
                    <a:bodyPr/>
                    <a:lstStyle/>
                    <a:p>
                      <a:r>
                        <a:rPr sz="1400" b="0">
                          <a:solidFill>
                            <a:srgbClr val="E8EEFA"/>
                          </a:solidFill>
                          <a:latin typeface="Segoe UI"/>
                        </a:rPr>
                        <a:t>50–150 ms</a:t>
                      </a:r>
                    </a:p>
                  </a:txBody>
                  <a:tcPr>
                    <a:solidFill>
                      <a:srgbClr val="111834"/>
                    </a:solidFill>
                  </a:tcPr>
                </a:tc>
                <a:tc>
                  <a:txBody>
                    <a:bodyPr/>
                    <a:lstStyle/>
                    <a:p>
                      <a:r>
                        <a:rPr sz="1400" b="0">
                          <a:solidFill>
                            <a:srgbClr val="E8EEFA"/>
                          </a:solidFill>
                          <a:latin typeface="Segoe UI"/>
                        </a:rPr>
                        <a:t>3 GB</a:t>
                      </a:r>
                    </a:p>
                  </a:txBody>
                  <a:tcPr>
                    <a:solidFill>
                      <a:srgbClr val="111834"/>
                    </a:solidFill>
                  </a:tcPr>
                </a:tc>
                <a:tc>
                  <a:txBody>
                    <a:bodyPr/>
                    <a:lstStyle/>
                    <a:p>
                      <a:r>
                        <a:rPr sz="1400" b="0">
                          <a:solidFill>
                            <a:srgbClr val="E8EEFA"/>
                          </a:solidFill>
                          <a:latin typeface="Segoe UI"/>
                        </a:rPr>
                        <a:t>100 %</a:t>
                      </a:r>
                    </a:p>
                  </a:txBody>
                  <a:tcPr>
                    <a:solidFill>
                      <a:srgbClr val="111834"/>
                    </a:solidFill>
                  </a:tcPr>
                </a:tc>
                <a:tc>
                  <a:txBody>
                    <a:bodyPr/>
                    <a:lstStyle/>
                    <a:p>
                      <a:r>
                        <a:rPr sz="1400" b="0">
                          <a:solidFill>
                            <a:srgbClr val="E8EEFA"/>
                          </a:solidFill>
                          <a:latin typeface="Segoe UI"/>
                        </a:rPr>
                        <a:t>0</a:t>
                      </a:r>
                    </a:p>
                  </a:txBody>
                  <a:tcPr>
                    <a:solidFill>
                      <a:srgbClr val="111834"/>
                    </a:solidFill>
                  </a:tcPr>
                </a:tc>
              </a:tr>
              <a:tr h="520000">
                <a:tc>
                  <a:txBody>
                    <a:bodyPr/>
                    <a:lstStyle/>
                    <a:p>
                      <a:r>
                        <a:rPr sz="1400" b="0">
                          <a:solidFill>
                            <a:srgbClr val="E8EEFA"/>
                          </a:solidFill>
                          <a:latin typeface="Segoe UI"/>
                        </a:rPr>
                        <a:t>Flat (GPU)</a:t>
                      </a:r>
                    </a:p>
                  </a:txBody>
                  <a:tcPr>
                    <a:solidFill>
                      <a:srgbClr val="161F40"/>
                    </a:solidFill>
                  </a:tcPr>
                </a:tc>
                <a:tc>
                  <a:txBody>
                    <a:bodyPr/>
                    <a:lstStyle/>
                    <a:p>
                      <a:r>
                        <a:rPr sz="1400" b="0">
                          <a:solidFill>
                            <a:srgbClr val="E8EEFA"/>
                          </a:solidFill>
                          <a:latin typeface="Segoe UI"/>
                        </a:rPr>
                        <a:t>1–3 ms</a:t>
                      </a:r>
                    </a:p>
                  </a:txBody>
                  <a:tcPr>
                    <a:solidFill>
                      <a:srgbClr val="161F40"/>
                    </a:solidFill>
                  </a:tcPr>
                </a:tc>
                <a:tc>
                  <a:txBody>
                    <a:bodyPr/>
                    <a:lstStyle/>
                    <a:p>
                      <a:r>
                        <a:rPr sz="1400" b="0">
                          <a:solidFill>
                            <a:srgbClr val="E8EEFA"/>
                          </a:solidFill>
                          <a:latin typeface="Segoe UI"/>
                        </a:rPr>
                        <a:t>3 GB</a:t>
                      </a:r>
                    </a:p>
                  </a:txBody>
                  <a:tcPr>
                    <a:solidFill>
                      <a:srgbClr val="161F40"/>
                    </a:solidFill>
                  </a:tcPr>
                </a:tc>
                <a:tc>
                  <a:txBody>
                    <a:bodyPr/>
                    <a:lstStyle/>
                    <a:p>
                      <a:r>
                        <a:rPr sz="1400" b="0">
                          <a:solidFill>
                            <a:srgbClr val="E8EEFA"/>
                          </a:solidFill>
                          <a:latin typeface="Segoe UI"/>
                        </a:rPr>
                        <a:t>100 %</a:t>
                      </a:r>
                    </a:p>
                  </a:txBody>
                  <a:tcPr>
                    <a:solidFill>
                      <a:srgbClr val="161F40"/>
                    </a:solidFill>
                  </a:tcPr>
                </a:tc>
                <a:tc>
                  <a:txBody>
                    <a:bodyPr/>
                    <a:lstStyle/>
                    <a:p>
                      <a:r>
                        <a:rPr sz="1400" b="0">
                          <a:solidFill>
                            <a:srgbClr val="E8EEFA"/>
                          </a:solidFill>
                          <a:latin typeface="Segoe UI"/>
                        </a:rPr>
                        <a:t>0</a:t>
                      </a:r>
                    </a:p>
                  </a:txBody>
                  <a:tcPr>
                    <a:solidFill>
                      <a:srgbClr val="161F40"/>
                    </a:solidFill>
                  </a:tcPr>
                </a:tc>
              </a:tr>
              <a:tr h="520000">
                <a:tc>
                  <a:txBody>
                    <a:bodyPr/>
                    <a:lstStyle/>
                    <a:p>
                      <a:r>
                        <a:rPr sz="1400" b="0">
                          <a:solidFill>
                            <a:srgbClr val="E8EEFA"/>
                          </a:solidFill>
                          <a:latin typeface="Segoe UI"/>
                        </a:rPr>
                        <a:t>IVF1024, nprobe=16</a:t>
                      </a:r>
                    </a:p>
                  </a:txBody>
                  <a:tcPr>
                    <a:solidFill>
                      <a:srgbClr val="111834"/>
                    </a:solidFill>
                  </a:tcPr>
                </a:tc>
                <a:tc>
                  <a:txBody>
                    <a:bodyPr/>
                    <a:lstStyle/>
                    <a:p>
                      <a:r>
                        <a:rPr sz="1400" b="0">
                          <a:solidFill>
                            <a:srgbClr val="E8EEFA"/>
                          </a:solidFill>
                          <a:latin typeface="Segoe UI"/>
                        </a:rPr>
                        <a:t>2–5 ms</a:t>
                      </a:r>
                    </a:p>
                  </a:txBody>
                  <a:tcPr>
                    <a:solidFill>
                      <a:srgbClr val="111834"/>
                    </a:solidFill>
                  </a:tcPr>
                </a:tc>
                <a:tc>
                  <a:txBody>
                    <a:bodyPr/>
                    <a:lstStyle/>
                    <a:p>
                      <a:r>
                        <a:rPr sz="1400" b="0">
                          <a:solidFill>
                            <a:srgbClr val="E8EEFA"/>
                          </a:solidFill>
                          <a:latin typeface="Segoe UI"/>
                        </a:rPr>
                        <a:t>3 GB</a:t>
                      </a:r>
                    </a:p>
                  </a:txBody>
                  <a:tcPr>
                    <a:solidFill>
                      <a:srgbClr val="111834"/>
                    </a:solidFill>
                  </a:tcPr>
                </a:tc>
                <a:tc>
                  <a:txBody>
                    <a:bodyPr/>
                    <a:lstStyle/>
                    <a:p>
                      <a:r>
                        <a:rPr sz="1400" b="0">
                          <a:solidFill>
                            <a:srgbClr val="E8EEFA"/>
                          </a:solidFill>
                          <a:latin typeface="Segoe UI"/>
                        </a:rPr>
                        <a:t>90–95 %</a:t>
                      </a:r>
                    </a:p>
                  </a:txBody>
                  <a:tcPr>
                    <a:solidFill>
                      <a:srgbClr val="111834"/>
                    </a:solidFill>
                  </a:tcPr>
                </a:tc>
                <a:tc>
                  <a:txBody>
                    <a:bodyPr/>
                    <a:lstStyle/>
                    <a:p>
                      <a:r>
                        <a:rPr sz="1400" b="0">
                          <a:solidFill>
                            <a:srgbClr val="E8EEFA"/>
                          </a:solidFill>
                          <a:latin typeface="Segoe UI"/>
                        </a:rPr>
                        <a:t>daqiqalar</a:t>
                      </a:r>
                    </a:p>
                  </a:txBody>
                  <a:tcPr>
                    <a:solidFill>
                      <a:srgbClr val="111834"/>
                    </a:solidFill>
                  </a:tcPr>
                </a:tc>
              </a:tr>
              <a:tr h="520000">
                <a:tc>
                  <a:txBody>
                    <a:bodyPr/>
                    <a:lstStyle/>
                    <a:p>
                      <a:r>
                        <a:rPr sz="1400" b="0">
                          <a:solidFill>
                            <a:srgbClr val="E8EEFA"/>
                          </a:solidFill>
                          <a:latin typeface="Segoe UI"/>
                        </a:rPr>
                        <a:t>HNSW32, ef=64</a:t>
                      </a:r>
                    </a:p>
                  </a:txBody>
                  <a:tcPr>
                    <a:solidFill>
                      <a:srgbClr val="161F40"/>
                    </a:solidFill>
                  </a:tcPr>
                </a:tc>
                <a:tc>
                  <a:txBody>
                    <a:bodyPr/>
                    <a:lstStyle/>
                    <a:p>
                      <a:r>
                        <a:rPr sz="1400" b="0">
                          <a:solidFill>
                            <a:srgbClr val="E8EEFA"/>
                          </a:solidFill>
                          <a:latin typeface="Segoe UI"/>
                        </a:rPr>
                        <a:t>0,3–1 ms</a:t>
                      </a:r>
                    </a:p>
                  </a:txBody>
                  <a:tcPr>
                    <a:solidFill>
                      <a:srgbClr val="161F40"/>
                    </a:solidFill>
                  </a:tcPr>
                </a:tc>
                <a:tc>
                  <a:txBody>
                    <a:bodyPr/>
                    <a:lstStyle/>
                    <a:p>
                      <a:r>
                        <a:rPr sz="1400" b="0">
                          <a:solidFill>
                            <a:srgbClr val="E8EEFA"/>
                          </a:solidFill>
                          <a:latin typeface="Segoe UI"/>
                        </a:rPr>
                        <a:t>4–5 GB</a:t>
                      </a:r>
                    </a:p>
                  </a:txBody>
                  <a:tcPr>
                    <a:solidFill>
                      <a:srgbClr val="161F40"/>
                    </a:solidFill>
                  </a:tcPr>
                </a:tc>
                <a:tc>
                  <a:txBody>
                    <a:bodyPr/>
                    <a:lstStyle/>
                    <a:p>
                      <a:r>
                        <a:rPr sz="1400" b="0">
                          <a:solidFill>
                            <a:srgbClr val="E8EEFA"/>
                          </a:solidFill>
                          <a:latin typeface="Segoe UI"/>
                        </a:rPr>
                        <a:t>97–99 %</a:t>
                      </a:r>
                    </a:p>
                  </a:txBody>
                  <a:tcPr>
                    <a:solidFill>
                      <a:srgbClr val="161F40"/>
                    </a:solidFill>
                  </a:tcPr>
                </a:tc>
                <a:tc>
                  <a:txBody>
                    <a:bodyPr/>
                    <a:lstStyle/>
                    <a:p>
                      <a:r>
                        <a:rPr sz="1400" b="0">
                          <a:solidFill>
                            <a:srgbClr val="E8EEFA"/>
                          </a:solidFill>
                          <a:latin typeface="Segoe UI"/>
                        </a:rPr>
                        <a:t>10–30 daqiqa</a:t>
                      </a:r>
                    </a:p>
                  </a:txBody>
                  <a:tcPr>
                    <a:solidFill>
                      <a:srgbClr val="161F40"/>
                    </a:solidFill>
                  </a:tcPr>
                </a:tc>
              </a:tr>
              <a:tr h="520000">
                <a:tc>
                  <a:txBody>
                    <a:bodyPr/>
                    <a:lstStyle/>
                    <a:p>
                      <a:r>
                        <a:rPr sz="1400" b="0">
                          <a:solidFill>
                            <a:srgbClr val="E8EEFA"/>
                          </a:solidFill>
                          <a:latin typeface="Segoe UI"/>
                        </a:rPr>
                        <a:t>IVF1024,PQ64</a:t>
                      </a:r>
                    </a:p>
                  </a:txBody>
                  <a:tcPr>
                    <a:solidFill>
                      <a:srgbClr val="111834"/>
                    </a:solidFill>
                  </a:tcPr>
                </a:tc>
                <a:tc>
                  <a:txBody>
                    <a:bodyPr/>
                    <a:lstStyle/>
                    <a:p>
                      <a:r>
                        <a:rPr sz="1400" b="0">
                          <a:solidFill>
                            <a:srgbClr val="E8EEFA"/>
                          </a:solidFill>
                          <a:latin typeface="Segoe UI"/>
                        </a:rPr>
                        <a:t>1–3 ms</a:t>
                      </a:r>
                    </a:p>
                  </a:txBody>
                  <a:tcPr>
                    <a:solidFill>
                      <a:srgbClr val="111834"/>
                    </a:solidFill>
                  </a:tcPr>
                </a:tc>
                <a:tc>
                  <a:txBody>
                    <a:bodyPr/>
                    <a:lstStyle/>
                    <a:p>
                      <a:r>
                        <a:rPr sz="1400" b="0">
                          <a:solidFill>
                            <a:srgbClr val="E8EEFA"/>
                          </a:solidFill>
                          <a:latin typeface="Segoe UI"/>
                        </a:rPr>
                        <a:t>0,1 GB</a:t>
                      </a:r>
                    </a:p>
                  </a:txBody>
                  <a:tcPr>
                    <a:solidFill>
                      <a:srgbClr val="111834"/>
                    </a:solidFill>
                  </a:tcPr>
                </a:tc>
                <a:tc>
                  <a:txBody>
                    <a:bodyPr/>
                    <a:lstStyle/>
                    <a:p>
                      <a:r>
                        <a:rPr sz="1400" b="0">
                          <a:solidFill>
                            <a:srgbClr val="E8EEFA"/>
                          </a:solidFill>
                          <a:latin typeface="Segoe UI"/>
                        </a:rPr>
                        <a:t>80–90 %</a:t>
                      </a:r>
                    </a:p>
                  </a:txBody>
                  <a:tcPr>
                    <a:solidFill>
                      <a:srgbClr val="111834"/>
                    </a:solidFill>
                  </a:tcPr>
                </a:tc>
                <a:tc>
                  <a:txBody>
                    <a:bodyPr/>
                    <a:lstStyle/>
                    <a:p>
                      <a:r>
                        <a:rPr sz="1400" b="0">
                          <a:solidFill>
                            <a:srgbClr val="E8EEFA"/>
                          </a:solidFill>
                          <a:latin typeface="Segoe UI"/>
                        </a:rPr>
                        <a:t>daqiqalar</a:t>
                      </a:r>
                    </a:p>
                  </a:txBody>
                  <a:tcPr>
                    <a:solidFill>
                      <a:srgbClr val="111834"/>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wipe(left)">
                                      <p:cBhvr>
                                        <p:cTn id="16" dur="8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163d2bd924bd2a80.jpg"/>
          <p:cNvPicPr>
            <a:picLocks noChangeAspect="1"/>
          </p:cNvPicPr>
          <p:nvPr/>
        </p:nvPicPr>
        <p:blipFill>
          <a:blip r:embed="rId2"/>
          <a:srcRect t="3302" b="3302"/>
          <a:stretch>
            <a:fillRect/>
          </a:stretch>
        </p:blipFill>
        <p:spPr>
          <a:xfrm>
            <a:off x="6300000" y="800000"/>
            <a:ext cx="5300000" cy="4950000"/>
          </a:xfrm>
          <a:prstGeom prst="roundRect">
            <a:avLst/>
          </a:prstGeom>
          <a:ln w="19050">
            <a:solidFill>
              <a:srgbClr val="22D3EE"/>
            </a:solidFill>
          </a:ln>
        </p:spPr>
      </p:pic>
      <p:sp>
        <p:nvSpPr>
          <p:cNvPr id="40" name="TextBox 39"/>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Nicholas-halodi · Wikimedia Commons · CC BY-SA 4.0</a:t>
            </a:r>
          </a:p>
        </p:txBody>
      </p:sp>
      <p:sp>
        <p:nvSpPr>
          <p:cNvPr id="41" name="TextBox 40"/>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04</a:t>
            </a:r>
          </a:p>
        </p:txBody>
      </p:sp>
      <p:sp>
        <p:nvSpPr>
          <p:cNvPr id="42" name="TextBox 41"/>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3" name="TextBox 42"/>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Sun'iy intellekt agentlari</a:t>
            </a:r>
          </a:p>
        </p:txBody>
      </p:sp>
      <p:sp>
        <p:nvSpPr>
          <p:cNvPr id="44" name="Rectangle 43"/>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150"/>
                            </p:stCondLst>
                            <p:childTnLst>
                              <p:par>
                                <p:cTn id="144" presetID="53" presetClass="entr" presetSubtype="16"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anim calcmode="lin" valueType="num">
                                      <p:cBhvr additive="base">
                                        <p:cTn id="147" dur="550" fill="hold"/>
                                        <p:tgtEl>
                                          <p:spTgt spid="38"/>
                                        </p:tgtEl>
                                        <p:attrNameLst>
                                          <p:attrName>ppt_w</p:attrName>
                                        </p:attrNameLst>
                                      </p:cBhvr>
                                      <p:tavLst>
                                        <p:tav tm="0">
                                          <p:val>
                                            <p:strVal val="0"/>
                                          </p:val>
                                        </p:tav>
                                        <p:tav tm="100000">
                                          <p:val>
                                            <p:strVal val="#ppt_w"/>
                                          </p:val>
                                        </p:tav>
                                      </p:tavLst>
                                    </p:anim>
                                    <p:anim calcmode="lin" valueType="num">
                                      <p:cBhvr additive="base">
                                        <p:cTn id="148" dur="550" fill="hold"/>
                                        <p:tgtEl>
                                          <p:spTgt spid="38"/>
                                        </p:tgtEl>
                                        <p:attrNameLst>
                                          <p:attrName>ppt_h</p:attrName>
                                        </p:attrNameLst>
                                      </p:cBhvr>
                                      <p:tavLst>
                                        <p:tav tm="0">
                                          <p:val>
                                            <p:strVal val="0"/>
                                          </p:val>
                                        </p:tav>
                                        <p:tav tm="100000">
                                          <p:val>
                                            <p:strVal val="#ppt_h"/>
                                          </p:val>
                                        </p:tav>
                                      </p:tavLst>
                                    </p:anim>
                                  </p:childTnLst>
                                </p:cTn>
                              </p:par>
                            </p:childTnLst>
                          </p:cTn>
                        </p:par>
                        <p:par>
                          <p:cTn id="149" fill="hold">
                            <p:stCondLst>
                              <p:cond delay="150"/>
                            </p:stCondLst>
                            <p:childTnLst>
                              <p:par>
                                <p:cTn id="150" presetID="53" presetClass="entr" presetSubtype="16" fill="hold" grpId="0" nodeType="afterEffect">
                                  <p:stCondLst>
                                    <p:cond delay="0"/>
                                  </p:stCondLst>
                                  <p:childTnLst>
                                    <p:set>
                                      <p:cBhvr>
                                        <p:cTn id="151" dur="1" fill="hold">
                                          <p:stCondLst>
                                            <p:cond delay="0"/>
                                          </p:stCondLst>
                                        </p:cTn>
                                        <p:tgtEl>
                                          <p:spTgt spid="39"/>
                                        </p:tgtEl>
                                        <p:attrNameLst>
                                          <p:attrName>style.visibility</p:attrName>
                                        </p:attrNameLst>
                                      </p:cBhvr>
                                      <p:to>
                                        <p:strVal val="visible"/>
                                      </p:to>
                                    </p:set>
                                    <p:animEffect transition="in" filter="fade">
                                      <p:cBhvr>
                                        <p:cTn id="152" dur="550"/>
                                        <p:tgtEl>
                                          <p:spTgt spid="39"/>
                                        </p:tgtEl>
                                      </p:cBhvr>
                                    </p:animEffect>
                                    <p:anim calcmode="lin" valueType="num">
                                      <p:cBhvr additive="base">
                                        <p:cTn id="153" dur="550" fill="hold"/>
                                        <p:tgtEl>
                                          <p:spTgt spid="39"/>
                                        </p:tgtEl>
                                        <p:attrNameLst>
                                          <p:attrName>ppt_w</p:attrName>
                                        </p:attrNameLst>
                                      </p:cBhvr>
                                      <p:tavLst>
                                        <p:tav tm="0">
                                          <p:val>
                                            <p:strVal val="0"/>
                                          </p:val>
                                        </p:tav>
                                        <p:tav tm="100000">
                                          <p:val>
                                            <p:strVal val="#ppt_w"/>
                                          </p:val>
                                        </p:tav>
                                      </p:tavLst>
                                    </p:anim>
                                    <p:anim calcmode="lin" valueType="num">
                                      <p:cBhvr additive="base">
                                        <p:cTn id="154" dur="550" fill="hold"/>
                                        <p:tgtEl>
                                          <p:spTgt spid="39"/>
                                        </p:tgtEl>
                                        <p:attrNameLst>
                                          <p:attrName>ppt_h</p:attrName>
                                        </p:attrNameLst>
                                      </p:cBhvr>
                                      <p:tavLst>
                                        <p:tav tm="0">
                                          <p:val>
                                            <p:strVal val="0"/>
                                          </p:val>
                                        </p:tav>
                                        <p:tav tm="100000">
                                          <p:val>
                                            <p:strVal val="#ppt_h"/>
                                          </p:val>
                                        </p:tav>
                                      </p:tavLst>
                                    </p:anim>
                                  </p:childTnLst>
                                </p:cTn>
                              </p:par>
                            </p:childTnLst>
                          </p:cTn>
                        </p:par>
                        <p:par>
                          <p:cTn id="155" fill="hold">
                            <p:stCondLst>
                              <p:cond delay="150"/>
                            </p:stCondLst>
                            <p:childTnLst>
                              <p:par>
                                <p:cTn id="156" presetID="10" presetClass="entr" presetSubtype="0" fill="hold" grpId="0" nodeType="afterEffect">
                                  <p:stCondLst>
                                    <p:cond delay="0"/>
                                  </p:stCondLst>
                                  <p:childTnLst>
                                    <p:set>
                                      <p:cBhvr>
                                        <p:cTn id="157" dur="1" fill="hold">
                                          <p:stCondLst>
                                            <p:cond delay="0"/>
                                          </p:stCondLst>
                                        </p:cTn>
                                        <p:tgtEl>
                                          <p:spTgt spid="40"/>
                                        </p:tgtEl>
                                        <p:attrNameLst>
                                          <p:attrName>style.visibility</p:attrName>
                                        </p:attrNameLst>
                                      </p:cBhvr>
                                      <p:to>
                                        <p:strVal val="visible"/>
                                      </p:to>
                                    </p:set>
                                    <p:animEffect transition="in" filter="fade">
                                      <p:cBhvr>
                                        <p:cTn id="158" dur="550"/>
                                        <p:tgtEl>
                                          <p:spTgt spid="40"/>
                                        </p:tgtEl>
                                      </p:cBhvr>
                                    </p:animEffect>
                                  </p:childTnLst>
                                </p:cTn>
                              </p:par>
                            </p:childTnLst>
                          </p:cTn>
                        </p:par>
                        <p:par>
                          <p:cTn id="159" fill="hold">
                            <p:stCondLst>
                              <p:cond delay="350"/>
                            </p:stCondLst>
                            <p:childTnLst>
                              <p:par>
                                <p:cTn id="160" presetID="53" presetClass="entr" presetSubtype="16"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anim calcmode="lin" valueType="num">
                                      <p:cBhvr additive="base">
                                        <p:cTn id="163" dur="550" fill="hold"/>
                                        <p:tgtEl>
                                          <p:spTgt spid="41"/>
                                        </p:tgtEl>
                                        <p:attrNameLst>
                                          <p:attrName>ppt_w</p:attrName>
                                        </p:attrNameLst>
                                      </p:cBhvr>
                                      <p:tavLst>
                                        <p:tav tm="0">
                                          <p:val>
                                            <p:strVal val="0"/>
                                          </p:val>
                                        </p:tav>
                                        <p:tav tm="100000">
                                          <p:val>
                                            <p:strVal val="#ppt_w"/>
                                          </p:val>
                                        </p:tav>
                                      </p:tavLst>
                                    </p:anim>
                                    <p:anim calcmode="lin" valueType="num">
                                      <p:cBhvr additive="base">
                                        <p:cTn id="164" dur="550" fill="hold"/>
                                        <p:tgtEl>
                                          <p:spTgt spid="41"/>
                                        </p:tgtEl>
                                        <p:attrNameLst>
                                          <p:attrName>ppt_h</p:attrName>
                                        </p:attrNameLst>
                                      </p:cBhvr>
                                      <p:tavLst>
                                        <p:tav tm="0">
                                          <p:val>
                                            <p:strVal val="0"/>
                                          </p:val>
                                        </p:tav>
                                        <p:tav tm="100000">
                                          <p:val>
                                            <p:strVal val="#ppt_h"/>
                                          </p:val>
                                        </p:tav>
                                      </p:tavLst>
                                    </p:anim>
                                  </p:childTnLst>
                                </p:cTn>
                              </p:par>
                            </p:childTnLst>
                          </p:cTn>
                        </p:par>
                        <p:par>
                          <p:cTn id="165" fill="hold">
                            <p:stCondLst>
                              <p:cond delay="450"/>
                            </p:stCondLst>
                            <p:childTnLst>
                              <p:par>
                                <p:cTn id="166" presetID="10" presetClass="entr" presetSubtype="0" fill="hold" grpId="0" nodeType="afterEffect">
                                  <p:stCondLst>
                                    <p:cond delay="0"/>
                                  </p:stCondLst>
                                  <p:childTnLst>
                                    <p:set>
                                      <p:cBhvr>
                                        <p:cTn id="167" dur="1" fill="hold">
                                          <p:stCondLst>
                                            <p:cond delay="0"/>
                                          </p:stCondLst>
                                        </p:cTn>
                                        <p:tgtEl>
                                          <p:spTgt spid="42"/>
                                        </p:tgtEl>
                                        <p:attrNameLst>
                                          <p:attrName>style.visibility</p:attrName>
                                        </p:attrNameLst>
                                      </p:cBhvr>
                                      <p:to>
                                        <p:strVal val="visible"/>
                                      </p:to>
                                    </p:set>
                                    <p:animEffect transition="in" filter="fade">
                                      <p:cBhvr>
                                        <p:cTn id="168" dur="550"/>
                                        <p:tgtEl>
                                          <p:spTgt spid="42"/>
                                        </p:tgtEl>
                                      </p:cBhvr>
                                    </p:animEffect>
                                  </p:childTnLst>
                                </p:cTn>
                              </p:par>
                            </p:childTnLst>
                          </p:cTn>
                        </p:par>
                        <p:par>
                          <p:cTn id="169" fill="hold">
                            <p:stCondLst>
                              <p:cond delay="550"/>
                            </p:stCondLst>
                            <p:childTnLst>
                              <p:par>
                                <p:cTn id="170" presetID="2" presetClass="entr" presetSubtype="8"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 calcmode="lin" valueType="num">
                                      <p:cBhvr additive="base">
                                        <p:cTn id="173" dur="550" fill="hold"/>
                                        <p:tgtEl>
                                          <p:spTgt spid="43"/>
                                        </p:tgtEl>
                                        <p:attrNameLst>
                                          <p:attrName>ppt_x</p:attrName>
                                        </p:attrNameLst>
                                      </p:cBhvr>
                                      <p:tavLst>
                                        <p:tav tm="0">
                                          <p:val>
                                            <p:strVal val="0-#ppt_w/2"/>
                                          </p:val>
                                        </p:tav>
                                        <p:tav tm="100000">
                                          <p:val>
                                            <p:strVal val="#ppt_x"/>
                                          </p:val>
                                        </p:tav>
                                      </p:tavLst>
                                    </p:anim>
                                    <p:anim calcmode="lin" valueType="num">
                                      <p:cBhvr additive="base">
                                        <p:cTn id="174" dur="550" fill="hold"/>
                                        <p:tgtEl>
                                          <p:spTgt spid="43"/>
                                        </p:tgtEl>
                                        <p:attrNameLst>
                                          <p:attrName>ppt_y</p:attrName>
                                        </p:attrNameLst>
                                      </p:cBhvr>
                                      <p:tavLst>
                                        <p:tav tm="0">
                                          <p:val>
                                            <p:strVal val="#ppt_y"/>
                                          </p:val>
                                        </p:tav>
                                        <p:tav tm="100000">
                                          <p:val>
                                            <p:strVal val="#ppt_y"/>
                                          </p:val>
                                        </p:tav>
                                      </p:tavLst>
                                    </p:anim>
                                  </p:childTnLst>
                                </p:cTn>
                              </p:par>
                            </p:childTnLst>
                          </p:cTn>
                        </p:par>
                        <p:par>
                          <p:cTn id="175" fill="hold">
                            <p:stCondLst>
                              <p:cond delay="650"/>
                            </p:stCondLst>
                            <p:childTnLst>
                              <p:par>
                                <p:cTn id="176" presetID="22" presetClass="entr" presetSubtype="8" fill="hold" grpId="0" nodeType="afterEffect">
                                  <p:stCondLst>
                                    <p:cond delay="0"/>
                                  </p:stCondLst>
                                  <p:childTnLst>
                                    <p:set>
                                      <p:cBhvr>
                                        <p:cTn id="177" dur="1" fill="hold">
                                          <p:stCondLst>
                                            <p:cond delay="0"/>
                                          </p:stCondLst>
                                        </p:cTn>
                                        <p:tgtEl>
                                          <p:spTgt spid="44"/>
                                        </p:tgtEl>
                                        <p:attrNameLst>
                                          <p:attrName>style.visibility</p:attrName>
                                        </p:attrNameLst>
                                      </p:cBhvr>
                                      <p:to>
                                        <p:strVal val="visible"/>
                                      </p:to>
                                    </p:set>
                                    <p:animEffect transition="in" filter="wipe(left)">
                                      <p:cBhvr>
                                        <p:cTn id="179" dur="8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40" grpId="0" animBg="1"/>
      <p:bldP spid="41" grpId="0" animBg="1"/>
      <p:bldP spid="42" grpId="0" animBg="1"/>
      <p:bldP spid="43" grpId="0" animBg="1"/>
      <p:bldP spid="44"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Sun'iy intellekt agentlari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M11 · Katta til modellari uchun kompyuter tizimlari va hisoblash infratuzilmasi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16</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f710a5104379813.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Chris Rycroft from Cambridge, Massachusetts, United States · Wikimedia Commons · CC BY 2.0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879476"/>
            <a:ext cx="6750000" cy="185552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1959476"/>
            <a:ext cx="50000" cy="169552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607238"/>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1919476"/>
            <a:ext cx="5900000" cy="1775524"/>
          </a:xfrm>
          <a:prstGeom prst="rect">
            <a:avLst/>
          </a:prstGeom>
          <a:noFill/>
        </p:spPr>
        <p:txBody>
          <a:bodyPr wrap="square" anchor="ctr">
            <a:spAutoFit/>
          </a:bodyPr>
          <a:lstStyle/>
          <a:p>
            <a:r>
              <a:rPr sz="1400" b="1">
                <a:solidFill>
                  <a:srgbClr val="E8EEFA"/>
                </a:solidFill>
                <a:latin typeface="Segoe UI"/>
              </a:rPr>
              <a:t>Agent — LLM'ni qaror qabul qiluvchi «miya» sifatida ishlatuvchi, vositalar (tools) bilan muhit bilan o'zaro ta'sir qiluvchi va ko'p qadamli vazifalarni bajaruvchi tizim.</a:t>
            </a:r>
          </a:p>
          <a:p>
            <a:pPr>
              <a:spcBef>
                <a:spcPts val="400"/>
              </a:spcBef>
            </a:pPr>
            <a:r>
              <a:rPr sz="1300">
                <a:solidFill>
                  <a:srgbClr val="AEBBD9"/>
                </a:solidFill>
                <a:latin typeface="Segoe UI"/>
              </a:rPr>
              <a:t>ReAct naqshi (reasoning + acting) asosiy sikl: model fikrlaydi, vosita chaqiruvini tuziladigan formatda (JSON) chiqaradi, tizim vositani bajaradi (qidiruv, kod, SQL, API), natija promptga qaytariladi, sikl takrorlanadi.</a:t>
            </a:r>
          </a:p>
        </p:txBody>
      </p:sp>
      <p:sp>
        <p:nvSpPr>
          <p:cNvPr id="32" name="Rounded Rectangle 31"/>
          <p:cNvSpPr/>
          <p:nvPr/>
        </p:nvSpPr>
        <p:spPr>
          <a:xfrm>
            <a:off x="550000" y="3845000"/>
            <a:ext cx="6750000" cy="185552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169552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572762"/>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5" name="TextBox 34"/>
          <p:cNvSpPr txBox="1"/>
          <p:nvPr/>
        </p:nvSpPr>
        <p:spPr>
          <a:xfrm>
            <a:off x="1300000" y="3885000"/>
            <a:ext cx="5900000" cy="1775524"/>
          </a:xfrm>
          <a:prstGeom prst="rect">
            <a:avLst/>
          </a:prstGeom>
          <a:noFill/>
        </p:spPr>
        <p:txBody>
          <a:bodyPr wrap="square" anchor="ctr">
            <a:spAutoFit/>
          </a:bodyPr>
          <a:lstStyle/>
          <a:p>
            <a:r>
              <a:rPr sz="1400" b="1">
                <a:solidFill>
                  <a:srgbClr val="E8EEFA"/>
                </a:solidFill>
                <a:latin typeface="Segoe UI"/>
              </a:rPr>
              <a:t>Infratuzilma nuqtai nazaridan agentlar uch yangi talab qo'yadi.</a:t>
            </a:r>
          </a:p>
          <a:p>
            <a:pPr>
              <a:spcBef>
                <a:spcPts val="400"/>
              </a:spcBef>
            </a:pPr>
            <a:r>
              <a:rPr sz="1300">
                <a:solidFill>
                  <a:srgbClr val="AEBBD9"/>
                </a:solidFill>
                <a:latin typeface="Segoe UI"/>
              </a:rPr>
              <a:t>Birinchidan, kechikish zanjiri: bitta foydalanuvchi vazifasi 5–20 ta LLM chaqiruvi va vosita bajarilishidan iborat, umumiy vaqt o'nlab soniya; shuning uchun har chaqiruvning TTFT va prefiks keshlash hal qiluvchi, oqimli (streaming) javob va parallel vosita chaqiruvi zarur.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f54d972447804f97.jpg"/>
          <p:cNvPicPr>
            <a:picLocks noChangeAspect="1"/>
          </p:cNvPicPr>
          <p:nvPr/>
        </p:nvPicPr>
        <p:blipFill>
          <a:blip r:embed="rId2"/>
          <a:srcRect l="23274" r="23274"/>
          <a:stretch>
            <a:fillRect/>
          </a:stretch>
        </p:blipFill>
        <p:spPr>
          <a:xfrm>
            <a:off x="6300000" y="800000"/>
            <a:ext cx="5300000" cy="4950000"/>
          </a:xfrm>
          <a:prstGeom prst="roundRect">
            <a:avLst/>
          </a:prstGeom>
          <a:ln w="19050">
            <a:solidFill>
              <a:srgbClr val="22D3EE"/>
            </a:solidFill>
          </a:ln>
        </p:spPr>
      </p:pic>
      <p:sp>
        <p:nvSpPr>
          <p:cNvPr id="42" name="TextBox 41"/>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Daniel Lu (User:dllu) · Wikimedia Commons · CC BY-SA 4.0</a:t>
            </a:r>
          </a:p>
        </p:txBody>
      </p:sp>
      <p:sp>
        <p:nvSpPr>
          <p:cNvPr id="43" name="TextBox 42"/>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05</a:t>
            </a:r>
          </a:p>
        </p:txBody>
      </p:sp>
      <p:sp>
        <p:nvSpPr>
          <p:cNvPr id="44" name="TextBox 43"/>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5" name="TextBox 44"/>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LLM uchun GPU klasterlari va yuqori unumdor infratuzilma</a:t>
            </a:r>
          </a:p>
        </p:txBody>
      </p:sp>
      <p:sp>
        <p:nvSpPr>
          <p:cNvPr id="46" name="Rectangle 45"/>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8"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150"/>
                            </p:stCondLst>
                            <p:childTnLst>
                              <p:par>
                                <p:cTn id="152" presetID="53" presetClass="entr" presetSubtype="16"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anim calcmode="lin" valueType="num">
                                      <p:cBhvr additive="base">
                                        <p:cTn id="155" dur="550" fill="hold"/>
                                        <p:tgtEl>
                                          <p:spTgt spid="40"/>
                                        </p:tgtEl>
                                        <p:attrNameLst>
                                          <p:attrName>ppt_w</p:attrName>
                                        </p:attrNameLst>
                                      </p:cBhvr>
                                      <p:tavLst>
                                        <p:tav tm="0">
                                          <p:val>
                                            <p:strVal val="0"/>
                                          </p:val>
                                        </p:tav>
                                        <p:tav tm="100000">
                                          <p:val>
                                            <p:strVal val="#ppt_w"/>
                                          </p:val>
                                        </p:tav>
                                      </p:tavLst>
                                    </p:anim>
                                    <p:anim calcmode="lin" valueType="num">
                                      <p:cBhvr additive="base">
                                        <p:cTn id="156" dur="550" fill="hold"/>
                                        <p:tgtEl>
                                          <p:spTgt spid="40"/>
                                        </p:tgtEl>
                                        <p:attrNameLst>
                                          <p:attrName>ppt_h</p:attrName>
                                        </p:attrNameLst>
                                      </p:cBhvr>
                                      <p:tavLst>
                                        <p:tav tm="0">
                                          <p:val>
                                            <p:strVal val="0"/>
                                          </p:val>
                                        </p:tav>
                                        <p:tav tm="100000">
                                          <p:val>
                                            <p:strVal val="#ppt_h"/>
                                          </p:val>
                                        </p:tav>
                                      </p:tavLst>
                                    </p:anim>
                                  </p:childTnLst>
                                </p:cTn>
                              </p:par>
                            </p:childTnLst>
                          </p:cTn>
                        </p:par>
                        <p:par>
                          <p:cTn id="157" fill="hold">
                            <p:stCondLst>
                              <p:cond delay="150"/>
                            </p:stCondLst>
                            <p:childTnLst>
                              <p:par>
                                <p:cTn id="158" presetID="53" presetClass="entr" presetSubtype="16" fill="hold" grpId="0" nodeType="afterEffect">
                                  <p:stCondLst>
                                    <p:cond delay="0"/>
                                  </p:stCondLst>
                                  <p:childTnLst>
                                    <p:set>
                                      <p:cBhvr>
                                        <p:cTn id="159" dur="1" fill="hold">
                                          <p:stCondLst>
                                            <p:cond delay="0"/>
                                          </p:stCondLst>
                                        </p:cTn>
                                        <p:tgtEl>
                                          <p:spTgt spid="41"/>
                                        </p:tgtEl>
                                        <p:attrNameLst>
                                          <p:attrName>style.visibility</p:attrName>
                                        </p:attrNameLst>
                                      </p:cBhvr>
                                      <p:to>
                                        <p:strVal val="visible"/>
                                      </p:to>
                                    </p:set>
                                    <p:animEffect transition="in" filter="fade">
                                      <p:cBhvr>
                                        <p:cTn id="160" dur="550"/>
                                        <p:tgtEl>
                                          <p:spTgt spid="41"/>
                                        </p:tgtEl>
                                      </p:cBhvr>
                                    </p:animEffect>
                                    <p:anim calcmode="lin" valueType="num">
                                      <p:cBhvr additive="base">
                                        <p:cTn id="161" dur="550" fill="hold"/>
                                        <p:tgtEl>
                                          <p:spTgt spid="41"/>
                                        </p:tgtEl>
                                        <p:attrNameLst>
                                          <p:attrName>ppt_w</p:attrName>
                                        </p:attrNameLst>
                                      </p:cBhvr>
                                      <p:tavLst>
                                        <p:tav tm="0">
                                          <p:val>
                                            <p:strVal val="0"/>
                                          </p:val>
                                        </p:tav>
                                        <p:tav tm="100000">
                                          <p:val>
                                            <p:strVal val="#ppt_w"/>
                                          </p:val>
                                        </p:tav>
                                      </p:tavLst>
                                    </p:anim>
                                    <p:anim calcmode="lin" valueType="num">
                                      <p:cBhvr additive="base">
                                        <p:cTn id="162" dur="550" fill="hold"/>
                                        <p:tgtEl>
                                          <p:spTgt spid="41"/>
                                        </p:tgtEl>
                                        <p:attrNameLst>
                                          <p:attrName>ppt_h</p:attrName>
                                        </p:attrNameLst>
                                      </p:cBhvr>
                                      <p:tavLst>
                                        <p:tav tm="0">
                                          <p:val>
                                            <p:strVal val="0"/>
                                          </p:val>
                                        </p:tav>
                                        <p:tav tm="100000">
                                          <p:val>
                                            <p:strVal val="#ppt_h"/>
                                          </p:val>
                                        </p:tav>
                                      </p:tavLst>
                                    </p:anim>
                                  </p:childTnLst>
                                </p:cTn>
                              </p:par>
                            </p:childTnLst>
                          </p:cTn>
                        </p:par>
                        <p:par>
                          <p:cTn id="163" fill="hold">
                            <p:stCondLst>
                              <p:cond delay="150"/>
                            </p:stCondLst>
                            <p:childTnLst>
                              <p:par>
                                <p:cTn id="164" presetID="10" presetClass="entr" presetSubtype="0"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childTnLst>
                                </p:cTn>
                              </p:par>
                            </p:childTnLst>
                          </p:cTn>
                        </p:par>
                        <p:par>
                          <p:cTn id="167" fill="hold">
                            <p:stCondLst>
                              <p:cond delay="350"/>
                            </p:stCondLst>
                            <p:childTnLst>
                              <p:par>
                                <p:cTn id="168" presetID="53" presetClass="entr" presetSubtype="16"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anim calcmode="lin" valueType="num">
                                      <p:cBhvr additive="base">
                                        <p:cTn id="171" dur="550" fill="hold"/>
                                        <p:tgtEl>
                                          <p:spTgt spid="43"/>
                                        </p:tgtEl>
                                        <p:attrNameLst>
                                          <p:attrName>ppt_w</p:attrName>
                                        </p:attrNameLst>
                                      </p:cBhvr>
                                      <p:tavLst>
                                        <p:tav tm="0">
                                          <p:val>
                                            <p:strVal val="0"/>
                                          </p:val>
                                        </p:tav>
                                        <p:tav tm="100000">
                                          <p:val>
                                            <p:strVal val="#ppt_w"/>
                                          </p:val>
                                        </p:tav>
                                      </p:tavLst>
                                    </p:anim>
                                    <p:anim calcmode="lin" valueType="num">
                                      <p:cBhvr additive="base">
                                        <p:cTn id="172" dur="550" fill="hold"/>
                                        <p:tgtEl>
                                          <p:spTgt spid="43"/>
                                        </p:tgtEl>
                                        <p:attrNameLst>
                                          <p:attrName>ppt_h</p:attrName>
                                        </p:attrNameLst>
                                      </p:cBhvr>
                                      <p:tavLst>
                                        <p:tav tm="0">
                                          <p:val>
                                            <p:strVal val="0"/>
                                          </p:val>
                                        </p:tav>
                                        <p:tav tm="100000">
                                          <p:val>
                                            <p:strVal val="#ppt_h"/>
                                          </p:val>
                                        </p:tav>
                                      </p:tavLst>
                                    </p:anim>
                                  </p:childTnLst>
                                </p:cTn>
                              </p:par>
                            </p:childTnLst>
                          </p:cTn>
                        </p:par>
                        <p:par>
                          <p:cTn id="173" fill="hold">
                            <p:stCondLst>
                              <p:cond delay="450"/>
                            </p:stCondLst>
                            <p:childTnLst>
                              <p:par>
                                <p:cTn id="174" presetID="10" presetClass="entr" presetSubtype="0"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Effect transition="in" filter="fade">
                                      <p:cBhvr>
                                        <p:cTn id="176" dur="550"/>
                                        <p:tgtEl>
                                          <p:spTgt spid="44"/>
                                        </p:tgtEl>
                                      </p:cBhvr>
                                    </p:animEffect>
                                  </p:childTnLst>
                                </p:cTn>
                              </p:par>
                            </p:childTnLst>
                          </p:cTn>
                        </p:par>
                        <p:par>
                          <p:cTn id="177" fill="hold">
                            <p:stCondLst>
                              <p:cond delay="550"/>
                            </p:stCondLst>
                            <p:childTnLst>
                              <p:par>
                                <p:cTn id="178" presetID="2" presetClass="entr" presetSubtype="8"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 calcmode="lin" valueType="num">
                                      <p:cBhvr additive="base">
                                        <p:cTn id="181" dur="550" fill="hold"/>
                                        <p:tgtEl>
                                          <p:spTgt spid="45"/>
                                        </p:tgtEl>
                                        <p:attrNameLst>
                                          <p:attrName>ppt_x</p:attrName>
                                        </p:attrNameLst>
                                      </p:cBhvr>
                                      <p:tavLst>
                                        <p:tav tm="0">
                                          <p:val>
                                            <p:strVal val="0-#ppt_w/2"/>
                                          </p:val>
                                        </p:tav>
                                        <p:tav tm="100000">
                                          <p:val>
                                            <p:strVal val="#ppt_x"/>
                                          </p:val>
                                        </p:tav>
                                      </p:tavLst>
                                    </p:anim>
                                    <p:anim calcmode="lin" valueType="num">
                                      <p:cBhvr additive="base">
                                        <p:cTn id="182" dur="550" fill="hold"/>
                                        <p:tgtEl>
                                          <p:spTgt spid="45"/>
                                        </p:tgtEl>
                                        <p:attrNameLst>
                                          <p:attrName>ppt_y</p:attrName>
                                        </p:attrNameLst>
                                      </p:cBhvr>
                                      <p:tavLst>
                                        <p:tav tm="0">
                                          <p:val>
                                            <p:strVal val="#ppt_y"/>
                                          </p:val>
                                        </p:tav>
                                        <p:tav tm="100000">
                                          <p:val>
                                            <p:strVal val="#ppt_y"/>
                                          </p:val>
                                        </p:tav>
                                      </p:tavLst>
                                    </p:anim>
                                  </p:childTnLst>
                                </p:cTn>
                              </p:par>
                            </p:childTnLst>
                          </p:cTn>
                        </p:par>
                        <p:par>
                          <p:cTn id="183" fill="hold">
                            <p:stCondLst>
                              <p:cond delay="650"/>
                            </p:stCondLst>
                            <p:childTnLst>
                              <p:par>
                                <p:cTn id="184" presetID="22" presetClass="entr" presetSubtype="8" fill="hold" grpId="0" nodeType="afterEffect">
                                  <p:stCondLst>
                                    <p:cond delay="0"/>
                                  </p:stCondLst>
                                  <p:childTnLst>
                                    <p:set>
                                      <p:cBhvr>
                                        <p:cTn id="185" dur="1" fill="hold">
                                          <p:stCondLst>
                                            <p:cond delay="0"/>
                                          </p:stCondLst>
                                        </p:cTn>
                                        <p:tgtEl>
                                          <p:spTgt spid="46"/>
                                        </p:tgtEl>
                                        <p:attrNameLst>
                                          <p:attrName>style.visibility</p:attrName>
                                        </p:attrNameLst>
                                      </p:cBhvr>
                                      <p:to>
                                        <p:strVal val="visible"/>
                                      </p:to>
                                    </p:set>
                                    <p:animEffect transition="in" filter="wipe(left)">
                                      <p:cBhvr>
                                        <p:cTn id="187" dur="8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2" grpId="0" animBg="1"/>
      <p:bldP spid="43" grpId="0" animBg="1"/>
      <p:bldP spid="44" grpId="0" animBg="1"/>
      <p:bldP spid="45" grpId="0" animBg="1"/>
      <p:bldP spid="46"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5-REJA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LLM uchun GPU klasterlari va yuqori unumdor infratuzilma</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M11 · Katta til modellari uchun kompyuter tizimlari va hisoblash infratuzilmasi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18</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7d63b53ff17fb657.jpg"/>
          <p:cNvPicPr>
            <a:picLocks noChangeAspect="1"/>
          </p:cNvPicPr>
          <p:nvPr/>
        </p:nvPicPr>
        <p:blipFill>
          <a:blip r:embed="rId2"/>
          <a:srcRect l="18235" r="18235"/>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Federal Bureau of Investigation · Wikimedia Commons · Public domain</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330001"/>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410001"/>
            <a:ext cx="50000" cy="140666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191333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1370001"/>
            <a:ext cx="5900000" cy="1486666"/>
          </a:xfrm>
          <a:prstGeom prst="rect">
            <a:avLst/>
          </a:prstGeom>
          <a:noFill/>
        </p:spPr>
        <p:txBody>
          <a:bodyPr wrap="square" anchor="ctr">
            <a:spAutoFit/>
          </a:bodyPr>
          <a:lstStyle/>
          <a:p>
            <a:r>
              <a:rPr sz="1500" b="1">
                <a:solidFill>
                  <a:srgbClr val="E8EEFA"/>
                </a:solidFill>
                <a:latin typeface="Segoe UI"/>
              </a:rPr>
              <a:t>LLM infratuzilmasini loyihalash to'rt resursni muvozanatlashdan boshlanadi: GPU xotirasi, hisoblash, tugunlar ichidagi va orasidagi tarmoq, saqlash.</a:t>
            </a:r>
          </a:p>
          <a:p>
            <a:pPr>
              <a:spcBef>
                <a:spcPts val="400"/>
              </a:spcBef>
            </a:pPr>
            <a:r>
              <a:rPr sz="1400">
                <a:solidFill>
                  <a:srgbClr val="AEBBD9"/>
                </a:solidFill>
                <a:latin typeface="Segoe UI"/>
              </a:rPr>
              <a:t>Xotira talabi inferens uchun: og'irliklar (P × bayt) + KV-kesh (foydalanuvchilar × kontekst × token boshiga KB) + faollashuvlar (5–10 %).</a:t>
            </a:r>
          </a:p>
        </p:txBody>
      </p:sp>
      <p:sp>
        <p:nvSpPr>
          <p:cNvPr id="31" name="Rounded Rectangle 30"/>
          <p:cNvSpPr/>
          <p:nvPr/>
        </p:nvSpPr>
        <p:spPr>
          <a:xfrm>
            <a:off x="550000" y="3006667"/>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086667"/>
            <a:ext cx="50000" cy="140666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4" name="TextBox 33"/>
          <p:cNvSpPr txBox="1"/>
          <p:nvPr/>
        </p:nvSpPr>
        <p:spPr>
          <a:xfrm>
            <a:off x="1300000" y="3046667"/>
            <a:ext cx="5900000" cy="1486666"/>
          </a:xfrm>
          <a:prstGeom prst="rect">
            <a:avLst/>
          </a:prstGeom>
          <a:noFill/>
        </p:spPr>
        <p:txBody>
          <a:bodyPr wrap="square" anchor="ctr">
            <a:spAutoFit/>
          </a:bodyPr>
          <a:lstStyle/>
          <a:p>
            <a:r>
              <a:rPr sz="1400" b="0">
                <a:solidFill>
                  <a:srgbClr val="E8EEFA"/>
                </a:solidFill>
                <a:latin typeface="Segoe UI"/>
              </a:rPr>
              <a:t>O'qitish klasteri uchun tugun — standart birlik: DGX H100 (8 × H100 SXM 80 GB, NVSwitch orqali to'liq bog'langan, 2 × Intel Xeon, 2 TB RAM, 8 × 400 Gb/s InfiniBand NDR adapter — har GPU'ga bittadan, ≈ 10 kW).</a:t>
            </a:r>
          </a:p>
        </p:txBody>
      </p:sp>
      <p:sp>
        <p:nvSpPr>
          <p:cNvPr id="35" name="Rounded Rectangle 34"/>
          <p:cNvSpPr/>
          <p:nvPr/>
        </p:nvSpPr>
        <p:spPr>
          <a:xfrm>
            <a:off x="550000" y="4683333"/>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50000" y="4763333"/>
            <a:ext cx="50000" cy="140666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60000" y="5266666"/>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8" name="TextBox 37"/>
          <p:cNvSpPr txBox="1"/>
          <p:nvPr/>
        </p:nvSpPr>
        <p:spPr>
          <a:xfrm>
            <a:off x="1300000" y="4723333"/>
            <a:ext cx="5900000" cy="1486666"/>
          </a:xfrm>
          <a:prstGeom prst="rect">
            <a:avLst/>
          </a:prstGeom>
          <a:noFill/>
        </p:spPr>
        <p:txBody>
          <a:bodyPr wrap="square" anchor="ctr">
            <a:spAutoFit/>
          </a:bodyPr>
          <a:lstStyle/>
          <a:p>
            <a:r>
              <a:rPr sz="1400" b="0">
                <a:solidFill>
                  <a:srgbClr val="E8EEFA"/>
                </a:solidFill>
                <a:latin typeface="Segoe UI"/>
              </a:rPr>
              <a:t>Energiya va joylashtirish: 1 000 ta H100 ≈ 1,3 MW IT quvvat, PUE 1,2 bilan 1,6 MW; suyuqlik sovutish 700 vattlik GPU'lar uchun standartga aylanmoqda.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5"/>
                                        </p:tgtEl>
                                        <p:attrNameLst>
                                          <p:attrName>style.visibility</p:attrName>
                                        </p:attrNameLst>
                                      </p:cBhvr>
                                      <p:to>
                                        <p:strVal val="visible"/>
                                      </p:to>
                                    </p:set>
                                    <p:animEffect transition="in" filter="fade">
                                      <p:cBhvr>
                                        <p:cTn id="83" dur="550"/>
                                        <p:tgtEl>
                                          <p:spTgt spid="35"/>
                                        </p:tgtEl>
                                      </p:cBhvr>
                                    </p:animEffect>
                                    <p:anim calcmode="lin" valueType="num">
                                      <p:cBhvr additive="base">
                                        <p:cTn id="84" dur="550" fill="hold"/>
                                        <p:tgtEl>
                                          <p:spTgt spid="35"/>
                                        </p:tgtEl>
                                        <p:attrNameLst>
                                          <p:attrName>ppt_x</p:attrName>
                                        </p:attrNameLst>
                                      </p:cBhvr>
                                      <p:tavLst>
                                        <p:tav tm="0">
                                          <p:val>
                                            <p:strVal val="#ppt_x"/>
                                          </p:val>
                                        </p:tav>
                                        <p:tav tm="100000">
                                          <p:val>
                                            <p:strVal val="#ppt_x"/>
                                          </p:val>
                                        </p:tav>
                                      </p:tavLst>
                                    </p:anim>
                                    <p:anim calcmode="lin" valueType="num">
                                      <p:cBhvr additive="base">
                                        <p:cTn id="85" dur="550" fill="hold"/>
                                        <p:tgtEl>
                                          <p:spTgt spid="35"/>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6"/>
                                        </p:tgtEl>
                                        <p:attrNameLst>
                                          <p:attrName>style.visibility</p:attrName>
                                        </p:attrNameLst>
                                      </p:cBhvr>
                                      <p:to>
                                        <p:strVal val="visible"/>
                                      </p:to>
                                    </p:set>
                                    <p:animEffect transition="in" filter="fade">
                                      <p:cBhvr>
                                        <p:cTn id="89" dur="550"/>
                                        <p:tgtEl>
                                          <p:spTgt spid="36"/>
                                        </p:tgtEl>
                                      </p:cBhvr>
                                    </p:animEffect>
                                    <p:anim calcmode="lin" valueType="num">
                                      <p:cBhvr additive="base">
                                        <p:cTn id="90" dur="550" fill="hold"/>
                                        <p:tgtEl>
                                          <p:spTgt spid="36"/>
                                        </p:tgtEl>
                                        <p:attrNameLst>
                                          <p:attrName>ppt_x</p:attrName>
                                        </p:attrNameLst>
                                      </p:cBhvr>
                                      <p:tavLst>
                                        <p:tav tm="0">
                                          <p:val>
                                            <p:strVal val="#ppt_x"/>
                                          </p:val>
                                        </p:tav>
                                        <p:tav tm="100000">
                                          <p:val>
                                            <p:strVal val="#ppt_x"/>
                                          </p:val>
                                        </p:tav>
                                      </p:tavLst>
                                    </p:anim>
                                    <p:anim calcmode="lin" valueType="num">
                                      <p:cBhvr additive="base">
                                        <p:cTn id="91" dur="550" fill="hold"/>
                                        <p:tgtEl>
                                          <p:spTgt spid="36"/>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7"/>
                                        </p:tgtEl>
                                        <p:attrNameLst>
                                          <p:attrName>style.visibility</p:attrName>
                                        </p:attrNameLst>
                                      </p:cBhvr>
                                      <p:to>
                                        <p:strVal val="visible"/>
                                      </p:to>
                                    </p:set>
                                    <p:animEffect transition="in" filter="fade">
                                      <p:cBhvr>
                                        <p:cTn id="95" dur="550"/>
                                        <p:tgtEl>
                                          <p:spTgt spid="37"/>
                                        </p:tgtEl>
                                      </p:cBhvr>
                                    </p:animEffect>
                                    <p:anim calcmode="lin" valueType="num">
                                      <p:cBhvr additive="base">
                                        <p:cTn id="96" dur="550" fill="hold"/>
                                        <p:tgtEl>
                                          <p:spTgt spid="37"/>
                                        </p:tgtEl>
                                        <p:attrNameLst>
                                          <p:attrName>ppt_w</p:attrName>
                                        </p:attrNameLst>
                                      </p:cBhvr>
                                      <p:tavLst>
                                        <p:tav tm="0">
                                          <p:val>
                                            <p:strVal val="0"/>
                                          </p:val>
                                        </p:tav>
                                        <p:tav tm="100000">
                                          <p:val>
                                            <p:strVal val="#ppt_w"/>
                                          </p:val>
                                        </p:tav>
                                      </p:tavLst>
                                    </p:anim>
                                    <p:anim calcmode="lin" valueType="num">
                                      <p:cBhvr additive="base">
                                        <p:cTn id="97" dur="550" fill="hold"/>
                                        <p:tgtEl>
                                          <p:spTgt spid="37"/>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38"/>
                                        </p:tgtEl>
                                        <p:attrNameLst>
                                          <p:attrName>style.visibility</p:attrName>
                                        </p:attrNameLst>
                                      </p:cBhvr>
                                      <p:to>
                                        <p:strVal val="visible"/>
                                      </p:to>
                                    </p:set>
                                    <p:animEffect transition="in" filter="fade">
                                      <p:cBhvr>
                                        <p:cTn id="101" dur="550"/>
                                        <p:tgtEl>
                                          <p:spTgt spid="38"/>
                                        </p:tgtEl>
                                      </p:cBhvr>
                                    </p:animEffect>
                                    <p:anim calcmode="lin" valueType="num">
                                      <p:cBhvr additive="base">
                                        <p:cTn id="102" dur="550" fill="hold"/>
                                        <p:tgtEl>
                                          <p:spTgt spid="38"/>
                                        </p:tgtEl>
                                        <p:attrNameLst>
                                          <p:attrName>ppt_x</p:attrName>
                                        </p:attrNameLst>
                                      </p:cBhvr>
                                      <p:tavLst>
                                        <p:tav tm="0">
                                          <p:val>
                                            <p:strVal val="#ppt_x"/>
                                          </p:val>
                                        </p:tav>
                                        <p:tav tm="100000">
                                          <p:val>
                                            <p:strVal val="#ppt_x"/>
                                          </p:val>
                                        </p:tav>
                                      </p:tavLst>
                                    </p:anim>
                                    <p:anim calcmode="lin" valueType="num">
                                      <p:cBhvr additive="base">
                                        <p:cTn id="103" dur="550" fill="hold"/>
                                        <p:tgtEl>
                                          <p:spTgt spid="3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36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80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0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00000" y="900000"/>
            <a:ext cx="2650000" cy="9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800000" y="1033333"/>
            <a:ext cx="2650000" cy="2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80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80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80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80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0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450000" y="728571"/>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3450000" y="728571"/>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3450000" y="957142"/>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45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450000" y="1033333"/>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345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345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45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45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450000" y="1300000"/>
            <a:ext cx="2650000" cy="57142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45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45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450000" y="1566666"/>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450000" y="1566666"/>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45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450000" y="957142"/>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450000" y="1185714"/>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450000" y="1414285"/>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3450000" y="1642857"/>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6100000" y="728571"/>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6100000" y="728571"/>
            <a:ext cx="2650000" cy="57142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10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100000" y="957142"/>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6100000" y="957142"/>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610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100000" y="1185714"/>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100000" y="1185714"/>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6100000" y="1033333"/>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100000" y="1414285"/>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610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6100000" y="1033333"/>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6100000" y="1566666"/>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6100000" y="1642857"/>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6100000" y="766666"/>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875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8750000" y="766666"/>
            <a:ext cx="2650000" cy="5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875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750000" y="1033333"/>
            <a:ext cx="2650000" cy="2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75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875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875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875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875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8750000" y="900000"/>
            <a:ext cx="2650000" cy="9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875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58" name="Oval 57"/>
          <p:cNvSpPr/>
          <p:nvPr/>
        </p:nvSpPr>
        <p:spPr>
          <a:xfrm>
            <a:off x="7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7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7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33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33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3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33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3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6030000" y="658571"/>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6030000" y="887142"/>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6030000" y="1115714"/>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6030000" y="1344285"/>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6030000" y="1572857"/>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6030000" y="1801428"/>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86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86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86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86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86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113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113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13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700000" y="2500000"/>
            <a:ext cx="10800000" cy="1100000"/>
          </a:xfrm>
          <a:prstGeom prst="rect">
            <a:avLst/>
          </a:prstGeom>
          <a:noFill/>
        </p:spPr>
        <p:txBody>
          <a:bodyPr wrap="square" anchor="t" lIns="50800" rIns="50800">
            <a:spAutoFit/>
          </a:bodyPr>
          <a:lstStyle/>
          <a:p>
            <a:pPr algn="ctr"/>
            <a:r>
              <a:rPr sz="4400" b="1">
                <a:solidFill>
                  <a:srgbClr val="E8EEFA"/>
                </a:solidFill>
                <a:latin typeface="Segoe UI"/>
              </a:rPr>
              <a:t>E’tiboringiz uchun rahmat!</a:t>
            </a:r>
          </a:p>
        </p:txBody>
      </p:sp>
      <p:sp>
        <p:nvSpPr>
          <p:cNvPr id="81" name="Rectangle 80"/>
          <p:cNvSpPr/>
          <p:nvPr/>
        </p:nvSpPr>
        <p:spPr>
          <a:xfrm>
            <a:off x="4800000" y="3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700000" y="3850000"/>
            <a:ext cx="10800000" cy="500000"/>
          </a:xfrm>
          <a:prstGeom prst="rect">
            <a:avLst/>
          </a:prstGeom>
          <a:noFill/>
        </p:spPr>
        <p:txBody>
          <a:bodyPr wrap="square" anchor="t" lIns="50800" rIns="50800">
            <a:spAutoFit/>
          </a:bodyPr>
          <a:lstStyle/>
          <a:p>
            <a:pPr algn="ctr"/>
            <a:r>
              <a:rPr sz="2600" b="1">
                <a:solidFill>
                  <a:srgbClr val="22D3EE"/>
                </a:solidFill>
                <a:latin typeface="Segoe UI"/>
              </a:rPr>
              <a:t>Savollar?</a:t>
            </a:r>
          </a:p>
        </p:txBody>
      </p:sp>
      <p:sp>
        <p:nvSpPr>
          <p:cNvPr id="83" name="TextBox 82"/>
          <p:cNvSpPr txBox="1"/>
          <p:nvPr/>
        </p:nvSpPr>
        <p:spPr>
          <a:xfrm>
            <a:off x="1200000" y="4800000"/>
            <a:ext cx="9800000" cy="800000"/>
          </a:xfrm>
          <a:prstGeom prst="rect">
            <a:avLst/>
          </a:prstGeom>
          <a:noFill/>
        </p:spPr>
        <p:txBody>
          <a:bodyPr wrap="square" anchor="t" lIns="50800" rIns="50800">
            <a:spAutoFit/>
          </a:bodyPr>
          <a:lstStyle/>
          <a:p>
            <a:pPr algn="ctr"/>
            <a:r>
              <a:rPr sz="1400" b="0">
                <a:solidFill>
                  <a:srgbClr val="AEBBD9"/>
                </a:solidFill>
                <a:latin typeface="Segoe UI"/>
              </a:rPr>
              <a:t>Mavzu matni va materiallar: https://aiscan.airi.uz/ktm/#/c/mis2104/mavzu/M11</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3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0"/>
                            </p:stCondLst>
                            <p:childTnLst>
                              <p:par>
                                <p:cTn id="236" presetID="10" presetClass="entr" presetSubtype="0" fill="hold" grpId="0" nodeType="afterEffect">
                                  <p:stCondLst>
                                    <p:cond delay="0"/>
                                  </p:stCondLst>
                                  <p:childTnLst>
                                    <p:set>
                                      <p:cBhvr>
                                        <p:cTn id="237" dur="1" fill="hold">
                                          <p:stCondLst>
                                            <p:cond delay="0"/>
                                          </p:stCondLst>
                                        </p:cTn>
                                        <p:tgtEl>
                                          <p:spTgt spid="61"/>
                                        </p:tgtEl>
                                        <p:attrNameLst>
                                          <p:attrName>style.visibility</p:attrName>
                                        </p:attrNameLst>
                                      </p:cBhvr>
                                      <p:to>
                                        <p:strVal val="visible"/>
                                      </p:to>
                                    </p:set>
                                    <p:animEffect transition="in" filter="fade">
                                      <p:cBhvr>
                                        <p:cTn id="238" dur="550"/>
                                        <p:tgtEl>
                                          <p:spTgt spid="61"/>
                                        </p:tgtEl>
                                      </p:cBhvr>
                                    </p:animEffect>
                                  </p:childTnLst>
                                </p:cTn>
                              </p:par>
                            </p:childTnLst>
                          </p:cTn>
                        </p:par>
                        <p:par>
                          <p:cTn id="239" fill="hold">
                            <p:stCondLst>
                              <p:cond delay="0"/>
                            </p:stCondLst>
                            <p:childTnLst>
                              <p:par>
                                <p:cTn id="240" presetID="10" presetClass="entr" presetSubtype="0" fill="hold" grpId="0" nodeType="afterEffect">
                                  <p:stCondLst>
                                    <p:cond delay="0"/>
                                  </p:stCondLst>
                                  <p:childTnLst>
                                    <p:set>
                                      <p:cBhvr>
                                        <p:cTn id="241" dur="1" fill="hold">
                                          <p:stCondLst>
                                            <p:cond delay="0"/>
                                          </p:stCondLst>
                                        </p:cTn>
                                        <p:tgtEl>
                                          <p:spTgt spid="62"/>
                                        </p:tgtEl>
                                        <p:attrNameLst>
                                          <p:attrName>style.visibility</p:attrName>
                                        </p:attrNameLst>
                                      </p:cBhvr>
                                      <p:to>
                                        <p:strVal val="visible"/>
                                      </p:to>
                                    </p:set>
                                    <p:animEffect transition="in" filter="fade">
                                      <p:cBhvr>
                                        <p:cTn id="242" dur="550"/>
                                        <p:tgtEl>
                                          <p:spTgt spid="62"/>
                                        </p:tgtEl>
                                      </p:cBhvr>
                                    </p:animEffect>
                                  </p:childTnLst>
                                </p:cTn>
                              </p:par>
                            </p:childTnLst>
                          </p:cTn>
                        </p:par>
                        <p:par>
                          <p:cTn id="243" fill="hold">
                            <p:stCondLst>
                              <p:cond delay="0"/>
                            </p:stCondLst>
                            <p:childTnLst>
                              <p:par>
                                <p:cTn id="244" presetID="10" presetClass="entr" presetSubtype="0" fill="hold" grpId="0" nodeType="afterEffect">
                                  <p:stCondLst>
                                    <p:cond delay="0"/>
                                  </p:stCondLst>
                                  <p:childTnLst>
                                    <p:set>
                                      <p:cBhvr>
                                        <p:cTn id="245" dur="1" fill="hold">
                                          <p:stCondLst>
                                            <p:cond delay="0"/>
                                          </p:stCondLst>
                                        </p:cTn>
                                        <p:tgtEl>
                                          <p:spTgt spid="63"/>
                                        </p:tgtEl>
                                        <p:attrNameLst>
                                          <p:attrName>style.visibility</p:attrName>
                                        </p:attrNameLst>
                                      </p:cBhvr>
                                      <p:to>
                                        <p:strVal val="visible"/>
                                      </p:to>
                                    </p:set>
                                    <p:animEffect transition="in" filter="fade">
                                      <p:cBhvr>
                                        <p:cTn id="246" dur="550"/>
                                        <p:tgtEl>
                                          <p:spTgt spid="63"/>
                                        </p:tgtEl>
                                      </p:cBhvr>
                                    </p:animEffect>
                                  </p:childTnLst>
                                </p:cTn>
                              </p:par>
                            </p:childTnLst>
                          </p:cTn>
                        </p:par>
                        <p:par>
                          <p:cTn id="247" fill="hold">
                            <p:stCondLst>
                              <p:cond delay="0"/>
                            </p:stCondLst>
                            <p:childTnLst>
                              <p:par>
                                <p:cTn id="248" presetID="10" presetClass="entr" presetSubtype="0" fill="hold" grpId="0" nodeType="afterEffect">
                                  <p:stCondLst>
                                    <p:cond delay="0"/>
                                  </p:stCondLst>
                                  <p:childTnLst>
                                    <p:set>
                                      <p:cBhvr>
                                        <p:cTn id="249" dur="1" fill="hold">
                                          <p:stCondLst>
                                            <p:cond delay="0"/>
                                          </p:stCondLst>
                                        </p:cTn>
                                        <p:tgtEl>
                                          <p:spTgt spid="64"/>
                                        </p:tgtEl>
                                        <p:attrNameLst>
                                          <p:attrName>style.visibility</p:attrName>
                                        </p:attrNameLst>
                                      </p:cBhvr>
                                      <p:to>
                                        <p:strVal val="visible"/>
                                      </p:to>
                                    </p:set>
                                    <p:animEffect transition="in" filter="fade">
                                      <p:cBhvr>
                                        <p:cTn id="250" dur="550"/>
                                        <p:tgtEl>
                                          <p:spTgt spid="64"/>
                                        </p:tgtEl>
                                      </p:cBhvr>
                                    </p:animEffect>
                                  </p:childTnLst>
                                </p:cTn>
                              </p:par>
                            </p:childTnLst>
                          </p:cTn>
                        </p:par>
                        <p:par>
                          <p:cTn id="251" fill="hold">
                            <p:stCondLst>
                              <p:cond delay="0"/>
                            </p:stCondLst>
                            <p:childTnLst>
                              <p:par>
                                <p:cTn id="252" presetID="10" presetClass="entr" presetSubtype="0" fill="hold" grpId="0" nodeType="afterEffect">
                                  <p:stCondLst>
                                    <p:cond delay="0"/>
                                  </p:stCondLst>
                                  <p:childTnLst>
                                    <p:set>
                                      <p:cBhvr>
                                        <p:cTn id="253" dur="1" fill="hold">
                                          <p:stCondLst>
                                            <p:cond delay="0"/>
                                          </p:stCondLst>
                                        </p:cTn>
                                        <p:tgtEl>
                                          <p:spTgt spid="65"/>
                                        </p:tgtEl>
                                        <p:attrNameLst>
                                          <p:attrName>style.visibility</p:attrName>
                                        </p:attrNameLst>
                                      </p:cBhvr>
                                      <p:to>
                                        <p:strVal val="visible"/>
                                      </p:to>
                                    </p:set>
                                    <p:animEffect transition="in" filter="fade">
                                      <p:cBhvr>
                                        <p:cTn id="254" dur="550"/>
                                        <p:tgtEl>
                                          <p:spTgt spid="65"/>
                                        </p:tgtEl>
                                      </p:cBhvr>
                                    </p:animEffect>
                                  </p:childTnLst>
                                </p:cTn>
                              </p:par>
                            </p:childTnLst>
                          </p:cTn>
                        </p:par>
                        <p:par>
                          <p:cTn id="255" fill="hold">
                            <p:stCondLst>
                              <p:cond delay="0"/>
                            </p:stCondLst>
                            <p:childTnLst>
                              <p:par>
                                <p:cTn id="256" presetID="10" presetClass="entr" presetSubtype="0" fill="hold" grpId="0" nodeType="afterEffect">
                                  <p:stCondLst>
                                    <p:cond delay="0"/>
                                  </p:stCondLst>
                                  <p:childTnLst>
                                    <p:set>
                                      <p:cBhvr>
                                        <p:cTn id="257" dur="1" fill="hold">
                                          <p:stCondLst>
                                            <p:cond delay="0"/>
                                          </p:stCondLst>
                                        </p:cTn>
                                        <p:tgtEl>
                                          <p:spTgt spid="66"/>
                                        </p:tgtEl>
                                        <p:attrNameLst>
                                          <p:attrName>style.visibility</p:attrName>
                                        </p:attrNameLst>
                                      </p:cBhvr>
                                      <p:to>
                                        <p:strVal val="visible"/>
                                      </p:to>
                                    </p:set>
                                    <p:animEffect transition="in" filter="fade">
                                      <p:cBhvr>
                                        <p:cTn id="258" dur="550"/>
                                        <p:tgtEl>
                                          <p:spTgt spid="66"/>
                                        </p:tgtEl>
                                      </p:cBhvr>
                                    </p:animEffect>
                                  </p:childTnLst>
                                </p:cTn>
                              </p:par>
                            </p:childTnLst>
                          </p:cTn>
                        </p:par>
                        <p:par>
                          <p:cTn id="259" fill="hold">
                            <p:stCondLst>
                              <p:cond delay="0"/>
                            </p:stCondLst>
                            <p:childTnLst>
                              <p:par>
                                <p:cTn id="260" presetID="10" presetClass="entr" presetSubtype="0" fill="hold" grpId="0" nodeType="afterEffect">
                                  <p:stCondLst>
                                    <p:cond delay="0"/>
                                  </p:stCondLst>
                                  <p:childTnLst>
                                    <p:set>
                                      <p:cBhvr>
                                        <p:cTn id="261" dur="1" fill="hold">
                                          <p:stCondLst>
                                            <p:cond delay="0"/>
                                          </p:stCondLst>
                                        </p:cTn>
                                        <p:tgtEl>
                                          <p:spTgt spid="67"/>
                                        </p:tgtEl>
                                        <p:attrNameLst>
                                          <p:attrName>style.visibility</p:attrName>
                                        </p:attrNameLst>
                                      </p:cBhvr>
                                      <p:to>
                                        <p:strVal val="visible"/>
                                      </p:to>
                                    </p:set>
                                    <p:animEffect transition="in" filter="fade">
                                      <p:cBhvr>
                                        <p:cTn id="262" dur="550"/>
                                        <p:tgtEl>
                                          <p:spTgt spid="67"/>
                                        </p:tgtEl>
                                      </p:cBhvr>
                                    </p:animEffect>
                                  </p:childTnLst>
                                </p:cTn>
                              </p:par>
                            </p:childTnLst>
                          </p:cTn>
                        </p:par>
                        <p:par>
                          <p:cTn id="263" fill="hold">
                            <p:stCondLst>
                              <p:cond delay="0"/>
                            </p:stCondLst>
                            <p:childTnLst>
                              <p:par>
                                <p:cTn id="264" presetID="10" presetClass="entr" presetSubtype="0" fill="hold" grpId="0" nodeType="afterEffect">
                                  <p:stCondLst>
                                    <p:cond delay="0"/>
                                  </p:stCondLst>
                                  <p:childTnLst>
                                    <p:set>
                                      <p:cBhvr>
                                        <p:cTn id="265" dur="1" fill="hold">
                                          <p:stCondLst>
                                            <p:cond delay="0"/>
                                          </p:stCondLst>
                                        </p:cTn>
                                        <p:tgtEl>
                                          <p:spTgt spid="68"/>
                                        </p:tgtEl>
                                        <p:attrNameLst>
                                          <p:attrName>style.visibility</p:attrName>
                                        </p:attrNameLst>
                                      </p:cBhvr>
                                      <p:to>
                                        <p:strVal val="visible"/>
                                      </p:to>
                                    </p:set>
                                    <p:animEffect transition="in" filter="fade">
                                      <p:cBhvr>
                                        <p:cTn id="266" dur="550"/>
                                        <p:tgtEl>
                                          <p:spTgt spid="68"/>
                                        </p:tgtEl>
                                      </p:cBhvr>
                                    </p:animEffect>
                                  </p:childTnLst>
                                </p:cTn>
                              </p:par>
                            </p:childTnLst>
                          </p:cTn>
                        </p:par>
                        <p:par>
                          <p:cTn id="267" fill="hold">
                            <p:stCondLst>
                              <p:cond delay="0"/>
                            </p:stCondLst>
                            <p:childTnLst>
                              <p:par>
                                <p:cTn id="268" presetID="10" presetClass="entr" presetSubtype="0" fill="hold" grpId="0" nodeType="afterEffect">
                                  <p:stCondLst>
                                    <p:cond delay="0"/>
                                  </p:stCondLst>
                                  <p:childTnLst>
                                    <p:set>
                                      <p:cBhvr>
                                        <p:cTn id="269" dur="1" fill="hold">
                                          <p:stCondLst>
                                            <p:cond delay="0"/>
                                          </p:stCondLst>
                                        </p:cTn>
                                        <p:tgtEl>
                                          <p:spTgt spid="69"/>
                                        </p:tgtEl>
                                        <p:attrNameLst>
                                          <p:attrName>style.visibility</p:attrName>
                                        </p:attrNameLst>
                                      </p:cBhvr>
                                      <p:to>
                                        <p:strVal val="visible"/>
                                      </p:to>
                                    </p:set>
                                    <p:animEffect transition="in" filter="fade">
                                      <p:cBhvr>
                                        <p:cTn id="270" dur="550"/>
                                        <p:tgtEl>
                                          <p:spTgt spid="69"/>
                                        </p:tgtEl>
                                      </p:cBhvr>
                                    </p:animEffect>
                                  </p:childTnLst>
                                </p:cTn>
                              </p:par>
                            </p:childTnLst>
                          </p:cTn>
                        </p:par>
                        <p:par>
                          <p:cTn id="271" fill="hold">
                            <p:stCondLst>
                              <p:cond delay="0"/>
                            </p:stCondLst>
                            <p:childTnLst>
                              <p:par>
                                <p:cTn id="272" presetID="10" presetClass="entr" presetSubtype="0" fill="hold" grpId="0" nodeType="afterEffect">
                                  <p:stCondLst>
                                    <p:cond delay="0"/>
                                  </p:stCondLst>
                                  <p:childTnLst>
                                    <p:set>
                                      <p:cBhvr>
                                        <p:cTn id="273" dur="1" fill="hold">
                                          <p:stCondLst>
                                            <p:cond delay="0"/>
                                          </p:stCondLst>
                                        </p:cTn>
                                        <p:tgtEl>
                                          <p:spTgt spid="70"/>
                                        </p:tgtEl>
                                        <p:attrNameLst>
                                          <p:attrName>style.visibility</p:attrName>
                                        </p:attrNameLst>
                                      </p:cBhvr>
                                      <p:to>
                                        <p:strVal val="visible"/>
                                      </p:to>
                                    </p:set>
                                    <p:animEffect transition="in" filter="fade">
                                      <p:cBhvr>
                                        <p:cTn id="274" dur="550"/>
                                        <p:tgtEl>
                                          <p:spTgt spid="70"/>
                                        </p:tgtEl>
                                      </p:cBhvr>
                                    </p:animEffect>
                                  </p:childTnLst>
                                </p:cTn>
                              </p:par>
                            </p:childTnLst>
                          </p:cTn>
                        </p:par>
                        <p:par>
                          <p:cTn id="275" fill="hold">
                            <p:stCondLst>
                              <p:cond delay="0"/>
                            </p:stCondLst>
                            <p:childTnLst>
                              <p:par>
                                <p:cTn id="276" presetID="10" presetClass="entr" presetSubtype="0" fill="hold" grpId="0" nodeType="afterEffect">
                                  <p:stCondLst>
                                    <p:cond delay="0"/>
                                  </p:stCondLst>
                                  <p:childTnLst>
                                    <p:set>
                                      <p:cBhvr>
                                        <p:cTn id="277" dur="1" fill="hold">
                                          <p:stCondLst>
                                            <p:cond delay="0"/>
                                          </p:stCondLst>
                                        </p:cTn>
                                        <p:tgtEl>
                                          <p:spTgt spid="71"/>
                                        </p:tgtEl>
                                        <p:attrNameLst>
                                          <p:attrName>style.visibility</p:attrName>
                                        </p:attrNameLst>
                                      </p:cBhvr>
                                      <p:to>
                                        <p:strVal val="visible"/>
                                      </p:to>
                                    </p:set>
                                    <p:animEffect transition="in" filter="fade">
                                      <p:cBhvr>
                                        <p:cTn id="278" dur="550"/>
                                        <p:tgtEl>
                                          <p:spTgt spid="71"/>
                                        </p:tgtEl>
                                      </p:cBhvr>
                                    </p:animEffect>
                                  </p:childTnLst>
                                </p:cTn>
                              </p:par>
                            </p:childTnLst>
                          </p:cTn>
                        </p:par>
                        <p:par>
                          <p:cTn id="279" fill="hold">
                            <p:stCondLst>
                              <p:cond delay="0"/>
                            </p:stCondLst>
                            <p:childTnLst>
                              <p:par>
                                <p:cTn id="280" presetID="10" presetClass="entr" presetSubtype="0" fill="hold" grpId="0" nodeType="afterEffect">
                                  <p:stCondLst>
                                    <p:cond delay="0"/>
                                  </p:stCondLst>
                                  <p:childTnLst>
                                    <p:set>
                                      <p:cBhvr>
                                        <p:cTn id="281" dur="1" fill="hold">
                                          <p:stCondLst>
                                            <p:cond delay="0"/>
                                          </p:stCondLst>
                                        </p:cTn>
                                        <p:tgtEl>
                                          <p:spTgt spid="72"/>
                                        </p:tgtEl>
                                        <p:attrNameLst>
                                          <p:attrName>style.visibility</p:attrName>
                                        </p:attrNameLst>
                                      </p:cBhvr>
                                      <p:to>
                                        <p:strVal val="visible"/>
                                      </p:to>
                                    </p:set>
                                    <p:animEffect transition="in" filter="fade">
                                      <p:cBhvr>
                                        <p:cTn id="282" dur="550"/>
                                        <p:tgtEl>
                                          <p:spTgt spid="72"/>
                                        </p:tgtEl>
                                      </p:cBhvr>
                                    </p:animEffect>
                                  </p:childTnLst>
                                </p:cTn>
                              </p:par>
                            </p:childTnLst>
                          </p:cTn>
                        </p:par>
                        <p:par>
                          <p:cTn id="283" fill="hold">
                            <p:stCondLst>
                              <p:cond delay="0"/>
                            </p:stCondLst>
                            <p:childTnLst>
                              <p:par>
                                <p:cTn id="284" presetID="10" presetClass="entr" presetSubtype="0" fill="hold" grpId="0" nodeType="afterEffect">
                                  <p:stCondLst>
                                    <p:cond delay="0"/>
                                  </p:stCondLst>
                                  <p:childTnLst>
                                    <p:set>
                                      <p:cBhvr>
                                        <p:cTn id="285" dur="1" fill="hold">
                                          <p:stCondLst>
                                            <p:cond delay="0"/>
                                          </p:stCondLst>
                                        </p:cTn>
                                        <p:tgtEl>
                                          <p:spTgt spid="73"/>
                                        </p:tgtEl>
                                        <p:attrNameLst>
                                          <p:attrName>style.visibility</p:attrName>
                                        </p:attrNameLst>
                                      </p:cBhvr>
                                      <p:to>
                                        <p:strVal val="visible"/>
                                      </p:to>
                                    </p:set>
                                    <p:animEffect transition="in" filter="fade">
                                      <p:cBhvr>
                                        <p:cTn id="286" dur="550"/>
                                        <p:tgtEl>
                                          <p:spTgt spid="73"/>
                                        </p:tgtEl>
                                      </p:cBhvr>
                                    </p:animEffect>
                                  </p:childTnLst>
                                </p:cTn>
                              </p:par>
                            </p:childTnLst>
                          </p:cTn>
                        </p:par>
                        <p:par>
                          <p:cTn id="287" fill="hold">
                            <p:stCondLst>
                              <p:cond delay="0"/>
                            </p:stCondLst>
                            <p:childTnLst>
                              <p:par>
                                <p:cTn id="288" presetID="10" presetClass="entr" presetSubtype="0" fill="hold" grpId="0" nodeType="afterEffect">
                                  <p:stCondLst>
                                    <p:cond delay="0"/>
                                  </p:stCondLst>
                                  <p:childTnLst>
                                    <p:set>
                                      <p:cBhvr>
                                        <p:cTn id="289" dur="1" fill="hold">
                                          <p:stCondLst>
                                            <p:cond delay="0"/>
                                          </p:stCondLst>
                                        </p:cTn>
                                        <p:tgtEl>
                                          <p:spTgt spid="74"/>
                                        </p:tgtEl>
                                        <p:attrNameLst>
                                          <p:attrName>style.visibility</p:attrName>
                                        </p:attrNameLst>
                                      </p:cBhvr>
                                      <p:to>
                                        <p:strVal val="visible"/>
                                      </p:to>
                                    </p:set>
                                    <p:animEffect transition="in" filter="fade">
                                      <p:cBhvr>
                                        <p:cTn id="290" dur="550"/>
                                        <p:tgtEl>
                                          <p:spTgt spid="74"/>
                                        </p:tgtEl>
                                      </p:cBhvr>
                                    </p:animEffect>
                                  </p:childTnLst>
                                </p:cTn>
                              </p:par>
                            </p:childTnLst>
                          </p:cTn>
                        </p:par>
                        <p:par>
                          <p:cTn id="291" fill="hold">
                            <p:stCondLst>
                              <p:cond delay="0"/>
                            </p:stCondLst>
                            <p:childTnLst>
                              <p:par>
                                <p:cTn id="292" presetID="10" presetClass="entr" presetSubtype="0" fill="hold" grpId="0" nodeType="afterEffect">
                                  <p:stCondLst>
                                    <p:cond delay="0"/>
                                  </p:stCondLst>
                                  <p:childTnLst>
                                    <p:set>
                                      <p:cBhvr>
                                        <p:cTn id="293" dur="1" fill="hold">
                                          <p:stCondLst>
                                            <p:cond delay="0"/>
                                          </p:stCondLst>
                                        </p:cTn>
                                        <p:tgtEl>
                                          <p:spTgt spid="75"/>
                                        </p:tgtEl>
                                        <p:attrNameLst>
                                          <p:attrName>style.visibility</p:attrName>
                                        </p:attrNameLst>
                                      </p:cBhvr>
                                      <p:to>
                                        <p:strVal val="visible"/>
                                      </p:to>
                                    </p:set>
                                    <p:animEffect transition="in" filter="fade">
                                      <p:cBhvr>
                                        <p:cTn id="294" dur="550"/>
                                        <p:tgtEl>
                                          <p:spTgt spid="75"/>
                                        </p:tgtEl>
                                      </p:cBhvr>
                                    </p:animEffect>
                                  </p:childTnLst>
                                </p:cTn>
                              </p:par>
                            </p:childTnLst>
                          </p:cTn>
                        </p:par>
                        <p:par>
                          <p:cTn id="295" fill="hold">
                            <p:stCondLst>
                              <p:cond delay="0"/>
                            </p:stCondLst>
                            <p:childTnLst>
                              <p:par>
                                <p:cTn id="296" presetID="10" presetClass="entr" presetSubtype="0" fill="hold" grpId="0" nodeType="afterEffect">
                                  <p:stCondLst>
                                    <p:cond delay="0"/>
                                  </p:stCondLst>
                                  <p:childTnLst>
                                    <p:set>
                                      <p:cBhvr>
                                        <p:cTn id="297" dur="1" fill="hold">
                                          <p:stCondLst>
                                            <p:cond delay="0"/>
                                          </p:stCondLst>
                                        </p:cTn>
                                        <p:tgtEl>
                                          <p:spTgt spid="76"/>
                                        </p:tgtEl>
                                        <p:attrNameLst>
                                          <p:attrName>style.visibility</p:attrName>
                                        </p:attrNameLst>
                                      </p:cBhvr>
                                      <p:to>
                                        <p:strVal val="visible"/>
                                      </p:to>
                                    </p:set>
                                    <p:animEffect transition="in" filter="fade">
                                      <p:cBhvr>
                                        <p:cTn id="298" dur="550"/>
                                        <p:tgtEl>
                                          <p:spTgt spid="76"/>
                                        </p:tgtEl>
                                      </p:cBhvr>
                                    </p:animEffect>
                                  </p:childTnLst>
                                </p:cTn>
                              </p:par>
                            </p:childTnLst>
                          </p:cTn>
                        </p:par>
                        <p:par>
                          <p:cTn id="299" fill="hold">
                            <p:stCondLst>
                              <p:cond delay="0"/>
                            </p:stCondLst>
                            <p:childTnLst>
                              <p:par>
                                <p:cTn id="300" presetID="10" presetClass="entr" presetSubtype="0" fill="hold" grpId="0" nodeType="afterEffect">
                                  <p:stCondLst>
                                    <p:cond delay="0"/>
                                  </p:stCondLst>
                                  <p:childTnLst>
                                    <p:set>
                                      <p:cBhvr>
                                        <p:cTn id="301" dur="1" fill="hold">
                                          <p:stCondLst>
                                            <p:cond delay="0"/>
                                          </p:stCondLst>
                                        </p:cTn>
                                        <p:tgtEl>
                                          <p:spTgt spid="77"/>
                                        </p:tgtEl>
                                        <p:attrNameLst>
                                          <p:attrName>style.visibility</p:attrName>
                                        </p:attrNameLst>
                                      </p:cBhvr>
                                      <p:to>
                                        <p:strVal val="visible"/>
                                      </p:to>
                                    </p:set>
                                    <p:animEffect transition="in" filter="fade">
                                      <p:cBhvr>
                                        <p:cTn id="302" dur="550"/>
                                        <p:tgtEl>
                                          <p:spTgt spid="77"/>
                                        </p:tgtEl>
                                      </p:cBhvr>
                                    </p:animEffect>
                                  </p:childTnLst>
                                </p:cTn>
                              </p:par>
                            </p:childTnLst>
                          </p:cTn>
                        </p:par>
                        <p:par>
                          <p:cTn id="303" fill="hold">
                            <p:stCondLst>
                              <p:cond delay="0"/>
                            </p:stCondLst>
                            <p:childTnLst>
                              <p:par>
                                <p:cTn id="304" presetID="10" presetClass="entr" presetSubtype="0" fill="hold" grpId="0" nodeType="afterEffect">
                                  <p:stCondLst>
                                    <p:cond delay="0"/>
                                  </p:stCondLst>
                                  <p:childTnLst>
                                    <p:set>
                                      <p:cBhvr>
                                        <p:cTn id="305" dur="1" fill="hold">
                                          <p:stCondLst>
                                            <p:cond delay="0"/>
                                          </p:stCondLst>
                                        </p:cTn>
                                        <p:tgtEl>
                                          <p:spTgt spid="78"/>
                                        </p:tgtEl>
                                        <p:attrNameLst>
                                          <p:attrName>style.visibility</p:attrName>
                                        </p:attrNameLst>
                                      </p:cBhvr>
                                      <p:to>
                                        <p:strVal val="visible"/>
                                      </p:to>
                                    </p:set>
                                    <p:animEffect transition="in" filter="fade">
                                      <p:cBhvr>
                                        <p:cTn id="306" dur="550"/>
                                        <p:tgtEl>
                                          <p:spTgt spid="78"/>
                                        </p:tgtEl>
                                      </p:cBhvr>
                                    </p:animEffect>
                                  </p:childTnLst>
                                </p:cTn>
                              </p:par>
                            </p:childTnLst>
                          </p:cTn>
                        </p:par>
                        <p:par>
                          <p:cTn id="307" fill="hold">
                            <p:stCondLst>
                              <p:cond delay="0"/>
                            </p:stCondLst>
                            <p:childTnLst>
                              <p:par>
                                <p:cTn id="308" presetID="10" presetClass="entr" presetSubtype="0" fill="hold" grpId="0" nodeType="afterEffect">
                                  <p:stCondLst>
                                    <p:cond delay="0"/>
                                  </p:stCondLst>
                                  <p:childTnLst>
                                    <p:set>
                                      <p:cBhvr>
                                        <p:cTn id="309" dur="1" fill="hold">
                                          <p:stCondLst>
                                            <p:cond delay="0"/>
                                          </p:stCondLst>
                                        </p:cTn>
                                        <p:tgtEl>
                                          <p:spTgt spid="79"/>
                                        </p:tgtEl>
                                        <p:attrNameLst>
                                          <p:attrName>style.visibility</p:attrName>
                                        </p:attrNameLst>
                                      </p:cBhvr>
                                      <p:to>
                                        <p:strVal val="visible"/>
                                      </p:to>
                                    </p:set>
                                    <p:animEffect transition="in" filter="fade">
                                      <p:cBhvr>
                                        <p:cTn id="310" dur="550"/>
                                        <p:tgtEl>
                                          <p:spTgt spid="79"/>
                                        </p:tgtEl>
                                      </p:cBhvr>
                                    </p:animEffect>
                                  </p:childTnLst>
                                </p:cTn>
                              </p:par>
                            </p:childTnLst>
                          </p:cTn>
                        </p:par>
                        <p:par>
                          <p:cTn id="311" fill="hold">
                            <p:stCondLst>
                              <p:cond delay="200"/>
                            </p:stCondLst>
                            <p:childTnLst>
                              <p:par>
                                <p:cTn id="312" presetID="53" presetClass="entr" presetSubtype="16" fill="hold" grpId="0" nodeType="afterEffect">
                                  <p:stCondLst>
                                    <p:cond delay="0"/>
                                  </p:stCondLst>
                                  <p:childTnLst>
                                    <p:set>
                                      <p:cBhvr>
                                        <p:cTn id="313" dur="1" fill="hold">
                                          <p:stCondLst>
                                            <p:cond delay="0"/>
                                          </p:stCondLst>
                                        </p:cTn>
                                        <p:tgtEl>
                                          <p:spTgt spid="80"/>
                                        </p:tgtEl>
                                        <p:attrNameLst>
                                          <p:attrName>style.visibility</p:attrName>
                                        </p:attrNameLst>
                                      </p:cBhvr>
                                      <p:to>
                                        <p:strVal val="visible"/>
                                      </p:to>
                                    </p:set>
                                    <p:animEffect transition="in" filter="fade">
                                      <p:cBhvr>
                                        <p:cTn id="314" dur="550"/>
                                        <p:tgtEl>
                                          <p:spTgt spid="80"/>
                                        </p:tgtEl>
                                      </p:cBhvr>
                                    </p:animEffect>
                                    <p:anim calcmode="lin" valueType="num">
                                      <p:cBhvr additive="base">
                                        <p:cTn id="315" dur="550" fill="hold"/>
                                        <p:tgtEl>
                                          <p:spTgt spid="80"/>
                                        </p:tgtEl>
                                        <p:attrNameLst>
                                          <p:attrName>ppt_w</p:attrName>
                                        </p:attrNameLst>
                                      </p:cBhvr>
                                      <p:tavLst>
                                        <p:tav tm="0">
                                          <p:val>
                                            <p:strVal val="0"/>
                                          </p:val>
                                        </p:tav>
                                        <p:tav tm="100000">
                                          <p:val>
                                            <p:strVal val="#ppt_w"/>
                                          </p:val>
                                        </p:tav>
                                      </p:tavLst>
                                    </p:anim>
                                    <p:anim calcmode="lin" valueType="num">
                                      <p:cBhvr additive="base">
                                        <p:cTn id="316" dur="550" fill="hold"/>
                                        <p:tgtEl>
                                          <p:spTgt spid="80"/>
                                        </p:tgtEl>
                                        <p:attrNameLst>
                                          <p:attrName>ppt_h</p:attrName>
                                        </p:attrNameLst>
                                      </p:cBhvr>
                                      <p:tavLst>
                                        <p:tav tm="0">
                                          <p:val>
                                            <p:strVal val="0"/>
                                          </p:val>
                                        </p:tav>
                                        <p:tav tm="100000">
                                          <p:val>
                                            <p:strVal val="#ppt_h"/>
                                          </p:val>
                                        </p:tav>
                                      </p:tavLst>
                                    </p:anim>
                                  </p:childTnLst>
                                </p:cTn>
                              </p:par>
                            </p:childTnLst>
                          </p:cTn>
                        </p:par>
                        <p:par>
                          <p:cTn id="317" fill="hold">
                            <p:stCondLst>
                              <p:cond delay="350"/>
                            </p:stCondLst>
                            <p:childTnLst>
                              <p:par>
                                <p:cTn id="318" presetID="22" presetClass="entr" presetSubtype="8" fill="hold" grpId="0" nodeType="afterEffect">
                                  <p:stCondLst>
                                    <p:cond delay="0"/>
                                  </p:stCondLst>
                                  <p:childTnLst>
                                    <p:set>
                                      <p:cBhvr>
                                        <p:cTn id="319" dur="1" fill="hold">
                                          <p:stCondLst>
                                            <p:cond delay="0"/>
                                          </p:stCondLst>
                                        </p:cTn>
                                        <p:tgtEl>
                                          <p:spTgt spid="81"/>
                                        </p:tgtEl>
                                        <p:attrNameLst>
                                          <p:attrName>style.visibility</p:attrName>
                                        </p:attrNameLst>
                                      </p:cBhvr>
                                      <p:to>
                                        <p:strVal val="visible"/>
                                      </p:to>
                                    </p:set>
                                    <p:animEffect transition="in" filter="wipe(left)">
                                      <p:cBhvr>
                                        <p:cTn id="321" dur="800"/>
                                        <p:tgtEl>
                                          <p:spTgt spid="81"/>
                                        </p:tgtEl>
                                      </p:cBhvr>
                                    </p:animEffect>
                                  </p:childTnLst>
                                </p:cTn>
                              </p:par>
                            </p:childTnLst>
                          </p:cTn>
                        </p:par>
                        <p:par>
                          <p:cTn id="322" fill="hold">
                            <p:stCondLst>
                              <p:cond delay="500"/>
                            </p:stCondLst>
                            <p:childTnLst>
                              <p:par>
                                <p:cTn id="323" presetID="42" presetClass="entr" presetSubtype="0" fill="hold" grpId="0" nodeType="afterEffect">
                                  <p:stCondLst>
                                    <p:cond delay="0"/>
                                  </p:stCondLst>
                                  <p:childTnLst>
                                    <p:set>
                                      <p:cBhvr>
                                        <p:cTn id="324" dur="1" fill="hold">
                                          <p:stCondLst>
                                            <p:cond delay="0"/>
                                          </p:stCondLst>
                                        </p:cTn>
                                        <p:tgtEl>
                                          <p:spTgt spid="82"/>
                                        </p:tgtEl>
                                        <p:attrNameLst>
                                          <p:attrName>style.visibility</p:attrName>
                                        </p:attrNameLst>
                                      </p:cBhvr>
                                      <p:to>
                                        <p:strVal val="visible"/>
                                      </p:to>
                                    </p:set>
                                    <p:animEffect transition="in" filter="fade">
                                      <p:cBhvr>
                                        <p:cTn id="325" dur="550"/>
                                        <p:tgtEl>
                                          <p:spTgt spid="82"/>
                                        </p:tgtEl>
                                      </p:cBhvr>
                                    </p:animEffect>
                                    <p:anim calcmode="lin" valueType="num">
                                      <p:cBhvr additive="base">
                                        <p:cTn id="326" dur="550" fill="hold"/>
                                        <p:tgtEl>
                                          <p:spTgt spid="82"/>
                                        </p:tgtEl>
                                        <p:attrNameLst>
                                          <p:attrName>ppt_x</p:attrName>
                                        </p:attrNameLst>
                                      </p:cBhvr>
                                      <p:tavLst>
                                        <p:tav tm="0">
                                          <p:val>
                                            <p:strVal val="#ppt_x"/>
                                          </p:val>
                                        </p:tav>
                                        <p:tav tm="100000">
                                          <p:val>
                                            <p:strVal val="#ppt_x"/>
                                          </p:val>
                                        </p:tav>
                                      </p:tavLst>
                                    </p:anim>
                                    <p:anim calcmode="lin" valueType="num">
                                      <p:cBhvr additive="base">
                                        <p:cTn id="327" dur="550" fill="hold"/>
                                        <p:tgtEl>
                                          <p:spTgt spid="82"/>
                                        </p:tgtEl>
                                        <p:attrNameLst>
                                          <p:attrName>ppt_y</p:attrName>
                                        </p:attrNameLst>
                                      </p:cBhvr>
                                      <p:tavLst>
                                        <p:tav tm="0">
                                          <p:val>
                                            <p:strVal val="#ppt_y+.08"/>
                                          </p:val>
                                        </p:tav>
                                        <p:tav tm="100000">
                                          <p:val>
                                            <p:strVal val="#ppt_y"/>
                                          </p:val>
                                        </p:tav>
                                      </p:tavLst>
                                    </p:anim>
                                  </p:childTnLst>
                                </p:cTn>
                              </p:par>
                            </p:childTnLst>
                          </p:cTn>
                        </p:par>
                        <p:par>
                          <p:cTn id="328" fill="hold">
                            <p:stCondLst>
                              <p:cond delay="650"/>
                            </p:stCondLst>
                            <p:childTnLst>
                              <p:par>
                                <p:cTn id="329" presetID="10" presetClass="entr" presetSubtype="0" fill="hold" grpId="0" nodeType="afterEffect">
                                  <p:stCondLst>
                                    <p:cond delay="0"/>
                                  </p:stCondLst>
                                  <p:childTnLst>
                                    <p:set>
                                      <p:cBhvr>
                                        <p:cTn id="330" dur="1" fill="hold">
                                          <p:stCondLst>
                                            <p:cond delay="0"/>
                                          </p:stCondLst>
                                        </p:cTn>
                                        <p:tgtEl>
                                          <p:spTgt spid="83"/>
                                        </p:tgtEl>
                                        <p:attrNameLst>
                                          <p:attrName>style.visibility</p:attrName>
                                        </p:attrNameLst>
                                      </p:cBhvr>
                                      <p:to>
                                        <p:strVal val="visible"/>
                                      </p:to>
                                    </p:set>
                                    <p:animEffect transition="in" filter="fade">
                                      <p:cBhvr>
                                        <p:cTn id="331" dur="550"/>
                                        <p:tgtEl>
                                          <p:spTgt spid="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
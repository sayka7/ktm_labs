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a:p/>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a:p/>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a:p/>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a:p/>
          <a:p>
            <a:r>
              <a:t>O'qitish klasteri uchun tugun — standart birlik: DGX H100 (8 × H100 SXM 80 GB, NVSwitch orqali to'liq bog'langan, 2 × Intel Xeon, 2 TB RAM, 8 × 400 Gb/s InfiniBand NDR adapter — har GPU'ga bittadan, ≈ 10 kW). Tugunlar orasidagi tarmoq ma'lumot parallelizmidagi gradient all-reduce'ni va konveyer parallelizmidagi faollashuv uzatishni ko'taradi; 70B modelning BF16 gradientlari 140 GB — har qadamda ring all-reduce bilan har tugun 2 × 140 GB × (N−1)/N uzatadi, 400 Gb/s × 8 = 3,2 Tb/s = 400 GB/s tugun o'tkazuvchanligida ≈ 0,7 soniya, bu hisoblash bilan ustma-ust qo'yilishi shart. Tarmoq topologiyasi — rail-optimized fat-tree yoki Dragonfly, RDMA (GPUDirect RDMA bilan GPU xotirasidan to'g'ridan-to'g'ri tarmoqqa). Saqlash: o'qitish to'plami (15T token ≈ 60 TB matn) va nazorat nuqtalari (checkpoint; 70B uchun optimizator holati bilan ≈ 1 TB, har 30–60 daqiqada yoziladi) parallel fayl tizimiga (Lustre, GPFS, yoki obyekt saqlash + lokal NVMe kesh) 10–100 GB/s tezlikda yoziladi. Ishonchlilik: 16 000 GPU'li klasterda Meta 54 kunlik o'qitish davomida 466 ta uzilishni qayd etgan (asosan GPU va HBM nosozliklari) — avtomatik nazorat nuqtasidan tiklash va nosoz tugunni almashtirish infratuzilmaning bir qismi.</a:t>
            </a:r>
          </a:p>
          <a:p/>
          <a:p>
            <a:r>
              <a:t>Energiya va joylashtirish: 1 000 ta H100 ≈ 1,3 MW IT quvvat, PUE 1,2 bilan 1,6 MW; suyuqlik sovutish 700 vattlik GPU'lar uchun standartga aylanmoqda. 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 Bulut va o'z infratuzilma tanlovi: H100 bulutda soatiga 2–4 dollar (2025), 1000 GPU'li klaster yiliga 20–35 million dollar; sotib olish va joylashtirish 3 yilda shunga yaqin, lekin band bo'lish darajasi 70 foizdan past bo'lsa bulut arzon.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Katta til modellari uchun kompyuter tizimlari va hisoblash infratuzilmasi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dd215ec158b12bac.jpg"/>
          <p:cNvPicPr>
            <a:picLocks noChangeAspect="1"/>
          </p:cNvPicPr>
          <p:nvPr/>
        </p:nvPicPr>
        <p:blipFill>
          <a:blip r:embed="rId2"/>
          <a:srcRect l="25957" r="25957"/>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Steve Jurvetson from Los Altos, USA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Transformer arxitekturasi va uning hisoblash xususiyatlari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LLM o'qitish va inferens: masshtab, xotira va tizim optimallashtirishlari</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Retrieval-Augmented Generation va vektor bazalar</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Sun'iy intellekt agentlari</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LLM uchun GPU klasterlari va yuqori unumdor infratuzilma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5aaee66b1893f8e.jpg"/>
          <p:cNvPicPr>
            <a:picLocks noChangeAspect="1"/>
          </p:cNvPicPr>
          <p:nvPr/>
        </p:nvPicPr>
        <p:blipFill>
          <a:blip r:embed="rId2"/>
          <a:srcRect l="10097" r="1009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Shuang Zhang, Rui Fan, Yuti Liu, Shuang Chen, Qiao Liu, Wanwen Zeng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Transformer arxitekturasi va uning hisoblash xususiyatlari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Transformer arxitekturasi va uning hisoblash xususiyatlari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Dekoder-only Transformer (zamonaviy LLM'larning aksariyati shu turda) L ta bir xil blokdan iborat.</a:t>
            </a:r>
          </a:p>
          <a:p>
            <a:pPr>
              <a:spcBef>
                <a:spcPts val="400"/>
              </a:spcBef>
            </a:pPr>
            <a:r>
              <a:rPr sz="1400">
                <a:solidFill>
                  <a:srgbClr val="334055"/>
                </a:solidFill>
                <a:latin typeface="Calibri"/>
              </a:rPr>
              <a:t>Har blok ikki qismdan tuziladi: ko'p boshli o'z-o'ziga diqqat (multi-head self-attention) va pozitsiya bo'yicha to'liq bog'langan tarmoq (feed-forward network, FFN), har biri qoldiq bog'lanish (residual) va normalizatsiya (LayerNorm yoki RMSNorm) bilan o'ralgan.</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Parametrlar soni taxminan P ≈ 12 · L · d_model² (diqqat 4·d², FFN 8·d²) plus embedding V · d_model.</a:t>
            </a:r>
          </a:p>
          <a:p>
            <a:pPr>
              <a:spcBef>
                <a:spcPts val="400"/>
              </a:spcBef>
            </a:pPr>
            <a:r>
              <a:rPr sz="1400">
                <a:solidFill>
                  <a:srgbClr val="334055"/>
                </a:solidFill>
                <a:latin typeface="Calibri"/>
              </a:rPr>
              <a:t>Masalan, Llama 2 7B: L = 32, d_model = 4096 → 12 · 32 · 4096² ≈ 6,4 milliard, embedding bilan ≈ 6,7 milliard. Token boshiga hisoblash: har parametr bitta ko'paytirish-qo'shish, ya'ni ≈ 2P FLOP (oldinga), o'qitishda orqaga tarqatish bilan ≈ 6P FLOP.</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400" b="0">
                <a:solidFill>
                  <a:srgbClr val="1B2430"/>
                </a:solidFill>
                <a:latin typeface="Calibri"/>
              </a:rPr>
              <a:t>Zamonaviy modellarda KV-keshni kamaytirish uchun guruhlangan so'rov diqqati (grouped-query attention, GQA) ishlatiladi: 32 ta Q boshiga atigi 8 ta K/V boshi to'g'ri keladi (Llama 3, Mistral).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fe19331b9f4ded3.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极客湾Geekerwan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LLM o'qitish va inferens: masshtab, xotira va tizim optimallashtirishlari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O'qitish narxi oddiy formula bilan baholanadi: C ≈ 6 · P · D FLOP, bu yerda D — o'qitish tokenlari soni.</a:t>
            </a:r>
          </a:p>
          <a:p>
            <a:pPr>
              <a:spcBef>
                <a:spcPts val="400"/>
              </a:spcBef>
            </a:pPr>
            <a:r>
              <a:rPr sz="1400">
                <a:solidFill>
                  <a:srgbClr val="334055"/>
                </a:solidFill>
                <a:latin typeface="Calibri"/>
              </a:rPr>
              <a:t>Chinchilla tadqiqoti (Hoffmann va boshq., 2022) berilgan hisoblash byudjetida optimal nisbat D ≈ 20 · P ekanini ko'rsatdi, biroq inferens narxini hisobga olgan zamonaviy modellar ancha ko'proq tokenda o'qitiladi (Llama 3 8B — 15 trillion, ya'ni D ≈ 1900 · P).</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Inferens ikki fazadan iborat.</a:t>
            </a:r>
          </a:p>
          <a:p>
            <a:pPr>
              <a:spcBef>
                <a:spcPts val="400"/>
              </a:spcBef>
            </a:pPr>
            <a:r>
              <a:rPr sz="1400">
                <a:solidFill>
                  <a:srgbClr val="334055"/>
                </a:solidFill>
                <a:latin typeface="Calibri"/>
              </a:rPr>
              <a:t>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KV-kesh — dekodlashda har qadamda oldingi tokenlarning K va V vektorlarini qayta hisoblamaslik uchun saqlanadigan xotira.</a:t>
            </a:r>
          </a:p>
          <a:p>
            <a:pPr>
              <a:spcBef>
                <a:spcPts val="400"/>
              </a:spcBef>
            </a:pPr>
            <a:r>
              <a:rPr sz="1400">
                <a:solidFill>
                  <a:srgbClr val="334055"/>
                </a:solidFill>
                <a:latin typeface="Calibri"/>
              </a:rPr>
              <a:t>Token boshiga hajmi: 2 · L · n_kv_heads · d_head · bayt. Llama 2 7B (MHA, 32 bosh): 2 · 32 · 32 · 128 · 2 = 512 KB/token; Llama 3.1 8B (GQA, 8 bosh): 2 · 32 · 8 · 128 · 2 = 128 KB/token; Llama 3.1 70B: 2 · 80 · 8 · 128 · 2 = 320 KB/token.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182518"/>
            <a:ext cx="70000" cy="11849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Ikkinchi asosiy optimallashtirish — uzluksiz partiyalash (continuous batching, Orca tizimidan): partiya butun so'rovlar darajasida emas, iteratsiya darajasida tuziladi; bitta ketma-ketlik tugashi bilan uning o'rnini navbatdagi so'rov egallaydi, GPU hech…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Usul</a:t>
                      </a:r>
                    </a:p>
                  </a:txBody>
                  <a:tcPr>
                    <a:solidFill>
                      <a:srgbClr val="2D5C8F"/>
                    </a:solidFill>
                  </a:tcPr>
                </a:tc>
                <a:tc>
                  <a:txBody>
                    <a:bodyPr/>
                    <a:lstStyle/>
                    <a:p>
                      <a:r>
                        <a:rPr sz="1400" b="1">
                          <a:solidFill>
                            <a:srgbClr val="FFFFFF"/>
                          </a:solidFill>
                          <a:latin typeface="Calibri"/>
                        </a:rPr>
                        <a:t>Nimani yaxshilaydi</a:t>
                      </a:r>
                    </a:p>
                  </a:txBody>
                  <a:tcPr>
                    <a:solidFill>
                      <a:srgbClr val="2D5C8F"/>
                    </a:solidFill>
                  </a:tcPr>
                </a:tc>
                <a:tc>
                  <a:txBody>
                    <a:bodyPr/>
                    <a:lstStyle/>
                    <a:p>
                      <a:r>
                        <a:rPr sz="1400" b="1">
                          <a:solidFill>
                            <a:srgbClr val="FFFFFF"/>
                          </a:solidFill>
                          <a:latin typeface="Calibri"/>
                        </a:rPr>
                        <a:t>Mexanizm</a:t>
                      </a:r>
                    </a:p>
                  </a:txBody>
                  <a:tcPr>
                    <a:solidFill>
                      <a:srgbClr val="2D5C8F"/>
                    </a:solidFill>
                  </a:tcPr>
                </a:tc>
                <a:tc>
                  <a:txBody>
                    <a:bodyPr/>
                    <a:lstStyle/>
                    <a:p>
                      <a:r>
                        <a:rPr sz="1400" b="1">
                          <a:solidFill>
                            <a:srgbClr val="FFFFFF"/>
                          </a:solidFill>
                          <a:latin typeface="Calibri"/>
                        </a:rPr>
                        <a:t>Tipik yutuq</a:t>
                      </a:r>
                    </a:p>
                  </a:txBody>
                  <a:tcPr>
                    <a:solidFill>
                      <a:srgbClr val="2D5C8F"/>
                    </a:solidFill>
                  </a:tcPr>
                </a:tc>
              </a:tr>
              <a:tr h="520000">
                <a:tc>
                  <a:txBody>
                    <a:bodyPr/>
                    <a:lstStyle/>
                    <a:p>
                      <a:r>
                        <a:rPr sz="1400" b="0">
                          <a:solidFill>
                            <a:srgbClr val="1B2430"/>
                          </a:solidFill>
                          <a:latin typeface="Calibri"/>
                        </a:rPr>
                        <a:t>FlashAttention</a:t>
                      </a:r>
                    </a:p>
                  </a:txBody>
                  <a:tcPr>
                    <a:solidFill>
                      <a:srgbClr val="F1F4F8"/>
                    </a:solidFill>
                  </a:tcPr>
                </a:tc>
                <a:tc>
                  <a:txBody>
                    <a:bodyPr/>
                    <a:lstStyle/>
                    <a:p>
                      <a:r>
                        <a:rPr sz="1400" b="0">
                          <a:solidFill>
                            <a:srgbClr val="1B2430"/>
                          </a:solidFill>
                          <a:latin typeface="Calibri"/>
                        </a:rPr>
                        <a:t>Prefill tezligi, uzun kontekst xotirasi</a:t>
                      </a:r>
                    </a:p>
                  </a:txBody>
                  <a:tcPr>
                    <a:solidFill>
                      <a:srgbClr val="F1F4F8"/>
                    </a:solidFill>
                  </a:tcPr>
                </a:tc>
                <a:tc>
                  <a:txBody>
                    <a:bodyPr/>
                    <a:lstStyle/>
                    <a:p>
                      <a:r>
                        <a:rPr sz="1400" b="0">
                          <a:solidFill>
                            <a:srgbClr val="1B2430"/>
                          </a:solidFill>
                          <a:latin typeface="Calibri"/>
                        </a:rPr>
                        <a:t>SRAM'da bloklab hisoblash</a:t>
                      </a:r>
                    </a:p>
                  </a:txBody>
                  <a:tcPr>
                    <a:solidFill>
                      <a:srgbClr val="F1F4F8"/>
                    </a:solidFill>
                  </a:tcPr>
                </a:tc>
                <a:tc>
                  <a:txBody>
                    <a:bodyPr/>
                    <a:lstStyle/>
                    <a:p>
                      <a:r>
                        <a:rPr sz="1400" b="0">
                          <a:solidFill>
                            <a:srgbClr val="1B2430"/>
                          </a:solidFill>
                          <a:latin typeface="Calibri"/>
                        </a:rPr>
                        <a:t>2–4× tezroq, xotira O(n)</a:t>
                      </a:r>
                    </a:p>
                  </a:txBody>
                  <a:tcPr>
                    <a:solidFill>
                      <a:srgbClr val="F1F4F8"/>
                    </a:solidFill>
                  </a:tcPr>
                </a:tc>
              </a:tr>
              <a:tr h="520000">
                <a:tc>
                  <a:txBody>
                    <a:bodyPr/>
                    <a:lstStyle/>
                    <a:p>
                      <a:r>
                        <a:rPr sz="1400" b="0">
                          <a:solidFill>
                            <a:srgbClr val="1B2430"/>
                          </a:solidFill>
                          <a:latin typeface="Calibri"/>
                        </a:rPr>
                        <a:t>PagedAttention</a:t>
                      </a:r>
                    </a:p>
                  </a:txBody>
                  <a:tcPr>
                    <a:solidFill>
                      <a:srgbClr val="FFFFFF"/>
                    </a:solidFill>
                  </a:tcPr>
                </a:tc>
                <a:tc>
                  <a:txBody>
                    <a:bodyPr/>
                    <a:lstStyle/>
                    <a:p>
                      <a:r>
                        <a:rPr sz="1400" b="0">
                          <a:solidFill>
                            <a:srgbClr val="1B2430"/>
                          </a:solidFill>
                          <a:latin typeface="Calibri"/>
                        </a:rPr>
                        <a:t>KV-kesh sig'imi, throughput</a:t>
                      </a:r>
                    </a:p>
                  </a:txBody>
                  <a:tcPr>
                    <a:solidFill>
                      <a:srgbClr val="FFFFFF"/>
                    </a:solidFill>
                  </a:tcPr>
                </a:tc>
                <a:tc>
                  <a:txBody>
                    <a:bodyPr/>
                    <a:lstStyle/>
                    <a:p>
                      <a:r>
                        <a:rPr sz="1400" b="0">
                          <a:solidFill>
                            <a:srgbClr val="1B2430"/>
                          </a:solidFill>
                          <a:latin typeface="Calibri"/>
                        </a:rPr>
                        <a:t>Sahifalangan xotira</a:t>
                      </a:r>
                    </a:p>
                  </a:txBody>
                  <a:tcPr>
                    <a:solidFill>
                      <a:srgbClr val="FFFFFF"/>
                    </a:solidFill>
                  </a:tcPr>
                </a:tc>
                <a:tc>
                  <a:txBody>
                    <a:bodyPr/>
                    <a:lstStyle/>
                    <a:p>
                      <a:r>
                        <a:rPr sz="1400" b="0">
                          <a:solidFill>
                            <a:srgbClr val="1B2430"/>
                          </a:solidFill>
                          <a:latin typeface="Calibri"/>
                        </a:rPr>
                        <a:t>Isrof 60–80 % → 4 % dan kam</a:t>
                      </a:r>
                    </a:p>
                  </a:txBody>
                  <a:tcPr>
                    <a:solidFill>
                      <a:srgbClr val="FFFFFF"/>
                    </a:solidFill>
                  </a:tcPr>
                </a:tc>
              </a:tr>
              <a:tr h="520000">
                <a:tc>
                  <a:txBody>
                    <a:bodyPr/>
                    <a:lstStyle/>
                    <a:p>
                      <a:r>
                        <a:rPr sz="1400" b="0">
                          <a:solidFill>
                            <a:srgbClr val="1B2430"/>
                          </a:solidFill>
                          <a:latin typeface="Calibri"/>
                        </a:rPr>
                        <a:t>Continuous batching</a:t>
                      </a:r>
                    </a:p>
                  </a:txBody>
                  <a:tcPr>
                    <a:solidFill>
                      <a:srgbClr val="F1F4F8"/>
                    </a:solidFill>
                  </a:tcPr>
                </a:tc>
                <a:tc>
                  <a:txBody>
                    <a:bodyPr/>
                    <a:lstStyle/>
                    <a:p>
                      <a:r>
                        <a:rPr sz="1400" b="0">
                          <a:solidFill>
                            <a:srgbClr val="1B2430"/>
                          </a:solidFill>
                          <a:latin typeface="Calibri"/>
                        </a:rPr>
                        <a:t>Throughput, GPU bandligi</a:t>
                      </a:r>
                    </a:p>
                  </a:txBody>
                  <a:tcPr>
                    <a:solidFill>
                      <a:srgbClr val="F1F4F8"/>
                    </a:solidFill>
                  </a:tcPr>
                </a:tc>
                <a:tc>
                  <a:txBody>
                    <a:bodyPr/>
                    <a:lstStyle/>
                    <a:p>
                      <a:r>
                        <a:rPr sz="1400" b="0">
                          <a:solidFill>
                            <a:srgbClr val="1B2430"/>
                          </a:solidFill>
                          <a:latin typeface="Calibri"/>
                        </a:rPr>
                        <a:t>Iteratsiya darajasida partiya</a:t>
                      </a:r>
                    </a:p>
                  </a:txBody>
                  <a:tcPr>
                    <a:solidFill>
                      <a:srgbClr val="F1F4F8"/>
                    </a:solidFill>
                  </a:tcPr>
                </a:tc>
                <a:tc>
                  <a:txBody>
                    <a:bodyPr/>
                    <a:lstStyle/>
                    <a:p>
                      <a:r>
                        <a:rPr sz="1400" b="0">
                          <a:solidFill>
                            <a:srgbClr val="1B2430"/>
                          </a:solidFill>
                          <a:latin typeface="Calibri"/>
                        </a:rPr>
                        <a:t>2–10× throughput</a:t>
                      </a:r>
                    </a:p>
                  </a:txBody>
                  <a:tcPr>
                    <a:solidFill>
                      <a:srgbClr val="F1F4F8"/>
                    </a:solidFill>
                  </a:tcPr>
                </a:tc>
              </a:tr>
              <a:tr h="520000">
                <a:tc>
                  <a:txBody>
                    <a:bodyPr/>
                    <a:lstStyle/>
                    <a:p>
                      <a:r>
                        <a:rPr sz="1400" b="0">
                          <a:solidFill>
                            <a:srgbClr val="1B2430"/>
                          </a:solidFill>
                          <a:latin typeface="Calibri"/>
                        </a:rPr>
                        <a:t>Spekulyativ dekodlash</a:t>
                      </a:r>
                    </a:p>
                  </a:txBody>
                  <a:tcPr>
                    <a:solidFill>
                      <a:srgbClr val="FFFFFF"/>
                    </a:solidFill>
                  </a:tcPr>
                </a:tc>
                <a:tc>
                  <a:txBody>
                    <a:bodyPr/>
                    <a:lstStyle/>
                    <a:p>
                      <a:r>
                        <a:rPr sz="1400" b="0">
                          <a:solidFill>
                            <a:srgbClr val="1B2430"/>
                          </a:solidFill>
                          <a:latin typeface="Calibri"/>
                        </a:rPr>
                        <a:t>Decode kechikishi</a:t>
                      </a:r>
                    </a:p>
                  </a:txBody>
                  <a:tcPr>
                    <a:solidFill>
                      <a:srgbClr val="FFFFFF"/>
                    </a:solidFill>
                  </a:tcPr>
                </a:tc>
                <a:tc>
                  <a:txBody>
                    <a:bodyPr/>
                    <a:lstStyle/>
                    <a:p>
                      <a:r>
                        <a:rPr sz="1400" b="0">
                          <a:solidFill>
                            <a:srgbClr val="1B2430"/>
                          </a:solidFill>
                          <a:latin typeface="Calibri"/>
                        </a:rPr>
                        <a:t>Qoralama + parallel tekshiruv</a:t>
                      </a:r>
                    </a:p>
                  </a:txBody>
                  <a:tcPr>
                    <a:solidFill>
                      <a:srgbClr val="FFFFFF"/>
                    </a:solidFill>
                  </a:tcPr>
                </a:tc>
                <a:tc>
                  <a:txBody>
                    <a:bodyPr/>
                    <a:lstStyle/>
                    <a:p>
                      <a:r>
                        <a:rPr sz="1400" b="0">
                          <a:solidFill>
                            <a:srgbClr val="1B2430"/>
                          </a:solidFill>
                          <a:latin typeface="Calibri"/>
                        </a:rPr>
                        <a:t>2–3× tok/s</a:t>
                      </a:r>
                    </a:p>
                  </a:txBody>
                  <a:tcPr>
                    <a:solidFill>
                      <a:srgbClr val="FFFFFF"/>
                    </a:solidFill>
                  </a:tcPr>
                </a:tc>
              </a:tr>
              <a:tr h="520000">
                <a:tc>
                  <a:txBody>
                    <a:bodyPr/>
                    <a:lstStyle/>
                    <a:p>
                      <a:r>
                        <a:rPr sz="1400" b="0">
                          <a:solidFill>
                            <a:srgbClr val="1B2430"/>
                          </a:solidFill>
                          <a:latin typeface="Calibri"/>
                        </a:rPr>
                        <a:t>INT4/FP8 kvantlash</a:t>
                      </a:r>
                    </a:p>
                  </a:txBody>
                  <a:tcPr>
                    <a:solidFill>
                      <a:srgbClr val="F1F4F8"/>
                    </a:solidFill>
                  </a:tcPr>
                </a:tc>
                <a:tc>
                  <a:txBody>
                    <a:bodyPr/>
                    <a:lstStyle/>
                    <a:p>
                      <a:r>
                        <a:rPr sz="1400" b="0">
                          <a:solidFill>
                            <a:srgbClr val="1B2430"/>
                          </a:solidFill>
                          <a:latin typeface="Calibri"/>
                        </a:rPr>
                        <a:t>Xotira, decode tezligi</a:t>
                      </a:r>
                    </a:p>
                  </a:txBody>
                  <a:tcPr>
                    <a:solidFill>
                      <a:srgbClr val="F1F4F8"/>
                    </a:solidFill>
                  </a:tcPr>
                </a:tc>
                <a:tc>
                  <a:txBody>
                    <a:bodyPr/>
                    <a:lstStyle/>
                    <a:p>
                      <a:r>
                        <a:rPr sz="1400" b="0">
                          <a:solidFill>
                            <a:srgbClr val="1B2430"/>
                          </a:solidFill>
                          <a:latin typeface="Calibri"/>
                        </a:rPr>
                        <a:t>Kam bayt o'qish</a:t>
                      </a:r>
                    </a:p>
                  </a:txBody>
                  <a:tcPr>
                    <a:solidFill>
                      <a:srgbClr val="F1F4F8"/>
                    </a:solidFill>
                  </a:tcPr>
                </a:tc>
                <a:tc>
                  <a:txBody>
                    <a:bodyPr/>
                    <a:lstStyle/>
                    <a:p>
                      <a:r>
                        <a:rPr sz="1400" b="0">
                          <a:solidFill>
                            <a:srgbClr val="1B2430"/>
                          </a:solidFill>
                          <a:latin typeface="Calibri"/>
                        </a:rPr>
                        <a:t>2–4× xotira, sifat −0…2 %</a:t>
                      </a:r>
                    </a:p>
                  </a:txBody>
                  <a:tcPr>
                    <a:solidFill>
                      <a:srgbClr val="F1F4F8"/>
                    </a:solidFill>
                  </a:tcPr>
                </a:tc>
              </a:tr>
              <a:tr h="520000">
                <a:tc>
                  <a:txBody>
                    <a:bodyPr/>
                    <a:lstStyle/>
                    <a:p>
                      <a:r>
                        <a:rPr sz="1400" b="0">
                          <a:solidFill>
                            <a:srgbClr val="1B2430"/>
                          </a:solidFill>
                          <a:latin typeface="Calibri"/>
                        </a:rPr>
                        <a:t>GQA / MQA</a:t>
                      </a:r>
                    </a:p>
                  </a:txBody>
                  <a:tcPr>
                    <a:solidFill>
                      <a:srgbClr val="FFFFFF"/>
                    </a:solidFill>
                  </a:tcPr>
                </a:tc>
                <a:tc>
                  <a:txBody>
                    <a:bodyPr/>
                    <a:lstStyle/>
                    <a:p>
                      <a:r>
                        <a:rPr sz="1400" b="0">
                          <a:solidFill>
                            <a:srgbClr val="1B2430"/>
                          </a:solidFill>
                          <a:latin typeface="Calibri"/>
                        </a:rPr>
                        <a:t>KV-kesh hajmi</a:t>
                      </a:r>
                    </a:p>
                  </a:txBody>
                  <a:tcPr>
                    <a:solidFill>
                      <a:srgbClr val="FFFFFF"/>
                    </a:solidFill>
                  </a:tcPr>
                </a:tc>
                <a:tc>
                  <a:txBody>
                    <a:bodyPr/>
                    <a:lstStyle/>
                    <a:p>
                      <a:r>
                        <a:rPr sz="1400" b="0">
                          <a:solidFill>
                            <a:srgbClr val="1B2430"/>
                          </a:solidFill>
                          <a:latin typeface="Calibri"/>
                        </a:rPr>
                        <a:t>K/V boshlarni bo'lishish</a:t>
                      </a:r>
                    </a:p>
                  </a:txBody>
                  <a:tcPr>
                    <a:solidFill>
                      <a:srgbClr val="FFFFFF"/>
                    </a:solidFill>
                  </a:tcPr>
                </a:tc>
                <a:tc>
                  <a:txBody>
                    <a:bodyPr/>
                    <a:lstStyle/>
                    <a:p>
                      <a:r>
                        <a:rPr sz="1400" b="0">
                          <a:solidFill>
                            <a:srgbClr val="1B2430"/>
                          </a:solidFill>
                          <a:latin typeface="Calibri"/>
                        </a:rPr>
                        <a:t>4–8× kichik kesh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6bb8841003cde62.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BalticServers.com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Retrieval-Augmented Generation va vektor bazalar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RAG (Lewis va boshq., 2020) tizimi ikki bosqichda ishlaydi.</a:t>
            </a:r>
          </a:p>
          <a:p>
            <a:pPr>
              <a:spcBef>
                <a:spcPts val="400"/>
              </a:spcBef>
            </a:pPr>
            <a:r>
              <a:rPr sz="1400">
                <a:solidFill>
                  <a:srgbClr val="334055"/>
                </a:solidFill>
                <a:latin typeface="Calibri"/>
              </a:rPr>
              <a:t>Tayyorgarlik (indekslash): hujjatlar bo'laklarga (chunk, odatda 200–1000 token, qisman ustma-ust) bo'linadi, har bo'lak embedding modeli orqali zich vektorga (384–1024 o'lcham) aylantiriladi va vektor indeksga yoziladi.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Vektor qidiruvning markaziy masalasi — N ta d-o'lchamli vektor orasidan so'rovga eng yaqin k tasini tez topish.</a:t>
            </a:r>
          </a:p>
          <a:p>
            <a:pPr>
              <a:spcBef>
                <a:spcPts val="400"/>
              </a:spcBef>
            </a:pPr>
            <a:r>
              <a:rPr sz="1400">
                <a:solidFill>
                  <a:srgbClr val="334055"/>
                </a:solidFill>
                <a:latin typeface="Calibri"/>
              </a:rPr>
              <a:t>To'liq qidiruv (Flat, brute force) O(N · d) — 1 million × 768 o'lcham uchun GPU'da bir necha millisekund, lekin 100 million uchun sekin va 300 GB xotira. Taxminiy eng yaqin qo'shni (approximate nearest neighbor, ANN) indekslari aniqlikning bir qismini tezlik va xotiraga almashtiradi.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Vektor baza (vector database) — indeks ustiga metama'lumot filtrlash, CRUD, persistentlik, replikatsiya va API qo'shadigan tizim.</a:t>
            </a:r>
          </a:p>
          <a:p>
            <a:pPr>
              <a:spcBef>
                <a:spcPts val="400"/>
              </a:spcBef>
            </a:pPr>
            <a:r>
              <a:rPr sz="1400">
                <a:solidFill>
                  <a:srgbClr val="334055"/>
                </a:solidFill>
                <a:latin typeface="Calibri"/>
              </a:rPr>
              <a:t>FAISS (Meta) — kutubxona, baza emas: eng tez va moslashuvchan, GPU qo'llab-quvvatlaydi, lekin saqlash va filtrlashni o'zingiz yozasiz. Chroma — yengil, Python'ga joylashtiriladigan, prototiplar uchun qulay (ichida HNSW).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Indeks</a:t>
                      </a:r>
                    </a:p>
                  </a:txBody>
                  <a:tcPr>
                    <a:solidFill>
                      <a:srgbClr val="2D5C8F"/>
                    </a:solidFill>
                  </a:tcPr>
                </a:tc>
                <a:tc>
                  <a:txBody>
                    <a:bodyPr/>
                    <a:lstStyle/>
                    <a:p>
                      <a:r>
                        <a:rPr sz="1400" b="1">
                          <a:solidFill>
                            <a:srgbClr val="FFFFFF"/>
                          </a:solidFill>
                          <a:latin typeface="Calibri"/>
                        </a:rPr>
                        <a:t>Qidiruv vaqti (1M, d=768, taxminiy)</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Recall@10</a:t>
                      </a:r>
                    </a:p>
                  </a:txBody>
                  <a:tcPr>
                    <a:solidFill>
                      <a:srgbClr val="2D5C8F"/>
                    </a:solidFill>
                  </a:tcPr>
                </a:tc>
                <a:tc>
                  <a:txBody>
                    <a:bodyPr/>
                    <a:lstStyle/>
                    <a:p>
                      <a:r>
                        <a:rPr sz="1400" b="1">
                          <a:solidFill>
                            <a:srgbClr val="FFFFFF"/>
                          </a:solidFill>
                          <a:latin typeface="Calibri"/>
                        </a:rPr>
                        <a:t>Qurish</a:t>
                      </a:r>
                    </a:p>
                  </a:txBody>
                  <a:tcPr>
                    <a:solidFill>
                      <a:srgbClr val="2D5C8F"/>
                    </a:solidFill>
                  </a:tcPr>
                </a:tc>
              </a:tr>
              <a:tr h="520000">
                <a:tc>
                  <a:txBody>
                    <a:bodyPr/>
                    <a:lstStyle/>
                    <a:p>
                      <a:r>
                        <a:rPr sz="1400" b="0">
                          <a:solidFill>
                            <a:srgbClr val="1B2430"/>
                          </a:solidFill>
                          <a:latin typeface="Calibri"/>
                        </a:rPr>
                        <a:t>Flat (CPU)</a:t>
                      </a:r>
                    </a:p>
                  </a:txBody>
                  <a:tcPr>
                    <a:solidFill>
                      <a:srgbClr val="F1F4F8"/>
                    </a:solidFill>
                  </a:tcPr>
                </a:tc>
                <a:tc>
                  <a:txBody>
                    <a:bodyPr/>
                    <a:lstStyle/>
                    <a:p>
                      <a:r>
                        <a:rPr sz="1400" b="0">
                          <a:solidFill>
                            <a:srgbClr val="1B2430"/>
                          </a:solidFill>
                          <a:latin typeface="Calibri"/>
                        </a:rPr>
                        <a:t>50–150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100 %</a:t>
                      </a:r>
                    </a:p>
                  </a:txBody>
                  <a:tcPr>
                    <a:solidFill>
                      <a:srgbClr val="F1F4F8"/>
                    </a:solidFill>
                  </a:tcPr>
                </a:tc>
                <a:tc>
                  <a:txBody>
                    <a:bodyPr/>
                    <a:lstStyle/>
                    <a:p>
                      <a:r>
                        <a:rPr sz="1400" b="0">
                          <a:solidFill>
                            <a:srgbClr val="1B2430"/>
                          </a:solidFill>
                          <a:latin typeface="Calibri"/>
                        </a:rPr>
                        <a:t>0</a:t>
                      </a:r>
                    </a:p>
                  </a:txBody>
                  <a:tcPr>
                    <a:solidFill>
                      <a:srgbClr val="F1F4F8"/>
                    </a:solidFill>
                  </a:tcPr>
                </a:tc>
              </a:tr>
              <a:tr h="520000">
                <a:tc>
                  <a:txBody>
                    <a:bodyPr/>
                    <a:lstStyle/>
                    <a:p>
                      <a:r>
                        <a:rPr sz="1400" b="0">
                          <a:solidFill>
                            <a:srgbClr val="1B2430"/>
                          </a:solidFill>
                          <a:latin typeface="Calibri"/>
                        </a:rPr>
                        <a:t>Flat (GPU)</a:t>
                      </a:r>
                    </a:p>
                  </a:txBody>
                  <a:tcPr>
                    <a:solidFill>
                      <a:srgbClr val="FFFFFF"/>
                    </a:solidFill>
                  </a:tcPr>
                </a:tc>
                <a:tc>
                  <a:txBody>
                    <a:bodyPr/>
                    <a:lstStyle/>
                    <a:p>
                      <a:r>
                        <a:rPr sz="1400" b="0">
                          <a:solidFill>
                            <a:srgbClr val="1B2430"/>
                          </a:solidFill>
                          <a:latin typeface="Calibri"/>
                        </a:rPr>
                        <a:t>1–3 ms</a:t>
                      </a:r>
                    </a:p>
                  </a:txBody>
                  <a:tcPr>
                    <a:solidFill>
                      <a:srgbClr val="FFFFFF"/>
                    </a:solidFill>
                  </a:tcPr>
                </a:tc>
                <a:tc>
                  <a:txBody>
                    <a:bodyPr/>
                    <a:lstStyle/>
                    <a:p>
                      <a:r>
                        <a:rPr sz="1400" b="0">
                          <a:solidFill>
                            <a:srgbClr val="1B2430"/>
                          </a:solidFill>
                          <a:latin typeface="Calibri"/>
                        </a:rPr>
                        <a:t>3 GB</a:t>
                      </a:r>
                    </a:p>
                  </a:txBody>
                  <a:tcPr>
                    <a:solidFill>
                      <a:srgbClr val="FFFFFF"/>
                    </a:solidFill>
                  </a:tcPr>
                </a:tc>
                <a:tc>
                  <a:txBody>
                    <a:bodyPr/>
                    <a:lstStyle/>
                    <a:p>
                      <a:r>
                        <a:rPr sz="1400" b="0">
                          <a:solidFill>
                            <a:srgbClr val="1B2430"/>
                          </a:solidFill>
                          <a:latin typeface="Calibri"/>
                        </a:rPr>
                        <a:t>100 %</a:t>
                      </a:r>
                    </a:p>
                  </a:txBody>
                  <a:tcPr>
                    <a:solidFill>
                      <a:srgbClr val="FFFFFF"/>
                    </a:solidFill>
                  </a:tcPr>
                </a:tc>
                <a:tc>
                  <a:txBody>
                    <a:bodyPr/>
                    <a:lstStyle/>
                    <a:p>
                      <a:r>
                        <a:rPr sz="1400" b="0">
                          <a:solidFill>
                            <a:srgbClr val="1B2430"/>
                          </a:solidFill>
                          <a:latin typeface="Calibri"/>
                        </a:rPr>
                        <a:t>0</a:t>
                      </a:r>
                    </a:p>
                  </a:txBody>
                  <a:tcPr>
                    <a:solidFill>
                      <a:srgbClr val="FFFFFF"/>
                    </a:solidFill>
                  </a:tcPr>
                </a:tc>
              </a:tr>
              <a:tr h="520000">
                <a:tc>
                  <a:txBody>
                    <a:bodyPr/>
                    <a:lstStyle/>
                    <a:p>
                      <a:r>
                        <a:rPr sz="1400" b="0">
                          <a:solidFill>
                            <a:srgbClr val="1B2430"/>
                          </a:solidFill>
                          <a:latin typeface="Calibri"/>
                        </a:rPr>
                        <a:t>IVF1024, nprobe=16</a:t>
                      </a:r>
                    </a:p>
                  </a:txBody>
                  <a:tcPr>
                    <a:solidFill>
                      <a:srgbClr val="F1F4F8"/>
                    </a:solidFill>
                  </a:tcPr>
                </a:tc>
                <a:tc>
                  <a:txBody>
                    <a:bodyPr/>
                    <a:lstStyle/>
                    <a:p>
                      <a:r>
                        <a:rPr sz="1400" b="0">
                          <a:solidFill>
                            <a:srgbClr val="1B2430"/>
                          </a:solidFill>
                          <a:latin typeface="Calibri"/>
                        </a:rPr>
                        <a:t>2–5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90–95 %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r h="520000">
                <a:tc>
                  <a:txBody>
                    <a:bodyPr/>
                    <a:lstStyle/>
                    <a:p>
                      <a:r>
                        <a:rPr sz="1400" b="0">
                          <a:solidFill>
                            <a:srgbClr val="1B2430"/>
                          </a:solidFill>
                          <a:latin typeface="Calibri"/>
                        </a:rPr>
                        <a:t>HNSW32, ef=64</a:t>
                      </a:r>
                    </a:p>
                  </a:txBody>
                  <a:tcPr>
                    <a:solidFill>
                      <a:srgbClr val="FFFFFF"/>
                    </a:solidFill>
                  </a:tcPr>
                </a:tc>
                <a:tc>
                  <a:txBody>
                    <a:bodyPr/>
                    <a:lstStyle/>
                    <a:p>
                      <a:r>
                        <a:rPr sz="1400" b="0">
                          <a:solidFill>
                            <a:srgbClr val="1B2430"/>
                          </a:solidFill>
                          <a:latin typeface="Calibri"/>
                        </a:rPr>
                        <a:t>0,3–1 ms</a:t>
                      </a:r>
                    </a:p>
                  </a:txBody>
                  <a:tcPr>
                    <a:solidFill>
                      <a:srgbClr val="FFFFFF"/>
                    </a:solidFill>
                  </a:tcPr>
                </a:tc>
                <a:tc>
                  <a:txBody>
                    <a:bodyPr/>
                    <a:lstStyle/>
                    <a:p>
                      <a:r>
                        <a:rPr sz="1400" b="0">
                          <a:solidFill>
                            <a:srgbClr val="1B2430"/>
                          </a:solidFill>
                          <a:latin typeface="Calibri"/>
                        </a:rPr>
                        <a:t>4–5 GB</a:t>
                      </a:r>
                    </a:p>
                  </a:txBody>
                  <a:tcPr>
                    <a:solidFill>
                      <a:srgbClr val="FFFFFF"/>
                    </a:solidFill>
                  </a:tcPr>
                </a:tc>
                <a:tc>
                  <a:txBody>
                    <a:bodyPr/>
                    <a:lstStyle/>
                    <a:p>
                      <a:r>
                        <a:rPr sz="1400" b="0">
                          <a:solidFill>
                            <a:srgbClr val="1B2430"/>
                          </a:solidFill>
                          <a:latin typeface="Calibri"/>
                        </a:rPr>
                        <a:t>97–99 %</a:t>
                      </a:r>
                    </a:p>
                  </a:txBody>
                  <a:tcPr>
                    <a:solidFill>
                      <a:srgbClr val="FFFFFF"/>
                    </a:solidFill>
                  </a:tcPr>
                </a:tc>
                <a:tc>
                  <a:txBody>
                    <a:bodyPr/>
                    <a:lstStyle/>
                    <a:p>
                      <a:r>
                        <a:rPr sz="1400" b="0">
                          <a:solidFill>
                            <a:srgbClr val="1B2430"/>
                          </a:solidFill>
                          <a:latin typeface="Calibri"/>
                        </a:rPr>
                        <a:t>10–30 daqiqa</a:t>
                      </a:r>
                    </a:p>
                  </a:txBody>
                  <a:tcPr>
                    <a:solidFill>
                      <a:srgbClr val="FFFFFF"/>
                    </a:solidFill>
                  </a:tcPr>
                </a:tc>
              </a:tr>
              <a:tr h="520000">
                <a:tc>
                  <a:txBody>
                    <a:bodyPr/>
                    <a:lstStyle/>
                    <a:p>
                      <a:r>
                        <a:rPr sz="1400" b="0">
                          <a:solidFill>
                            <a:srgbClr val="1B2430"/>
                          </a:solidFill>
                          <a:latin typeface="Calibri"/>
                        </a:rPr>
                        <a:t>IVF1024,PQ64</a:t>
                      </a:r>
                    </a:p>
                  </a:txBody>
                  <a:tcPr>
                    <a:solidFill>
                      <a:srgbClr val="F1F4F8"/>
                    </a:solidFill>
                  </a:tcPr>
                </a:tc>
                <a:tc>
                  <a:txBody>
                    <a:bodyPr/>
                    <a:lstStyle/>
                    <a:p>
                      <a:r>
                        <a:rPr sz="1400" b="0">
                          <a:solidFill>
                            <a:srgbClr val="1B2430"/>
                          </a:solidFill>
                          <a:latin typeface="Calibri"/>
                        </a:rPr>
                        <a:t>1–3 ms</a:t>
                      </a:r>
                    </a:p>
                  </a:txBody>
                  <a:tcPr>
                    <a:solidFill>
                      <a:srgbClr val="F1F4F8"/>
                    </a:solidFill>
                  </a:tcPr>
                </a:tc>
                <a:tc>
                  <a:txBody>
                    <a:bodyPr/>
                    <a:lstStyle/>
                    <a:p>
                      <a:r>
                        <a:rPr sz="1400" b="0">
                          <a:solidFill>
                            <a:srgbClr val="1B2430"/>
                          </a:solidFill>
                          <a:latin typeface="Calibri"/>
                        </a:rPr>
                        <a:t>0,1 GB</a:t>
                      </a:r>
                    </a:p>
                  </a:txBody>
                  <a:tcPr>
                    <a:solidFill>
                      <a:srgbClr val="F1F4F8"/>
                    </a:solidFill>
                  </a:tcPr>
                </a:tc>
                <a:tc>
                  <a:txBody>
                    <a:bodyPr/>
                    <a:lstStyle/>
                    <a:p>
                      <a:r>
                        <a:rPr sz="1400" b="0">
                          <a:solidFill>
                            <a:srgbClr val="1B2430"/>
                          </a:solidFill>
                          <a:latin typeface="Calibri"/>
                        </a:rPr>
                        <a:t>80–90 %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163d2bd924bd2a80.jpg"/>
          <p:cNvPicPr>
            <a:picLocks noChangeAspect="1"/>
          </p:cNvPicPr>
          <p:nvPr/>
        </p:nvPicPr>
        <p:blipFill>
          <a:blip r:embed="rId2"/>
          <a:srcRect l="7043" r="704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Nicholas-halodi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Sun'iy intellekt agentlari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agentlari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Agent — LLM'ni qaror qabul qiluvchi «miya» sifatida ishlatuvchi, vositalar (tools) bilan muhit bilan o'zaro ta'sir qiluvchi va ko'p qadamli vazifalarni bajaruvchi tizim.</a:t>
            </a:r>
          </a:p>
          <a:p>
            <a:pPr>
              <a:spcBef>
                <a:spcPts val="400"/>
              </a:spcBef>
            </a:pPr>
            <a:r>
              <a:rPr sz="1500">
                <a:solidFill>
                  <a:srgbClr val="334055"/>
                </a:solidFill>
                <a:latin typeface="Calibri"/>
              </a:rPr>
              <a:t>ReAct naqshi (reasoning + acting) asosiy sikl: model fikrlaydi, vosita chaqiruvini tuziladigan formatda (JSON) chiqaradi, tizim vositani bajaradi (qidiruv, kod, SQL, API), natija promptga qaytariladi, sikl takrorlanadi.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Infratuzilma nuqtai nazaridan agentlar uch yangi talab qo'yadi.</a:t>
            </a:r>
          </a:p>
          <a:p>
            <a:pPr>
              <a:spcBef>
                <a:spcPts val="400"/>
              </a:spcBef>
            </a:pPr>
            <a:r>
              <a:rPr sz="1500">
                <a:solidFill>
                  <a:srgbClr val="334055"/>
                </a:solidFill>
                <a:latin typeface="Calibri"/>
              </a:rPr>
              <a:t>Birinchidan, kechikish zanjiri: bitta foydalanuvchi vazifasi 5–20 ta LLM chaqiruvi va vosita bajarilishidan iborat, umumiy vaqt o'nlab soniya; shuning uchun har chaqiruvning TTFT va prefiks keshlash hal qiluvchi, oqimli (streaming) javob va parallel vosita chaqiruvi zarur.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54d972447804f97.jpg"/>
          <p:cNvPicPr>
            <a:picLocks noChangeAspect="1"/>
          </p:cNvPicPr>
          <p:nvPr/>
        </p:nvPicPr>
        <p:blipFill>
          <a:blip r:embed="rId2"/>
          <a:srcRect l="28555" r="2855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Daniel Lu (User:dllu)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LLM uchun GPU klasterlari va yuqori unumdor infratuzilma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LLM uchun GPU klasterlari va yuqori unumdor infratuzilma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600" b="1">
                <a:solidFill>
                  <a:srgbClr val="1F3A5F"/>
                </a:solidFill>
                <a:latin typeface="Calibri"/>
              </a:rPr>
              <a:t>LLM infratuzilmasini loyihalash to'rt resursni muvozanatlashdan boshlanadi: GPU xotirasi, hisoblash, tugunlar ichidagi va orasidagi tarmoq, saqlash.</a:t>
            </a:r>
          </a:p>
          <a:p>
            <a:pPr>
              <a:spcBef>
                <a:spcPts val="400"/>
              </a:spcBef>
            </a:pPr>
            <a:r>
              <a:rPr sz="1500">
                <a:solidFill>
                  <a:srgbClr val="334055"/>
                </a:solidFill>
                <a:latin typeface="Calibri"/>
              </a:rPr>
              <a:t>Xotira talabi inferens uchun: og'irliklar (P × bayt) + KV-kesh (foydalanuvchilar × kontekst × token boshiga KB) + faollashuvlar (5–10 %).</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500" b="0">
                <a:solidFill>
                  <a:srgbClr val="1B2430"/>
                </a:solidFill>
                <a:latin typeface="Calibri"/>
              </a:rPr>
              <a:t>O'qitish klasteri uchun tugun — standart birlik: DGX H100 (8 × H100 SXM 80 GB, NVSwitch orqali to'liq bog'langan, 2 × Intel Xeon, 2 TB RAM, 8 × 400 Gb/s InfiniBand NDR adapter — har GPU'ga bittadan, ≈ 10 kW).</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500" b="0">
                <a:solidFill>
                  <a:srgbClr val="1B2430"/>
                </a:solidFill>
                <a:latin typeface="Calibri"/>
              </a:rPr>
              <a:t>Energiya va joylashtirish: 1 000 ta H100 ≈ 1,3 MW IT quvvat, PUE 1,2 bilan 1,6 MW; suyuqlik sovutish 700 vattlik GPU'lar uchun standartga aylanmoqda.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
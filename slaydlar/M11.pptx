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Dekoder-only Transformer (zamonaviy LLM'larning aksariyati shu turda) L ta bir xil blokdan iborat. Har blok ikki qismdan tuziladi: ko'p boshli o'z-o'ziga diqqat (multi-head self-attention) va pozitsiya bo'yicha to'liq bog'langan tarmoq (feed-forward network, FFN), har biri qoldiq bog'lanish (residual) va normalizatsiya (LayerNorm yoki RMSNorm) bilan o'ralgan. Diqqat mexanizmi har token uchun so'rov (Q), kalit (K) va qiymat (V) vektorlarini d_model × d_model proyeksiyalar orqali hisoblaydi, so'ngra softmax(QKᵀ / √d_k) · V ifodasini bajaradi. Mohiyati: har token kontekstdagi barcha oldingi tokenlar bilan «mosligini» hisoblab, ularning qiymatlarini vaznli yig'adi. FFN odatda d_model → 4·d_model → d_model (yoki SwiGLU variantida 8/3·d_model) o'lchamli ikki chiziqli qatlam. Pozitsiya ma'lumoti RoPE (rotary position embedding) orqali Q va K'ga kiritiladi.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Dekoder-only Transformer (zamonaviy LLM'larning aksariyati shu turda) L ta bir xil blokdan iborat. Har blok ikki qismdan tuziladi: ko'p boshli o'z-o'ziga diqqat (multi-head self-attention) va pozitsiya bo'yicha to'liq bog'langan tarmoq (feed-forward network, FFN), har biri qoldiq bog'lanish (residual) va normalizatsiya (LayerNorm yoki RMSNorm) bilan o'ralgan. Diqqat mexanizmi har token uchun so'rov (Q), kalit (K) va qiymat (V) vektorlarini d_model × d_model proyeksiyalar orqali hisoblaydi, so'ngra softmax(QKᵀ / √d_k) · V ifodasini bajaradi. Mohiyati: har token kontekstdagi barcha oldingi tokenlar bilan «mosligini» hisoblab, ularning qiymatlarini vaznli yig'adi. FFN odatda d_model → 4·d_model → d_model (yoki SwiGLU variantida 8/3·d_model) o'lchamli ikki chiziqli qatlam. Pozitsiya ma'lumoti RoPE (rotary position embedding) orqali Q va K'ga kiritiladi.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Dekoder-only Transformer (zamonaviy LLM'larning aksariyati shu turda) L ta bir xil blokdan iborat. Har blok ikki qismdan tuziladi: ko'p boshli o'z-o'ziga diqqat (multi-head self-attention) va pozitsiya bo'yicha to'liq bog'langan tarmoq (feed-forward network, FFN), har biri qoldiq bog'lanish (residual) va normalizatsiya (LayerNorm yoki RMSNorm) bilan o'ralgan. Diqqat mexanizmi har token uchun so'rov (Q), kalit (K) va qiymat (V) vektorlarini d_model × d_model proyeksiyalar orqali hisoblaydi, so'ngra softmax(QKᵀ / √d_k) · V ifodasini bajaradi. Mohiyati: har token kontekstdagi barcha oldingi tokenlar bilan «mosligini» hisoblab, ularning qiymatlarini vaznli yig'adi. FFN odatda d_model → 4·d_model → d_model (yoki SwiGLU variantida 8/3·d_model) o'lchamli ikki chiziqli qatlam. Pozitsiya ma'lumoti RoPE (rotary position embedding) orqali Q va K'ga kiritiladi.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Parametrlar soni taxminan P ≈ 12 · L · d_model² (diqqat 4·d², FFN 8·d²) plus embedding V · d_model. Masalan, Llama 2 7B: L = 32, d_model = 4096 → 12 · 32 · 4096² ≈ 6,4 milliard, embedding bilan ≈ 6,7 milliard. Token boshiga hisoblash: har parametr bitta ko'paytirish-qo'shish, ya'ni ≈ 2P FLOP (oldinga), o'qitishda orqaga tarqatish bilan ≈ 6P FLOP. Diqqatning o'zi qo'shimcha 4 · L · n · d_model FLOP (n — kontekst uzunligi) talab qiladi, bu uzun kontekstda (n ≫ d) ustun kela boshlaydi va QKᵀ matritsasi n² xotira talab qiladi — n = 32 000 da bitta bosh uchun 2 GB FP16. FlashAttention (Dao va boshq., 2022) bu matritsani hech qachon HBM'ga yozmasdan, bloklab SRAM'da hisoblaydi: FLOP soni o'zgarmaydi, lekin xotira murojaatlari O(n²) dan O(n) ga tushadi va amalda 2–4 marta tezlashish beradi — Roofline tilida bu arifmetik intensivlikni oshirish.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Parametrlar soni taxminan P ≈ 12 · L · d_model² (diqqat 4·d², FFN 8·d²) plus embedding V · d_model. Masalan, Llama 2 7B: L = 32, d_model = 4096 → 12 · 32 · 4096² ≈ 6,4 milliard, embedding bilan ≈ 6,7 milliard. Token boshiga hisoblash: har parametr bitta ko'paytirish-qo'shish, ya'ni ≈ 2P FLOP (oldinga), o'qitishda orqaga tarqatish bilan ≈ 6P FLOP. Diqqatning o'zi qo'shimcha 4 · L · n · d_model FLOP (n — kontekst uzunligi) talab qiladi, bu uzun kontekstda (n ≫ d) ustun kela boshlaydi va QKᵀ matritsasi n² xotira talab qiladi — n = 32 000 da bitta bosh uchun 2 GB FP16. FlashAttention (Dao va boshq., 2022) bu matritsani hech qachon HBM'ga yozmasdan, bloklab SRAM'da hisoblaydi: FLOP soni o'zgarmaydi, lekin xotira murojaatlari O(n²) dan O(n) ga tushadi va amalda 2–4 marta tezlashish beradi — Roofline tilida bu arifmetik intensivlikni oshirish.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modellarda KV-keshni kamaytirish uchun guruhlangan so'rov diqqati (grouped-query attention, GQA) ishlatiladi: 32 ta Q boshiga atigi 8 ta K/V boshi to'g'ri keladi (Llama 3, Mistral). Aralash ekspertlar (mixture of experts, MoE) arxitekturasida FFN bir nechta «ekspert»ga bo'linadi va har token uchun faqat 2 tasi faollashadi (Mixtral 8×7B: 47 milliard parametr, token boshiga 13 milliard faol) — bu hisoblashni kamaytiradi, lekin xotira talabini emas, va ekspertlar o'rtasida yuk muvozanati muammosini tug'diradi.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O'qitish narxi oddiy formula bilan baholanadi: C ≈ 6 · P · D FLOP, bu yerda D — o'qitish tokenlari soni. Chinchilla tadqiqoti (Hoffmann va boshq., 2022) berilgan hisoblash byudjetida optimal nisbat D ≈ 20 · P ekanini ko'rsatdi, biroq inferens narxini hisobga olgan zamonaviy modellar ancha ko'proq tokenda o'qitiladi (Llama 3 8B — 15 trillion, ya'ni D ≈ 1900 · P). Misol: 70 milliard parametrli modelni 15 trillion tokenda o'qitish 6 · 7·10¹⁰ · 1,5·10¹³ ≈ 6,3·10²⁴ FLOP. H100'ning BF16 cho'qqisi 989 TFLOPS, real MFU 40 foiz → ≈ 400 TFLOPS → 1,6·10¹⁰ GPU-sekund ≈ 4,4 million GPU-soat; 4096 GPU'da ≈ 45 kun. Meta'ning Llama 3 70B uchun e'lon qilgan ≈ 6,4 million GPU-soati shu tartibda (pastroq MFU va nosozliklar bilan). O'qitishda xotira talabi parametr boshiga ≈ 16 bayt (BF16 og'irlik 2 + BF16 gradient 2 + FP32 asosiy nusxa 4 + Adam momentlari 8) plus faollashuvlar: 70B uchun faqat holatlar 1,1 TB — bu bitta GPU'ga sig'maydi, shuning uchun ZeRO/FSDP (holatlarni GPU'lar o'rtasida bo'lish), tensor parallelizm (qatlam ichida), konveyer parallelizmi (qatlamlar bo'yicha) va ma'lumot parallelizmi birgalikda — «3D parallelizm» —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O'qitish narxi oddiy formula bilan baholanadi: C ≈ 6 · P · D FLOP, bu yerda D — o'qitish tokenlari soni. Chinchilla tadqiqoti (Hoffmann va boshq., 2022) berilgan hisoblash byudjetida optimal nisbat D ≈ 20 · P ekanini ko'rsatdi, biroq inferens narxini hisobga olgan zamonaviy modellar ancha ko'proq tokenda o'qitiladi (Llama 3 8B — 15 trillion, ya'ni D ≈ 1900 · P). Misol: 70 milliard parametrli modelni 15 trillion tokenda o'qitish 6 · 7·10¹⁰ · 1,5·10¹³ ≈ 6,3·10²⁴ FLOP. H100'ning BF16 cho'qqisi 989 TFLOPS, real MFU 40 foiz → ≈ 400 TFLOPS → 1,6·10¹⁰ GPU-sekund ≈ 4,4 million GPU-soat; 4096 GPU'da ≈ 45 kun. Meta'ning Llama 3 70B uchun e'lon qilgan ≈ 6,4 million GPU-soati shu tartibda (pastroq MFU va nosozliklar bilan). O'qitishda xotira talabi parametr boshiga ≈ 16 bayt (BF16 og'irlik 2 + BF16 gradient 2 + FP32 asosiy nusxa 4 + Adam momentlari 8) plus faollashuvlar: 70B uchun faqat holatlar 1,1 TB — bu bitta GPU'ga sig'maydi, shuning uchun ZeRO/FSDP (holatlarni GPU'lar o'rtasida bo'lish), tensor parallelizm (qatlam ichida), konveyer parallelizmi (qatlamlar bo'yicha) va ma'lumot parallelizmi birgalikda — «3D parallelizm» —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Inferens ikki fazadan iborat. Prefill — promptning barcha tokenlarini bir vaqtda qayta ishlash: n_prompt tokenli prompt uchun 2 · P · n_prompt FLOP, katta matritsalar, compute-bound; u birinchi tokengacha vaqtni (TTFT) belgilaydi. Decode — har qadamda bitta token generatsiya: 2P FLOP, lekin barcha og'irliklar (2P bayt FP16'da) va KV-kesh o'qiladi, memory-bound; u tokenlar orasidagi vaqtni belgilaydi. Shuning uchun bitta ketma-ketlik uchun maksimal tezlik ≈ B_HBM / (model hajmi): 8B FP16 model (16 GB) A100 80 GB'da (2039 GB/s) ≈ 127 token/s nazariy chegara, amalda 80–100. Throughput'ni oshirishning yagona yo'li — ko'p ketma-ketlikni bir vaqtda dekodlash (partiyalash): og'irliklar bir marta o'qiladi, 32 token hisoblanadi; intensivlik 32 marta oshadi.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KV-kesh — dekodlashda har qadamda oldingi tokenlarning K va V vektorlarini qayta hisoblamaslik uchun saqlanadigan xotira. Token boshiga hajmi: 2 · L · n_kv_heads · d_head · bayt. Llama 2 7B (MHA, 32 bosh): 2 · 32 · 32 · 128 · 2 = 512 KB/token; Llama 3.1 8B (GQA, 8 bosh): 2 · 32 · 8 · 128 · 2 = 128 KB/token; Llama 3.1 70B: 2 · 80 · 8 · 128 · 2 = 320 KB/token. 8 000 tokenli kontekst 8B model uchun 1 GB, 70B uchun 2,5 GB — bitta foydalanuvchi uchun. 80 GB GPU'da 8B model (16 GB) qolgan 60 GB'ga ≈ 60 ta 8K-kontekstli ketma-ketlik sig'dira oladi. Muammo shundaki, an'anaviy tizimlar har ketma-ketlik uchun maksimal uzunlikka xotira oldindan ajratadi va 60–80 foizi isrof bo'ladi. vLLM tizimidagi PagedAttention (Kwon va boshq., 2023) operatsion tizim virtual xotirasi g'oyasini oladi: KV-kesh belgilangan hajmli «sahifa»larga (masalan, 16 token) bo'linadi, ketma-ketlik o'sgan sari sahifalar kerak bo'lganda ajratiladi, bir xil prefiksli so'rovlar sahifalarni bo'lishadi. Natija — xotira isrofi 4 foizdan kam, throughput 2–4 marta yuqori.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KV-kesh — dekodlashda har qadamda oldingi tokenlarning K va V vektorlarini qayta hisoblamaslik uchun saqlanadigan xotira. Token boshiga hajmi: 2 · L · n_kv_heads · d_head · bayt. Llama 2 7B (MHA, 32 bosh): 2 · 32 · 32 · 128 · 2 = 512 KB/token; Llama 3.1 8B (GQA, 8 bosh): 2 · 32 · 8 · 128 · 2 = 128 KB/token; Llama 3.1 70B: 2 · 80 · 8 · 128 · 2 = 320 KB/token. 8 000 tokenli kontekst 8B model uchun 1 GB, 70B uchun 2,5 GB — bitta foydalanuvchi uchun. 80 GB GPU'da 8B model (16 GB) qolgan 60 GB'ga ≈ 60 ta 8K-kontekstli ketma-ketlik sig'dira oladi. Muammo shundaki, an'anaviy tizimlar har ketma-ketlik uchun maksimal uzunlikka xotira oldindan ajratadi va 60–80 foizi isrof bo'ladi. vLLM tizimidagi PagedAttention (Kwon va boshq., 2023) operatsion tizim virtual xotirasi g'oyasini oladi: KV-kesh belgilangan hajmli «sahifa»larga (masalan, 16 token) bo'linadi, ketma-ketlik o'sgan sari sahifalar kerak bo'lganda ajratiladi, bir xil prefiksli so'rovlar sahifalarni bo'lishadi. Natija — xotira isrofi 4 foizdan kam, throughput 2–4 marta yuqori.</a:t>
            </a:r>
          </a:p>
          <a:p/>
          <a:p>
            <a:r>
              <a:t>Ikkinchi asosiy optimallashtirish — uzluksiz partiyalash (continuous batching, Orca tizimidan): partiya butun so'rovlar darajasida emas, iteratsiya darajasida tuziladi; bitta ketma-ketlik tugashi bilan uning o'rnini navbatdagi so'rov egallaydi, GPU hech qachon qisqa so'rovlar tugashini kutmaydi. Uchinchisi — spekulyativ dekodlash (speculative decoding): kichik «qoralama» model bir necha tokenni tez taklif qiladi, katta model ularni bitta prefill-ga o'xshash qadamda parallel tekshiradi; decode memory-bound bo'lgani uchun 4 tokenni tekshirish 1 tokenni hisoblash bilan deyarli bir xil vaqt oladi, natijada 2–3 marta tezlashish, chiqish taqsimoti esa aynan saqlanadi. To'rtinchisi — kvantlash: og'irliklarni INT8/INT4 (GPTQ, AWQ) yoki FP8'ga o'tkazish xotirani va shu bilan decode vaqtini 2–4 marta kamaytiradi; KV-keshni FP8'ga kvantlash sig'imni ikki marta oshiradi. Beshinchisi — prefiks keshlash: tizim prompti yoki umumiy hujjat prefiksining KV-keshi so'rovlar o'rtasida saqlanadi, TTFT keskin tushadi.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Ikkinchi asosiy optimallashtirish — uzluksiz partiyalash (continuous batching, Orca tizimidan): partiya butun so'rovlar darajasida emas, iteratsiya darajasida tuziladi; bitta ketma-ketlik tugashi bilan uning o'rnini navbatdagi so'rov egallaydi, GPU hech qachon qisqa so'rovlar tugashini kutmaydi. Uchinchisi — spekulyativ dekodlash (speculative decoding): kichik «qoralama» model bir necha tokenni tez taklif qiladi, katta model ularni bitta prefill-ga o'xshash qadamda parallel tekshiradi; decode memory-bound bo'lgani uchun 4 tokenni tekshirish 1 tokenni hisoblash bilan deyarli bir xil vaqt oladi, natijada 2–3 marta tezlashish, chiqish taqsimoti esa aynan saqlanadi. To'rtinchisi — kvantlash: og'irliklarni INT8/INT4 (GPTQ, AWQ) yoki FP8'ga o'tkazish xotirani va shu bilan decode vaqtini 2–4 marta kamaytiradi; KV-keshni FP8'ga kvantlash sig'imni ikki marta oshiradi. Beshinchisi — prefiks keshlash: tizim prompti yoki umumiy hujjat prefiksining KV-keshi so'rovlar o'rtasida saqlanadi, TTFT keskin tushadi.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Ikkinchi asosiy optimallashtirish — uzluksiz partiyalash (continuous batching, Orca tizimidan): partiya butun so'rovlar darajasida emas, iteratsiya darajasida tuziladi; bitta ketma-ketlik tugashi bilan uning o'rnini navbatdagi so'rov egallaydi, GPU hech qachon qisqa so'rovlar tugashini kutmaydi. Uchinchisi — spekulyativ dekodlash (speculative decoding): kichik «qoralama» model bir necha tokenni tez taklif qiladi, katta model ularni bitta prefill-ga o'xshash qadamda parallel tekshiradi; decode memory-bound bo'lgani uchun 4 tokenni tekshirish 1 tokenni hisoblash bilan deyarli bir xil vaqt oladi, natijada 2–3 marta tezlashish, chiqish taqsimoti esa aynan saqlanadi. To'rtinchisi — kvantlash: og'irliklarni INT8/INT4 (GPTQ, AWQ) yoki FP8'ga o'tkazish xotirani va shu bilan decode vaqtini 2–4 marta kamaytiradi; KV-keshni FP8'ga kvantlash sig'imni ikki marta oshiradi. Beshinchisi — prefiks keshlash: tizim prompti yoki umumiy hujjat prefiksining KV-keshi so'rovlar o'rtasida saqlanadi, TTFT keskin tushadi.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(Lewis va boshq., 2020) tizimi ikki bosqichda ishlaydi. Tayyorgarlik (indekslash): hujjatlar bo'laklarga (chunk, odatda 200–1000 token, qisman ustma-ust) bo'linadi, har bo'lak embedding modeli orqali zich vektorga (384–1024 o'lcham) aylantiriladi va vektor indeksga yoziladi. So'rov vaqtida: foydalanuvchi savoli xuddi shu model bilan vektorga aylantiriladi, indeksdan eng yaqin k bo'lak (odatda kosinus o'xshashligi bo'yicha) topiladi, ular promptga kontekst sifatida qo'shiladi va LLM javob yaratadi. Afzalliklari: modelni qayta o'qitmasdan bilimni yangilash, javobni manbaga bog'lash (iqtibos), hallutsinatsiyani kamaytirish, maxfiy hujjatlarni model og'irliklariga kiritmaslik. Sifat zanjirning eng zaif bo'g'ini bilan belgilanadi: yomon bo'laklash yoki mos kelmaydigan embedding modeli har qanday LLM'ni foydasiz qiladi.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(Lewis va boshq., 2020) tizimi ikki bosqichda ishlaydi. Tayyorgarlik (indekslash): hujjatlar bo'laklarga (chunk, odatda 200–1000 token, qisman ustma-ust) bo'linadi, har bo'lak embedding modeli orqali zich vektorga (384–1024 o'lcham) aylantiriladi va vektor indeksga yoziladi. So'rov vaqtida: foydalanuvchi savoli xuddi shu model bilan vektorga aylantiriladi, indeksdan eng yaqin k bo'lak (odatda kosinus o'xshashligi bo'yicha) topiladi, ular promptga kontekst sifatida qo'shiladi va LLM javob yaratadi. Afzalliklari: modelni qayta o'qitmasdan bilimni yangilash, javobni manbaga bog'lash (iqtibos), hallutsinatsiyani kamaytirish, maxfiy hujjatlarni model og'irliklariga kiritmaslik. Sifat zanjirning eng zaif bo'g'ini bilan belgilanadi: yomon bo'laklash yoki mos kelmaydigan embedding modeli har qanday LLM'ni foydasiz qiladi.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(Lewis va boshq., 2020) tizimi ikki bosqichda ishlaydi. Tayyorgarlik (indekslash): hujjatlar bo'laklarga (chunk, odatda 200–1000 token, qisman ustma-ust) bo'linadi, har bo'lak embedding modeli orqali zich vektorga (384–1024 o'lcham) aylantiriladi va vektor indeksga yoziladi. So'rov vaqtida: foydalanuvchi savoli xuddi shu model bilan vektorga aylantiriladi, indeksdan eng yaqin k bo'lak (odatda kosinus o'xshashligi bo'yicha) topiladi, ular promptga kontekst sifatida qo'shiladi va LLM javob yaratadi. Afzalliklari: modelni qayta o'qitmasdan bilimni yangilash, javobni manbaga bog'lash (iqtibos), hallutsinatsiyani kamaytirish, maxfiy hujjatlarni model og'irliklariga kiritmaslik. Sifat zanjirning eng zaif bo'g'ini bilan belgilanadi: yomon bo'laklash yoki mos kelmaydigan embedding modeli har qanday LLM'ni foydasiz qiladi.</a:t>
            </a:r>
          </a:p>
          <a:p/>
          <a:p>
            <a:r>
              <a:t>Vektor qidiruvning markaziy masalasi — N ta d-o'lchamli vektor orasidan so'rovga eng yaqin k tasini tez topish. To'liq qidiruv (Flat, brute force) O(N · d) — 1 million × 768 o'lcham uchun GPU'da bir necha millisekund, lekin 100 million uchun sekin va 300 GB xotira. Taxminiy eng yaqin qo'shni (approximate nearest neighbor, ANN) indekslari aniqlikning bir qismini tezlik va xotiraga almashtiradi. IVF (inverted file): vektorlar k-means bilan n_list klasterga bo'linadi, so'rov vaqtida faqat n_probe eng yaqin klaster tekshiriladi — tezlik 10–100 marta, recall n_probe bilan sozlanadi. HNSW (hierarchical navigable small world): ko'p qatlamli graf, qidiruv yuqori qatlamdan pastga «yo'l topib» tushadi — eng yuqori recall/tezlik nisbati, lekin xotira hajmi katta (vektor + graf qirralari) va qurish sekin. PQ (product quantization): vektor m sub-vektorga bo'linib, har biri 256 ta kod bilan kvantlanadi — 768 o'lchamli FP32 vektor (3 KB) 96 baytga siqiladi, xotira 32 marta kamayadi, recall biroz tushadi. Amaliyotda kombinatsiyalar ishlatiladi: IVF4096,PQ64 yuz millionlab vektor uchun, HNSW32 o'n millionlargacha.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Vektor qidiruvning markaziy masalasi — N ta d-o'lchamli vektor orasidan so'rovga eng yaqin k tasini tez topish. To'liq qidiruv (Flat, brute force) O(N · d) — 1 million × 768 o'lcham uchun GPU'da bir necha millisekund, lekin 100 million uchun sekin va 300 GB xotira. Taxminiy eng yaqin qo'shni (approximate nearest neighbor, ANN) indekslari aniqlikning bir qismini tezlik va xotiraga almashtiradi. IVF (inverted file): vektorlar k-means bilan n_list klasterga bo'linadi, so'rov vaqtida faqat n_probe eng yaqin klaster tekshiriladi — tezlik 10–100 marta, recall n_probe bilan sozlanadi. HNSW (hierarchical navigable small world): ko'p qatlamli graf, qidiruv yuqori qatlamdan pastga «yo'l topib» tushadi — eng yuqori recall/tezlik nisbati, lekin xotira hajmi katta (vektor + graf qirralari) va qurish sekin. PQ (product quantization): vektor m sub-vektorga bo'linib, har biri 256 ta kod bilan kvantlanadi — 768 o'lchamli FP32 vektor (3 KB) 96 baytga siqiladi, xotira 32 marta kamayadi, recall biroz tushadi. Amaliyotda kombinatsiyalar ishlatiladi: IVF4096,PQ64 yuz millionlab vektor uchun, HNSW32 o'n millionlargacha.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Vektor baza (vector database) — indeks ustiga metama'lumot filtrlash, CRUD, persistentlik, replikatsiya va API qo'shadigan tizim. FAISS (Meta) — kutubxona, baza emas: eng tez va moslashuvchan, GPU qo'llab-quvvatlaydi, lekin saqlash va filtrlashni o'zingiz yozasiz. Chroma — yengil, Python'ga joylashtiriladigan, prototiplar uchun qulay (ichida HNSW). Milvus, Qdrant, Weaviate — taqsimlangan, ishlab chiqarish darajasidagi serverlar; pgvector — PostgreSQL kengaytmasi, mavjud relyatsion ma'lumot bilan birga saqlash uchun. Tanlov mezonlari: vektorlar soni (10⁶ — har qanday, 10⁹ — faqat taqsimlangan), filtrlash murakkabligi, yangilanish chastotasi, mavjud infratuzilma. Sifatni oshirish usullari: gibrid qidiruv (zich vektor + BM25 kalit so'z, natijalar RRF bilan birlashtiriladi), qayta saralash (cross-encoder reranker, masalan bge-reranker, top-50 ni top-5 ga qisqartiradi, aniqlikni sezilarli oshiradi, lekin har juftlik uchun model chaqiruvi), so'rovni qayta yozish, ierarxik bo'laklash.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Vektor baza (vector database) — indeks ustiga metama'lumot filtrlash, CRUD, persistentlik, replikatsiya va API qo'shadigan tizim. FAISS (Meta) — kutubxona, baza emas: eng tez va moslashuvchan, GPU qo'llab-quvvatlaydi, lekin saqlash va filtrlashni o'zingiz yozasiz. Chroma — yengil, Python'ga joylashtiriladigan, prototiplar uchun qulay (ichida HNSW). Milvus, Qdrant, Weaviate — taqsimlangan, ishlab chiqarish darajasidagi serverlar; pgvector — PostgreSQL kengaytmasi, mavjud relyatsion ma'lumot bilan birga saqlash uchun. Tanlov mezonlari: vektorlar soni (10⁶ — har qanday, 10⁹ — faqat taqsimlangan), filtrlash murakkabligi, yangilanish chastotasi, mavjud infratuzilma. Sifatni oshirish usullari: gibrid qidiruv (zich vektor + BM25 kalit so'z, natijalar RRF bilan birlashtiriladi), qayta saralash (cross-encoder reranker, masalan bge-reranker, top-50 ni top-5 ga qisqartiradi, aniqlikni sezilarli oshiradi, lekin har juftlik uchun model chaqiruvi), so'rovni qayta yozish, ierarxik bo'laklash.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Vektor qidiruvning markaziy masalasi — N ta d-o'lchamli vektor orasidan so'rovga eng yaqin k tasini tez topish. To'liq qidiruv (Flat, brute force) O(N · d) — 1 million × 768 o'lcham uchun GPU'da bir necha millisekund, lekin 100 million uchun sekin va 300 GB xotira. Taxminiy eng yaqin qo'shni (approximate nearest neighbor, ANN) indekslari aniqlikning bir qismini tezlik va xotiraga almashtiradi. IVF (inverted file): vektorlar k-means bilan n_list klasterga bo'linadi, so'rov vaqtida faqat n_probe eng yaqin klaster tekshiriladi — tezlik 10–100 marta, recall n_probe bilan sozlanadi. HNSW (hierarchical navigable small world): ko'p qatlamli graf, qidiruv yuqori qatlamdan pastga «yo'l topib» tushadi — eng yuqori recall/tezlik nisbati, lekin xotira hajmi katta (vektor + graf qirralari) va qurish sekin. PQ (product quantization): vektor m sub-vektorga bo'linib, har biri 256 ta kod bilan kvantlanadi — 768 o'lchamli FP32 vektor (3 KB) 96 baytga siqiladi, xotira 32 marta kamayadi, recall biroz tushadi. Amaliyotda kombinatsiyalar ishlatiladi: IVF4096,PQ64 yuz millionlab vektor uchun, HNSW32 o'n millionlargacha.</a:t>
            </a:r>
          </a:p>
          <a:p/>
          <a:p>
            <a:r>
              <a:t>Vektor baza (vector database) — indeks ustiga metama'lumot filtrlash, CRUD, persistentlik, replikatsiya va API qo'shadigan tizim. FAISS (Meta) — kutubxona, baza emas: eng tez va moslashuvchan, GPU qo'llab-quvvatlaydi, lekin saqlash va filtrlashni o'zingiz yozasiz. Chroma — yengil, Python'ga joylashtiriladigan, prototiplar uchun qulay (ichida HNSW). Milvus, Qdrant, Weaviate — taqsimlangan, ishlab chiqarish darajasidagi serverlar; pgvector — PostgreSQL kengaytmasi, mavjud relyatsion ma'lumot bilan birga saqlash uchun. Tanlov mezonlari: vektorlar soni (10⁶ — har qanday, 10⁹ — faqat taqsimlangan), filtrlash murakkabligi, yangilanish chastotasi, mavjud infratuzilma. Sifatni oshirish usullari: gibrid qidiruv (zich vektor + BM25 kalit so'z, natijalar RRF bilan birlashtiriladi), qayta saralash (cross-encoder reranker, masalan bge-reranker, top-50 ni top-5 ga qisqartiradi, aniqlikni sezilarli oshiradi, lekin har juftlik uchun model chaqiruvi), so'rovni qayta yozish, ierarxik bo'laklash.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 LLM'ni qaror qabul qiluvchi «miya» sifatida ishlatuvchi, vositalar (tools) bilan muhit bilan o'zaro ta'sir qiluvchi va ko'p qadamli vazifalarni bajaruvchi tizim. ReAct naqshi (reasoning + acting) asosiy sikl: model fikrlaydi, vosita chaqiruvini tuziladigan formatda (JSON) chiqaradi, tizim vositani bajaradi (qidiruv, kod, SQL, API), natija promptga qaytariladi, sikl takrorlanadi. Zamonaviy modellar vosita chaqirishga maxsus o'qitilgan (function calling); Model Context Protocol (MCP) kabi standartlar vositalarni tavsiflash va ulashni birxillashtiradi. Agent xotirasi qisqa muddatli (kontekst oynasi) va uzoq muddatli (vektor baza — RAG agentning xotirasi bo'ladi) qismlardan iborat.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 LLM'ni qaror qabul qiluvchi «miya» sifatida ishlatuvchi, vositalar (tools) bilan muhit bilan o'zaro ta'sir qiluvchi va ko'p qadamli vazifalarni bajaruvchi tizim. ReAct naqshi (reasoning + acting) asosiy sikl: model fikrlaydi, vosita chaqiruvini tuziladigan formatda (JSON) chiqaradi, tizim vositani bajaradi (qidiruv, kod, SQL, API), natija promptga qaytariladi, sikl takrorlanadi. Zamonaviy modellar vosita chaqirishga maxsus o'qitilgan (function calling); Model Context Protocol (MCP) kabi standartlar vositalarni tavsiflash va ulashni birxillashtiradi. Agent xotirasi qisqa muddatli (kontekst oynasi) va uzoq muddatli (vektor baza — RAG agentning xotirasi bo'ladi) qismlardan iborat.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Infratuzilma nuqtai nazaridan agentlar uch yangi talab qo'yadi. Birinchidan, kechikish zanjiri: bitta foydalanuvchi vazifasi 5–20 ta LLM chaqiruvi va vosita bajarilishidan iborat, umumiy vaqt o'nlab soniya; shuning uchun har chaqiruvning TTFT va prefiks keshlash hal qiluvchi, oqimli (streaming) javob va parallel vosita chaqiruvi zarur. Ikkinchidan, xavfsizlik: agent haqiqiy amallar bajaradi (fayl o'chirish, pul o'tkazish, xat yuborish), bilvosita prompt injection (M9) orqali uni aldash mumkin — vositalarga eng kam imtiyoz, sandbox (konteyner) ichida kod bajarish, qaytarib bo'lmaydigan amallar uchun inson tasdig'i majburiy. Uchinchidan, kuzatuv (observability): har qadam — prompt, javob, vosita kirish-chiqishi, token sarfi, kechikish — izlanadi (tracing, masalan OpenTelemetry asosida), aks holda nosozlikni topib bo'lmaydi va narxni nazorat qilib bo'lmaydi. Ko'p agentli tizimlarda (bir agent rejalashtiradi, boshqalar bajaradi) bu talablar ko'payadi va orkestratsiya qatlami (navbatlar, holat mashinasi, qayta urinish) kerak bo'ladi.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Infratuzilma nuqtai nazaridan agentlar uch yangi talab qo'yadi. Birinchidan, kechikish zanjiri: bitta foydalanuvchi vazifasi 5–20 ta LLM chaqiruvi va vosita bajarilishidan iborat, umumiy vaqt o'nlab soniya; shuning uchun har chaqiruvning TTFT va prefiks keshlash hal qiluvchi, oqimli (streaming) javob va parallel vosita chaqiruvi zarur. Ikkinchidan, xavfsizlik: agent haqiqiy amallar bajaradi (fayl o'chirish, pul o'tkazish, xat yuborish), bilvosita prompt injection (M9) orqali uni aldash mumkin — vositalarga eng kam imtiyoz, sandbox (konteyner) ichida kod bajarish, qaytarib bo'lmaydigan amallar uchun inson tasdig'i majburiy. Uchinchidan, kuzatuv (observability): har qadam — prompt, javob, vosita kirish-chiqishi, token sarfi, kechikish — izlanadi (tracing, masalan OpenTelemetry asosida), aks holda nosozlikni topib bo'lmaydi va narxni nazorat qilib bo'lmaydi. Ko'p agentli tizimlarda (bir agent rejalashtiradi, boshqalar bajaradi) bu talablar ko'payadi va orkestratsiya qatlami (navbatlar, holat mashinasi, qayta urinish) kerak bo'ladi.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infratuzilmasini loyihalash to'rt resursni muvozanatlashdan boshlanadi: GPU xotirasi, hisoblash, tugunlar ichidagi va orasidagi tarmoq, saqlash. Xotira talabi inferens uchun: og'irliklar (P × bayt) + KV-kesh (foydalanuvchilar × kontekst × token boshiga KB) + faollashuvlar (5–10 %). 70B FP16: 140 GB og'irlik — 2 ta H100 80 GB'ga tensor parallelizm bilan sig'adi, lekin KV-kesh uchun joy qolmaydi; 4 ta H100 (320 GB) bilan 180 GB kesh → ≈ 70 ta 8K ketma-ketlik; FP8'da 70 GB og'irlik va 2 ta GPU amaliy minimal. 405B FP16: 810 GB — 8 ta H100 (640 GB) yetmaydi, FP8'da 405 GB — bitta 8-GPU tugun to'liq band. Tensor parallelizm tugun ichida qoladi, chunki har qatlamda all-reduce talab qiladi va NVLink (H100: 900 GB/s ikki tomonlama) kerak; PCIe Gen5 (128 GB/s) orqali tensor parallelizm 3–5 marta sekin.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infratuzilmasini loyihalash to'rt resursni muvozanatlashdan boshlanadi: GPU xotirasi, hisoblash, tugunlar ichidagi va orasidagi tarmoq, saqlash. Xotira talabi inferens uchun: og'irliklar (P × bayt) + KV-kesh (foydalanuvchilar × kontekst × token boshiga KB) + faollashuvlar (5–10 %). 70B FP16: 140 GB og'irlik — 2 ta H100 80 GB'ga tensor parallelizm bilan sig'adi, lekin KV-kesh uchun joy qolmaydi; 4 ta H100 (320 GB) bilan 180 GB kesh → ≈ 70 ta 8K ketma-ketlik; FP8'da 70 GB og'irlik va 2 ta GPU amaliy minimal. 405B FP16: 810 GB — 8 ta H100 (640 GB) yetmaydi, FP8'da 405 GB — bitta 8-GPU tugun to'liq band. Tensor parallelizm tugun ichida qoladi, chunki har qatlamda all-reduce talab qiladi va NVLink (H100: 900 GB/s ikki tomonlama) kerak; PCIe Gen5 (128 GB/s) orqali tensor parallelizm 3–5 marta sekin.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O'qitish klasteri uchun tugun — standart birlik: DGX H100 (8 × H100 SXM 80 GB, NVSwitch orqali to'liq bog'langan, 2 × Intel Xeon, 2 TB RAM, 8 × 400 Gb/s InfiniBand NDR adapter — har GPU'ga bittadan, ≈ 10 kW). Tugunlar orasidagi tarmoq ma'lumot parallelizmidagi gradient all-reduce'ni va konveyer parallelizmidagi faollashuv uzatishni ko'taradi; 70B modelning BF16 gradientlari 140 GB — har qadamda ring all-reduce bilan har tugun 2 × 140 GB × (N−1)/N uzatadi, 400 Gb/s × 8 = 3,2 Tb/s = 400 GB/s tugun o'tkazuvchanligida ≈ 0,7 soniya, bu hisoblash bilan ustma-ust qo'yilishi shart. Tarmoq topologiyasi — rail-optimized fat-tree yoki Dragonfly, RDMA (GPUDirect RDMA bilan GPU xotirasidan to'g'ridan-to'g'ri tarmoqqa). Saqlash: o'qitish to'plami (15T token ≈ 60 TB matn) va nazorat nuqtalari (checkpoint; 70B uchun optimizator holati bilan ≈ 1 TB, har 30–60 daqiqada yoziladi) parallel fayl tizimiga (Lustre, GPFS, yoki obyekt saqlash + lokal NVMe kesh) 10–100 GB/s tezlikda yoziladi. Ishonchlilik: 16 000 GPU'li klasterda Meta 54 kunlik o'qitish davomida 466 ta uzilishni qayd etgan (asosan GPU va HBM nosozliklari) — avtomatik nazorat nuqtasidan tiklash va nosoz tugunni almashtirish infratuzilmaning bir qismi.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Energiya va joylashtirish: 1 000 ta H100 ≈ 1,3 MW IT quvvat, PUE 1,2 bilan 1,6 MW; suyuqlik sovutish 700 vattlik GPU'lar uchun standartga aylanmoqda. Dasturiy stek: konteynerlar (NVIDIA NGC obrazlari), orkestratsiya (Slurm — HPC an'anasi, Kubernetes + GPU Operator — bulut an'anasi, Ray — Python-markaziy), o'qitish freymvorklari (Megatron-LM, DeepSpeed, PyTorch FSDP), inferens serverlari (vLLM, TensorRT-LLM, SGLang, Triton Inference Server), monitoring (DCGM eksportchi, Prometheus, Grafana). Bulut va o'z infratuzilma tanlovi: H100 bulutda soatiga 2–4 dollar (2025), 1000 GPU'li klaster yiliga 20–35 million dollar; sotib olish va joylashtirish 3 yilda shunga yaqin, lekin band bo'lish darajasi 70 foizdan past bo'lsa bulut arzon.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dd215ec158b12bac.jpg"/>
          <p:cNvPicPr>
            <a:picLocks noChangeAspect="1"/>
          </p:cNvPicPr>
          <p:nvPr/>
        </p:nvPicPr>
        <p:blipFill>
          <a:blip r:embed="rId2"/>
          <a:srcRect l="18867" r="18867"/>
          <a:stretch>
            <a:fillRect/>
          </a:stretch>
        </p:blipFill>
        <p:spPr>
          <a:xfrm>
            <a:off x="7850000" y="1500000"/>
            <a:ext cx="3300000" cy="3300000"/>
          </a:xfrm>
          <a:prstGeom prst="ellipse">
            <a:avLst/>
          </a:prstGeom>
          <a:ln w="19050">
            <a:solidFill>
              <a:srgbClr val="22D3EE"/>
            </a:solidFill>
          </a:ln>
        </p:spPr>
      </p:pic>
      <p:sp>
        <p:nvSpPr>
          <p:cNvPr id="65" name="TextBox 64"/>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Steve Jurvetson from Los Altos, USA · Wikimedia Commons · Public domain</a:t>
            </a:r>
          </a:p>
        </p:txBody>
      </p:sp>
      <p:sp>
        <p:nvSpPr>
          <p:cNvPr id="66" name="Rounded Rectangle 65"/>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M11 · 2 soat</a:t>
            </a:r>
          </a:p>
        </p:txBody>
      </p:sp>
      <p:sp>
        <p:nvSpPr>
          <p:cNvPr id="67" name="TextBox 66"/>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8" name="TextBox 67"/>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Katta til modellari uchun kompyuter tizimlari va hisoblash infratuzilmasi</a:t>
            </a:r>
          </a:p>
        </p:txBody>
      </p:sp>
      <p:sp>
        <p:nvSpPr>
          <p:cNvPr id="69" name="Rectangle 68"/>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8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200"/>
                            </p:stCondLst>
                            <p:childTnLst>
                              <p:par>
                                <p:cTn id="240" presetID="53" presetClass="entr" presetSubtype="16" fill="hold" grpId="0" nodeType="afterEffect">
                                  <p:stCondLst>
                                    <p:cond delay="0"/>
                                  </p:stCondLst>
                                  <p:childTnLst>
                                    <p:set>
                                      <p:cBhvr>
                                        <p:cTn id="241" dur="1" fill="hold">
                                          <p:stCondLst>
                                            <p:cond delay="0"/>
                                          </p:stCondLst>
                                        </p:cTn>
                                        <p:tgtEl>
                                          <p:spTgt spid="63"/>
                                        </p:tgtEl>
                                        <p:attrNameLst>
                                          <p:attrName>style.visibility</p:attrName>
                                        </p:attrNameLst>
                                      </p:cBhvr>
                                      <p:to>
                                        <p:strVal val="visible"/>
                                      </p:to>
                                    </p:set>
                                    <p:animEffect transition="in" filter="fade">
                                      <p:cBhvr>
                                        <p:cTn id="242" dur="550"/>
                                        <p:tgtEl>
                                          <p:spTgt spid="63"/>
                                        </p:tgtEl>
                                      </p:cBhvr>
                                    </p:animEffect>
                                    <p:anim calcmode="lin" valueType="num">
                                      <p:cBhvr additive="base">
                                        <p:cTn id="243" dur="550" fill="hold"/>
                                        <p:tgtEl>
                                          <p:spTgt spid="63"/>
                                        </p:tgtEl>
                                        <p:attrNameLst>
                                          <p:attrName>ppt_w</p:attrName>
                                        </p:attrNameLst>
                                      </p:cBhvr>
                                      <p:tavLst>
                                        <p:tav tm="0">
                                          <p:val>
                                            <p:strVal val="0"/>
                                          </p:val>
                                        </p:tav>
                                        <p:tav tm="100000">
                                          <p:val>
                                            <p:strVal val="#ppt_w"/>
                                          </p:val>
                                        </p:tav>
                                      </p:tavLst>
                                    </p:anim>
                                    <p:anim calcmode="lin" valueType="num">
                                      <p:cBhvr additive="base">
                                        <p:cTn id="244" dur="550" fill="hold"/>
                                        <p:tgtEl>
                                          <p:spTgt spid="63"/>
                                        </p:tgtEl>
                                        <p:attrNameLst>
                                          <p:attrName>ppt_h</p:attrName>
                                        </p:attrNameLst>
                                      </p:cBhvr>
                                      <p:tavLst>
                                        <p:tav tm="0">
                                          <p:val>
                                            <p:strVal val="0"/>
                                          </p:val>
                                        </p:tav>
                                        <p:tav tm="100000">
                                          <p:val>
                                            <p:strVal val="#ppt_h"/>
                                          </p:val>
                                        </p:tav>
                                      </p:tavLst>
                                    </p:anim>
                                  </p:childTnLst>
                                </p:cTn>
                              </p:par>
                            </p:childTnLst>
                          </p:cTn>
                        </p:par>
                        <p:par>
                          <p:cTn id="245" fill="hold">
                            <p:stCondLst>
                              <p:cond delay="200"/>
                            </p:stCondLst>
                            <p:childTnLst>
                              <p:par>
                                <p:cTn id="246" presetID="53" presetClass="entr" presetSubtype="16" fill="hold" grpId="0" nodeType="afterEffect">
                                  <p:stCondLst>
                                    <p:cond delay="0"/>
                                  </p:stCondLst>
                                  <p:childTnLst>
                                    <p:set>
                                      <p:cBhvr>
                                        <p:cTn id="247" dur="1" fill="hold">
                                          <p:stCondLst>
                                            <p:cond delay="0"/>
                                          </p:stCondLst>
                                        </p:cTn>
                                        <p:tgtEl>
                                          <p:spTgt spid="62"/>
                                        </p:tgtEl>
                                        <p:attrNameLst>
                                          <p:attrName>style.visibility</p:attrName>
                                        </p:attrNameLst>
                                      </p:cBhvr>
                                      <p:to>
                                        <p:strVal val="visible"/>
                                      </p:to>
                                    </p:set>
                                    <p:animEffect transition="in" filter="fade">
                                      <p:cBhvr>
                                        <p:cTn id="248" dur="550"/>
                                        <p:tgtEl>
                                          <p:spTgt spid="62"/>
                                        </p:tgtEl>
                                      </p:cBhvr>
                                    </p:animEffect>
                                    <p:anim calcmode="lin" valueType="num">
                                      <p:cBhvr additive="base">
                                        <p:cTn id="249" dur="550" fill="hold"/>
                                        <p:tgtEl>
                                          <p:spTgt spid="62"/>
                                        </p:tgtEl>
                                        <p:attrNameLst>
                                          <p:attrName>ppt_w</p:attrName>
                                        </p:attrNameLst>
                                      </p:cBhvr>
                                      <p:tavLst>
                                        <p:tav tm="0">
                                          <p:val>
                                            <p:strVal val="0"/>
                                          </p:val>
                                        </p:tav>
                                        <p:tav tm="100000">
                                          <p:val>
                                            <p:strVal val="#ppt_w"/>
                                          </p:val>
                                        </p:tav>
                                      </p:tavLst>
                                    </p:anim>
                                    <p:anim calcmode="lin" valueType="num">
                                      <p:cBhvr additive="base">
                                        <p:cTn id="250" dur="550" fill="hold"/>
                                        <p:tgtEl>
                                          <p:spTgt spid="62"/>
                                        </p:tgtEl>
                                        <p:attrNameLst>
                                          <p:attrName>ppt_h</p:attrName>
                                        </p:attrNameLst>
                                      </p:cBhvr>
                                      <p:tavLst>
                                        <p:tav tm="0">
                                          <p:val>
                                            <p:strVal val="0"/>
                                          </p:val>
                                        </p:tav>
                                        <p:tav tm="100000">
                                          <p:val>
                                            <p:strVal val="#ppt_h"/>
                                          </p:val>
                                        </p:tav>
                                      </p:tavLst>
                                    </p:anim>
                                  </p:childTnLst>
                                </p:cTn>
                              </p:par>
                            </p:childTnLst>
                          </p:cTn>
                        </p:par>
                        <p:par>
                          <p:cTn id="251" fill="hold">
                            <p:stCondLst>
                              <p:cond delay="200"/>
                            </p:stCondLst>
                            <p:childTnLst>
                              <p:par>
                                <p:cTn id="252" presetID="53" presetClass="entr" presetSubtype="16" fill="hold" grpId="0" nodeType="afterEffect">
                                  <p:stCondLst>
                                    <p:cond delay="0"/>
                                  </p:stCondLst>
                                  <p:childTnLst>
                                    <p:set>
                                      <p:cBhvr>
                                        <p:cTn id="253" dur="1" fill="hold">
                                          <p:stCondLst>
                                            <p:cond delay="0"/>
                                          </p:stCondLst>
                                        </p:cTn>
                                        <p:tgtEl>
                                          <p:spTgt spid="64"/>
                                        </p:tgtEl>
                                        <p:attrNameLst>
                                          <p:attrName>style.visibility</p:attrName>
                                        </p:attrNameLst>
                                      </p:cBhvr>
                                      <p:to>
                                        <p:strVal val="visible"/>
                                      </p:to>
                                    </p:set>
                                    <p:animEffect transition="in" filter="fade">
                                      <p:cBhvr>
                                        <p:cTn id="254" dur="550"/>
                                        <p:tgtEl>
                                          <p:spTgt spid="64"/>
                                        </p:tgtEl>
                                      </p:cBhvr>
                                    </p:animEffect>
                                    <p:anim calcmode="lin" valueType="num">
                                      <p:cBhvr additive="base">
                                        <p:cTn id="255" dur="550" fill="hold"/>
                                        <p:tgtEl>
                                          <p:spTgt spid="64"/>
                                        </p:tgtEl>
                                        <p:attrNameLst>
                                          <p:attrName>ppt_w</p:attrName>
                                        </p:attrNameLst>
                                      </p:cBhvr>
                                      <p:tavLst>
                                        <p:tav tm="0">
                                          <p:val>
                                            <p:strVal val="0"/>
                                          </p:val>
                                        </p:tav>
                                        <p:tav tm="100000">
                                          <p:val>
                                            <p:strVal val="#ppt_w"/>
                                          </p:val>
                                        </p:tav>
                                      </p:tavLst>
                                    </p:anim>
                                    <p:anim calcmode="lin" valueType="num">
                                      <p:cBhvr additive="base">
                                        <p:cTn id="256" dur="550" fill="hold"/>
                                        <p:tgtEl>
                                          <p:spTgt spid="64"/>
                                        </p:tgtEl>
                                        <p:attrNameLst>
                                          <p:attrName>ppt_h</p:attrName>
                                        </p:attrNameLst>
                                      </p:cBhvr>
                                      <p:tavLst>
                                        <p:tav tm="0">
                                          <p:val>
                                            <p:strVal val="0"/>
                                          </p:val>
                                        </p:tav>
                                        <p:tav tm="100000">
                                          <p:val>
                                            <p:strVal val="#ppt_h"/>
                                          </p:val>
                                        </p:tav>
                                      </p:tavLst>
                                    </p:anim>
                                  </p:childTnLst>
                                </p:cTn>
                              </p:par>
                            </p:childTnLst>
                          </p:cTn>
                        </p:par>
                        <p:par>
                          <p:cTn id="257" fill="hold">
                            <p:stCondLst>
                              <p:cond delay="200"/>
                            </p:stCondLst>
                            <p:childTnLst>
                              <p:par>
                                <p:cTn id="258" presetID="10" presetClass="entr" presetSubtype="0" fill="hold" grpId="0" nodeType="afterEffect">
                                  <p:stCondLst>
                                    <p:cond delay="0"/>
                                  </p:stCondLst>
                                  <p:childTnLst>
                                    <p:set>
                                      <p:cBhvr>
                                        <p:cTn id="259" dur="1" fill="hold">
                                          <p:stCondLst>
                                            <p:cond delay="0"/>
                                          </p:stCondLst>
                                        </p:cTn>
                                        <p:tgtEl>
                                          <p:spTgt spid="65"/>
                                        </p:tgtEl>
                                        <p:attrNameLst>
                                          <p:attrName>style.visibility</p:attrName>
                                        </p:attrNameLst>
                                      </p:cBhvr>
                                      <p:to>
                                        <p:strVal val="visible"/>
                                      </p:to>
                                    </p:set>
                                    <p:animEffect transition="in" filter="fade">
                                      <p:cBhvr>
                                        <p:cTn id="260" dur="550"/>
                                        <p:tgtEl>
                                          <p:spTgt spid="65"/>
                                        </p:tgtEl>
                                      </p:cBhvr>
                                    </p:animEffect>
                                  </p:childTnLst>
                                </p:cTn>
                              </p:par>
                            </p:childTnLst>
                          </p:cTn>
                        </p:par>
                        <p:par>
                          <p:cTn id="261" fill="hold">
                            <p:stCondLst>
                              <p:cond delay="350"/>
                            </p:stCondLst>
                            <p:childTnLst>
                              <p:par>
                                <p:cTn id="262" presetID="10" presetClass="entr" presetSubtype="0" fill="hold" grpId="0" nodeType="afterEffect">
                                  <p:stCondLst>
                                    <p:cond delay="0"/>
                                  </p:stCondLst>
                                  <p:childTnLst>
                                    <p:set>
                                      <p:cBhvr>
                                        <p:cTn id="263" dur="1" fill="hold">
                                          <p:stCondLst>
                                            <p:cond delay="0"/>
                                          </p:stCondLst>
                                        </p:cTn>
                                        <p:tgtEl>
                                          <p:spTgt spid="67"/>
                                        </p:tgtEl>
                                        <p:attrNameLst>
                                          <p:attrName>style.visibility</p:attrName>
                                        </p:attrNameLst>
                                      </p:cBhvr>
                                      <p:to>
                                        <p:strVal val="visible"/>
                                      </p:to>
                                    </p:set>
                                    <p:animEffect transition="in" filter="fade">
                                      <p:cBhvr>
                                        <p:cTn id="264" dur="550"/>
                                        <p:tgtEl>
                                          <p:spTgt spid="67"/>
                                        </p:tgtEl>
                                      </p:cBhvr>
                                    </p:animEffect>
                                  </p:childTnLst>
                                </p:cTn>
                              </p:par>
                            </p:childTnLst>
                          </p:cTn>
                        </p:par>
                        <p:par>
                          <p:cTn id="265" fill="hold">
                            <p:stCondLst>
                              <p:cond delay="500"/>
                            </p:stCondLst>
                            <p:childTnLst>
                              <p:par>
                                <p:cTn id="266" presetID="2" presetClass="entr" presetSubtype="8" fill="hold" grpId="0" nodeType="afterEffect">
                                  <p:stCondLst>
                                    <p:cond delay="0"/>
                                  </p:stCondLst>
                                  <p:childTnLst>
                                    <p:set>
                                      <p:cBhvr>
                                        <p:cTn id="267" dur="1" fill="hold">
                                          <p:stCondLst>
                                            <p:cond delay="0"/>
                                          </p:stCondLst>
                                        </p:cTn>
                                        <p:tgtEl>
                                          <p:spTgt spid="66"/>
                                        </p:tgtEl>
                                        <p:attrNameLst>
                                          <p:attrName>style.visibility</p:attrName>
                                        </p:attrNameLst>
                                      </p:cBhvr>
                                      <p:to>
                                        <p:strVal val="visible"/>
                                      </p:to>
                                    </p:set>
                                    <p:anim calcmode="lin" valueType="num">
                                      <p:cBhvr additive="base">
                                        <p:cTn id="269" dur="550" fill="hold"/>
                                        <p:tgtEl>
                                          <p:spTgt spid="66"/>
                                        </p:tgtEl>
                                        <p:attrNameLst>
                                          <p:attrName>ppt_x</p:attrName>
                                        </p:attrNameLst>
                                      </p:cBhvr>
                                      <p:tavLst>
                                        <p:tav tm="0">
                                          <p:val>
                                            <p:strVal val="0-#ppt_w/2"/>
                                          </p:val>
                                        </p:tav>
                                        <p:tav tm="100000">
                                          <p:val>
                                            <p:strVal val="#ppt_x"/>
                                          </p:val>
                                        </p:tav>
                                      </p:tavLst>
                                    </p:anim>
                                    <p:anim calcmode="lin" valueType="num">
                                      <p:cBhvr additive="base">
                                        <p:cTn id="270" dur="550" fill="hold"/>
                                        <p:tgtEl>
                                          <p:spTgt spid="66"/>
                                        </p:tgtEl>
                                        <p:attrNameLst>
                                          <p:attrName>ppt_y</p:attrName>
                                        </p:attrNameLst>
                                      </p:cBhvr>
                                      <p:tavLst>
                                        <p:tav tm="0">
                                          <p:val>
                                            <p:strVal val="#ppt_y"/>
                                          </p:val>
                                        </p:tav>
                                        <p:tav tm="100000">
                                          <p:val>
                                            <p:strVal val="#ppt_y"/>
                                          </p:val>
                                        </p:tav>
                                      </p:tavLst>
                                    </p:anim>
                                  </p:childTnLst>
                                </p:cTn>
                              </p:par>
                            </p:childTnLst>
                          </p:cTn>
                        </p:par>
                        <p:par>
                          <p:cTn id="271" fill="hold">
                            <p:stCondLst>
                              <p:cond delay="650"/>
                            </p:stCondLst>
                            <p:childTnLst>
                              <p:par>
                                <p:cTn id="272" presetID="42" presetClass="entr" presetSubtype="0" fill="hold" grpId="0" nodeType="afterEffect">
                                  <p:stCondLst>
                                    <p:cond delay="0"/>
                                  </p:stCondLst>
                                  <p:childTnLst>
                                    <p:set>
                                      <p:cBhvr>
                                        <p:cTn id="273" dur="1" fill="hold">
                                          <p:stCondLst>
                                            <p:cond delay="0"/>
                                          </p:stCondLst>
                                        </p:cTn>
                                        <p:tgtEl>
                                          <p:spTgt spid="68"/>
                                        </p:tgtEl>
                                        <p:attrNameLst>
                                          <p:attrName>style.visibility</p:attrName>
                                        </p:attrNameLst>
                                      </p:cBhvr>
                                      <p:to>
                                        <p:strVal val="visible"/>
                                      </p:to>
                                    </p:set>
                                    <p:animEffect transition="in" filter="fade">
                                      <p:cBhvr>
                                        <p:cTn id="274" dur="550"/>
                                        <p:tgtEl>
                                          <p:spTgt spid="68"/>
                                        </p:tgtEl>
                                      </p:cBhvr>
                                    </p:animEffect>
                                    <p:anim calcmode="lin" valueType="num">
                                      <p:cBhvr additive="base">
                                        <p:cTn id="275" dur="550" fill="hold"/>
                                        <p:tgtEl>
                                          <p:spTgt spid="68"/>
                                        </p:tgtEl>
                                        <p:attrNameLst>
                                          <p:attrName>ppt_x</p:attrName>
                                        </p:attrNameLst>
                                      </p:cBhvr>
                                      <p:tavLst>
                                        <p:tav tm="0">
                                          <p:val>
                                            <p:strVal val="#ppt_x"/>
                                          </p:val>
                                        </p:tav>
                                        <p:tav tm="100000">
                                          <p:val>
                                            <p:strVal val="#ppt_x"/>
                                          </p:val>
                                        </p:tav>
                                      </p:tavLst>
                                    </p:anim>
                                    <p:anim calcmode="lin" valueType="num">
                                      <p:cBhvr additive="base">
                                        <p:cTn id="276" dur="550" fill="hold"/>
                                        <p:tgtEl>
                                          <p:spTgt spid="68"/>
                                        </p:tgtEl>
                                        <p:attrNameLst>
                                          <p:attrName>ppt_y</p:attrName>
                                        </p:attrNameLst>
                                      </p:cBhvr>
                                      <p:tavLst>
                                        <p:tav tm="0">
                                          <p:val>
                                            <p:strVal val="#ppt_y+.08"/>
                                          </p:val>
                                        </p:tav>
                                        <p:tav tm="100000">
                                          <p:val>
                                            <p:strVal val="#ppt_y"/>
                                          </p:val>
                                        </p:tav>
                                      </p:tavLst>
                                    </p:anim>
                                  </p:childTnLst>
                                </p:cTn>
                              </p:par>
                            </p:childTnLst>
                          </p:cTn>
                        </p:par>
                        <p:par>
                          <p:cTn id="277" fill="hold">
                            <p:stCondLst>
                              <p:cond delay="800"/>
                            </p:stCondLst>
                            <p:childTnLst>
                              <p:par>
                                <p:cTn id="278" presetID="22" presetClass="entr" presetSubtype="8" fill="hold" grpId="0" nodeType="afterEffect">
                                  <p:stCondLst>
                                    <p:cond delay="0"/>
                                  </p:stCondLst>
                                  <p:childTnLst>
                                    <p:set>
                                      <p:cBhvr>
                                        <p:cTn id="279" dur="1" fill="hold">
                                          <p:stCondLst>
                                            <p:cond delay="0"/>
                                          </p:stCondLst>
                                        </p:cTn>
                                        <p:tgtEl>
                                          <p:spTgt spid="69"/>
                                        </p:tgtEl>
                                        <p:attrNameLst>
                                          <p:attrName>style.visibility</p:attrName>
                                        </p:attrNameLst>
                                      </p:cBhvr>
                                      <p:to>
                                        <p:strVal val="visible"/>
                                      </p:to>
                                    </p:set>
                                    <p:animEffect transition="in" filter="wipe(left)">
                                      <p:cBhvr>
                                        <p:cTn id="281" dur="800"/>
                                        <p:tgtEl>
                                          <p:spTgt spid="69"/>
                                        </p:tgtEl>
                                      </p:cBhvr>
                                    </p:animEffect>
                                  </p:childTnLst>
                                </p:cTn>
                              </p:par>
                            </p:childTnLst>
                          </p:cTn>
                        </p:par>
                        <p:par>
                          <p:cTn id="282" fill="hold">
                            <p:stCondLst>
                              <p:cond delay="950"/>
                            </p:stCondLst>
                            <p:childTnLst>
                              <p:par>
                                <p:cTn id="283" presetID="10" presetClass="entr" presetSubtype="0" fill="hold" grpId="0" nodeType="afterEffect">
                                  <p:stCondLst>
                                    <p:cond delay="0"/>
                                  </p:stCondLst>
                                  <p:childTnLst>
                                    <p:set>
                                      <p:cBhvr>
                                        <p:cTn id="284" dur="1" fill="hold">
                                          <p:stCondLst>
                                            <p:cond delay="0"/>
                                          </p:stCondLst>
                                        </p:cTn>
                                        <p:tgtEl>
                                          <p:spTgt spid="70"/>
                                        </p:tgtEl>
                                        <p:attrNameLst>
                                          <p:attrName>style.visibility</p:attrName>
                                        </p:attrNameLst>
                                      </p:cBhvr>
                                      <p:to>
                                        <p:strVal val="visible"/>
                                      </p:to>
                                    </p:set>
                                    <p:animEffect transition="in" filter="fade">
                                      <p:cBhvr>
                                        <p:cTn id="285" dur="55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P spid="62" grpId="0" animBg="1"/>
      <p:bldP spid="65" grpId="0" animBg="1"/>
      <p:bldP spid="67" grpId="0" animBg="1"/>
      <p:bldP spid="66" grpId="0" animBg="1"/>
      <p:bldP spid="68" grpId="0" animBg="1"/>
      <p:bldP spid="69" grpId="0" animBg="1"/>
      <p:bldP spid="7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6" name="Rounded Rectangle 25"/>
          <p:cNvSpPr/>
          <p:nvPr/>
        </p:nvSpPr>
        <p:spPr>
          <a:xfrm>
            <a:off x="550000" y="227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35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35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310000"/>
            <a:ext cx="10250000" cy="440000"/>
          </a:xfrm>
          <a:prstGeom prst="rect">
            <a:avLst/>
          </a:prstGeom>
          <a:noFill/>
        </p:spPr>
        <p:txBody>
          <a:bodyPr wrap="square" anchor="ctr">
            <a:spAutoFit/>
          </a:bodyPr>
          <a:lstStyle/>
          <a:p>
            <a:r>
              <a:rPr sz="1600" b="0">
                <a:solidFill>
                  <a:srgbClr val="E8EEFA"/>
                </a:solidFill>
                <a:latin typeface="Segoe UI"/>
              </a:rPr>
              <a:t>Transformer arxitekturasi va uning hisoblash xususiyatlari</a:t>
            </a:r>
          </a:p>
        </p:txBody>
      </p:sp>
      <p:sp>
        <p:nvSpPr>
          <p:cNvPr id="30" name="Rounded Rectangle 29"/>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98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98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LLM o'qitish va inferens: masshtab, xotira va tizim optimallashtirishlari</a:t>
            </a:r>
          </a:p>
        </p:txBody>
      </p:sp>
      <p:sp>
        <p:nvSpPr>
          <p:cNvPr id="34" name="Rounded Rectangle 33"/>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61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361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7" name="TextBox 36"/>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Retrieval-Augmented Generation va vektor bazalar</a:t>
            </a:r>
          </a:p>
        </p:txBody>
      </p:sp>
      <p:sp>
        <p:nvSpPr>
          <p:cNvPr id="38" name="Rounded Rectangle 37"/>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24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0000" y="424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41" name="TextBox 40"/>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Sun'iy intellekt agentlari</a:t>
            </a:r>
          </a:p>
        </p:txBody>
      </p:sp>
      <p:sp>
        <p:nvSpPr>
          <p:cNvPr id="42" name="Rounded Rectangle 41"/>
          <p:cNvSpPr/>
          <p:nvPr/>
        </p:nvSpPr>
        <p:spPr>
          <a:xfrm>
            <a:off x="550000" y="479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487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60000" y="487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5" name="TextBox 44"/>
          <p:cNvSpPr txBox="1"/>
          <p:nvPr/>
        </p:nvSpPr>
        <p:spPr>
          <a:xfrm>
            <a:off x="1300000" y="4830000"/>
            <a:ext cx="10250000" cy="440000"/>
          </a:xfrm>
          <a:prstGeom prst="rect">
            <a:avLst/>
          </a:prstGeom>
          <a:noFill/>
        </p:spPr>
        <p:txBody>
          <a:bodyPr wrap="square" anchor="ctr">
            <a:spAutoFit/>
          </a:bodyPr>
          <a:lstStyle/>
          <a:p>
            <a:r>
              <a:rPr sz="1600" b="0">
                <a:solidFill>
                  <a:srgbClr val="E8EEFA"/>
                </a:solidFill>
                <a:latin typeface="Segoe UI"/>
              </a:rPr>
              <a:t>LLM uchun GPU klasterlari va yuqori unumdor infratuzilma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ppt_x</p:attrName>
                                        </p:attrNameLst>
                                      </p:cBhvr>
                                      <p:tavLst>
                                        <p:tav tm="0">
                                          <p:val>
                                            <p:strVal val="#ppt_x"/>
                                          </p:val>
                                        </p:tav>
                                        <p:tav tm="100000">
                                          <p:val>
                                            <p:strVal val="#ppt_x"/>
                                          </p:val>
                                        </p:tav>
                                      </p:tavLst>
                                    </p:anim>
                                    <p:anim calcmode="lin" valueType="num">
                                      <p:cBhvr additive="base">
                                        <p:cTn id="17" dur="550" fill="hold"/>
                                        <p:tgtEl>
                                          <p:spTgt spid="26"/>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ppt_x</p:attrName>
                                        </p:attrNameLst>
                                      </p:cBhvr>
                                      <p:tavLst>
                                        <p:tav tm="0">
                                          <p:val>
                                            <p:strVal val="#ppt_x"/>
                                          </p:val>
                                        </p:tav>
                                        <p:tav tm="100000">
                                          <p:val>
                                            <p:strVal val="#ppt_x"/>
                                          </p:val>
                                        </p:tav>
                                      </p:tavLst>
                                    </p:anim>
                                    <p:anim calcmode="lin" valueType="num">
                                      <p:cBhvr additive="base">
                                        <p:cTn id="23" dur="550" fill="hold"/>
                                        <p:tgtEl>
                                          <p:spTgt spid="27"/>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anim calcmode="lin" valueType="num">
                                      <p:cBhvr additive="base">
                                        <p:cTn id="28" dur="550" fill="hold"/>
                                        <p:tgtEl>
                                          <p:spTgt spid="28"/>
                                        </p:tgtEl>
                                        <p:attrNameLst>
                                          <p:attrName>ppt_w</p:attrName>
                                        </p:attrNameLst>
                                      </p:cBhvr>
                                      <p:tavLst>
                                        <p:tav tm="0">
                                          <p:val>
                                            <p:strVal val="0"/>
                                          </p:val>
                                        </p:tav>
                                        <p:tav tm="100000">
                                          <p:val>
                                            <p:strVal val="#ppt_w"/>
                                          </p:val>
                                        </p:tav>
                                      </p:tavLst>
                                    </p:anim>
                                    <p:anim calcmode="lin" valueType="num">
                                      <p:cBhvr additive="base">
                                        <p:cTn id="29" dur="550" fill="hold"/>
                                        <p:tgtEl>
                                          <p:spTgt spid="28"/>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550"/>
                                        <p:tgtEl>
                                          <p:spTgt spid="29"/>
                                        </p:tgtEl>
                                      </p:cBhvr>
                                    </p:animEffect>
                                    <p:anim calcmode="lin" valueType="num">
                                      <p:cBhvr additive="base">
                                        <p:cTn id="34" dur="550" fill="hold"/>
                                        <p:tgtEl>
                                          <p:spTgt spid="29"/>
                                        </p:tgtEl>
                                        <p:attrNameLst>
                                          <p:attrName>ppt_x</p:attrName>
                                        </p:attrNameLst>
                                      </p:cBhvr>
                                      <p:tavLst>
                                        <p:tav tm="0">
                                          <p:val>
                                            <p:strVal val="#ppt_x"/>
                                          </p:val>
                                        </p:tav>
                                        <p:tav tm="100000">
                                          <p:val>
                                            <p:strVal val="#ppt_x"/>
                                          </p:val>
                                        </p:tav>
                                      </p:tavLst>
                                    </p:anim>
                                    <p:anim calcmode="lin" valueType="num">
                                      <p:cBhvr additive="base">
                                        <p:cTn id="35" dur="550" fill="hold"/>
                                        <p:tgtEl>
                                          <p:spTgt spid="29"/>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50"/>
                                        <p:tgtEl>
                                          <p:spTgt spid="30"/>
                                        </p:tgtEl>
                                      </p:cBhvr>
                                    </p:animEffect>
                                    <p:anim calcmode="lin" valueType="num">
                                      <p:cBhvr additive="base">
                                        <p:cTn id="40" dur="550" fill="hold"/>
                                        <p:tgtEl>
                                          <p:spTgt spid="30"/>
                                        </p:tgtEl>
                                        <p:attrNameLst>
                                          <p:attrName>ppt_x</p:attrName>
                                        </p:attrNameLst>
                                      </p:cBhvr>
                                      <p:tavLst>
                                        <p:tav tm="0">
                                          <p:val>
                                            <p:strVal val="#ppt_x"/>
                                          </p:val>
                                        </p:tav>
                                        <p:tav tm="100000">
                                          <p:val>
                                            <p:strVal val="#ppt_x"/>
                                          </p:val>
                                        </p:tav>
                                      </p:tavLst>
                                    </p:anim>
                                    <p:anim calcmode="lin" valueType="num">
                                      <p:cBhvr additive="base">
                                        <p:cTn id="41" dur="550" fill="hold"/>
                                        <p:tgtEl>
                                          <p:spTgt spid="30"/>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550"/>
                                        <p:tgtEl>
                                          <p:spTgt spid="31"/>
                                        </p:tgtEl>
                                      </p:cBhvr>
                                    </p:animEffect>
                                    <p:anim calcmode="lin" valueType="num">
                                      <p:cBhvr additive="base">
                                        <p:cTn id="46" dur="550" fill="hold"/>
                                        <p:tgtEl>
                                          <p:spTgt spid="31"/>
                                        </p:tgtEl>
                                        <p:attrNameLst>
                                          <p:attrName>ppt_x</p:attrName>
                                        </p:attrNameLst>
                                      </p:cBhvr>
                                      <p:tavLst>
                                        <p:tav tm="0">
                                          <p:val>
                                            <p:strVal val="#ppt_x"/>
                                          </p:val>
                                        </p:tav>
                                        <p:tav tm="100000">
                                          <p:val>
                                            <p:strVal val="#ppt_x"/>
                                          </p:val>
                                        </p:tav>
                                      </p:tavLst>
                                    </p:anim>
                                    <p:anim calcmode="lin" valueType="num">
                                      <p:cBhvr additive="base">
                                        <p:cTn id="47" dur="550" fill="hold"/>
                                        <p:tgtEl>
                                          <p:spTgt spid="31"/>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550"/>
                                        <p:tgtEl>
                                          <p:spTgt spid="32"/>
                                        </p:tgtEl>
                                      </p:cBhvr>
                                    </p:animEffect>
                                    <p:anim calcmode="lin" valueType="num">
                                      <p:cBhvr additive="base">
                                        <p:cTn id="52" dur="550" fill="hold"/>
                                        <p:tgtEl>
                                          <p:spTgt spid="32"/>
                                        </p:tgtEl>
                                        <p:attrNameLst>
                                          <p:attrName>ppt_w</p:attrName>
                                        </p:attrNameLst>
                                      </p:cBhvr>
                                      <p:tavLst>
                                        <p:tav tm="0">
                                          <p:val>
                                            <p:strVal val="0"/>
                                          </p:val>
                                        </p:tav>
                                        <p:tav tm="100000">
                                          <p:val>
                                            <p:strVal val="#ppt_w"/>
                                          </p:val>
                                        </p:tav>
                                      </p:tavLst>
                                    </p:anim>
                                    <p:anim calcmode="lin" valueType="num">
                                      <p:cBhvr additive="base">
                                        <p:cTn id="53" dur="550" fill="hold"/>
                                        <p:tgtEl>
                                          <p:spTgt spid="32"/>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550"/>
                                        <p:tgtEl>
                                          <p:spTgt spid="33"/>
                                        </p:tgtEl>
                                      </p:cBhvr>
                                    </p:animEffect>
                                    <p:anim calcmode="lin" valueType="num">
                                      <p:cBhvr additive="base">
                                        <p:cTn id="58" dur="550" fill="hold"/>
                                        <p:tgtEl>
                                          <p:spTgt spid="33"/>
                                        </p:tgtEl>
                                        <p:attrNameLst>
                                          <p:attrName>ppt_x</p:attrName>
                                        </p:attrNameLst>
                                      </p:cBhvr>
                                      <p:tavLst>
                                        <p:tav tm="0">
                                          <p:val>
                                            <p:strVal val="#ppt_x"/>
                                          </p:val>
                                        </p:tav>
                                        <p:tav tm="100000">
                                          <p:val>
                                            <p:strVal val="#ppt_x"/>
                                          </p:val>
                                        </p:tav>
                                      </p:tavLst>
                                    </p:anim>
                                    <p:anim calcmode="lin" valueType="num">
                                      <p:cBhvr additive="base">
                                        <p:cTn id="59" dur="550" fill="hold"/>
                                        <p:tgtEl>
                                          <p:spTgt spid="33"/>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4"/>
                                        </p:tgtEl>
                                        <p:attrNameLst>
                                          <p:attrName>style.visibility</p:attrName>
                                        </p:attrNameLst>
                                      </p:cBhvr>
                                      <p:to>
                                        <p:strVal val="visible"/>
                                      </p:to>
                                    </p:set>
                                    <p:animEffect transition="in" filter="fade">
                                      <p:cBhvr>
                                        <p:cTn id="63" dur="550"/>
                                        <p:tgtEl>
                                          <p:spTgt spid="34"/>
                                        </p:tgtEl>
                                      </p:cBhvr>
                                    </p:animEffect>
                                    <p:anim calcmode="lin" valueType="num">
                                      <p:cBhvr additive="base">
                                        <p:cTn id="64" dur="550" fill="hold"/>
                                        <p:tgtEl>
                                          <p:spTgt spid="34"/>
                                        </p:tgtEl>
                                        <p:attrNameLst>
                                          <p:attrName>ppt_x</p:attrName>
                                        </p:attrNameLst>
                                      </p:cBhvr>
                                      <p:tavLst>
                                        <p:tav tm="0">
                                          <p:val>
                                            <p:strVal val="#ppt_x"/>
                                          </p:val>
                                        </p:tav>
                                        <p:tav tm="100000">
                                          <p:val>
                                            <p:strVal val="#ppt_x"/>
                                          </p:val>
                                        </p:tav>
                                      </p:tavLst>
                                    </p:anim>
                                    <p:anim calcmode="lin" valueType="num">
                                      <p:cBhvr additive="base">
                                        <p:cTn id="65" dur="550" fill="hold"/>
                                        <p:tgtEl>
                                          <p:spTgt spid="34"/>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fade">
                                      <p:cBhvr>
                                        <p:cTn id="69" dur="550"/>
                                        <p:tgtEl>
                                          <p:spTgt spid="35"/>
                                        </p:tgtEl>
                                      </p:cBhvr>
                                    </p:animEffect>
                                    <p:anim calcmode="lin" valueType="num">
                                      <p:cBhvr additive="base">
                                        <p:cTn id="70" dur="550" fill="hold"/>
                                        <p:tgtEl>
                                          <p:spTgt spid="35"/>
                                        </p:tgtEl>
                                        <p:attrNameLst>
                                          <p:attrName>ppt_x</p:attrName>
                                        </p:attrNameLst>
                                      </p:cBhvr>
                                      <p:tavLst>
                                        <p:tav tm="0">
                                          <p:val>
                                            <p:strVal val="#ppt_x"/>
                                          </p:val>
                                        </p:tav>
                                        <p:tav tm="100000">
                                          <p:val>
                                            <p:strVal val="#ppt_x"/>
                                          </p:val>
                                        </p:tav>
                                      </p:tavLst>
                                    </p:anim>
                                    <p:anim calcmode="lin" valueType="num">
                                      <p:cBhvr additive="base">
                                        <p:cTn id="71" dur="550" fill="hold"/>
                                        <p:tgtEl>
                                          <p:spTgt spid="35"/>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550"/>
                                        <p:tgtEl>
                                          <p:spTgt spid="36"/>
                                        </p:tgtEl>
                                      </p:cBhvr>
                                    </p:animEffect>
                                    <p:anim calcmode="lin" valueType="num">
                                      <p:cBhvr additive="base">
                                        <p:cTn id="76" dur="550" fill="hold"/>
                                        <p:tgtEl>
                                          <p:spTgt spid="36"/>
                                        </p:tgtEl>
                                        <p:attrNameLst>
                                          <p:attrName>ppt_w</p:attrName>
                                        </p:attrNameLst>
                                      </p:cBhvr>
                                      <p:tavLst>
                                        <p:tav tm="0">
                                          <p:val>
                                            <p:strVal val="0"/>
                                          </p:val>
                                        </p:tav>
                                        <p:tav tm="100000">
                                          <p:val>
                                            <p:strVal val="#ppt_w"/>
                                          </p:val>
                                        </p:tav>
                                      </p:tavLst>
                                    </p:anim>
                                    <p:anim calcmode="lin" valueType="num">
                                      <p:cBhvr additive="base">
                                        <p:cTn id="77" dur="550" fill="hold"/>
                                        <p:tgtEl>
                                          <p:spTgt spid="36"/>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550"/>
                                        <p:tgtEl>
                                          <p:spTgt spid="37"/>
                                        </p:tgtEl>
                                      </p:cBhvr>
                                    </p:animEffect>
                                    <p:anim calcmode="lin" valueType="num">
                                      <p:cBhvr additive="base">
                                        <p:cTn id="82" dur="550" fill="hold"/>
                                        <p:tgtEl>
                                          <p:spTgt spid="37"/>
                                        </p:tgtEl>
                                        <p:attrNameLst>
                                          <p:attrName>ppt_x</p:attrName>
                                        </p:attrNameLst>
                                      </p:cBhvr>
                                      <p:tavLst>
                                        <p:tav tm="0">
                                          <p:val>
                                            <p:strVal val="#ppt_x"/>
                                          </p:val>
                                        </p:tav>
                                        <p:tav tm="100000">
                                          <p:val>
                                            <p:strVal val="#ppt_x"/>
                                          </p:val>
                                        </p:tav>
                                      </p:tavLst>
                                    </p:anim>
                                    <p:anim calcmode="lin" valueType="num">
                                      <p:cBhvr additive="base">
                                        <p:cTn id="83" dur="550" fill="hold"/>
                                        <p:tgtEl>
                                          <p:spTgt spid="37"/>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550"/>
                                        <p:tgtEl>
                                          <p:spTgt spid="38"/>
                                        </p:tgtEl>
                                      </p:cBhvr>
                                    </p:animEffect>
                                    <p:anim calcmode="lin" valueType="num">
                                      <p:cBhvr additive="base">
                                        <p:cTn id="88" dur="550" fill="hold"/>
                                        <p:tgtEl>
                                          <p:spTgt spid="38"/>
                                        </p:tgtEl>
                                        <p:attrNameLst>
                                          <p:attrName>ppt_x</p:attrName>
                                        </p:attrNameLst>
                                      </p:cBhvr>
                                      <p:tavLst>
                                        <p:tav tm="0">
                                          <p:val>
                                            <p:strVal val="#ppt_x"/>
                                          </p:val>
                                        </p:tav>
                                        <p:tav tm="100000">
                                          <p:val>
                                            <p:strVal val="#ppt_x"/>
                                          </p:val>
                                        </p:tav>
                                      </p:tavLst>
                                    </p:anim>
                                    <p:anim calcmode="lin" valueType="num">
                                      <p:cBhvr additive="base">
                                        <p:cTn id="89" dur="550" fill="hold"/>
                                        <p:tgtEl>
                                          <p:spTgt spid="38"/>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9"/>
                                        </p:tgtEl>
                                        <p:attrNameLst>
                                          <p:attrName>style.visibility</p:attrName>
                                        </p:attrNameLst>
                                      </p:cBhvr>
                                      <p:to>
                                        <p:strVal val="visible"/>
                                      </p:to>
                                    </p:set>
                                    <p:animEffect transition="in" filter="fade">
                                      <p:cBhvr>
                                        <p:cTn id="93" dur="550"/>
                                        <p:tgtEl>
                                          <p:spTgt spid="39"/>
                                        </p:tgtEl>
                                      </p:cBhvr>
                                    </p:animEffect>
                                    <p:anim calcmode="lin" valueType="num">
                                      <p:cBhvr additive="base">
                                        <p:cTn id="94" dur="550" fill="hold"/>
                                        <p:tgtEl>
                                          <p:spTgt spid="39"/>
                                        </p:tgtEl>
                                        <p:attrNameLst>
                                          <p:attrName>ppt_x</p:attrName>
                                        </p:attrNameLst>
                                      </p:cBhvr>
                                      <p:tavLst>
                                        <p:tav tm="0">
                                          <p:val>
                                            <p:strVal val="#ppt_x"/>
                                          </p:val>
                                        </p:tav>
                                        <p:tav tm="100000">
                                          <p:val>
                                            <p:strVal val="#ppt_x"/>
                                          </p:val>
                                        </p:tav>
                                      </p:tavLst>
                                    </p:anim>
                                    <p:anim calcmode="lin" valueType="num">
                                      <p:cBhvr additive="base">
                                        <p:cTn id="95" dur="550" fill="hold"/>
                                        <p:tgtEl>
                                          <p:spTgt spid="39"/>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40"/>
                                        </p:tgtEl>
                                        <p:attrNameLst>
                                          <p:attrName>style.visibility</p:attrName>
                                        </p:attrNameLst>
                                      </p:cBhvr>
                                      <p:to>
                                        <p:strVal val="visible"/>
                                      </p:to>
                                    </p:set>
                                    <p:animEffect transition="in" filter="fade">
                                      <p:cBhvr>
                                        <p:cTn id="99" dur="550"/>
                                        <p:tgtEl>
                                          <p:spTgt spid="40"/>
                                        </p:tgtEl>
                                      </p:cBhvr>
                                    </p:animEffect>
                                    <p:anim calcmode="lin" valueType="num">
                                      <p:cBhvr additive="base">
                                        <p:cTn id="100" dur="550" fill="hold"/>
                                        <p:tgtEl>
                                          <p:spTgt spid="40"/>
                                        </p:tgtEl>
                                        <p:attrNameLst>
                                          <p:attrName>ppt_w</p:attrName>
                                        </p:attrNameLst>
                                      </p:cBhvr>
                                      <p:tavLst>
                                        <p:tav tm="0">
                                          <p:val>
                                            <p:strVal val="0"/>
                                          </p:val>
                                        </p:tav>
                                        <p:tav tm="100000">
                                          <p:val>
                                            <p:strVal val="#ppt_w"/>
                                          </p:val>
                                        </p:tav>
                                      </p:tavLst>
                                    </p:anim>
                                    <p:anim calcmode="lin" valueType="num">
                                      <p:cBhvr additive="base">
                                        <p:cTn id="101" dur="550" fill="hold"/>
                                        <p:tgtEl>
                                          <p:spTgt spid="40"/>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41"/>
                                        </p:tgtEl>
                                        <p:attrNameLst>
                                          <p:attrName>style.visibility</p:attrName>
                                        </p:attrNameLst>
                                      </p:cBhvr>
                                      <p:to>
                                        <p:strVal val="visible"/>
                                      </p:to>
                                    </p:set>
                                    <p:animEffect transition="in" filter="fade">
                                      <p:cBhvr>
                                        <p:cTn id="105" dur="550"/>
                                        <p:tgtEl>
                                          <p:spTgt spid="41"/>
                                        </p:tgtEl>
                                      </p:cBhvr>
                                    </p:animEffect>
                                    <p:anim calcmode="lin" valueType="num">
                                      <p:cBhvr additive="base">
                                        <p:cTn id="106" dur="550" fill="hold"/>
                                        <p:tgtEl>
                                          <p:spTgt spid="41"/>
                                        </p:tgtEl>
                                        <p:attrNameLst>
                                          <p:attrName>ppt_x</p:attrName>
                                        </p:attrNameLst>
                                      </p:cBhvr>
                                      <p:tavLst>
                                        <p:tav tm="0">
                                          <p:val>
                                            <p:strVal val="#ppt_x"/>
                                          </p:val>
                                        </p:tav>
                                        <p:tav tm="100000">
                                          <p:val>
                                            <p:strVal val="#ppt_x"/>
                                          </p:val>
                                        </p:tav>
                                      </p:tavLst>
                                    </p:anim>
                                    <p:anim calcmode="lin" valueType="num">
                                      <p:cBhvr additive="base">
                                        <p:cTn id="107" dur="550" fill="hold"/>
                                        <p:tgtEl>
                                          <p:spTgt spid="41"/>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550"/>
                                        <p:tgtEl>
                                          <p:spTgt spid="42"/>
                                        </p:tgtEl>
                                      </p:cBhvr>
                                    </p:animEffect>
                                    <p:anim calcmode="lin" valueType="num">
                                      <p:cBhvr additive="base">
                                        <p:cTn id="112" dur="550" fill="hold"/>
                                        <p:tgtEl>
                                          <p:spTgt spid="42"/>
                                        </p:tgtEl>
                                        <p:attrNameLst>
                                          <p:attrName>ppt_x</p:attrName>
                                        </p:attrNameLst>
                                      </p:cBhvr>
                                      <p:tavLst>
                                        <p:tav tm="0">
                                          <p:val>
                                            <p:strVal val="#ppt_x"/>
                                          </p:val>
                                        </p:tav>
                                        <p:tav tm="100000">
                                          <p:val>
                                            <p:strVal val="#ppt_x"/>
                                          </p:val>
                                        </p:tav>
                                      </p:tavLst>
                                    </p:anim>
                                    <p:anim calcmode="lin" valueType="num">
                                      <p:cBhvr additive="base">
                                        <p:cTn id="113" dur="550" fill="hold"/>
                                        <p:tgtEl>
                                          <p:spTgt spid="42"/>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3"/>
                                        </p:tgtEl>
                                        <p:attrNameLst>
                                          <p:attrName>style.visibility</p:attrName>
                                        </p:attrNameLst>
                                      </p:cBhvr>
                                      <p:to>
                                        <p:strVal val="visible"/>
                                      </p:to>
                                    </p:set>
                                    <p:animEffect transition="in" filter="fade">
                                      <p:cBhvr>
                                        <p:cTn id="117" dur="550"/>
                                        <p:tgtEl>
                                          <p:spTgt spid="43"/>
                                        </p:tgtEl>
                                      </p:cBhvr>
                                    </p:animEffect>
                                    <p:anim calcmode="lin" valueType="num">
                                      <p:cBhvr additive="base">
                                        <p:cTn id="118" dur="550" fill="hold"/>
                                        <p:tgtEl>
                                          <p:spTgt spid="43"/>
                                        </p:tgtEl>
                                        <p:attrNameLst>
                                          <p:attrName>ppt_x</p:attrName>
                                        </p:attrNameLst>
                                      </p:cBhvr>
                                      <p:tavLst>
                                        <p:tav tm="0">
                                          <p:val>
                                            <p:strVal val="#ppt_x"/>
                                          </p:val>
                                        </p:tav>
                                        <p:tav tm="100000">
                                          <p:val>
                                            <p:strVal val="#ppt_x"/>
                                          </p:val>
                                        </p:tav>
                                      </p:tavLst>
                                    </p:anim>
                                    <p:anim calcmode="lin" valueType="num">
                                      <p:cBhvr additive="base">
                                        <p:cTn id="119" dur="550" fill="hold"/>
                                        <p:tgtEl>
                                          <p:spTgt spid="43"/>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50"/>
                                        <p:tgtEl>
                                          <p:spTgt spid="44"/>
                                        </p:tgtEl>
                                      </p:cBhvr>
                                    </p:animEffect>
                                    <p:anim calcmode="lin" valueType="num">
                                      <p:cBhvr additive="base">
                                        <p:cTn id="124" dur="550" fill="hold"/>
                                        <p:tgtEl>
                                          <p:spTgt spid="44"/>
                                        </p:tgtEl>
                                        <p:attrNameLst>
                                          <p:attrName>ppt_w</p:attrName>
                                        </p:attrNameLst>
                                      </p:cBhvr>
                                      <p:tavLst>
                                        <p:tav tm="0">
                                          <p:val>
                                            <p:strVal val="0"/>
                                          </p:val>
                                        </p:tav>
                                        <p:tav tm="100000">
                                          <p:val>
                                            <p:strVal val="#ppt_w"/>
                                          </p:val>
                                        </p:tav>
                                      </p:tavLst>
                                    </p:anim>
                                    <p:anim calcmode="lin" valueType="num">
                                      <p:cBhvr additive="base">
                                        <p:cTn id="125" dur="550" fill="hold"/>
                                        <p:tgtEl>
                                          <p:spTgt spid="44"/>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5"/>
                                        </p:tgtEl>
                                        <p:attrNameLst>
                                          <p:attrName>style.visibility</p:attrName>
                                        </p:attrNameLst>
                                      </p:cBhvr>
                                      <p:to>
                                        <p:strVal val="visible"/>
                                      </p:to>
                                    </p:set>
                                    <p:animEffect transition="in" filter="fade">
                                      <p:cBhvr>
                                        <p:cTn id="129" dur="550"/>
                                        <p:tgtEl>
                                          <p:spTgt spid="45"/>
                                        </p:tgtEl>
                                      </p:cBhvr>
                                    </p:animEffect>
                                    <p:anim calcmode="lin" valueType="num">
                                      <p:cBhvr additive="base">
                                        <p:cTn id="130" dur="550" fill="hold"/>
                                        <p:tgtEl>
                                          <p:spTgt spid="45"/>
                                        </p:tgtEl>
                                        <p:attrNameLst>
                                          <p:attrName>ppt_x</p:attrName>
                                        </p:attrNameLst>
                                      </p:cBhvr>
                                      <p:tavLst>
                                        <p:tav tm="0">
                                          <p:val>
                                            <p:strVal val="#ppt_x"/>
                                          </p:val>
                                        </p:tav>
                                        <p:tav tm="100000">
                                          <p:val>
                                            <p:strVal val="#ppt_x"/>
                                          </p:val>
                                        </p:tav>
                                      </p:tavLst>
                                    </p:anim>
                                    <p:anim calcmode="lin" valueType="num">
                                      <p:cBhvr additive="base">
                                        <p:cTn id="131"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75aaee66b1893f8e.jpg"/>
          <p:cNvPicPr>
            <a:picLocks noChangeAspect="1"/>
          </p:cNvPicPr>
          <p:nvPr/>
        </p:nvPicPr>
        <p:blipFill>
          <a:blip r:embed="rId2"/>
          <a:srcRect l="271" r="271"/>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Shuang Zhang, Rui Fan, Yuti Liu, Shuang Chen, Qiao Liu, Wanwen Zeng · Wikimedia Commons · CC BY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Transformer arxitekturasi va uning hisoblash xususiyatlari</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Transformer arxitekturasi va uning hisoblash xususiyatlari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6a27f4734101be8b.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Lawrence Systems · Wikimedia Commons · CC BY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Dekoder-only Transformer (zamonaviy LLM'larning aksariyati shu turda) L ta bir xil blokdan iborat.</a:t>
            </a:r>
          </a:p>
          <a:p>
            <a:pPr>
              <a:spcBef>
                <a:spcPts val="400"/>
              </a:spcBef>
            </a:pPr>
            <a:r>
              <a:rPr sz="1600">
                <a:solidFill>
                  <a:srgbClr val="AEBBD9"/>
                </a:solidFill>
                <a:latin typeface="Segoe UI"/>
              </a:rPr>
              <a:t>Har blok ikki qismdan tuziladi: ko'p boshli o'z-o'ziga diqqat (multi-head self-attention) va pozitsiya bo'yicha to'liq bog'langan tarmoq (feed-forward network, FFN), har biri qoldiq bog'lanish (residual) va normalizatsiya (LayerNorm yoki RMSNorm) bilan o'ralgan.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Transformer arxitekturasi va uning hisoblash xususiyatlari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f710a510437981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Chris Rycroft from Cambridge, Massachusetts, United States · Wikimedia Commons · CC BY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Diqqat mexanizmi har token uchun so'rov (Q), kalit (K) va qiymat (V) vektorlarini d_model × d_model proyeksiyalar orqali hisoblaydi, so'ngra softmax(QKᵀ / √d_k) · V ifodasini bajaradi.</a:t>
            </a:r>
          </a:p>
          <a:p>
            <a:pPr>
              <a:spcBef>
                <a:spcPts val="400"/>
              </a:spcBef>
            </a:pPr>
            <a:r>
              <a:rPr sz="1400">
                <a:solidFill>
                  <a:srgbClr val="AEBBD9"/>
                </a:solidFill>
                <a:latin typeface="Segoe UI"/>
              </a:rPr>
              <a:t>Mohiyati: har token kontekstdagi barcha oldingi tokenlar bilan «mosligini» hisoblab, ularning qiymatlarini vaznli yig'adi. FFN odatda d_model → 4·d_model → d_model (yoki SwiGLU variantida 8/3·d_model) o'lchamli ikki chiziqli qatlam. Pozitsiya ma'lumoti RoPE (rotary position embedding) orqali Q va K'ga kiritiladi.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Transformer arxitekturasi va uning hisoblash xususiyatlari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Parametrlar soni taxminan P ≈ 12 · L · d_model² (diqqat 4·d², FFN 8·d²) plus embedding V · d_model.</a:t>
            </a:r>
          </a:p>
          <a:p>
            <a:pPr>
              <a:spcBef>
                <a:spcPts val="400"/>
              </a:spcBef>
            </a:pPr>
            <a:r>
              <a:rPr sz="1600">
                <a:solidFill>
                  <a:srgbClr val="AEBBD9"/>
                </a:solidFill>
                <a:latin typeface="Segoe UI"/>
              </a:rPr>
              <a:t>Masalan, Llama 2 7B: L = 32, d_model = 4096 → 12 · 32 · 4096² ≈ 6,4 milliard, embedding bilan ≈ 6,7 milliard. Token boshiga hisoblash: har parametr bitta ko'paytirish-qo'shish, ya'ni ≈ 2P FLOP (oldinga), o'qitishda orqaga tarqatish bilan ≈ 6P FLOP.</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Transformer arxitekturasi va uning hisoblash xususiyatlari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7</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5e64ed9f65e6a4ba.jpg"/>
          <p:cNvPicPr>
            <a:picLocks noChangeAspect="1"/>
          </p:cNvPicPr>
          <p:nvPr/>
        </p:nvPicPr>
        <p:blipFill>
          <a:blip r:embed="rId2"/>
          <a:srcRect l="23236" r="23236"/>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Maurizio Pesce from Milan, Italia · Wikimedia Commons · CC BY 2.0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531520"/>
            <a:ext cx="50000" cy="25169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3" name="TextBox 32"/>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Diqqatning o'zi qo'shimcha 4 · L · n · d_model FLOP (n — kontekst uzunligi) talab qiladi, bu uzun kontekstda (n ≫ d) ustun kela boshlaydi va QKᵀ matritsasi n² xotira talab qiladi — n = 32 000 da bitta bosh uchun 2 GB FP16.</a:t>
            </a:r>
          </a:p>
          <a:p>
            <a:pPr>
              <a:spcBef>
                <a:spcPts val="400"/>
              </a:spcBef>
            </a:pPr>
            <a:r>
              <a:rPr sz="1400">
                <a:solidFill>
                  <a:srgbClr val="AEBBD9"/>
                </a:solidFill>
                <a:latin typeface="Segoe UI"/>
              </a:rPr>
              <a:t>FlashAttention (Dao va boshq., 2022) bu matritsani hech qachon HBM'ga yozmasdan, bloklab SRAM'da hisoblaydi: FLOP soni o'zgarmaydi, lekin xotira murojaatlari O(n²) dan O(n) ga tushadi va amalda 2–4 marta tezlashish beradi — Roofline tilida bu arifmetik intensivlikni oshirish.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Transformer arxitekturasi va uning hisoblash xususiyatlari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3a1192fc4d4728d0.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Daniel Lu (User:dllu)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034440"/>
            <a:ext cx="50000" cy="1511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1" name="TextBox 30"/>
          <p:cNvSpPr txBox="1"/>
          <p:nvPr/>
        </p:nvSpPr>
        <p:spPr>
          <a:xfrm>
            <a:off x="1300000" y="2994440"/>
            <a:ext cx="5900000" cy="1591120"/>
          </a:xfrm>
          <a:prstGeom prst="rect">
            <a:avLst/>
          </a:prstGeom>
          <a:noFill/>
        </p:spPr>
        <p:txBody>
          <a:bodyPr wrap="square" anchor="ctr">
            <a:spAutoFit/>
          </a:bodyPr>
          <a:lstStyle/>
          <a:p>
            <a:r>
              <a:rPr sz="1600" b="0">
                <a:solidFill>
                  <a:srgbClr val="E8EEFA"/>
                </a:solidFill>
                <a:latin typeface="Segoe UI"/>
              </a:rPr>
              <a:t>Zamonaviy modellarda KV-keshni kamaytirish uchun guruhlangan so'rov diqqati (grouped-query attention, GQA) ishlatiladi: 32 ta Q boshiga atigi 8 ta K/V boshi to'g'ri keladi (Llama 3, Mistral).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3fe19331b9f4ded3.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极客湾Geekerwan · Wikimedia Commons · CC BY 3.0</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LLM o'qitish va inferens: masshtab, xotira va tizim optimallashtirishlari</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LLM o'qitish va inferens: masshtab, xotira va tizim optimallashtirishlari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9b19da2456b6c37.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Rsparks3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O'qitish narxi oddiy formula bilan baholanadi: C ≈ 6 · P · D FLOP, bu yerda D — o'qitish tokenlari soni.</a:t>
            </a:r>
          </a:p>
          <a:p>
            <a:pPr>
              <a:spcBef>
                <a:spcPts val="400"/>
              </a:spcBef>
            </a:pPr>
            <a:r>
              <a:rPr sz="1300">
                <a:solidFill>
                  <a:srgbClr val="AEBBD9"/>
                </a:solidFill>
                <a:latin typeface="Segoe UI"/>
              </a:rPr>
              <a:t>Chinchilla tadqiqoti (Hoffmann va boshq., 2022) berilgan hisoblash byudjetida optimal nisbat D ≈ 20 · P ekanini ko'rsatdi, biroq inferens narxini hisobga olgan zamonaviy modellar ancha ko'proq tokenda o'qitiladi (Llama 3 8B — 15 trillion, ya'ni D ≈ 1900 · P). Misol: 70 milliard parametrli modelni 15 trillion tokenda o'qitish 6 · 7·10¹⁰ · 1,5·10¹³ ≈ 6,3·10²⁴ FLOP.</a:t>
            </a:r>
          </a:p>
        </p:txBody>
      </p:sp>
      <p:sp>
        <p:nvSpPr>
          <p:cNvPr id="33" name="Rounded Rectangle 32"/>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H100'ning BF16 cho'qqisi 989 TFLOPS, real MFU 40 foiz → ≈ 400 TFLOPS → 1,6·10¹⁰ GPU-sekund ≈ 4,4 million GPU-soat; 4096 GPU'da ≈ 45 kun.</a:t>
            </a:r>
          </a:p>
          <a:p>
            <a:pPr>
              <a:spcBef>
                <a:spcPts val="400"/>
              </a:spcBef>
            </a:pPr>
            <a:r>
              <a:rPr sz="1300">
                <a:solidFill>
                  <a:srgbClr val="AEBBD9"/>
                </a:solidFill>
                <a:latin typeface="Segoe UI"/>
              </a:rPr>
              <a:t>Meta'ning Llama 3 70B uchun e'lon qilgan ≈ 6,4 million GPU-soati shu tartibda (pastroq MFU va nosozliklar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LLM o'qitish va inferens: masshtab, xotira va tizim optimallashtirishlari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6a27f4734101be8b.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Lawrence Systems · Wikimedia Commons · CC BY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959476"/>
            <a:ext cx="50000" cy="169552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07238"/>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Inferens ikki fazadan iborat.</a:t>
            </a:r>
          </a:p>
          <a:p>
            <a:pPr>
              <a:spcBef>
                <a:spcPts val="400"/>
              </a:spcBef>
            </a:pPr>
            <a:r>
              <a:rPr sz="1300">
                <a:solidFill>
                  <a:srgbClr val="AEBBD9"/>
                </a:solidFill>
                <a:latin typeface="Segoe UI"/>
              </a:rPr>
              <a:t>Prefill — promptning barcha tokenlarini bir vaqtda qayta ishlash: n_prompt tokenli prompt uchun 2 · P · n_prompt FLOP, katta matritsalar, compute-bound; u birinchi tokengacha vaqtni (TTFT) belgilaydi. Decode — har qadamda bitta token generatsiya: 2P FLOP, lekin barcha og'irliklar (2P bayt FP16'da) va KV-kesh o'qiladi, memory-bound; u tokenlar orasidagi vaqtni belgilaydi.</a:t>
            </a:r>
          </a:p>
        </p:txBody>
      </p:sp>
      <p:sp>
        <p:nvSpPr>
          <p:cNvPr id="31" name="Rounded Rectangle 30"/>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69552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572762"/>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4" name="TextBox 33"/>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Shuning uchun bitta ketma-ketlik uchun maksimal tezlik ≈ B_HBM / (model hajmi): 8B FP16 model (16 GB) A100 80 GB'da (2039 GB/s) ≈ 127 token/s nazariy chegara, amalda 80–100.</a:t>
            </a:r>
          </a:p>
          <a:p>
            <a:pPr>
              <a:spcBef>
                <a:spcPts val="400"/>
              </a:spcBef>
            </a:pPr>
            <a:r>
              <a:rPr sz="1300">
                <a:solidFill>
                  <a:srgbClr val="AEBBD9"/>
                </a:solidFill>
                <a:latin typeface="Segoe UI"/>
              </a:rPr>
              <a:t>Throughput'ni oshirishning yagona yo'li — ko'p ketma-ketlikni bir vaqtda dekodlash (partiyalash): og'irliklar bir marta o'qiladi, 32 token hisoblanadi; intensivlik 32 marta oshadi.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LLM o'qitish va inferens: masshtab, xotira va tizim optimallashtirishlari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f710a510437981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Chris Rycroft from Cambridge, Massachusetts, United States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KV-kesh — dekodlashda har qadamda oldingi tokenlarning K va V vektorlarini qayta hisoblamaslik uchun saqlanadigan xotira.</a:t>
            </a:r>
          </a:p>
          <a:p>
            <a:pPr>
              <a:spcBef>
                <a:spcPts val="400"/>
              </a:spcBef>
            </a:pPr>
            <a:r>
              <a:rPr sz="1600">
                <a:solidFill>
                  <a:srgbClr val="AEBBD9"/>
                </a:solidFill>
                <a:latin typeface="Segoe UI"/>
              </a:rPr>
              <a:t>Token boshiga hajmi: 2 · L · n_kv_heads · d_head · bayt. Llama 2 7B (MHA, 32 bosh): 2 · 32 · 32 · 128 · 2 = 512 KB/token; Llama 3.1 8B (GQA, 8 bosh): 2 · 32 · 8 · 128 · 2 = 128 KB/token; Llama 3.1 70B: 2 · 80 · 8 · 128 · 2 = 320 KB/token. 8 000 tokenli kontekst 8B model uchun 1 GB, 70B uchun 2,5 GB — bitta foydalanuvchi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LLM o'qitish va inferens: masshtab, xotira va tizim optimallashtirishlari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443612"/>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523612"/>
            <a:ext cx="50000" cy="2131388"/>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389306"/>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1" name="TextBox 30"/>
          <p:cNvSpPr txBox="1"/>
          <p:nvPr/>
        </p:nvSpPr>
        <p:spPr>
          <a:xfrm>
            <a:off x="1300000" y="1483612"/>
            <a:ext cx="5900000" cy="2211388"/>
          </a:xfrm>
          <a:prstGeom prst="rect">
            <a:avLst/>
          </a:prstGeom>
          <a:noFill/>
        </p:spPr>
        <p:txBody>
          <a:bodyPr wrap="square" anchor="ctr">
            <a:spAutoFit/>
          </a:bodyPr>
          <a:lstStyle/>
          <a:p>
            <a:r>
              <a:rPr sz="1400" b="1">
                <a:solidFill>
                  <a:srgbClr val="E8EEFA"/>
                </a:solidFill>
                <a:latin typeface="Segoe UI"/>
              </a:rPr>
              <a:t>80 GB GPU'da 8B model (16 GB) qolgan 60 GB'ga ≈ 60 ta 8K-kontekstli ketma-ketlik sig'dira oladi.</a:t>
            </a:r>
          </a:p>
          <a:p>
            <a:pPr>
              <a:spcBef>
                <a:spcPts val="400"/>
              </a:spcBef>
            </a:pPr>
            <a:r>
              <a:rPr sz="1300">
                <a:solidFill>
                  <a:srgbClr val="AEBBD9"/>
                </a:solidFill>
                <a:latin typeface="Segoe UI"/>
              </a:rPr>
              <a:t>Muammo shundaki, an'anaviy tizimlar har ketma-ketlik uchun maksimal uzunlikka xotira oldindan ajratadi va 60–80 foizi isrof bo'ladi. vLLM tizimidagi PagedAttention (Kwon va boshq., 2023) operatsion tizim virtual xotirasi g'oyasini oladi: KV-kesh belgilangan hajmli «sahifa»larga (masalan, 16 token) bo'linadi, ketma-ketlik o'sgan sari sahifalar kerak bo'lganda ajratiladi, bir xil prefiksli so'rovlar sahifalarni bo'lishadi.</a:t>
            </a:r>
          </a:p>
        </p:txBody>
      </p:sp>
      <p:sp>
        <p:nvSpPr>
          <p:cNvPr id="32" name="Rounded Rectangle 31"/>
          <p:cNvSpPr/>
          <p:nvPr/>
        </p:nvSpPr>
        <p:spPr>
          <a:xfrm>
            <a:off x="550000" y="3845000"/>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21313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79069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5" name="TextBox 34"/>
          <p:cNvSpPr txBox="1"/>
          <p:nvPr/>
        </p:nvSpPr>
        <p:spPr>
          <a:xfrm>
            <a:off x="1300000" y="3885000"/>
            <a:ext cx="5900000" cy="2211388"/>
          </a:xfrm>
          <a:prstGeom prst="rect">
            <a:avLst/>
          </a:prstGeom>
          <a:noFill/>
        </p:spPr>
        <p:txBody>
          <a:bodyPr wrap="square" anchor="ctr">
            <a:spAutoFit/>
          </a:bodyPr>
          <a:lstStyle/>
          <a:p>
            <a:r>
              <a:rPr sz="1300" b="0">
                <a:solidFill>
                  <a:srgbClr val="E8EEFA"/>
                </a:solidFill>
                <a:latin typeface="Segoe UI"/>
              </a:rPr>
              <a:t>Ikkinchi asosiy optimallashtirish — uzluksiz partiyalash (continuous batching, Orca tizimidan): partiya butun so'rovlar darajasida emas, iteratsiya darajasida tuziladi; bitta ketma-ketlik tugashi bilan uning o'rnini navbatdagi so'rov egallaydi, GPU hech…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LLM o'qitish va inferens: masshtab, xotira va tizim optimallashtirishlari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5e64ed9f65e6a4ba.jpg"/>
          <p:cNvPicPr>
            <a:picLocks noChangeAspect="1"/>
          </p:cNvPicPr>
          <p:nvPr/>
        </p:nvPicPr>
        <p:blipFill>
          <a:blip r:embed="rId2"/>
          <a:srcRect l="23236" r="23236"/>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Maurizio Pesce from Milan, Italia · Wikimedia Commons · CC BY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Uchinchisi — spekulyativ dekodlash (speculative decoding): kichik «qoralama» model bir necha tokenni tez taklif qiladi, katta model ularni bitta prefill-ga o'xshash qadamda parallel tekshiradi; decode memory-bound bo'lgani uchun 4 tokenni tekshirish 1 tokenni…</a:t>
            </a:r>
          </a:p>
          <a:p>
            <a:pPr>
              <a:spcBef>
                <a:spcPts val="400"/>
              </a:spcBef>
            </a:pPr>
            <a:r>
              <a:rPr sz="1400">
                <a:solidFill>
                  <a:srgbClr val="AEBBD9"/>
                </a:solidFill>
                <a:latin typeface="Segoe UI"/>
              </a:rPr>
              <a:t>To'rtinchisi — kvantlash: og'irliklarni INT8/INT4 (GPTQ, AWQ) yoki FP8'ga o'tkazish xotirani va shu bilan decode vaqtini 2–4 marta kamaytiradi; KV-keshni FP8'ga kvantlash sig'imni ikki marta oshiradi.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LLM o'qitish va inferens: masshtab, xotira va tizim optimallashtirishlari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graphicFrame>
        <p:nvGraphicFramePr>
          <p:cNvPr id="24" name="Table 23"/>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400" b="1">
                          <a:solidFill>
                            <a:srgbClr val="22D3EE"/>
                          </a:solidFill>
                          <a:latin typeface="Segoe UI"/>
                        </a:rPr>
                        <a:t>Usul</a:t>
                      </a:r>
                    </a:p>
                  </a:txBody>
                  <a:tcPr>
                    <a:solidFill>
                      <a:srgbClr val="1C2755"/>
                    </a:solidFill>
                  </a:tcPr>
                </a:tc>
                <a:tc>
                  <a:txBody>
                    <a:bodyPr/>
                    <a:lstStyle/>
                    <a:p>
                      <a:r>
                        <a:rPr sz="1400" b="1">
                          <a:solidFill>
                            <a:srgbClr val="22D3EE"/>
                          </a:solidFill>
                          <a:latin typeface="Segoe UI"/>
                        </a:rPr>
                        <a:t>Nimani yaxshilaydi</a:t>
                      </a:r>
                    </a:p>
                  </a:txBody>
                  <a:tcPr>
                    <a:solidFill>
                      <a:srgbClr val="1C2755"/>
                    </a:solidFill>
                  </a:tcPr>
                </a:tc>
                <a:tc>
                  <a:txBody>
                    <a:bodyPr/>
                    <a:lstStyle/>
                    <a:p>
                      <a:r>
                        <a:rPr sz="1400" b="1">
                          <a:solidFill>
                            <a:srgbClr val="22D3EE"/>
                          </a:solidFill>
                          <a:latin typeface="Segoe UI"/>
                        </a:rPr>
                        <a:t>Mexanizm</a:t>
                      </a:r>
                    </a:p>
                  </a:txBody>
                  <a:tcPr>
                    <a:solidFill>
                      <a:srgbClr val="1C2755"/>
                    </a:solidFill>
                  </a:tcPr>
                </a:tc>
                <a:tc>
                  <a:txBody>
                    <a:bodyPr/>
                    <a:lstStyle/>
                    <a:p>
                      <a:r>
                        <a:rPr sz="1400" b="1">
                          <a:solidFill>
                            <a:srgbClr val="22D3EE"/>
                          </a:solidFill>
                          <a:latin typeface="Segoe UI"/>
                        </a:rPr>
                        <a:t>Tipik yutuq</a:t>
                      </a:r>
                    </a:p>
                  </a:txBody>
                  <a:tcPr>
                    <a:solidFill>
                      <a:srgbClr val="1C2755"/>
                    </a:solidFill>
                  </a:tcPr>
                </a:tc>
              </a:tr>
              <a:tr h="520000">
                <a:tc>
                  <a:txBody>
                    <a:bodyPr/>
                    <a:lstStyle/>
                    <a:p>
                      <a:r>
                        <a:rPr sz="1400" b="0">
                          <a:solidFill>
                            <a:srgbClr val="E8EEFA"/>
                          </a:solidFill>
                          <a:latin typeface="Segoe UI"/>
                        </a:rPr>
                        <a:t>FlashAttention</a:t>
                      </a:r>
                    </a:p>
                  </a:txBody>
                  <a:tcPr>
                    <a:solidFill>
                      <a:srgbClr val="111834"/>
                    </a:solidFill>
                  </a:tcPr>
                </a:tc>
                <a:tc>
                  <a:txBody>
                    <a:bodyPr/>
                    <a:lstStyle/>
                    <a:p>
                      <a:r>
                        <a:rPr sz="1400" b="0">
                          <a:solidFill>
                            <a:srgbClr val="E8EEFA"/>
                          </a:solidFill>
                          <a:latin typeface="Segoe UI"/>
                        </a:rPr>
                        <a:t>Prefill tezligi, uzun kontekst xotirasi</a:t>
                      </a:r>
                    </a:p>
                  </a:txBody>
                  <a:tcPr>
                    <a:solidFill>
                      <a:srgbClr val="111834"/>
                    </a:solidFill>
                  </a:tcPr>
                </a:tc>
                <a:tc>
                  <a:txBody>
                    <a:bodyPr/>
                    <a:lstStyle/>
                    <a:p>
                      <a:r>
                        <a:rPr sz="1400" b="0">
                          <a:solidFill>
                            <a:srgbClr val="E8EEFA"/>
                          </a:solidFill>
                          <a:latin typeface="Segoe UI"/>
                        </a:rPr>
                        <a:t>SRAM'da bloklab hisoblash</a:t>
                      </a:r>
                    </a:p>
                  </a:txBody>
                  <a:tcPr>
                    <a:solidFill>
                      <a:srgbClr val="111834"/>
                    </a:solidFill>
                  </a:tcPr>
                </a:tc>
                <a:tc>
                  <a:txBody>
                    <a:bodyPr/>
                    <a:lstStyle/>
                    <a:p>
                      <a:r>
                        <a:rPr sz="1400" b="0">
                          <a:solidFill>
                            <a:srgbClr val="E8EEFA"/>
                          </a:solidFill>
                          <a:latin typeface="Segoe UI"/>
                        </a:rPr>
                        <a:t>2–4× tezroq, xotira O(n)</a:t>
                      </a:r>
                    </a:p>
                  </a:txBody>
                  <a:tcPr>
                    <a:solidFill>
                      <a:srgbClr val="111834"/>
                    </a:solidFill>
                  </a:tcPr>
                </a:tc>
              </a:tr>
              <a:tr h="520000">
                <a:tc>
                  <a:txBody>
                    <a:bodyPr/>
                    <a:lstStyle/>
                    <a:p>
                      <a:r>
                        <a:rPr sz="1400" b="0">
                          <a:solidFill>
                            <a:srgbClr val="E8EEFA"/>
                          </a:solidFill>
                          <a:latin typeface="Segoe UI"/>
                        </a:rPr>
                        <a:t>PagedAttention</a:t>
                      </a:r>
                    </a:p>
                  </a:txBody>
                  <a:tcPr>
                    <a:solidFill>
                      <a:srgbClr val="161F40"/>
                    </a:solidFill>
                  </a:tcPr>
                </a:tc>
                <a:tc>
                  <a:txBody>
                    <a:bodyPr/>
                    <a:lstStyle/>
                    <a:p>
                      <a:r>
                        <a:rPr sz="1400" b="0">
                          <a:solidFill>
                            <a:srgbClr val="E8EEFA"/>
                          </a:solidFill>
                          <a:latin typeface="Segoe UI"/>
                        </a:rPr>
                        <a:t>KV-kesh sig'imi, throughput</a:t>
                      </a:r>
                    </a:p>
                  </a:txBody>
                  <a:tcPr>
                    <a:solidFill>
                      <a:srgbClr val="161F40"/>
                    </a:solidFill>
                  </a:tcPr>
                </a:tc>
                <a:tc>
                  <a:txBody>
                    <a:bodyPr/>
                    <a:lstStyle/>
                    <a:p>
                      <a:r>
                        <a:rPr sz="1400" b="0">
                          <a:solidFill>
                            <a:srgbClr val="E8EEFA"/>
                          </a:solidFill>
                          <a:latin typeface="Segoe UI"/>
                        </a:rPr>
                        <a:t>Sahifalangan xotira</a:t>
                      </a:r>
                    </a:p>
                  </a:txBody>
                  <a:tcPr>
                    <a:solidFill>
                      <a:srgbClr val="161F40"/>
                    </a:solidFill>
                  </a:tcPr>
                </a:tc>
                <a:tc>
                  <a:txBody>
                    <a:bodyPr/>
                    <a:lstStyle/>
                    <a:p>
                      <a:r>
                        <a:rPr sz="1400" b="0">
                          <a:solidFill>
                            <a:srgbClr val="E8EEFA"/>
                          </a:solidFill>
                          <a:latin typeface="Segoe UI"/>
                        </a:rPr>
                        <a:t>Isrof 60–80 % → 4 % dan kam</a:t>
                      </a:r>
                    </a:p>
                  </a:txBody>
                  <a:tcPr>
                    <a:solidFill>
                      <a:srgbClr val="161F40"/>
                    </a:solidFill>
                  </a:tcPr>
                </a:tc>
              </a:tr>
              <a:tr h="520000">
                <a:tc>
                  <a:txBody>
                    <a:bodyPr/>
                    <a:lstStyle/>
                    <a:p>
                      <a:r>
                        <a:rPr sz="1400" b="0">
                          <a:solidFill>
                            <a:srgbClr val="E8EEFA"/>
                          </a:solidFill>
                          <a:latin typeface="Segoe UI"/>
                        </a:rPr>
                        <a:t>Continuous batching</a:t>
                      </a:r>
                    </a:p>
                  </a:txBody>
                  <a:tcPr>
                    <a:solidFill>
                      <a:srgbClr val="111834"/>
                    </a:solidFill>
                  </a:tcPr>
                </a:tc>
                <a:tc>
                  <a:txBody>
                    <a:bodyPr/>
                    <a:lstStyle/>
                    <a:p>
                      <a:r>
                        <a:rPr sz="1400" b="0">
                          <a:solidFill>
                            <a:srgbClr val="E8EEFA"/>
                          </a:solidFill>
                          <a:latin typeface="Segoe UI"/>
                        </a:rPr>
                        <a:t>Throughput, GPU bandligi</a:t>
                      </a:r>
                    </a:p>
                  </a:txBody>
                  <a:tcPr>
                    <a:solidFill>
                      <a:srgbClr val="111834"/>
                    </a:solidFill>
                  </a:tcPr>
                </a:tc>
                <a:tc>
                  <a:txBody>
                    <a:bodyPr/>
                    <a:lstStyle/>
                    <a:p>
                      <a:r>
                        <a:rPr sz="1400" b="0">
                          <a:solidFill>
                            <a:srgbClr val="E8EEFA"/>
                          </a:solidFill>
                          <a:latin typeface="Segoe UI"/>
                        </a:rPr>
                        <a:t>Iteratsiya darajasida partiya</a:t>
                      </a:r>
                    </a:p>
                  </a:txBody>
                  <a:tcPr>
                    <a:solidFill>
                      <a:srgbClr val="111834"/>
                    </a:solidFill>
                  </a:tcPr>
                </a:tc>
                <a:tc>
                  <a:txBody>
                    <a:bodyPr/>
                    <a:lstStyle/>
                    <a:p>
                      <a:r>
                        <a:rPr sz="1400" b="0">
                          <a:solidFill>
                            <a:srgbClr val="E8EEFA"/>
                          </a:solidFill>
                          <a:latin typeface="Segoe UI"/>
                        </a:rPr>
                        <a:t>2–10× throughput</a:t>
                      </a:r>
                    </a:p>
                  </a:txBody>
                  <a:tcPr>
                    <a:solidFill>
                      <a:srgbClr val="111834"/>
                    </a:solidFill>
                  </a:tcPr>
                </a:tc>
              </a:tr>
              <a:tr h="520000">
                <a:tc>
                  <a:txBody>
                    <a:bodyPr/>
                    <a:lstStyle/>
                    <a:p>
                      <a:r>
                        <a:rPr sz="1400" b="0">
                          <a:solidFill>
                            <a:srgbClr val="E8EEFA"/>
                          </a:solidFill>
                          <a:latin typeface="Segoe UI"/>
                        </a:rPr>
                        <a:t>Spekulyativ dekodlash</a:t>
                      </a:r>
                    </a:p>
                  </a:txBody>
                  <a:tcPr>
                    <a:solidFill>
                      <a:srgbClr val="161F40"/>
                    </a:solidFill>
                  </a:tcPr>
                </a:tc>
                <a:tc>
                  <a:txBody>
                    <a:bodyPr/>
                    <a:lstStyle/>
                    <a:p>
                      <a:r>
                        <a:rPr sz="1400" b="0">
                          <a:solidFill>
                            <a:srgbClr val="E8EEFA"/>
                          </a:solidFill>
                          <a:latin typeface="Segoe UI"/>
                        </a:rPr>
                        <a:t>Decode kechikishi</a:t>
                      </a:r>
                    </a:p>
                  </a:txBody>
                  <a:tcPr>
                    <a:solidFill>
                      <a:srgbClr val="161F40"/>
                    </a:solidFill>
                  </a:tcPr>
                </a:tc>
                <a:tc>
                  <a:txBody>
                    <a:bodyPr/>
                    <a:lstStyle/>
                    <a:p>
                      <a:r>
                        <a:rPr sz="1400" b="0">
                          <a:solidFill>
                            <a:srgbClr val="E8EEFA"/>
                          </a:solidFill>
                          <a:latin typeface="Segoe UI"/>
                        </a:rPr>
                        <a:t>Qoralama + parallel tekshiruv</a:t>
                      </a:r>
                    </a:p>
                  </a:txBody>
                  <a:tcPr>
                    <a:solidFill>
                      <a:srgbClr val="161F40"/>
                    </a:solidFill>
                  </a:tcPr>
                </a:tc>
                <a:tc>
                  <a:txBody>
                    <a:bodyPr/>
                    <a:lstStyle/>
                    <a:p>
                      <a:r>
                        <a:rPr sz="1400" b="0">
                          <a:solidFill>
                            <a:srgbClr val="E8EEFA"/>
                          </a:solidFill>
                          <a:latin typeface="Segoe UI"/>
                        </a:rPr>
                        <a:t>2–3× tok/s</a:t>
                      </a:r>
                    </a:p>
                  </a:txBody>
                  <a:tcPr>
                    <a:solidFill>
                      <a:srgbClr val="161F40"/>
                    </a:solidFill>
                  </a:tcPr>
                </a:tc>
              </a:tr>
              <a:tr h="520000">
                <a:tc>
                  <a:txBody>
                    <a:bodyPr/>
                    <a:lstStyle/>
                    <a:p>
                      <a:r>
                        <a:rPr sz="1400" b="0">
                          <a:solidFill>
                            <a:srgbClr val="E8EEFA"/>
                          </a:solidFill>
                          <a:latin typeface="Segoe UI"/>
                        </a:rPr>
                        <a:t>INT4/FP8 kvantlash</a:t>
                      </a:r>
                    </a:p>
                  </a:txBody>
                  <a:tcPr>
                    <a:solidFill>
                      <a:srgbClr val="111834"/>
                    </a:solidFill>
                  </a:tcPr>
                </a:tc>
                <a:tc>
                  <a:txBody>
                    <a:bodyPr/>
                    <a:lstStyle/>
                    <a:p>
                      <a:r>
                        <a:rPr sz="1400" b="0">
                          <a:solidFill>
                            <a:srgbClr val="E8EEFA"/>
                          </a:solidFill>
                          <a:latin typeface="Segoe UI"/>
                        </a:rPr>
                        <a:t>Xotira, decode tezligi</a:t>
                      </a:r>
                    </a:p>
                  </a:txBody>
                  <a:tcPr>
                    <a:solidFill>
                      <a:srgbClr val="111834"/>
                    </a:solidFill>
                  </a:tcPr>
                </a:tc>
                <a:tc>
                  <a:txBody>
                    <a:bodyPr/>
                    <a:lstStyle/>
                    <a:p>
                      <a:r>
                        <a:rPr sz="1400" b="0">
                          <a:solidFill>
                            <a:srgbClr val="E8EEFA"/>
                          </a:solidFill>
                          <a:latin typeface="Segoe UI"/>
                        </a:rPr>
                        <a:t>Kam bayt o'qish</a:t>
                      </a:r>
                    </a:p>
                  </a:txBody>
                  <a:tcPr>
                    <a:solidFill>
                      <a:srgbClr val="111834"/>
                    </a:solidFill>
                  </a:tcPr>
                </a:tc>
                <a:tc>
                  <a:txBody>
                    <a:bodyPr/>
                    <a:lstStyle/>
                    <a:p>
                      <a:r>
                        <a:rPr sz="1400" b="0">
                          <a:solidFill>
                            <a:srgbClr val="E8EEFA"/>
                          </a:solidFill>
                          <a:latin typeface="Segoe UI"/>
                        </a:rPr>
                        <a:t>2–4× xotira, sifat −0…2 %</a:t>
                      </a:r>
                    </a:p>
                  </a:txBody>
                  <a:tcPr>
                    <a:solidFill>
                      <a:srgbClr val="111834"/>
                    </a:solidFill>
                  </a:tcPr>
                </a:tc>
              </a:tr>
              <a:tr h="520000">
                <a:tc>
                  <a:txBody>
                    <a:bodyPr/>
                    <a:lstStyle/>
                    <a:p>
                      <a:r>
                        <a:rPr sz="1400" b="0">
                          <a:solidFill>
                            <a:srgbClr val="E8EEFA"/>
                          </a:solidFill>
                          <a:latin typeface="Segoe UI"/>
                        </a:rPr>
                        <a:t>GQA / MQA</a:t>
                      </a:r>
                    </a:p>
                  </a:txBody>
                  <a:tcPr>
                    <a:solidFill>
                      <a:srgbClr val="161F40"/>
                    </a:solidFill>
                  </a:tcPr>
                </a:tc>
                <a:tc>
                  <a:txBody>
                    <a:bodyPr/>
                    <a:lstStyle/>
                    <a:p>
                      <a:r>
                        <a:rPr sz="1400" b="0">
                          <a:solidFill>
                            <a:srgbClr val="E8EEFA"/>
                          </a:solidFill>
                          <a:latin typeface="Segoe UI"/>
                        </a:rPr>
                        <a:t>KV-kesh hajmi</a:t>
                      </a:r>
                    </a:p>
                  </a:txBody>
                  <a:tcPr>
                    <a:solidFill>
                      <a:srgbClr val="161F40"/>
                    </a:solidFill>
                  </a:tcPr>
                </a:tc>
                <a:tc>
                  <a:txBody>
                    <a:bodyPr/>
                    <a:lstStyle/>
                    <a:p>
                      <a:r>
                        <a:rPr sz="1400" b="0">
                          <a:solidFill>
                            <a:srgbClr val="E8EEFA"/>
                          </a:solidFill>
                          <a:latin typeface="Segoe UI"/>
                        </a:rPr>
                        <a:t>K/V boshlarni bo'lishish</a:t>
                      </a:r>
                    </a:p>
                  </a:txBody>
                  <a:tcPr>
                    <a:solidFill>
                      <a:srgbClr val="161F40"/>
                    </a:solidFill>
                  </a:tcPr>
                </a:tc>
                <a:tc>
                  <a:txBody>
                    <a:bodyPr/>
                    <a:lstStyle/>
                    <a:p>
                      <a:r>
                        <a:rPr sz="1400" b="0">
                          <a:solidFill>
                            <a:srgbClr val="E8EEFA"/>
                          </a:solidFill>
                          <a:latin typeface="Segoe UI"/>
                        </a:rPr>
                        <a:t>4–8× kichik kesh</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e6bb8841003cde62.jpg"/>
          <p:cNvPicPr>
            <a:picLocks noChangeAspect="1"/>
          </p:cNvPicPr>
          <p:nvPr/>
        </p:nvPicPr>
        <p:blipFill>
          <a:blip r:embed="rId2"/>
          <a:srcRect l="14449" r="14449"/>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BalticServers.com · Wikimedia Commons · CC BY-SA 3.0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Retrieval-Augmented Generation va vektor bazalar</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Retrieval-Augmented Generation va vektor bazalar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3a1192fc4d4728d0.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Daniel Lu (User:dllu)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531520"/>
            <a:ext cx="50000" cy="25169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RAG (Lewis va boshq., 2020) tizimi ikki bosqichda ishlaydi.</a:t>
            </a:r>
          </a:p>
          <a:p>
            <a:pPr>
              <a:spcBef>
                <a:spcPts val="400"/>
              </a:spcBef>
            </a:pPr>
            <a:r>
              <a:rPr sz="1400">
                <a:solidFill>
                  <a:srgbClr val="AEBBD9"/>
                </a:solidFill>
                <a:latin typeface="Segoe UI"/>
              </a:rPr>
              <a:t>Tayyorgarlik (indekslash): hujjatlar bo'laklarga (chunk, odatda 200–1000 token, qisman ustma-ust) bo'linadi, har bo'lak embedding modeli orqali zich vektorga (384–1024 o'lcham) aylantiriladi va vektor indeksga yoziladi. So'rov vaqtida: foydalanuvchi savoli xuddi shu model bilan vektorga aylantiriladi, indeksdan eng yaqin k bo'lak (odatda kosinus o'xshashligi bo'yicha) topiladi, ular promptga kontekst sifatida qo'shiladi va LLM javob yaratadi.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Retrieval-Augmented Generation va vektor bazalar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9b19da2456b6c37.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Rsparks3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959476"/>
            <a:ext cx="50000" cy="169552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0723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Afzalliklari: modelni qayta o'qitmasdan bilimni yangilash, javobni manbaga bog'lash (iqtibos), hallutsinatsiyani kamaytirish, maxfiy hujjatlarni model og'irliklariga kiritmaslik.</a:t>
            </a:r>
          </a:p>
          <a:p>
            <a:pPr>
              <a:spcBef>
                <a:spcPts val="400"/>
              </a:spcBef>
            </a:pPr>
            <a:r>
              <a:rPr sz="1300">
                <a:solidFill>
                  <a:srgbClr val="AEBBD9"/>
                </a:solidFill>
                <a:latin typeface="Segoe UI"/>
              </a:rPr>
              <a:t>Sifat zanjirning eng zaif bo'g'ini bilan belgilanadi: yomon bo'laklash yoki mos kelmaydigan embedding modeli har qanday LLM'ni foydasiz qiladi.</a:t>
            </a:r>
          </a:p>
        </p:txBody>
      </p:sp>
      <p:sp>
        <p:nvSpPr>
          <p:cNvPr id="31" name="Rounded Rectangle 30"/>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69552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57276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Vektor qidiruvning markaziy masalasi — N ta d-o'lchamli vektor orasidan so'rovga eng yaqin k tasini tez topish.</a:t>
            </a:r>
          </a:p>
          <a:p>
            <a:pPr>
              <a:spcBef>
                <a:spcPts val="400"/>
              </a:spcBef>
            </a:pPr>
            <a:r>
              <a:rPr sz="1300">
                <a:solidFill>
                  <a:srgbClr val="AEBBD9"/>
                </a:solidFill>
                <a:latin typeface="Segoe UI"/>
              </a:rPr>
              <a:t>To'liq qidiruv (Flat, brute force) O(N · d) — 1 million × 768 o'lcham uchun GPU'da bir necha millisekund, lekin 100 million uchun sekin va 300 GB xotira. Taxminiy eng yaqin qo'shni (approximate nearest neighbor, ANN) indekslari aniqlikning bir qismini tezlik va xotiraga almashtiradi.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Retrieval-Augmented Generation va vektor bazalar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6a27f4734101be8b.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Lawrence Systems · Wikimedia Commons · CC BY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32104"/>
            <a:ext cx="50000" cy="231579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IVF (inverted file): vektorlar k-means bilan n_list klasterga bo'linadi, so'rov vaqtida faqat n_probe eng yaqin klaster tekshiriladi — tezlik 10–100 marta, recall n_probe bilan sozlanadi.</a:t>
            </a:r>
          </a:p>
          <a:p>
            <a:pPr>
              <a:spcBef>
                <a:spcPts val="400"/>
              </a:spcBef>
            </a:pPr>
            <a:r>
              <a:rPr sz="1600">
                <a:solidFill>
                  <a:srgbClr val="AEBBD9"/>
                </a:solidFill>
                <a:latin typeface="Segoe UI"/>
              </a:rPr>
              <a:t>HNSW (hierarchical navigable small world): ko'p qatlamli graf, qidiruv yuqori qatlamdan pastga «yo'l topib» tushadi — eng yuqori recall/tezlik nisbati, lekin xotira hajmi katta (vektor + graf qirralari) va qurish sekin.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Retrieval-Augmented Generation va vektor bazalar</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f710a510437981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Chris Rycroft from Cambridge, Massachusetts, United States · Wikimedia Commons · CC BY 2.0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531520"/>
            <a:ext cx="50000" cy="2516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3" name="TextBox 32"/>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Vektor baza (vector database) — indeks ustiga metama'lumot filtrlash, CRUD, persistentlik, replikatsiya va API qo'shadigan tizim.</a:t>
            </a:r>
          </a:p>
          <a:p>
            <a:pPr>
              <a:spcBef>
                <a:spcPts val="400"/>
              </a:spcBef>
            </a:pPr>
            <a:r>
              <a:rPr sz="1400">
                <a:solidFill>
                  <a:srgbClr val="AEBBD9"/>
                </a:solidFill>
                <a:latin typeface="Segoe UI"/>
              </a:rPr>
              <a:t>FAISS (Meta) — kutubxona, baza emas: eng tez va moslashuvchan, GPU qo'llab-quvvatlaydi, lekin saqlash va filtrlashni o'zingiz yozasiz. Chroma — yengil, Python'ga joylashtiriladigan, prototiplar uchun qulay (ichida HNSW). Milvus, Qdrant, Weaviate — taqsimlangan, ishlab chiqarish darajasidagi serverlar; pgvector — PostgreSQL kengaytmasi, mavjud relyatsion ma'lumot bilan birga saqlash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Retrieval-Augmented Generation va vektor bazalar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48868"/>
            <a:ext cx="50000" cy="2282264"/>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0" name="TextBox 29"/>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Tanlov mezonlari: vektorlar soni (10⁶ — har qanday, 10⁹ — faqat taqsimlangan), filtrlash murakkabligi, yangilanish chastotasi, mavjud infratuzilma.</a:t>
            </a:r>
          </a:p>
          <a:p>
            <a:pPr>
              <a:spcBef>
                <a:spcPts val="400"/>
              </a:spcBef>
            </a:pPr>
            <a:r>
              <a:rPr sz="1400">
                <a:solidFill>
                  <a:srgbClr val="AEBBD9"/>
                </a:solidFill>
                <a:latin typeface="Segoe UI"/>
              </a:rPr>
              <a:t>Sifatni oshirish usullari: gibrid qidiruv (zich vektor + BM25 kalit so'z, natijalar RRF bilan birlashtiriladi), qayta saralash (cross-encoder reranker, masalan bge-reranker, top-50 ni top-5 ga qisqartiradi, aniqlikni sezilarli oshiradi, lekin har juftlik uchun model chaqiruvi), so'rovni qayta yozish, ierarxik bo'laklash.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Retrieval-Augmented Generation va vektor bazalar</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graphicFrame>
        <p:nvGraphicFramePr>
          <p:cNvPr id="21" name="Table 20"/>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400" b="1">
                          <a:solidFill>
                            <a:srgbClr val="22D3EE"/>
                          </a:solidFill>
                          <a:latin typeface="Segoe UI"/>
                        </a:rPr>
                        <a:t>Indeks</a:t>
                      </a:r>
                    </a:p>
                  </a:txBody>
                  <a:tcPr>
                    <a:solidFill>
                      <a:srgbClr val="1C2755"/>
                    </a:solidFill>
                  </a:tcPr>
                </a:tc>
                <a:tc>
                  <a:txBody>
                    <a:bodyPr/>
                    <a:lstStyle/>
                    <a:p>
                      <a:r>
                        <a:rPr sz="1400" b="1">
                          <a:solidFill>
                            <a:srgbClr val="22D3EE"/>
                          </a:solidFill>
                          <a:latin typeface="Segoe UI"/>
                        </a:rPr>
                        <a:t>Qidiruv vaqti (1M, d=768, taxminiy)</a:t>
                      </a:r>
                    </a:p>
                  </a:txBody>
                  <a:tcPr>
                    <a:solidFill>
                      <a:srgbClr val="1C2755"/>
                    </a:solidFill>
                  </a:tcPr>
                </a:tc>
                <a:tc>
                  <a:txBody>
                    <a:bodyPr/>
                    <a:lstStyle/>
                    <a:p>
                      <a:r>
                        <a:rPr sz="1400" b="1">
                          <a:solidFill>
                            <a:srgbClr val="22D3EE"/>
                          </a:solidFill>
                          <a:latin typeface="Segoe UI"/>
                        </a:rPr>
                        <a:t>Xotira</a:t>
                      </a:r>
                    </a:p>
                  </a:txBody>
                  <a:tcPr>
                    <a:solidFill>
                      <a:srgbClr val="1C2755"/>
                    </a:solidFill>
                  </a:tcPr>
                </a:tc>
                <a:tc>
                  <a:txBody>
                    <a:bodyPr/>
                    <a:lstStyle/>
                    <a:p>
                      <a:r>
                        <a:rPr sz="1400" b="1">
                          <a:solidFill>
                            <a:srgbClr val="22D3EE"/>
                          </a:solidFill>
                          <a:latin typeface="Segoe UI"/>
                        </a:rPr>
                        <a:t>Recall@10</a:t>
                      </a:r>
                    </a:p>
                  </a:txBody>
                  <a:tcPr>
                    <a:solidFill>
                      <a:srgbClr val="1C2755"/>
                    </a:solidFill>
                  </a:tcPr>
                </a:tc>
                <a:tc>
                  <a:txBody>
                    <a:bodyPr/>
                    <a:lstStyle/>
                    <a:p>
                      <a:r>
                        <a:rPr sz="1400" b="1">
                          <a:solidFill>
                            <a:srgbClr val="22D3EE"/>
                          </a:solidFill>
                          <a:latin typeface="Segoe UI"/>
                        </a:rPr>
                        <a:t>Qurish</a:t>
                      </a:r>
                    </a:p>
                  </a:txBody>
                  <a:tcPr>
                    <a:solidFill>
                      <a:srgbClr val="1C2755"/>
                    </a:solidFill>
                  </a:tcPr>
                </a:tc>
              </a:tr>
              <a:tr h="520000">
                <a:tc>
                  <a:txBody>
                    <a:bodyPr/>
                    <a:lstStyle/>
                    <a:p>
                      <a:r>
                        <a:rPr sz="1400" b="0">
                          <a:solidFill>
                            <a:srgbClr val="E8EEFA"/>
                          </a:solidFill>
                          <a:latin typeface="Segoe UI"/>
                        </a:rPr>
                        <a:t>Flat (CPU)</a:t>
                      </a:r>
                    </a:p>
                  </a:txBody>
                  <a:tcPr>
                    <a:solidFill>
                      <a:srgbClr val="111834"/>
                    </a:solidFill>
                  </a:tcPr>
                </a:tc>
                <a:tc>
                  <a:txBody>
                    <a:bodyPr/>
                    <a:lstStyle/>
                    <a:p>
                      <a:r>
                        <a:rPr sz="1400" b="0">
                          <a:solidFill>
                            <a:srgbClr val="E8EEFA"/>
                          </a:solidFill>
                          <a:latin typeface="Segoe UI"/>
                        </a:rPr>
                        <a:t>50–150 ms</a:t>
                      </a:r>
                    </a:p>
                  </a:txBody>
                  <a:tcPr>
                    <a:solidFill>
                      <a:srgbClr val="111834"/>
                    </a:solidFill>
                  </a:tcPr>
                </a:tc>
                <a:tc>
                  <a:txBody>
                    <a:bodyPr/>
                    <a:lstStyle/>
                    <a:p>
                      <a:r>
                        <a:rPr sz="1400" b="0">
                          <a:solidFill>
                            <a:srgbClr val="E8EEFA"/>
                          </a:solidFill>
                          <a:latin typeface="Segoe UI"/>
                        </a:rPr>
                        <a:t>3 GB</a:t>
                      </a:r>
                    </a:p>
                  </a:txBody>
                  <a:tcPr>
                    <a:solidFill>
                      <a:srgbClr val="111834"/>
                    </a:solidFill>
                  </a:tcPr>
                </a:tc>
                <a:tc>
                  <a:txBody>
                    <a:bodyPr/>
                    <a:lstStyle/>
                    <a:p>
                      <a:r>
                        <a:rPr sz="1400" b="0">
                          <a:solidFill>
                            <a:srgbClr val="E8EEFA"/>
                          </a:solidFill>
                          <a:latin typeface="Segoe UI"/>
                        </a:rPr>
                        <a:t>100 %</a:t>
                      </a:r>
                    </a:p>
                  </a:txBody>
                  <a:tcPr>
                    <a:solidFill>
                      <a:srgbClr val="111834"/>
                    </a:solidFill>
                  </a:tcPr>
                </a:tc>
                <a:tc>
                  <a:txBody>
                    <a:bodyPr/>
                    <a:lstStyle/>
                    <a:p>
                      <a:r>
                        <a:rPr sz="1400" b="0">
                          <a:solidFill>
                            <a:srgbClr val="E8EEFA"/>
                          </a:solidFill>
                          <a:latin typeface="Segoe UI"/>
                        </a:rPr>
                        <a:t>0</a:t>
                      </a:r>
                    </a:p>
                  </a:txBody>
                  <a:tcPr>
                    <a:solidFill>
                      <a:srgbClr val="111834"/>
                    </a:solidFill>
                  </a:tcPr>
                </a:tc>
              </a:tr>
              <a:tr h="520000">
                <a:tc>
                  <a:txBody>
                    <a:bodyPr/>
                    <a:lstStyle/>
                    <a:p>
                      <a:r>
                        <a:rPr sz="1400" b="0">
                          <a:solidFill>
                            <a:srgbClr val="E8EEFA"/>
                          </a:solidFill>
                          <a:latin typeface="Segoe UI"/>
                        </a:rPr>
                        <a:t>Flat (GPU)</a:t>
                      </a:r>
                    </a:p>
                  </a:txBody>
                  <a:tcPr>
                    <a:solidFill>
                      <a:srgbClr val="161F40"/>
                    </a:solidFill>
                  </a:tcPr>
                </a:tc>
                <a:tc>
                  <a:txBody>
                    <a:bodyPr/>
                    <a:lstStyle/>
                    <a:p>
                      <a:r>
                        <a:rPr sz="1400" b="0">
                          <a:solidFill>
                            <a:srgbClr val="E8EEFA"/>
                          </a:solidFill>
                          <a:latin typeface="Segoe UI"/>
                        </a:rPr>
                        <a:t>1–3 ms</a:t>
                      </a:r>
                    </a:p>
                  </a:txBody>
                  <a:tcPr>
                    <a:solidFill>
                      <a:srgbClr val="161F40"/>
                    </a:solidFill>
                  </a:tcPr>
                </a:tc>
                <a:tc>
                  <a:txBody>
                    <a:bodyPr/>
                    <a:lstStyle/>
                    <a:p>
                      <a:r>
                        <a:rPr sz="1400" b="0">
                          <a:solidFill>
                            <a:srgbClr val="E8EEFA"/>
                          </a:solidFill>
                          <a:latin typeface="Segoe UI"/>
                        </a:rPr>
                        <a:t>3 GB</a:t>
                      </a:r>
                    </a:p>
                  </a:txBody>
                  <a:tcPr>
                    <a:solidFill>
                      <a:srgbClr val="161F40"/>
                    </a:solidFill>
                  </a:tcPr>
                </a:tc>
                <a:tc>
                  <a:txBody>
                    <a:bodyPr/>
                    <a:lstStyle/>
                    <a:p>
                      <a:r>
                        <a:rPr sz="1400" b="0">
                          <a:solidFill>
                            <a:srgbClr val="E8EEFA"/>
                          </a:solidFill>
                          <a:latin typeface="Segoe UI"/>
                        </a:rPr>
                        <a:t>100 %</a:t>
                      </a:r>
                    </a:p>
                  </a:txBody>
                  <a:tcPr>
                    <a:solidFill>
                      <a:srgbClr val="161F40"/>
                    </a:solidFill>
                  </a:tcPr>
                </a:tc>
                <a:tc>
                  <a:txBody>
                    <a:bodyPr/>
                    <a:lstStyle/>
                    <a:p>
                      <a:r>
                        <a:rPr sz="1400" b="0">
                          <a:solidFill>
                            <a:srgbClr val="E8EEFA"/>
                          </a:solidFill>
                          <a:latin typeface="Segoe UI"/>
                        </a:rPr>
                        <a:t>0</a:t>
                      </a:r>
                    </a:p>
                  </a:txBody>
                  <a:tcPr>
                    <a:solidFill>
                      <a:srgbClr val="161F40"/>
                    </a:solidFill>
                  </a:tcPr>
                </a:tc>
              </a:tr>
              <a:tr h="520000">
                <a:tc>
                  <a:txBody>
                    <a:bodyPr/>
                    <a:lstStyle/>
                    <a:p>
                      <a:r>
                        <a:rPr sz="1400" b="0">
                          <a:solidFill>
                            <a:srgbClr val="E8EEFA"/>
                          </a:solidFill>
                          <a:latin typeface="Segoe UI"/>
                        </a:rPr>
                        <a:t>IVF1024, nprobe=16</a:t>
                      </a:r>
                    </a:p>
                  </a:txBody>
                  <a:tcPr>
                    <a:solidFill>
                      <a:srgbClr val="111834"/>
                    </a:solidFill>
                  </a:tcPr>
                </a:tc>
                <a:tc>
                  <a:txBody>
                    <a:bodyPr/>
                    <a:lstStyle/>
                    <a:p>
                      <a:r>
                        <a:rPr sz="1400" b="0">
                          <a:solidFill>
                            <a:srgbClr val="E8EEFA"/>
                          </a:solidFill>
                          <a:latin typeface="Segoe UI"/>
                        </a:rPr>
                        <a:t>2–5 ms</a:t>
                      </a:r>
                    </a:p>
                  </a:txBody>
                  <a:tcPr>
                    <a:solidFill>
                      <a:srgbClr val="111834"/>
                    </a:solidFill>
                  </a:tcPr>
                </a:tc>
                <a:tc>
                  <a:txBody>
                    <a:bodyPr/>
                    <a:lstStyle/>
                    <a:p>
                      <a:r>
                        <a:rPr sz="1400" b="0">
                          <a:solidFill>
                            <a:srgbClr val="E8EEFA"/>
                          </a:solidFill>
                          <a:latin typeface="Segoe UI"/>
                        </a:rPr>
                        <a:t>3 GB</a:t>
                      </a:r>
                    </a:p>
                  </a:txBody>
                  <a:tcPr>
                    <a:solidFill>
                      <a:srgbClr val="111834"/>
                    </a:solidFill>
                  </a:tcPr>
                </a:tc>
                <a:tc>
                  <a:txBody>
                    <a:bodyPr/>
                    <a:lstStyle/>
                    <a:p>
                      <a:r>
                        <a:rPr sz="1400" b="0">
                          <a:solidFill>
                            <a:srgbClr val="E8EEFA"/>
                          </a:solidFill>
                          <a:latin typeface="Segoe UI"/>
                        </a:rPr>
                        <a:t>90–95 %</a:t>
                      </a:r>
                    </a:p>
                  </a:txBody>
                  <a:tcPr>
                    <a:solidFill>
                      <a:srgbClr val="111834"/>
                    </a:solidFill>
                  </a:tcPr>
                </a:tc>
                <a:tc>
                  <a:txBody>
                    <a:bodyPr/>
                    <a:lstStyle/>
                    <a:p>
                      <a:r>
                        <a:rPr sz="1400" b="0">
                          <a:solidFill>
                            <a:srgbClr val="E8EEFA"/>
                          </a:solidFill>
                          <a:latin typeface="Segoe UI"/>
                        </a:rPr>
                        <a:t>daqiqalar</a:t>
                      </a:r>
                    </a:p>
                  </a:txBody>
                  <a:tcPr>
                    <a:solidFill>
                      <a:srgbClr val="111834"/>
                    </a:solidFill>
                  </a:tcPr>
                </a:tc>
              </a:tr>
              <a:tr h="520000">
                <a:tc>
                  <a:txBody>
                    <a:bodyPr/>
                    <a:lstStyle/>
                    <a:p>
                      <a:r>
                        <a:rPr sz="1400" b="0">
                          <a:solidFill>
                            <a:srgbClr val="E8EEFA"/>
                          </a:solidFill>
                          <a:latin typeface="Segoe UI"/>
                        </a:rPr>
                        <a:t>HNSW32, ef=64</a:t>
                      </a:r>
                    </a:p>
                  </a:txBody>
                  <a:tcPr>
                    <a:solidFill>
                      <a:srgbClr val="161F40"/>
                    </a:solidFill>
                  </a:tcPr>
                </a:tc>
                <a:tc>
                  <a:txBody>
                    <a:bodyPr/>
                    <a:lstStyle/>
                    <a:p>
                      <a:r>
                        <a:rPr sz="1400" b="0">
                          <a:solidFill>
                            <a:srgbClr val="E8EEFA"/>
                          </a:solidFill>
                          <a:latin typeface="Segoe UI"/>
                        </a:rPr>
                        <a:t>0,3–1 ms</a:t>
                      </a:r>
                    </a:p>
                  </a:txBody>
                  <a:tcPr>
                    <a:solidFill>
                      <a:srgbClr val="161F40"/>
                    </a:solidFill>
                  </a:tcPr>
                </a:tc>
                <a:tc>
                  <a:txBody>
                    <a:bodyPr/>
                    <a:lstStyle/>
                    <a:p>
                      <a:r>
                        <a:rPr sz="1400" b="0">
                          <a:solidFill>
                            <a:srgbClr val="E8EEFA"/>
                          </a:solidFill>
                          <a:latin typeface="Segoe UI"/>
                        </a:rPr>
                        <a:t>4–5 GB</a:t>
                      </a:r>
                    </a:p>
                  </a:txBody>
                  <a:tcPr>
                    <a:solidFill>
                      <a:srgbClr val="161F40"/>
                    </a:solidFill>
                  </a:tcPr>
                </a:tc>
                <a:tc>
                  <a:txBody>
                    <a:bodyPr/>
                    <a:lstStyle/>
                    <a:p>
                      <a:r>
                        <a:rPr sz="1400" b="0">
                          <a:solidFill>
                            <a:srgbClr val="E8EEFA"/>
                          </a:solidFill>
                          <a:latin typeface="Segoe UI"/>
                        </a:rPr>
                        <a:t>97–99 %</a:t>
                      </a:r>
                    </a:p>
                  </a:txBody>
                  <a:tcPr>
                    <a:solidFill>
                      <a:srgbClr val="161F40"/>
                    </a:solidFill>
                  </a:tcPr>
                </a:tc>
                <a:tc>
                  <a:txBody>
                    <a:bodyPr/>
                    <a:lstStyle/>
                    <a:p>
                      <a:r>
                        <a:rPr sz="1400" b="0">
                          <a:solidFill>
                            <a:srgbClr val="E8EEFA"/>
                          </a:solidFill>
                          <a:latin typeface="Segoe UI"/>
                        </a:rPr>
                        <a:t>10–30 daqiqa</a:t>
                      </a:r>
                    </a:p>
                  </a:txBody>
                  <a:tcPr>
                    <a:solidFill>
                      <a:srgbClr val="161F40"/>
                    </a:solidFill>
                  </a:tcPr>
                </a:tc>
              </a:tr>
              <a:tr h="520000">
                <a:tc>
                  <a:txBody>
                    <a:bodyPr/>
                    <a:lstStyle/>
                    <a:p>
                      <a:r>
                        <a:rPr sz="1400" b="0">
                          <a:solidFill>
                            <a:srgbClr val="E8EEFA"/>
                          </a:solidFill>
                          <a:latin typeface="Segoe UI"/>
                        </a:rPr>
                        <a:t>IVF1024,PQ64</a:t>
                      </a:r>
                    </a:p>
                  </a:txBody>
                  <a:tcPr>
                    <a:solidFill>
                      <a:srgbClr val="111834"/>
                    </a:solidFill>
                  </a:tcPr>
                </a:tc>
                <a:tc>
                  <a:txBody>
                    <a:bodyPr/>
                    <a:lstStyle/>
                    <a:p>
                      <a:r>
                        <a:rPr sz="1400" b="0">
                          <a:solidFill>
                            <a:srgbClr val="E8EEFA"/>
                          </a:solidFill>
                          <a:latin typeface="Segoe UI"/>
                        </a:rPr>
                        <a:t>1–3 ms</a:t>
                      </a:r>
                    </a:p>
                  </a:txBody>
                  <a:tcPr>
                    <a:solidFill>
                      <a:srgbClr val="111834"/>
                    </a:solidFill>
                  </a:tcPr>
                </a:tc>
                <a:tc>
                  <a:txBody>
                    <a:bodyPr/>
                    <a:lstStyle/>
                    <a:p>
                      <a:r>
                        <a:rPr sz="1400" b="0">
                          <a:solidFill>
                            <a:srgbClr val="E8EEFA"/>
                          </a:solidFill>
                          <a:latin typeface="Segoe UI"/>
                        </a:rPr>
                        <a:t>0,1 GB</a:t>
                      </a:r>
                    </a:p>
                  </a:txBody>
                  <a:tcPr>
                    <a:solidFill>
                      <a:srgbClr val="111834"/>
                    </a:solidFill>
                  </a:tcPr>
                </a:tc>
                <a:tc>
                  <a:txBody>
                    <a:bodyPr/>
                    <a:lstStyle/>
                    <a:p>
                      <a:r>
                        <a:rPr sz="1400" b="0">
                          <a:solidFill>
                            <a:srgbClr val="E8EEFA"/>
                          </a:solidFill>
                          <a:latin typeface="Segoe UI"/>
                        </a:rPr>
                        <a:t>80–90 %</a:t>
                      </a:r>
                    </a:p>
                  </a:txBody>
                  <a:tcPr>
                    <a:solidFill>
                      <a:srgbClr val="111834"/>
                    </a:solidFill>
                  </a:tcPr>
                </a:tc>
                <a:tc>
                  <a:txBody>
                    <a:bodyPr/>
                    <a:lstStyle/>
                    <a:p>
                      <a:r>
                        <a:rPr sz="1400" b="0">
                          <a:solidFill>
                            <a:srgbClr val="E8EEFA"/>
                          </a:solidFill>
                          <a:latin typeface="Segoe UI"/>
                        </a:rPr>
                        <a:t>daqiqalar</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wipe(left)">
                                      <p:cBhvr>
                                        <p:cTn id="16" dur="8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163d2bd924bd2a80.jpg"/>
          <p:cNvPicPr>
            <a:picLocks noChangeAspect="1"/>
          </p:cNvPicPr>
          <p:nvPr/>
        </p:nvPicPr>
        <p:blipFill>
          <a:blip r:embed="rId2"/>
          <a:srcRect t="3302" b="3302"/>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Nicholas-halodi · Wikimedia Commons · CC BY-SA 4.0</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Sun'iy intellekt agentlari</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agentlari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5e64ed9f65e6a4ba.jpg"/>
          <p:cNvPicPr>
            <a:picLocks noChangeAspect="1"/>
          </p:cNvPicPr>
          <p:nvPr/>
        </p:nvPicPr>
        <p:blipFill>
          <a:blip r:embed="rId2"/>
          <a:srcRect l="23236" r="23236"/>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Maurizio Pesce from Milan, Italia · Wikimedia Commons · CC BY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Agent — LLM'ni qaror qabul qiluvchi «miya» sifatida ishlatuvchi, vositalar (tools) bilan muhit bilan o'zaro ta'sir qiluvchi va ko'p qadamli vazifalarni bajaruvchi tizim.</a:t>
            </a:r>
          </a:p>
          <a:p>
            <a:pPr>
              <a:spcBef>
                <a:spcPts val="400"/>
              </a:spcBef>
            </a:pPr>
            <a:r>
              <a:rPr sz="1400">
                <a:solidFill>
                  <a:srgbClr val="AEBBD9"/>
                </a:solidFill>
                <a:latin typeface="Segoe UI"/>
              </a:rPr>
              <a:t>ReAct naqshi (reasoning + acting) asosiy sikl: model fikrlaydi, vosita chaqiruvini tuziladigan formatda (JSON) chiqaradi, tizim vositani bajaradi (qidiruv, kod, SQL, API), natija promptga qaytariladi, sikl takrorlanadi.</a:t>
            </a:r>
          </a:p>
        </p:txBody>
      </p:sp>
      <p:sp>
        <p:nvSpPr>
          <p:cNvPr id="30" name="Rounded Rectangle 29"/>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Zamonaviy modellar vosita chaqirishga maxsus o'qitilgan (function calling); Model Context Protocol (MCP) kabi standartlar vositalarni tavsiflash va ulashni birxillashtiradi.</a:t>
            </a:r>
          </a:p>
          <a:p>
            <a:pPr>
              <a:spcBef>
                <a:spcPts val="400"/>
              </a:spcBef>
            </a:pPr>
            <a:r>
              <a:rPr sz="1400">
                <a:solidFill>
                  <a:srgbClr val="AEBBD9"/>
                </a:solidFill>
                <a:latin typeface="Segoe UI"/>
              </a:rPr>
              <a:t>Agent xotirasi qisqa muddatli (kontekst oynasi) va uzoq muddatli (vektor baza — RAG agentning xotirasi bo'ladi) qismlardan iborat.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agentlari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3a1192fc4d4728d0.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Daniel Lu (User:dllu) · Wikimedia Commons · CC BY-SA 4.0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766216"/>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8" name="TextBox 27"/>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Infratuzilma nuqtai nazaridan agentlar uch yangi talab qo'yadi.</a:t>
            </a:r>
          </a:p>
          <a:p>
            <a:pPr>
              <a:spcBef>
                <a:spcPts val="400"/>
              </a:spcBef>
            </a:pPr>
            <a:r>
              <a:rPr sz="1600">
                <a:solidFill>
                  <a:srgbClr val="AEBBD9"/>
                </a:solidFill>
                <a:latin typeface="Segoe UI"/>
              </a:rPr>
              <a:t>Birinchidan, kechikish zanjiri: bitta foydalanuvchi vazifasi 5–20 ta LLM chaqiruvi va vosita bajarilishidan iborat, umumiy vaqt o'nlab soniya; shuning uchun har chaqiruvning TTFT va prefiks keshlash hal qiluvchi, oqimli (streaming) javob va parallel vosita chaqiruvi zarur.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agentlari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9b19da2456b6c37.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Rsparks3 · Wikimedia Commons · CC0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48868"/>
            <a:ext cx="50000" cy="228226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9" name="TextBox 28"/>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Ikkinchidan, xavfsizlik: agent haqiqiy amallar bajaradi (fayl o'chirish, pul o'tkazish, xat yuborish), bilvosita prompt injection (M9) orqali uni aldash mumkin — vositalarga eng kam imtiyoz, sandbox (konteyner) ichida kod bajarish, qaytarib bo'lmaydigan…</a:t>
            </a:r>
          </a:p>
          <a:p>
            <a:pPr>
              <a:spcBef>
                <a:spcPts val="400"/>
              </a:spcBef>
            </a:pPr>
            <a:r>
              <a:rPr sz="1400">
                <a:solidFill>
                  <a:srgbClr val="AEBBD9"/>
                </a:solidFill>
                <a:latin typeface="Segoe UI"/>
              </a:rPr>
              <a:t>Uchinchidan, kuzatuv (observability): har qadam — prompt, javob, vosita kirish-chiqishi, token sarfi, kechikish — izlanadi (tracing, masalan OpenTelemetry asosida), aks holda nosozlikni topib bo'lmaydi va narxni nazorat qilib bo'lmaydi.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f54d972447804f97.jpg"/>
          <p:cNvPicPr>
            <a:picLocks noChangeAspect="1"/>
          </p:cNvPicPr>
          <p:nvPr/>
        </p:nvPicPr>
        <p:blipFill>
          <a:blip r:embed="rId2"/>
          <a:srcRect l="23274" r="23274"/>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Daniel Lu (User:dllu) · Wikimedia Commons · CC BY-SA 4.0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LLM uchun GPU klasterlari va yuqori unumdor infratuzilma</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LLM uchun GPU klasterlari va yuqori unumdor infratuzilma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6a27f4734101be8b.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Lawrence Systems · Wikimedia Commons · CC BY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443612"/>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523612"/>
            <a:ext cx="50000" cy="21313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38930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483612"/>
            <a:ext cx="5900000" cy="2211388"/>
          </a:xfrm>
          <a:prstGeom prst="rect">
            <a:avLst/>
          </a:prstGeom>
          <a:noFill/>
        </p:spPr>
        <p:txBody>
          <a:bodyPr wrap="square" anchor="ctr">
            <a:spAutoFit/>
          </a:bodyPr>
          <a:lstStyle/>
          <a:p>
            <a:r>
              <a:rPr sz="1400" b="1">
                <a:solidFill>
                  <a:srgbClr val="E8EEFA"/>
                </a:solidFill>
                <a:latin typeface="Segoe UI"/>
              </a:rPr>
              <a:t>LLM infratuzilmasini loyihalash to'rt resursni muvozanatlashdan boshlanadi: GPU xotirasi, hisoblash, tugunlar ichidagi va orasidagi tarmoq, saqlash.</a:t>
            </a:r>
          </a:p>
          <a:p>
            <a:pPr>
              <a:spcBef>
                <a:spcPts val="400"/>
              </a:spcBef>
            </a:pPr>
            <a:r>
              <a:rPr sz="1300">
                <a:solidFill>
                  <a:srgbClr val="AEBBD9"/>
                </a:solidFill>
                <a:latin typeface="Segoe UI"/>
              </a:rPr>
              <a:t>Xotira talabi inferens uchun: og'irliklar (P × bayt) + KV-kesh (foydalanuvchilar × kontekst × token boshiga KB) + faollashuvlar (5–10 %). 70B FP16: 140 GB og'irlik — 2 ta H100 80 GB'ga tensor parallelizm bilan sig'adi, lekin KV-kesh uchun joy qolmaydi; 4 ta H100 (320 GB) bilan 180 GB kesh → ≈ 70 ta 8K ketma-ketlik; FP8'da 70 GB og'irlik va 2 ta GPU amaliy minimal.</a:t>
            </a:r>
          </a:p>
        </p:txBody>
      </p:sp>
      <p:sp>
        <p:nvSpPr>
          <p:cNvPr id="32" name="Rounded Rectangle 31"/>
          <p:cNvSpPr/>
          <p:nvPr/>
        </p:nvSpPr>
        <p:spPr>
          <a:xfrm>
            <a:off x="550000" y="3845000"/>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213138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79069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2211388"/>
          </a:xfrm>
          <a:prstGeom prst="rect">
            <a:avLst/>
          </a:prstGeom>
          <a:noFill/>
        </p:spPr>
        <p:txBody>
          <a:bodyPr wrap="square" anchor="ctr">
            <a:spAutoFit/>
          </a:bodyPr>
          <a:lstStyle/>
          <a:p>
            <a:r>
              <a:rPr sz="1400" b="1">
                <a:solidFill>
                  <a:srgbClr val="E8EEFA"/>
                </a:solidFill>
                <a:latin typeface="Segoe UI"/>
              </a:rPr>
              <a:t>405B FP16: 810 GB — 8 ta H100 (640 GB) yetmaydi, FP8'da 405 GB — bitta 8-GPU tugun to'liq band.</a:t>
            </a:r>
          </a:p>
          <a:p>
            <a:pPr>
              <a:spcBef>
                <a:spcPts val="400"/>
              </a:spcBef>
            </a:pPr>
            <a:r>
              <a:rPr sz="1300">
                <a:solidFill>
                  <a:srgbClr val="AEBBD9"/>
                </a:solidFill>
                <a:latin typeface="Segoe UI"/>
              </a:rPr>
              <a:t>Tensor parallelizm tugun ichida qoladi, chunki har qatlamda all-reduce talab qiladi va NVLink (H100: 900 GB/s ikki tomonlama) kerak; PCIe Gen5 (128 GB/s) orqali tensor parallelizm 3–5 marta sekin.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LLM uchun GPU klasterlari va yuqori unumdor infratuzilma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f710a510437981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Chris Rycroft from Cambridge, Massachusetts, United States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607432"/>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43121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1567432"/>
            <a:ext cx="5900000" cy="2127568"/>
          </a:xfrm>
          <a:prstGeom prst="rect">
            <a:avLst/>
          </a:prstGeom>
          <a:noFill/>
        </p:spPr>
        <p:txBody>
          <a:bodyPr wrap="square" anchor="ctr">
            <a:spAutoFit/>
          </a:bodyPr>
          <a:lstStyle/>
          <a:p>
            <a:r>
              <a:rPr sz="1400" b="0">
                <a:solidFill>
                  <a:srgbClr val="E8EEFA"/>
                </a:solidFill>
                <a:latin typeface="Segoe UI"/>
              </a:rPr>
              <a:t>O'qitish klasteri uchun tugun — standart birlik: DGX H100 (8 × H100 SXM 80 GB, NVSwitch orqali to'liq bog'langan, 2 × Intel Xeon, 2 TB RAM, 8 × 400 Gb/s InfiniBand NDR adapter — har GPU'ga bittadan, ≈ 10 kW).</a:t>
            </a:r>
          </a:p>
        </p:txBody>
      </p:sp>
      <p:sp>
        <p:nvSpPr>
          <p:cNvPr id="32" name="Rounded Rectangle 31"/>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204756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748784"/>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5" name="TextBox 34"/>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Tugunlar orasidagi tarmoq ma'lumot parallelizmidagi gradient all-reduce'ni va konveyer parallelizmidagi faollashuv uzatishni ko'taradi; 70B modelning BF16 gradientlari 140 GB — har qadamda ring all-reduce bilan har tugun 2 × 140 GB × (N−1)/N uzatadi, 400 Gb/s…</a:t>
            </a:r>
          </a:p>
          <a:p>
            <a:pPr>
              <a:spcBef>
                <a:spcPts val="400"/>
              </a:spcBef>
            </a:pPr>
            <a:r>
              <a:rPr sz="1400">
                <a:solidFill>
                  <a:srgbClr val="AEBBD9"/>
                </a:solidFill>
                <a:latin typeface="Segoe UI"/>
              </a:rPr>
              <a:t>Tarmoq topologiyasi — rail-optimized fat-tree yoki Dragonfly, RDMA (GPUDirect RDMA bilan GPU xotirasidan to'g'ridan-to'g'ri tarmoqqa).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LLM uchun GPU klasterlari va yuqori unumdor infratuzilma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M11 · Katta til modellari uchun kompyuter tizimlari va hisoblash infratuzilmasi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48868"/>
            <a:ext cx="50000" cy="22822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1" name="TextBox 30"/>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Energiya va joylashtirish: 1 000 ta H100 ≈ 1,3 MW IT quvvat, PUE 1,2 bilan 1,6 MW; suyuqlik sovutish 700 vattlik GPU'lar uchun standartga aylanmoqda.</a:t>
            </a:r>
          </a:p>
          <a:p>
            <a:pPr>
              <a:spcBef>
                <a:spcPts val="400"/>
              </a:spcBef>
            </a:pPr>
            <a:r>
              <a:rPr sz="1400">
                <a:solidFill>
                  <a:srgbClr val="AEBBD9"/>
                </a:solidFill>
                <a:latin typeface="Segoe UI"/>
              </a:rPr>
              <a:t>Dasturiy stek: konteynerlar (NVIDIA NGC obrazlari), orkestratsiya (Slurm — HPC an'anasi, Kubernetes + GPU Operator — bulut an'anasi, Ray — Python-markaziy), o'qitish freymvorklari (Megatron-LM, DeepSpeed, PyTorch FSDP), inferens serverlari (vLLM, TensorRT-LLM, SGLang, Triton Inference Server), monitoring (DCGM eksportchi, Prometheus, Grafana).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2" name="Oval 71"/>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5" name="Rectangle 94"/>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7" name="TextBox 96"/>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https://aiscan.airi.uz/ktm/#/c/mis2104/mavzu/M11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200"/>
                            </p:stCondLst>
                            <p:childTnLst>
                              <p:par>
                                <p:cTn id="368" presetID="53" presetClass="entr" presetSubtype="16"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anim calcmode="lin" valueType="num">
                                      <p:cBhvr additive="base">
                                        <p:cTn id="371" dur="550" fill="hold"/>
                                        <p:tgtEl>
                                          <p:spTgt spid="94"/>
                                        </p:tgtEl>
                                        <p:attrNameLst>
                                          <p:attrName>ppt_w</p:attrName>
                                        </p:attrNameLst>
                                      </p:cBhvr>
                                      <p:tavLst>
                                        <p:tav tm="0">
                                          <p:val>
                                            <p:strVal val="0"/>
                                          </p:val>
                                        </p:tav>
                                        <p:tav tm="100000">
                                          <p:val>
                                            <p:strVal val="#ppt_w"/>
                                          </p:val>
                                        </p:tav>
                                      </p:tavLst>
                                    </p:anim>
                                    <p:anim calcmode="lin" valueType="num">
                                      <p:cBhvr additive="base">
                                        <p:cTn id="372" dur="550" fill="hold"/>
                                        <p:tgtEl>
                                          <p:spTgt spid="94"/>
                                        </p:tgtEl>
                                        <p:attrNameLst>
                                          <p:attrName>ppt_h</p:attrName>
                                        </p:attrNameLst>
                                      </p:cBhvr>
                                      <p:tavLst>
                                        <p:tav tm="0">
                                          <p:val>
                                            <p:strVal val="0"/>
                                          </p:val>
                                        </p:tav>
                                        <p:tav tm="100000">
                                          <p:val>
                                            <p:strVal val="#ppt_h"/>
                                          </p:val>
                                        </p:tav>
                                      </p:tavLst>
                                    </p:anim>
                                  </p:childTnLst>
                                </p:cTn>
                              </p:par>
                            </p:childTnLst>
                          </p:cTn>
                        </p:par>
                        <p:par>
                          <p:cTn id="373" fill="hold">
                            <p:stCondLst>
                              <p:cond delay="350"/>
                            </p:stCondLst>
                            <p:childTnLst>
                              <p:par>
                                <p:cTn id="374" presetID="22" presetClass="entr" presetSubtype="8" fill="hold" grpId="0" nodeType="afterEffect">
                                  <p:stCondLst>
                                    <p:cond delay="0"/>
                                  </p:stCondLst>
                                  <p:childTnLst>
                                    <p:set>
                                      <p:cBhvr>
                                        <p:cTn id="375" dur="1" fill="hold">
                                          <p:stCondLst>
                                            <p:cond delay="0"/>
                                          </p:stCondLst>
                                        </p:cTn>
                                        <p:tgtEl>
                                          <p:spTgt spid="95"/>
                                        </p:tgtEl>
                                        <p:attrNameLst>
                                          <p:attrName>style.visibility</p:attrName>
                                        </p:attrNameLst>
                                      </p:cBhvr>
                                      <p:to>
                                        <p:strVal val="visible"/>
                                      </p:to>
                                    </p:set>
                                    <p:animEffect transition="in" filter="wipe(left)">
                                      <p:cBhvr>
                                        <p:cTn id="377" dur="800"/>
                                        <p:tgtEl>
                                          <p:spTgt spid="95"/>
                                        </p:tgtEl>
                                      </p:cBhvr>
                                    </p:animEffect>
                                  </p:childTnLst>
                                </p:cTn>
                              </p:par>
                            </p:childTnLst>
                          </p:cTn>
                        </p:par>
                        <p:par>
                          <p:cTn id="378" fill="hold">
                            <p:stCondLst>
                              <p:cond delay="500"/>
                            </p:stCondLst>
                            <p:childTnLst>
                              <p:par>
                                <p:cTn id="379" presetID="42" presetClass="entr" presetSubtype="0" fill="hold" grpId="0" nodeType="afterEffect">
                                  <p:stCondLst>
                                    <p:cond delay="0"/>
                                  </p:stCondLst>
                                  <p:childTnLst>
                                    <p:set>
                                      <p:cBhvr>
                                        <p:cTn id="380" dur="1" fill="hold">
                                          <p:stCondLst>
                                            <p:cond delay="0"/>
                                          </p:stCondLst>
                                        </p:cTn>
                                        <p:tgtEl>
                                          <p:spTgt spid="96"/>
                                        </p:tgtEl>
                                        <p:attrNameLst>
                                          <p:attrName>style.visibility</p:attrName>
                                        </p:attrNameLst>
                                      </p:cBhvr>
                                      <p:to>
                                        <p:strVal val="visible"/>
                                      </p:to>
                                    </p:set>
                                    <p:animEffect transition="in" filter="fade">
                                      <p:cBhvr>
                                        <p:cTn id="381" dur="550"/>
                                        <p:tgtEl>
                                          <p:spTgt spid="96"/>
                                        </p:tgtEl>
                                      </p:cBhvr>
                                    </p:animEffect>
                                    <p:anim calcmode="lin" valueType="num">
                                      <p:cBhvr additive="base">
                                        <p:cTn id="382" dur="550" fill="hold"/>
                                        <p:tgtEl>
                                          <p:spTgt spid="96"/>
                                        </p:tgtEl>
                                        <p:attrNameLst>
                                          <p:attrName>ppt_x</p:attrName>
                                        </p:attrNameLst>
                                      </p:cBhvr>
                                      <p:tavLst>
                                        <p:tav tm="0">
                                          <p:val>
                                            <p:strVal val="#ppt_x"/>
                                          </p:val>
                                        </p:tav>
                                        <p:tav tm="100000">
                                          <p:val>
                                            <p:strVal val="#ppt_x"/>
                                          </p:val>
                                        </p:tav>
                                      </p:tavLst>
                                    </p:anim>
                                    <p:anim calcmode="lin" valueType="num">
                                      <p:cBhvr additive="base">
                                        <p:cTn id="383" dur="550" fill="hold"/>
                                        <p:tgtEl>
                                          <p:spTgt spid="96"/>
                                        </p:tgtEl>
                                        <p:attrNameLst>
                                          <p:attrName>ppt_y</p:attrName>
                                        </p:attrNameLst>
                                      </p:cBhvr>
                                      <p:tavLst>
                                        <p:tav tm="0">
                                          <p:val>
                                            <p:strVal val="#ppt_y+.08"/>
                                          </p:val>
                                        </p:tav>
                                        <p:tav tm="100000">
                                          <p:val>
                                            <p:strVal val="#ppt_y"/>
                                          </p:val>
                                        </p:tav>
                                      </p:tavLst>
                                    </p:anim>
                                  </p:childTnLst>
                                </p:cTn>
                              </p:par>
                            </p:childTnLst>
                          </p:cTn>
                        </p:par>
                        <p:par>
                          <p:cTn id="384" fill="hold">
                            <p:stCondLst>
                              <p:cond delay="650"/>
                            </p:stCondLst>
                            <p:childTnLst>
                              <p:par>
                                <p:cTn id="385" presetID="10" presetClass="entr" presetSubtype="0" fill="hold" grpId="0" nodeType="afterEffect">
                                  <p:stCondLst>
                                    <p:cond delay="0"/>
                                  </p:stCondLst>
                                  <p:childTnLst>
                                    <p:set>
                                      <p:cBhvr>
                                        <p:cTn id="386" dur="1" fill="hold">
                                          <p:stCondLst>
                                            <p:cond delay="0"/>
                                          </p:stCondLst>
                                        </p:cTn>
                                        <p:tgtEl>
                                          <p:spTgt spid="97"/>
                                        </p:tgtEl>
                                        <p:attrNameLst>
                                          <p:attrName>style.visibility</p:attrName>
                                        </p:attrNameLst>
                                      </p:cBhvr>
                                      <p:to>
                                        <p:strVal val="visible"/>
                                      </p:to>
                                    </p:set>
                                    <p:animEffect transition="in" filter="fade">
                                      <p:cBhvr>
                                        <p:cTn id="387" dur="55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
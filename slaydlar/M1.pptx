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(AI engineering) — SI komponentlarini o'z ichiga olgan tizimlarni ishonchli, takrorlanuvchi va masshtablanuvchi tarzda loyihalash, qurish, joylashtirish va ekspluatatsiya qilish fanidir. Microsoft tadqiqotchilari Amershi va hammualliflar 2019-yilgi ICSE konferensiyasidagi «Software Engineering for Machine Learning: A Case Study» maqolasida va keyinchalik [3] kitobida mashinali o'qitish ish jarayonining to'qqiz bosqichini ajratishgan: model talablarini aniqlash, ma'lumot yig'ish, ma'lumotni tozalash, ma'lumotni belgilash (labeling), xususiyatlarni ishlab chiqish, modelni o'qitish, modelni baholash, modelni joylashtirish va modelni monitoring qilish. Bu jarayon chiziqli emas — baholash natijasi yomon bo'lsa, ma'lumot yig'ishga qaytiladi; monitoring siljishni (drift) ko'rsatsa, qayta o'qitish boshlanadi.</a:t>
            </a:r>
          </a:p>
          <a:p/>
          <a:p>
            <a:r>
              <a:t>Amershi va hammualliflar SI tizimlarining an'anaviy dasturiy ta'minotdan uchta tub farqini ko'rsatadilar. Birinchidan, ma'lumotni boshqarish koddan ko'ra murakkabroq: ma'lumot versiyalanishi, sifati tekshirilishi, kelib chiqishi (provenance) kuzatilishi kerak. Ikkinchidan, modelni sozlash va qayta ishlatish an'anaviy kodni qayta ishlatishdan farq qiladi — oldindan o'qitilgan modelni boshqa sohaga ko'chirish alohida malaka talab qiladi. Uchinchidan, modul chegaralari buziladi: ikki model bir-biriga bog'liq bo'lib, birining o'zgarishi ikkinchisining xatti-harakatini o'zgartiradi (CACE tamoyili — «Changing Anything Changes Everything»).</a:t>
            </a:r>
          </a:p>
          <a:p/>
          <a:p>
            <a:r>
              <a:t>Kneusel [2] amaliy nuqtai nazardan SI injiniringini «modelni ishlaydigan mahsulotga aylantirish san'ati» deb ta'riflaydi va muhandis javob berishi kerak bo'lgan savollarni sanaydi: inferens qayerda bajariladi (bulut, server, qurilma)? Qanday kechikish qabul qilinadi? Xato narxi qancha? Model qanchalik tez eskiradi? Ushbu savollarning har biri bevosita kompyuter tizimi arxitekturasiga ta'sir qiladi. Masalan, 20 millisekund kechikish talabi va tarmoq orqali bulutga murojaat qilishning 50–100 millisekundlik tabiiy kechikishi bir-biriga zid — demak inferens qurilmaning o'zida bajarilishi shart.</a:t>
            </a:r>
          </a:p>
          <a:p/>
          <a:p>
            <a:r>
              <a:t>SI injiniringining yana bir muhim jihati — hayot sikli tushunchasi. Mustaqil ta'lim topshirig'ida keltirilgan Netflix tavsiya tizimi, Uber haydovchi tahlili va Amazon omborxona robototexnikasi misollarida umumiy naqsh ko'rinadi: ma'lumot to'xtovsiz oqib keladi, model davriy ravishda qayta o'qitiladi, A/B sinovlar orqali yangi versiya eskisi bilan taqqoslanadi, inferens infratuzilmasi esa yuk o'zgarishiga qarab avtomatik kengayadi. Netflix misolida tavsiya modeli offline rejimda (kecha-kunduz paketli hisoblash) o'qitiladi, lekin foydalanuvchi sahifani ochganda natija bir necha o'n millisekund ichida qaytishi kerak — bu ikki rejim butunlay boshqa apparat talablarini qo'yadi.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a:p/>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a:p/>
          <a:p>
            <a:r>
              <a:t>Platforma tanlashda hisoblash quvvatining birligiga e'tibor berish zarur. TOPS (tera operations per second) odatda INT8 butun sonli amallar uchun, TFLOPS esa suzuvchi nuqtali (FP32, FP16, BF16, FP8) amallar uchun beriladi. Bitta ko'paytirish-qo'shish (multiply-accumulate, MAC) amali ikki operatsiya sifatida hisoblanadi. Bundan tashqari, NVIDIA ko'rsatkichlarini «siyrak» (sparsity, 2:4 strukturali siyraklik) rejimi uchun e'lon qiladi, bu zich hisobdan ikki baravar yuqori. Shuning uchun turli ishlab chiqaruvchilarni taqqoslaganda bir xil aniqlik va bir xil siyraklik rejimidagi raqamlarni olish shart.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a:p/>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a:p/>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a:p/>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Hardware–software co-design — tizimning apparat va dasturiy qismlarini alohida emas, balki bir vaqtning o'zida, bir-biriga moslashtirib loyihalash metodologiyasi. An'anaviy yondashuvda apparat avval tanlanadi (yoki mavjud bo'ladi), so'ng dastur unga moslashtiriladi. SI tizimlarida bu yondashuv ikki sababga ko'ra ishlamaydi: birinchidan, model arxitekturasi (qatlamlar soni, kanallar, aniqlik) o'zi loyihalash parametri bo'lib, uni apparatga qarab o'zgartirish mumkin; ikkinchidan, tezlatkichlar shunchalik ixtisoslashganki, ularga mos kelmaydigan model (masalan, Tensor Core uchun 8 ga karrali bo'lmagan kanal soni) unumdorlikni bir necha barobar yo'qotadi.</a:t>
            </a:r>
          </a:p>
          <a:p/>
          <a:p>
            <a:r>
              <a:t>Co-design jarayonini to'rt o'lchovli izlanish fazosi sifatida tasavvur qilish mumkin:</a:t>
            </a:r>
          </a:p>
          <a:p/>
          <a:p>
            <a:r>
              <a:t>Co-design amaliy jihatdan iterativ jarayon. 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 Sze va hammualliflar [4] bu jarayonni «algoritm–apparat birgalikdagi loyihalash» deb atab, neyron tarmoqning energiya sarfi asosan hisoblashda emas, xotiraga murojaatda ekanini ko'rsatadilar: 45 nm texnologiyada DRAM dan 32 bit o'qish taxminan 640 pJ energiya talab qiladi, 32 bitli ko'paytirish esa atigi 3,7 pJ — ya'ni ma'lumotni joyida saqlab, qayta ishlatish (data reuse) har qanday hisoblash optimizatsiyasidan muhimroq.</a:t>
            </a:r>
          </a:p>
          <a:p/>
          <a:p>
            <a:r>
              <a:t>Co-design kontekstida ikki klassik qonun doimo yodda bo'lishi kerak. Amdal qonuni (Amdahl's law): agar dasturning p ulushi tezlashtirilsa va qolgan 1−p ulushi o'zgarmasa, umumiy tezlashuv S = 1 / ((1−p) + p/s) dan oshmaydi, bu yerda s — tezlashtirilgan qismning tezlashuvi. Video-analitikada inferens kadr vaqtining 60 % ini egallasa va uni cheksiz tezlashtirsak ham, umumiy tezlashuv 2,5 baravardan oshmaydi — dekodlash va keyingi ishlov cheklaydi. Roofline modeli esa yukning arifmetik intensivligi (FLOP / bayt) asosida u hisoblash yoki xotira bilan cheklanganini ko'rsatadi; bu model M10 da batafsil ko'riladi, lekin co-design ning har bir qadamida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tushunchalar asosida SI tizimini loyihalashning amaliy tamoyillarini shakllantirish mumkin. Talabdan boshlash: kechikish byudjeti (masalan, kadrdan hodisagacha 200 ms), aniqlik chegarasi (mAP yoki F1), yuk (kameralar soni, so'rov/soniya), energiya va narx cheklovlari raqam bilan yoziladi; raqamsiz talab — talab emas. Ma'lumot oqimini chizish: har bir komponent orqali o'tadigan baytlar soni hisoblanadi; 1080p kadr RGB ko'rinishda 6,2 MB, 25 kadr/s da bitta kamera 155 MB/s, 16 kamera 2,5 GB/s — bu PCIe 3.0 x16 ning (taxminan 16 GB/s) sezilarli qismi. Eng tor joyni topish: Amdal qonuniga ko'ra faqat tor joyni optimallashtirish foyda beradi. Modullilik va interfeyslar: model almashtirilsa (YOLOv8 → YOLO11), qolgan tizim o'zgarmasligi kerak — buning uchun ONNX kabi standart format va aniq API. Kuzatuvchanlik dastlabdan: metrikalar keyin qo'shiladigan narsa emas; ularsiz co-design iteratsiyasini bajarib bo'lmaydi. Degradatsiyaga tayyorlik: tezlatkich ishdan chiqsa yoki yuk oshsa tizim butunlay to'xtamasdan, kadr tashlash (frame skipping) yoki kichik modelga o'tish orqali ishlashda davom etishi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intellektga asoslangan kompyuter tizimlari injiniringi: arxitektura va loyihalash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550c89097acb827b.jpg"/>
          <p:cNvPicPr>
            <a:picLocks noChangeAspect="1"/>
          </p:cNvPicPr>
          <p:nvPr/>
        </p:nvPicPr>
        <p:blipFill>
          <a:blip r:embed="rId2"/>
          <a:srcRect l="24298" r="24298"/>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Joël van der Loo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Sun'iy intellekt injiniringi konsepsiyasi</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Sun'iy intellektga asoslangan hisoblash platformalari</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AI-enabled computer systems arxitekturasi</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Apparat va dasturiy ta'minotni birgalikda loyihalash</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38d5d05600bee6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PumitasUNAM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Sun'iy intellekt injiniringi konsepsiyasi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injiniringi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400" b="0">
                <a:solidFill>
                  <a:srgbClr val="1B2430"/>
                </a:solidFill>
                <a:latin typeface="Calibri"/>
              </a:rPr>
              <a:t>Sun'iy intellekt injiniringi (AI engineering) — SI komponentlarini o'z ichiga olgan tizimlarni ishonchli, takrorlanuvchi va masshtablanuvchi tarzda loyihalash, qurish, joylashtirish va ekspluatatsiya qilish fanidir.</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Amershi va hammualliflar SI tizimlarining an'anaviy dasturiy ta'minotdan uchta tub farqini ko'rsatadilar.</a:t>
            </a:r>
          </a:p>
          <a:p>
            <a:pPr>
              <a:spcBef>
                <a:spcPts val="400"/>
              </a:spcBef>
            </a:pPr>
            <a:r>
              <a:rPr sz="1400">
                <a:solidFill>
                  <a:srgbClr val="334055"/>
                </a:solidFill>
                <a:latin typeface="Calibri"/>
              </a:rPr>
              <a:t>Birinchidan, ma'lumotni boshqarish koddan ko'ra murakkabroq: ma'lumot versiyalanishi, sifati tekshirilishi, kelib chiqishi (provenance) kuzatilishi kerak.</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500" b="1">
                <a:solidFill>
                  <a:srgbClr val="1F3A5F"/>
                </a:solidFill>
                <a:latin typeface="Calibri"/>
              </a:rPr>
              <a:t>Kneusel [2] amaliy nuqtai nazardan SI injiniringini «modelni ishlaydigan mahsulotga aylantirish san'ati» deb ta'riflaydi va muhandis javob berishi kerak bo'lgan savollarni sanaydi: inferens qayerda bajariladi (bulut, server, qurilma)?</a:t>
            </a:r>
          </a:p>
          <a:p>
            <a:pPr>
              <a:spcBef>
                <a:spcPts val="400"/>
              </a:spcBef>
            </a:pPr>
            <a:r>
              <a:rPr sz="1400">
                <a:solidFill>
                  <a:srgbClr val="334055"/>
                </a:solidFill>
                <a:latin typeface="Calibri"/>
              </a:rPr>
              <a:t>Qanday kechikish qabul qilinadi? Xato narxi qancha? Model qanchalik tez eskiradi? Ushbu savollarning har biri bevosita kompyuter tizimi arxitekturasiga ta'sir qiladi.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SI injiniringining yana bir muhim jihati — hayot sikli tushunchasi.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00d39deda63e642.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Lawrence Systems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Sun'iy intellektga asoslangan hisoblash platformalari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761824"/>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761824"/>
            <a:ext cx="70000" cy="126878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86216"/>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801824"/>
            <a:ext cx="10150000" cy="1188784"/>
          </a:xfrm>
          <a:prstGeom prst="rect">
            <a:avLst/>
          </a:prstGeom>
          <a:noFill/>
        </p:spPr>
        <p:txBody>
          <a:bodyPr wrap="square" anchor="ctr">
            <a:spAutoFit/>
          </a:bodyPr>
          <a:lstStyle/>
          <a:p>
            <a:r>
              <a:rPr sz="1500" b="1">
                <a:solidFill>
                  <a:srgbClr val="1F3A5F"/>
                </a:solidFill>
                <a:latin typeface="Calibri"/>
              </a:rPr>
              <a:t>Hisoblash platformasi deganda biz SI yukini bajaruvchi apparat va uning ustidagi tizimli dasturiy ta'minot (drayver, kutubxona, ish vaqti muhiti) majmuasini tushunamiz.</a:t>
            </a:r>
          </a:p>
          <a:p>
            <a:pPr>
              <a:spcBef>
                <a:spcPts val="400"/>
              </a:spcBef>
            </a:pPr>
            <a:r>
              <a:rPr sz="1400">
                <a:solidFill>
                  <a:srgbClr val="334055"/>
                </a:solidFill>
                <a:latin typeface="Calibri"/>
              </a:rPr>
              <a:t>Platformalarni to'rt sinfga ajratish qulay: shaxsiy ish stansiyalari, ma'lumotlar markazi serverlari, bulut xizmatlari va chekka (edge) qurilmalar.</a:t>
            </a:r>
          </a:p>
        </p:txBody>
      </p:sp>
      <p:sp>
        <p:nvSpPr>
          <p:cNvPr id="14" name="Rounded Rectangle 13"/>
          <p:cNvSpPr/>
          <p:nvPr/>
        </p:nvSpPr>
        <p:spPr>
          <a:xfrm>
            <a:off x="550000" y="3140608"/>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40608"/>
            <a:ext cx="70000" cy="126878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80608"/>
            <a:ext cx="10150000" cy="1188784"/>
          </a:xfrm>
          <a:prstGeom prst="rect">
            <a:avLst/>
          </a:prstGeom>
          <a:noFill/>
        </p:spPr>
        <p:txBody>
          <a:bodyPr wrap="square" anchor="ctr">
            <a:spAutoFit/>
          </a:bodyPr>
          <a:lstStyle/>
          <a:p>
            <a:r>
              <a:rPr sz="1500" b="1">
                <a:solidFill>
                  <a:srgbClr val="1F3A5F"/>
                </a:solidFill>
                <a:latin typeface="Calibri"/>
              </a:rPr>
              <a:t>Jadvaldan uch muhim xulosa kelib chiqadi.</a:t>
            </a:r>
          </a:p>
          <a:p>
            <a:pPr>
              <a:spcBef>
                <a:spcPts val="400"/>
              </a:spcBef>
            </a:pPr>
            <a:r>
              <a:rPr sz="1400">
                <a:solidFill>
                  <a:srgbClr val="334055"/>
                </a:solidFill>
                <a:latin typeface="Calibri"/>
              </a:rPr>
              <a:t>Birinchidan, platformalar orasidagi farq olti tartibni (10⁶) tashkil etadi — mikrokontrollerdan H100 gacha. Demak «model ishlaydimi?» savoli ma'nosiz; «qaysi platformada, qanday kechikish va energiya bilan ishlaydi?» deb so'rash kerak.</a:t>
            </a:r>
          </a:p>
        </p:txBody>
      </p:sp>
      <p:sp>
        <p:nvSpPr>
          <p:cNvPr id="18" name="Rounded Rectangle 17"/>
          <p:cNvSpPr/>
          <p:nvPr/>
        </p:nvSpPr>
        <p:spPr>
          <a:xfrm>
            <a:off x="550000" y="4519392"/>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19392"/>
            <a:ext cx="70000" cy="126878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94378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59392"/>
            <a:ext cx="10150000" cy="1188784"/>
          </a:xfrm>
          <a:prstGeom prst="rect">
            <a:avLst/>
          </a:prstGeom>
          <a:noFill/>
        </p:spPr>
        <p:txBody>
          <a:bodyPr wrap="square" anchor="ctr">
            <a:spAutoFit/>
          </a:bodyPr>
          <a:lstStyle/>
          <a:p>
            <a:r>
              <a:rPr sz="1500" b="1">
                <a:solidFill>
                  <a:srgbClr val="1F3A5F"/>
                </a:solidFill>
                <a:latin typeface="Calibri"/>
              </a:rPr>
              <a:t>Platforma tanlashda hisoblash quvvatining birligiga e'tibor berish zarur.</a:t>
            </a:r>
          </a:p>
          <a:p>
            <a:pPr>
              <a:spcBef>
                <a:spcPts val="400"/>
              </a:spcBef>
            </a:pPr>
            <a:r>
              <a:rPr sz="1400">
                <a:solidFill>
                  <a:srgbClr val="334055"/>
                </a:solidFill>
                <a:latin typeface="Calibri"/>
              </a:rPr>
              <a:t>TOPS (tera operations per second) odatda INT8 butun sonli amallar uchun, TFLOPS esa suzuvchi nuqtali (FP32, FP16, BF16, FP8) amallar uchun beriladi. Bitta ko'paytirish-qo'shish (multiply-accumulate, MAC) amali ikki operatsiya sifatida hisoblanadi.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Platforma sinfi</a:t>
                      </a:r>
                    </a:p>
                  </a:txBody>
                  <a:tcPr>
                    <a:solidFill>
                      <a:srgbClr val="2D5C8F"/>
                    </a:solidFill>
                  </a:tcPr>
                </a:tc>
                <a:tc>
                  <a:txBody>
                    <a:bodyPr/>
                    <a:lstStyle/>
                    <a:p>
                      <a:r>
                        <a:rPr sz="1400" b="1">
                          <a:solidFill>
                            <a:srgbClr val="FFFFFF"/>
                          </a:solidFill>
                          <a:latin typeface="Calibri"/>
                        </a:rPr>
                        <a:t>Tipik vakil</a:t>
                      </a:r>
                    </a:p>
                  </a:txBody>
                  <a:tcPr>
                    <a:solidFill>
                      <a:srgbClr val="2D5C8F"/>
                    </a:solidFill>
                  </a:tcPr>
                </a:tc>
                <a:tc>
                  <a:txBody>
                    <a:bodyPr/>
                    <a:lstStyle/>
                    <a:p>
                      <a:r>
                        <a:rPr sz="1400" b="1">
                          <a:solidFill>
                            <a:srgbClr val="FFFFFF"/>
                          </a:solidFill>
                          <a:latin typeface="Calibri"/>
                        </a:rPr>
                        <a:t>Hisoblash quvvati (taxm.)</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Energiya</a:t>
                      </a:r>
                    </a:p>
                  </a:txBody>
                  <a:tcPr>
                    <a:solidFill>
                      <a:srgbClr val="2D5C8F"/>
                    </a:solidFill>
                  </a:tcPr>
                </a:tc>
                <a:tc>
                  <a:txBody>
                    <a:bodyPr/>
                    <a:lstStyle/>
                    <a:p>
                      <a:r>
                        <a:rPr sz="1400" b="1">
                          <a:solidFill>
                            <a:srgbClr val="FFFFFF"/>
                          </a:solidFill>
                          <a:latin typeface="Calibri"/>
                        </a:rPr>
                        <a:t>Odatiy vazifa</a:t>
                      </a:r>
                    </a:p>
                  </a:txBody>
                  <a:tcPr>
                    <a:solidFill>
                      <a:srgbClr val="2D5C8F"/>
                    </a:solidFill>
                  </a:tcPr>
                </a:tc>
              </a:tr>
              <a:tr h="520000">
                <a:tc>
                  <a:txBody>
                    <a:bodyPr/>
                    <a:lstStyle/>
                    <a:p>
                      <a:r>
                        <a:rPr sz="1400" b="0">
                          <a:solidFill>
                            <a:srgbClr val="1B2430"/>
                          </a:solidFill>
                          <a:latin typeface="Calibri"/>
                        </a:rPr>
                        <a:t>Chekka mikrokontroller</a:t>
                      </a:r>
                    </a:p>
                  </a:txBody>
                  <a:tcPr>
                    <a:solidFill>
                      <a:srgbClr val="F1F4F8"/>
                    </a:solidFill>
                  </a:tcPr>
                </a:tc>
                <a:tc>
                  <a:txBody>
                    <a:bodyPr/>
                    <a:lstStyle/>
                    <a:p>
                      <a:r>
                        <a:rPr sz="1400" b="0">
                          <a:solidFill>
                            <a:srgbClr val="1B2430"/>
                          </a:solidFill>
                          <a:latin typeface="Calibri"/>
                        </a:rPr>
                        <a:t>ARM Cortex-M7 + TinyML</a:t>
                      </a:r>
                    </a:p>
                  </a:txBody>
                  <a:tcPr>
                    <a:solidFill>
                      <a:srgbClr val="F1F4F8"/>
                    </a:solidFill>
                  </a:tcPr>
                </a:tc>
                <a:tc>
                  <a:txBody>
                    <a:bodyPr/>
                    <a:lstStyle/>
                    <a:p>
                      <a:r>
                        <a:rPr sz="1400" b="0">
                          <a:solidFill>
                            <a:srgbClr val="1B2430"/>
                          </a:solidFill>
                          <a:latin typeface="Calibri"/>
                        </a:rPr>
                        <a:t>0,001–0,01 TOPS</a:t>
                      </a:r>
                    </a:p>
                  </a:txBody>
                  <a:tcPr>
                    <a:solidFill>
                      <a:srgbClr val="F1F4F8"/>
                    </a:solidFill>
                  </a:tcPr>
                </a:tc>
                <a:tc>
                  <a:txBody>
                    <a:bodyPr/>
                    <a:lstStyle/>
                    <a:p>
                      <a:r>
                        <a:rPr sz="1400" b="0">
                          <a:solidFill>
                            <a:srgbClr val="1B2430"/>
                          </a:solidFill>
                          <a:latin typeface="Calibri"/>
                        </a:rPr>
                        <a:t>0,5–2 MB SRAM</a:t>
                      </a:r>
                    </a:p>
                  </a:txBody>
                  <a:tcPr>
                    <a:solidFill>
                      <a:srgbClr val="F1F4F8"/>
                    </a:solidFill>
                  </a:tcPr>
                </a:tc>
                <a:tc>
                  <a:txBody>
                    <a:bodyPr/>
                    <a:lstStyle/>
                    <a:p>
                      <a:r>
                        <a:rPr sz="1400" b="0">
                          <a:solidFill>
                            <a:srgbClr val="1B2430"/>
                          </a:solidFill>
                          <a:latin typeface="Calibri"/>
                        </a:rPr>
                        <a:t>0,05–0,5 W</a:t>
                      </a:r>
                    </a:p>
                  </a:txBody>
                  <a:tcPr>
                    <a:solidFill>
                      <a:srgbClr val="F1F4F8"/>
                    </a:solidFill>
                  </a:tcPr>
                </a:tc>
                <a:tc>
                  <a:txBody>
                    <a:bodyPr/>
                    <a:lstStyle/>
                    <a:p>
                      <a:r>
                        <a:rPr sz="1400" b="0">
                          <a:solidFill>
                            <a:srgbClr val="1B2430"/>
                          </a:solidFill>
                          <a:latin typeface="Calibri"/>
                        </a:rPr>
                        <a:t>Kalit so'z aniqlash, sensor tasnifi</a:t>
                      </a:r>
                    </a:p>
                  </a:txBody>
                  <a:tcPr>
                    <a:solidFill>
                      <a:srgbClr val="F1F4F8"/>
                    </a:solidFill>
                  </a:tcPr>
                </a:tc>
              </a:tr>
              <a:tr h="520000">
                <a:tc>
                  <a:txBody>
                    <a:bodyPr/>
                    <a:lstStyle/>
                    <a:p>
                      <a:r>
                        <a:rPr sz="1400" b="0">
                          <a:solidFill>
                            <a:srgbClr val="1B2430"/>
                          </a:solidFill>
                          <a:latin typeface="Calibri"/>
                        </a:rPr>
                        <a:t>Chekka tezlatkich</a:t>
                      </a:r>
                    </a:p>
                  </a:txBody>
                  <a:tcPr>
                    <a:solidFill>
                      <a:srgbClr val="FFFFFF"/>
                    </a:solidFill>
                  </a:tcPr>
                </a:tc>
                <a:tc>
                  <a:txBody>
                    <a:bodyPr/>
                    <a:lstStyle/>
                    <a:p>
                      <a:r>
                        <a:rPr sz="1400" b="0">
                          <a:solidFill>
                            <a:srgbClr val="1B2430"/>
                          </a:solidFill>
                          <a:latin typeface="Calibri"/>
                        </a:rPr>
                        <a:t>Google Coral Edge TPU</a:t>
                      </a:r>
                    </a:p>
                  </a:txBody>
                  <a:tcPr>
                    <a:solidFill>
                      <a:srgbClr val="FFFFFF"/>
                    </a:solidFill>
                  </a:tcPr>
                </a:tc>
                <a:tc>
                  <a:txBody>
                    <a:bodyPr/>
                    <a:lstStyle/>
                    <a:p>
                      <a:r>
                        <a:rPr sz="1400" b="0">
                          <a:solidFill>
                            <a:srgbClr val="1B2430"/>
                          </a:solidFill>
                          <a:latin typeface="Calibri"/>
                        </a:rPr>
                        <a:t>4 TOPS INT8</a:t>
                      </a:r>
                    </a:p>
                  </a:txBody>
                  <a:tcPr>
                    <a:solidFill>
                      <a:srgbClr val="FFFFFF"/>
                    </a:solidFill>
                  </a:tcPr>
                </a:tc>
                <a:tc>
                  <a:txBody>
                    <a:bodyPr/>
                    <a:lstStyle/>
                    <a:p>
                      <a:r>
                        <a:rPr sz="1400" b="0">
                          <a:solidFill>
                            <a:srgbClr val="1B2430"/>
                          </a:solidFill>
                          <a:latin typeface="Calibri"/>
                        </a:rPr>
                        <a:t>xost xotirasi</a:t>
                      </a:r>
                    </a:p>
                  </a:txBody>
                  <a:tcPr>
                    <a:solidFill>
                      <a:srgbClr val="FFFFFF"/>
                    </a:solidFill>
                  </a:tcPr>
                </a:tc>
                <a:tc>
                  <a:txBody>
                    <a:bodyPr/>
                    <a:lstStyle/>
                    <a:p>
                      <a:r>
                        <a:rPr sz="1400" b="0">
                          <a:solidFill>
                            <a:srgbClr val="1B2430"/>
                          </a:solidFill>
                          <a:latin typeface="Calibri"/>
                        </a:rPr>
                        <a:t>~2 W</a:t>
                      </a:r>
                    </a:p>
                  </a:txBody>
                  <a:tcPr>
                    <a:solidFill>
                      <a:srgbClr val="FFFFFF"/>
                    </a:solidFill>
                  </a:tcPr>
                </a:tc>
                <a:tc>
                  <a:txBody>
                    <a:bodyPr/>
                    <a:lstStyle/>
                    <a:p>
                      <a:r>
                        <a:rPr sz="1400" b="0">
                          <a:solidFill>
                            <a:srgbClr val="1B2430"/>
                          </a:solidFill>
                          <a:latin typeface="Calibri"/>
                        </a:rPr>
                        <a:t>Bitta kamera, tasnif</a:t>
                      </a:r>
                    </a:p>
                  </a:txBody>
                  <a:tcPr>
                    <a:solidFill>
                      <a:srgbClr val="FFFFFF"/>
                    </a:solidFill>
                  </a:tcPr>
                </a:tc>
              </a:tr>
              <a:tr h="520000">
                <a:tc>
                  <a:txBody>
                    <a:bodyPr/>
                    <a:lstStyle/>
                    <a:p>
                      <a:r>
                        <a:rPr sz="1400" b="0">
                          <a:solidFill>
                            <a:srgbClr val="1B2430"/>
                          </a:solidFill>
                          <a:latin typeface="Calibri"/>
                        </a:rPr>
                        <a:t>Chekka modul</a:t>
                      </a:r>
                    </a:p>
                  </a:txBody>
                  <a:tcPr>
                    <a:solidFill>
                      <a:srgbClr val="F1F4F8"/>
                    </a:solidFill>
                  </a:tcPr>
                </a:tc>
                <a:tc>
                  <a:txBody>
                    <a:bodyPr/>
                    <a:lstStyle/>
                    <a:p>
                      <a:r>
                        <a:rPr sz="1400" b="0">
                          <a:solidFill>
                            <a:srgbClr val="1B2430"/>
                          </a:solidFill>
                          <a:latin typeface="Calibri"/>
                        </a:rPr>
                        <a:t>NVIDIA Jetson Orin Nano 8 GB</a:t>
                      </a:r>
                    </a:p>
                  </a:txBody>
                  <a:tcPr>
                    <a:solidFill>
                      <a:srgbClr val="F1F4F8"/>
                    </a:solidFill>
                  </a:tcPr>
                </a:tc>
                <a:tc>
                  <a:txBody>
                    <a:bodyPr/>
                    <a:lstStyle/>
                    <a:p>
                      <a:r>
                        <a:rPr sz="1400" b="0">
                          <a:solidFill>
                            <a:srgbClr val="1B2430"/>
                          </a:solidFill>
                          <a:latin typeface="Calibri"/>
                        </a:rPr>
                        <a:t>~40 TOPS INT8 (siyrak)</a:t>
                      </a:r>
                    </a:p>
                  </a:txBody>
                  <a:tcPr>
                    <a:solidFill>
                      <a:srgbClr val="F1F4F8"/>
                    </a:solidFill>
                  </a:tcPr>
                </a:tc>
                <a:tc>
                  <a:txBody>
                    <a:bodyPr/>
                    <a:lstStyle/>
                    <a:p>
                      <a:r>
                        <a:rPr sz="1400" b="0">
                          <a:solidFill>
                            <a:srgbClr val="1B2430"/>
                          </a:solidFill>
                          <a:latin typeface="Calibri"/>
                        </a:rPr>
                        <a:t>8 GB LPDDR5, 68 GB/s</a:t>
                      </a:r>
                    </a:p>
                  </a:txBody>
                  <a:tcPr>
                    <a:solidFill>
                      <a:srgbClr val="F1F4F8"/>
                    </a:solidFill>
                  </a:tcPr>
                </a:tc>
                <a:tc>
                  <a:txBody>
                    <a:bodyPr/>
                    <a:lstStyle/>
                    <a:p>
                      <a:r>
                        <a:rPr sz="1400" b="0">
                          <a:solidFill>
                            <a:srgbClr val="1B2430"/>
                          </a:solidFill>
                          <a:latin typeface="Calibri"/>
                        </a:rPr>
                        <a:t>7–15 W</a:t>
                      </a:r>
                    </a:p>
                  </a:txBody>
                  <a:tcPr>
                    <a:solidFill>
                      <a:srgbClr val="F1F4F8"/>
                    </a:solidFill>
                  </a:tcPr>
                </a:tc>
                <a:tc>
                  <a:txBody>
                    <a:bodyPr/>
                    <a:lstStyle/>
                    <a:p>
                      <a:r>
                        <a:rPr sz="1400" b="0">
                          <a:solidFill>
                            <a:srgbClr val="1B2430"/>
                          </a:solidFill>
                          <a:latin typeface="Calibri"/>
                        </a:rPr>
                        <a:t>2–4 kamera, detektsiya</a:t>
                      </a:r>
                    </a:p>
                  </a:txBody>
                  <a:tcPr>
                    <a:solidFill>
                      <a:srgbClr val="F1F4F8"/>
                    </a:solidFill>
                  </a:tcPr>
                </a:tc>
              </a:tr>
              <a:tr h="520000">
                <a:tc>
                  <a:txBody>
                    <a:bodyPr/>
                    <a:lstStyle/>
                    <a:p>
                      <a:r>
                        <a:rPr sz="1400" b="0">
                          <a:solidFill>
                            <a:srgbClr val="1B2430"/>
                          </a:solidFill>
                          <a:latin typeface="Calibri"/>
                        </a:rPr>
                        <a:t>Chekka server</a:t>
                      </a:r>
                    </a:p>
                  </a:txBody>
                  <a:tcPr>
                    <a:solidFill>
                      <a:srgbClr val="FFFFFF"/>
                    </a:solidFill>
                  </a:tcPr>
                </a:tc>
                <a:tc>
                  <a:txBody>
                    <a:bodyPr/>
                    <a:lstStyle/>
                    <a:p>
                      <a:r>
                        <a:rPr sz="1400" b="0">
                          <a:solidFill>
                            <a:srgbClr val="1B2430"/>
                          </a:solidFill>
                          <a:latin typeface="Calibri"/>
                        </a:rPr>
                        <a:t>NVIDIA Jetson AGX Orin 64 GB</a:t>
                      </a:r>
                    </a:p>
                  </a:txBody>
                  <a:tcPr>
                    <a:solidFill>
                      <a:srgbClr val="FFFFFF"/>
                    </a:solidFill>
                  </a:tcPr>
                </a:tc>
                <a:tc>
                  <a:txBody>
                    <a:bodyPr/>
                    <a:lstStyle/>
                    <a:p>
                      <a:r>
                        <a:rPr sz="1400" b="0">
                          <a:solidFill>
                            <a:srgbClr val="1B2430"/>
                          </a:solidFill>
                          <a:latin typeface="Calibri"/>
                        </a:rPr>
                        <a:t>~275 TOPS INT8 (siyrak)</a:t>
                      </a:r>
                    </a:p>
                  </a:txBody>
                  <a:tcPr>
                    <a:solidFill>
                      <a:srgbClr val="FFFFFF"/>
                    </a:solidFill>
                  </a:tcPr>
                </a:tc>
                <a:tc>
                  <a:txBody>
                    <a:bodyPr/>
                    <a:lstStyle/>
                    <a:p>
                      <a:r>
                        <a:rPr sz="1400" b="0">
                          <a:solidFill>
                            <a:srgbClr val="1B2430"/>
                          </a:solidFill>
                          <a:latin typeface="Calibri"/>
                        </a:rPr>
                        <a:t>64 GB LPDDR5, 205 GB/s</a:t>
                      </a:r>
                    </a:p>
                  </a:txBody>
                  <a:tcPr>
                    <a:solidFill>
                      <a:srgbClr val="FFFFFF"/>
                    </a:solidFill>
                  </a:tcPr>
                </a:tc>
                <a:tc>
                  <a:txBody>
                    <a:bodyPr/>
                    <a:lstStyle/>
                    <a:p>
                      <a:r>
                        <a:rPr sz="1400" b="0">
                          <a:solidFill>
                            <a:srgbClr val="1B2430"/>
                          </a:solidFill>
                          <a:latin typeface="Calibri"/>
                        </a:rPr>
                        <a:t>15–60 W</a:t>
                      </a:r>
                    </a:p>
                  </a:txBody>
                  <a:tcPr>
                    <a:solidFill>
                      <a:srgbClr val="FFFFFF"/>
                    </a:solidFill>
                  </a:tcPr>
                </a:tc>
                <a:tc>
                  <a:txBody>
                    <a:bodyPr/>
                    <a:lstStyle/>
                    <a:p>
                      <a:r>
                        <a:rPr sz="1400" b="0">
                          <a:solidFill>
                            <a:srgbClr val="1B2430"/>
                          </a:solidFill>
                          <a:latin typeface="Calibri"/>
                        </a:rPr>
                        <a:t>8–16 kamera, ko'p model</a:t>
                      </a:r>
                    </a:p>
                  </a:txBody>
                  <a:tcPr>
                    <a:solidFill>
                      <a:srgbClr val="FFFFFF"/>
                    </a:solidFill>
                  </a:tcPr>
                </a:tc>
              </a:tr>
              <a:tr h="520000">
                <a:tc>
                  <a:txBody>
                    <a:bodyPr/>
                    <a:lstStyle/>
                    <a:p>
                      <a:r>
                        <a:rPr sz="1400" b="0">
                          <a:solidFill>
                            <a:srgbClr val="1B2430"/>
                          </a:solidFill>
                          <a:latin typeface="Calibri"/>
                        </a:rPr>
                        <a:t>Inferens serveri</a:t>
                      </a:r>
                    </a:p>
                  </a:txBody>
                  <a:tcPr>
                    <a:solidFill>
                      <a:srgbClr val="F1F4F8"/>
                    </a:solidFill>
                  </a:tcPr>
                </a:tc>
                <a:tc>
                  <a:txBody>
                    <a:bodyPr/>
                    <a:lstStyle/>
                    <a:p>
                      <a:r>
                        <a:rPr sz="1400" b="0">
                          <a:solidFill>
                            <a:srgbClr val="1B2430"/>
                          </a:solidFill>
                          <a:latin typeface="Calibri"/>
                        </a:rPr>
                        <a:t>NVIDIA L4 (PCIe)</a:t>
                      </a:r>
                    </a:p>
                  </a:txBody>
                  <a:tcPr>
                    <a:solidFill>
                      <a:srgbClr val="F1F4F8"/>
                    </a:solidFill>
                  </a:tcPr>
                </a:tc>
                <a:tc>
                  <a:txBody>
                    <a:bodyPr/>
                    <a:lstStyle/>
                    <a:p>
                      <a:r>
                        <a:rPr sz="1400" b="0">
                          <a:solidFill>
                            <a:srgbClr val="1B2430"/>
                          </a:solidFill>
                          <a:latin typeface="Calibri"/>
                        </a:rPr>
                        <a:t>~121 TFLOPS FP16 (zich)</a:t>
                      </a:r>
                    </a:p>
                  </a:txBody>
                  <a:tcPr>
                    <a:solidFill>
                      <a:srgbClr val="F1F4F8"/>
                    </a:solidFill>
                  </a:tcPr>
                </a:tc>
                <a:tc>
                  <a:txBody>
                    <a:bodyPr/>
                    <a:lstStyle/>
                    <a:p>
                      <a:r>
                        <a:rPr sz="1400" b="0">
                          <a:solidFill>
                            <a:srgbClr val="1B2430"/>
                          </a:solidFill>
                          <a:latin typeface="Calibri"/>
                        </a:rPr>
                        <a:t>24 GB GDDR6, 300 GB/s</a:t>
                      </a:r>
                    </a:p>
                  </a:txBody>
                  <a:tcPr>
                    <a:solidFill>
                      <a:srgbClr val="F1F4F8"/>
                    </a:solidFill>
                  </a:tcPr>
                </a:tc>
                <a:tc>
                  <a:txBody>
                    <a:bodyPr/>
                    <a:lstStyle/>
                    <a:p>
                      <a:r>
                        <a:rPr sz="1400" b="0">
                          <a:solidFill>
                            <a:srgbClr val="1B2430"/>
                          </a:solidFill>
                          <a:latin typeface="Calibri"/>
                        </a:rPr>
                        <a:t>72 W</a:t>
                      </a:r>
                    </a:p>
                  </a:txBody>
                  <a:tcPr>
                    <a:solidFill>
                      <a:srgbClr val="F1F4F8"/>
                    </a:solidFill>
                  </a:tcPr>
                </a:tc>
                <a:tc>
                  <a:txBody>
                    <a:bodyPr/>
                    <a:lstStyle/>
                    <a:p>
                      <a:r>
                        <a:rPr sz="1400" b="0">
                          <a:solidFill>
                            <a:srgbClr val="1B2430"/>
                          </a:solidFill>
                          <a:latin typeface="Calibri"/>
                        </a:rPr>
                        <a:t>Video-analitika, tavsiya</a:t>
                      </a:r>
                    </a:p>
                  </a:txBody>
                  <a:tcPr>
                    <a:solidFill>
                      <a:srgbClr val="F1F4F8"/>
                    </a:solidFill>
                  </a:tcPr>
                </a:tc>
              </a:tr>
              <a:tr h="520000">
                <a:tc>
                  <a:txBody>
                    <a:bodyPr/>
                    <a:lstStyle/>
                    <a:p>
                      <a:r>
                        <a:rPr sz="1400" b="0">
                          <a:solidFill>
                            <a:srgbClr val="1B2430"/>
                          </a:solidFill>
                          <a:latin typeface="Calibri"/>
                        </a:rPr>
                        <a:t>O'qitish serveri</a:t>
                      </a:r>
                    </a:p>
                  </a:txBody>
                  <a:tcPr>
                    <a:solidFill>
                      <a:srgbClr val="FFFFFF"/>
                    </a:solidFill>
                  </a:tcPr>
                </a:tc>
                <a:tc>
                  <a:txBody>
                    <a:bodyPr/>
                    <a:lstStyle/>
                    <a:p>
                      <a:r>
                        <a:rPr sz="1400" b="0">
                          <a:solidFill>
                            <a:srgbClr val="1B2430"/>
                          </a:solidFill>
                          <a:latin typeface="Calibri"/>
                        </a:rPr>
                        <a:t>NVIDIA A100 80 GB</a:t>
                      </a:r>
                    </a:p>
                  </a:txBody>
                  <a:tcPr>
                    <a:solidFill>
                      <a:srgbClr val="FFFFFF"/>
                    </a:solidFill>
                  </a:tcPr>
                </a:tc>
                <a:tc>
                  <a:txBody>
                    <a:bodyPr/>
                    <a:lstStyle/>
                    <a:p>
                      <a:r>
                        <a:rPr sz="1400" b="0">
                          <a:solidFill>
                            <a:srgbClr val="1B2430"/>
                          </a:solidFill>
                          <a:latin typeface="Calibri"/>
                        </a:rPr>
                        <a:t>312 TFLOPS FP16 (zich)</a:t>
                      </a:r>
                    </a:p>
                  </a:txBody>
                  <a:tcPr>
                    <a:solidFill>
                      <a:srgbClr val="FFFFFF"/>
                    </a:solidFill>
                  </a:tcPr>
                </a:tc>
                <a:tc>
                  <a:txBody>
                    <a:bodyPr/>
                    <a:lstStyle/>
                    <a:p>
                      <a:r>
                        <a:rPr sz="1400" b="0">
                          <a:solidFill>
                            <a:srgbClr val="1B2430"/>
                          </a:solidFill>
                          <a:latin typeface="Calibri"/>
                        </a:rPr>
                        <a:t>80 GB HBM2e, ~2 TB/s</a:t>
                      </a:r>
                    </a:p>
                  </a:txBody>
                  <a:tcPr>
                    <a:solidFill>
                      <a:srgbClr val="FFFFFF"/>
                    </a:solidFill>
                  </a:tcPr>
                </a:tc>
                <a:tc>
                  <a:txBody>
                    <a:bodyPr/>
                    <a:lstStyle/>
                    <a:p>
                      <a:r>
                        <a:rPr sz="1400" b="0">
                          <a:solidFill>
                            <a:srgbClr val="1B2430"/>
                          </a:solidFill>
                          <a:latin typeface="Calibri"/>
                        </a:rPr>
                        <a:t>400 W</a:t>
                      </a:r>
                    </a:p>
                  </a:txBody>
                  <a:tcPr>
                    <a:solidFill>
                      <a:srgbClr val="FFFFFF"/>
                    </a:solidFill>
                  </a:tcPr>
                </a:tc>
                <a:tc>
                  <a:txBody>
                    <a:bodyPr/>
                    <a:lstStyle/>
                    <a:p>
                      <a:r>
                        <a:rPr sz="1400" b="0">
                          <a:solidFill>
                            <a:srgbClr val="1B2430"/>
                          </a:solidFill>
                          <a:latin typeface="Calibri"/>
                        </a:rPr>
                        <a:t>O'qitish, katta modellar</a:t>
                      </a:r>
                    </a:p>
                  </a:txBody>
                  <a:tcPr>
                    <a:solidFill>
                      <a:srgbClr val="FFFFFF"/>
                    </a:solidFill>
                  </a:tcPr>
                </a:tc>
              </a:tr>
              <a:tr h="520000">
                <a:tc>
                  <a:txBody>
                    <a:bodyPr/>
                    <a:lstStyle/>
                    <a:p>
                      <a:r>
                        <a:rPr sz="1400" b="0">
                          <a:solidFill>
                            <a:srgbClr val="1B2430"/>
                          </a:solidFill>
                          <a:latin typeface="Calibri"/>
                        </a:rPr>
                        <a:t>O'qitish serveri</a:t>
                      </a:r>
                    </a:p>
                  </a:txBody>
                  <a:tcPr>
                    <a:solidFill>
                      <a:srgbClr val="F1F4F8"/>
                    </a:solidFill>
                  </a:tcPr>
                </a:tc>
                <a:tc>
                  <a:txBody>
                    <a:bodyPr/>
                    <a:lstStyle/>
                    <a:p>
                      <a:r>
                        <a:rPr sz="1400" b="0">
                          <a:solidFill>
                            <a:srgbClr val="1B2430"/>
                          </a:solidFill>
                          <a:latin typeface="Calibri"/>
                        </a:rPr>
                        <a:t>NVIDIA H100 SXM</a:t>
                      </a:r>
                    </a:p>
                  </a:txBody>
                  <a:tcPr>
                    <a:solidFill>
                      <a:srgbClr val="F1F4F8"/>
                    </a:solidFill>
                  </a:tcPr>
                </a:tc>
                <a:tc>
                  <a:txBody>
                    <a:bodyPr/>
                    <a:lstStyle/>
                    <a:p>
                      <a:r>
                        <a:rPr sz="1400" b="0">
                          <a:solidFill>
                            <a:srgbClr val="1B2430"/>
                          </a:solidFill>
                          <a:latin typeface="Calibri"/>
                        </a:rPr>
                        <a:t>~990 TFLOPS FP16 (zich)</a:t>
                      </a:r>
                    </a:p>
                  </a:txBody>
                  <a:tcPr>
                    <a:solidFill>
                      <a:srgbClr val="F1F4F8"/>
                    </a:solidFill>
                  </a:tcPr>
                </a:tc>
                <a:tc>
                  <a:txBody>
                    <a:bodyPr/>
                    <a:lstStyle/>
                    <a:p>
                      <a:r>
                        <a:rPr sz="1400" b="0">
                          <a:solidFill>
                            <a:srgbClr val="1B2430"/>
                          </a:solidFill>
                          <a:latin typeface="Calibri"/>
                        </a:rPr>
                        <a:t>80 GB HBM3, 3,35 TB/s</a:t>
                      </a:r>
                    </a:p>
                  </a:txBody>
                  <a:tcPr>
                    <a:solidFill>
                      <a:srgbClr val="F1F4F8"/>
                    </a:solidFill>
                  </a:tcPr>
                </a:tc>
                <a:tc>
                  <a:txBody>
                    <a:bodyPr/>
                    <a:lstStyle/>
                    <a:p>
                      <a:r>
                        <a:rPr sz="1400" b="0">
                          <a:solidFill>
                            <a:srgbClr val="1B2430"/>
                          </a:solidFill>
                          <a:latin typeface="Calibri"/>
                        </a:rPr>
                        <a:t>700 W</a:t>
                      </a:r>
                    </a:p>
                  </a:txBody>
                  <a:tcPr>
                    <a:solidFill>
                      <a:srgbClr val="F1F4F8"/>
                    </a:solidFill>
                  </a:tcPr>
                </a:tc>
                <a:tc>
                  <a:txBody>
                    <a:bodyPr/>
                    <a:lstStyle/>
                    <a:p>
                      <a:r>
                        <a:rPr sz="1400" b="0">
                          <a:solidFill>
                            <a:srgbClr val="1B2430"/>
                          </a:solidFill>
                          <a:latin typeface="Calibri"/>
                        </a:rPr>
                        <a:t>LLM o'qitish va inferens</a:t>
                      </a:r>
                    </a:p>
                  </a:txBody>
                  <a:tcPr>
                    <a:solidFill>
                      <a:srgbClr val="F1F4F8"/>
                    </a:solidFill>
                  </a:tcPr>
                </a:tc>
              </a:tr>
              <a:tr h="520000">
                <a:tc>
                  <a:txBody>
                    <a:bodyPr/>
                    <a:lstStyle/>
                    <a:p>
                      <a:r>
                        <a:rPr sz="1400" b="0">
                          <a:solidFill>
                            <a:srgbClr val="1B2430"/>
                          </a:solidFill>
                          <a:latin typeface="Calibri"/>
                        </a:rPr>
                        <a:t>Bulut tezlatkichi</a:t>
                      </a:r>
                    </a:p>
                  </a:txBody>
                  <a:tcPr>
                    <a:solidFill>
                      <a:srgbClr val="FFFFFF"/>
                    </a:solidFill>
                  </a:tcPr>
                </a:tc>
                <a:tc>
                  <a:txBody>
                    <a:bodyPr/>
                    <a:lstStyle/>
                    <a:p>
                      <a:r>
                        <a:rPr sz="1400" b="0">
                          <a:solidFill>
                            <a:srgbClr val="1B2430"/>
                          </a:solidFill>
                          <a:latin typeface="Calibri"/>
                        </a:rPr>
                        <a:t>Google TPU v5e</a:t>
                      </a:r>
                    </a:p>
                  </a:txBody>
                  <a:tcPr>
                    <a:solidFill>
                      <a:srgbClr val="FFFFFF"/>
                    </a:solidFill>
                  </a:tcPr>
                </a:tc>
                <a:tc>
                  <a:txBody>
                    <a:bodyPr/>
                    <a:lstStyle/>
                    <a:p>
                      <a:r>
                        <a:rPr sz="1400" b="0">
                          <a:solidFill>
                            <a:srgbClr val="1B2430"/>
                          </a:solidFill>
                          <a:latin typeface="Calibri"/>
                        </a:rPr>
                        <a:t>197 TFLOPS BF16</a:t>
                      </a:r>
                    </a:p>
                  </a:txBody>
                  <a:tcPr>
                    <a:solidFill>
                      <a:srgbClr val="FFFFFF"/>
                    </a:solidFill>
                  </a:tcPr>
                </a:tc>
                <a:tc>
                  <a:txBody>
                    <a:bodyPr/>
                    <a:lstStyle/>
                    <a:p>
                      <a:r>
                        <a:rPr sz="1400" b="0">
                          <a:solidFill>
                            <a:srgbClr val="1B2430"/>
                          </a:solidFill>
                          <a:latin typeface="Calibri"/>
                        </a:rPr>
                        <a:t>16 GB HBM2, 819 GB/s</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Bulutda o'qitish/inferens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intellektga asoslangan hisoblash platformalari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Platforma sinfi</a:t>
                      </a:r>
                    </a:p>
                  </a:txBody>
                  <a:tcPr>
                    <a:solidFill>
                      <a:srgbClr val="2D5C8F"/>
                    </a:solidFill>
                  </a:tcPr>
                </a:tc>
                <a:tc>
                  <a:txBody>
                    <a:bodyPr/>
                    <a:lstStyle/>
                    <a:p>
                      <a:r>
                        <a:rPr sz="1400" b="1">
                          <a:solidFill>
                            <a:srgbClr val="FFFFFF"/>
                          </a:solidFill>
                          <a:latin typeface="Calibri"/>
                        </a:rPr>
                        <a:t>Tipik vakil</a:t>
                      </a:r>
                    </a:p>
                  </a:txBody>
                  <a:tcPr>
                    <a:solidFill>
                      <a:srgbClr val="2D5C8F"/>
                    </a:solidFill>
                  </a:tcPr>
                </a:tc>
                <a:tc>
                  <a:txBody>
                    <a:bodyPr/>
                    <a:lstStyle/>
                    <a:p>
                      <a:r>
                        <a:rPr sz="1400" b="1">
                          <a:solidFill>
                            <a:srgbClr val="FFFFFF"/>
                          </a:solidFill>
                          <a:latin typeface="Calibri"/>
                        </a:rPr>
                        <a:t>Hisoblash quvvati (taxm.)</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Energiya</a:t>
                      </a:r>
                    </a:p>
                  </a:txBody>
                  <a:tcPr>
                    <a:solidFill>
                      <a:srgbClr val="2D5C8F"/>
                    </a:solidFill>
                  </a:tcPr>
                </a:tc>
                <a:tc>
                  <a:txBody>
                    <a:bodyPr/>
                    <a:lstStyle/>
                    <a:p>
                      <a:r>
                        <a:rPr sz="1400" b="1">
                          <a:solidFill>
                            <a:srgbClr val="FFFFFF"/>
                          </a:solidFill>
                          <a:latin typeface="Calibri"/>
                        </a:rPr>
                        <a:t>Odatiy vazifa</a:t>
                      </a:r>
                    </a:p>
                  </a:txBody>
                  <a:tcPr>
                    <a:solidFill>
                      <a:srgbClr val="2D5C8F"/>
                    </a:solidFill>
                  </a:tcPr>
                </a:tc>
              </a:tr>
              <a:tr h="520000">
                <a:tc>
                  <a:txBody>
                    <a:bodyPr/>
                    <a:lstStyle/>
                    <a:p>
                      <a:r>
                        <a:rPr sz="1400" b="0">
                          <a:solidFill>
                            <a:srgbClr val="1B2430"/>
                          </a:solidFill>
                          <a:latin typeface="Calibri"/>
                        </a:rPr>
                        <a:t>Bulut tezlatkichi</a:t>
                      </a:r>
                    </a:p>
                  </a:txBody>
                  <a:tcPr>
                    <a:solidFill>
                      <a:srgbClr val="F1F4F8"/>
                    </a:solidFill>
                  </a:tcPr>
                </a:tc>
                <a:tc>
                  <a:txBody>
                    <a:bodyPr/>
                    <a:lstStyle/>
                    <a:p>
                      <a:r>
                        <a:rPr sz="1400" b="0">
                          <a:solidFill>
                            <a:srgbClr val="1B2430"/>
                          </a:solidFill>
                          <a:latin typeface="Calibri"/>
                        </a:rPr>
                        <a:t>Intel Gaudi 3</a:t>
                      </a:r>
                    </a:p>
                  </a:txBody>
                  <a:tcPr>
                    <a:solidFill>
                      <a:srgbClr val="F1F4F8"/>
                    </a:solidFill>
                  </a:tcPr>
                </a:tc>
                <a:tc>
                  <a:txBody>
                    <a:bodyPr/>
                    <a:lstStyle/>
                    <a:p>
                      <a:r>
                        <a:rPr sz="1400" b="0">
                          <a:solidFill>
                            <a:srgbClr val="1B2430"/>
                          </a:solidFill>
                          <a:latin typeface="Calibri"/>
                        </a:rPr>
                        <a:t>~1,8 PFLOPS FP8</a:t>
                      </a:r>
                    </a:p>
                  </a:txBody>
                  <a:tcPr>
                    <a:solidFill>
                      <a:srgbClr val="F1F4F8"/>
                    </a:solidFill>
                  </a:tcPr>
                </a:tc>
                <a:tc>
                  <a:txBody>
                    <a:bodyPr/>
                    <a:lstStyle/>
                    <a:p>
                      <a:r>
                        <a:rPr sz="1400" b="0">
                          <a:solidFill>
                            <a:srgbClr val="1B2430"/>
                          </a:solidFill>
                          <a:latin typeface="Calibri"/>
                        </a:rPr>
                        <a:t>128 GB HBM2e, 3,7 TB/s</a:t>
                      </a:r>
                    </a:p>
                  </a:txBody>
                  <a:tcPr>
                    <a:solidFill>
                      <a:srgbClr val="F1F4F8"/>
                    </a:solidFill>
                  </a:tcPr>
                </a:tc>
                <a:tc>
                  <a:txBody>
                    <a:bodyPr/>
                    <a:lstStyle/>
                    <a:p>
                      <a:r>
                        <a:rPr sz="1400" b="0">
                          <a:solidFill>
                            <a:srgbClr val="1B2430"/>
                          </a:solidFill>
                          <a:latin typeface="Calibri"/>
                        </a:rPr>
                        <a:t>~900 W</a:t>
                      </a:r>
                    </a:p>
                  </a:txBody>
                  <a:tcPr>
                    <a:solidFill>
                      <a:srgbClr val="F1F4F8"/>
                    </a:solidFill>
                  </a:tcPr>
                </a:tc>
                <a:tc>
                  <a:txBody>
                    <a:bodyPr/>
                    <a:lstStyle/>
                    <a:p>
                      <a:r>
                        <a:rPr sz="1400" b="0">
                          <a:solidFill>
                            <a:srgbClr val="1B2430"/>
                          </a:solidFill>
                          <a:latin typeface="Calibri"/>
                        </a:rPr>
                        <a:t>LLM o'qitish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3e63c437ae669bb.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Oleg Yunakov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AI-enabled computer systems arxitekturasi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AI-enabled computer systems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44124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4124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7734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81240"/>
            <a:ext cx="10150000" cy="1004380"/>
          </a:xfrm>
          <a:prstGeom prst="rect">
            <a:avLst/>
          </a:prstGeom>
          <a:noFill/>
        </p:spPr>
        <p:txBody>
          <a:bodyPr wrap="square" anchor="ctr">
            <a:spAutoFit/>
          </a:bodyPr>
          <a:lstStyle/>
          <a:p>
            <a:r>
              <a:rPr sz="1600" b="1">
                <a:solidFill>
                  <a:srgbClr val="1F3A5F"/>
                </a:solidFill>
                <a:latin typeface="Calibri"/>
              </a:rPr>
              <a:t>AI-enabled kompyuter tizimi — bu funksionalligining muhim qismi o'qitilgan model orqali amalga oshiriladigan tizim.</a:t>
            </a:r>
          </a:p>
          <a:p>
            <a:pPr>
              <a:spcBef>
                <a:spcPts val="400"/>
              </a:spcBef>
            </a:pPr>
            <a:r>
              <a:rPr sz="1500">
                <a:solidFill>
                  <a:srgbClr val="334055"/>
                </a:solidFill>
                <a:latin typeface="Calibri"/>
              </a:rPr>
              <a:t>Uning arxitekturasini besh qatlamli model sifatida tasavvur qilish qulay:</a:t>
            </a:r>
          </a:p>
        </p:txBody>
      </p:sp>
      <p:sp>
        <p:nvSpPr>
          <p:cNvPr id="14" name="Rounded Rectangle 13"/>
          <p:cNvSpPr/>
          <p:nvPr/>
        </p:nvSpPr>
        <p:spPr>
          <a:xfrm>
            <a:off x="550000" y="263562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63562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6781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75620"/>
            <a:ext cx="10150000" cy="1004380"/>
          </a:xfrm>
          <a:prstGeom prst="rect">
            <a:avLst/>
          </a:prstGeom>
          <a:noFill/>
        </p:spPr>
        <p:txBody>
          <a:bodyPr wrap="square" anchor="ctr">
            <a:spAutoFit/>
          </a:bodyPr>
          <a:lstStyle/>
          <a:p>
            <a:r>
              <a:rPr sz="1600" b="1">
                <a:solidFill>
                  <a:srgbClr val="1F3A5F"/>
                </a:solidFill>
                <a:latin typeface="Calibri"/>
              </a:rPr>
              <a:t>Ma'lumot qabul qilish qatlami (ingestion).</a:t>
            </a:r>
          </a:p>
          <a:p>
            <a:pPr>
              <a:spcBef>
                <a:spcPts val="400"/>
              </a:spcBef>
            </a:pPr>
            <a:r>
              <a:rPr sz="1500">
                <a:solidFill>
                  <a:srgbClr val="334055"/>
                </a:solidFill>
                <a:latin typeface="Calibri"/>
              </a:rPr>
              <a:t>sensorlar, kameralar, jurnallar, foydalanuvchi so'rovlari. Bu yerda protokollar (RTSP, MQTT, HTTP/gRPC), kodeklar (H.264/H.265) va buferlash hal qilinadi.</a:t>
            </a:r>
          </a:p>
        </p:txBody>
      </p:sp>
      <p:sp>
        <p:nvSpPr>
          <p:cNvPr id="18" name="Rounded Rectangle 17"/>
          <p:cNvSpPr/>
          <p:nvPr/>
        </p:nvSpPr>
        <p:spPr>
          <a:xfrm>
            <a:off x="550000" y="383000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0843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16219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004380"/>
          </a:xfrm>
          <a:prstGeom prst="rect">
            <a:avLst/>
          </a:prstGeom>
          <a:noFill/>
        </p:spPr>
        <p:txBody>
          <a:bodyPr wrap="square" anchor="ctr">
            <a:spAutoFit/>
          </a:bodyPr>
          <a:lstStyle/>
          <a:p>
            <a:r>
              <a:rPr sz="1600" b="1">
                <a:solidFill>
                  <a:srgbClr val="1F3A5F"/>
                </a:solidFill>
                <a:latin typeface="Calibri"/>
              </a:rPr>
              <a:t>Oldindan ishlov berish qatlami (preprocessing).</a:t>
            </a:r>
          </a:p>
          <a:p>
            <a:pPr>
              <a:spcBef>
                <a:spcPts val="400"/>
              </a:spcBef>
            </a:pPr>
            <a:r>
              <a:rPr sz="1500">
                <a:solidFill>
                  <a:srgbClr val="334055"/>
                </a:solidFill>
                <a:latin typeface="Calibri"/>
              </a:rPr>
              <a:t>dekodlash, o'lchamini o'zgartirish, normallashtirish, tokenlashtirish. Ko'pincha e'tibordan chetda qoladi, lekin video tizimlarida dekodlash inferensdan ko'ra ko'proq resurs talab qilishi mumkin.</a:t>
            </a:r>
          </a:p>
        </p:txBody>
      </p:sp>
      <p:sp>
        <p:nvSpPr>
          <p:cNvPr id="22" name="Rounded Rectangle 21"/>
          <p:cNvSpPr/>
          <p:nvPr/>
        </p:nvSpPr>
        <p:spPr>
          <a:xfrm>
            <a:off x="550000" y="502438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024380"/>
            <a:ext cx="70000" cy="10843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35657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064380"/>
            <a:ext cx="10150000" cy="1004380"/>
          </a:xfrm>
          <a:prstGeom prst="rect">
            <a:avLst/>
          </a:prstGeom>
          <a:noFill/>
        </p:spPr>
        <p:txBody>
          <a:bodyPr wrap="square" anchor="ctr">
            <a:spAutoFit/>
          </a:bodyPr>
          <a:lstStyle/>
          <a:p>
            <a:r>
              <a:rPr sz="1600" b="1">
                <a:solidFill>
                  <a:srgbClr val="1F3A5F"/>
                </a:solidFill>
                <a:latin typeface="Calibri"/>
              </a:rPr>
              <a:t>Inferens qatlami.</a:t>
            </a:r>
          </a:p>
          <a:p>
            <a:pPr>
              <a:spcBef>
                <a:spcPts val="400"/>
              </a:spcBef>
            </a:pPr>
            <a:r>
              <a:rPr sz="1500">
                <a:solidFill>
                  <a:srgbClr val="334055"/>
                </a:solidFill>
                <a:latin typeface="Calibri"/>
              </a:rPr>
              <a:t>modelning o'zi va uni bajaruvchi ish vaqti muhiti (PyTorch, ONNX Runtime, TensorRT, OpenVINO). Bu qatlam tezlatkich bilan bevosita ishlaydi.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AI-enabled computer systems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Orkestratsiya va biznes mantiq qatlami.</a:t>
            </a:r>
          </a:p>
          <a:p>
            <a:pPr>
              <a:spcBef>
                <a:spcPts val="400"/>
              </a:spcBef>
            </a:pPr>
            <a:r>
              <a:rPr sz="1400">
                <a:solidFill>
                  <a:srgbClr val="334055"/>
                </a:solidFill>
                <a:latin typeface="Calibri"/>
              </a:rPr>
              <a:t>natijalarni birlashtirish, qoidalar, kuzatish (tracking), hodisalarni yaratish, saqlash, boshqa tizimlarga uzatish.</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Kuzatuv va boshqaruv qatlami (observability).</a:t>
            </a:r>
          </a:p>
          <a:p>
            <a:pPr>
              <a:spcBef>
                <a:spcPts val="400"/>
              </a:spcBef>
            </a:pPr>
            <a:r>
              <a:rPr sz="1400">
                <a:solidFill>
                  <a:srgbClr val="334055"/>
                </a:solidFill>
                <a:latin typeface="Calibri"/>
              </a:rPr>
              <a:t>metrikalar (kechikish, o'tkazuvchanlik, GPU bandligi), jurnallar, model sifati monitoringi, versiya boshqaruvi.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500" b="1">
                <a:solidFill>
                  <a:srgbClr val="1F3A5F"/>
                </a:solidFill>
                <a:latin typeface="Calibri"/>
              </a:rPr>
              <a:t>Qatlamlar orasidagi interfeyslar aniq belgilanishi kerak, chunki ular apparat chegaralari bilan mos tushadi: masalan, 1-2-qatlamlar CPU va video dekoder (NVDEC) da, 3-qatlam GPU da, 4-5-qatlamlar CPU da ishlashi mumkin.</a:t>
            </a:r>
          </a:p>
          <a:p>
            <a:pPr>
              <a:spcBef>
                <a:spcPts val="400"/>
              </a:spcBef>
            </a:pPr>
            <a:r>
              <a:rPr sz="1400">
                <a:solidFill>
                  <a:srgbClr val="334055"/>
                </a:solidFill>
                <a:latin typeface="Calibri"/>
              </a:rPr>
              <a:t>Ma'lumotning bu chegaralardan o'tishi — xost va qurilma xotirasi o'rtasida nusxalash — ko'pincha asosiy to'siq (bottleneck) bo'ladi.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500" b="1">
                <a:solidFill>
                  <a:srgbClr val="1F3A5F"/>
                </a:solidFill>
                <a:latin typeface="Calibri"/>
              </a:rPr>
              <a:t>Arxitekturaning yana bir o'lchovi — inferens rejimi.</a:t>
            </a:r>
          </a:p>
          <a:p>
            <a:pPr>
              <a:spcBef>
                <a:spcPts val="400"/>
              </a:spcBef>
            </a:pPr>
            <a:r>
              <a:rPr sz="1400">
                <a:solidFill>
                  <a:srgbClr val="334055"/>
                </a:solidFill>
                <a:latin typeface="Calibri"/>
              </a:rPr>
              <a:t>Onlayn (real vaqt) rejimda har bir so'rov alohida va kechikish muhim; paketli (batch) rejimda so'rovlar to'planib, o'tkazuvchanlik muhim; oqimli (streaming) rejimda uzluksiz ma'lumot oqimi qayta ishlanadi.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AI-enabled computer systems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040024"/>
            <a:ext cx="70000" cy="1469952"/>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9</a:t>
            </a:r>
          </a:p>
        </p:txBody>
      </p:sp>
      <p:sp>
        <p:nvSpPr>
          <p:cNvPr id="13" name="TextBox 12"/>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Ko'rsatkichlarni rasmiylashtiraylik.</a:t>
            </a:r>
          </a:p>
          <a:p>
            <a:pPr>
              <a:spcBef>
                <a:spcPts val="400"/>
              </a:spcBef>
            </a:pPr>
            <a:r>
              <a:rPr sz="1700">
                <a:solidFill>
                  <a:srgbClr val="334055"/>
                </a:solidFill>
                <a:latin typeface="Calibri"/>
              </a:rPr>
              <a:t>Agar tizim N ta kameradan har biri f kadr/soniya tezlikda ma'lumot olsa va model bitta kadr uchun C FLOP talab qilsa, zarur hisoblash quvvati P = N × f × C / η bo'ladi, bu yerda η — tezlatkichdan real foydalanish koeffitsiyenti (odatda 0,2–0,6).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ba312c577b79652.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Ashley Pomeroy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Apparat va dasturiy ta'minotni birgalikda loyihalash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Apparat va dasturiy ta'minotni birgalikda loyihalash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Hardware–software co-design — tizimning apparat va dasturiy qismlarini alohida emas, balki bir vaqtning o'zida, bir-biriga moslashtirib loyihalash metodologiyasi.</a:t>
            </a:r>
          </a:p>
          <a:p>
            <a:pPr>
              <a:spcBef>
                <a:spcPts val="400"/>
              </a:spcBef>
            </a:pPr>
            <a:r>
              <a:rPr sz="1400">
                <a:solidFill>
                  <a:srgbClr val="334055"/>
                </a:solidFill>
                <a:latin typeface="Calibri"/>
              </a:rPr>
              <a:t>An'anaviy yondashuvda apparat avval tanlanadi (yoki mavjud bo'ladi), so'ng dastur unga moslashtiriladi.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400" b="0">
                <a:solidFill>
                  <a:srgbClr val="1B2430"/>
                </a:solidFill>
                <a:latin typeface="Calibri"/>
              </a:rPr>
              <a:t>Co-design jarayonini to'rt o'lchovli izlanish fazosi sifatida tasavvur qilish mumkin:</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500" b="1">
                <a:solidFill>
                  <a:srgbClr val="1F3A5F"/>
                </a:solidFill>
                <a:latin typeface="Calibri"/>
              </a:rPr>
              <a:t>Co-design amaliy jihatdan iterativ jarayon.</a:t>
            </a:r>
          </a:p>
          <a:p>
            <a:pPr>
              <a:spcBef>
                <a:spcPts val="400"/>
              </a:spcBef>
            </a:pPr>
            <a:r>
              <a:rPr sz="1400">
                <a:solidFill>
                  <a:srgbClr val="334055"/>
                </a:solidFill>
                <a:latin typeface="Calibri"/>
              </a:rPr>
              <a:t>Birinchi iteratsiyada talab (kechikish, aniqlik, byudjet, energiya) qo'yiladi va nomzod model hamda nomzod apparat tanlanadi. Ikkinchi iteratsiyada model shu apparatda profillanadi — qaysi qatlamlar sekin, xotira yetarlimi, tezlatkichdan foydalanish qanday.</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500" b="1">
                <a:solidFill>
                  <a:srgbClr val="1F3A5F"/>
                </a:solidFill>
                <a:latin typeface="Calibri"/>
              </a:rPr>
              <a:t>Co-design kontekstida ikki klassik qonun doimo yodda bo'lishi kerak.</a:t>
            </a:r>
          </a:p>
          <a:p>
            <a:pPr>
              <a:spcBef>
                <a:spcPts val="400"/>
              </a:spcBef>
            </a:pPr>
            <a:r>
              <a:rPr sz="1400">
                <a:solidFill>
                  <a:srgbClr val="334055"/>
                </a:solidFill>
                <a:latin typeface="Calibri"/>
              </a:rPr>
              <a:t>Amdal qonuni (Amdahl's law): agar dasturning p ulushi tezlashtirilsa va qolgan 1−p ulushi o'zgarmasa, umumiy tezlashuv S = 1 / ((1−p) + p/s) dan oshmaydi, bu yerda s — tezlashtirilgan qismning tezlashuvi.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Apparat va dasturiy ta'minotni birgalikda loyihalash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O'lchov</a:t>
                      </a:r>
                    </a:p>
                  </a:txBody>
                  <a:tcPr>
                    <a:solidFill>
                      <a:srgbClr val="2D5C8F"/>
                    </a:solidFill>
                  </a:tcPr>
                </a:tc>
                <a:tc>
                  <a:txBody>
                    <a:bodyPr/>
                    <a:lstStyle/>
                    <a:p>
                      <a:r>
                        <a:rPr sz="1200" b="1">
                          <a:solidFill>
                            <a:srgbClr val="FFFFFF"/>
                          </a:solidFill>
                          <a:latin typeface="Calibri"/>
                        </a:rPr>
                        <a:t>Dasturiy tomondagi tanlovlar</a:t>
                      </a:r>
                    </a:p>
                  </a:txBody>
                  <a:tcPr>
                    <a:solidFill>
                      <a:srgbClr val="2D5C8F"/>
                    </a:solidFill>
                  </a:tcPr>
                </a:tc>
                <a:tc>
                  <a:txBody>
                    <a:bodyPr/>
                    <a:lstStyle/>
                    <a:p>
                      <a:r>
                        <a:rPr sz="1200" b="1">
                          <a:solidFill>
                            <a:srgbClr val="FFFFFF"/>
                          </a:solidFill>
                          <a:latin typeface="Calibri"/>
                        </a:rPr>
                        <a:t>Apparat tomondagi tanlovlar</a:t>
                      </a:r>
                    </a:p>
                  </a:txBody>
                  <a:tcPr>
                    <a:solidFill>
                      <a:srgbClr val="2D5C8F"/>
                    </a:solidFill>
                  </a:tcPr>
                </a:tc>
                <a:tc>
                  <a:txBody>
                    <a:bodyPr/>
                    <a:lstStyle/>
                    <a:p>
                      <a:r>
                        <a:rPr sz="1200" b="1">
                          <a:solidFill>
                            <a:srgbClr val="FFFFFF"/>
                          </a:solidFill>
                          <a:latin typeface="Calibri"/>
                        </a:rPr>
                        <a:t>O'zaro ta'sir</a:t>
                      </a:r>
                    </a:p>
                  </a:txBody>
                  <a:tcPr>
                    <a:solidFill>
                      <a:srgbClr val="2D5C8F"/>
                    </a:solidFill>
                  </a:tcPr>
                </a:tc>
              </a:tr>
              <a:tr h="520000">
                <a:tc>
                  <a:txBody>
                    <a:bodyPr/>
                    <a:lstStyle/>
                    <a:p>
                      <a:r>
                        <a:rPr sz="1200" b="0">
                          <a:solidFill>
                            <a:srgbClr val="1B2430"/>
                          </a:solidFill>
                          <a:latin typeface="Calibri"/>
                        </a:rPr>
                        <a:t>Hisoblash</a:t>
                      </a:r>
                    </a:p>
                  </a:txBody>
                  <a:tcPr>
                    <a:solidFill>
                      <a:srgbClr val="F1F4F8"/>
                    </a:solidFill>
                  </a:tcPr>
                </a:tc>
                <a:tc>
                  <a:txBody>
                    <a:bodyPr/>
                    <a:lstStyle/>
                    <a:p>
                      <a:r>
                        <a:rPr sz="1200" b="0">
                          <a:solidFill>
                            <a:srgbClr val="1B2430"/>
                          </a:solidFill>
                          <a:latin typeface="Calibri"/>
                        </a:rPr>
                        <a:t>Model hajmi, arxitektura, FLOP</a:t>
                      </a:r>
                    </a:p>
                  </a:txBody>
                  <a:tcPr>
                    <a:solidFill>
                      <a:srgbClr val="F1F4F8"/>
                    </a:solidFill>
                  </a:tcPr>
                </a:tc>
                <a:tc>
                  <a:txBody>
                    <a:bodyPr/>
                    <a:lstStyle/>
                    <a:p>
                      <a:r>
                        <a:rPr sz="1200" b="0">
                          <a:solidFill>
                            <a:srgbClr val="1B2430"/>
                          </a:solidFill>
                          <a:latin typeface="Calibri"/>
                        </a:rPr>
                        <a:t>TFLOPS, yadrolar soni, chastota</a:t>
                      </a:r>
                    </a:p>
                  </a:txBody>
                  <a:tcPr>
                    <a:solidFill>
                      <a:srgbClr val="F1F4F8"/>
                    </a:solidFill>
                  </a:tcPr>
                </a:tc>
                <a:tc>
                  <a:txBody>
                    <a:bodyPr/>
                    <a:lstStyle/>
                    <a:p>
                      <a:r>
                        <a:rPr sz="1200" b="0">
                          <a:solidFill>
                            <a:srgbClr val="1B2430"/>
                          </a:solidFill>
                          <a:latin typeface="Calibri"/>
                        </a:rPr>
                        <a:t>Model murakkabligi ↔ tezlatkich sinfi</a:t>
                      </a:r>
                    </a:p>
                  </a:txBody>
                  <a:tcPr>
                    <a:solidFill>
                      <a:srgbClr val="F1F4F8"/>
                    </a:solidFill>
                  </a:tcPr>
                </a:tc>
              </a:tr>
              <a:tr h="520000">
                <a:tc>
                  <a:txBody>
                    <a:bodyPr/>
                    <a:lstStyle/>
                    <a:p>
                      <a:r>
                        <a:rPr sz="1200" b="0">
                          <a:solidFill>
                            <a:srgbClr val="1B2430"/>
                          </a:solidFill>
                          <a:latin typeface="Calibri"/>
                        </a:rPr>
                        <a:t>Aniqlik</a:t>
                      </a:r>
                    </a:p>
                  </a:txBody>
                  <a:tcPr>
                    <a:solidFill>
                      <a:srgbClr val="FFFFFF"/>
                    </a:solidFill>
                  </a:tcPr>
                </a:tc>
                <a:tc>
                  <a:txBody>
                    <a:bodyPr/>
                    <a:lstStyle/>
                    <a:p>
                      <a:r>
                        <a:rPr sz="1200" b="0">
                          <a:solidFill>
                            <a:srgbClr val="1B2430"/>
                          </a:solidFill>
                          <a:latin typeface="Calibri"/>
                        </a:rPr>
                        <a:t>FP32 / FP16 / INT8 / FP8 kvantlash</a:t>
                      </a:r>
                    </a:p>
                  </a:txBody>
                  <a:tcPr>
                    <a:solidFill>
                      <a:srgbClr val="FFFFFF"/>
                    </a:solidFill>
                  </a:tcPr>
                </a:tc>
                <a:tc>
                  <a:txBody>
                    <a:bodyPr/>
                    <a:lstStyle/>
                    <a:p>
                      <a:r>
                        <a:rPr sz="1200" b="0">
                          <a:solidFill>
                            <a:srgbClr val="1B2430"/>
                          </a:solidFill>
                          <a:latin typeface="Calibri"/>
                        </a:rPr>
                        <a:t>Tensor Core, INT8 bloklar, NPU</a:t>
                      </a:r>
                    </a:p>
                  </a:txBody>
                  <a:tcPr>
                    <a:solidFill>
                      <a:srgbClr val="FFFFFF"/>
                    </a:solidFill>
                  </a:tcPr>
                </a:tc>
                <a:tc>
                  <a:txBody>
                    <a:bodyPr/>
                    <a:lstStyle/>
                    <a:p>
                      <a:r>
                        <a:rPr sz="1200" b="0">
                          <a:solidFill>
                            <a:srgbClr val="1B2430"/>
                          </a:solidFill>
                          <a:latin typeface="Calibri"/>
                        </a:rPr>
                        <a:t>Kvantlash apparatda qo'llab-quvvatlansa 2–4× tezlashuv</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Paket hajmi, aktivatsiyalar, KV-kesh</a:t>
                      </a:r>
                    </a:p>
                  </a:txBody>
                  <a:tcPr>
                    <a:solidFill>
                      <a:srgbClr val="F1F4F8"/>
                    </a:solidFill>
                  </a:tcPr>
                </a:tc>
                <a:tc>
                  <a:txBody>
                    <a:bodyPr/>
                    <a:lstStyle/>
                    <a:p>
                      <a:r>
                        <a:rPr sz="1200" b="0">
                          <a:solidFill>
                            <a:srgbClr val="1B2430"/>
                          </a:solidFill>
                          <a:latin typeface="Calibri"/>
                        </a:rPr>
                        <a:t>Xotira hajmi, o'tkazuvchanlik, iyerarxiya</a:t>
                      </a:r>
                    </a:p>
                  </a:txBody>
                  <a:tcPr>
                    <a:solidFill>
                      <a:srgbClr val="F1F4F8"/>
                    </a:solidFill>
                  </a:tcPr>
                </a:tc>
                <a:tc>
                  <a:txBody>
                    <a:bodyPr/>
                    <a:lstStyle/>
                    <a:p>
                      <a:r>
                        <a:rPr sz="1200" b="0">
                          <a:solidFill>
                            <a:srgbClr val="1B2430"/>
                          </a:solidFill>
                          <a:latin typeface="Calibri"/>
                        </a:rPr>
                        <a:t>Model sig'maydimi → bo'lish yoki siqish</a:t>
                      </a:r>
                    </a:p>
                  </a:txBody>
                  <a:tcPr>
                    <a:solidFill>
                      <a:srgbClr val="F1F4F8"/>
                    </a:solidFill>
                  </a:tcPr>
                </a:tc>
              </a:tr>
              <a:tr h="520000">
                <a:tc>
                  <a:txBody>
                    <a:bodyPr/>
                    <a:lstStyle/>
                    <a:p>
                      <a:r>
                        <a:rPr sz="1200" b="0">
                          <a:solidFill>
                            <a:srgbClr val="1B2430"/>
                          </a:solidFill>
                          <a:latin typeface="Calibri"/>
                        </a:rPr>
                        <a:t>Ma'lumot harakati</a:t>
                      </a:r>
                    </a:p>
                  </a:txBody>
                  <a:tcPr>
                    <a:solidFill>
                      <a:srgbClr val="FFFFFF"/>
                    </a:solidFill>
                  </a:tcPr>
                </a:tc>
                <a:tc>
                  <a:txBody>
                    <a:bodyPr/>
                    <a:lstStyle/>
                    <a:p>
                      <a:r>
                        <a:rPr sz="1200" b="0">
                          <a:solidFill>
                            <a:srgbClr val="1B2430"/>
                          </a:solidFill>
                          <a:latin typeface="Calibri"/>
                        </a:rPr>
                        <a:t>Quvur tuzilishi, nusxalash, nol-nusxa</a:t>
                      </a:r>
                    </a:p>
                  </a:txBody>
                  <a:tcPr>
                    <a:solidFill>
                      <a:srgbClr val="FFFFFF"/>
                    </a:solidFill>
                  </a:tcPr>
                </a:tc>
                <a:tc>
                  <a:txBody>
                    <a:bodyPr/>
                    <a:lstStyle/>
                    <a:p>
                      <a:r>
                        <a:rPr sz="1200" b="0">
                          <a:solidFill>
                            <a:srgbClr val="1B2430"/>
                          </a:solidFill>
                          <a:latin typeface="Calibri"/>
                        </a:rPr>
                        <a:t>PCIe, NVLink, birlashgan xotira</a:t>
                      </a:r>
                    </a:p>
                  </a:txBody>
                  <a:tcPr>
                    <a:solidFill>
                      <a:srgbClr val="FFFFFF"/>
                    </a:solidFill>
                  </a:tcPr>
                </a:tc>
                <a:tc>
                  <a:txBody>
                    <a:bodyPr/>
                    <a:lstStyle/>
                    <a:p>
                      <a:r>
                        <a:rPr sz="1200" b="0">
                          <a:solidFill>
                            <a:srgbClr val="1B2430"/>
                          </a:solidFill>
                          <a:latin typeface="Calibri"/>
                        </a:rPr>
                        <a:t>Nusxalash kechikishi ↔ shina kengligi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5c255ff50de1ec6.jpg"/>
          <p:cNvPicPr>
            <a:picLocks noChangeAspect="1"/>
          </p:cNvPicPr>
          <p:nvPr/>
        </p:nvPicPr>
        <p:blipFill>
          <a:blip r:embed="rId2"/>
          <a:srcRect l="19672" r="1967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Bennett Brown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Loyihalash tamoyillari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Loyihalash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 · Sun'iy intellektga asoslangan kompyuter tizimlari injiniringi: arxitektura va loyihalash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Yuqoridagi tushunchalar asosida SI tizimini loyihalashning amaliy tamoyillarini shakllantirish mumkin.</a:t>
            </a:r>
          </a:p>
          <a:p>
            <a:pPr>
              <a:spcBef>
                <a:spcPts val="400"/>
              </a:spcBef>
            </a:pPr>
            <a:r>
              <a:rPr sz="1700">
                <a:solidFill>
                  <a:srgbClr val="334055"/>
                </a:solidFill>
                <a:latin typeface="Calibri"/>
              </a:rPr>
              <a:t>Talabdan boshlash: kechikish byudjeti (masalan, kadrdan hodisagacha 200 ms), aniqlik chegarasi (mAP yoki F1), yuk (kameralar soni, so'rov/soniya), energiya va narx cheklovlari raqam bilan yoziladi; raqamsiz talab — talab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
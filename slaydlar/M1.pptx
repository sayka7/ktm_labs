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injiniringi (AI engineering) — SI komponentlarini o'z ichiga olgan tizimlarni ishonchli, takrorlanuvchi va masshtablanuvchi tarzda loyihalash, qurish, joylashtirish va ekspluatatsiya qilish fanidir. Microsoft tadqiqotchilari Amershi va hammualliflar 2019-yilgi ICSE konferensiyasidagi «Software Engineering for Machine Learning: A Case Study» maqolasida va keyinchalik [3] kitobida mashinali o'qitish ish jarayonining to'qqiz bosqichini ajratishgan: model talablarini aniqlash, ma'lumot yig'ish, ma'lumotni tozalash, ma'lumotni belgilash (labeling), xususiyatlarni ishlab chiqish, modelni o'qitish, modelni baholash, modelni joylashtirish va modelni monitoring qilish. Bu jarayon chiziqli emas — baholash natijasi yomon bo'lsa, ma'lumot yig'ishga qaytiladi; monitoring siljishni (drift) ko'rsatsa, qayta o'qitish boshlanadi.</a:t>
            </a:r>
          </a:p>
          <a:p/>
          <a:p>
            <a:r>
              <a:t>Amershi va hammualliflar SI tizimlarining an'anaviy dasturiy ta'minotdan uchta tub farqini ko'rsatadilar. Birinchidan, ma'lumotni boshqarish koddan ko'ra murakkabroq: ma'lumot versiyalanishi, sifati tekshirilishi, kelib chiqishi (provenance) kuzatilishi kerak. Ikkinchidan, modelni sozlash va qayta ishlatish an'anaviy kodni qayta ishlatishdan farq qiladi — oldindan o'qitilgan modelni boshqa sohaga ko'chirish alohida malaka talab qiladi. Uchinchidan, modul chegaralari buziladi: ikki model bir-biriga bog'liq bo'lib, birining o'zgarishi ikkinchisining xatti-harakatini o'zgartiradi (CACE tamoyili — «Changing Anything Changes Everything»).</a:t>
            </a:r>
          </a:p>
          <a:p/>
          <a:p>
            <a:r>
              <a:t>Kneusel [2] amaliy nuqtai nazardan SI injiniringini «modelni ishlaydigan mahsulotga aylantirish san'ati» deb ta'riflaydi va muhandis javob berishi kerak bo'lgan savollarni sanaydi: inferens qayerda bajariladi (bulut, server, qurilma)? Qanday kechikish qabul qilinadi? Xato narxi qancha? Model qanchalik tez eskiradi? Ushbu savollarning har biri bevosita kompyuter tizimi arxitekturasiga ta'sir qiladi. Masalan, 20 millisekund kechikish talabi va tarmoq orqali bulutga murojaat qilishning 50–100 millisekundlik tabiiy kechikishi bir-biriga zid — demak inferens qurilmaning o'zida bajarilishi shart.</a:t>
            </a:r>
          </a:p>
          <a:p/>
          <a:p>
            <a:r>
              <a:t>SI injiniringining yana bir muhim jihati — hayot sikli tushunchasi. Mustaqil ta'lim topshirig'ida keltirilgan Netflix tavsiya tizimi, Uber haydovchi tahlili va Amazon omborxona robototexnikasi misollarida umumiy naqsh ko'rinadi: ma'lumot to'xtovsiz oqib keladi, model davriy ravishda qayta o'qitiladi, A/B sinovlar orqali yangi versiya eskisi bilan taqqoslanadi, inferens infratuzilmasi esa yuk o'zgarishiga qarab avtomatik kengayadi. Netflix misolida tavsiya modeli offline rejimda (kecha-kunduz paketli hisoblash) o'qitiladi, lekin foydalanuvchi sahifani ochganda natija bir necha o'n millisekund ichida qaytishi kerak — bu ikki rejim butunlay boshqa apparat talablarini qo'yadi.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injiniringi (AI engineering) — SI komponentlarini o'z ichiga olgan tizimlarni ishonchli, takrorlanuvchi va masshtablanuvchi tarzda loyihalash, qurish, joylashtirish va ekspluatatsiya qilish fanidir. Microsoft tadqiqotchilari Amershi va hammualliflar 2019-yilgi ICSE konferensiyasidagi «Software Engineering for Machine Learning: A Case Study» maqolasida va keyinchalik [3] kitobida mashinali o'qitish ish jarayonining to'qqiz bosqichini ajratishgan: model talablarini aniqlash, ma'lumot yig'ish, ma'lumotni tozalash, ma'lumotni belgilash (labeling), xususiyatlarni ishlab chiqish, modelni o'qitish, modelni baholash, modelni joylashtirish va modelni monitoring qilish. Bu jarayon chiziqli emas — baholash natijasi yomon bo'lsa, ma'lumot yig'ishga qaytiladi; monitoring siljishni (drift) ko'rsatsa, qayta o'qitish boshlanadi.</a:t>
            </a:r>
          </a:p>
          <a:p/>
          <a:p>
            <a:r>
              <a:t>Amershi va hammualliflar SI tizimlarining an'anaviy dasturiy ta'minotdan uchta tub farqini ko'rsatadilar. Birinchidan, ma'lumotni boshqarish koddan ko'ra murakkabroq: ma'lumot versiyalanishi, sifati tekshirilishi, kelib chiqishi (provenance) kuzatilishi kerak. Ikkinchidan, modelni sozlash va qayta ishlatish an'anaviy kodni qayta ishlatishdan farq qiladi — oldindan o'qitilgan modelni boshqa sohaga ko'chirish alohida malaka talab qiladi. Uchinchidan, modul chegaralari buziladi: ikki model bir-biriga bog'liq bo'lib, birining o'zgarishi ikkinchisining xatti-harakatini o'zgartiradi (CACE tamoyili — «Changing Anything Changes Everything»).</a:t>
            </a:r>
          </a:p>
          <a:p/>
          <a:p>
            <a:r>
              <a:t>Kneusel [2] amaliy nuqtai nazardan SI injiniringini «modelni ishlaydigan mahsulotga aylantirish san'ati» deb ta'riflaydi va muhandis javob berishi kerak bo'lgan savollarni sanaydi: inferens qayerda bajariladi (bulut, server, qurilma)? Qanday kechikish qabul qilinadi? Xato narxi qancha? Model qanchalik tez eskiradi? Ushbu savollarning har biri bevosita kompyuter tizimi arxitekturasiga ta'sir qiladi. Masalan, 20 millisekund kechikish talabi va tarmoq orqali bulutga murojaat qilishning 50–100 millisekundlik tabiiy kechikishi bir-biriga zid — demak inferens qurilmaning o'zida bajarilishi shart.</a:t>
            </a:r>
          </a:p>
          <a:p/>
          <a:p>
            <a:r>
              <a:t>SI injiniringining yana bir muhim jihati — hayot sikli tushunchasi. Mustaqil ta'lim topshirig'ida keltirilgan Netflix tavsiya tizimi, Uber haydovchi tahlili va Amazon omborxona robototexnikasi misollarida umumiy naqsh ko'rinadi: ma'lumot to'xtovsiz oqib keladi, model davriy ravishda qayta o'qitiladi, A/B sinovlar orqali yangi versiya eskisi bilan taqqoslanadi, inferens infratuzilmasi esa yuk o'zgarishiga qarab avtomatik kengayadi. Netflix misolida tavsiya modeli offline rejimda (kecha-kunduz paketli hisoblash) o'qitiladi, lekin foydalanuvchi sahifani ochganda natija bir necha o'n millisekund ichida qaytishi kerak — bu ikki rejim butunlay boshqa apparat talablarini qo'yadi.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Hisoblash platformasi deganda biz SI yukini bajaruvchi apparat va uning ustidagi tizimli dasturiy ta'minot (drayver, kutubxona, ish vaqti muhiti) majmuasini tushunamiz. Platformalarni to'rt sinfga ajratish qulay: shaxsiy ish stansiyalari, ma'lumotlar markazi serverlari, bulut xizmatlari va chekka (edge) qurilmalar. Quyidagi jadvalda ularning tipik vakillari va taxminiy ko'rsatkichlari keltirilgan (ishlab chiqaruvchilar e'lon qilgan rasmiy pasport qiymatlari, real yuklamada 30–60 % foydalanish odatiy).</a:t>
            </a:r>
          </a:p>
          <a:p/>
          <a:p>
            <a:r>
              <a:t>Jadvaldan uch muhim xulosa kelib chiqadi. Birinchidan, platformalar orasidagi farq olti tartibni (10⁶) tashkil etadi — mikrokontrollerdan H100 gacha. Demak «model ishlaydimi?» savoli ma'nosiz; «qaysi platformada, qanday kechikish va energiya bilan ishlaydi?» deb so'rash kerak. Ikkinchidan, hisoblash quvvati bilan birga xotira o'tkazuvchanligi (memory bandwidth) ko'rsatilgan — ko'p SI yuklari, ayniqsa LLM inferensi, hisoblash bilan emas, xotira bilan cheklanadi (bu haqda M5 va M10 mavzularida batafsil). Uchinchidan, energiya ustuni platforma sinfini aniq belgilaydi: batareyada ishlaydigan qurilma uchun 5 vatt ham ko'p, ma'lumotlar markazida esa 700 vattli chip me'yor.</a:t>
            </a:r>
          </a:p>
          <a:p/>
          <a:p>
            <a:r>
              <a:t>Platforma tanlashda hisoblash quvvatining birligiga e'tibor berish zarur. TOPS (tera operations per second) odatda INT8 butun sonli amallar uchun, TFLOPS esa suzuvchi nuqtali (FP32, FP16, BF16, FP8) amallar uchun beriladi. Bitta ko'paytirish-qo'shish (multiply-accumulate, MAC) amali ikki operatsiya sifatida hisoblanadi. Bundan tashqari, NVIDIA ko'rsatkichlarini «siyrak» (sparsity, 2:4 strukturali siyraklik) rejimi uchun e'lon qiladi, bu zich hisobdan ikki baravar yuqori. Shuning uchun turli ishlab chiqaruvchilarni taqqoslaganda bir xil aniqlik va bir xil siyraklik rejimidagi raqamlarni olish shart.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Hisoblash platformasi deganda biz SI yukini bajaruvchi apparat va uning ustidagi tizimli dasturiy ta'minot (drayver, kutubxona, ish vaqti muhiti) majmuasini tushunamiz. Platformalarni to'rt sinfga ajratish qulay: shaxsiy ish stansiyalari, ma'lumotlar markazi serverlari, bulut xizmatlari va chekka (edge) qurilmalar. Quyidagi jadvalda ularning tipik vakillari va taxminiy ko'rsatkichlari keltirilgan (ishlab chiqaruvchilar e'lon qilgan rasmiy pasport qiymatlari, real yuklamada 30–60 % foydalanish odatiy).</a:t>
            </a:r>
          </a:p>
          <a:p/>
          <a:p>
            <a:r>
              <a:t>Jadvaldan uch muhim xulosa kelib chiqadi. Birinchidan, platformalar orasidagi farq olti tartibni (10⁶) tashkil etadi — mikrokontrollerdan H100 gacha. Demak «model ishlaydimi?» savoli ma'nosiz; «qaysi platformada, qanday kechikish va energiya bilan ishlaydi?» deb so'rash kerak. Ikkinchidan, hisoblash quvvati bilan birga xotira o'tkazuvchanligi (memory bandwidth) ko'rsatilgan — ko'p SI yuklari, ayniqsa LLM inferensi, hisoblash bilan emas, xotira bilan cheklanadi (bu haqda M5 va M10 mavzularida batafsil). Uchinchidan, energiya ustuni platforma sinfini aniq belgilaydi: batareyada ishlaydigan qurilma uchun 5 vatt ham ko'p, ma'lumotlar markazida esa 700 vattli chip me'yor.</a:t>
            </a:r>
          </a:p>
          <a:p/>
          <a:p>
            <a:r>
              <a:t>Platforma tanlashda hisoblash quvvatining birligiga e'tibor berish zarur. TOPS (tera operations per second) odatda INT8 butun sonli amallar uchun, TFLOPS esa suzuvchi nuqtali (FP32, FP16, BF16, FP8) amallar uchun beriladi. Bitta ko'paytirish-qo'shish (multiply-accumulate, MAC) amali ikki operatsiya sifatida hisoblanadi. Bundan tashqari, NVIDIA ko'rsatkichlarini «siyrak» (sparsity, 2:4 strukturali siyraklik) rejimi uchun e'lon qiladi, bu zich hisobdan ikki baravar yuqori. Shuning uchun turli ishlab chiqaruvchilarni taqqoslaganda bir xil aniqlik va bir xil siyraklik rejimidagi raqamlarni olish shart.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AI-enabled kompyuter tizimi — bu funksionalligining muhim qismi o'qitilgan model orqali amalga oshiriladigan tizim. Uning arxitekturasini besh qatlamli model sifatida tasavvur qilish qulay:</a:t>
            </a:r>
          </a:p>
          <a:p/>
          <a:p>
            <a:r>
              <a:t>Ma'lumot qabul qilish qatlami (ingestion) — sensorlar, kameralar, jurnallar, foydalanuvchi so'rovlari. Bu yerda protokollar (RTSP, MQTT, HTTP/gRPC), kodeklar (H.264/H.265) va buferlash hal qilinadi.</a:t>
            </a:r>
          </a:p>
          <a:p/>
          <a:p>
            <a:r>
              <a:t>Oldindan ishlov berish qatlami (preprocessing) — dekodlash, o'lchamini o'zgartirish, normallashtirish, tokenlashtirish. Ko'pincha e'tibordan chetda qoladi, lekin video tizimlarida dekodlash inferensdan ko'ra ko'proq resurs talab qilishi mumkin.</a:t>
            </a:r>
          </a:p>
          <a:p/>
          <a:p>
            <a:r>
              <a:t>Inferens qatlami — modelning o'zi va uni bajaruvchi ish vaqti muhiti (PyTorch, ONNX Runtime, TensorRT, OpenVINO). Bu qatlam tezlatkich bilan bevosita ishlaydi.</a:t>
            </a:r>
          </a:p>
          <a:p/>
          <a:p>
            <a:r>
              <a:t>Orkestratsiya va biznes mantiq qatlami — natijalarni birlashtirish, qoidalar, kuzatish (tracking), hodisalarni yaratish, saqlash, boshqa tizimlarga uzatish.</a:t>
            </a:r>
          </a:p>
          <a:p/>
          <a:p>
            <a:r>
              <a:t>Kuzatuv va boshqaruv qatlami (observability) — metrikalar (kechikish, o'tkazuvchanlik, GPU bandligi), jurnallar, model sifati monitoringi, versiya boshqaruvi.</a:t>
            </a:r>
          </a:p>
          <a:p/>
          <a:p>
            <a:r>
              <a:t>Qatlamlar orasidagi interfeyslar aniq belgilanishi kerak, chunki ular apparat chegaralari bilan mos tushadi: masalan, 1-2-qatlamlar CPU va video dekoder (NVDEC) da, 3-qatlam GPU da, 4-5-qatlamlar CPU da ishlashi mumkin. Ma'lumotning bu chegaralardan o'tishi — xost va qurilma xotirasi o'rtasida nusxalash — ko'pincha asosiy to'siq (bottleneck) bo'ladi. Shu sababli zamonaviy arxitekturalarda «nol nusxalash» (zero-copy) yondashuvi — dekodlangan kadrni GPU xotirasida qoldirib, to'g'ridan-to'g'ri inferensga uzatish — keng qo'llaniladi.</a:t>
            </a:r>
          </a:p>
          <a:p/>
          <a:p>
            <a:r>
              <a:t>Arxitekturaning yana bir o'lchovi — inferens rejimi. Onlayn (real vaqt) rejimda har bir so'rov alohida va kechikish muhim; paketli (batch) rejimda so'rovlar to'planib, o'tkazuvchanlik muhim; oqimli (streaming) rejimda uzluksiz ma'lumot oqimi qayta ishlanadi. Har rejim uchun maqbul apparat va dasturiy yechim boshqa: onlayn rejimda kichik paket (batch size 1–4) va past kechikishli tezlatkich; paketli rejimda katta paket (64–256) va yuqori o'tkazuvchanlik; oqimli rejimda esa dekodlash–inferens–kuzatish quvuri (pipeline) ning muvozanati hal qiluvchi.</a:t>
            </a:r>
          </a:p>
          <a:p/>
          <a:p>
            <a:r>
              <a:t>Ko'rsatkichlarni rasmiylashtiraylik. Agar tizim N ta kameradan har biri f kadr/soniya tezlikda ma'lumot olsa va model bitta kadr uchun C FLOP talab qilsa, zarur hisoblash quvvati P = N × f × C / η bo'ladi, bu yerda η — tezlatkichdan real foydalanish koeffitsiyenti (odatda 0,2–0,6). Masalan, 16 kamera, 25 kadr/s, YOLOv8s modeli (640×640 kirishda taxminan 28,6 GFLOP) va η = 0,35 uchun P ≈ 16 × 25 × 28,6 × 10⁹ / 0,35 ≈ 32,7 TFLOPS kerak bo'ladi. Bu raqam Jetson Orin Nano (taxminan 20 TFLOPS FP16 zich hisobda) uchun ko'p, lekin Jetson AGX Orin yoki bitta L4 uchun yetarli. Ana shu oddiy hisob platforma tanlashning birinchi qadamidir.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AI-enabled kompyuter tizimi — bu funksionalligining muhim qismi o'qitilgan model orqali amalga oshiriladigan tizim. Uning arxitekturasini besh qatlamli model sifatida tasavvur qilish qulay:</a:t>
            </a:r>
          </a:p>
          <a:p/>
          <a:p>
            <a:r>
              <a:t>Ma'lumot qabul qilish qatlami (ingestion) — sensorlar, kameralar, jurnallar, foydalanuvchi so'rovlari. Bu yerda protokollar (RTSP, MQTT, HTTP/gRPC), kodeklar (H.264/H.265) va buferlash hal qilinadi.</a:t>
            </a:r>
          </a:p>
          <a:p/>
          <a:p>
            <a:r>
              <a:t>Oldindan ishlov berish qatlami (preprocessing) — dekodlash, o'lchamini o'zgartirish, normallashtirish, tokenlashtirish. Ko'pincha e'tibordan chetda qoladi, lekin video tizimlarida dekodlash inferensdan ko'ra ko'proq resurs talab qilishi mumkin.</a:t>
            </a:r>
          </a:p>
          <a:p/>
          <a:p>
            <a:r>
              <a:t>Inferens qatlami — modelning o'zi va uni bajaruvchi ish vaqti muhiti (PyTorch, ONNX Runtime, TensorRT, OpenVINO). Bu qatlam tezlatkich bilan bevosita ishlaydi.</a:t>
            </a:r>
          </a:p>
          <a:p/>
          <a:p>
            <a:r>
              <a:t>Orkestratsiya va biznes mantiq qatlami — natijalarni birlashtirish, qoidalar, kuzatish (tracking), hodisalarni yaratish, saqlash, boshqa tizimlarga uzatish.</a:t>
            </a:r>
          </a:p>
          <a:p/>
          <a:p>
            <a:r>
              <a:t>Kuzatuv va boshqaruv qatlami (observability) — metrikalar (kechikish, o'tkazuvchanlik, GPU bandligi), jurnallar, model sifati monitoringi, versiya boshqaruvi.</a:t>
            </a:r>
          </a:p>
          <a:p/>
          <a:p>
            <a:r>
              <a:t>Qatlamlar orasidagi interfeyslar aniq belgilanishi kerak, chunki ular apparat chegaralari bilan mos tushadi: masalan, 1-2-qatlamlar CPU va video dekoder (NVDEC) da, 3-qatlam GPU da, 4-5-qatlamlar CPU da ishlashi mumkin. Ma'lumotning bu chegaralardan o'tishi — xost va qurilma xotirasi o'rtasida nusxalash — ko'pincha asosiy to'siq (bottleneck) bo'ladi. Shu sababli zamonaviy arxitekturalarda «nol nusxalash» (zero-copy) yondashuvi — dekodlangan kadrni GPU xotirasida qoldirib, to'g'ridan-to'g'ri inferensga uzatish — keng qo'llaniladi.</a:t>
            </a:r>
          </a:p>
          <a:p/>
          <a:p>
            <a:r>
              <a:t>Arxitekturaning yana bir o'lchovi — inferens rejimi. Onlayn (real vaqt) rejimda har bir so'rov alohida va kechikish muhim; paketli (batch) rejimda so'rovlar to'planib, o'tkazuvchanlik muhim; oqimli (streaming) rejimda uzluksiz ma'lumot oqimi qayta ishlanadi. Har rejim uchun maqbul apparat va dasturiy yechim boshqa: onlayn rejimda kichik paket (batch size 1–4) va past kechikishli tezlatkich; paketli rejimda katta paket (64–256) va yuqori o'tkazuvchanlik; oqimli rejimda esa dekodlash–inferens–kuzatish quvuri (pipeline) ning muvozanati hal qiluvchi.</a:t>
            </a:r>
          </a:p>
          <a:p/>
          <a:p>
            <a:r>
              <a:t>Ko'rsatkichlarni rasmiylashtiraylik. Agar tizim N ta kameradan har biri f kadr/soniya tezlikda ma'lumot olsa va model bitta kadr uchun C FLOP talab qilsa, zarur hisoblash quvvati P = N × f × C / η bo'ladi, bu yerda η — tezlatkichdan real foydalanish koeffitsiyenti (odatda 0,2–0,6). Masalan, 16 kamera, 25 kadr/s, YOLOv8s modeli (640×640 kirishda taxminan 28,6 GFLOP) va η = 0,35 uchun P ≈ 16 × 25 × 28,6 × 10⁹ / 0,35 ≈ 32,7 TFLOPS kerak bo'ladi. Bu raqam Jetson Orin Nano (taxminan 20 TFLOPS FP16 zich hisobda) uchun ko'p, lekin Jetson AGX Orin yoki bitta L4 uchun yetarli. Ana shu oddiy hisob platforma tanlashning birinchi qadamidir.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AI-enabled kompyuter tizimi — bu funksionalligining muhim qismi o'qitilgan model orqali amalga oshiriladigan tizim. Uning arxitekturasini besh qatlamli model sifatida tasavvur qilish qulay:</a:t>
            </a:r>
          </a:p>
          <a:p/>
          <a:p>
            <a:r>
              <a:t>Ma'lumot qabul qilish qatlami (ingestion) — sensorlar, kameralar, jurnallar, foydalanuvchi so'rovlari. Bu yerda protokollar (RTSP, MQTT, HTTP/gRPC), kodeklar (H.264/H.265) va buferlash hal qilinadi.</a:t>
            </a:r>
          </a:p>
          <a:p/>
          <a:p>
            <a:r>
              <a:t>Oldindan ishlov berish qatlami (preprocessing) — dekodlash, o'lchamini o'zgartirish, normallashtirish, tokenlashtirish. Ko'pincha e'tibordan chetda qoladi, lekin video tizimlarida dekodlash inferensdan ko'ra ko'proq resurs talab qilishi mumkin.</a:t>
            </a:r>
          </a:p>
          <a:p/>
          <a:p>
            <a:r>
              <a:t>Inferens qatlami — modelning o'zi va uni bajaruvchi ish vaqti muhiti (PyTorch, ONNX Runtime, TensorRT, OpenVINO). Bu qatlam tezlatkich bilan bevosita ishlaydi.</a:t>
            </a:r>
          </a:p>
          <a:p/>
          <a:p>
            <a:r>
              <a:t>Orkestratsiya va biznes mantiq qatlami — natijalarni birlashtirish, qoidalar, kuzatish (tracking), hodisalarni yaratish, saqlash, boshqa tizimlarga uzatish.</a:t>
            </a:r>
          </a:p>
          <a:p/>
          <a:p>
            <a:r>
              <a:t>Kuzatuv va boshqaruv qatlami (observability) — metrikalar (kechikish, o'tkazuvchanlik, GPU bandligi), jurnallar, model sifati monitoringi, versiya boshqaruvi.</a:t>
            </a:r>
          </a:p>
          <a:p/>
          <a:p>
            <a:r>
              <a:t>Qatlamlar orasidagi interfeyslar aniq belgilanishi kerak, chunki ular apparat chegaralari bilan mos tushadi: masalan, 1-2-qatlamlar CPU va video dekoder (NVDEC) da, 3-qatlam GPU da, 4-5-qatlamlar CPU da ishlashi mumkin. Ma'lumotning bu chegaralardan o'tishi — xost va qurilma xotirasi o'rtasida nusxalash — ko'pincha asosiy to'siq (bottleneck) bo'ladi. Shu sababli zamonaviy arxitekturalarda «nol nusxalash» (zero-copy) yondashuvi — dekodlangan kadrni GPU xotirasida qoldirib, to'g'ridan-to'g'ri inferensga uzatish — keng qo'llaniladi.</a:t>
            </a:r>
          </a:p>
          <a:p/>
          <a:p>
            <a:r>
              <a:t>Arxitekturaning yana bir o'lchovi — inferens rejimi. Onlayn (real vaqt) rejimda har bir so'rov alohida va kechikish muhim; paketli (batch) rejimda so'rovlar to'planib, o'tkazuvchanlik muhim; oqimli (streaming) rejimda uzluksiz ma'lumot oqimi qayta ishlanadi. Har rejim uchun maqbul apparat va dasturiy yechim boshqa: onlayn rejimda kichik paket (batch size 1–4) va past kechikishli tezlatkich; paketli rejimda katta paket (64–256) va yuqori o'tkazuvchanlik; oqimli rejimda esa dekodlash–inferens–kuzatish quvuri (pipeline) ning muvozanati hal qiluvchi.</a:t>
            </a:r>
          </a:p>
          <a:p/>
          <a:p>
            <a:r>
              <a:t>Ko'rsatkichlarni rasmiylashtiraylik. Agar tizim N ta kameradan har biri f kadr/soniya tezlikda ma'lumot olsa va model bitta kadr uchun C FLOP talab qilsa, zarur hisoblash quvvati P = N × f × C / η bo'ladi, bu yerda η — tezlatkichdan real foydalanish koeffitsiyenti (odatda 0,2–0,6). Masalan, 16 kamera, 25 kadr/s, YOLOv8s modeli (640×640 kirishda taxminan 28,6 GFLOP) va η = 0,35 uchun P ≈ 16 × 25 × 28,6 × 10⁹ / 0,35 ≈ 32,7 TFLOPS kerak bo'ladi. Bu raqam Jetson Orin Nano (taxminan 20 TFLOPS FP16 zich hisobda) uchun ko'p, lekin Jetson AGX Orin yoki bitta L4 uchun yetarli. Ana shu oddiy hisob platforma tanlashning birinchi qadamidir.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AI-enabled kompyuter tizimi — bu funksionalligining muhim qismi o'qitilgan model orqali amalga oshiriladigan tizim. Uning arxitekturasini besh qatlamli model sifatida tasavvur qilish qulay:</a:t>
            </a:r>
          </a:p>
          <a:p/>
          <a:p>
            <a:r>
              <a:t>Ma'lumot qabul qilish qatlami (ingestion) — sensorlar, kameralar, jurnallar, foydalanuvchi so'rovlari. Bu yerda protokollar (RTSP, MQTT, HTTP/gRPC), kodeklar (H.264/H.265) va buferlash hal qilinadi.</a:t>
            </a:r>
          </a:p>
          <a:p/>
          <a:p>
            <a:r>
              <a:t>Oldindan ishlov berish qatlami (preprocessing) — dekodlash, o'lchamini o'zgartirish, normallashtirish, tokenlashtirish. Ko'pincha e'tibordan chetda qoladi, lekin video tizimlarida dekodlash inferensdan ko'ra ko'proq resurs talab qilishi mumkin.</a:t>
            </a:r>
          </a:p>
          <a:p/>
          <a:p>
            <a:r>
              <a:t>Inferens qatlami — modelning o'zi va uni bajaruvchi ish vaqti muhiti (PyTorch, ONNX Runtime, TensorRT, OpenVINO). Bu qatlam tezlatkich bilan bevosita ishlaydi.</a:t>
            </a:r>
          </a:p>
          <a:p/>
          <a:p>
            <a:r>
              <a:t>Orkestratsiya va biznes mantiq qatlami — natijalarni birlashtirish, qoidalar, kuzatish (tracking), hodisalarni yaratish, saqlash, boshqa tizimlarga uzatish.</a:t>
            </a:r>
          </a:p>
          <a:p/>
          <a:p>
            <a:r>
              <a:t>Kuzatuv va boshqaruv qatlami (observability) — metrikalar (kechikish, o'tkazuvchanlik, GPU bandligi), jurnallar, model sifati monitoringi, versiya boshqaruvi.</a:t>
            </a:r>
          </a:p>
          <a:p/>
          <a:p>
            <a:r>
              <a:t>Qatlamlar orasidagi interfeyslar aniq belgilanishi kerak, chunki ular apparat chegaralari bilan mos tushadi: masalan, 1-2-qatlamlar CPU va video dekoder (NVDEC) da, 3-qatlam GPU da, 4-5-qatlamlar CPU da ishlashi mumkin. Ma'lumotning bu chegaralardan o'tishi — xost va qurilma xotirasi o'rtasida nusxalash — ko'pincha asosiy to'siq (bottleneck) bo'ladi. Shu sababli zamonaviy arxitekturalarda «nol nusxalash» (zero-copy) yondashuvi — dekodlangan kadrni GPU xotirasida qoldirib, to'g'ridan-to'g'ri inferensga uzatish — keng qo'llaniladi.</a:t>
            </a:r>
          </a:p>
          <a:p/>
          <a:p>
            <a:r>
              <a:t>Arxitekturaning yana bir o'lchovi — inferens rejimi. Onlayn (real vaqt) rejimda har bir so'rov alohida va kechikish muhim; paketli (batch) rejimda so'rovlar to'planib, o'tkazuvchanlik muhim; oqimli (streaming) rejimda uzluksiz ma'lumot oqimi qayta ishlanadi. Har rejim uchun maqbul apparat va dasturiy yechim boshqa: onlayn rejimda kichik paket (batch size 1–4) va past kechikishli tezlatkich; paketli rejimda katta paket (64–256) va yuqori o'tkazuvchanlik; oqimli rejimda esa dekodlash–inferens–kuzatish quvuri (pipeline) ning muvozanati hal qiluvchi.</a:t>
            </a:r>
          </a:p>
          <a:p/>
          <a:p>
            <a:r>
              <a:t>Ko'rsatkichlarni rasmiylashtiraylik. Agar tizim N ta kameradan har biri f kadr/soniya tezlikda ma'lumot olsa va model bitta kadr uchun C FLOP talab qilsa, zarur hisoblash quvvati P = N × f × C / η bo'ladi, bu yerda η — tezlatkichdan real foydalanish koeffitsiyenti (odatda 0,2–0,6). Masalan, 16 kamera, 25 kadr/s, YOLOv8s modeli (640×640 kirishda taxminan 28,6 GFLOP) va η = 0,35 uchun P ≈ 16 × 25 × 28,6 × 10⁹ / 0,35 ≈ 32,7 TFLOPS kerak bo'ladi. Bu raqam Jetson Orin Nano (taxminan 20 TFLOPS FP16 zich hisobda) uchun ko'p, lekin Jetson AGX Orin yoki bitta L4 uchun yetarli. Ana shu oddiy hisob platforma tanlashning birinchi qadamidir.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Hardware–software co-design — tizimning apparat va dasturiy qismlarini alohida emas, balki bir vaqtning o'zida, bir-biriga moslashtirib loyihalash metodologiyasi. An'anaviy yondashuvda apparat avval tanlanadi (yoki mavjud bo'ladi), so'ng dastur unga moslashtiriladi. SI tizimlarida bu yondashuv ikki sababga ko'ra ishlamaydi: birinchidan, model arxitekturasi (qatlamlar soni, kanallar, aniqlik) o'zi loyihalash parametri bo'lib, uni apparatga qarab o'zgartirish mumkin; ikkinchidan, tezlatkichlar shunchalik ixtisoslashganki, ularga mos kelmaydigan model (masalan, Tensor Core uchun 8 ga karrali bo'lmagan kanal soni) unumdorlikni bir necha barobar yo'qotadi.</a:t>
            </a:r>
          </a:p>
          <a:p/>
          <a:p>
            <a:r>
              <a:t>Co-design jarayonini to'rt o'lchovli izlanish fazosi sifatida tasavvur qilish mumkin:</a:t>
            </a:r>
          </a:p>
          <a:p/>
          <a:p>
            <a:r>
              <a:t>Co-design amaliy jihatdan iterativ jarayon. Birinchi iteratsiyada talab (kechikish, aniqlik, byudjet, energiya) qo'yiladi va nomzod model hamda nomzod apparat tanlanadi. Ikkinchi iteratsiyada model shu apparatda profillanadi — qaysi qatlamlar sekin, xotira yetarlimi, tezlatkichdan foydalanish qanday. Uchinchi iteratsiyada ikki tomon ham moslashtiriladi: model kvantlanadi yoki kichikroq variant olinadi, apparat tomonida esa paket hajmi, oqimlar soni, xotira joylashuvi sozlanadi. Bu sikl talab bajarilguncha takrorlanadi. Sze va hammualliflar [4] bu jarayonni «algoritm–apparat birgalikdagi loyihalash» deb atab, neyron tarmoqning energiya sarfi asosan hisoblashda emas, xotiraga murojaatda ekanini ko'rsatadilar: 45 nm texnologiyada DRAM dan 32 bit o'qish taxminan 640 pJ energiya talab qiladi, 32 bitli ko'paytirish esa atigi 3,7 pJ — ya'ni ma'lumotni joyida saqlab, qayta ishlatish (data reuse) har qanday hisoblash optimizatsiyasidan muhimroq.</a:t>
            </a:r>
          </a:p>
          <a:p/>
          <a:p>
            <a:r>
              <a:t>Co-design kontekstida ikki klassik qonun doimo yodda bo'lishi kerak. Amdal qonuni (Amdahl's law): agar dasturning p ulushi tezlashtirilsa va qolgan 1−p ulushi o'zgarmasa, umumiy tezlashuv S = 1 / ((1−p) + p/s) dan oshmaydi, bu yerda s — tezlashtirilgan qismning tezlashuvi. Video-analitikada inferens kadr vaqtining 60 % ini egallasa va uni cheksiz tezlashtirsak ham, umumiy tezlashuv 2,5 baravardan oshmaydi — dekodlash va keyingi ishlov cheklaydi. Roofline modeli esa yukning arifmetik intensivligi (FLOP / bayt) asosida u hisoblash yoki xotira bilan cheklanganini ko'rsatadi; bu model M10 da batafsil ko'riladi, lekin co-design ning har bir qadamida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Hardware–software co-design — tizimning apparat va dasturiy qismlarini alohida emas, balki bir vaqtning o'zida, bir-biriga moslashtirib loyihalash metodologiyasi. An'anaviy yondashuvda apparat avval tanlanadi (yoki mavjud bo'ladi), so'ng dastur unga moslashtiriladi. SI tizimlarida bu yondashuv ikki sababga ko'ra ishlamaydi: birinchidan, model arxitekturasi (qatlamlar soni, kanallar, aniqlik) o'zi loyihalash parametri bo'lib, uni apparatga qarab o'zgartirish mumkin; ikkinchidan, tezlatkichlar shunchalik ixtisoslashganki, ularga mos kelmaydigan model (masalan, Tensor Core uchun 8 ga karrali bo'lmagan kanal soni) unumdorlikni bir necha barobar yo'qotadi.</a:t>
            </a:r>
          </a:p>
          <a:p/>
          <a:p>
            <a:r>
              <a:t>Co-design jarayonini to'rt o'lchovli izlanish fazosi sifatida tasavvur qilish mumkin:</a:t>
            </a:r>
          </a:p>
          <a:p/>
          <a:p>
            <a:r>
              <a:t>Co-design amaliy jihatdan iterativ jarayon. Birinchi iteratsiyada talab (kechikish, aniqlik, byudjet, energiya) qo'yiladi va nomzod model hamda nomzod apparat tanlanadi. Ikkinchi iteratsiyada model shu apparatda profillanadi — qaysi qatlamlar sekin, xotira yetarlimi, tezlatkichdan foydalanish qanday. Uchinchi iteratsiyada ikki tomon ham moslashtiriladi: model kvantlanadi yoki kichikroq variant olinadi, apparat tomonida esa paket hajmi, oqimlar soni, xotira joylashuvi sozlanadi. Bu sikl talab bajarilguncha takrorlanadi. Sze va hammualliflar [4] bu jarayonni «algoritm–apparat birgalikdagi loyihalash» deb atab, neyron tarmoqning energiya sarfi asosan hisoblashda emas, xotiraga murojaatda ekanini ko'rsatadilar: 45 nm texnologiyada DRAM dan 32 bit o'qish taxminan 640 pJ energiya talab qiladi, 32 bitli ko'paytirish esa atigi 3,7 pJ — ya'ni ma'lumotni joyida saqlab, qayta ishlatish (data reuse) har qanday hisoblash optimizatsiyasidan muhimroq.</a:t>
            </a:r>
          </a:p>
          <a:p/>
          <a:p>
            <a:r>
              <a:t>Co-design kontekstida ikki klassik qonun doimo yodda bo'lishi kerak. Amdal qonuni (Amdahl's law): agar dasturning p ulushi tezlashtirilsa va qolgan 1−p ulushi o'zgarmasa, umumiy tezlashuv S = 1 / ((1−p) + p/s) dan oshmaydi, bu yerda s — tezlashtirilgan qismning tezlashuvi. Video-analitikada inferens kadr vaqtining 60 % ini egallasa va uni cheksiz tezlashtirsak ham, umumiy tezlashuv 2,5 baravardan oshmaydi — dekodlash va keyingi ishlov cheklaydi. Roofline modeli esa yukning arifmetik intensivligi (FLOP / bayt) asosida u hisoblash yoki xotira bilan cheklanganini ko'rsatadi; bu model M10 da batafsil ko'riladi, lekin co-design ning har bir qadamida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tushunchalar asosida SI tizimini loyihalashning amaliy tamoyillarini shakllantirish mumkin. Talabdan boshlash: kechikish byudjeti (masalan, kadrdan hodisagacha 200 ms), aniqlik chegarasi (mAP yoki F1), yuk (kameralar soni, so'rov/soniya), energiya va narx cheklovlari raqam bilan yoziladi; raqamsiz talab — talab emas. Ma'lumot oqimini chizish: har bir komponent orqali o'tadigan baytlar soni hisoblanadi; 1080p kadr RGB ko'rinishda 6,2 MB, 25 kadr/s da bitta kamera 155 MB/s, 16 kamera 2,5 GB/s — bu PCIe 3.0 x16 ning (taxminan 16 GB/s) sezilarli qismi. Eng tor joyni topish: Amdal qonuniga ko'ra faqat tor joyni optimallashtirish foyda beradi. Modullilik va interfeyslar: model almashtirilsa (YOLOv8 → YOLO11), qolgan tizim o'zgarmasligi kerak — buning uchun ONNX kabi standart format va aniq API. Kuzatuvchanlik dastlabdan: metrikalar keyin qo'shiladigan narsa emas; ularsiz co-design iteratsiyasini bajarib bo'lmaydi. Degradatsiyaga tayyorlik: tezlatkich ishdan chiqsa yoki yuk oshsa tizim butunlay to'xtamasdan, kadr tashlash (frame skipping) yoki kichik modelga o'tish orqali ishlashda davom etishi kerak.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550c89097acb827b.jpg"/>
          <p:cNvPicPr>
            <a:picLocks noChangeAspect="1"/>
          </p:cNvPicPr>
          <p:nvPr/>
        </p:nvPicPr>
        <p:blipFill>
          <a:blip r:embed="rId2"/>
          <a:srcRect l="16719" r="16719"/>
          <a:stretch>
            <a:fillRect/>
          </a:stretch>
        </p:blipFill>
        <p:spPr>
          <a:xfrm>
            <a:off x="7850000" y="1500000"/>
            <a:ext cx="3300000" cy="3300000"/>
          </a:xfrm>
          <a:prstGeom prst="ellipse">
            <a:avLst/>
          </a:prstGeom>
          <a:ln w="19050">
            <a:solidFill>
              <a:srgbClr val="22D3EE"/>
            </a:solidFill>
          </a:ln>
        </p:spPr>
      </p:pic>
      <p:sp>
        <p:nvSpPr>
          <p:cNvPr id="71" name="TextBox 70"/>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Joël van der Loo · Wikimedia Commons · CC BY-SA 4.0</a:t>
            </a:r>
          </a:p>
        </p:txBody>
      </p:sp>
      <p:sp>
        <p:nvSpPr>
          <p:cNvPr id="72" name="Rounded Rectangle 71"/>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M1 · 2 soat</a:t>
            </a:r>
          </a:p>
        </p:txBody>
      </p:sp>
      <p:sp>
        <p:nvSpPr>
          <p:cNvPr id="73" name="TextBox 72"/>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74" name="TextBox 73"/>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Sun'iy intellektga asoslangan kompyuter tizimlari injiniringi: arxitektura va loyihalash tamoyillari</a:t>
            </a:r>
          </a:p>
        </p:txBody>
      </p:sp>
      <p:sp>
        <p:nvSpPr>
          <p:cNvPr id="75" name="Rectangle 74"/>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200"/>
                            </p:stCondLst>
                            <p:childTnLst>
                              <p:par>
                                <p:cTn id="264" presetID="53" presetClass="entr" presetSubtype="16" fill="hold" grpId="0" nodeType="afterEffect">
                                  <p:stCondLst>
                                    <p:cond delay="0"/>
                                  </p:stCondLst>
                                  <p:childTnLst>
                                    <p:set>
                                      <p:cBhvr>
                                        <p:cTn id="265" dur="1" fill="hold">
                                          <p:stCondLst>
                                            <p:cond delay="0"/>
                                          </p:stCondLst>
                                        </p:cTn>
                                        <p:tgtEl>
                                          <p:spTgt spid="69"/>
                                        </p:tgtEl>
                                        <p:attrNameLst>
                                          <p:attrName>style.visibility</p:attrName>
                                        </p:attrNameLst>
                                      </p:cBhvr>
                                      <p:to>
                                        <p:strVal val="visible"/>
                                      </p:to>
                                    </p:set>
                                    <p:animEffect transition="in" filter="fade">
                                      <p:cBhvr>
                                        <p:cTn id="266" dur="550"/>
                                        <p:tgtEl>
                                          <p:spTgt spid="69"/>
                                        </p:tgtEl>
                                      </p:cBhvr>
                                    </p:animEffect>
                                    <p:anim calcmode="lin" valueType="num">
                                      <p:cBhvr additive="base">
                                        <p:cTn id="267" dur="550" fill="hold"/>
                                        <p:tgtEl>
                                          <p:spTgt spid="69"/>
                                        </p:tgtEl>
                                        <p:attrNameLst>
                                          <p:attrName>ppt_w</p:attrName>
                                        </p:attrNameLst>
                                      </p:cBhvr>
                                      <p:tavLst>
                                        <p:tav tm="0">
                                          <p:val>
                                            <p:strVal val="0"/>
                                          </p:val>
                                        </p:tav>
                                        <p:tav tm="100000">
                                          <p:val>
                                            <p:strVal val="#ppt_w"/>
                                          </p:val>
                                        </p:tav>
                                      </p:tavLst>
                                    </p:anim>
                                    <p:anim calcmode="lin" valueType="num">
                                      <p:cBhvr additive="base">
                                        <p:cTn id="268" dur="550" fill="hold"/>
                                        <p:tgtEl>
                                          <p:spTgt spid="69"/>
                                        </p:tgtEl>
                                        <p:attrNameLst>
                                          <p:attrName>ppt_h</p:attrName>
                                        </p:attrNameLst>
                                      </p:cBhvr>
                                      <p:tavLst>
                                        <p:tav tm="0">
                                          <p:val>
                                            <p:strVal val="0"/>
                                          </p:val>
                                        </p:tav>
                                        <p:tav tm="100000">
                                          <p:val>
                                            <p:strVal val="#ppt_h"/>
                                          </p:val>
                                        </p:tav>
                                      </p:tavLst>
                                    </p:anim>
                                  </p:childTnLst>
                                </p:cTn>
                              </p:par>
                            </p:childTnLst>
                          </p:cTn>
                        </p:par>
                        <p:par>
                          <p:cTn id="269" fill="hold">
                            <p:stCondLst>
                              <p:cond delay="200"/>
                            </p:stCondLst>
                            <p:childTnLst>
                              <p:par>
                                <p:cTn id="270" presetID="53" presetClass="entr" presetSubtype="16" fill="hold" grpId="0" nodeType="afterEffect">
                                  <p:stCondLst>
                                    <p:cond delay="0"/>
                                  </p:stCondLst>
                                  <p:childTnLst>
                                    <p:set>
                                      <p:cBhvr>
                                        <p:cTn id="271" dur="1" fill="hold">
                                          <p:stCondLst>
                                            <p:cond delay="0"/>
                                          </p:stCondLst>
                                        </p:cTn>
                                        <p:tgtEl>
                                          <p:spTgt spid="68"/>
                                        </p:tgtEl>
                                        <p:attrNameLst>
                                          <p:attrName>style.visibility</p:attrName>
                                        </p:attrNameLst>
                                      </p:cBhvr>
                                      <p:to>
                                        <p:strVal val="visible"/>
                                      </p:to>
                                    </p:set>
                                    <p:animEffect transition="in" filter="fade">
                                      <p:cBhvr>
                                        <p:cTn id="272" dur="550"/>
                                        <p:tgtEl>
                                          <p:spTgt spid="68"/>
                                        </p:tgtEl>
                                      </p:cBhvr>
                                    </p:animEffect>
                                    <p:anim calcmode="lin" valueType="num">
                                      <p:cBhvr additive="base">
                                        <p:cTn id="273" dur="550" fill="hold"/>
                                        <p:tgtEl>
                                          <p:spTgt spid="68"/>
                                        </p:tgtEl>
                                        <p:attrNameLst>
                                          <p:attrName>ppt_w</p:attrName>
                                        </p:attrNameLst>
                                      </p:cBhvr>
                                      <p:tavLst>
                                        <p:tav tm="0">
                                          <p:val>
                                            <p:strVal val="0"/>
                                          </p:val>
                                        </p:tav>
                                        <p:tav tm="100000">
                                          <p:val>
                                            <p:strVal val="#ppt_w"/>
                                          </p:val>
                                        </p:tav>
                                      </p:tavLst>
                                    </p:anim>
                                    <p:anim calcmode="lin" valueType="num">
                                      <p:cBhvr additive="base">
                                        <p:cTn id="274" dur="550" fill="hold"/>
                                        <p:tgtEl>
                                          <p:spTgt spid="68"/>
                                        </p:tgtEl>
                                        <p:attrNameLst>
                                          <p:attrName>ppt_h</p:attrName>
                                        </p:attrNameLst>
                                      </p:cBhvr>
                                      <p:tavLst>
                                        <p:tav tm="0">
                                          <p:val>
                                            <p:strVal val="0"/>
                                          </p:val>
                                        </p:tav>
                                        <p:tav tm="100000">
                                          <p:val>
                                            <p:strVal val="#ppt_h"/>
                                          </p:val>
                                        </p:tav>
                                      </p:tavLst>
                                    </p:anim>
                                  </p:childTnLst>
                                </p:cTn>
                              </p:par>
                            </p:childTnLst>
                          </p:cTn>
                        </p:par>
                        <p:par>
                          <p:cTn id="275" fill="hold">
                            <p:stCondLst>
                              <p:cond delay="200"/>
                            </p:stCondLst>
                            <p:childTnLst>
                              <p:par>
                                <p:cTn id="276" presetID="53" presetClass="entr" presetSubtype="16" fill="hold" grpId="0" nodeType="afterEffect">
                                  <p:stCondLst>
                                    <p:cond delay="0"/>
                                  </p:stCondLst>
                                  <p:childTnLst>
                                    <p:set>
                                      <p:cBhvr>
                                        <p:cTn id="277" dur="1" fill="hold">
                                          <p:stCondLst>
                                            <p:cond delay="0"/>
                                          </p:stCondLst>
                                        </p:cTn>
                                        <p:tgtEl>
                                          <p:spTgt spid="70"/>
                                        </p:tgtEl>
                                        <p:attrNameLst>
                                          <p:attrName>style.visibility</p:attrName>
                                        </p:attrNameLst>
                                      </p:cBhvr>
                                      <p:to>
                                        <p:strVal val="visible"/>
                                      </p:to>
                                    </p:set>
                                    <p:animEffect transition="in" filter="fade">
                                      <p:cBhvr>
                                        <p:cTn id="278" dur="550"/>
                                        <p:tgtEl>
                                          <p:spTgt spid="70"/>
                                        </p:tgtEl>
                                      </p:cBhvr>
                                    </p:animEffect>
                                    <p:anim calcmode="lin" valueType="num">
                                      <p:cBhvr additive="base">
                                        <p:cTn id="279" dur="550" fill="hold"/>
                                        <p:tgtEl>
                                          <p:spTgt spid="70"/>
                                        </p:tgtEl>
                                        <p:attrNameLst>
                                          <p:attrName>ppt_w</p:attrName>
                                        </p:attrNameLst>
                                      </p:cBhvr>
                                      <p:tavLst>
                                        <p:tav tm="0">
                                          <p:val>
                                            <p:strVal val="0"/>
                                          </p:val>
                                        </p:tav>
                                        <p:tav tm="100000">
                                          <p:val>
                                            <p:strVal val="#ppt_w"/>
                                          </p:val>
                                        </p:tav>
                                      </p:tavLst>
                                    </p:anim>
                                    <p:anim calcmode="lin" valueType="num">
                                      <p:cBhvr additive="base">
                                        <p:cTn id="280" dur="550" fill="hold"/>
                                        <p:tgtEl>
                                          <p:spTgt spid="70"/>
                                        </p:tgtEl>
                                        <p:attrNameLst>
                                          <p:attrName>ppt_h</p:attrName>
                                        </p:attrNameLst>
                                      </p:cBhvr>
                                      <p:tavLst>
                                        <p:tav tm="0">
                                          <p:val>
                                            <p:strVal val="0"/>
                                          </p:val>
                                        </p:tav>
                                        <p:tav tm="100000">
                                          <p:val>
                                            <p:strVal val="#ppt_h"/>
                                          </p:val>
                                        </p:tav>
                                      </p:tavLst>
                                    </p:anim>
                                  </p:childTnLst>
                                </p:cTn>
                              </p:par>
                            </p:childTnLst>
                          </p:cTn>
                        </p:par>
                        <p:par>
                          <p:cTn id="281" fill="hold">
                            <p:stCondLst>
                              <p:cond delay="200"/>
                            </p:stCondLst>
                            <p:childTnLst>
                              <p:par>
                                <p:cTn id="282" presetID="10" presetClass="entr" presetSubtype="0" fill="hold" grpId="0" nodeType="afterEffect">
                                  <p:stCondLst>
                                    <p:cond delay="0"/>
                                  </p:stCondLst>
                                  <p:childTnLst>
                                    <p:set>
                                      <p:cBhvr>
                                        <p:cTn id="283" dur="1" fill="hold">
                                          <p:stCondLst>
                                            <p:cond delay="0"/>
                                          </p:stCondLst>
                                        </p:cTn>
                                        <p:tgtEl>
                                          <p:spTgt spid="71"/>
                                        </p:tgtEl>
                                        <p:attrNameLst>
                                          <p:attrName>style.visibility</p:attrName>
                                        </p:attrNameLst>
                                      </p:cBhvr>
                                      <p:to>
                                        <p:strVal val="visible"/>
                                      </p:to>
                                    </p:set>
                                    <p:animEffect transition="in" filter="fade">
                                      <p:cBhvr>
                                        <p:cTn id="284" dur="550"/>
                                        <p:tgtEl>
                                          <p:spTgt spid="71"/>
                                        </p:tgtEl>
                                      </p:cBhvr>
                                    </p:animEffect>
                                  </p:childTnLst>
                                </p:cTn>
                              </p:par>
                            </p:childTnLst>
                          </p:cTn>
                        </p:par>
                        <p:par>
                          <p:cTn id="285" fill="hold">
                            <p:stCondLst>
                              <p:cond delay="350"/>
                            </p:stCondLst>
                            <p:childTnLst>
                              <p:par>
                                <p:cTn id="286" presetID="10" presetClass="entr" presetSubtype="0" fill="hold" grpId="0" nodeType="afterEffect">
                                  <p:stCondLst>
                                    <p:cond delay="0"/>
                                  </p:stCondLst>
                                  <p:childTnLst>
                                    <p:set>
                                      <p:cBhvr>
                                        <p:cTn id="287" dur="1" fill="hold">
                                          <p:stCondLst>
                                            <p:cond delay="0"/>
                                          </p:stCondLst>
                                        </p:cTn>
                                        <p:tgtEl>
                                          <p:spTgt spid="73"/>
                                        </p:tgtEl>
                                        <p:attrNameLst>
                                          <p:attrName>style.visibility</p:attrName>
                                        </p:attrNameLst>
                                      </p:cBhvr>
                                      <p:to>
                                        <p:strVal val="visible"/>
                                      </p:to>
                                    </p:set>
                                    <p:animEffect transition="in" filter="fade">
                                      <p:cBhvr>
                                        <p:cTn id="288" dur="550"/>
                                        <p:tgtEl>
                                          <p:spTgt spid="73"/>
                                        </p:tgtEl>
                                      </p:cBhvr>
                                    </p:animEffect>
                                  </p:childTnLst>
                                </p:cTn>
                              </p:par>
                            </p:childTnLst>
                          </p:cTn>
                        </p:par>
                        <p:par>
                          <p:cTn id="289" fill="hold">
                            <p:stCondLst>
                              <p:cond delay="500"/>
                            </p:stCondLst>
                            <p:childTnLst>
                              <p:par>
                                <p:cTn id="290" presetID="2" presetClass="entr" presetSubtype="8" fill="hold" grpId="0" nodeType="afterEffect">
                                  <p:stCondLst>
                                    <p:cond delay="0"/>
                                  </p:stCondLst>
                                  <p:childTnLst>
                                    <p:set>
                                      <p:cBhvr>
                                        <p:cTn id="291" dur="1" fill="hold">
                                          <p:stCondLst>
                                            <p:cond delay="0"/>
                                          </p:stCondLst>
                                        </p:cTn>
                                        <p:tgtEl>
                                          <p:spTgt spid="72"/>
                                        </p:tgtEl>
                                        <p:attrNameLst>
                                          <p:attrName>style.visibility</p:attrName>
                                        </p:attrNameLst>
                                      </p:cBhvr>
                                      <p:to>
                                        <p:strVal val="visible"/>
                                      </p:to>
                                    </p:set>
                                    <p:anim calcmode="lin" valueType="num">
                                      <p:cBhvr additive="base">
                                        <p:cTn id="293" dur="550" fill="hold"/>
                                        <p:tgtEl>
                                          <p:spTgt spid="72"/>
                                        </p:tgtEl>
                                        <p:attrNameLst>
                                          <p:attrName>ppt_x</p:attrName>
                                        </p:attrNameLst>
                                      </p:cBhvr>
                                      <p:tavLst>
                                        <p:tav tm="0">
                                          <p:val>
                                            <p:strVal val="0-#ppt_w/2"/>
                                          </p:val>
                                        </p:tav>
                                        <p:tav tm="100000">
                                          <p:val>
                                            <p:strVal val="#ppt_x"/>
                                          </p:val>
                                        </p:tav>
                                      </p:tavLst>
                                    </p:anim>
                                    <p:anim calcmode="lin" valueType="num">
                                      <p:cBhvr additive="base">
                                        <p:cTn id="294" dur="550" fill="hold"/>
                                        <p:tgtEl>
                                          <p:spTgt spid="72"/>
                                        </p:tgtEl>
                                        <p:attrNameLst>
                                          <p:attrName>ppt_y</p:attrName>
                                        </p:attrNameLst>
                                      </p:cBhvr>
                                      <p:tavLst>
                                        <p:tav tm="0">
                                          <p:val>
                                            <p:strVal val="#ppt_y"/>
                                          </p:val>
                                        </p:tav>
                                        <p:tav tm="100000">
                                          <p:val>
                                            <p:strVal val="#ppt_y"/>
                                          </p:val>
                                        </p:tav>
                                      </p:tavLst>
                                    </p:anim>
                                  </p:childTnLst>
                                </p:cTn>
                              </p:par>
                            </p:childTnLst>
                          </p:cTn>
                        </p:par>
                        <p:par>
                          <p:cTn id="295" fill="hold">
                            <p:stCondLst>
                              <p:cond delay="650"/>
                            </p:stCondLst>
                            <p:childTnLst>
                              <p:par>
                                <p:cTn id="296" presetID="42" presetClass="entr" presetSubtype="0" fill="hold" grpId="0" nodeType="afterEffect">
                                  <p:stCondLst>
                                    <p:cond delay="0"/>
                                  </p:stCondLst>
                                  <p:childTnLst>
                                    <p:set>
                                      <p:cBhvr>
                                        <p:cTn id="297" dur="1" fill="hold">
                                          <p:stCondLst>
                                            <p:cond delay="0"/>
                                          </p:stCondLst>
                                        </p:cTn>
                                        <p:tgtEl>
                                          <p:spTgt spid="74"/>
                                        </p:tgtEl>
                                        <p:attrNameLst>
                                          <p:attrName>style.visibility</p:attrName>
                                        </p:attrNameLst>
                                      </p:cBhvr>
                                      <p:to>
                                        <p:strVal val="visible"/>
                                      </p:to>
                                    </p:set>
                                    <p:animEffect transition="in" filter="fade">
                                      <p:cBhvr>
                                        <p:cTn id="298" dur="550"/>
                                        <p:tgtEl>
                                          <p:spTgt spid="74"/>
                                        </p:tgtEl>
                                      </p:cBhvr>
                                    </p:animEffect>
                                    <p:anim calcmode="lin" valueType="num">
                                      <p:cBhvr additive="base">
                                        <p:cTn id="299" dur="550" fill="hold"/>
                                        <p:tgtEl>
                                          <p:spTgt spid="74"/>
                                        </p:tgtEl>
                                        <p:attrNameLst>
                                          <p:attrName>ppt_x</p:attrName>
                                        </p:attrNameLst>
                                      </p:cBhvr>
                                      <p:tavLst>
                                        <p:tav tm="0">
                                          <p:val>
                                            <p:strVal val="#ppt_x"/>
                                          </p:val>
                                        </p:tav>
                                        <p:tav tm="100000">
                                          <p:val>
                                            <p:strVal val="#ppt_x"/>
                                          </p:val>
                                        </p:tav>
                                      </p:tavLst>
                                    </p:anim>
                                    <p:anim calcmode="lin" valueType="num">
                                      <p:cBhvr additive="base">
                                        <p:cTn id="300" dur="550" fill="hold"/>
                                        <p:tgtEl>
                                          <p:spTgt spid="74"/>
                                        </p:tgtEl>
                                        <p:attrNameLst>
                                          <p:attrName>ppt_y</p:attrName>
                                        </p:attrNameLst>
                                      </p:cBhvr>
                                      <p:tavLst>
                                        <p:tav tm="0">
                                          <p:val>
                                            <p:strVal val="#ppt_y+.08"/>
                                          </p:val>
                                        </p:tav>
                                        <p:tav tm="100000">
                                          <p:val>
                                            <p:strVal val="#ppt_y"/>
                                          </p:val>
                                        </p:tav>
                                      </p:tavLst>
                                    </p:anim>
                                  </p:childTnLst>
                                </p:cTn>
                              </p:par>
                            </p:childTnLst>
                          </p:cTn>
                        </p:par>
                        <p:par>
                          <p:cTn id="301" fill="hold">
                            <p:stCondLst>
                              <p:cond delay="800"/>
                            </p:stCondLst>
                            <p:childTnLst>
                              <p:par>
                                <p:cTn id="302" presetID="22" presetClass="entr" presetSubtype="8" fill="hold" grpId="0" nodeType="afterEffect">
                                  <p:stCondLst>
                                    <p:cond delay="0"/>
                                  </p:stCondLst>
                                  <p:childTnLst>
                                    <p:set>
                                      <p:cBhvr>
                                        <p:cTn id="303" dur="1" fill="hold">
                                          <p:stCondLst>
                                            <p:cond delay="0"/>
                                          </p:stCondLst>
                                        </p:cTn>
                                        <p:tgtEl>
                                          <p:spTgt spid="75"/>
                                        </p:tgtEl>
                                        <p:attrNameLst>
                                          <p:attrName>style.visibility</p:attrName>
                                        </p:attrNameLst>
                                      </p:cBhvr>
                                      <p:to>
                                        <p:strVal val="visible"/>
                                      </p:to>
                                    </p:set>
                                    <p:animEffect transition="in" filter="wipe(left)">
                                      <p:cBhvr>
                                        <p:cTn id="305" dur="800"/>
                                        <p:tgtEl>
                                          <p:spTgt spid="75"/>
                                        </p:tgtEl>
                                      </p:cBhvr>
                                    </p:animEffect>
                                  </p:childTnLst>
                                </p:cTn>
                              </p:par>
                            </p:childTnLst>
                          </p:cTn>
                        </p:par>
                        <p:par>
                          <p:cTn id="306" fill="hold">
                            <p:stCondLst>
                              <p:cond delay="950"/>
                            </p:stCondLst>
                            <p:childTnLst>
                              <p:par>
                                <p:cTn id="307" presetID="10" presetClass="entr" presetSubtype="0" fill="hold" grpId="0" nodeType="afterEffect">
                                  <p:stCondLst>
                                    <p:cond delay="0"/>
                                  </p:stCondLst>
                                  <p:childTnLst>
                                    <p:set>
                                      <p:cBhvr>
                                        <p:cTn id="308" dur="1" fill="hold">
                                          <p:stCondLst>
                                            <p:cond delay="0"/>
                                          </p:stCondLst>
                                        </p:cTn>
                                        <p:tgtEl>
                                          <p:spTgt spid="76"/>
                                        </p:tgtEl>
                                        <p:attrNameLst>
                                          <p:attrName>style.visibility</p:attrName>
                                        </p:attrNameLst>
                                      </p:cBhvr>
                                      <p:to>
                                        <p:strVal val="visible"/>
                                      </p:to>
                                    </p:set>
                                    <p:animEffect transition="in" filter="fade">
                                      <p:cBhvr>
                                        <p:cTn id="309" dur="55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9" grpId="0" animBg="1"/>
      <p:bldP spid="68" grpId="0" animBg="1"/>
      <p:bldP spid="71" grpId="0" animBg="1"/>
      <p:bldP spid="73" grpId="0" animBg="1"/>
      <p:bldP spid="72" grpId="0" animBg="1"/>
      <p:bldP spid="74" grpId="0" animBg="1"/>
      <p:bldP spid="75" grpId="0" animBg="1"/>
      <p:bldP spid="76"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2" name="Rounded Rectangle 21"/>
          <p:cNvSpPr/>
          <p:nvPr/>
        </p:nvSpPr>
        <p:spPr>
          <a:xfrm>
            <a:off x="550000" y="227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35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235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5" name="TextBox 24"/>
          <p:cNvSpPr txBox="1"/>
          <p:nvPr/>
        </p:nvSpPr>
        <p:spPr>
          <a:xfrm>
            <a:off x="1300000" y="2310000"/>
            <a:ext cx="10250000" cy="440000"/>
          </a:xfrm>
          <a:prstGeom prst="rect">
            <a:avLst/>
          </a:prstGeom>
          <a:noFill/>
        </p:spPr>
        <p:txBody>
          <a:bodyPr wrap="square" anchor="ctr">
            <a:spAutoFit/>
          </a:bodyPr>
          <a:lstStyle/>
          <a:p>
            <a:r>
              <a:rPr sz="1600" b="0">
                <a:solidFill>
                  <a:srgbClr val="E8EEFA"/>
                </a:solidFill>
                <a:latin typeface="Segoe UI"/>
              </a:rPr>
              <a:t>Sun'iy intellekt injiniringi konsepsiyasi</a:t>
            </a:r>
          </a:p>
        </p:txBody>
      </p:sp>
      <p:sp>
        <p:nvSpPr>
          <p:cNvPr id="26" name="Rounded Rectangle 25"/>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98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98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Sun'iy intellektga asoslangan hisoblash platformalari</a:t>
            </a:r>
          </a:p>
        </p:txBody>
      </p:sp>
      <p:sp>
        <p:nvSpPr>
          <p:cNvPr id="30" name="Rounded Rectangle 29"/>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61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61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AI-enabled computer systems arxitekturasi</a:t>
            </a:r>
          </a:p>
        </p:txBody>
      </p:sp>
      <p:sp>
        <p:nvSpPr>
          <p:cNvPr id="34" name="Rounded Rectangle 33"/>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24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24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7" name="TextBox 36"/>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Apparat va dasturiy ta'minotni birgalikda loyihalash</a:t>
            </a:r>
          </a:p>
        </p:txBody>
      </p:sp>
      <p:sp>
        <p:nvSpPr>
          <p:cNvPr id="38" name="Rounded Rectangle 37"/>
          <p:cNvSpPr/>
          <p:nvPr/>
        </p:nvSpPr>
        <p:spPr>
          <a:xfrm>
            <a:off x="550000" y="479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87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487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1" name="TextBox 40"/>
          <p:cNvSpPr txBox="1"/>
          <p:nvPr/>
        </p:nvSpPr>
        <p:spPr>
          <a:xfrm>
            <a:off x="1300000" y="4830000"/>
            <a:ext cx="10250000" cy="440000"/>
          </a:xfrm>
          <a:prstGeom prst="rect">
            <a:avLst/>
          </a:prstGeom>
          <a:noFill/>
        </p:spPr>
        <p:txBody>
          <a:bodyPr wrap="square" anchor="ctr">
            <a:spAutoFit/>
          </a:bodyPr>
          <a:lstStyle/>
          <a:p>
            <a:r>
              <a:rPr sz="1600" b="0">
                <a:solidFill>
                  <a:srgbClr val="E8EEFA"/>
                </a:solidFill>
                <a:latin typeface="Segoe UI"/>
              </a:rPr>
              <a:t>Loyihalash tamoyillari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ppt_x</p:attrName>
                                        </p:attrNameLst>
                                      </p:cBhvr>
                                      <p:tavLst>
                                        <p:tav tm="0">
                                          <p:val>
                                            <p:strVal val="#ppt_x"/>
                                          </p:val>
                                        </p:tav>
                                        <p:tav tm="100000">
                                          <p:val>
                                            <p:strVal val="#ppt_x"/>
                                          </p:val>
                                        </p:tav>
                                      </p:tavLst>
                                    </p:anim>
                                    <p:anim calcmode="lin" valueType="num">
                                      <p:cBhvr additive="base">
                                        <p:cTn id="17" dur="550" fill="hold"/>
                                        <p:tgtEl>
                                          <p:spTgt spid="22"/>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ppt_x</p:attrName>
                                        </p:attrNameLst>
                                      </p:cBhvr>
                                      <p:tavLst>
                                        <p:tav tm="0">
                                          <p:val>
                                            <p:strVal val="#ppt_x"/>
                                          </p:val>
                                        </p:tav>
                                        <p:tav tm="100000">
                                          <p:val>
                                            <p:strVal val="#ppt_x"/>
                                          </p:val>
                                        </p:tav>
                                      </p:tavLst>
                                    </p:anim>
                                    <p:anim calcmode="lin" valueType="num">
                                      <p:cBhvr additive="base">
                                        <p:cTn id="23" dur="550" fill="hold"/>
                                        <p:tgtEl>
                                          <p:spTgt spid="23"/>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anim calcmode="lin" valueType="num">
                                      <p:cBhvr additive="base">
                                        <p:cTn id="28" dur="550" fill="hold"/>
                                        <p:tgtEl>
                                          <p:spTgt spid="24"/>
                                        </p:tgtEl>
                                        <p:attrNameLst>
                                          <p:attrName>ppt_w</p:attrName>
                                        </p:attrNameLst>
                                      </p:cBhvr>
                                      <p:tavLst>
                                        <p:tav tm="0">
                                          <p:val>
                                            <p:strVal val="0"/>
                                          </p:val>
                                        </p:tav>
                                        <p:tav tm="100000">
                                          <p:val>
                                            <p:strVal val="#ppt_w"/>
                                          </p:val>
                                        </p:tav>
                                      </p:tavLst>
                                    </p:anim>
                                    <p:anim calcmode="lin" valueType="num">
                                      <p:cBhvr additive="base">
                                        <p:cTn id="29" dur="550" fill="hold"/>
                                        <p:tgtEl>
                                          <p:spTgt spid="24"/>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50"/>
                                        <p:tgtEl>
                                          <p:spTgt spid="25"/>
                                        </p:tgtEl>
                                      </p:cBhvr>
                                    </p:animEffect>
                                    <p:anim calcmode="lin" valueType="num">
                                      <p:cBhvr additive="base">
                                        <p:cTn id="34" dur="550" fill="hold"/>
                                        <p:tgtEl>
                                          <p:spTgt spid="25"/>
                                        </p:tgtEl>
                                        <p:attrNameLst>
                                          <p:attrName>ppt_x</p:attrName>
                                        </p:attrNameLst>
                                      </p:cBhvr>
                                      <p:tavLst>
                                        <p:tav tm="0">
                                          <p:val>
                                            <p:strVal val="#ppt_x"/>
                                          </p:val>
                                        </p:tav>
                                        <p:tav tm="100000">
                                          <p:val>
                                            <p:strVal val="#ppt_x"/>
                                          </p:val>
                                        </p:tav>
                                      </p:tavLst>
                                    </p:anim>
                                    <p:anim calcmode="lin" valueType="num">
                                      <p:cBhvr additive="base">
                                        <p:cTn id="35" dur="550" fill="hold"/>
                                        <p:tgtEl>
                                          <p:spTgt spid="25"/>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50"/>
                                        <p:tgtEl>
                                          <p:spTgt spid="26"/>
                                        </p:tgtEl>
                                      </p:cBhvr>
                                    </p:animEffect>
                                    <p:anim calcmode="lin" valueType="num">
                                      <p:cBhvr additive="base">
                                        <p:cTn id="40" dur="550" fill="hold"/>
                                        <p:tgtEl>
                                          <p:spTgt spid="26"/>
                                        </p:tgtEl>
                                        <p:attrNameLst>
                                          <p:attrName>ppt_x</p:attrName>
                                        </p:attrNameLst>
                                      </p:cBhvr>
                                      <p:tavLst>
                                        <p:tav tm="0">
                                          <p:val>
                                            <p:strVal val="#ppt_x"/>
                                          </p:val>
                                        </p:tav>
                                        <p:tav tm="100000">
                                          <p:val>
                                            <p:strVal val="#ppt_x"/>
                                          </p:val>
                                        </p:tav>
                                      </p:tavLst>
                                    </p:anim>
                                    <p:anim calcmode="lin" valueType="num">
                                      <p:cBhvr additive="base">
                                        <p:cTn id="41" dur="550" fill="hold"/>
                                        <p:tgtEl>
                                          <p:spTgt spid="26"/>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50"/>
                                        <p:tgtEl>
                                          <p:spTgt spid="27"/>
                                        </p:tgtEl>
                                      </p:cBhvr>
                                    </p:animEffect>
                                    <p:anim calcmode="lin" valueType="num">
                                      <p:cBhvr additive="base">
                                        <p:cTn id="46" dur="550" fill="hold"/>
                                        <p:tgtEl>
                                          <p:spTgt spid="27"/>
                                        </p:tgtEl>
                                        <p:attrNameLst>
                                          <p:attrName>ppt_x</p:attrName>
                                        </p:attrNameLst>
                                      </p:cBhvr>
                                      <p:tavLst>
                                        <p:tav tm="0">
                                          <p:val>
                                            <p:strVal val="#ppt_x"/>
                                          </p:val>
                                        </p:tav>
                                        <p:tav tm="100000">
                                          <p:val>
                                            <p:strVal val="#ppt_x"/>
                                          </p:val>
                                        </p:tav>
                                      </p:tavLst>
                                    </p:anim>
                                    <p:anim calcmode="lin" valueType="num">
                                      <p:cBhvr additive="base">
                                        <p:cTn id="47" dur="550" fill="hold"/>
                                        <p:tgtEl>
                                          <p:spTgt spid="27"/>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50"/>
                                        <p:tgtEl>
                                          <p:spTgt spid="28"/>
                                        </p:tgtEl>
                                      </p:cBhvr>
                                    </p:animEffect>
                                    <p:anim calcmode="lin" valueType="num">
                                      <p:cBhvr additive="base">
                                        <p:cTn id="52" dur="550" fill="hold"/>
                                        <p:tgtEl>
                                          <p:spTgt spid="28"/>
                                        </p:tgtEl>
                                        <p:attrNameLst>
                                          <p:attrName>ppt_w</p:attrName>
                                        </p:attrNameLst>
                                      </p:cBhvr>
                                      <p:tavLst>
                                        <p:tav tm="0">
                                          <p:val>
                                            <p:strVal val="0"/>
                                          </p:val>
                                        </p:tav>
                                        <p:tav tm="100000">
                                          <p:val>
                                            <p:strVal val="#ppt_w"/>
                                          </p:val>
                                        </p:tav>
                                      </p:tavLst>
                                    </p:anim>
                                    <p:anim calcmode="lin" valueType="num">
                                      <p:cBhvr additive="base">
                                        <p:cTn id="53" dur="550" fill="hold"/>
                                        <p:tgtEl>
                                          <p:spTgt spid="28"/>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550"/>
                                        <p:tgtEl>
                                          <p:spTgt spid="29"/>
                                        </p:tgtEl>
                                      </p:cBhvr>
                                    </p:animEffect>
                                    <p:anim calcmode="lin" valueType="num">
                                      <p:cBhvr additive="base">
                                        <p:cTn id="58" dur="550" fill="hold"/>
                                        <p:tgtEl>
                                          <p:spTgt spid="29"/>
                                        </p:tgtEl>
                                        <p:attrNameLst>
                                          <p:attrName>ppt_x</p:attrName>
                                        </p:attrNameLst>
                                      </p:cBhvr>
                                      <p:tavLst>
                                        <p:tav tm="0">
                                          <p:val>
                                            <p:strVal val="#ppt_x"/>
                                          </p:val>
                                        </p:tav>
                                        <p:tav tm="100000">
                                          <p:val>
                                            <p:strVal val="#ppt_x"/>
                                          </p:val>
                                        </p:tav>
                                      </p:tavLst>
                                    </p:anim>
                                    <p:anim calcmode="lin" valueType="num">
                                      <p:cBhvr additive="base">
                                        <p:cTn id="59" dur="550" fill="hold"/>
                                        <p:tgtEl>
                                          <p:spTgt spid="29"/>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50"/>
                                        <p:tgtEl>
                                          <p:spTgt spid="30"/>
                                        </p:tgtEl>
                                      </p:cBhvr>
                                    </p:animEffect>
                                    <p:anim calcmode="lin" valueType="num">
                                      <p:cBhvr additive="base">
                                        <p:cTn id="64" dur="550" fill="hold"/>
                                        <p:tgtEl>
                                          <p:spTgt spid="30"/>
                                        </p:tgtEl>
                                        <p:attrNameLst>
                                          <p:attrName>ppt_x</p:attrName>
                                        </p:attrNameLst>
                                      </p:cBhvr>
                                      <p:tavLst>
                                        <p:tav tm="0">
                                          <p:val>
                                            <p:strVal val="#ppt_x"/>
                                          </p:val>
                                        </p:tav>
                                        <p:tav tm="100000">
                                          <p:val>
                                            <p:strVal val="#ppt_x"/>
                                          </p:val>
                                        </p:tav>
                                      </p:tavLst>
                                    </p:anim>
                                    <p:anim calcmode="lin" valueType="num">
                                      <p:cBhvr additive="base">
                                        <p:cTn id="65" dur="550" fill="hold"/>
                                        <p:tgtEl>
                                          <p:spTgt spid="30"/>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550"/>
                                        <p:tgtEl>
                                          <p:spTgt spid="31"/>
                                        </p:tgtEl>
                                      </p:cBhvr>
                                    </p:animEffect>
                                    <p:anim calcmode="lin" valueType="num">
                                      <p:cBhvr additive="base">
                                        <p:cTn id="70" dur="550" fill="hold"/>
                                        <p:tgtEl>
                                          <p:spTgt spid="31"/>
                                        </p:tgtEl>
                                        <p:attrNameLst>
                                          <p:attrName>ppt_x</p:attrName>
                                        </p:attrNameLst>
                                      </p:cBhvr>
                                      <p:tavLst>
                                        <p:tav tm="0">
                                          <p:val>
                                            <p:strVal val="#ppt_x"/>
                                          </p:val>
                                        </p:tav>
                                        <p:tav tm="100000">
                                          <p:val>
                                            <p:strVal val="#ppt_x"/>
                                          </p:val>
                                        </p:tav>
                                      </p:tavLst>
                                    </p:anim>
                                    <p:anim calcmode="lin" valueType="num">
                                      <p:cBhvr additive="base">
                                        <p:cTn id="71" dur="550" fill="hold"/>
                                        <p:tgtEl>
                                          <p:spTgt spid="31"/>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550"/>
                                        <p:tgtEl>
                                          <p:spTgt spid="32"/>
                                        </p:tgtEl>
                                      </p:cBhvr>
                                    </p:animEffect>
                                    <p:anim calcmode="lin" valueType="num">
                                      <p:cBhvr additive="base">
                                        <p:cTn id="76" dur="550" fill="hold"/>
                                        <p:tgtEl>
                                          <p:spTgt spid="32"/>
                                        </p:tgtEl>
                                        <p:attrNameLst>
                                          <p:attrName>ppt_w</p:attrName>
                                        </p:attrNameLst>
                                      </p:cBhvr>
                                      <p:tavLst>
                                        <p:tav tm="0">
                                          <p:val>
                                            <p:strVal val="0"/>
                                          </p:val>
                                        </p:tav>
                                        <p:tav tm="100000">
                                          <p:val>
                                            <p:strVal val="#ppt_w"/>
                                          </p:val>
                                        </p:tav>
                                      </p:tavLst>
                                    </p:anim>
                                    <p:anim calcmode="lin" valueType="num">
                                      <p:cBhvr additive="base">
                                        <p:cTn id="77" dur="550" fill="hold"/>
                                        <p:tgtEl>
                                          <p:spTgt spid="32"/>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50"/>
                                        <p:tgtEl>
                                          <p:spTgt spid="33"/>
                                        </p:tgtEl>
                                      </p:cBhvr>
                                    </p:animEffect>
                                    <p:anim calcmode="lin" valueType="num">
                                      <p:cBhvr additive="base">
                                        <p:cTn id="82" dur="550" fill="hold"/>
                                        <p:tgtEl>
                                          <p:spTgt spid="33"/>
                                        </p:tgtEl>
                                        <p:attrNameLst>
                                          <p:attrName>ppt_x</p:attrName>
                                        </p:attrNameLst>
                                      </p:cBhvr>
                                      <p:tavLst>
                                        <p:tav tm="0">
                                          <p:val>
                                            <p:strVal val="#ppt_x"/>
                                          </p:val>
                                        </p:tav>
                                        <p:tav tm="100000">
                                          <p:val>
                                            <p:strVal val="#ppt_x"/>
                                          </p:val>
                                        </p:tav>
                                      </p:tavLst>
                                    </p:anim>
                                    <p:anim calcmode="lin" valueType="num">
                                      <p:cBhvr additive="base">
                                        <p:cTn id="83" dur="550" fill="hold"/>
                                        <p:tgtEl>
                                          <p:spTgt spid="33"/>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550"/>
                                        <p:tgtEl>
                                          <p:spTgt spid="34"/>
                                        </p:tgtEl>
                                      </p:cBhvr>
                                    </p:animEffect>
                                    <p:anim calcmode="lin" valueType="num">
                                      <p:cBhvr additive="base">
                                        <p:cTn id="88" dur="550" fill="hold"/>
                                        <p:tgtEl>
                                          <p:spTgt spid="34"/>
                                        </p:tgtEl>
                                        <p:attrNameLst>
                                          <p:attrName>ppt_x</p:attrName>
                                        </p:attrNameLst>
                                      </p:cBhvr>
                                      <p:tavLst>
                                        <p:tav tm="0">
                                          <p:val>
                                            <p:strVal val="#ppt_x"/>
                                          </p:val>
                                        </p:tav>
                                        <p:tav tm="100000">
                                          <p:val>
                                            <p:strVal val="#ppt_x"/>
                                          </p:val>
                                        </p:tav>
                                      </p:tavLst>
                                    </p:anim>
                                    <p:anim calcmode="lin" valueType="num">
                                      <p:cBhvr additive="base">
                                        <p:cTn id="89" dur="550" fill="hold"/>
                                        <p:tgtEl>
                                          <p:spTgt spid="34"/>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5"/>
                                        </p:tgtEl>
                                        <p:attrNameLst>
                                          <p:attrName>style.visibility</p:attrName>
                                        </p:attrNameLst>
                                      </p:cBhvr>
                                      <p:to>
                                        <p:strVal val="visible"/>
                                      </p:to>
                                    </p:set>
                                    <p:animEffect transition="in" filter="fade">
                                      <p:cBhvr>
                                        <p:cTn id="93" dur="550"/>
                                        <p:tgtEl>
                                          <p:spTgt spid="35"/>
                                        </p:tgtEl>
                                      </p:cBhvr>
                                    </p:animEffect>
                                    <p:anim calcmode="lin" valueType="num">
                                      <p:cBhvr additive="base">
                                        <p:cTn id="94" dur="550" fill="hold"/>
                                        <p:tgtEl>
                                          <p:spTgt spid="35"/>
                                        </p:tgtEl>
                                        <p:attrNameLst>
                                          <p:attrName>ppt_x</p:attrName>
                                        </p:attrNameLst>
                                      </p:cBhvr>
                                      <p:tavLst>
                                        <p:tav tm="0">
                                          <p:val>
                                            <p:strVal val="#ppt_x"/>
                                          </p:val>
                                        </p:tav>
                                        <p:tav tm="100000">
                                          <p:val>
                                            <p:strVal val="#ppt_x"/>
                                          </p:val>
                                        </p:tav>
                                      </p:tavLst>
                                    </p:anim>
                                    <p:anim calcmode="lin" valueType="num">
                                      <p:cBhvr additive="base">
                                        <p:cTn id="95" dur="550" fill="hold"/>
                                        <p:tgtEl>
                                          <p:spTgt spid="35"/>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550"/>
                                        <p:tgtEl>
                                          <p:spTgt spid="36"/>
                                        </p:tgtEl>
                                      </p:cBhvr>
                                    </p:animEffect>
                                    <p:anim calcmode="lin" valueType="num">
                                      <p:cBhvr additive="base">
                                        <p:cTn id="100" dur="550" fill="hold"/>
                                        <p:tgtEl>
                                          <p:spTgt spid="36"/>
                                        </p:tgtEl>
                                        <p:attrNameLst>
                                          <p:attrName>ppt_w</p:attrName>
                                        </p:attrNameLst>
                                      </p:cBhvr>
                                      <p:tavLst>
                                        <p:tav tm="0">
                                          <p:val>
                                            <p:strVal val="0"/>
                                          </p:val>
                                        </p:tav>
                                        <p:tav tm="100000">
                                          <p:val>
                                            <p:strVal val="#ppt_w"/>
                                          </p:val>
                                        </p:tav>
                                      </p:tavLst>
                                    </p:anim>
                                    <p:anim calcmode="lin" valueType="num">
                                      <p:cBhvr additive="base">
                                        <p:cTn id="101" dur="550" fill="hold"/>
                                        <p:tgtEl>
                                          <p:spTgt spid="36"/>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7"/>
                                        </p:tgtEl>
                                        <p:attrNameLst>
                                          <p:attrName>style.visibility</p:attrName>
                                        </p:attrNameLst>
                                      </p:cBhvr>
                                      <p:to>
                                        <p:strVal val="visible"/>
                                      </p:to>
                                    </p:set>
                                    <p:animEffect transition="in" filter="fade">
                                      <p:cBhvr>
                                        <p:cTn id="105" dur="550"/>
                                        <p:tgtEl>
                                          <p:spTgt spid="37"/>
                                        </p:tgtEl>
                                      </p:cBhvr>
                                    </p:animEffect>
                                    <p:anim calcmode="lin" valueType="num">
                                      <p:cBhvr additive="base">
                                        <p:cTn id="106" dur="550" fill="hold"/>
                                        <p:tgtEl>
                                          <p:spTgt spid="37"/>
                                        </p:tgtEl>
                                        <p:attrNameLst>
                                          <p:attrName>ppt_x</p:attrName>
                                        </p:attrNameLst>
                                      </p:cBhvr>
                                      <p:tavLst>
                                        <p:tav tm="0">
                                          <p:val>
                                            <p:strVal val="#ppt_x"/>
                                          </p:val>
                                        </p:tav>
                                        <p:tav tm="100000">
                                          <p:val>
                                            <p:strVal val="#ppt_x"/>
                                          </p:val>
                                        </p:tav>
                                      </p:tavLst>
                                    </p:anim>
                                    <p:anim calcmode="lin" valueType="num">
                                      <p:cBhvr additive="base">
                                        <p:cTn id="107" dur="550" fill="hold"/>
                                        <p:tgtEl>
                                          <p:spTgt spid="37"/>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50"/>
                                        <p:tgtEl>
                                          <p:spTgt spid="38"/>
                                        </p:tgtEl>
                                      </p:cBhvr>
                                    </p:animEffect>
                                    <p:anim calcmode="lin" valueType="num">
                                      <p:cBhvr additive="base">
                                        <p:cTn id="112" dur="550" fill="hold"/>
                                        <p:tgtEl>
                                          <p:spTgt spid="38"/>
                                        </p:tgtEl>
                                        <p:attrNameLst>
                                          <p:attrName>ppt_x</p:attrName>
                                        </p:attrNameLst>
                                      </p:cBhvr>
                                      <p:tavLst>
                                        <p:tav tm="0">
                                          <p:val>
                                            <p:strVal val="#ppt_x"/>
                                          </p:val>
                                        </p:tav>
                                        <p:tav tm="100000">
                                          <p:val>
                                            <p:strVal val="#ppt_x"/>
                                          </p:val>
                                        </p:tav>
                                      </p:tavLst>
                                    </p:anim>
                                    <p:anim calcmode="lin" valueType="num">
                                      <p:cBhvr additive="base">
                                        <p:cTn id="113" dur="550" fill="hold"/>
                                        <p:tgtEl>
                                          <p:spTgt spid="38"/>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39"/>
                                        </p:tgtEl>
                                        <p:attrNameLst>
                                          <p:attrName>style.visibility</p:attrName>
                                        </p:attrNameLst>
                                      </p:cBhvr>
                                      <p:to>
                                        <p:strVal val="visible"/>
                                      </p:to>
                                    </p:set>
                                    <p:animEffect transition="in" filter="fade">
                                      <p:cBhvr>
                                        <p:cTn id="117" dur="550"/>
                                        <p:tgtEl>
                                          <p:spTgt spid="39"/>
                                        </p:tgtEl>
                                      </p:cBhvr>
                                    </p:animEffect>
                                    <p:anim calcmode="lin" valueType="num">
                                      <p:cBhvr additive="base">
                                        <p:cTn id="118" dur="550" fill="hold"/>
                                        <p:tgtEl>
                                          <p:spTgt spid="39"/>
                                        </p:tgtEl>
                                        <p:attrNameLst>
                                          <p:attrName>ppt_x</p:attrName>
                                        </p:attrNameLst>
                                      </p:cBhvr>
                                      <p:tavLst>
                                        <p:tav tm="0">
                                          <p:val>
                                            <p:strVal val="#ppt_x"/>
                                          </p:val>
                                        </p:tav>
                                        <p:tav tm="100000">
                                          <p:val>
                                            <p:strVal val="#ppt_x"/>
                                          </p:val>
                                        </p:tav>
                                      </p:tavLst>
                                    </p:anim>
                                    <p:anim calcmode="lin" valueType="num">
                                      <p:cBhvr additive="base">
                                        <p:cTn id="119" dur="550" fill="hold"/>
                                        <p:tgtEl>
                                          <p:spTgt spid="39"/>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0"/>
                                        </p:tgtEl>
                                        <p:attrNameLst>
                                          <p:attrName>style.visibility</p:attrName>
                                        </p:attrNameLst>
                                      </p:cBhvr>
                                      <p:to>
                                        <p:strVal val="visible"/>
                                      </p:to>
                                    </p:set>
                                    <p:animEffect transition="in" filter="fade">
                                      <p:cBhvr>
                                        <p:cTn id="123" dur="550"/>
                                        <p:tgtEl>
                                          <p:spTgt spid="40"/>
                                        </p:tgtEl>
                                      </p:cBhvr>
                                    </p:animEffect>
                                    <p:anim calcmode="lin" valueType="num">
                                      <p:cBhvr additive="base">
                                        <p:cTn id="124" dur="550" fill="hold"/>
                                        <p:tgtEl>
                                          <p:spTgt spid="40"/>
                                        </p:tgtEl>
                                        <p:attrNameLst>
                                          <p:attrName>ppt_w</p:attrName>
                                        </p:attrNameLst>
                                      </p:cBhvr>
                                      <p:tavLst>
                                        <p:tav tm="0">
                                          <p:val>
                                            <p:strVal val="0"/>
                                          </p:val>
                                        </p:tav>
                                        <p:tav tm="100000">
                                          <p:val>
                                            <p:strVal val="#ppt_w"/>
                                          </p:val>
                                        </p:tav>
                                      </p:tavLst>
                                    </p:anim>
                                    <p:anim calcmode="lin" valueType="num">
                                      <p:cBhvr additive="base">
                                        <p:cTn id="125" dur="550" fill="hold"/>
                                        <p:tgtEl>
                                          <p:spTgt spid="40"/>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1"/>
                                        </p:tgtEl>
                                        <p:attrNameLst>
                                          <p:attrName>style.visibility</p:attrName>
                                        </p:attrNameLst>
                                      </p:cBhvr>
                                      <p:to>
                                        <p:strVal val="visible"/>
                                      </p:to>
                                    </p:set>
                                    <p:animEffect transition="in" filter="fade">
                                      <p:cBhvr>
                                        <p:cTn id="129" dur="550"/>
                                        <p:tgtEl>
                                          <p:spTgt spid="41"/>
                                        </p:tgtEl>
                                      </p:cBhvr>
                                    </p:animEffect>
                                    <p:anim calcmode="lin" valueType="num">
                                      <p:cBhvr additive="base">
                                        <p:cTn id="130" dur="550" fill="hold"/>
                                        <p:tgtEl>
                                          <p:spTgt spid="41"/>
                                        </p:tgtEl>
                                        <p:attrNameLst>
                                          <p:attrName>ppt_x</p:attrName>
                                        </p:attrNameLst>
                                      </p:cBhvr>
                                      <p:tavLst>
                                        <p:tav tm="0">
                                          <p:val>
                                            <p:strVal val="#ppt_x"/>
                                          </p:val>
                                        </p:tav>
                                        <p:tav tm="100000">
                                          <p:val>
                                            <p:strVal val="#ppt_x"/>
                                          </p:val>
                                        </p:tav>
                                      </p:tavLst>
                                    </p:anim>
                                    <p:anim calcmode="lin" valueType="num">
                                      <p:cBhvr additive="base">
                                        <p:cTn id="131" dur="550" fill="hold"/>
                                        <p:tgtEl>
                                          <p:spTgt spid="4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938d5d05600bee6d.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PumitasUNAM · Wikimedia Commons · CC BY-SA 4.0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Sun'iy intellekt injiniringi konsepsiyasi</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injiniringi konsepsiyasi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23152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31152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78326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271520"/>
            <a:ext cx="5900000" cy="1423480"/>
          </a:xfrm>
          <a:prstGeom prst="rect">
            <a:avLst/>
          </a:prstGeom>
          <a:noFill/>
        </p:spPr>
        <p:txBody>
          <a:bodyPr wrap="square" anchor="ctr">
            <a:spAutoFit/>
          </a:bodyPr>
          <a:lstStyle/>
          <a:p>
            <a:r>
              <a:rPr sz="1400" b="0">
                <a:solidFill>
                  <a:srgbClr val="E8EEFA"/>
                </a:solidFill>
                <a:latin typeface="Segoe UI"/>
              </a:rPr>
              <a:t>Sun'iy intellekt injiniringi (AI engineering) — SI komponentlarini o'z ichiga olgan tizimlarni ishonchli, takrorlanuvchi va masshtablanuvchi tarzda loyihalash, qurish, joylashtirish va ekspluatatsiya qilish fanidir.</a:t>
            </a:r>
          </a:p>
        </p:txBody>
      </p:sp>
      <p:sp>
        <p:nvSpPr>
          <p:cNvPr id="32" name="Rounded Rectangle 31"/>
          <p:cNvSpPr/>
          <p:nvPr/>
        </p:nvSpPr>
        <p:spPr>
          <a:xfrm>
            <a:off x="550000" y="384500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39674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423480"/>
          </a:xfrm>
          <a:prstGeom prst="rect">
            <a:avLst/>
          </a:prstGeom>
          <a:noFill/>
        </p:spPr>
        <p:txBody>
          <a:bodyPr wrap="square" anchor="ctr">
            <a:spAutoFit/>
          </a:bodyPr>
          <a:lstStyle/>
          <a:p>
            <a:r>
              <a:rPr sz="1500" b="1">
                <a:solidFill>
                  <a:srgbClr val="E8EEFA"/>
                </a:solidFill>
                <a:latin typeface="Segoe UI"/>
              </a:rPr>
              <a:t>Amershi va hammualliflar SI tizimlarining an'anaviy dasturiy ta'minotdan uchta tub farqini ko'rsatadilar.</a:t>
            </a:r>
          </a:p>
          <a:p>
            <a:pPr>
              <a:spcBef>
                <a:spcPts val="400"/>
              </a:spcBef>
            </a:pPr>
            <a:r>
              <a:rPr sz="1400">
                <a:solidFill>
                  <a:srgbClr val="AEBBD9"/>
                </a:solidFill>
                <a:latin typeface="Segoe UI"/>
              </a:rPr>
              <a:t>Birinchidan, ma'lumotni boshqarish koddan ko'ra murakkabroq: ma'lumot versiyalanishi, sifati tekshirilishi, kelib chiqishi (provenance) kuzatilishi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injiniringi konsepsiyasi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bc7d2b5c580b73f8.jpg"/>
          <p:cNvPicPr>
            <a:picLocks noChangeAspect="1"/>
          </p:cNvPicPr>
          <p:nvPr/>
        </p:nvPicPr>
        <p:blipFill>
          <a:blip r:embed="rId2"/>
          <a:srcRect l="14215" r="1421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Tomwsulcer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42128"/>
            <a:ext cx="50000" cy="18128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548564"/>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Kneusel [2] amaliy nuqtai nazardan SI injiniringini «modelni ishlaydigan mahsulotga aylantirish san'ati» deb ta'riflaydi va muhandis javob berishi kerak bo'lgan savollarni sanaydi: inferens qayerda bajariladi (bulut, server, qurilma)?</a:t>
            </a:r>
          </a:p>
          <a:p>
            <a:pPr>
              <a:spcBef>
                <a:spcPts val="400"/>
              </a:spcBef>
            </a:pPr>
            <a:r>
              <a:rPr sz="1400">
                <a:solidFill>
                  <a:srgbClr val="AEBBD9"/>
                </a:solidFill>
                <a:latin typeface="Segoe UI"/>
              </a:rPr>
              <a:t>Qanday kechikish qabul qilinadi? Xato narxi qancha? Model qanchalik tez eskiradi? Ushbu savollarning har biri bevosita kompyuter tizimi arxitekturasiga ta'sir qiladi.</a:t>
            </a:r>
          </a:p>
        </p:txBody>
      </p:sp>
      <p:sp>
        <p:nvSpPr>
          <p:cNvPr id="31" name="Rounded Rectangle 30"/>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8128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3143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4" name="TextBox 33"/>
          <p:cNvSpPr txBox="1"/>
          <p:nvPr/>
        </p:nvSpPr>
        <p:spPr>
          <a:xfrm>
            <a:off x="1300000" y="3885000"/>
            <a:ext cx="5900000" cy="1892872"/>
          </a:xfrm>
          <a:prstGeom prst="rect">
            <a:avLst/>
          </a:prstGeom>
          <a:noFill/>
        </p:spPr>
        <p:txBody>
          <a:bodyPr wrap="square" anchor="ctr">
            <a:spAutoFit/>
          </a:bodyPr>
          <a:lstStyle/>
          <a:p>
            <a:r>
              <a:rPr sz="1400" b="0">
                <a:solidFill>
                  <a:srgbClr val="E8EEFA"/>
                </a:solidFill>
                <a:latin typeface="Segoe UI"/>
              </a:rPr>
              <a:t>SI injiniringining yana bir muhim jihati — hayot sikli tushunchasi.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500d39deda63e642.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45" name="TextBox 44"/>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Lawrence Systems · Wikimedia Commons · CC BY 3.0</a:t>
            </a:r>
          </a:p>
        </p:txBody>
      </p:sp>
      <p:sp>
        <p:nvSpPr>
          <p:cNvPr id="46" name="TextBox 45"/>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7" name="TextBox 46"/>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8" name="TextBox 47"/>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Sun'iy intellektga asoslangan hisoblash platformalari</a:t>
            </a:r>
          </a:p>
        </p:txBody>
      </p:sp>
      <p:sp>
        <p:nvSpPr>
          <p:cNvPr id="49" name="Rectangle 48"/>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150"/>
                            </p:stCondLst>
                            <p:childTnLst>
                              <p:par>
                                <p:cTn id="164" presetID="53" presetClass="entr" presetSubtype="16"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anim calcmode="lin" valueType="num">
                                      <p:cBhvr additive="base">
                                        <p:cTn id="167" dur="550" fill="hold"/>
                                        <p:tgtEl>
                                          <p:spTgt spid="43"/>
                                        </p:tgtEl>
                                        <p:attrNameLst>
                                          <p:attrName>ppt_w</p:attrName>
                                        </p:attrNameLst>
                                      </p:cBhvr>
                                      <p:tavLst>
                                        <p:tav tm="0">
                                          <p:val>
                                            <p:strVal val="0"/>
                                          </p:val>
                                        </p:tav>
                                        <p:tav tm="100000">
                                          <p:val>
                                            <p:strVal val="#ppt_w"/>
                                          </p:val>
                                        </p:tav>
                                      </p:tavLst>
                                    </p:anim>
                                    <p:anim calcmode="lin" valueType="num">
                                      <p:cBhvr additive="base">
                                        <p:cTn id="168" dur="550" fill="hold"/>
                                        <p:tgtEl>
                                          <p:spTgt spid="43"/>
                                        </p:tgtEl>
                                        <p:attrNameLst>
                                          <p:attrName>ppt_h</p:attrName>
                                        </p:attrNameLst>
                                      </p:cBhvr>
                                      <p:tavLst>
                                        <p:tav tm="0">
                                          <p:val>
                                            <p:strVal val="0"/>
                                          </p:val>
                                        </p:tav>
                                        <p:tav tm="100000">
                                          <p:val>
                                            <p:strVal val="#ppt_h"/>
                                          </p:val>
                                        </p:tav>
                                      </p:tavLst>
                                    </p:anim>
                                  </p:childTnLst>
                                </p:cTn>
                              </p:par>
                            </p:childTnLst>
                          </p:cTn>
                        </p:par>
                        <p:par>
                          <p:cTn id="169" fill="hold">
                            <p:stCondLst>
                              <p:cond delay="150"/>
                            </p:stCondLst>
                            <p:childTnLst>
                              <p:par>
                                <p:cTn id="170" presetID="53" presetClass="entr" presetSubtype="16" fill="hold" grpId="0" nodeType="afterEffect">
                                  <p:stCondLst>
                                    <p:cond delay="0"/>
                                  </p:stCondLst>
                                  <p:childTnLst>
                                    <p:set>
                                      <p:cBhvr>
                                        <p:cTn id="171" dur="1" fill="hold">
                                          <p:stCondLst>
                                            <p:cond delay="0"/>
                                          </p:stCondLst>
                                        </p:cTn>
                                        <p:tgtEl>
                                          <p:spTgt spid="44"/>
                                        </p:tgtEl>
                                        <p:attrNameLst>
                                          <p:attrName>style.visibility</p:attrName>
                                        </p:attrNameLst>
                                      </p:cBhvr>
                                      <p:to>
                                        <p:strVal val="visible"/>
                                      </p:to>
                                    </p:set>
                                    <p:animEffect transition="in" filter="fade">
                                      <p:cBhvr>
                                        <p:cTn id="172" dur="550"/>
                                        <p:tgtEl>
                                          <p:spTgt spid="44"/>
                                        </p:tgtEl>
                                      </p:cBhvr>
                                    </p:animEffect>
                                    <p:anim calcmode="lin" valueType="num">
                                      <p:cBhvr additive="base">
                                        <p:cTn id="173" dur="550" fill="hold"/>
                                        <p:tgtEl>
                                          <p:spTgt spid="44"/>
                                        </p:tgtEl>
                                        <p:attrNameLst>
                                          <p:attrName>ppt_w</p:attrName>
                                        </p:attrNameLst>
                                      </p:cBhvr>
                                      <p:tavLst>
                                        <p:tav tm="0">
                                          <p:val>
                                            <p:strVal val="0"/>
                                          </p:val>
                                        </p:tav>
                                        <p:tav tm="100000">
                                          <p:val>
                                            <p:strVal val="#ppt_w"/>
                                          </p:val>
                                        </p:tav>
                                      </p:tavLst>
                                    </p:anim>
                                    <p:anim calcmode="lin" valueType="num">
                                      <p:cBhvr additive="base">
                                        <p:cTn id="174" dur="550" fill="hold"/>
                                        <p:tgtEl>
                                          <p:spTgt spid="44"/>
                                        </p:tgtEl>
                                        <p:attrNameLst>
                                          <p:attrName>ppt_h</p:attrName>
                                        </p:attrNameLst>
                                      </p:cBhvr>
                                      <p:tavLst>
                                        <p:tav tm="0">
                                          <p:val>
                                            <p:strVal val="0"/>
                                          </p:val>
                                        </p:tav>
                                        <p:tav tm="100000">
                                          <p:val>
                                            <p:strVal val="#ppt_h"/>
                                          </p:val>
                                        </p:tav>
                                      </p:tavLst>
                                    </p:anim>
                                  </p:childTnLst>
                                </p:cTn>
                              </p:par>
                            </p:childTnLst>
                          </p:cTn>
                        </p:par>
                        <p:par>
                          <p:cTn id="175" fill="hold">
                            <p:stCondLst>
                              <p:cond delay="150"/>
                            </p:stCondLst>
                            <p:childTnLst>
                              <p:par>
                                <p:cTn id="176" presetID="10" presetClass="entr" presetSubtype="0"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childTnLst>
                                </p:cTn>
                              </p:par>
                            </p:childTnLst>
                          </p:cTn>
                        </p:par>
                        <p:par>
                          <p:cTn id="179" fill="hold">
                            <p:stCondLst>
                              <p:cond delay="350"/>
                            </p:stCondLst>
                            <p:childTnLst>
                              <p:par>
                                <p:cTn id="180" presetID="53" presetClass="entr" presetSubtype="16"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anim calcmode="lin" valueType="num">
                                      <p:cBhvr additive="base">
                                        <p:cTn id="183" dur="550" fill="hold"/>
                                        <p:tgtEl>
                                          <p:spTgt spid="46"/>
                                        </p:tgtEl>
                                        <p:attrNameLst>
                                          <p:attrName>ppt_w</p:attrName>
                                        </p:attrNameLst>
                                      </p:cBhvr>
                                      <p:tavLst>
                                        <p:tav tm="0">
                                          <p:val>
                                            <p:strVal val="0"/>
                                          </p:val>
                                        </p:tav>
                                        <p:tav tm="100000">
                                          <p:val>
                                            <p:strVal val="#ppt_w"/>
                                          </p:val>
                                        </p:tav>
                                      </p:tavLst>
                                    </p:anim>
                                    <p:anim calcmode="lin" valueType="num">
                                      <p:cBhvr additive="base">
                                        <p:cTn id="184" dur="550" fill="hold"/>
                                        <p:tgtEl>
                                          <p:spTgt spid="46"/>
                                        </p:tgtEl>
                                        <p:attrNameLst>
                                          <p:attrName>ppt_h</p:attrName>
                                        </p:attrNameLst>
                                      </p:cBhvr>
                                      <p:tavLst>
                                        <p:tav tm="0">
                                          <p:val>
                                            <p:strVal val="0"/>
                                          </p:val>
                                        </p:tav>
                                        <p:tav tm="100000">
                                          <p:val>
                                            <p:strVal val="#ppt_h"/>
                                          </p:val>
                                        </p:tav>
                                      </p:tavLst>
                                    </p:anim>
                                  </p:childTnLst>
                                </p:cTn>
                              </p:par>
                            </p:childTnLst>
                          </p:cTn>
                        </p:par>
                        <p:par>
                          <p:cTn id="185" fill="hold">
                            <p:stCondLst>
                              <p:cond delay="450"/>
                            </p:stCondLst>
                            <p:childTnLst>
                              <p:par>
                                <p:cTn id="186" presetID="10" presetClass="entr" presetSubtype="0"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Effect transition="in" filter="fade">
                                      <p:cBhvr>
                                        <p:cTn id="188" dur="550"/>
                                        <p:tgtEl>
                                          <p:spTgt spid="47"/>
                                        </p:tgtEl>
                                      </p:cBhvr>
                                    </p:animEffect>
                                  </p:childTnLst>
                                </p:cTn>
                              </p:par>
                            </p:childTnLst>
                          </p:cTn>
                        </p:par>
                        <p:par>
                          <p:cTn id="189" fill="hold">
                            <p:stCondLst>
                              <p:cond delay="550"/>
                            </p:stCondLst>
                            <p:childTnLst>
                              <p:par>
                                <p:cTn id="190" presetID="2" presetClass="entr" presetSubtype="8"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 calcmode="lin" valueType="num">
                                      <p:cBhvr additive="base">
                                        <p:cTn id="193" dur="550" fill="hold"/>
                                        <p:tgtEl>
                                          <p:spTgt spid="48"/>
                                        </p:tgtEl>
                                        <p:attrNameLst>
                                          <p:attrName>ppt_x</p:attrName>
                                        </p:attrNameLst>
                                      </p:cBhvr>
                                      <p:tavLst>
                                        <p:tav tm="0">
                                          <p:val>
                                            <p:strVal val="0-#ppt_w/2"/>
                                          </p:val>
                                        </p:tav>
                                        <p:tav tm="100000">
                                          <p:val>
                                            <p:strVal val="#ppt_x"/>
                                          </p:val>
                                        </p:tav>
                                      </p:tavLst>
                                    </p:anim>
                                    <p:anim calcmode="lin" valueType="num">
                                      <p:cBhvr additive="base">
                                        <p:cTn id="194" dur="550" fill="hold"/>
                                        <p:tgtEl>
                                          <p:spTgt spid="48"/>
                                        </p:tgtEl>
                                        <p:attrNameLst>
                                          <p:attrName>ppt_y</p:attrName>
                                        </p:attrNameLst>
                                      </p:cBhvr>
                                      <p:tavLst>
                                        <p:tav tm="0">
                                          <p:val>
                                            <p:strVal val="#ppt_y"/>
                                          </p:val>
                                        </p:tav>
                                        <p:tav tm="100000">
                                          <p:val>
                                            <p:strVal val="#ppt_y"/>
                                          </p:val>
                                        </p:tav>
                                      </p:tavLst>
                                    </p:anim>
                                  </p:childTnLst>
                                </p:cTn>
                              </p:par>
                            </p:childTnLst>
                          </p:cTn>
                        </p:par>
                        <p:par>
                          <p:cTn id="195" fill="hold">
                            <p:stCondLst>
                              <p:cond delay="650"/>
                            </p:stCondLst>
                            <p:childTnLst>
                              <p:par>
                                <p:cTn id="196" presetID="22" presetClass="entr" presetSubtype="8" fill="hold" grpId="0" nodeType="afterEffect">
                                  <p:stCondLst>
                                    <p:cond delay="0"/>
                                  </p:stCondLst>
                                  <p:childTnLst>
                                    <p:set>
                                      <p:cBhvr>
                                        <p:cTn id="197" dur="1" fill="hold">
                                          <p:stCondLst>
                                            <p:cond delay="0"/>
                                          </p:stCondLst>
                                        </p:cTn>
                                        <p:tgtEl>
                                          <p:spTgt spid="49"/>
                                        </p:tgtEl>
                                        <p:attrNameLst>
                                          <p:attrName>style.visibility</p:attrName>
                                        </p:attrNameLst>
                                      </p:cBhvr>
                                      <p:to>
                                        <p:strVal val="visible"/>
                                      </p:to>
                                    </p:set>
                                    <p:animEffect transition="in" filter="wipe(left)">
                                      <p:cBhvr>
                                        <p:cTn id="199" dur="8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6" grpId="0" animBg="1"/>
      <p:bldP spid="47" grpId="0" animBg="1"/>
      <p:bldP spid="48" grpId="0" animBg="1"/>
      <p:bldP spid="49"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intellektga asoslangan hisoblash platformalari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Hisoblash platformasi deganda biz SI yukini bajaruvchi apparat va uning ustidagi tizimli dasturiy ta'minot (drayver, kutubxona, ish vaqti muhiti) majmuasini tushunamiz.</a:t>
            </a:r>
          </a:p>
          <a:p>
            <a:pPr>
              <a:spcBef>
                <a:spcPts val="400"/>
              </a:spcBef>
            </a:pPr>
            <a:r>
              <a:rPr sz="1400">
                <a:solidFill>
                  <a:srgbClr val="AEBBD9"/>
                </a:solidFill>
                <a:latin typeface="Segoe UI"/>
              </a:rPr>
              <a:t>Platformalarni to'rt sinfga ajratish qulay: shaxsiy ish stansiyalari, ma'lumotlar markazi serverlari, bulut xizmatlari va chekka (edge) qurilmalar.</a:t>
            </a:r>
          </a:p>
        </p:txBody>
      </p:sp>
      <p:sp>
        <p:nvSpPr>
          <p:cNvPr id="34" name="Rounded Rectangle 33"/>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Jadvaldan uch muhim xulosa kelib chiqadi.</a:t>
            </a:r>
          </a:p>
          <a:p>
            <a:pPr>
              <a:spcBef>
                <a:spcPts val="400"/>
              </a:spcBef>
            </a:pPr>
            <a:r>
              <a:rPr sz="1400">
                <a:solidFill>
                  <a:srgbClr val="AEBBD9"/>
                </a:solidFill>
                <a:latin typeface="Segoe UI"/>
              </a:rPr>
              <a:t>Birinchidan, platformalar orasidagi farq olti tartibni (10⁶) tashkil etadi — mikrokontrollerdan H100 gacha. Demak «model ishlaydimi?» savoli ma'nosiz; «qaysi platformada, qanday kechikish va energiya bilan ishlaydi?» deb so'rash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intellektga asoslangan hisoblash platformalari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7522695264632dd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Jguarin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766216"/>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Platforma tanlashda hisoblash quvvatining birligiga e'tibor berish zarur.</a:t>
            </a:r>
          </a:p>
          <a:p>
            <a:pPr>
              <a:spcBef>
                <a:spcPts val="400"/>
              </a:spcBef>
            </a:pPr>
            <a:r>
              <a:rPr sz="1600">
                <a:solidFill>
                  <a:srgbClr val="AEBBD9"/>
                </a:solidFill>
                <a:latin typeface="Segoe UI"/>
              </a:rPr>
              <a:t>TOPS (tera operations per second) odatda INT8 butun sonli amallar uchun, TFLOPS esa suzuvchi nuqtali (FP32, FP16, BF16, FP8) amallar uchun beriladi. Bitta ko'paytirish-qo'shish (multiply-accumulate, MAC) amali ikki operatsiya sifatida hisoblanadi.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intellektga asoslangan hisoblash platformalari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graphicFrame>
        <p:nvGraphicFramePr>
          <p:cNvPr id="26" name="Table 25"/>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400" b="1">
                          <a:solidFill>
                            <a:srgbClr val="22D3EE"/>
                          </a:solidFill>
                          <a:latin typeface="Segoe UI"/>
                        </a:rPr>
                        <a:t>Platforma sinfi</a:t>
                      </a:r>
                    </a:p>
                  </a:txBody>
                  <a:tcPr>
                    <a:solidFill>
                      <a:srgbClr val="1C2755"/>
                    </a:solidFill>
                  </a:tcPr>
                </a:tc>
                <a:tc>
                  <a:txBody>
                    <a:bodyPr/>
                    <a:lstStyle/>
                    <a:p>
                      <a:r>
                        <a:rPr sz="1400" b="1">
                          <a:solidFill>
                            <a:srgbClr val="22D3EE"/>
                          </a:solidFill>
                          <a:latin typeface="Segoe UI"/>
                        </a:rPr>
                        <a:t>Tipik vakil</a:t>
                      </a:r>
                    </a:p>
                  </a:txBody>
                  <a:tcPr>
                    <a:solidFill>
                      <a:srgbClr val="1C2755"/>
                    </a:solidFill>
                  </a:tcPr>
                </a:tc>
                <a:tc>
                  <a:txBody>
                    <a:bodyPr/>
                    <a:lstStyle/>
                    <a:p>
                      <a:r>
                        <a:rPr sz="1400" b="1">
                          <a:solidFill>
                            <a:srgbClr val="22D3EE"/>
                          </a:solidFill>
                          <a:latin typeface="Segoe UI"/>
                        </a:rPr>
                        <a:t>Hisoblash quvvati (taxm.)</a:t>
                      </a:r>
                    </a:p>
                  </a:txBody>
                  <a:tcPr>
                    <a:solidFill>
                      <a:srgbClr val="1C2755"/>
                    </a:solidFill>
                  </a:tcPr>
                </a:tc>
                <a:tc>
                  <a:txBody>
                    <a:bodyPr/>
                    <a:lstStyle/>
                    <a:p>
                      <a:r>
                        <a:rPr sz="1400" b="1">
                          <a:solidFill>
                            <a:srgbClr val="22D3EE"/>
                          </a:solidFill>
                          <a:latin typeface="Segoe UI"/>
                        </a:rPr>
                        <a:t>Xotira</a:t>
                      </a:r>
                    </a:p>
                  </a:txBody>
                  <a:tcPr>
                    <a:solidFill>
                      <a:srgbClr val="1C2755"/>
                    </a:solidFill>
                  </a:tcPr>
                </a:tc>
                <a:tc>
                  <a:txBody>
                    <a:bodyPr/>
                    <a:lstStyle/>
                    <a:p>
                      <a:r>
                        <a:rPr sz="1400" b="1">
                          <a:solidFill>
                            <a:srgbClr val="22D3EE"/>
                          </a:solidFill>
                          <a:latin typeface="Segoe UI"/>
                        </a:rPr>
                        <a:t>Energiya</a:t>
                      </a:r>
                    </a:p>
                  </a:txBody>
                  <a:tcPr>
                    <a:solidFill>
                      <a:srgbClr val="1C2755"/>
                    </a:solidFill>
                  </a:tcPr>
                </a:tc>
                <a:tc>
                  <a:txBody>
                    <a:bodyPr/>
                    <a:lstStyle/>
                    <a:p>
                      <a:r>
                        <a:rPr sz="1400" b="1">
                          <a:solidFill>
                            <a:srgbClr val="22D3EE"/>
                          </a:solidFill>
                          <a:latin typeface="Segoe UI"/>
                        </a:rPr>
                        <a:t>Odatiy vazifa</a:t>
                      </a:r>
                    </a:p>
                  </a:txBody>
                  <a:tcPr>
                    <a:solidFill>
                      <a:srgbClr val="1C2755"/>
                    </a:solidFill>
                  </a:tcPr>
                </a:tc>
              </a:tr>
              <a:tr h="520000">
                <a:tc>
                  <a:txBody>
                    <a:bodyPr/>
                    <a:lstStyle/>
                    <a:p>
                      <a:r>
                        <a:rPr sz="1400" b="0">
                          <a:solidFill>
                            <a:srgbClr val="E8EEFA"/>
                          </a:solidFill>
                          <a:latin typeface="Segoe UI"/>
                        </a:rPr>
                        <a:t>Chekka mikrokontroller</a:t>
                      </a:r>
                    </a:p>
                  </a:txBody>
                  <a:tcPr>
                    <a:solidFill>
                      <a:srgbClr val="111834"/>
                    </a:solidFill>
                  </a:tcPr>
                </a:tc>
                <a:tc>
                  <a:txBody>
                    <a:bodyPr/>
                    <a:lstStyle/>
                    <a:p>
                      <a:r>
                        <a:rPr sz="1400" b="0">
                          <a:solidFill>
                            <a:srgbClr val="E8EEFA"/>
                          </a:solidFill>
                          <a:latin typeface="Segoe UI"/>
                        </a:rPr>
                        <a:t>ARM Cortex-M7 + TinyML</a:t>
                      </a:r>
                    </a:p>
                  </a:txBody>
                  <a:tcPr>
                    <a:solidFill>
                      <a:srgbClr val="111834"/>
                    </a:solidFill>
                  </a:tcPr>
                </a:tc>
                <a:tc>
                  <a:txBody>
                    <a:bodyPr/>
                    <a:lstStyle/>
                    <a:p>
                      <a:r>
                        <a:rPr sz="1400" b="0">
                          <a:solidFill>
                            <a:srgbClr val="E8EEFA"/>
                          </a:solidFill>
                          <a:latin typeface="Segoe UI"/>
                        </a:rPr>
                        <a:t>0,001–0,01 TOPS</a:t>
                      </a:r>
                    </a:p>
                  </a:txBody>
                  <a:tcPr>
                    <a:solidFill>
                      <a:srgbClr val="111834"/>
                    </a:solidFill>
                  </a:tcPr>
                </a:tc>
                <a:tc>
                  <a:txBody>
                    <a:bodyPr/>
                    <a:lstStyle/>
                    <a:p>
                      <a:r>
                        <a:rPr sz="1400" b="0">
                          <a:solidFill>
                            <a:srgbClr val="E8EEFA"/>
                          </a:solidFill>
                          <a:latin typeface="Segoe UI"/>
                        </a:rPr>
                        <a:t>0,5–2 MB SRAM</a:t>
                      </a:r>
                    </a:p>
                  </a:txBody>
                  <a:tcPr>
                    <a:solidFill>
                      <a:srgbClr val="111834"/>
                    </a:solidFill>
                  </a:tcPr>
                </a:tc>
                <a:tc>
                  <a:txBody>
                    <a:bodyPr/>
                    <a:lstStyle/>
                    <a:p>
                      <a:r>
                        <a:rPr sz="1400" b="0">
                          <a:solidFill>
                            <a:srgbClr val="E8EEFA"/>
                          </a:solidFill>
                          <a:latin typeface="Segoe UI"/>
                        </a:rPr>
                        <a:t>0,05–0,5 W</a:t>
                      </a:r>
                    </a:p>
                  </a:txBody>
                  <a:tcPr>
                    <a:solidFill>
                      <a:srgbClr val="111834"/>
                    </a:solidFill>
                  </a:tcPr>
                </a:tc>
                <a:tc>
                  <a:txBody>
                    <a:bodyPr/>
                    <a:lstStyle/>
                    <a:p>
                      <a:r>
                        <a:rPr sz="1400" b="0">
                          <a:solidFill>
                            <a:srgbClr val="E8EEFA"/>
                          </a:solidFill>
                          <a:latin typeface="Segoe UI"/>
                        </a:rPr>
                        <a:t>Kalit so'z aniqlash, sensor tasnifi</a:t>
                      </a:r>
                    </a:p>
                  </a:txBody>
                  <a:tcPr>
                    <a:solidFill>
                      <a:srgbClr val="111834"/>
                    </a:solidFill>
                  </a:tcPr>
                </a:tc>
              </a:tr>
              <a:tr h="520000">
                <a:tc>
                  <a:txBody>
                    <a:bodyPr/>
                    <a:lstStyle/>
                    <a:p>
                      <a:r>
                        <a:rPr sz="1400" b="0">
                          <a:solidFill>
                            <a:srgbClr val="E8EEFA"/>
                          </a:solidFill>
                          <a:latin typeface="Segoe UI"/>
                        </a:rPr>
                        <a:t>Chekka tezlatkich</a:t>
                      </a:r>
                    </a:p>
                  </a:txBody>
                  <a:tcPr>
                    <a:solidFill>
                      <a:srgbClr val="161F40"/>
                    </a:solidFill>
                  </a:tcPr>
                </a:tc>
                <a:tc>
                  <a:txBody>
                    <a:bodyPr/>
                    <a:lstStyle/>
                    <a:p>
                      <a:r>
                        <a:rPr sz="1400" b="0">
                          <a:solidFill>
                            <a:srgbClr val="E8EEFA"/>
                          </a:solidFill>
                          <a:latin typeface="Segoe UI"/>
                        </a:rPr>
                        <a:t>Google Coral Edge TPU</a:t>
                      </a:r>
                    </a:p>
                  </a:txBody>
                  <a:tcPr>
                    <a:solidFill>
                      <a:srgbClr val="161F40"/>
                    </a:solidFill>
                  </a:tcPr>
                </a:tc>
                <a:tc>
                  <a:txBody>
                    <a:bodyPr/>
                    <a:lstStyle/>
                    <a:p>
                      <a:r>
                        <a:rPr sz="1400" b="0">
                          <a:solidFill>
                            <a:srgbClr val="E8EEFA"/>
                          </a:solidFill>
                          <a:latin typeface="Segoe UI"/>
                        </a:rPr>
                        <a:t>4 TOPS INT8</a:t>
                      </a:r>
                    </a:p>
                  </a:txBody>
                  <a:tcPr>
                    <a:solidFill>
                      <a:srgbClr val="161F40"/>
                    </a:solidFill>
                  </a:tcPr>
                </a:tc>
                <a:tc>
                  <a:txBody>
                    <a:bodyPr/>
                    <a:lstStyle/>
                    <a:p>
                      <a:r>
                        <a:rPr sz="1400" b="0">
                          <a:solidFill>
                            <a:srgbClr val="E8EEFA"/>
                          </a:solidFill>
                          <a:latin typeface="Segoe UI"/>
                        </a:rPr>
                        <a:t>xost xotirasi</a:t>
                      </a:r>
                    </a:p>
                  </a:txBody>
                  <a:tcPr>
                    <a:solidFill>
                      <a:srgbClr val="161F40"/>
                    </a:solidFill>
                  </a:tcPr>
                </a:tc>
                <a:tc>
                  <a:txBody>
                    <a:bodyPr/>
                    <a:lstStyle/>
                    <a:p>
                      <a:r>
                        <a:rPr sz="1400" b="0">
                          <a:solidFill>
                            <a:srgbClr val="E8EEFA"/>
                          </a:solidFill>
                          <a:latin typeface="Segoe UI"/>
                        </a:rPr>
                        <a:t>~2 W</a:t>
                      </a:r>
                    </a:p>
                  </a:txBody>
                  <a:tcPr>
                    <a:solidFill>
                      <a:srgbClr val="161F40"/>
                    </a:solidFill>
                  </a:tcPr>
                </a:tc>
                <a:tc>
                  <a:txBody>
                    <a:bodyPr/>
                    <a:lstStyle/>
                    <a:p>
                      <a:r>
                        <a:rPr sz="1400" b="0">
                          <a:solidFill>
                            <a:srgbClr val="E8EEFA"/>
                          </a:solidFill>
                          <a:latin typeface="Segoe UI"/>
                        </a:rPr>
                        <a:t>Bitta kamera, tasnif</a:t>
                      </a:r>
                    </a:p>
                  </a:txBody>
                  <a:tcPr>
                    <a:solidFill>
                      <a:srgbClr val="161F40"/>
                    </a:solidFill>
                  </a:tcPr>
                </a:tc>
              </a:tr>
              <a:tr h="520000">
                <a:tc>
                  <a:txBody>
                    <a:bodyPr/>
                    <a:lstStyle/>
                    <a:p>
                      <a:r>
                        <a:rPr sz="1400" b="0">
                          <a:solidFill>
                            <a:srgbClr val="E8EEFA"/>
                          </a:solidFill>
                          <a:latin typeface="Segoe UI"/>
                        </a:rPr>
                        <a:t>Chekka modul</a:t>
                      </a:r>
                    </a:p>
                  </a:txBody>
                  <a:tcPr>
                    <a:solidFill>
                      <a:srgbClr val="111834"/>
                    </a:solidFill>
                  </a:tcPr>
                </a:tc>
                <a:tc>
                  <a:txBody>
                    <a:bodyPr/>
                    <a:lstStyle/>
                    <a:p>
                      <a:r>
                        <a:rPr sz="1400" b="0">
                          <a:solidFill>
                            <a:srgbClr val="E8EEFA"/>
                          </a:solidFill>
                          <a:latin typeface="Segoe UI"/>
                        </a:rPr>
                        <a:t>NVIDIA Jetson Orin Nano 8 GB</a:t>
                      </a:r>
                    </a:p>
                  </a:txBody>
                  <a:tcPr>
                    <a:solidFill>
                      <a:srgbClr val="111834"/>
                    </a:solidFill>
                  </a:tcPr>
                </a:tc>
                <a:tc>
                  <a:txBody>
                    <a:bodyPr/>
                    <a:lstStyle/>
                    <a:p>
                      <a:r>
                        <a:rPr sz="1400" b="0">
                          <a:solidFill>
                            <a:srgbClr val="E8EEFA"/>
                          </a:solidFill>
                          <a:latin typeface="Segoe UI"/>
                        </a:rPr>
                        <a:t>~40 TOPS INT8 (siyrak)</a:t>
                      </a:r>
                    </a:p>
                  </a:txBody>
                  <a:tcPr>
                    <a:solidFill>
                      <a:srgbClr val="111834"/>
                    </a:solidFill>
                  </a:tcPr>
                </a:tc>
                <a:tc>
                  <a:txBody>
                    <a:bodyPr/>
                    <a:lstStyle/>
                    <a:p>
                      <a:r>
                        <a:rPr sz="1400" b="0">
                          <a:solidFill>
                            <a:srgbClr val="E8EEFA"/>
                          </a:solidFill>
                          <a:latin typeface="Segoe UI"/>
                        </a:rPr>
                        <a:t>8 GB LPDDR5, 68 GB/s</a:t>
                      </a:r>
                    </a:p>
                  </a:txBody>
                  <a:tcPr>
                    <a:solidFill>
                      <a:srgbClr val="111834"/>
                    </a:solidFill>
                  </a:tcPr>
                </a:tc>
                <a:tc>
                  <a:txBody>
                    <a:bodyPr/>
                    <a:lstStyle/>
                    <a:p>
                      <a:r>
                        <a:rPr sz="1400" b="0">
                          <a:solidFill>
                            <a:srgbClr val="E8EEFA"/>
                          </a:solidFill>
                          <a:latin typeface="Segoe UI"/>
                        </a:rPr>
                        <a:t>7–15 W</a:t>
                      </a:r>
                    </a:p>
                  </a:txBody>
                  <a:tcPr>
                    <a:solidFill>
                      <a:srgbClr val="111834"/>
                    </a:solidFill>
                  </a:tcPr>
                </a:tc>
                <a:tc>
                  <a:txBody>
                    <a:bodyPr/>
                    <a:lstStyle/>
                    <a:p>
                      <a:r>
                        <a:rPr sz="1400" b="0">
                          <a:solidFill>
                            <a:srgbClr val="E8EEFA"/>
                          </a:solidFill>
                          <a:latin typeface="Segoe UI"/>
                        </a:rPr>
                        <a:t>2–4 kamera, detektsiya</a:t>
                      </a:r>
                    </a:p>
                  </a:txBody>
                  <a:tcPr>
                    <a:solidFill>
                      <a:srgbClr val="111834"/>
                    </a:solidFill>
                  </a:tcPr>
                </a:tc>
              </a:tr>
              <a:tr h="520000">
                <a:tc>
                  <a:txBody>
                    <a:bodyPr/>
                    <a:lstStyle/>
                    <a:p>
                      <a:r>
                        <a:rPr sz="1400" b="0">
                          <a:solidFill>
                            <a:srgbClr val="E8EEFA"/>
                          </a:solidFill>
                          <a:latin typeface="Segoe UI"/>
                        </a:rPr>
                        <a:t>Chekka server</a:t>
                      </a:r>
                    </a:p>
                  </a:txBody>
                  <a:tcPr>
                    <a:solidFill>
                      <a:srgbClr val="161F40"/>
                    </a:solidFill>
                  </a:tcPr>
                </a:tc>
                <a:tc>
                  <a:txBody>
                    <a:bodyPr/>
                    <a:lstStyle/>
                    <a:p>
                      <a:r>
                        <a:rPr sz="1400" b="0">
                          <a:solidFill>
                            <a:srgbClr val="E8EEFA"/>
                          </a:solidFill>
                          <a:latin typeface="Segoe UI"/>
                        </a:rPr>
                        <a:t>NVIDIA Jetson AGX Orin 64 GB</a:t>
                      </a:r>
                    </a:p>
                  </a:txBody>
                  <a:tcPr>
                    <a:solidFill>
                      <a:srgbClr val="161F40"/>
                    </a:solidFill>
                  </a:tcPr>
                </a:tc>
                <a:tc>
                  <a:txBody>
                    <a:bodyPr/>
                    <a:lstStyle/>
                    <a:p>
                      <a:r>
                        <a:rPr sz="1400" b="0">
                          <a:solidFill>
                            <a:srgbClr val="E8EEFA"/>
                          </a:solidFill>
                          <a:latin typeface="Segoe UI"/>
                        </a:rPr>
                        <a:t>~275 TOPS INT8 (siyrak)</a:t>
                      </a:r>
                    </a:p>
                  </a:txBody>
                  <a:tcPr>
                    <a:solidFill>
                      <a:srgbClr val="161F40"/>
                    </a:solidFill>
                  </a:tcPr>
                </a:tc>
                <a:tc>
                  <a:txBody>
                    <a:bodyPr/>
                    <a:lstStyle/>
                    <a:p>
                      <a:r>
                        <a:rPr sz="1400" b="0">
                          <a:solidFill>
                            <a:srgbClr val="E8EEFA"/>
                          </a:solidFill>
                          <a:latin typeface="Segoe UI"/>
                        </a:rPr>
                        <a:t>64 GB LPDDR5, 205 GB/s</a:t>
                      </a:r>
                    </a:p>
                  </a:txBody>
                  <a:tcPr>
                    <a:solidFill>
                      <a:srgbClr val="161F40"/>
                    </a:solidFill>
                  </a:tcPr>
                </a:tc>
                <a:tc>
                  <a:txBody>
                    <a:bodyPr/>
                    <a:lstStyle/>
                    <a:p>
                      <a:r>
                        <a:rPr sz="1400" b="0">
                          <a:solidFill>
                            <a:srgbClr val="E8EEFA"/>
                          </a:solidFill>
                          <a:latin typeface="Segoe UI"/>
                        </a:rPr>
                        <a:t>15–60 W</a:t>
                      </a:r>
                    </a:p>
                  </a:txBody>
                  <a:tcPr>
                    <a:solidFill>
                      <a:srgbClr val="161F40"/>
                    </a:solidFill>
                  </a:tcPr>
                </a:tc>
                <a:tc>
                  <a:txBody>
                    <a:bodyPr/>
                    <a:lstStyle/>
                    <a:p>
                      <a:r>
                        <a:rPr sz="1400" b="0">
                          <a:solidFill>
                            <a:srgbClr val="E8EEFA"/>
                          </a:solidFill>
                          <a:latin typeface="Segoe UI"/>
                        </a:rPr>
                        <a:t>8–16 kamera, ko'p model</a:t>
                      </a:r>
                    </a:p>
                  </a:txBody>
                  <a:tcPr>
                    <a:solidFill>
                      <a:srgbClr val="161F40"/>
                    </a:solidFill>
                  </a:tcPr>
                </a:tc>
              </a:tr>
              <a:tr h="520000">
                <a:tc>
                  <a:txBody>
                    <a:bodyPr/>
                    <a:lstStyle/>
                    <a:p>
                      <a:r>
                        <a:rPr sz="1400" b="0">
                          <a:solidFill>
                            <a:srgbClr val="E8EEFA"/>
                          </a:solidFill>
                          <a:latin typeface="Segoe UI"/>
                        </a:rPr>
                        <a:t>Inferens serveri</a:t>
                      </a:r>
                    </a:p>
                  </a:txBody>
                  <a:tcPr>
                    <a:solidFill>
                      <a:srgbClr val="111834"/>
                    </a:solidFill>
                  </a:tcPr>
                </a:tc>
                <a:tc>
                  <a:txBody>
                    <a:bodyPr/>
                    <a:lstStyle/>
                    <a:p>
                      <a:r>
                        <a:rPr sz="1400" b="0">
                          <a:solidFill>
                            <a:srgbClr val="E8EEFA"/>
                          </a:solidFill>
                          <a:latin typeface="Segoe UI"/>
                        </a:rPr>
                        <a:t>NVIDIA L4 (PCIe)</a:t>
                      </a:r>
                    </a:p>
                  </a:txBody>
                  <a:tcPr>
                    <a:solidFill>
                      <a:srgbClr val="111834"/>
                    </a:solidFill>
                  </a:tcPr>
                </a:tc>
                <a:tc>
                  <a:txBody>
                    <a:bodyPr/>
                    <a:lstStyle/>
                    <a:p>
                      <a:r>
                        <a:rPr sz="1400" b="0">
                          <a:solidFill>
                            <a:srgbClr val="E8EEFA"/>
                          </a:solidFill>
                          <a:latin typeface="Segoe UI"/>
                        </a:rPr>
                        <a:t>~121 TFLOPS FP16 (zich)</a:t>
                      </a:r>
                    </a:p>
                  </a:txBody>
                  <a:tcPr>
                    <a:solidFill>
                      <a:srgbClr val="111834"/>
                    </a:solidFill>
                  </a:tcPr>
                </a:tc>
                <a:tc>
                  <a:txBody>
                    <a:bodyPr/>
                    <a:lstStyle/>
                    <a:p>
                      <a:r>
                        <a:rPr sz="1400" b="0">
                          <a:solidFill>
                            <a:srgbClr val="E8EEFA"/>
                          </a:solidFill>
                          <a:latin typeface="Segoe UI"/>
                        </a:rPr>
                        <a:t>24 GB GDDR6, 300 GB/s</a:t>
                      </a:r>
                    </a:p>
                  </a:txBody>
                  <a:tcPr>
                    <a:solidFill>
                      <a:srgbClr val="111834"/>
                    </a:solidFill>
                  </a:tcPr>
                </a:tc>
                <a:tc>
                  <a:txBody>
                    <a:bodyPr/>
                    <a:lstStyle/>
                    <a:p>
                      <a:r>
                        <a:rPr sz="1400" b="0">
                          <a:solidFill>
                            <a:srgbClr val="E8EEFA"/>
                          </a:solidFill>
                          <a:latin typeface="Segoe UI"/>
                        </a:rPr>
                        <a:t>72 W</a:t>
                      </a:r>
                    </a:p>
                  </a:txBody>
                  <a:tcPr>
                    <a:solidFill>
                      <a:srgbClr val="111834"/>
                    </a:solidFill>
                  </a:tcPr>
                </a:tc>
                <a:tc>
                  <a:txBody>
                    <a:bodyPr/>
                    <a:lstStyle/>
                    <a:p>
                      <a:r>
                        <a:rPr sz="1400" b="0">
                          <a:solidFill>
                            <a:srgbClr val="E8EEFA"/>
                          </a:solidFill>
                          <a:latin typeface="Segoe UI"/>
                        </a:rPr>
                        <a:t>Video-analitika, tavsiya</a:t>
                      </a:r>
                    </a:p>
                  </a:txBody>
                  <a:tcPr>
                    <a:solidFill>
                      <a:srgbClr val="111834"/>
                    </a:solidFill>
                  </a:tcPr>
                </a:tc>
              </a:tr>
              <a:tr h="520000">
                <a:tc>
                  <a:txBody>
                    <a:bodyPr/>
                    <a:lstStyle/>
                    <a:p>
                      <a:r>
                        <a:rPr sz="1400" b="0">
                          <a:solidFill>
                            <a:srgbClr val="E8EEFA"/>
                          </a:solidFill>
                          <a:latin typeface="Segoe UI"/>
                        </a:rPr>
                        <a:t>O'qitish serveri</a:t>
                      </a:r>
                    </a:p>
                  </a:txBody>
                  <a:tcPr>
                    <a:solidFill>
                      <a:srgbClr val="161F40"/>
                    </a:solidFill>
                  </a:tcPr>
                </a:tc>
                <a:tc>
                  <a:txBody>
                    <a:bodyPr/>
                    <a:lstStyle/>
                    <a:p>
                      <a:r>
                        <a:rPr sz="1400" b="0">
                          <a:solidFill>
                            <a:srgbClr val="E8EEFA"/>
                          </a:solidFill>
                          <a:latin typeface="Segoe UI"/>
                        </a:rPr>
                        <a:t>NVIDIA A100 80 GB</a:t>
                      </a:r>
                    </a:p>
                  </a:txBody>
                  <a:tcPr>
                    <a:solidFill>
                      <a:srgbClr val="161F40"/>
                    </a:solidFill>
                  </a:tcPr>
                </a:tc>
                <a:tc>
                  <a:txBody>
                    <a:bodyPr/>
                    <a:lstStyle/>
                    <a:p>
                      <a:r>
                        <a:rPr sz="1400" b="0">
                          <a:solidFill>
                            <a:srgbClr val="E8EEFA"/>
                          </a:solidFill>
                          <a:latin typeface="Segoe UI"/>
                        </a:rPr>
                        <a:t>312 TFLOPS FP16 (zich)</a:t>
                      </a:r>
                    </a:p>
                  </a:txBody>
                  <a:tcPr>
                    <a:solidFill>
                      <a:srgbClr val="161F40"/>
                    </a:solidFill>
                  </a:tcPr>
                </a:tc>
                <a:tc>
                  <a:txBody>
                    <a:bodyPr/>
                    <a:lstStyle/>
                    <a:p>
                      <a:r>
                        <a:rPr sz="1400" b="0">
                          <a:solidFill>
                            <a:srgbClr val="E8EEFA"/>
                          </a:solidFill>
                          <a:latin typeface="Segoe UI"/>
                        </a:rPr>
                        <a:t>80 GB HBM2e, ~2 TB/s</a:t>
                      </a:r>
                    </a:p>
                  </a:txBody>
                  <a:tcPr>
                    <a:solidFill>
                      <a:srgbClr val="161F40"/>
                    </a:solidFill>
                  </a:tcPr>
                </a:tc>
                <a:tc>
                  <a:txBody>
                    <a:bodyPr/>
                    <a:lstStyle/>
                    <a:p>
                      <a:r>
                        <a:rPr sz="1400" b="0">
                          <a:solidFill>
                            <a:srgbClr val="E8EEFA"/>
                          </a:solidFill>
                          <a:latin typeface="Segoe UI"/>
                        </a:rPr>
                        <a:t>400 W</a:t>
                      </a:r>
                    </a:p>
                  </a:txBody>
                  <a:tcPr>
                    <a:solidFill>
                      <a:srgbClr val="161F40"/>
                    </a:solidFill>
                  </a:tcPr>
                </a:tc>
                <a:tc>
                  <a:txBody>
                    <a:bodyPr/>
                    <a:lstStyle/>
                    <a:p>
                      <a:r>
                        <a:rPr sz="1400" b="0">
                          <a:solidFill>
                            <a:srgbClr val="E8EEFA"/>
                          </a:solidFill>
                          <a:latin typeface="Segoe UI"/>
                        </a:rPr>
                        <a:t>O'qitish, katta modellar</a:t>
                      </a:r>
                    </a:p>
                  </a:txBody>
                  <a:tcPr>
                    <a:solidFill>
                      <a:srgbClr val="161F40"/>
                    </a:solidFill>
                  </a:tcPr>
                </a:tc>
              </a:tr>
              <a:tr h="520000">
                <a:tc>
                  <a:txBody>
                    <a:bodyPr/>
                    <a:lstStyle/>
                    <a:p>
                      <a:r>
                        <a:rPr sz="1400" b="0">
                          <a:solidFill>
                            <a:srgbClr val="E8EEFA"/>
                          </a:solidFill>
                          <a:latin typeface="Segoe UI"/>
                        </a:rPr>
                        <a:t>O'qitish serveri</a:t>
                      </a:r>
                    </a:p>
                  </a:txBody>
                  <a:tcPr>
                    <a:solidFill>
                      <a:srgbClr val="111834"/>
                    </a:solidFill>
                  </a:tcPr>
                </a:tc>
                <a:tc>
                  <a:txBody>
                    <a:bodyPr/>
                    <a:lstStyle/>
                    <a:p>
                      <a:r>
                        <a:rPr sz="1400" b="0">
                          <a:solidFill>
                            <a:srgbClr val="E8EEFA"/>
                          </a:solidFill>
                          <a:latin typeface="Segoe UI"/>
                        </a:rPr>
                        <a:t>NVIDIA H100 SXM</a:t>
                      </a:r>
                    </a:p>
                  </a:txBody>
                  <a:tcPr>
                    <a:solidFill>
                      <a:srgbClr val="111834"/>
                    </a:solidFill>
                  </a:tcPr>
                </a:tc>
                <a:tc>
                  <a:txBody>
                    <a:bodyPr/>
                    <a:lstStyle/>
                    <a:p>
                      <a:r>
                        <a:rPr sz="1400" b="0">
                          <a:solidFill>
                            <a:srgbClr val="E8EEFA"/>
                          </a:solidFill>
                          <a:latin typeface="Segoe UI"/>
                        </a:rPr>
                        <a:t>~990 TFLOPS FP16 (zich)</a:t>
                      </a:r>
                    </a:p>
                  </a:txBody>
                  <a:tcPr>
                    <a:solidFill>
                      <a:srgbClr val="111834"/>
                    </a:solidFill>
                  </a:tcPr>
                </a:tc>
                <a:tc>
                  <a:txBody>
                    <a:bodyPr/>
                    <a:lstStyle/>
                    <a:p>
                      <a:r>
                        <a:rPr sz="1400" b="0">
                          <a:solidFill>
                            <a:srgbClr val="E8EEFA"/>
                          </a:solidFill>
                          <a:latin typeface="Segoe UI"/>
                        </a:rPr>
                        <a:t>80 GB HBM3, 3,35 TB/s</a:t>
                      </a:r>
                    </a:p>
                  </a:txBody>
                  <a:tcPr>
                    <a:solidFill>
                      <a:srgbClr val="111834"/>
                    </a:solidFill>
                  </a:tcPr>
                </a:tc>
                <a:tc>
                  <a:txBody>
                    <a:bodyPr/>
                    <a:lstStyle/>
                    <a:p>
                      <a:r>
                        <a:rPr sz="1400" b="0">
                          <a:solidFill>
                            <a:srgbClr val="E8EEFA"/>
                          </a:solidFill>
                          <a:latin typeface="Segoe UI"/>
                        </a:rPr>
                        <a:t>700 W</a:t>
                      </a:r>
                    </a:p>
                  </a:txBody>
                  <a:tcPr>
                    <a:solidFill>
                      <a:srgbClr val="111834"/>
                    </a:solidFill>
                  </a:tcPr>
                </a:tc>
                <a:tc>
                  <a:txBody>
                    <a:bodyPr/>
                    <a:lstStyle/>
                    <a:p>
                      <a:r>
                        <a:rPr sz="1400" b="0">
                          <a:solidFill>
                            <a:srgbClr val="E8EEFA"/>
                          </a:solidFill>
                          <a:latin typeface="Segoe UI"/>
                        </a:rPr>
                        <a:t>LLM o'qitish va inferens</a:t>
                      </a:r>
                    </a:p>
                  </a:txBody>
                  <a:tcPr>
                    <a:solidFill>
                      <a:srgbClr val="111834"/>
                    </a:solidFill>
                  </a:tcPr>
                </a:tc>
              </a:tr>
              <a:tr h="520000">
                <a:tc>
                  <a:txBody>
                    <a:bodyPr/>
                    <a:lstStyle/>
                    <a:p>
                      <a:r>
                        <a:rPr sz="1400" b="0">
                          <a:solidFill>
                            <a:srgbClr val="E8EEFA"/>
                          </a:solidFill>
                          <a:latin typeface="Segoe UI"/>
                        </a:rPr>
                        <a:t>Bulut tezlatkichi</a:t>
                      </a:r>
                    </a:p>
                  </a:txBody>
                  <a:tcPr>
                    <a:solidFill>
                      <a:srgbClr val="161F40"/>
                    </a:solidFill>
                  </a:tcPr>
                </a:tc>
                <a:tc>
                  <a:txBody>
                    <a:bodyPr/>
                    <a:lstStyle/>
                    <a:p>
                      <a:r>
                        <a:rPr sz="1400" b="0">
                          <a:solidFill>
                            <a:srgbClr val="E8EEFA"/>
                          </a:solidFill>
                          <a:latin typeface="Segoe UI"/>
                        </a:rPr>
                        <a:t>Google TPU v5e</a:t>
                      </a:r>
                    </a:p>
                  </a:txBody>
                  <a:tcPr>
                    <a:solidFill>
                      <a:srgbClr val="161F40"/>
                    </a:solidFill>
                  </a:tcPr>
                </a:tc>
                <a:tc>
                  <a:txBody>
                    <a:bodyPr/>
                    <a:lstStyle/>
                    <a:p>
                      <a:r>
                        <a:rPr sz="1400" b="0">
                          <a:solidFill>
                            <a:srgbClr val="E8EEFA"/>
                          </a:solidFill>
                          <a:latin typeface="Segoe UI"/>
                        </a:rPr>
                        <a:t>197 TFLOPS BF16</a:t>
                      </a:r>
                    </a:p>
                  </a:txBody>
                  <a:tcPr>
                    <a:solidFill>
                      <a:srgbClr val="161F40"/>
                    </a:solidFill>
                  </a:tcPr>
                </a:tc>
                <a:tc>
                  <a:txBody>
                    <a:bodyPr/>
                    <a:lstStyle/>
                    <a:p>
                      <a:r>
                        <a:rPr sz="1400" b="0">
                          <a:solidFill>
                            <a:srgbClr val="E8EEFA"/>
                          </a:solidFill>
                          <a:latin typeface="Segoe UI"/>
                        </a:rPr>
                        <a:t>16 GB HBM2, 819 GB/s</a:t>
                      </a:r>
                    </a:p>
                  </a:txBody>
                  <a:tcPr>
                    <a:solidFill>
                      <a:srgbClr val="161F40"/>
                    </a:solidFill>
                  </a:tcPr>
                </a:tc>
                <a:tc>
                  <a:txBody>
                    <a:bodyPr/>
                    <a:lstStyle/>
                    <a:p>
                      <a:r>
                        <a:rPr sz="1400" b="0">
                          <a:solidFill>
                            <a:srgbClr val="E8EEFA"/>
                          </a:solidFill>
                          <a:latin typeface="Segoe UI"/>
                        </a:rPr>
                        <a:t>—</a:t>
                      </a:r>
                    </a:p>
                  </a:txBody>
                  <a:tcPr>
                    <a:solidFill>
                      <a:srgbClr val="161F40"/>
                    </a:solidFill>
                  </a:tcPr>
                </a:tc>
                <a:tc>
                  <a:txBody>
                    <a:bodyPr/>
                    <a:lstStyle/>
                    <a:p>
                      <a:r>
                        <a:rPr sz="1400" b="0">
                          <a:solidFill>
                            <a:srgbClr val="E8EEFA"/>
                          </a:solidFill>
                          <a:latin typeface="Segoe UI"/>
                        </a:rPr>
                        <a:t>Bulutda o'qitish/inferens</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Sun'iy intellektga asoslangan hisoblash platformalari (davomi)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graphicFrame>
        <p:nvGraphicFramePr>
          <p:cNvPr id="23" name="Table 22"/>
          <p:cNvGraphicFramePr>
            <a:graphicFrameLocks noGrp="1"/>
          </p:cNvGraphicFramePr>
          <p:nvPr/>
        </p:nvGraphicFramePr>
        <p:xfrm>
          <a:off x="550000" y="1400000"/>
          <a:ext cx="11100000" cy="104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400" b="1">
                          <a:solidFill>
                            <a:srgbClr val="22D3EE"/>
                          </a:solidFill>
                          <a:latin typeface="Segoe UI"/>
                        </a:rPr>
                        <a:t>Platforma sinfi</a:t>
                      </a:r>
                    </a:p>
                  </a:txBody>
                  <a:tcPr>
                    <a:solidFill>
                      <a:srgbClr val="1C2755"/>
                    </a:solidFill>
                  </a:tcPr>
                </a:tc>
                <a:tc>
                  <a:txBody>
                    <a:bodyPr/>
                    <a:lstStyle/>
                    <a:p>
                      <a:r>
                        <a:rPr sz="1400" b="1">
                          <a:solidFill>
                            <a:srgbClr val="22D3EE"/>
                          </a:solidFill>
                          <a:latin typeface="Segoe UI"/>
                        </a:rPr>
                        <a:t>Tipik vakil</a:t>
                      </a:r>
                    </a:p>
                  </a:txBody>
                  <a:tcPr>
                    <a:solidFill>
                      <a:srgbClr val="1C2755"/>
                    </a:solidFill>
                  </a:tcPr>
                </a:tc>
                <a:tc>
                  <a:txBody>
                    <a:bodyPr/>
                    <a:lstStyle/>
                    <a:p>
                      <a:r>
                        <a:rPr sz="1400" b="1">
                          <a:solidFill>
                            <a:srgbClr val="22D3EE"/>
                          </a:solidFill>
                          <a:latin typeface="Segoe UI"/>
                        </a:rPr>
                        <a:t>Hisoblash quvvati (taxm.)</a:t>
                      </a:r>
                    </a:p>
                  </a:txBody>
                  <a:tcPr>
                    <a:solidFill>
                      <a:srgbClr val="1C2755"/>
                    </a:solidFill>
                  </a:tcPr>
                </a:tc>
                <a:tc>
                  <a:txBody>
                    <a:bodyPr/>
                    <a:lstStyle/>
                    <a:p>
                      <a:r>
                        <a:rPr sz="1400" b="1">
                          <a:solidFill>
                            <a:srgbClr val="22D3EE"/>
                          </a:solidFill>
                          <a:latin typeface="Segoe UI"/>
                        </a:rPr>
                        <a:t>Xotira</a:t>
                      </a:r>
                    </a:p>
                  </a:txBody>
                  <a:tcPr>
                    <a:solidFill>
                      <a:srgbClr val="1C2755"/>
                    </a:solidFill>
                  </a:tcPr>
                </a:tc>
                <a:tc>
                  <a:txBody>
                    <a:bodyPr/>
                    <a:lstStyle/>
                    <a:p>
                      <a:r>
                        <a:rPr sz="1400" b="1">
                          <a:solidFill>
                            <a:srgbClr val="22D3EE"/>
                          </a:solidFill>
                          <a:latin typeface="Segoe UI"/>
                        </a:rPr>
                        <a:t>Energiya</a:t>
                      </a:r>
                    </a:p>
                  </a:txBody>
                  <a:tcPr>
                    <a:solidFill>
                      <a:srgbClr val="1C2755"/>
                    </a:solidFill>
                  </a:tcPr>
                </a:tc>
                <a:tc>
                  <a:txBody>
                    <a:bodyPr/>
                    <a:lstStyle/>
                    <a:p>
                      <a:r>
                        <a:rPr sz="1400" b="1">
                          <a:solidFill>
                            <a:srgbClr val="22D3EE"/>
                          </a:solidFill>
                          <a:latin typeface="Segoe UI"/>
                        </a:rPr>
                        <a:t>Odatiy vazifa</a:t>
                      </a:r>
                    </a:p>
                  </a:txBody>
                  <a:tcPr>
                    <a:solidFill>
                      <a:srgbClr val="1C2755"/>
                    </a:solidFill>
                  </a:tcPr>
                </a:tc>
              </a:tr>
              <a:tr h="520000">
                <a:tc>
                  <a:txBody>
                    <a:bodyPr/>
                    <a:lstStyle/>
                    <a:p>
                      <a:r>
                        <a:rPr sz="1400" b="0">
                          <a:solidFill>
                            <a:srgbClr val="E8EEFA"/>
                          </a:solidFill>
                          <a:latin typeface="Segoe UI"/>
                        </a:rPr>
                        <a:t>Bulut tezlatkichi</a:t>
                      </a:r>
                    </a:p>
                  </a:txBody>
                  <a:tcPr>
                    <a:solidFill>
                      <a:srgbClr val="111834"/>
                    </a:solidFill>
                  </a:tcPr>
                </a:tc>
                <a:tc>
                  <a:txBody>
                    <a:bodyPr/>
                    <a:lstStyle/>
                    <a:p>
                      <a:r>
                        <a:rPr sz="1400" b="0">
                          <a:solidFill>
                            <a:srgbClr val="E8EEFA"/>
                          </a:solidFill>
                          <a:latin typeface="Segoe UI"/>
                        </a:rPr>
                        <a:t>Intel Gaudi 3</a:t>
                      </a:r>
                    </a:p>
                  </a:txBody>
                  <a:tcPr>
                    <a:solidFill>
                      <a:srgbClr val="111834"/>
                    </a:solidFill>
                  </a:tcPr>
                </a:tc>
                <a:tc>
                  <a:txBody>
                    <a:bodyPr/>
                    <a:lstStyle/>
                    <a:p>
                      <a:r>
                        <a:rPr sz="1400" b="0">
                          <a:solidFill>
                            <a:srgbClr val="E8EEFA"/>
                          </a:solidFill>
                          <a:latin typeface="Segoe UI"/>
                        </a:rPr>
                        <a:t>~1,8 PFLOPS FP8</a:t>
                      </a:r>
                    </a:p>
                  </a:txBody>
                  <a:tcPr>
                    <a:solidFill>
                      <a:srgbClr val="111834"/>
                    </a:solidFill>
                  </a:tcPr>
                </a:tc>
                <a:tc>
                  <a:txBody>
                    <a:bodyPr/>
                    <a:lstStyle/>
                    <a:p>
                      <a:r>
                        <a:rPr sz="1400" b="0">
                          <a:solidFill>
                            <a:srgbClr val="E8EEFA"/>
                          </a:solidFill>
                          <a:latin typeface="Segoe UI"/>
                        </a:rPr>
                        <a:t>128 GB HBM2e, 3,7 TB/s</a:t>
                      </a:r>
                    </a:p>
                  </a:txBody>
                  <a:tcPr>
                    <a:solidFill>
                      <a:srgbClr val="111834"/>
                    </a:solidFill>
                  </a:tcPr>
                </a:tc>
                <a:tc>
                  <a:txBody>
                    <a:bodyPr/>
                    <a:lstStyle/>
                    <a:p>
                      <a:r>
                        <a:rPr sz="1400" b="0">
                          <a:solidFill>
                            <a:srgbClr val="E8EEFA"/>
                          </a:solidFill>
                          <a:latin typeface="Segoe UI"/>
                        </a:rPr>
                        <a:t>~900 W</a:t>
                      </a:r>
                    </a:p>
                  </a:txBody>
                  <a:tcPr>
                    <a:solidFill>
                      <a:srgbClr val="111834"/>
                    </a:solidFill>
                  </a:tcPr>
                </a:tc>
                <a:tc>
                  <a:txBody>
                    <a:bodyPr/>
                    <a:lstStyle/>
                    <a:p>
                      <a:r>
                        <a:rPr sz="1400" b="0">
                          <a:solidFill>
                            <a:srgbClr val="E8EEFA"/>
                          </a:solidFill>
                          <a:latin typeface="Segoe UI"/>
                        </a:rPr>
                        <a:t>LLM o'qitish</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33e63c437ae669bb.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Oleg Yunakov · Wikimedia Commons · CC BY-SA 4.0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AI-enabled computer systems arxitekturasi</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AI-enabled computer systems arxitekturasi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5fd2cc278700b62b.jpg"/>
          <p:cNvPicPr>
            <a:picLocks noChangeAspect="1"/>
          </p:cNvPicPr>
          <p:nvPr/>
        </p:nvPicPr>
        <p:blipFill>
          <a:blip r:embed="rId2"/>
          <a:srcRect l="1864" r="1864"/>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paulo@kiefe.com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50478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197652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464780"/>
            <a:ext cx="5900000" cy="1423480"/>
          </a:xfrm>
          <a:prstGeom prst="rect">
            <a:avLst/>
          </a:prstGeom>
          <a:noFill/>
        </p:spPr>
        <p:txBody>
          <a:bodyPr wrap="square" anchor="ctr">
            <a:spAutoFit/>
          </a:bodyPr>
          <a:lstStyle/>
          <a:p>
            <a:r>
              <a:rPr sz="1500" b="1">
                <a:solidFill>
                  <a:srgbClr val="E8EEFA"/>
                </a:solidFill>
                <a:latin typeface="Segoe UI"/>
              </a:rPr>
              <a:t>AI-enabled kompyuter tizimi — bu funksionalligining muhim qismi o'qitilgan model orqali amalga oshiriladigan tizim.</a:t>
            </a:r>
          </a:p>
          <a:p>
            <a:pPr>
              <a:spcBef>
                <a:spcPts val="400"/>
              </a:spcBef>
            </a:pPr>
            <a:r>
              <a:rPr sz="1400">
                <a:solidFill>
                  <a:srgbClr val="AEBBD9"/>
                </a:solidFill>
                <a:latin typeface="Segoe UI"/>
              </a:rPr>
              <a:t>Uning arxitekturasini besh qatlamli model sifatida tasavvur qilish qulay:</a:t>
            </a:r>
          </a:p>
        </p:txBody>
      </p:sp>
      <p:sp>
        <p:nvSpPr>
          <p:cNvPr id="32" name="Rounded Rectangle 31"/>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11826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078260"/>
            <a:ext cx="5900000" cy="1423480"/>
          </a:xfrm>
          <a:prstGeom prst="rect">
            <a:avLst/>
          </a:prstGeom>
          <a:noFill/>
        </p:spPr>
        <p:txBody>
          <a:bodyPr wrap="square" anchor="ctr">
            <a:spAutoFit/>
          </a:bodyPr>
          <a:lstStyle/>
          <a:p>
            <a:r>
              <a:rPr sz="1500" b="1">
                <a:solidFill>
                  <a:srgbClr val="E8EEFA"/>
                </a:solidFill>
                <a:latin typeface="Segoe UI"/>
              </a:rPr>
              <a:t>Ma'lumot qabul qilish qatlami (ingestion).</a:t>
            </a:r>
          </a:p>
          <a:p>
            <a:pPr>
              <a:spcBef>
                <a:spcPts val="400"/>
              </a:spcBef>
            </a:pPr>
            <a:r>
              <a:rPr sz="1400">
                <a:solidFill>
                  <a:srgbClr val="AEBBD9"/>
                </a:solidFill>
                <a:latin typeface="Segoe UI"/>
              </a:rPr>
              <a:t>sensorlar, kameralar, jurnallar, foydalanuvchi so'rovlari. Bu yerda protokollar (RTSP, MQTT, HTTP/gRPC), kodeklar (H.264/H.265) va buferlash hal qilinadi.</a:t>
            </a:r>
          </a:p>
        </p:txBody>
      </p:sp>
      <p:sp>
        <p:nvSpPr>
          <p:cNvPr id="36" name="Rounded Rectangle 35"/>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73174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520348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9" name="TextBox 38"/>
          <p:cNvSpPr txBox="1"/>
          <p:nvPr/>
        </p:nvSpPr>
        <p:spPr>
          <a:xfrm>
            <a:off x="1300000" y="4691740"/>
            <a:ext cx="5900000" cy="1423480"/>
          </a:xfrm>
          <a:prstGeom prst="rect">
            <a:avLst/>
          </a:prstGeom>
          <a:noFill/>
        </p:spPr>
        <p:txBody>
          <a:bodyPr wrap="square" anchor="ctr">
            <a:spAutoFit/>
          </a:bodyPr>
          <a:lstStyle/>
          <a:p>
            <a:r>
              <a:rPr sz="1500" b="1">
                <a:solidFill>
                  <a:srgbClr val="E8EEFA"/>
                </a:solidFill>
                <a:latin typeface="Segoe UI"/>
              </a:rPr>
              <a:t>Oldindan ishlov berish qatlami (preprocessing).</a:t>
            </a:r>
          </a:p>
          <a:p>
            <a:pPr>
              <a:spcBef>
                <a:spcPts val="400"/>
              </a:spcBef>
            </a:pPr>
            <a:r>
              <a:rPr sz="1400">
                <a:solidFill>
                  <a:srgbClr val="AEBBD9"/>
                </a:solidFill>
                <a:latin typeface="Segoe UI"/>
              </a:rPr>
              <a:t>dekodlash, o'lchamini o'zgartirish, normallashtirish, tokenlashtirish. Ko'pincha e'tibordan chetda qoladi, lekin video tizimlarida dekodlash inferensdan ko'ra ko'proq resurs talab qilishi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AI-enabled computer systems arxitekturasi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776824"/>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856824"/>
            <a:ext cx="50000" cy="110878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21121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1816824"/>
            <a:ext cx="5900000" cy="1188784"/>
          </a:xfrm>
          <a:prstGeom prst="rect">
            <a:avLst/>
          </a:prstGeom>
          <a:noFill/>
        </p:spPr>
        <p:txBody>
          <a:bodyPr wrap="square" anchor="ctr">
            <a:spAutoFit/>
          </a:bodyPr>
          <a:lstStyle/>
          <a:p>
            <a:r>
              <a:rPr sz="1500" b="1">
                <a:solidFill>
                  <a:srgbClr val="E8EEFA"/>
                </a:solidFill>
                <a:latin typeface="Segoe UI"/>
              </a:rPr>
              <a:t>Inferens qatlami.</a:t>
            </a:r>
          </a:p>
          <a:p>
            <a:pPr>
              <a:spcBef>
                <a:spcPts val="400"/>
              </a:spcBef>
            </a:pPr>
            <a:r>
              <a:rPr sz="1400">
                <a:solidFill>
                  <a:srgbClr val="AEBBD9"/>
                </a:solidFill>
                <a:latin typeface="Segoe UI"/>
              </a:rPr>
              <a:t>modelning o'zi va uni bajaruvchi ish vaqti muhiti (PyTorch, ONNX Runtime, TensorRT, OpenVINO). Bu qatlam tezlatkich bilan bevosita ishlaydi.</a:t>
            </a:r>
          </a:p>
        </p:txBody>
      </p:sp>
      <p:sp>
        <p:nvSpPr>
          <p:cNvPr id="33" name="Rounded Rectangle 32"/>
          <p:cNvSpPr/>
          <p:nvPr/>
        </p:nvSpPr>
        <p:spPr>
          <a:xfrm>
            <a:off x="550000" y="3155608"/>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235608"/>
            <a:ext cx="50000" cy="11087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6" name="TextBox 35"/>
          <p:cNvSpPr txBox="1"/>
          <p:nvPr/>
        </p:nvSpPr>
        <p:spPr>
          <a:xfrm>
            <a:off x="1300000" y="3195608"/>
            <a:ext cx="5900000" cy="1188784"/>
          </a:xfrm>
          <a:prstGeom prst="rect">
            <a:avLst/>
          </a:prstGeom>
          <a:noFill/>
        </p:spPr>
        <p:txBody>
          <a:bodyPr wrap="square" anchor="ctr">
            <a:spAutoFit/>
          </a:bodyPr>
          <a:lstStyle/>
          <a:p>
            <a:r>
              <a:rPr sz="1500" b="1">
                <a:solidFill>
                  <a:srgbClr val="E8EEFA"/>
                </a:solidFill>
                <a:latin typeface="Segoe UI"/>
              </a:rPr>
              <a:t>Orkestratsiya va biznes mantiq qatlami.</a:t>
            </a:r>
          </a:p>
          <a:p>
            <a:pPr>
              <a:spcBef>
                <a:spcPts val="400"/>
              </a:spcBef>
            </a:pPr>
            <a:r>
              <a:rPr sz="1400">
                <a:solidFill>
                  <a:srgbClr val="AEBBD9"/>
                </a:solidFill>
                <a:latin typeface="Segoe UI"/>
              </a:rPr>
              <a:t>natijalarni birlashtirish, qoidalar, kuzatish (tracking), hodisalarni yaratish, saqlash, boshqa tizimlarga uzatish.</a:t>
            </a:r>
          </a:p>
        </p:txBody>
      </p:sp>
      <p:sp>
        <p:nvSpPr>
          <p:cNvPr id="37" name="Rounded Rectangle 36"/>
          <p:cNvSpPr/>
          <p:nvPr/>
        </p:nvSpPr>
        <p:spPr>
          <a:xfrm>
            <a:off x="550000" y="4534392"/>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614392"/>
            <a:ext cx="50000" cy="1108784"/>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4968784"/>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0" name="TextBox 39"/>
          <p:cNvSpPr txBox="1"/>
          <p:nvPr/>
        </p:nvSpPr>
        <p:spPr>
          <a:xfrm>
            <a:off x="1300000" y="4574392"/>
            <a:ext cx="5900000" cy="1188784"/>
          </a:xfrm>
          <a:prstGeom prst="rect">
            <a:avLst/>
          </a:prstGeom>
          <a:noFill/>
        </p:spPr>
        <p:txBody>
          <a:bodyPr wrap="square" anchor="ctr">
            <a:spAutoFit/>
          </a:bodyPr>
          <a:lstStyle/>
          <a:p>
            <a:r>
              <a:rPr sz="1500" b="1">
                <a:solidFill>
                  <a:srgbClr val="E8EEFA"/>
                </a:solidFill>
                <a:latin typeface="Segoe UI"/>
              </a:rPr>
              <a:t>Kuzatuv va boshqaruv qatlami (observability).</a:t>
            </a:r>
          </a:p>
          <a:p>
            <a:pPr>
              <a:spcBef>
                <a:spcPts val="400"/>
              </a:spcBef>
            </a:pPr>
            <a:r>
              <a:rPr sz="1400">
                <a:solidFill>
                  <a:srgbClr val="AEBBD9"/>
                </a:solidFill>
                <a:latin typeface="Segoe UI"/>
              </a:rPr>
              <a:t>metrikalar (kechikish, o'tkazuvchanlik, GPU bandligi), jurnallar, model sifati monitoringi, versiya boshqaruvi.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AI-enabled computer systems arxitekturasi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4" name="TextBox 33"/>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Qatlamlar orasidagi interfeyslar aniq belgilanishi kerak, chunki ular apparat chegaralari bilan mos tushadi: masalan, 1-2-qatlamlar CPU va video dekoder (NVDEC) da, 3-qatlam GPU da, 4-5-qatlamlar CPU da ishlashi mumkin.</a:t>
            </a:r>
          </a:p>
          <a:p>
            <a:pPr>
              <a:spcBef>
                <a:spcPts val="400"/>
              </a:spcBef>
            </a:pPr>
            <a:r>
              <a:rPr sz="1400">
                <a:solidFill>
                  <a:srgbClr val="AEBBD9"/>
                </a:solidFill>
                <a:latin typeface="Segoe UI"/>
              </a:rPr>
              <a:t>Ma'lumotning bu chegaralardan o'tishi — xost va qurilma xotirasi o'rtasida nusxalash — ko'pincha asosiy to'siq (bottleneck) bo'ladi.</a:t>
            </a:r>
          </a:p>
        </p:txBody>
      </p:sp>
      <p:sp>
        <p:nvSpPr>
          <p:cNvPr id="35" name="Rounded Rectangle 34"/>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8" name="TextBox 37"/>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Arxitekturaning yana bir o'lchovi — inferens rejimi.</a:t>
            </a:r>
          </a:p>
          <a:p>
            <a:pPr>
              <a:spcBef>
                <a:spcPts val="400"/>
              </a:spcBef>
            </a:pPr>
            <a:r>
              <a:rPr sz="1400">
                <a:solidFill>
                  <a:srgbClr val="AEBBD9"/>
                </a:solidFill>
                <a:latin typeface="Segoe UI"/>
              </a:rPr>
              <a:t>Onlayn (real vaqt) rejimda har bir so'rov alohida va kechikish muhim; paketli (batch) rejimda so'rovlar to'planib, o'tkazuvchanlik muhim; oqimli (streaming) rejimda uzluksiz ma'lumot oqimi qayta ishlanadi.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5"/>
                                        </p:tgtEl>
                                        <p:attrNameLst>
                                          <p:attrName>style.visibility</p:attrName>
                                        </p:attrNameLst>
                                      </p:cBhvr>
                                      <p:to>
                                        <p:strVal val="visible"/>
                                      </p:to>
                                    </p:set>
                                    <p:animEffect transition="in" filter="fade">
                                      <p:cBhvr>
                                        <p:cTn id="59" dur="550"/>
                                        <p:tgtEl>
                                          <p:spTgt spid="35"/>
                                        </p:tgtEl>
                                      </p:cBhvr>
                                    </p:animEffect>
                                    <p:anim calcmode="lin" valueType="num">
                                      <p:cBhvr additive="base">
                                        <p:cTn id="60" dur="550" fill="hold"/>
                                        <p:tgtEl>
                                          <p:spTgt spid="35"/>
                                        </p:tgtEl>
                                        <p:attrNameLst>
                                          <p:attrName>ppt_x</p:attrName>
                                        </p:attrNameLst>
                                      </p:cBhvr>
                                      <p:tavLst>
                                        <p:tav tm="0">
                                          <p:val>
                                            <p:strVal val="#ppt_x"/>
                                          </p:val>
                                        </p:tav>
                                        <p:tav tm="100000">
                                          <p:val>
                                            <p:strVal val="#ppt_x"/>
                                          </p:val>
                                        </p:tav>
                                      </p:tavLst>
                                    </p:anim>
                                    <p:anim calcmode="lin" valueType="num">
                                      <p:cBhvr additive="base">
                                        <p:cTn id="61" dur="550" fill="hold"/>
                                        <p:tgtEl>
                                          <p:spTgt spid="35"/>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550"/>
                                        <p:tgtEl>
                                          <p:spTgt spid="36"/>
                                        </p:tgtEl>
                                      </p:cBhvr>
                                    </p:animEffect>
                                    <p:anim calcmode="lin" valueType="num">
                                      <p:cBhvr additive="base">
                                        <p:cTn id="66" dur="550" fill="hold"/>
                                        <p:tgtEl>
                                          <p:spTgt spid="36"/>
                                        </p:tgtEl>
                                        <p:attrNameLst>
                                          <p:attrName>ppt_x</p:attrName>
                                        </p:attrNameLst>
                                      </p:cBhvr>
                                      <p:tavLst>
                                        <p:tav tm="0">
                                          <p:val>
                                            <p:strVal val="#ppt_x"/>
                                          </p:val>
                                        </p:tav>
                                        <p:tav tm="100000">
                                          <p:val>
                                            <p:strVal val="#ppt_x"/>
                                          </p:val>
                                        </p:tav>
                                      </p:tavLst>
                                    </p:anim>
                                    <p:anim calcmode="lin" valueType="num">
                                      <p:cBhvr additive="base">
                                        <p:cTn id="67" dur="550" fill="hold"/>
                                        <p:tgtEl>
                                          <p:spTgt spid="36"/>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fade">
                                      <p:cBhvr>
                                        <p:cTn id="71" dur="550"/>
                                        <p:tgtEl>
                                          <p:spTgt spid="37"/>
                                        </p:tgtEl>
                                      </p:cBhvr>
                                    </p:animEffect>
                                    <p:anim calcmode="lin" valueType="num">
                                      <p:cBhvr additive="base">
                                        <p:cTn id="72" dur="550" fill="hold"/>
                                        <p:tgtEl>
                                          <p:spTgt spid="37"/>
                                        </p:tgtEl>
                                        <p:attrNameLst>
                                          <p:attrName>ppt_w</p:attrName>
                                        </p:attrNameLst>
                                      </p:cBhvr>
                                      <p:tavLst>
                                        <p:tav tm="0">
                                          <p:val>
                                            <p:strVal val="0"/>
                                          </p:val>
                                        </p:tav>
                                        <p:tav tm="100000">
                                          <p:val>
                                            <p:strVal val="#ppt_w"/>
                                          </p:val>
                                        </p:tav>
                                      </p:tavLst>
                                    </p:anim>
                                    <p:anim calcmode="lin" valueType="num">
                                      <p:cBhvr additive="base">
                                        <p:cTn id="73" dur="550" fill="hold"/>
                                        <p:tgtEl>
                                          <p:spTgt spid="37"/>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8"/>
                                        </p:tgtEl>
                                        <p:attrNameLst>
                                          <p:attrName>style.visibility</p:attrName>
                                        </p:attrNameLst>
                                      </p:cBhvr>
                                      <p:to>
                                        <p:strVal val="visible"/>
                                      </p:to>
                                    </p:set>
                                    <p:animEffect transition="in" filter="fade">
                                      <p:cBhvr>
                                        <p:cTn id="77" dur="550"/>
                                        <p:tgtEl>
                                          <p:spTgt spid="38"/>
                                        </p:tgtEl>
                                      </p:cBhvr>
                                    </p:animEffect>
                                    <p:anim calcmode="lin" valueType="num">
                                      <p:cBhvr additive="base">
                                        <p:cTn id="78" dur="550" fill="hold"/>
                                        <p:tgtEl>
                                          <p:spTgt spid="38"/>
                                        </p:tgtEl>
                                        <p:attrNameLst>
                                          <p:attrName>ppt_x</p:attrName>
                                        </p:attrNameLst>
                                      </p:cBhvr>
                                      <p:tavLst>
                                        <p:tav tm="0">
                                          <p:val>
                                            <p:strVal val="#ppt_x"/>
                                          </p:val>
                                        </p:tav>
                                        <p:tav tm="100000">
                                          <p:val>
                                            <p:strVal val="#ppt_x"/>
                                          </p:val>
                                        </p:tav>
                                      </p:tavLst>
                                    </p:anim>
                                    <p:anim calcmode="lin" valueType="num">
                                      <p:cBhvr additive="base">
                                        <p:cTn id="79"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AI-enabled computer systems arxitekturasi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c7d2b5c580b73f8.jpg"/>
          <p:cNvPicPr>
            <a:picLocks noChangeAspect="1"/>
          </p:cNvPicPr>
          <p:nvPr/>
        </p:nvPicPr>
        <p:blipFill>
          <a:blip r:embed="rId2"/>
          <a:srcRect l="14215" r="1421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Tomwsulcer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900328"/>
            <a:ext cx="50000" cy="177934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09</a:t>
            </a:r>
          </a:p>
        </p:txBody>
      </p:sp>
      <p:sp>
        <p:nvSpPr>
          <p:cNvPr id="32" name="TextBox 31"/>
          <p:cNvSpPr txBox="1"/>
          <p:nvPr/>
        </p:nvSpPr>
        <p:spPr>
          <a:xfrm>
            <a:off x="1300000" y="2860328"/>
            <a:ext cx="5900000" cy="1859344"/>
          </a:xfrm>
          <a:prstGeom prst="rect">
            <a:avLst/>
          </a:prstGeom>
          <a:noFill/>
        </p:spPr>
        <p:txBody>
          <a:bodyPr wrap="square" anchor="ctr">
            <a:spAutoFit/>
          </a:bodyPr>
          <a:lstStyle/>
          <a:p>
            <a:r>
              <a:rPr sz="1700" b="1">
                <a:solidFill>
                  <a:srgbClr val="E8EEFA"/>
                </a:solidFill>
                <a:latin typeface="Segoe UI"/>
              </a:rPr>
              <a:t>Ko'rsatkichlarni rasmiylashtiraylik.</a:t>
            </a:r>
          </a:p>
          <a:p>
            <a:pPr>
              <a:spcBef>
                <a:spcPts val="400"/>
              </a:spcBef>
            </a:pPr>
            <a:r>
              <a:rPr sz="1600">
                <a:solidFill>
                  <a:srgbClr val="AEBBD9"/>
                </a:solidFill>
                <a:latin typeface="Segoe UI"/>
              </a:rPr>
              <a:t>Agar tizim N ta kameradan har biri f kadr/soniya tezlikda ma'lumot olsa va model bitta kadr uchun C FLOP talab qilsa, zarur hisoblash quvvati P = N × f × C / η bo'ladi, bu yerda η — tezlatkichdan real foydalanish koeffitsiyenti (odatda 0,2–0,6).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7ba312c577b79652.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Ashley Pomeroy · Wikimedia Commons · CC BY 4.0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Apparat va dasturiy ta'minotni birgalikda loyihalash</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Apparat va dasturiy ta'minotni birgalikda loyihalash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1370001"/>
            <a:ext cx="5900000" cy="1486666"/>
          </a:xfrm>
          <a:prstGeom prst="rect">
            <a:avLst/>
          </a:prstGeom>
          <a:noFill/>
        </p:spPr>
        <p:txBody>
          <a:bodyPr wrap="square" anchor="ctr">
            <a:spAutoFit/>
          </a:bodyPr>
          <a:lstStyle/>
          <a:p>
            <a:r>
              <a:rPr sz="1500" b="1">
                <a:solidFill>
                  <a:srgbClr val="E8EEFA"/>
                </a:solidFill>
                <a:latin typeface="Segoe UI"/>
              </a:rPr>
              <a:t>Hardware–software co-design — tizimning apparat va dasturiy qismlarini alohida emas, balki bir vaqtning o'zida, bir-biriga moslashtirib loyihalash metodologiyasi.</a:t>
            </a:r>
          </a:p>
          <a:p>
            <a:pPr>
              <a:spcBef>
                <a:spcPts val="400"/>
              </a:spcBef>
            </a:pPr>
            <a:r>
              <a:rPr sz="1400">
                <a:solidFill>
                  <a:srgbClr val="AEBBD9"/>
                </a:solidFill>
                <a:latin typeface="Segoe UI"/>
              </a:rPr>
              <a:t>An'anaviy yondashuvda apparat avval tanlanadi (yoki mavjud bo'ladi), so'ng dastur unga moslashtiriladi.</a:t>
            </a:r>
          </a:p>
        </p:txBody>
      </p:sp>
      <p:sp>
        <p:nvSpPr>
          <p:cNvPr id="34" name="Rounded Rectangle 33"/>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046667"/>
            <a:ext cx="5900000" cy="1486666"/>
          </a:xfrm>
          <a:prstGeom prst="rect">
            <a:avLst/>
          </a:prstGeom>
          <a:noFill/>
        </p:spPr>
        <p:txBody>
          <a:bodyPr wrap="square" anchor="ctr">
            <a:spAutoFit/>
          </a:bodyPr>
          <a:lstStyle/>
          <a:p>
            <a:r>
              <a:rPr sz="1400" b="0">
                <a:solidFill>
                  <a:srgbClr val="E8EEFA"/>
                </a:solidFill>
                <a:latin typeface="Segoe UI"/>
              </a:rPr>
              <a:t>Co-design jarayonini to'rt o'lchovli izlanish fazosi sifatida tasavvur qilish mumkin:</a:t>
            </a:r>
          </a:p>
        </p:txBody>
      </p:sp>
      <p:sp>
        <p:nvSpPr>
          <p:cNvPr id="38" name="Rounded Rectangle 37"/>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1" name="TextBox 40"/>
          <p:cNvSpPr txBox="1"/>
          <p:nvPr/>
        </p:nvSpPr>
        <p:spPr>
          <a:xfrm>
            <a:off x="1300000" y="4723333"/>
            <a:ext cx="5900000" cy="1486666"/>
          </a:xfrm>
          <a:prstGeom prst="rect">
            <a:avLst/>
          </a:prstGeom>
          <a:noFill/>
        </p:spPr>
        <p:txBody>
          <a:bodyPr wrap="square" anchor="ctr">
            <a:spAutoFit/>
          </a:bodyPr>
          <a:lstStyle/>
          <a:p>
            <a:r>
              <a:rPr sz="1500" b="1">
                <a:solidFill>
                  <a:srgbClr val="E8EEFA"/>
                </a:solidFill>
                <a:latin typeface="Segoe UI"/>
              </a:rPr>
              <a:t>Co-design amaliy jihatdan iterativ jarayon.</a:t>
            </a:r>
          </a:p>
          <a:p>
            <a:pPr>
              <a:spcBef>
                <a:spcPts val="400"/>
              </a:spcBef>
            </a:pPr>
            <a:r>
              <a:rPr sz="1400">
                <a:solidFill>
                  <a:srgbClr val="AEBBD9"/>
                </a:solidFill>
                <a:latin typeface="Segoe UI"/>
              </a:rPr>
              <a:t>Birinchi iteratsiyada talab (kechikish, aniqlik, byudjet, energiya) qo'yiladi va nomzod model hamda nomzod apparat tanlanadi. Ikkinchi iteratsiyada model shu apparatda profillanadi — qaysi qatlamlar sekin, xotira yetarlimi, tezlatkichdan foydalanish qanday.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8"/>
                                        </p:tgtEl>
                                        <p:attrNameLst>
                                          <p:attrName>style.visibility</p:attrName>
                                        </p:attrNameLst>
                                      </p:cBhvr>
                                      <p:to>
                                        <p:strVal val="visible"/>
                                      </p:to>
                                    </p:set>
                                    <p:animEffect transition="in" filter="fade">
                                      <p:cBhvr>
                                        <p:cTn id="83" dur="550"/>
                                        <p:tgtEl>
                                          <p:spTgt spid="38"/>
                                        </p:tgtEl>
                                      </p:cBhvr>
                                    </p:animEffect>
                                    <p:anim calcmode="lin" valueType="num">
                                      <p:cBhvr additive="base">
                                        <p:cTn id="84" dur="550" fill="hold"/>
                                        <p:tgtEl>
                                          <p:spTgt spid="38"/>
                                        </p:tgtEl>
                                        <p:attrNameLst>
                                          <p:attrName>ppt_x</p:attrName>
                                        </p:attrNameLst>
                                      </p:cBhvr>
                                      <p:tavLst>
                                        <p:tav tm="0">
                                          <p:val>
                                            <p:strVal val="#ppt_x"/>
                                          </p:val>
                                        </p:tav>
                                        <p:tav tm="100000">
                                          <p:val>
                                            <p:strVal val="#ppt_x"/>
                                          </p:val>
                                        </p:tav>
                                      </p:tavLst>
                                    </p:anim>
                                    <p:anim calcmode="lin" valueType="num">
                                      <p:cBhvr additive="base">
                                        <p:cTn id="85" dur="550" fill="hold"/>
                                        <p:tgtEl>
                                          <p:spTgt spid="38"/>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fade">
                                      <p:cBhvr>
                                        <p:cTn id="89" dur="550"/>
                                        <p:tgtEl>
                                          <p:spTgt spid="39"/>
                                        </p:tgtEl>
                                      </p:cBhvr>
                                    </p:animEffect>
                                    <p:anim calcmode="lin" valueType="num">
                                      <p:cBhvr additive="base">
                                        <p:cTn id="90" dur="550" fill="hold"/>
                                        <p:tgtEl>
                                          <p:spTgt spid="39"/>
                                        </p:tgtEl>
                                        <p:attrNameLst>
                                          <p:attrName>ppt_x</p:attrName>
                                        </p:attrNameLst>
                                      </p:cBhvr>
                                      <p:tavLst>
                                        <p:tav tm="0">
                                          <p:val>
                                            <p:strVal val="#ppt_x"/>
                                          </p:val>
                                        </p:tav>
                                        <p:tav tm="100000">
                                          <p:val>
                                            <p:strVal val="#ppt_x"/>
                                          </p:val>
                                        </p:tav>
                                      </p:tavLst>
                                    </p:anim>
                                    <p:anim calcmode="lin" valueType="num">
                                      <p:cBhvr additive="base">
                                        <p:cTn id="91" dur="550" fill="hold"/>
                                        <p:tgtEl>
                                          <p:spTgt spid="39"/>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40"/>
                                        </p:tgtEl>
                                        <p:attrNameLst>
                                          <p:attrName>style.visibility</p:attrName>
                                        </p:attrNameLst>
                                      </p:cBhvr>
                                      <p:to>
                                        <p:strVal val="visible"/>
                                      </p:to>
                                    </p:set>
                                    <p:animEffect transition="in" filter="fade">
                                      <p:cBhvr>
                                        <p:cTn id="95" dur="550"/>
                                        <p:tgtEl>
                                          <p:spTgt spid="40"/>
                                        </p:tgtEl>
                                      </p:cBhvr>
                                    </p:animEffect>
                                    <p:anim calcmode="lin" valueType="num">
                                      <p:cBhvr additive="base">
                                        <p:cTn id="96" dur="550" fill="hold"/>
                                        <p:tgtEl>
                                          <p:spTgt spid="40"/>
                                        </p:tgtEl>
                                        <p:attrNameLst>
                                          <p:attrName>ppt_w</p:attrName>
                                        </p:attrNameLst>
                                      </p:cBhvr>
                                      <p:tavLst>
                                        <p:tav tm="0">
                                          <p:val>
                                            <p:strVal val="0"/>
                                          </p:val>
                                        </p:tav>
                                        <p:tav tm="100000">
                                          <p:val>
                                            <p:strVal val="#ppt_w"/>
                                          </p:val>
                                        </p:tav>
                                      </p:tavLst>
                                    </p:anim>
                                    <p:anim calcmode="lin" valueType="num">
                                      <p:cBhvr additive="base">
                                        <p:cTn id="97" dur="550" fill="hold"/>
                                        <p:tgtEl>
                                          <p:spTgt spid="40"/>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1"/>
                                        </p:tgtEl>
                                        <p:attrNameLst>
                                          <p:attrName>style.visibility</p:attrName>
                                        </p:attrNameLst>
                                      </p:cBhvr>
                                      <p:to>
                                        <p:strVal val="visible"/>
                                      </p:to>
                                    </p:set>
                                    <p:animEffect transition="in" filter="fade">
                                      <p:cBhvr>
                                        <p:cTn id="101" dur="550"/>
                                        <p:tgtEl>
                                          <p:spTgt spid="41"/>
                                        </p:tgtEl>
                                      </p:cBhvr>
                                    </p:animEffect>
                                    <p:anim calcmode="lin" valueType="num">
                                      <p:cBhvr additive="base">
                                        <p:cTn id="102" dur="550" fill="hold"/>
                                        <p:tgtEl>
                                          <p:spTgt spid="41"/>
                                        </p:tgtEl>
                                        <p:attrNameLst>
                                          <p:attrName>ppt_x</p:attrName>
                                        </p:attrNameLst>
                                      </p:cBhvr>
                                      <p:tavLst>
                                        <p:tav tm="0">
                                          <p:val>
                                            <p:strVal val="#ppt_x"/>
                                          </p:val>
                                        </p:tav>
                                        <p:tav tm="100000">
                                          <p:val>
                                            <p:strVal val="#ppt_x"/>
                                          </p:val>
                                        </p:tav>
                                      </p:tavLst>
                                    </p:anim>
                                    <p:anim calcmode="lin" valueType="num">
                                      <p:cBhvr additive="base">
                                        <p:cTn id="103" dur="550" fill="hold"/>
                                        <p:tgtEl>
                                          <p:spTgt spid="4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Apparat va dasturiy ta'minotni birgalikda loyihalash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522695264632dd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Jguarin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900328"/>
            <a:ext cx="50000" cy="177934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2860328"/>
            <a:ext cx="5900000" cy="1859344"/>
          </a:xfrm>
          <a:prstGeom prst="rect">
            <a:avLst/>
          </a:prstGeom>
          <a:noFill/>
        </p:spPr>
        <p:txBody>
          <a:bodyPr wrap="square" anchor="ctr">
            <a:spAutoFit/>
          </a:bodyPr>
          <a:lstStyle/>
          <a:p>
            <a:r>
              <a:rPr sz="1700" b="1">
                <a:solidFill>
                  <a:srgbClr val="E8EEFA"/>
                </a:solidFill>
                <a:latin typeface="Segoe UI"/>
              </a:rPr>
              <a:t>Co-design kontekstida ikki klassik qonun doimo yodda bo'lishi kerak.</a:t>
            </a:r>
          </a:p>
          <a:p>
            <a:pPr>
              <a:spcBef>
                <a:spcPts val="400"/>
              </a:spcBef>
            </a:pPr>
            <a:r>
              <a:rPr sz="1600">
                <a:solidFill>
                  <a:srgbClr val="AEBBD9"/>
                </a:solidFill>
                <a:latin typeface="Segoe UI"/>
              </a:rPr>
              <a:t>Amdal qonuni (Amdahl's law): agar dasturning p ulushi tezlashtirilsa va qolgan 1−p ulushi o'zgarmasa, umumiy tezlashuv S = 1 / ((1−p) + p/s) dan oshmaydi, bu yerda s — tezlashtirilgan qismning tezlashuvi.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Apparat va dasturiy ta'minotni birgalikda loyihalash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graphicFrame>
        <p:nvGraphicFramePr>
          <p:cNvPr id="24" name="Table 23"/>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O'lchov</a:t>
                      </a:r>
                    </a:p>
                  </a:txBody>
                  <a:tcPr>
                    <a:solidFill>
                      <a:srgbClr val="1C2755"/>
                    </a:solidFill>
                  </a:tcPr>
                </a:tc>
                <a:tc>
                  <a:txBody>
                    <a:bodyPr/>
                    <a:lstStyle/>
                    <a:p>
                      <a:r>
                        <a:rPr sz="1200" b="1">
                          <a:solidFill>
                            <a:srgbClr val="22D3EE"/>
                          </a:solidFill>
                          <a:latin typeface="Segoe UI"/>
                        </a:rPr>
                        <a:t>Dasturiy tomondagi tanlovlar</a:t>
                      </a:r>
                    </a:p>
                  </a:txBody>
                  <a:tcPr>
                    <a:solidFill>
                      <a:srgbClr val="1C2755"/>
                    </a:solidFill>
                  </a:tcPr>
                </a:tc>
                <a:tc>
                  <a:txBody>
                    <a:bodyPr/>
                    <a:lstStyle/>
                    <a:p>
                      <a:r>
                        <a:rPr sz="1200" b="1">
                          <a:solidFill>
                            <a:srgbClr val="22D3EE"/>
                          </a:solidFill>
                          <a:latin typeface="Segoe UI"/>
                        </a:rPr>
                        <a:t>Apparat tomondagi tanlovlar</a:t>
                      </a:r>
                    </a:p>
                  </a:txBody>
                  <a:tcPr>
                    <a:solidFill>
                      <a:srgbClr val="1C2755"/>
                    </a:solidFill>
                  </a:tcPr>
                </a:tc>
                <a:tc>
                  <a:txBody>
                    <a:bodyPr/>
                    <a:lstStyle/>
                    <a:p>
                      <a:r>
                        <a:rPr sz="1200" b="1">
                          <a:solidFill>
                            <a:srgbClr val="22D3EE"/>
                          </a:solidFill>
                          <a:latin typeface="Segoe UI"/>
                        </a:rPr>
                        <a:t>O'zaro ta'sir</a:t>
                      </a:r>
                    </a:p>
                  </a:txBody>
                  <a:tcPr>
                    <a:solidFill>
                      <a:srgbClr val="1C2755"/>
                    </a:solidFill>
                  </a:tcPr>
                </a:tc>
              </a:tr>
              <a:tr h="520000">
                <a:tc>
                  <a:txBody>
                    <a:bodyPr/>
                    <a:lstStyle/>
                    <a:p>
                      <a:r>
                        <a:rPr sz="1200" b="0">
                          <a:solidFill>
                            <a:srgbClr val="E8EEFA"/>
                          </a:solidFill>
                          <a:latin typeface="Segoe UI"/>
                        </a:rPr>
                        <a:t>Hisoblash</a:t>
                      </a:r>
                    </a:p>
                  </a:txBody>
                  <a:tcPr>
                    <a:solidFill>
                      <a:srgbClr val="111834"/>
                    </a:solidFill>
                  </a:tcPr>
                </a:tc>
                <a:tc>
                  <a:txBody>
                    <a:bodyPr/>
                    <a:lstStyle/>
                    <a:p>
                      <a:r>
                        <a:rPr sz="1200" b="0">
                          <a:solidFill>
                            <a:srgbClr val="E8EEFA"/>
                          </a:solidFill>
                          <a:latin typeface="Segoe UI"/>
                        </a:rPr>
                        <a:t>Model hajmi, arxitektura, FLOP</a:t>
                      </a:r>
                    </a:p>
                  </a:txBody>
                  <a:tcPr>
                    <a:solidFill>
                      <a:srgbClr val="111834"/>
                    </a:solidFill>
                  </a:tcPr>
                </a:tc>
                <a:tc>
                  <a:txBody>
                    <a:bodyPr/>
                    <a:lstStyle/>
                    <a:p>
                      <a:r>
                        <a:rPr sz="1200" b="0">
                          <a:solidFill>
                            <a:srgbClr val="E8EEFA"/>
                          </a:solidFill>
                          <a:latin typeface="Segoe UI"/>
                        </a:rPr>
                        <a:t>TFLOPS, yadrolar soni, chastota</a:t>
                      </a:r>
                    </a:p>
                  </a:txBody>
                  <a:tcPr>
                    <a:solidFill>
                      <a:srgbClr val="111834"/>
                    </a:solidFill>
                  </a:tcPr>
                </a:tc>
                <a:tc>
                  <a:txBody>
                    <a:bodyPr/>
                    <a:lstStyle/>
                    <a:p>
                      <a:r>
                        <a:rPr sz="1200" b="0">
                          <a:solidFill>
                            <a:srgbClr val="E8EEFA"/>
                          </a:solidFill>
                          <a:latin typeface="Segoe UI"/>
                        </a:rPr>
                        <a:t>Model murakkabligi ↔ tezlatkich sinfi</a:t>
                      </a:r>
                    </a:p>
                  </a:txBody>
                  <a:tcPr>
                    <a:solidFill>
                      <a:srgbClr val="111834"/>
                    </a:solidFill>
                  </a:tcPr>
                </a:tc>
              </a:tr>
              <a:tr h="520000">
                <a:tc>
                  <a:txBody>
                    <a:bodyPr/>
                    <a:lstStyle/>
                    <a:p>
                      <a:r>
                        <a:rPr sz="1200" b="0">
                          <a:solidFill>
                            <a:srgbClr val="E8EEFA"/>
                          </a:solidFill>
                          <a:latin typeface="Segoe UI"/>
                        </a:rPr>
                        <a:t>Aniqlik</a:t>
                      </a:r>
                    </a:p>
                  </a:txBody>
                  <a:tcPr>
                    <a:solidFill>
                      <a:srgbClr val="161F40"/>
                    </a:solidFill>
                  </a:tcPr>
                </a:tc>
                <a:tc>
                  <a:txBody>
                    <a:bodyPr/>
                    <a:lstStyle/>
                    <a:p>
                      <a:r>
                        <a:rPr sz="1200" b="0">
                          <a:solidFill>
                            <a:srgbClr val="E8EEFA"/>
                          </a:solidFill>
                          <a:latin typeface="Segoe UI"/>
                        </a:rPr>
                        <a:t>FP32 / FP16 / INT8 / FP8 kvantlash</a:t>
                      </a:r>
                    </a:p>
                  </a:txBody>
                  <a:tcPr>
                    <a:solidFill>
                      <a:srgbClr val="161F40"/>
                    </a:solidFill>
                  </a:tcPr>
                </a:tc>
                <a:tc>
                  <a:txBody>
                    <a:bodyPr/>
                    <a:lstStyle/>
                    <a:p>
                      <a:r>
                        <a:rPr sz="1200" b="0">
                          <a:solidFill>
                            <a:srgbClr val="E8EEFA"/>
                          </a:solidFill>
                          <a:latin typeface="Segoe UI"/>
                        </a:rPr>
                        <a:t>Tensor Core, INT8 bloklar, NPU</a:t>
                      </a:r>
                    </a:p>
                  </a:txBody>
                  <a:tcPr>
                    <a:solidFill>
                      <a:srgbClr val="161F40"/>
                    </a:solidFill>
                  </a:tcPr>
                </a:tc>
                <a:tc>
                  <a:txBody>
                    <a:bodyPr/>
                    <a:lstStyle/>
                    <a:p>
                      <a:r>
                        <a:rPr sz="1200" b="0">
                          <a:solidFill>
                            <a:srgbClr val="E8EEFA"/>
                          </a:solidFill>
                          <a:latin typeface="Segoe UI"/>
                        </a:rPr>
                        <a:t>Kvantlash apparatda qo'llab-quvvatlansa 2–4× tezlashuv</a:t>
                      </a:r>
                    </a:p>
                  </a:txBody>
                  <a:tcPr>
                    <a:solidFill>
                      <a:srgbClr val="161F40"/>
                    </a:solidFill>
                  </a:tcPr>
                </a:tc>
              </a:tr>
              <a:tr h="520000">
                <a:tc>
                  <a:txBody>
                    <a:bodyPr/>
                    <a:lstStyle/>
                    <a:p>
                      <a:r>
                        <a:rPr sz="1200" b="0">
                          <a:solidFill>
                            <a:srgbClr val="E8EEFA"/>
                          </a:solidFill>
                          <a:latin typeface="Segoe UI"/>
                        </a:rPr>
                        <a:t>Xotira</a:t>
                      </a:r>
                    </a:p>
                  </a:txBody>
                  <a:tcPr>
                    <a:solidFill>
                      <a:srgbClr val="111834"/>
                    </a:solidFill>
                  </a:tcPr>
                </a:tc>
                <a:tc>
                  <a:txBody>
                    <a:bodyPr/>
                    <a:lstStyle/>
                    <a:p>
                      <a:r>
                        <a:rPr sz="1200" b="0">
                          <a:solidFill>
                            <a:srgbClr val="E8EEFA"/>
                          </a:solidFill>
                          <a:latin typeface="Segoe UI"/>
                        </a:rPr>
                        <a:t>Paket hajmi, aktivatsiyalar, KV-kesh</a:t>
                      </a:r>
                    </a:p>
                  </a:txBody>
                  <a:tcPr>
                    <a:solidFill>
                      <a:srgbClr val="111834"/>
                    </a:solidFill>
                  </a:tcPr>
                </a:tc>
                <a:tc>
                  <a:txBody>
                    <a:bodyPr/>
                    <a:lstStyle/>
                    <a:p>
                      <a:r>
                        <a:rPr sz="1200" b="0">
                          <a:solidFill>
                            <a:srgbClr val="E8EEFA"/>
                          </a:solidFill>
                          <a:latin typeface="Segoe UI"/>
                        </a:rPr>
                        <a:t>Xotira hajmi, o'tkazuvchanlik, iyerarxiya</a:t>
                      </a:r>
                    </a:p>
                  </a:txBody>
                  <a:tcPr>
                    <a:solidFill>
                      <a:srgbClr val="111834"/>
                    </a:solidFill>
                  </a:tcPr>
                </a:tc>
                <a:tc>
                  <a:txBody>
                    <a:bodyPr/>
                    <a:lstStyle/>
                    <a:p>
                      <a:r>
                        <a:rPr sz="1200" b="0">
                          <a:solidFill>
                            <a:srgbClr val="E8EEFA"/>
                          </a:solidFill>
                          <a:latin typeface="Segoe UI"/>
                        </a:rPr>
                        <a:t>Model sig'maydimi → bo'lish yoki siqish</a:t>
                      </a:r>
                    </a:p>
                  </a:txBody>
                  <a:tcPr>
                    <a:solidFill>
                      <a:srgbClr val="111834"/>
                    </a:solidFill>
                  </a:tcPr>
                </a:tc>
              </a:tr>
              <a:tr h="520000">
                <a:tc>
                  <a:txBody>
                    <a:bodyPr/>
                    <a:lstStyle/>
                    <a:p>
                      <a:r>
                        <a:rPr sz="1200" b="0">
                          <a:solidFill>
                            <a:srgbClr val="E8EEFA"/>
                          </a:solidFill>
                          <a:latin typeface="Segoe UI"/>
                        </a:rPr>
                        <a:t>Ma'lumot harakati</a:t>
                      </a:r>
                    </a:p>
                  </a:txBody>
                  <a:tcPr>
                    <a:solidFill>
                      <a:srgbClr val="161F40"/>
                    </a:solidFill>
                  </a:tcPr>
                </a:tc>
                <a:tc>
                  <a:txBody>
                    <a:bodyPr/>
                    <a:lstStyle/>
                    <a:p>
                      <a:r>
                        <a:rPr sz="1200" b="0">
                          <a:solidFill>
                            <a:srgbClr val="E8EEFA"/>
                          </a:solidFill>
                          <a:latin typeface="Segoe UI"/>
                        </a:rPr>
                        <a:t>Quvur tuzilishi, nusxalash, nol-nusxa</a:t>
                      </a:r>
                    </a:p>
                  </a:txBody>
                  <a:tcPr>
                    <a:solidFill>
                      <a:srgbClr val="161F40"/>
                    </a:solidFill>
                  </a:tcPr>
                </a:tc>
                <a:tc>
                  <a:txBody>
                    <a:bodyPr/>
                    <a:lstStyle/>
                    <a:p>
                      <a:r>
                        <a:rPr sz="1200" b="0">
                          <a:solidFill>
                            <a:srgbClr val="E8EEFA"/>
                          </a:solidFill>
                          <a:latin typeface="Segoe UI"/>
                        </a:rPr>
                        <a:t>PCIe, NVLink, birlashgan xotira</a:t>
                      </a:r>
                    </a:p>
                  </a:txBody>
                  <a:tcPr>
                    <a:solidFill>
                      <a:srgbClr val="161F40"/>
                    </a:solidFill>
                  </a:tcPr>
                </a:tc>
                <a:tc>
                  <a:txBody>
                    <a:bodyPr/>
                    <a:lstStyle/>
                    <a:p>
                      <a:r>
                        <a:rPr sz="1200" b="0">
                          <a:solidFill>
                            <a:srgbClr val="E8EEFA"/>
                          </a:solidFill>
                          <a:latin typeface="Segoe UI"/>
                        </a:rPr>
                        <a:t>Nusxalash kechikishi ↔ shina kengligi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5c255ff50de1ec6.jpg"/>
          <p:cNvPicPr>
            <a:picLocks noChangeAspect="1"/>
          </p:cNvPicPr>
          <p:nvPr/>
        </p:nvPicPr>
        <p:blipFill>
          <a:blip r:embed="rId2"/>
          <a:srcRect l="12204" r="12204"/>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Bennett Brown · Wikimedia Commons · CC BY 4.0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Loyihalash tamoyillari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Loyihalash tamoyillari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5fd2cc278700b62b.jpg"/>
          <p:cNvPicPr>
            <a:picLocks noChangeAspect="1"/>
          </p:cNvPicPr>
          <p:nvPr/>
        </p:nvPicPr>
        <p:blipFill>
          <a:blip r:embed="rId2"/>
          <a:srcRect l="1864" r="1864"/>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paulo@kiefe.com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Yuqoridagi tushunchalar asosida SI tizimini loyihalashning amaliy tamoyillarini shakllantirish mumkin.</a:t>
            </a:r>
          </a:p>
          <a:p>
            <a:pPr>
              <a:spcBef>
                <a:spcPts val="400"/>
              </a:spcBef>
            </a:pPr>
            <a:r>
              <a:rPr sz="1600">
                <a:solidFill>
                  <a:srgbClr val="AEBBD9"/>
                </a:solidFill>
                <a:latin typeface="Segoe UI"/>
              </a:rPr>
              <a:t>Talabdan boshlash: kechikish byudjeti (masalan, kadrdan hodisagacha 200 ms), aniqlik chegarasi (mAP yoki F1), yuk (kameralar soni, so'rov/soniya), energiya va narx cheklovlari raqam bilan yoziladi; raqamsiz talab — talab emas.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1" name="Rectangle 90"/>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3" name="TextBox 92"/>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200"/>
                            </p:stCondLst>
                            <p:childTnLst>
                              <p:par>
                                <p:cTn id="352" presetID="53" presetClass="entr" presetSubtype="16"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anim calcmode="lin" valueType="num">
                                      <p:cBhvr additive="base">
                                        <p:cTn id="355" dur="550" fill="hold"/>
                                        <p:tgtEl>
                                          <p:spTgt spid="90"/>
                                        </p:tgtEl>
                                        <p:attrNameLst>
                                          <p:attrName>ppt_w</p:attrName>
                                        </p:attrNameLst>
                                      </p:cBhvr>
                                      <p:tavLst>
                                        <p:tav tm="0">
                                          <p:val>
                                            <p:strVal val="0"/>
                                          </p:val>
                                        </p:tav>
                                        <p:tav tm="100000">
                                          <p:val>
                                            <p:strVal val="#ppt_w"/>
                                          </p:val>
                                        </p:tav>
                                      </p:tavLst>
                                    </p:anim>
                                    <p:anim calcmode="lin" valueType="num">
                                      <p:cBhvr additive="base">
                                        <p:cTn id="356" dur="550" fill="hold"/>
                                        <p:tgtEl>
                                          <p:spTgt spid="90"/>
                                        </p:tgtEl>
                                        <p:attrNameLst>
                                          <p:attrName>ppt_h</p:attrName>
                                        </p:attrNameLst>
                                      </p:cBhvr>
                                      <p:tavLst>
                                        <p:tav tm="0">
                                          <p:val>
                                            <p:strVal val="0"/>
                                          </p:val>
                                        </p:tav>
                                        <p:tav tm="100000">
                                          <p:val>
                                            <p:strVal val="#ppt_h"/>
                                          </p:val>
                                        </p:tav>
                                      </p:tavLst>
                                    </p:anim>
                                  </p:childTnLst>
                                </p:cTn>
                              </p:par>
                            </p:childTnLst>
                          </p:cTn>
                        </p:par>
                        <p:par>
                          <p:cTn id="357" fill="hold">
                            <p:stCondLst>
                              <p:cond delay="350"/>
                            </p:stCondLst>
                            <p:childTnLst>
                              <p:par>
                                <p:cTn id="358" presetID="22" presetClass="entr" presetSubtype="8" fill="hold" grpId="0" nodeType="afterEffect">
                                  <p:stCondLst>
                                    <p:cond delay="0"/>
                                  </p:stCondLst>
                                  <p:childTnLst>
                                    <p:set>
                                      <p:cBhvr>
                                        <p:cTn id="359" dur="1" fill="hold">
                                          <p:stCondLst>
                                            <p:cond delay="0"/>
                                          </p:stCondLst>
                                        </p:cTn>
                                        <p:tgtEl>
                                          <p:spTgt spid="91"/>
                                        </p:tgtEl>
                                        <p:attrNameLst>
                                          <p:attrName>style.visibility</p:attrName>
                                        </p:attrNameLst>
                                      </p:cBhvr>
                                      <p:to>
                                        <p:strVal val="visible"/>
                                      </p:to>
                                    </p:set>
                                    <p:animEffect transition="in" filter="wipe(left)">
                                      <p:cBhvr>
                                        <p:cTn id="361" dur="800"/>
                                        <p:tgtEl>
                                          <p:spTgt spid="91"/>
                                        </p:tgtEl>
                                      </p:cBhvr>
                                    </p:animEffect>
                                  </p:childTnLst>
                                </p:cTn>
                              </p:par>
                            </p:childTnLst>
                          </p:cTn>
                        </p:par>
                        <p:par>
                          <p:cTn id="362" fill="hold">
                            <p:stCondLst>
                              <p:cond delay="500"/>
                            </p:stCondLst>
                            <p:childTnLst>
                              <p:par>
                                <p:cTn id="363" presetID="42" presetClass="entr" presetSubtype="0" fill="hold" grpId="0" nodeType="afterEffect">
                                  <p:stCondLst>
                                    <p:cond delay="0"/>
                                  </p:stCondLst>
                                  <p:childTnLst>
                                    <p:set>
                                      <p:cBhvr>
                                        <p:cTn id="364" dur="1" fill="hold">
                                          <p:stCondLst>
                                            <p:cond delay="0"/>
                                          </p:stCondLst>
                                        </p:cTn>
                                        <p:tgtEl>
                                          <p:spTgt spid="92"/>
                                        </p:tgtEl>
                                        <p:attrNameLst>
                                          <p:attrName>style.visibility</p:attrName>
                                        </p:attrNameLst>
                                      </p:cBhvr>
                                      <p:to>
                                        <p:strVal val="visible"/>
                                      </p:to>
                                    </p:set>
                                    <p:animEffect transition="in" filter="fade">
                                      <p:cBhvr>
                                        <p:cTn id="365" dur="550"/>
                                        <p:tgtEl>
                                          <p:spTgt spid="92"/>
                                        </p:tgtEl>
                                      </p:cBhvr>
                                    </p:animEffect>
                                    <p:anim calcmode="lin" valueType="num">
                                      <p:cBhvr additive="base">
                                        <p:cTn id="366" dur="550" fill="hold"/>
                                        <p:tgtEl>
                                          <p:spTgt spid="92"/>
                                        </p:tgtEl>
                                        <p:attrNameLst>
                                          <p:attrName>ppt_x</p:attrName>
                                        </p:attrNameLst>
                                      </p:cBhvr>
                                      <p:tavLst>
                                        <p:tav tm="0">
                                          <p:val>
                                            <p:strVal val="#ppt_x"/>
                                          </p:val>
                                        </p:tav>
                                        <p:tav tm="100000">
                                          <p:val>
                                            <p:strVal val="#ppt_x"/>
                                          </p:val>
                                        </p:tav>
                                      </p:tavLst>
                                    </p:anim>
                                    <p:anim calcmode="lin" valueType="num">
                                      <p:cBhvr additive="base">
                                        <p:cTn id="367" dur="550" fill="hold"/>
                                        <p:tgtEl>
                                          <p:spTgt spid="92"/>
                                        </p:tgtEl>
                                        <p:attrNameLst>
                                          <p:attrName>ppt_y</p:attrName>
                                        </p:attrNameLst>
                                      </p:cBhvr>
                                      <p:tavLst>
                                        <p:tav tm="0">
                                          <p:val>
                                            <p:strVal val="#ppt_y+.08"/>
                                          </p:val>
                                        </p:tav>
                                        <p:tav tm="100000">
                                          <p:val>
                                            <p:strVal val="#ppt_y"/>
                                          </p:val>
                                        </p:tav>
                                      </p:tavLst>
                                    </p:anim>
                                  </p:childTnLst>
                                </p:cTn>
                              </p:par>
                            </p:childTnLst>
                          </p:cTn>
                        </p:par>
                        <p:par>
                          <p:cTn id="368" fill="hold">
                            <p:stCondLst>
                              <p:cond delay="650"/>
                            </p:stCondLst>
                            <p:childTnLst>
                              <p:par>
                                <p:cTn id="369" presetID="10" presetClass="entr" presetSubtype="0" fill="hold" grpId="0" nodeType="afterEffect">
                                  <p:stCondLst>
                                    <p:cond delay="0"/>
                                  </p:stCondLst>
                                  <p:childTnLst>
                                    <p:set>
                                      <p:cBhvr>
                                        <p:cTn id="370" dur="1" fill="hold">
                                          <p:stCondLst>
                                            <p:cond delay="0"/>
                                          </p:stCondLst>
                                        </p:cTn>
                                        <p:tgtEl>
                                          <p:spTgt spid="93"/>
                                        </p:tgtEl>
                                        <p:attrNameLst>
                                          <p:attrName>style.visibility</p:attrName>
                                        </p:attrNameLst>
                                      </p:cBhvr>
                                      <p:to>
                                        <p:strVal val="visible"/>
                                      </p:to>
                                    </p:set>
                                    <p:animEffect transition="in" filter="fade">
                                      <p:cBhvr>
                                        <p:cTn id="371" dur="550"/>
                                        <p:tgtEl>
                                          <p:spTgt spid="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
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a:p/>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a:p/>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a:p/>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a:p/>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a:p/>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asosida SI tizimini loyihalashning amaliy tamoyillarini shakllantirish mumkin. Talabdan boshlash: kechikish byudjeti (masalan, kadrdan hodisagacha 200 ms), aniqlik chegarasi (mAP yoki F1), yuk (kameralar soni, so'rov/soniya), energiya va narx cheklovlari raqam bilan yoziladi; raqamsiz talab — talab emas. Ma'lumot oqimini chizish: har bir komponent orqali o'tadigan baytlar soni hisoblanadi; 1080p kadr RGB ko'rinishda 6,2 MB, 25 kadr/s da bitta kamera 155 MB/s, 16 kamera 2,5 GB/s — bu PCIe 3.0 x16 ning (taxminan 16 GB/s) sezilarli qismi. Eng tor joyni topish: Amdal qonuniga ko'ra faqat tor joyni optimallashtirish foyda beradi. Modullilik va interfeyslar: model almashtirilsa (YOLOv8 → YOLO11), qolgan tizim o'zgarmasligi kerak — buning uchun ONNX kabi standart format va aniq API. Kuzatuvchanlik dastlabdan: metrikalar keyin qo'shiladigan narsa emas; ularsiz co-design iteratsiyasini bajarib bo'lmaydi. Degradatsiyaga tayyorlik: tezlatkich ishdan chiqsa yoki yuk oshsa tizim butunlay to'xtamasdan, kadr tashlash (frame skipping) yoki kichik modelga o'tish orqali ishlashda davom etishi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intellektga asoslangan kompyuter tizimlari injiniringi: arxitektura va loyihalash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550c89097acb827b.jpg"/>
          <p:cNvPicPr>
            <a:picLocks noChangeAspect="1"/>
          </p:cNvPicPr>
          <p:nvPr/>
        </p:nvPicPr>
        <p:blipFill>
          <a:blip r:embed="rId2"/>
          <a:srcRect l="24298" r="24298"/>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Joël van der Loo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Sun'iy intellekt injiniringi konsepsiyasi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Sun'iy intellektga asoslangan hisoblash platformalari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AI-enabled computer systems arxitekturasi</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Apparat va dasturiy ta'minotni birgalikda loyihalash</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38d5d05600bee6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PumitasUNAM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Sun'iy intellekt injiniringi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injiniringi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Sun'iy intellekt injiniringi (AI engineering) — SI komponentlarini o'z ichiga olgan tizimlarni ishonchli, takrorlanuvchi va masshtablanuvchi tarzda loyihalash, qurish, joylashtirish va…</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Amershi va hammualliflar SI tizimlarining an'anaviy dasturiy ta'minotdan uchta tub farqini ko'rsatadilar.</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Kneusel [2] amaliy nuqtai nazardan SI injiniringini «modelni ishlaydigan mahsulotga aylantirish san'ati» deb ta'riflaydi va muhandis javob berishi kerak bo'lgan savollarni sanaydi: inferens…</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SI injiniringining yana bir muhim jihati — hayot sikli tushunchasi.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00d39deda63e642.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Systems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Sun'iy intellektga asoslangan hisoblash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Hisoblash platformasi deganda biz SI yukini bajaruvchi apparat va uning ustidagi tizimli dasturiy ta'minot (drayver, kutubxona, ish vaqti muhiti) majmuasini tushunamiz. Platformalarni to'rt sinfga ajratish qulay: shaxsiy ish stansiyalari, ma'lumotlar markazi…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Jadvaldan uch muhim xulosa kelib chiqadi. Birinchidan, platformalar orasidagi farq olti tartibni (10⁶) tashkil etadi — mikrokontrollerdan H100 gacha.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Platforma tanlashda hisoblash quvvatining birligiga e'tibor berish zarur. TOPS (tera operations per second) odatda INT8 butun sonli amallar uchun, TFLOPS esa suzuvchi nuqtali (FP32, FP16, BF16, FP8) amallar uchun beriladi.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Chekka mikrokontroller</a:t>
                      </a:r>
                    </a:p>
                  </a:txBody>
                  <a:tcPr>
                    <a:solidFill>
                      <a:srgbClr val="F1F4F8"/>
                    </a:solidFill>
                  </a:tcPr>
                </a:tc>
                <a:tc>
                  <a:txBody>
                    <a:bodyPr/>
                    <a:lstStyle/>
                    <a:p>
                      <a:r>
                        <a:rPr sz="1400" b="0">
                          <a:solidFill>
                            <a:srgbClr val="1B2430"/>
                          </a:solidFill>
                          <a:latin typeface="Calibri"/>
                        </a:rPr>
                        <a:t>ARM Cortex-M7 + TinyML</a:t>
                      </a:r>
                    </a:p>
                  </a:txBody>
                  <a:tcPr>
                    <a:solidFill>
                      <a:srgbClr val="F1F4F8"/>
                    </a:solidFill>
                  </a:tcPr>
                </a:tc>
                <a:tc>
                  <a:txBody>
                    <a:bodyPr/>
                    <a:lstStyle/>
                    <a:p>
                      <a:r>
                        <a:rPr sz="1400" b="0">
                          <a:solidFill>
                            <a:srgbClr val="1B2430"/>
                          </a:solidFill>
                          <a:latin typeface="Calibri"/>
                        </a:rPr>
                        <a:t>0,001–0,01 TOPS</a:t>
                      </a:r>
                    </a:p>
                  </a:txBody>
                  <a:tcPr>
                    <a:solidFill>
                      <a:srgbClr val="F1F4F8"/>
                    </a:solidFill>
                  </a:tcPr>
                </a:tc>
                <a:tc>
                  <a:txBody>
                    <a:bodyPr/>
                    <a:lstStyle/>
                    <a:p>
                      <a:r>
                        <a:rPr sz="1400" b="0">
                          <a:solidFill>
                            <a:srgbClr val="1B2430"/>
                          </a:solidFill>
                          <a:latin typeface="Calibri"/>
                        </a:rPr>
                        <a:t>0,5–2 MB SRAM</a:t>
                      </a:r>
                    </a:p>
                  </a:txBody>
                  <a:tcPr>
                    <a:solidFill>
                      <a:srgbClr val="F1F4F8"/>
                    </a:solidFill>
                  </a:tcPr>
                </a:tc>
                <a:tc>
                  <a:txBody>
                    <a:bodyPr/>
                    <a:lstStyle/>
                    <a:p>
                      <a:r>
                        <a:rPr sz="1400" b="0">
                          <a:solidFill>
                            <a:srgbClr val="1B2430"/>
                          </a:solidFill>
                          <a:latin typeface="Calibri"/>
                        </a:rPr>
                        <a:t>0,05–0,5 W</a:t>
                      </a:r>
                    </a:p>
                  </a:txBody>
                  <a:tcPr>
                    <a:solidFill>
                      <a:srgbClr val="F1F4F8"/>
                    </a:solidFill>
                  </a:tcPr>
                </a:tc>
                <a:tc>
                  <a:txBody>
                    <a:bodyPr/>
                    <a:lstStyle/>
                    <a:p>
                      <a:r>
                        <a:rPr sz="1400" b="0">
                          <a:solidFill>
                            <a:srgbClr val="1B2430"/>
                          </a:solidFill>
                          <a:latin typeface="Calibri"/>
                        </a:rPr>
                        <a:t>Kalit so'z aniqlash, sensor tasnifi</a:t>
                      </a:r>
                    </a:p>
                  </a:txBody>
                  <a:tcPr>
                    <a:solidFill>
                      <a:srgbClr val="F1F4F8"/>
                    </a:solidFill>
                  </a:tcPr>
                </a:tc>
              </a:tr>
              <a:tr h="520000">
                <a:tc>
                  <a:txBody>
                    <a:bodyPr/>
                    <a:lstStyle/>
                    <a:p>
                      <a:r>
                        <a:rPr sz="1400" b="0">
                          <a:solidFill>
                            <a:srgbClr val="1B2430"/>
                          </a:solidFill>
                          <a:latin typeface="Calibri"/>
                        </a:rPr>
                        <a:t>Chekka tezlatkich</a:t>
                      </a:r>
                    </a:p>
                  </a:txBody>
                  <a:tcPr>
                    <a:solidFill>
                      <a:srgbClr val="FFFFFF"/>
                    </a:solidFill>
                  </a:tcPr>
                </a:tc>
                <a:tc>
                  <a:txBody>
                    <a:bodyPr/>
                    <a:lstStyle/>
                    <a:p>
                      <a:r>
                        <a:rPr sz="1400" b="0">
                          <a:solidFill>
                            <a:srgbClr val="1B2430"/>
                          </a:solidFill>
                          <a:latin typeface="Calibri"/>
                        </a:rPr>
                        <a:t>Google Coral Edge TPU</a:t>
                      </a:r>
                    </a:p>
                  </a:txBody>
                  <a:tcPr>
                    <a:solidFill>
                      <a:srgbClr val="FFFFFF"/>
                    </a:solidFill>
                  </a:tcPr>
                </a:tc>
                <a:tc>
                  <a:txBody>
                    <a:bodyPr/>
                    <a:lstStyle/>
                    <a:p>
                      <a:r>
                        <a:rPr sz="1400" b="0">
                          <a:solidFill>
                            <a:srgbClr val="1B2430"/>
                          </a:solidFill>
                          <a:latin typeface="Calibri"/>
                        </a:rPr>
                        <a:t>4 TOPS INT8</a:t>
                      </a:r>
                    </a:p>
                  </a:txBody>
                  <a:tcPr>
                    <a:solidFill>
                      <a:srgbClr val="FFFFFF"/>
                    </a:solidFill>
                  </a:tcPr>
                </a:tc>
                <a:tc>
                  <a:txBody>
                    <a:bodyPr/>
                    <a:lstStyle/>
                    <a:p>
                      <a:r>
                        <a:rPr sz="1400" b="0">
                          <a:solidFill>
                            <a:srgbClr val="1B2430"/>
                          </a:solidFill>
                          <a:latin typeface="Calibri"/>
                        </a:rPr>
                        <a:t>xost xotirasi</a:t>
                      </a:r>
                    </a:p>
                  </a:txBody>
                  <a:tcPr>
                    <a:solidFill>
                      <a:srgbClr val="FFFFFF"/>
                    </a:solidFill>
                  </a:tcPr>
                </a:tc>
                <a:tc>
                  <a:txBody>
                    <a:bodyPr/>
                    <a:lstStyle/>
                    <a:p>
                      <a:r>
                        <a:rPr sz="1400" b="0">
                          <a:solidFill>
                            <a:srgbClr val="1B2430"/>
                          </a:solidFill>
                          <a:latin typeface="Calibri"/>
                        </a:rPr>
                        <a:t>~2 W</a:t>
                      </a:r>
                    </a:p>
                  </a:txBody>
                  <a:tcPr>
                    <a:solidFill>
                      <a:srgbClr val="FFFFFF"/>
                    </a:solidFill>
                  </a:tcPr>
                </a:tc>
                <a:tc>
                  <a:txBody>
                    <a:bodyPr/>
                    <a:lstStyle/>
                    <a:p>
                      <a:r>
                        <a:rPr sz="1400" b="0">
                          <a:solidFill>
                            <a:srgbClr val="1B2430"/>
                          </a:solidFill>
                          <a:latin typeface="Calibri"/>
                        </a:rPr>
                        <a:t>Bitta kamera, tasnif</a:t>
                      </a:r>
                    </a:p>
                  </a:txBody>
                  <a:tcPr>
                    <a:solidFill>
                      <a:srgbClr val="FFFFFF"/>
                    </a:solidFill>
                  </a:tcPr>
                </a:tc>
              </a:tr>
              <a:tr h="520000">
                <a:tc>
                  <a:txBody>
                    <a:bodyPr/>
                    <a:lstStyle/>
                    <a:p>
                      <a:r>
                        <a:rPr sz="1400" b="0">
                          <a:solidFill>
                            <a:srgbClr val="1B2430"/>
                          </a:solidFill>
                          <a:latin typeface="Calibri"/>
                        </a:rPr>
                        <a:t>Chekka modul</a:t>
                      </a:r>
                    </a:p>
                  </a:txBody>
                  <a:tcPr>
                    <a:solidFill>
                      <a:srgbClr val="F1F4F8"/>
                    </a:solidFill>
                  </a:tcPr>
                </a:tc>
                <a:tc>
                  <a:txBody>
                    <a:bodyPr/>
                    <a:lstStyle/>
                    <a:p>
                      <a:r>
                        <a:rPr sz="1400" b="0">
                          <a:solidFill>
                            <a:srgbClr val="1B2430"/>
                          </a:solidFill>
                          <a:latin typeface="Calibri"/>
                        </a:rPr>
                        <a:t>NVIDIA Jetson Orin Nano 8 GB</a:t>
                      </a:r>
                    </a:p>
                  </a:txBody>
                  <a:tcPr>
                    <a:solidFill>
                      <a:srgbClr val="F1F4F8"/>
                    </a:solidFill>
                  </a:tcPr>
                </a:tc>
                <a:tc>
                  <a:txBody>
                    <a:bodyPr/>
                    <a:lstStyle/>
                    <a:p>
                      <a:r>
                        <a:rPr sz="1400" b="0">
                          <a:solidFill>
                            <a:srgbClr val="1B2430"/>
                          </a:solidFill>
                          <a:latin typeface="Calibri"/>
                        </a:rPr>
                        <a:t>~40 TOPS INT8 (siyrak)</a:t>
                      </a:r>
                    </a:p>
                  </a:txBody>
                  <a:tcPr>
                    <a:solidFill>
                      <a:srgbClr val="F1F4F8"/>
                    </a:solidFill>
                  </a:tcPr>
                </a:tc>
                <a:tc>
                  <a:txBody>
                    <a:bodyPr/>
                    <a:lstStyle/>
                    <a:p>
                      <a:r>
                        <a:rPr sz="1400" b="0">
                          <a:solidFill>
                            <a:srgbClr val="1B2430"/>
                          </a:solidFill>
                          <a:latin typeface="Calibri"/>
                        </a:rPr>
                        <a:t>8 GB LPDDR5, 68 GB/s</a:t>
                      </a:r>
                    </a:p>
                  </a:txBody>
                  <a:tcPr>
                    <a:solidFill>
                      <a:srgbClr val="F1F4F8"/>
                    </a:solidFill>
                  </a:tcPr>
                </a:tc>
                <a:tc>
                  <a:txBody>
                    <a:bodyPr/>
                    <a:lstStyle/>
                    <a:p>
                      <a:r>
                        <a:rPr sz="1400" b="0">
                          <a:solidFill>
                            <a:srgbClr val="1B2430"/>
                          </a:solidFill>
                          <a:latin typeface="Calibri"/>
                        </a:rPr>
                        <a:t>7–15 W</a:t>
                      </a:r>
                    </a:p>
                  </a:txBody>
                  <a:tcPr>
                    <a:solidFill>
                      <a:srgbClr val="F1F4F8"/>
                    </a:solidFill>
                  </a:tcPr>
                </a:tc>
                <a:tc>
                  <a:txBody>
                    <a:bodyPr/>
                    <a:lstStyle/>
                    <a:p>
                      <a:r>
                        <a:rPr sz="1400" b="0">
                          <a:solidFill>
                            <a:srgbClr val="1B2430"/>
                          </a:solidFill>
                          <a:latin typeface="Calibri"/>
                        </a:rPr>
                        <a:t>2–4 kamera, detektsiya</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NVIDIA Jetson AGX Orin 64 GB</a:t>
                      </a:r>
                    </a:p>
                  </a:txBody>
                  <a:tcPr>
                    <a:solidFill>
                      <a:srgbClr val="FFFFFF"/>
                    </a:solidFill>
                  </a:tcPr>
                </a:tc>
                <a:tc>
                  <a:txBody>
                    <a:bodyPr/>
                    <a:lstStyle/>
                    <a:p>
                      <a:r>
                        <a:rPr sz="1400" b="0">
                          <a:solidFill>
                            <a:srgbClr val="1B2430"/>
                          </a:solidFill>
                          <a:latin typeface="Calibri"/>
                        </a:rPr>
                        <a:t>~275 TOPS INT8 (siyrak)</a:t>
                      </a:r>
                    </a:p>
                  </a:txBody>
                  <a:tcPr>
                    <a:solidFill>
                      <a:srgbClr val="FFFFFF"/>
                    </a:solidFill>
                  </a:tcPr>
                </a:tc>
                <a:tc>
                  <a:txBody>
                    <a:bodyPr/>
                    <a:lstStyle/>
                    <a:p>
                      <a:r>
                        <a:rPr sz="1400" b="0">
                          <a:solidFill>
                            <a:srgbClr val="1B2430"/>
                          </a:solidFill>
                          <a:latin typeface="Calibri"/>
                        </a:rPr>
                        <a:t>64 GB LPDDR5, 205 GB/s</a:t>
                      </a:r>
                    </a:p>
                  </a:txBody>
                  <a:tcPr>
                    <a:solidFill>
                      <a:srgbClr val="FFFFFF"/>
                    </a:solidFill>
                  </a:tcPr>
                </a:tc>
                <a:tc>
                  <a:txBody>
                    <a:bodyPr/>
                    <a:lstStyle/>
                    <a:p>
                      <a:r>
                        <a:rPr sz="1400" b="0">
                          <a:solidFill>
                            <a:srgbClr val="1B2430"/>
                          </a:solidFill>
                          <a:latin typeface="Calibri"/>
                        </a:rPr>
                        <a:t>15–60 W</a:t>
                      </a:r>
                    </a:p>
                  </a:txBody>
                  <a:tcPr>
                    <a:solidFill>
                      <a:srgbClr val="FFFFFF"/>
                    </a:solidFill>
                  </a:tcPr>
                </a:tc>
                <a:tc>
                  <a:txBody>
                    <a:bodyPr/>
                    <a:lstStyle/>
                    <a:p>
                      <a:r>
                        <a:rPr sz="1400" b="0">
                          <a:solidFill>
                            <a:srgbClr val="1B2430"/>
                          </a:solidFill>
                          <a:latin typeface="Calibri"/>
                        </a:rPr>
                        <a:t>8–16 kamera, ko'p model</a:t>
                      </a:r>
                    </a:p>
                  </a:txBody>
                  <a:tcPr>
                    <a:solidFill>
                      <a:srgbClr val="FFFFFF"/>
                    </a:solidFill>
                  </a:tcPr>
                </a:tc>
              </a:tr>
              <a:tr h="520000">
                <a:tc>
                  <a:txBody>
                    <a:bodyPr/>
                    <a:lstStyle/>
                    <a:p>
                      <a:r>
                        <a:rPr sz="1400" b="0">
                          <a:solidFill>
                            <a:srgbClr val="1B2430"/>
                          </a:solidFill>
                          <a:latin typeface="Calibri"/>
                        </a:rPr>
                        <a:t>Inferens serveri</a:t>
                      </a:r>
                    </a:p>
                  </a:txBody>
                  <a:tcPr>
                    <a:solidFill>
                      <a:srgbClr val="F1F4F8"/>
                    </a:solidFill>
                  </a:tcPr>
                </a:tc>
                <a:tc>
                  <a:txBody>
                    <a:bodyPr/>
                    <a:lstStyle/>
                    <a:p>
                      <a:r>
                        <a:rPr sz="1400" b="0">
                          <a:solidFill>
                            <a:srgbClr val="1B2430"/>
                          </a:solidFill>
                          <a:latin typeface="Calibri"/>
                        </a:rPr>
                        <a:t>NVIDIA L4 (PCIe)</a:t>
                      </a:r>
                    </a:p>
                  </a:txBody>
                  <a:tcPr>
                    <a:solidFill>
                      <a:srgbClr val="F1F4F8"/>
                    </a:solidFill>
                  </a:tcPr>
                </a:tc>
                <a:tc>
                  <a:txBody>
                    <a:bodyPr/>
                    <a:lstStyle/>
                    <a:p>
                      <a:r>
                        <a:rPr sz="1400" b="0">
                          <a:solidFill>
                            <a:srgbClr val="1B2430"/>
                          </a:solidFill>
                          <a:latin typeface="Calibri"/>
                        </a:rPr>
                        <a:t>~121 TFLOPS FP16 (zich)</a:t>
                      </a:r>
                    </a:p>
                  </a:txBody>
                  <a:tcPr>
                    <a:solidFill>
                      <a:srgbClr val="F1F4F8"/>
                    </a:solidFill>
                  </a:tcPr>
                </a:tc>
                <a:tc>
                  <a:txBody>
                    <a:bodyPr/>
                    <a:lstStyle/>
                    <a:p>
                      <a:r>
                        <a:rPr sz="1400" b="0">
                          <a:solidFill>
                            <a:srgbClr val="1B2430"/>
                          </a:solidFill>
                          <a:latin typeface="Calibri"/>
                        </a:rPr>
                        <a:t>24 GB GDDR6, 300 GB/s</a:t>
                      </a:r>
                    </a:p>
                  </a:txBody>
                  <a:tcPr>
                    <a:solidFill>
                      <a:srgbClr val="F1F4F8"/>
                    </a:solidFill>
                  </a:tcPr>
                </a:tc>
                <a:tc>
                  <a:txBody>
                    <a:bodyPr/>
                    <a:lstStyle/>
                    <a:p>
                      <a:r>
                        <a:rPr sz="1400" b="0">
                          <a:solidFill>
                            <a:srgbClr val="1B2430"/>
                          </a:solidFill>
                          <a:latin typeface="Calibri"/>
                        </a:rPr>
                        <a:t>72 W</a:t>
                      </a:r>
                    </a:p>
                  </a:txBody>
                  <a:tcPr>
                    <a:solidFill>
                      <a:srgbClr val="F1F4F8"/>
                    </a:solidFill>
                  </a:tcPr>
                </a:tc>
                <a:tc>
                  <a:txBody>
                    <a:bodyPr/>
                    <a:lstStyle/>
                    <a:p>
                      <a:r>
                        <a:rPr sz="1400" b="0">
                          <a:solidFill>
                            <a:srgbClr val="1B2430"/>
                          </a:solidFill>
                          <a:latin typeface="Calibri"/>
                        </a:rPr>
                        <a:t>Video-analitika, tavsiya</a:t>
                      </a:r>
                    </a:p>
                  </a:txBody>
                  <a:tcPr>
                    <a:solidFill>
                      <a:srgbClr val="F1F4F8"/>
                    </a:solidFill>
                  </a:tcPr>
                </a:tc>
              </a:tr>
              <a:tr h="520000">
                <a:tc>
                  <a:txBody>
                    <a:bodyPr/>
                    <a:lstStyle/>
                    <a:p>
                      <a:r>
                        <a:rPr sz="1400" b="0">
                          <a:solidFill>
                            <a:srgbClr val="1B2430"/>
                          </a:solidFill>
                          <a:latin typeface="Calibri"/>
                        </a:rPr>
                        <a:t>O'qitish serveri</a:t>
                      </a:r>
                    </a:p>
                  </a:txBody>
                  <a:tcPr>
                    <a:solidFill>
                      <a:srgbClr val="FFFFFF"/>
                    </a:solidFill>
                  </a:tcPr>
                </a:tc>
                <a:tc>
                  <a:txBody>
                    <a:bodyPr/>
                    <a:lstStyle/>
                    <a:p>
                      <a:r>
                        <a:rPr sz="1400" b="0">
                          <a:solidFill>
                            <a:srgbClr val="1B2430"/>
                          </a:solidFill>
                          <a:latin typeface="Calibri"/>
                        </a:rPr>
                        <a:t>NVIDIA A100 80 GB</a:t>
                      </a:r>
                    </a:p>
                  </a:txBody>
                  <a:tcPr>
                    <a:solidFill>
                      <a:srgbClr val="FFFFFF"/>
                    </a:solidFill>
                  </a:tcPr>
                </a:tc>
                <a:tc>
                  <a:txBody>
                    <a:bodyPr/>
                    <a:lstStyle/>
                    <a:p>
                      <a:r>
                        <a:rPr sz="1400" b="0">
                          <a:solidFill>
                            <a:srgbClr val="1B2430"/>
                          </a:solidFill>
                          <a:latin typeface="Calibri"/>
                        </a:rPr>
                        <a:t>312 TFLOPS FP16 (zich)</a:t>
                      </a:r>
                    </a:p>
                  </a:txBody>
                  <a:tcPr>
                    <a:solidFill>
                      <a:srgbClr val="FFFFFF"/>
                    </a:solidFill>
                  </a:tcPr>
                </a:tc>
                <a:tc>
                  <a:txBody>
                    <a:bodyPr/>
                    <a:lstStyle/>
                    <a:p>
                      <a:r>
                        <a:rPr sz="1400" b="0">
                          <a:solidFill>
                            <a:srgbClr val="1B2430"/>
                          </a:solidFill>
                          <a:latin typeface="Calibri"/>
                        </a:rPr>
                        <a:t>80 GB HBM2e, ~2 TB/s</a:t>
                      </a:r>
                    </a:p>
                  </a:txBody>
                  <a:tcPr>
                    <a:solidFill>
                      <a:srgbClr val="FFFFFF"/>
                    </a:solidFill>
                  </a:tcPr>
                </a:tc>
                <a:tc>
                  <a:txBody>
                    <a:bodyPr/>
                    <a:lstStyle/>
                    <a:p>
                      <a:r>
                        <a:rPr sz="1400" b="0">
                          <a:solidFill>
                            <a:srgbClr val="1B2430"/>
                          </a:solidFill>
                          <a:latin typeface="Calibri"/>
                        </a:rPr>
                        <a:t>400 W</a:t>
                      </a:r>
                    </a:p>
                  </a:txBody>
                  <a:tcPr>
                    <a:solidFill>
                      <a:srgbClr val="FFFFFF"/>
                    </a:solidFill>
                  </a:tcPr>
                </a:tc>
                <a:tc>
                  <a:txBody>
                    <a:bodyPr/>
                    <a:lstStyle/>
                    <a:p>
                      <a:r>
                        <a:rPr sz="1400" b="0">
                          <a:solidFill>
                            <a:srgbClr val="1B2430"/>
                          </a:solidFill>
                          <a:latin typeface="Calibri"/>
                        </a:rPr>
                        <a:t>O'qitish, katta modellar</a:t>
                      </a:r>
                    </a:p>
                  </a:txBody>
                  <a:tcPr>
                    <a:solidFill>
                      <a:srgbClr val="FFFFFF"/>
                    </a:solidFill>
                  </a:tcPr>
                </a:tc>
              </a:tr>
              <a:tr h="520000">
                <a:tc>
                  <a:txBody>
                    <a:bodyPr/>
                    <a:lstStyle/>
                    <a:p>
                      <a:r>
                        <a:rPr sz="1400" b="0">
                          <a:solidFill>
                            <a:srgbClr val="1B2430"/>
                          </a:solidFill>
                          <a:latin typeface="Calibri"/>
                        </a:rPr>
                        <a:t>O'qitish serveri</a:t>
                      </a:r>
                    </a:p>
                  </a:txBody>
                  <a:tcPr>
                    <a:solidFill>
                      <a:srgbClr val="F1F4F8"/>
                    </a:solidFill>
                  </a:tcPr>
                </a:tc>
                <a:tc>
                  <a:txBody>
                    <a:bodyPr/>
                    <a:lstStyle/>
                    <a:p>
                      <a:r>
                        <a:rPr sz="1400" b="0">
                          <a:solidFill>
                            <a:srgbClr val="1B2430"/>
                          </a:solidFill>
                          <a:latin typeface="Calibri"/>
                        </a:rPr>
                        <a:t>NVIDIA H100 SXM</a:t>
                      </a:r>
                    </a:p>
                  </a:txBody>
                  <a:tcPr>
                    <a:solidFill>
                      <a:srgbClr val="F1F4F8"/>
                    </a:solidFill>
                  </a:tcPr>
                </a:tc>
                <a:tc>
                  <a:txBody>
                    <a:bodyPr/>
                    <a:lstStyle/>
                    <a:p>
                      <a:r>
                        <a:rPr sz="1400" b="0">
                          <a:solidFill>
                            <a:srgbClr val="1B2430"/>
                          </a:solidFill>
                          <a:latin typeface="Calibri"/>
                        </a:rPr>
                        <a:t>~990 TFLOPS FP16 (zich)</a:t>
                      </a:r>
                    </a:p>
                  </a:txBody>
                  <a:tcPr>
                    <a:solidFill>
                      <a:srgbClr val="F1F4F8"/>
                    </a:solidFill>
                  </a:tcPr>
                </a:tc>
                <a:tc>
                  <a:txBody>
                    <a:bodyPr/>
                    <a:lstStyle/>
                    <a:p>
                      <a:r>
                        <a:rPr sz="1400" b="0">
                          <a:solidFill>
                            <a:srgbClr val="1B2430"/>
                          </a:solidFill>
                          <a:latin typeface="Calibri"/>
                        </a:rPr>
                        <a:t>80 GB HBM3, 3,35 TB/s</a:t>
                      </a:r>
                    </a:p>
                  </a:txBody>
                  <a:tcPr>
                    <a:solidFill>
                      <a:srgbClr val="F1F4F8"/>
                    </a:solidFill>
                  </a:tcPr>
                </a:tc>
                <a:tc>
                  <a:txBody>
                    <a:bodyPr/>
                    <a:lstStyle/>
                    <a:p>
                      <a:r>
                        <a:rPr sz="1400" b="0">
                          <a:solidFill>
                            <a:srgbClr val="1B2430"/>
                          </a:solidFill>
                          <a:latin typeface="Calibri"/>
                        </a:rPr>
                        <a:t>700 W</a:t>
                      </a:r>
                    </a:p>
                  </a:txBody>
                  <a:tcPr>
                    <a:solidFill>
                      <a:srgbClr val="F1F4F8"/>
                    </a:solidFill>
                  </a:tcPr>
                </a:tc>
                <a:tc>
                  <a:txBody>
                    <a:bodyPr/>
                    <a:lstStyle/>
                    <a:p>
                      <a:r>
                        <a:rPr sz="1400" b="0">
                          <a:solidFill>
                            <a:srgbClr val="1B2430"/>
                          </a:solidFill>
                          <a:latin typeface="Calibri"/>
                        </a:rPr>
                        <a:t>LLM o'qitish va inferens</a:t>
                      </a:r>
                    </a:p>
                  </a:txBody>
                  <a:tcPr>
                    <a:solidFill>
                      <a:srgbClr val="F1F4F8"/>
                    </a:solidFill>
                  </a:tcPr>
                </a:tc>
              </a:tr>
              <a:tr h="520000">
                <a:tc>
                  <a:txBody>
                    <a:bodyPr/>
                    <a:lstStyle/>
                    <a:p>
                      <a:r>
                        <a:rPr sz="1400" b="0">
                          <a:solidFill>
                            <a:srgbClr val="1B2430"/>
                          </a:solidFill>
                          <a:latin typeface="Calibri"/>
                        </a:rPr>
                        <a:t>Bulut tezlatkichi</a:t>
                      </a:r>
                    </a:p>
                  </a:txBody>
                  <a:tcPr>
                    <a:solidFill>
                      <a:srgbClr val="FFFFFF"/>
                    </a:solidFill>
                  </a:tcPr>
                </a:tc>
                <a:tc>
                  <a:txBody>
                    <a:bodyPr/>
                    <a:lstStyle/>
                    <a:p>
                      <a:r>
                        <a:rPr sz="1400" b="0">
                          <a:solidFill>
                            <a:srgbClr val="1B2430"/>
                          </a:solidFill>
                          <a:latin typeface="Calibri"/>
                        </a:rPr>
                        <a:t>Google TPU v5e</a:t>
                      </a:r>
                    </a:p>
                  </a:txBody>
                  <a:tcPr>
                    <a:solidFill>
                      <a:srgbClr val="FFFFFF"/>
                    </a:solidFill>
                  </a:tcPr>
                </a:tc>
                <a:tc>
                  <a:txBody>
                    <a:bodyPr/>
                    <a:lstStyle/>
                    <a:p>
                      <a:r>
                        <a:rPr sz="1400" b="0">
                          <a:solidFill>
                            <a:srgbClr val="1B2430"/>
                          </a:solidFill>
                          <a:latin typeface="Calibri"/>
                        </a:rPr>
                        <a:t>197 TFLOPS BF16</a:t>
                      </a:r>
                    </a:p>
                  </a:txBody>
                  <a:tcPr>
                    <a:solidFill>
                      <a:srgbClr val="FFFFFF"/>
                    </a:solidFill>
                  </a:tcPr>
                </a:tc>
                <a:tc>
                  <a:txBody>
                    <a:bodyPr/>
                    <a:lstStyle/>
                    <a:p>
                      <a:r>
                        <a:rPr sz="1400" b="0">
                          <a:solidFill>
                            <a:srgbClr val="1B2430"/>
                          </a:solidFill>
                          <a:latin typeface="Calibri"/>
                        </a:rPr>
                        <a:t>16 GB HBM2, 819 GB/s</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Bulutda o'qitish/inferens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Bulut tezlatkichi</a:t>
                      </a:r>
                    </a:p>
                  </a:txBody>
                  <a:tcPr>
                    <a:solidFill>
                      <a:srgbClr val="F1F4F8"/>
                    </a:solidFill>
                  </a:tcPr>
                </a:tc>
                <a:tc>
                  <a:txBody>
                    <a:bodyPr/>
                    <a:lstStyle/>
                    <a:p>
                      <a:r>
                        <a:rPr sz="1400" b="0">
                          <a:solidFill>
                            <a:srgbClr val="1B2430"/>
                          </a:solidFill>
                          <a:latin typeface="Calibri"/>
                        </a:rPr>
                        <a:t>Intel Gaudi 3</a:t>
                      </a:r>
                    </a:p>
                  </a:txBody>
                  <a:tcPr>
                    <a:solidFill>
                      <a:srgbClr val="F1F4F8"/>
                    </a:solidFill>
                  </a:tcPr>
                </a:tc>
                <a:tc>
                  <a:txBody>
                    <a:bodyPr/>
                    <a:lstStyle/>
                    <a:p>
                      <a:r>
                        <a:rPr sz="1400" b="0">
                          <a:solidFill>
                            <a:srgbClr val="1B2430"/>
                          </a:solidFill>
                          <a:latin typeface="Calibri"/>
                        </a:rPr>
                        <a:t>~1,8 PFLOPS FP8</a:t>
                      </a:r>
                    </a:p>
                  </a:txBody>
                  <a:tcPr>
                    <a:solidFill>
                      <a:srgbClr val="F1F4F8"/>
                    </a:solidFill>
                  </a:tcPr>
                </a:tc>
                <a:tc>
                  <a:txBody>
                    <a:bodyPr/>
                    <a:lstStyle/>
                    <a:p>
                      <a:r>
                        <a:rPr sz="1400" b="0">
                          <a:solidFill>
                            <a:srgbClr val="1B2430"/>
                          </a:solidFill>
                          <a:latin typeface="Calibri"/>
                        </a:rPr>
                        <a:t>128 GB HBM2e, 3,7 TB/s</a:t>
                      </a:r>
                    </a:p>
                  </a:txBody>
                  <a:tcPr>
                    <a:solidFill>
                      <a:srgbClr val="F1F4F8"/>
                    </a:solidFill>
                  </a:tcPr>
                </a:tc>
                <a:tc>
                  <a:txBody>
                    <a:bodyPr/>
                    <a:lstStyle/>
                    <a:p>
                      <a:r>
                        <a:rPr sz="1400" b="0">
                          <a:solidFill>
                            <a:srgbClr val="1B2430"/>
                          </a:solidFill>
                          <a:latin typeface="Calibri"/>
                        </a:rPr>
                        <a:t>~900 W</a:t>
                      </a:r>
                    </a:p>
                  </a:txBody>
                  <a:tcPr>
                    <a:solidFill>
                      <a:srgbClr val="F1F4F8"/>
                    </a:solidFill>
                  </a:tcPr>
                </a:tc>
                <a:tc>
                  <a:txBody>
                    <a:bodyPr/>
                    <a:lstStyle/>
                    <a:p>
                      <a:r>
                        <a:rPr sz="1400" b="0">
                          <a:solidFill>
                            <a:srgbClr val="1B2430"/>
                          </a:solidFill>
                          <a:latin typeface="Calibri"/>
                        </a:rPr>
                        <a:t>LLM o'qitish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3e63c437ae669bb.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Oleg Yunakov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AI-enabled computer systems arxitekturasi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AI-enabled kompyuter tizimi — bu funksionalligining muhim qismi o'qitilgan model orqali amalga oshiriladigan tizim.</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Ma'lumot qabul qilish qatlami (ingestion) — sensorlar, kameralar, jurnallar, foydalanuvchi so'rovlari. Bu yerda protokollar (RTSP, MQTT, HTTP/gRPC), kodeklar (H.264/H.265) va buferlash hal…</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Oldindan ishlov berish qatlami (preprocessing) — dekodlash, o'lchamini o'zgartirish, normallashtirish, tokenlashtirish. Ko'pincha e'tibordan chetda qoladi, lekin video tizimlarida dekodlash…</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Inferens qatlami — modelning o'zi va uni bajaruvchi ish vaqti muhiti (PyTorch, ONNX Runtime, TensorRT, OpenVINO). Bu qatlam tezlatkich bilan bevosita ishlaydi.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Orkestratsiya va biznes mantiq qatlami — natijalarni birlashtirish, qoidalar, kuzatish (tracking), hodisalarni yaratish, saqlash, boshqa tizimlarga uzatish.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Kuzatuv va boshqaruv qatlami (observability) — metrikalar (kechikish, o'tkazuvchanlik, GPU bandligi), jurnallar, model sifati monitoringi, versiya boshqaruvi.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Qatlamlar orasidagi interfeyslar aniq belgilanishi kerak, chunki ular apparat chegaralari bilan mos tushadi: masalan, 1-2-qatlamlar CPU va video dekoder (NVDEC) da, 3-qatlam GPU da,…</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Arxitekturaning yana bir o'lchovi — inferens rejimi.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Ko'rsatkichlarni rasmiylashtiraylik. Agar tizim N ta kameradan har biri f kadr/soniya tezlikda ma'lumot olsa va model bitta kadr uchun C FLOP talab qilsa, zarur hisoblash quvvati P = N × f…</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ba312c577b79652.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Ashley Pomeroy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Apparat va dasturiy ta'minotni birgalikda loyihalash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Hardware–software co-design — tizimning apparat va dasturiy qismlarini alohida emas, balki bir vaqtning o'zida, bir-biriga moslashtirib loyihalash metodologiyasi.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Co-design jarayonini to'rt o'lchovli izlanish fazosi sifatida tasavvur qilish mumkin:</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Co-design amaliy jihatdan iterativ jarayon.</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Co-design kontekstida ikki klassik qonun doimo yodda bo'lishi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O'lchov</a:t>
                      </a:r>
                    </a:p>
                  </a:txBody>
                  <a:tcPr>
                    <a:solidFill>
                      <a:srgbClr val="2D5C8F"/>
                    </a:solidFill>
                  </a:tcPr>
                </a:tc>
                <a:tc>
                  <a:txBody>
                    <a:bodyPr/>
                    <a:lstStyle/>
                    <a:p>
                      <a:r>
                        <a:rPr sz="1200" b="1">
                          <a:solidFill>
                            <a:srgbClr val="FFFFFF"/>
                          </a:solidFill>
                          <a:latin typeface="Calibri"/>
                        </a:rPr>
                        <a:t>Dasturiy tomondagi tanlovlar</a:t>
                      </a:r>
                    </a:p>
                  </a:txBody>
                  <a:tcPr>
                    <a:solidFill>
                      <a:srgbClr val="2D5C8F"/>
                    </a:solidFill>
                  </a:tcPr>
                </a:tc>
                <a:tc>
                  <a:txBody>
                    <a:bodyPr/>
                    <a:lstStyle/>
                    <a:p>
                      <a:r>
                        <a:rPr sz="1200" b="1">
                          <a:solidFill>
                            <a:srgbClr val="FFFFFF"/>
                          </a:solidFill>
                          <a:latin typeface="Calibri"/>
                        </a:rPr>
                        <a:t>Apparat tomondagi tanlovlar</a:t>
                      </a:r>
                    </a:p>
                  </a:txBody>
                  <a:tcPr>
                    <a:solidFill>
                      <a:srgbClr val="2D5C8F"/>
                    </a:solidFill>
                  </a:tcPr>
                </a:tc>
                <a:tc>
                  <a:txBody>
                    <a:bodyPr/>
                    <a:lstStyle/>
                    <a:p>
                      <a:r>
                        <a:rPr sz="1200" b="1">
                          <a:solidFill>
                            <a:srgbClr val="FFFFFF"/>
                          </a:solidFill>
                          <a:latin typeface="Calibri"/>
                        </a:rPr>
                        <a:t>O'zaro ta'sir</a:t>
                      </a:r>
                    </a:p>
                  </a:txBody>
                  <a:tcPr>
                    <a:solidFill>
                      <a:srgbClr val="2D5C8F"/>
                    </a:solidFill>
                  </a:tcPr>
                </a:tc>
              </a:tr>
              <a:tr h="520000">
                <a:tc>
                  <a:txBody>
                    <a:bodyPr/>
                    <a:lstStyle/>
                    <a:p>
                      <a:r>
                        <a:rPr sz="1200" b="0">
                          <a:solidFill>
                            <a:srgbClr val="1B2430"/>
                          </a:solidFill>
                          <a:latin typeface="Calibri"/>
                        </a:rPr>
                        <a:t>Hisoblash</a:t>
                      </a:r>
                    </a:p>
                  </a:txBody>
                  <a:tcPr>
                    <a:solidFill>
                      <a:srgbClr val="F1F4F8"/>
                    </a:solidFill>
                  </a:tcPr>
                </a:tc>
                <a:tc>
                  <a:txBody>
                    <a:bodyPr/>
                    <a:lstStyle/>
                    <a:p>
                      <a:r>
                        <a:rPr sz="1200" b="0">
                          <a:solidFill>
                            <a:srgbClr val="1B2430"/>
                          </a:solidFill>
                          <a:latin typeface="Calibri"/>
                        </a:rPr>
                        <a:t>Model hajmi, arxitektura, FLOP</a:t>
                      </a:r>
                    </a:p>
                  </a:txBody>
                  <a:tcPr>
                    <a:solidFill>
                      <a:srgbClr val="F1F4F8"/>
                    </a:solidFill>
                  </a:tcPr>
                </a:tc>
                <a:tc>
                  <a:txBody>
                    <a:bodyPr/>
                    <a:lstStyle/>
                    <a:p>
                      <a:r>
                        <a:rPr sz="1200" b="0">
                          <a:solidFill>
                            <a:srgbClr val="1B2430"/>
                          </a:solidFill>
                          <a:latin typeface="Calibri"/>
                        </a:rPr>
                        <a:t>TFLOPS, yadrolar soni, chastota</a:t>
                      </a:r>
                    </a:p>
                  </a:txBody>
                  <a:tcPr>
                    <a:solidFill>
                      <a:srgbClr val="F1F4F8"/>
                    </a:solidFill>
                  </a:tcPr>
                </a:tc>
                <a:tc>
                  <a:txBody>
                    <a:bodyPr/>
                    <a:lstStyle/>
                    <a:p>
                      <a:r>
                        <a:rPr sz="1200" b="0">
                          <a:solidFill>
                            <a:srgbClr val="1B2430"/>
                          </a:solidFill>
                          <a:latin typeface="Calibri"/>
                        </a:rPr>
                        <a:t>Model murakkabligi ↔ tezlatkich sinfi</a:t>
                      </a:r>
                    </a:p>
                  </a:txBody>
                  <a:tcPr>
                    <a:solidFill>
                      <a:srgbClr val="F1F4F8"/>
                    </a:solidFill>
                  </a:tcPr>
                </a:tc>
              </a:tr>
              <a:tr h="520000">
                <a:tc>
                  <a:txBody>
                    <a:bodyPr/>
                    <a:lstStyle/>
                    <a:p>
                      <a:r>
                        <a:rPr sz="1200" b="0">
                          <a:solidFill>
                            <a:srgbClr val="1B2430"/>
                          </a:solidFill>
                          <a:latin typeface="Calibri"/>
                        </a:rPr>
                        <a:t>Aniqlik</a:t>
                      </a:r>
                    </a:p>
                  </a:txBody>
                  <a:tcPr>
                    <a:solidFill>
                      <a:srgbClr val="FFFFFF"/>
                    </a:solidFill>
                  </a:tcPr>
                </a:tc>
                <a:tc>
                  <a:txBody>
                    <a:bodyPr/>
                    <a:lstStyle/>
                    <a:p>
                      <a:r>
                        <a:rPr sz="1200" b="0">
                          <a:solidFill>
                            <a:srgbClr val="1B2430"/>
                          </a:solidFill>
                          <a:latin typeface="Calibri"/>
                        </a:rPr>
                        <a:t>FP32 / FP16 / INT8 / FP8 kvantlash</a:t>
                      </a:r>
                    </a:p>
                  </a:txBody>
                  <a:tcPr>
                    <a:solidFill>
                      <a:srgbClr val="FFFFFF"/>
                    </a:solidFill>
                  </a:tcPr>
                </a:tc>
                <a:tc>
                  <a:txBody>
                    <a:bodyPr/>
                    <a:lstStyle/>
                    <a:p>
                      <a:r>
                        <a:rPr sz="1200" b="0">
                          <a:solidFill>
                            <a:srgbClr val="1B2430"/>
                          </a:solidFill>
                          <a:latin typeface="Calibri"/>
                        </a:rPr>
                        <a:t>Tensor Core, INT8 bloklar, NPU</a:t>
                      </a:r>
                    </a:p>
                  </a:txBody>
                  <a:tcPr>
                    <a:solidFill>
                      <a:srgbClr val="FFFFFF"/>
                    </a:solidFill>
                  </a:tcPr>
                </a:tc>
                <a:tc>
                  <a:txBody>
                    <a:bodyPr/>
                    <a:lstStyle/>
                    <a:p>
                      <a:r>
                        <a:rPr sz="1200" b="0">
                          <a:solidFill>
                            <a:srgbClr val="1B2430"/>
                          </a:solidFill>
                          <a:latin typeface="Calibri"/>
                        </a:rPr>
                        <a:t>Kvantlash apparatda qo'llab-quvvatlansa 2–4× tezlashuv</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Paket hajmi, aktivatsiyalar, KV-kesh</a:t>
                      </a:r>
                    </a:p>
                  </a:txBody>
                  <a:tcPr>
                    <a:solidFill>
                      <a:srgbClr val="F1F4F8"/>
                    </a:solidFill>
                  </a:tcPr>
                </a:tc>
                <a:tc>
                  <a:txBody>
                    <a:bodyPr/>
                    <a:lstStyle/>
                    <a:p>
                      <a:r>
                        <a:rPr sz="1200" b="0">
                          <a:solidFill>
                            <a:srgbClr val="1B2430"/>
                          </a:solidFill>
                          <a:latin typeface="Calibri"/>
                        </a:rPr>
                        <a:t>Xotira hajmi, o'tkazuvchanlik, iyerarxiya</a:t>
                      </a:r>
                    </a:p>
                  </a:txBody>
                  <a:tcPr>
                    <a:solidFill>
                      <a:srgbClr val="F1F4F8"/>
                    </a:solidFill>
                  </a:tcPr>
                </a:tc>
                <a:tc>
                  <a:txBody>
                    <a:bodyPr/>
                    <a:lstStyle/>
                    <a:p>
                      <a:r>
                        <a:rPr sz="1200" b="0">
                          <a:solidFill>
                            <a:srgbClr val="1B2430"/>
                          </a:solidFill>
                          <a:latin typeface="Calibri"/>
                        </a:rPr>
                        <a:t>Model sig'maydimi → bo'lish yoki siqish</a:t>
                      </a:r>
                    </a:p>
                  </a:txBody>
                  <a:tcPr>
                    <a:solidFill>
                      <a:srgbClr val="F1F4F8"/>
                    </a:solidFill>
                  </a:tcPr>
                </a:tc>
              </a:tr>
              <a:tr h="520000">
                <a:tc>
                  <a:txBody>
                    <a:bodyPr/>
                    <a:lstStyle/>
                    <a:p>
                      <a:r>
                        <a:rPr sz="1200" b="0">
                          <a:solidFill>
                            <a:srgbClr val="1B2430"/>
                          </a:solidFill>
                          <a:latin typeface="Calibri"/>
                        </a:rPr>
                        <a:t>Ma'lumot harakati</a:t>
                      </a:r>
                    </a:p>
                  </a:txBody>
                  <a:tcPr>
                    <a:solidFill>
                      <a:srgbClr val="FFFFFF"/>
                    </a:solidFill>
                  </a:tcPr>
                </a:tc>
                <a:tc>
                  <a:txBody>
                    <a:bodyPr/>
                    <a:lstStyle/>
                    <a:p>
                      <a:r>
                        <a:rPr sz="1200" b="0">
                          <a:solidFill>
                            <a:srgbClr val="1B2430"/>
                          </a:solidFill>
                          <a:latin typeface="Calibri"/>
                        </a:rPr>
                        <a:t>Quvur tuzilishi, nusxalash, nol-nusxa</a:t>
                      </a:r>
                    </a:p>
                  </a:txBody>
                  <a:tcPr>
                    <a:solidFill>
                      <a:srgbClr val="FFFFFF"/>
                    </a:solidFill>
                  </a:tcPr>
                </a:tc>
                <a:tc>
                  <a:txBody>
                    <a:bodyPr/>
                    <a:lstStyle/>
                    <a:p>
                      <a:r>
                        <a:rPr sz="1200" b="0">
                          <a:solidFill>
                            <a:srgbClr val="1B2430"/>
                          </a:solidFill>
                          <a:latin typeface="Calibri"/>
                        </a:rPr>
                        <a:t>PCIe, NVLink, birlashgan xotira</a:t>
                      </a:r>
                    </a:p>
                  </a:txBody>
                  <a:tcPr>
                    <a:solidFill>
                      <a:srgbClr val="FFFFFF"/>
                    </a:solidFill>
                  </a:tcPr>
                </a:tc>
                <a:tc>
                  <a:txBody>
                    <a:bodyPr/>
                    <a:lstStyle/>
                    <a:p>
                      <a:r>
                        <a:rPr sz="1200" b="0">
                          <a:solidFill>
                            <a:srgbClr val="1B2430"/>
                          </a:solidFill>
                          <a:latin typeface="Calibri"/>
                        </a:rPr>
                        <a:t>Nusxalash kechikishi ↔ shina kengligi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5c255ff50de1ec6.jpg"/>
          <p:cNvPicPr>
            <a:picLocks noChangeAspect="1"/>
          </p:cNvPicPr>
          <p:nvPr/>
        </p:nvPicPr>
        <p:blipFill>
          <a:blip r:embed="rId2"/>
          <a:srcRect l="19672" r="1967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Bennett Brown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Loyihalash tamoyillari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Loyihalash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Yuqoridagi tushunchalar asosida SI tizimini loyihalashning amaliy tamoyillarini shakllantirish mumkin. Talabdan boshlash: kechikish byudjeti (masalan, kadrdan hodisagacha 200 ms), aniqlik chegarasi (mAP yoki F1), yuk (kameralar soni, so'rov/soniya), energiya…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
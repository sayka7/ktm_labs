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injiniringi (AI engineering) — SI komponentlarini o'z ichiga olgan tizimlarni ishonchli, takrorlanuvchi va masshtablanuvchi tarzda loyihalash, qurish, joylashtirish va ekspluatatsiya qilish fanidir. Microsoft tadqiqotchilari Amershi va hammualliflar 2019-yilgi ICSE konferensiyasidagi «Software Engineering for Machine Learning: A Case Study» maqolasida va keyinchalik [3] kitobida mashinali o'qitish ish jarayonining to'qqiz bosqichini ajratishgan: model talablarini aniqlash, ma'lumot yig'ish, ma'lumotni tozalash, ma'lumotni belgilash (labeling), xususiyatlarni ishlab chiqish, modelni o'qitish, modelni baholash, modelni joylashtirish va modelni monitoring qilish. Bu jarayon chiziqli emas — baholash natijasi yomon bo'lsa, ma'lumot yig'ishga qaytiladi; monitoring siljishni (drift) ko'rsatsa, qayta o'qitish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Amershi va hammualliflar SI tizimlarining an'anaviy dasturiy ta'minotdan uchta tub farqini ko'rsatadilar. 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 Uchinchidan, modul chegaralari buziladi: ikki model bir-biriga bog'liq bo'lib, birining o'zgarishi ikkinchisining xatti-harakatini o'zgartiradi (CACE tamoyili — «Changing Anything Changes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Kneusel [2] amaliy nuqtai nazardan SI injiniringini «modelni ishlaydigan mahsulotga aylantirish san'ati» deb ta'riflaydi va muhandis javob berishi kerak bo'lgan savollarni sanaydi: inferens qayerda bajariladi (bulut, server, qurilma)? Qanday kechikish qabul qilinadi? Xato narxi qancha? Model qanchalik tez eskiradi? Ushbu savollarning har biri bevosita kompyuter tizimi arxitekturasiga ta'sir qiladi. Masalan, 20 millisekund kechikish talabi va tarmoq orqali bulutga murojaat qilishning 50–100 millisekundlik tabiiy kechikishi bir-biriga zid — demak inferens qurilmaning o'zida bajarilishi shart.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injiniringining yana bir muhim jihati — hayot sikli tushunchasi. 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 Netflix misolida tavsiya modeli offline rejimda (kecha-kunduz paketli hisoblash) o'qitiladi, lekin foydalanuvchi sahifani ochganda natija bir necha o'n millisekund ichida qaytishi kerak — bu ikki rejim butunlay boshqa apparat talablarini qo'yadi.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tizimi an'anaviy dasturdan ishlash tamoyili bilan farq qiladi: an'anaviy dasturda muhandis qoidalarni o'zi yozadi, SI tizimida esa qoidalar ma'lumotdan o'rganiladi. Shu sababli SI asosidagi kompyuter tizimini loyihalovchi muhandis ikki guruh tamoyillarni bilishi kerak — modelning qanday «fikrlashini» belgilaydigan texnik tamoyillar va tizimning jamiyat uchun xavfsiz hamda ishonchli bo'lishini ta'minlaydigan ishonchli SI (trustworthy AI) tamoyillari. Birinchi guruh apparat va dasturiy ta'minotga qo'yiladigan talablarni, ikkinchi guruh esa tizimning qonuniy va axloqiy chegaralarini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Sun'iy intellekt tizimi an'anaviy dasturdan ishlash tamoyili bilan farq qiladi: an'anaviy dasturda muhandis qoidalarni o'zi yozadi, SI tizimida esa qoidalar ma'lumotdan o'rganiladi. Shu sababli SI asosidagi kompyuter tizimini loyihalovchi muhandis ikki guruh tamoyillarni bilishi kerak — modelning qanday «fikrlashini» belgilaydigan texnik tamoyillar va tizimning jamiyat uchun xavfsiz hamda ishonchli bo'lishini ta'minlaydigan ishonchli SI (trustworthy AI) tamoyillari. Birinchi guruh apparat va dasturiy ta'minotga qo'yiladigan talablarni, ikkinchi guruh esa tizimning qonuniy va axloqiy chegaralarini belgilaydi.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Ma'lumotdan o'rganish — model xatti-harakati dasturchi yozgan qoidalardan emas, o'quv ma'lumotlaridagi qonuniyatlardan kelib chiqadi. Demak ma'lumotning hajmi, sifati va vakilligi (representativeness) tizim sifatini koddan kam bo'lmagan darajada belgilaydi: noto'g'ri belgilangan 5 % misol ham aniqlikni sezilarli tushiradi, shuning uchun ma'lumot ham kod kabi versiyalanadi va tekshiriladi.</a:t>
            </a:r>
          </a:p>
          <a:p/>
          <a:p>
            <a:r>
              <a:t>Umumlashtirish — model faqat ko'rgan misollarini yodlab olmasligi, balki yangi, ilgari ko'rilmagan ma'lumotda ham to'g'ri ishlashi kerak. Buning uchun ma'lumot o'quv, validatsiya va test to'plamlariga ajratiladi; o'quv to'plamida yuqori, testda past natija — qayta moslashish (overfitting) belgisi. Real ekspluatatsiyada kirish ma'lumoti o'zgarib boradi (data drift), shuning uchun umumlashtirish doimiy monitoring bilan nazorat qilinadi.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Optimallashtirish orqali o'qitish — o'qitish bu yo'qotish funksiyasini (loss function) minimallashtirish masalasi: gradient tushish usuli millionlab parametrlarni qadam-baqadam sozlaydi. Aynan shu jarayon katta hajmdagi matritsa ko'paytirishlarini talab qiladi va GPU, TPU kabi tezlatkichlarga ehtiyojni keltirib chiqaradi; o'qitish bir marta katta resurs talab qilsa, inferens har bir so'rovda kichik, lekin doimiy resurs sarflaydi.</a:t>
            </a:r>
          </a:p>
          <a:p/>
          <a:p>
            <a:r>
              <a:t>Ehtimoliy natija — model qat'iy «ha/yo'q» emas, balki ishonch darajasi (confidence) bilan javob qaytaradi. Tizim arxitekturasida ishonch chegarasi (threshold) qayerda turishi, past ishonchli holatlarda nima qilinishi (inson tekshiruviga yuborish, qayta so'rash) oldindan loyihalanadi; xato narxi qanchalik yuqori bo'lsa, chegara shunchalik ehtiyotkor tanlanadi.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Iterativ hayot sikli — SI tizimi bir marta yaratilib tugallanmaydi: ma'lumot yig'ish → o'qitish → baholash → joylashtirish → monitoring → qayta o'qitish halqasi doimiy aylanadi. Bu tamoyil MLOps amaliyotining asosi bo'lib, infratuzilmada model versiyalari, tajribalar jurnali va avtomatik qayta joylashtirish imkoniyatini talab qiladi.</a:t>
            </a:r>
          </a:p>
          <a:p/>
          <a:p>
            <a:r>
              <a:t>Ishonchli SI tamoyillari. Iqtisodiy hamkorlik va taraqqiyot tashkiloti (OECD) 2019-yilda qabul qilgan va 2024-yilda yangilagan SI tamoyillari, UNESCO ning 2021-yilgi «Sun'iy intellekt etikasi bo'yicha tavsiyanoma»si hamda Yevropa Ittifoqining 2024-yilda kuchga kirgan SI to'g'risidagi qonuni (EU AI Act) quyidagi umumiy talablarni ilgari suradi: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Insonga yo'naltirilganlik va inson nazorati — muhim qarorlarda (tibbiy tashxis, kredit, ishga qabul) yakuniy so'z inson qolishi kerak; tizim inson qarorini qo'llab-quvvatlaydi, uni ko'r-ko'rona almashtirmaydi. Muhandislik nuqtai nazaridan bu operator interfeysi, natijani bekor qilish imkoniyati va eskalatsiya mexanizmini loyihalashni anglatadi.</a:t>
            </a:r>
          </a:p>
          <a:p/>
          <a:p>
            <a:r>
              <a:t>Shaffoflik va tushuntiriluvchanlik — foydalanuvchi SI bilan ishlayotganini bilishi, tizim esa nima uchun aynan shu natijani berganini tushuntira olishi kerak. Amalda bu model kartasi (model card), qaror sabablarini ko'rsatuvchi usullar (masalan, Grad-CAM issiqlik xaritasi yoki SHAP qiymatlari) va har bir natijani jurnalga yozish orqali ta'minlanadi.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 va kamsitmaslik — model jinsi, millati, yoshi yoki hududiga qarab guruhlarga nisbatan tizimli xato qilmasligi kerak. Buning uchun aniqlik umumiy emas, har bir guruh bo'yicha alohida o'lchanadi va o'quv ma'lumotidagi muvozanatsizlik tuzatiladi.</a:t>
            </a:r>
          </a:p>
          <a:p/>
          <a:p>
            <a:r>
              <a:t>Ishonchlilik, xavfsizlik va mustahkamlik — tizim shovqinli yoki g'ayrioddiy kirishda, apparat nosozligida va qasddan qilingan hujumlarda (adversarial misollar, ma'lumotni zaharlash) ham bashorat qilinadigan tarzda ishlashi kerak. Kompyuter tizimi darajasida bu zaxira (redundancy), degradatsiya rejimlari va kiberxavfsizlik choralari orqali erishiladi.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Maxfiylik va ma'lumotlarni himoya qilish — shaxsiy ma'lumotlar qonunga muvofiq, minimal hajmda va himoyalangan holda qayta ishlanadi. Inferensni chekka qurilmada bajarish (video bulutga yuborilmaydi), shifrlash va anonimlashtirish — bu tamoyilning arxitekturaviy yechimlari.</a:t>
            </a:r>
          </a:p>
          <a:p/>
          <a:p>
            <a:r>
              <a:t>Hisobdorlik — tizim natijasi uchun aniq javobgar shaxs yoki tashkilot bo'lishi, har bir qarorni keyinchalik tekshirish (audit) mumkin bo'lishi kerak. Buning uchun model versiyasi, kirish ma'lumoti va natija o'zgartirib bo'lmaydigan jurnalda saqlanadi.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 AI Act tizimlarni xavf darajasiga ko'ra to'rt toifaga ajratadi: taqiqlangan (masalan, ijtimoiy reyting), yuqori xavfli (tibbiyot, ta'lim, transport, kritik infratuzilma), cheklangan xavfli (chat-botlar — foydalanuvchini ogohlantirish shart) va minimal xavfli. Yuqori xavfli toifadagi tizim uchun texnik hujjatlar, ma'lumot sifati nazorati, jurnal yuritish va inson nazorati majburiy — bularning har biri kompyuter tizimi arxitekturasida alohida komponent sifatida loyihalanadi. O'zbekistonda ham sun'iy intellekt texnologiyalarini joriy etish davlat siyosati darajasida qo'llab-quvvatlanadi (Prezidentning 2021-yil 17-fevraldagi PQ-4996-son qarori), shuning uchun mahalliy loyihalarda ham ushbu tamoyillarga amal qilish xalqaro hamkorlik va sertifikatlash uchun zarur.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Platforma tanlashda hisoblash quvvatining birligiga e'tibor berish zarur. 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 Shuning uchun turli ishlab chiqaruvchilarni taqqoslaganda bir xil aniqlik va bir xil siyraklik rejimidagi raqamlarni olish shart.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Hisoblash platformasi deganda biz SI yukini bajaruvchi apparat va uning ustidagi tizimli dasturiy ta'minot (drayver, kutubxona, ish vaqti muhiti) majmuasini tushunamiz. 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a:p/>
          <a:p>
            <a:r>
              <a:t>Jadvaldan uch muhim xulosa kelib chiqadi. 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 Uchinchidan, energiya ustuni platforma sinfini aniq belgilaydi: batareyada ishlaydigan qurilma uchun 5 vatt ham ko'p, ma'lumotlar markazida esa 700 vattli chip me'yor.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AI-enabled kompyuter tizimi — bu funksionalligining muhim qismi o'qitilgan model orqali amalga oshiriladigan tizim. Uning arxitekturasini besh qatlamli model sifatida tasavvur qilish qulay:</a:t>
            </a:r>
          </a:p>
          <a:p/>
          <a:p>
            <a:r>
              <a:t>Ma'lumot qabul qilish qatlami (ingestion) — sensorlar, kameralar, jurnallar, foydalanuvchi so'rovlari. Bu yerda protokollar (RTSP, MQTT, HTTP/gRPC), kodeklar (H.264/H.265) va buferlash hal qilinadi.</a:t>
            </a:r>
          </a:p>
          <a:p/>
          <a:p>
            <a:r>
              <a:t>Oldindan ishlov berish qatlami (preprocessing) — dekodlash, o'lchamini o'zgartirish, normallashtirish, tokenlashtirish. Ko'pincha e'tibordan chetda qoladi, lekin video tizimlarida dekodlash inferensdan ko'ra ko'proq resurs talab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Inferens qatlami — modelning o'zi va uni bajaruvchi ish vaqti muhiti (PyTorch, ONNX Runtime, TensorRT, OpenVINO). Bu qatlam tezlatkich bilan bevosita ishlaydi.</a:t>
            </a:r>
          </a:p>
          <a:p/>
          <a:p>
            <a:r>
              <a:t>Orkestratsiya va biznes mantiq qatlami — natijalarni birlashtirish, qoidalar, kuzatish (tracking), hodisalarni yaratish, saqlash, boshqa tizimlarga uzatish.</a:t>
            </a:r>
          </a:p>
          <a:p/>
          <a:p>
            <a:r>
              <a:t>Kuzatuv va boshqaruv qatlami (observability) — metrikalar (kechikish, o'tkazuvchanlik, GPU bandligi), jurnallar, model sifati monitoringi, versiya boshqaruvi.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Qatlamlar orasidagi interfeyslar aniq belgilanishi kerak, chunki ular apparat chegaralari bilan mos tushadi: masalan, 1-2-qatlamlar CPU va video dekoder (NVDEC) da, 3-qatlam GPU da, 4-5-qatlamlar CPU da ishlashi mumkin. Ma'lumotning bu chegaralardan o'tishi — xost va qurilma xotirasi o'rtasida nusxalash — ko'pincha asosiy to'siq (bottleneck) bo'ladi. Shu sababli zamonaviy arxitekturalarda «nol nusxalash» (zero-copy) yondashuvi — dekodlangan kadrni GPU xotirasida qoldirib, to'g'ridan-to'g'ri inferensga uzatish — keng qo'llaniladi.</a:t>
            </a:r>
          </a:p>
          <a:p/>
          <a:p>
            <a:r>
              <a:t>Arxitekturaning yana bir o'lchovi — inferens rejimi. Onlayn (real vaqt) rejimda har bir so'rov alohida va kechikish muhim; paketli (batch) rejimda so'rovlar to'planib, o'tkazuvchanlik muhim; oqimli (streaming) rejimda uzluksiz ma'lumot oqimi qayta ishlanadi. Har rejim uchun maqbul apparat va dasturiy yechim boshqa: onlayn rejimda kichik paket (batch size 1–4) va past kechikishli tezlatkich; paketli rejimda katta paket (64–256) va yuqori o'tkazuvchanlik; oqimli rejimda esa dekodlash–inferens–kuzatish quvuri (pipeline) ning muvozanati hal qiluvchi.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Ko'rsatkichlarni rasmiylashtiraylik. 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 Bu raqam Jetson Orin Nano (taxminan 20 TFLOPS FP16 zich hisobda) uchun ko'p, lekin Jetson AGX Orin yoki bitta L4 uchun yetarli. Ana shu oddiy hisob platforma tanlashning birinchi qadamidir.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Hardware–software co-design — tizimning apparat va dasturiy qismlarini alohida emas, balki bir vaqtning o'zida, bir-biriga moslashtirib loyihalash metodologiyasi. An'anaviy yondashuvda apparat avval tanlanadi (yoki mavjud bo'ladi), so'ng dastur unga moslashtiriladi. SI tizimlarida bu yondashuv ikki sababga ko'ra ishlamaydi: birinchidan, model arxitekturasi (qatlamlar soni, kanallar, aniqlik) o'zi loyihalash parametri bo'lib, uni apparatga qarab o'zgartirish mumkin; ikkinchidan, tezlatkichlar shunchalik ixtisoslashganki, ularga mos kelmaydigan model (masalan, Tensor Core uchun 8 ga karrali bo'lmagan kanal soni) unumdorlikni bir necha barobar yo'qotadi.</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kontekstida ikki klassik qonun doimo yodda bo'lishi kerak. 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 Roofline modeli esa yukning arifmetik intensivligi (FLOP / bayt) asosida u hisoblash yoki xotira bilan cheklanganini ko'rsatadi; bu model M10 da batafsil ko'riladi, lekin co-design ning har bir qadamida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Co-design jarayonini to'rt o'lchovli izlanish fazosi sifatida tasavvur qilish mumkin:</a:t>
            </a:r>
          </a:p>
          <a:p/>
          <a:p>
            <a:r>
              <a:t>Co-design amaliy jihatdan iterativ jarayon. 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 Sze va hammualliflar [4] bu jarayonni «algoritm–apparat birgalikdagi loyihalash» deb atab, neyron tarmoqning energiya sarfi asosan hisoblashda emas, xotiraga murojaatda ekanini ko'rsatadilar: 45 nm texnologiyada DRAM dan 32 bit o'qish taxminan 640 pJ energiya talab qiladi, 32 bitli ko'paytirish esa atigi 3,7 pJ — ya'ni ma'lumotni joyida saqlab, qayta ishlatish (data reuse) har qanday hisoblash optimizatsiyasidan muhimroq.</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 SI tamoyillari, platformalar, qatlamli arxitektura va co-design — asosida SI tizimini loyihalashning amaliy tamoyillarini shakllantirish mumkin. Ular har qanday loyihada, kichik chekka qurilmadan tortib ma'lumotlar markazigacha, bir xil tartibda qo'llaniladi va loyiha hujjatida alohida bo'lim sifatida yoziladi.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tushunchalar — SI tamoyillari, platformalar, qatlamli arxitektura va co-design — asosida SI tizimini loyihalashning amaliy tamoyillarini shakllantirish mumkin. Ular har qanday loyihada, kichik chekka qurilmadan tortib ma'lumotlar markazigacha, bir xil tartibda qo'llaniladi va loyiha hujjatida alohida bo'lim sifatida yoziladi.</a:t>
            </a:r>
          </a:p>
          <a:p/>
          <a:p>
            <a:r>
              <a:t>Talabdan boshlash — kechikish byudjeti (masalan, kadrdan hodisagacha 200 ms), aniqlik chegarasi (mAP yoki F1), yuk (kameralar soni, so'rov/soniya), energiya va narx cheklovlari raqam bilan yoziladi; raqamsiz talab — talab emas. Masalan, «tizim tez ishlasin» degan talabni sinab bo'lmaydi, «95 % so'rovlar 150 ms dan tez» degan talabni esa o'lchab tekshirish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 oqimini chizish — har bir komponent orqali o'tadigan baytlar soni hisoblanadi. 1080p kadr RGB ko'rinishda 6,2 MB, 25 kadr/s da bitta kamera 155 MB/s, 16 kamera 2,5 GB/s — bu PCIe 3.0 x16 ning (taxminan 16 GB/s) sezilarli qismi. Bunday hisob apparat tanlashdan oldin qilinadi, chunki shina yoki tarmoq yetishmasa eng kuchli GPU ham bo'sh turadi.</a:t>
            </a:r>
          </a:p>
          <a:p/>
          <a:p>
            <a:r>
              <a:t>Eng tor joyni topish — Amdal qonuniga ko'ra faqat tor joyni optimallashtirish umumiy tezlikni oshiradi. Avval profillash (har qatlam vaqtini o'lchash), keyin optimallashtirish: agar dekodlash 40 ms, inferens 10 ms olsa, modelni ikki baravar tezlashtirish umumiy natijani atigi 10 % ga yaxshilaydi.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Modullilik va standart interfeyslar — model almashtirilsa (YOLOv8 → YOLO11) yoki tezlatkich o'zgarsa (GPU → NPU), qolgan tizim o'zgarmasligi kerak. Buning uchun ONNX kabi standart model formati, aniq API (REST/gRPC) va konteynerlash qo'llaniladi; bu tizimni yetkazib beruvchiga bog'lanib qolishdan saqlaydi.</a:t>
            </a:r>
          </a:p>
          <a:p/>
          <a:p>
            <a:r>
              <a:t>Kuzatuvchanlik dastlabdan — kechikish, o'tkazuvchanlik, tezlatkich bandligi va model sifati metrikalari keyin qo'shiladigan narsa emas; ularsiz co-design iteratsiyasini bajarib bo'lmaydi. Har bir so'rov uchun vaqt belgilari va model versiyasi jurnalga yoziladi, metrikalar esa monitoring paneliga (masalan, Prometheus + Grafana) chiqariladi.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Degradatsiyaga tayyorlik — tezlatkich ishdan chiqsa yoki yuk oshsa tizim butunlay to'xtamasdan ishlashda davom etishi kerak. Kadr tashlash (frame skipping), kichikroq modelga o'tish, navbatni cheklash va zaxira tugun — bu «yumshoq degradatsiya» usullari; foydalanuvchi uchun sekinroq ishlaydigan tizim butunlay ishlamaydigan tizimdan yaxshiroq.</a:t>
            </a:r>
          </a:p>
          <a:p/>
          <a:p>
            <a:r>
              <a:t>Masshtablanuvchanlik — yuk o'sganda (kameralar 16 dan 64 ga ko'paysa) arxitektura qayta yozilmasdan, tugun yoki tezlatkich qo'shish orqali kengayishi kerak. Holatsiz (stateless) inferens xizmatlari, navbat (message queue) va yuk taqsimlagich bunga imkon beradi.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Xavfsizlik va maxfiylik loyiha ichida (security &amp; privacy by design) — ishonchli SI tamoyillari arxitekturaga dastlabki bosqichda kiritiladi: ma'lumot qayerda qayta ishlanishi, kim natijani ko'ra olishi, model va ma'lumot qanday himoyalanishi loyiha hujjatida aniq yoziladi. Keyinroq qo'shilgan himoya har doim qimmatroq va zaifroq bo'ladi.</a:t>
            </a:r>
          </a:p>
          <a:p/>
          <a:p>
            <a:r>
              <a:t>Energiya va narx samaradorligi — tizim bahosi faqat sotib olish narxi emas, balki uch–besh yillik ekspluatatsiya xarajati (elektr, sovutish, xizmat ko'rsatish) bilan baholanadi. Bitta vatt uchun unumdorlik (TOPS/W) va bitta so'rov narxi asosiy taqqoslash ko'rsatkichlari hisoblanadi.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900000"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900000" y="2433333"/>
            <a:ext cx="1633333"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166666" y="1466666"/>
            <a:ext cx="1633334"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166666" y="1466666"/>
            <a:ext cx="1633334"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166666" y="2433333"/>
            <a:ext cx="1633334"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166666" y="340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0166666" y="3400000"/>
            <a:ext cx="1633334"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166666" y="43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550c89097acb827b.jpg"/>
          <p:cNvPicPr>
            <a:picLocks noChangeAspect="1"/>
          </p:cNvPicPr>
          <p:nvPr/>
        </p:nvPicPr>
        <p:blipFill>
          <a:blip r:embed="rId2"/>
          <a:srcRect l="16719" r="16719"/>
          <a:stretch>
            <a:fillRect/>
          </a:stretch>
        </p:blipFill>
        <p:spPr>
          <a:xfrm>
            <a:off x="7850000" y="1500000"/>
            <a:ext cx="3300000" cy="3300000"/>
          </a:xfrm>
          <a:prstGeom prst="ellipse">
            <a:avLst/>
          </a:prstGeom>
          <a:ln w="19050">
            <a:solidFill>
              <a:srgbClr val="22D3EE"/>
            </a:solidFill>
          </a:ln>
        </p:spPr>
      </p:pic>
      <p:sp>
        <p:nvSpPr>
          <p:cNvPr id="71" name="TextBox 70"/>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Joël van der Loo · Wikimedia Commons · CC BY-SA 4.0</a:t>
            </a:r>
          </a:p>
        </p:txBody>
      </p:sp>
      <p:sp>
        <p:nvSpPr>
          <p:cNvPr id="72" name="Rounded Rectangle 71"/>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M1 · 2 soat</a:t>
            </a:r>
          </a:p>
        </p:txBody>
      </p:sp>
      <p:sp>
        <p:nvSpPr>
          <p:cNvPr id="73" name="TextBox 72"/>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74" name="TextBox 73"/>
          <p:cNvSpPr txBox="1"/>
          <p:nvPr/>
        </p:nvSpPr>
        <p:spPr>
          <a:xfrm>
            <a:off x="700000" y="1850000"/>
            <a:ext cx="6400000" cy="2700000"/>
          </a:xfrm>
          <a:prstGeom prst="rect">
            <a:avLst/>
          </a:prstGeom>
          <a:noFill/>
        </p:spPr>
        <p:txBody>
          <a:bodyPr wrap="square" anchor="t" lIns="50800" rIns="50800">
            <a:spAutoFit/>
          </a:bodyPr>
          <a:lstStyle/>
          <a:p>
            <a:pPr algn="l"/>
            <a:r>
              <a:rPr sz="2800" b="1">
                <a:solidFill>
                  <a:srgbClr val="E8EEFA"/>
                </a:solidFill>
                <a:latin typeface="Segoe UI"/>
              </a:rPr>
              <a:t>Sun'iy intellektga asoslangan kompyuter tizimlari injiniringi: arxitektura va loyihalash tamoyillari</a:t>
            </a:r>
          </a:p>
        </p:txBody>
      </p:sp>
      <p:sp>
        <p:nvSpPr>
          <p:cNvPr id="75" name="Rectangle 74"/>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200"/>
                            </p:stCondLst>
                            <p:childTnLst>
                              <p:par>
                                <p:cTn id="264" presetID="53" presetClass="entr" presetSubtype="16" fill="hold" grpId="0" nodeType="afterEffect">
                                  <p:stCondLst>
                                    <p:cond delay="0"/>
                                  </p:stCondLst>
                                  <p:childTnLst>
                                    <p:set>
                                      <p:cBhvr>
                                        <p:cTn id="265" dur="1" fill="hold">
                                          <p:stCondLst>
                                            <p:cond delay="0"/>
                                          </p:stCondLst>
                                        </p:cTn>
                                        <p:tgtEl>
                                          <p:spTgt spid="69"/>
                                        </p:tgtEl>
                                        <p:attrNameLst>
                                          <p:attrName>style.visibility</p:attrName>
                                        </p:attrNameLst>
                                      </p:cBhvr>
                                      <p:to>
                                        <p:strVal val="visible"/>
                                      </p:to>
                                    </p:set>
                                    <p:animEffect transition="in" filter="fade">
                                      <p:cBhvr>
                                        <p:cTn id="266" dur="550"/>
                                        <p:tgtEl>
                                          <p:spTgt spid="69"/>
                                        </p:tgtEl>
                                      </p:cBhvr>
                                    </p:animEffect>
                                    <p:anim calcmode="lin" valueType="num">
                                      <p:cBhvr additive="base">
                                        <p:cTn id="267" dur="550" fill="hold"/>
                                        <p:tgtEl>
                                          <p:spTgt spid="69"/>
                                        </p:tgtEl>
                                        <p:attrNameLst>
                                          <p:attrName>ppt_w</p:attrName>
                                        </p:attrNameLst>
                                      </p:cBhvr>
                                      <p:tavLst>
                                        <p:tav tm="0">
                                          <p:val>
                                            <p:strVal val="0"/>
                                          </p:val>
                                        </p:tav>
                                        <p:tav tm="100000">
                                          <p:val>
                                            <p:strVal val="#ppt_w"/>
                                          </p:val>
                                        </p:tav>
                                      </p:tavLst>
                                    </p:anim>
                                    <p:anim calcmode="lin" valueType="num">
                                      <p:cBhvr additive="base">
                                        <p:cTn id="268" dur="550" fill="hold"/>
                                        <p:tgtEl>
                                          <p:spTgt spid="69"/>
                                        </p:tgtEl>
                                        <p:attrNameLst>
                                          <p:attrName>ppt_h</p:attrName>
                                        </p:attrNameLst>
                                      </p:cBhvr>
                                      <p:tavLst>
                                        <p:tav tm="0">
                                          <p:val>
                                            <p:strVal val="0"/>
                                          </p:val>
                                        </p:tav>
                                        <p:tav tm="100000">
                                          <p:val>
                                            <p:strVal val="#ppt_h"/>
                                          </p:val>
                                        </p:tav>
                                      </p:tavLst>
                                    </p:anim>
                                  </p:childTnLst>
                                </p:cTn>
                              </p:par>
                            </p:childTnLst>
                          </p:cTn>
                        </p:par>
                        <p:par>
                          <p:cTn id="269" fill="hold">
                            <p:stCondLst>
                              <p:cond delay="200"/>
                            </p:stCondLst>
                            <p:childTnLst>
                              <p:par>
                                <p:cTn id="270" presetID="53" presetClass="entr" presetSubtype="16" fill="hold" grpId="0" nodeType="afterEffect">
                                  <p:stCondLst>
                                    <p:cond delay="0"/>
                                  </p:stCondLst>
                                  <p:childTnLst>
                                    <p:set>
                                      <p:cBhvr>
                                        <p:cTn id="271" dur="1" fill="hold">
                                          <p:stCondLst>
                                            <p:cond delay="0"/>
                                          </p:stCondLst>
                                        </p:cTn>
                                        <p:tgtEl>
                                          <p:spTgt spid="68"/>
                                        </p:tgtEl>
                                        <p:attrNameLst>
                                          <p:attrName>style.visibility</p:attrName>
                                        </p:attrNameLst>
                                      </p:cBhvr>
                                      <p:to>
                                        <p:strVal val="visible"/>
                                      </p:to>
                                    </p:set>
                                    <p:animEffect transition="in" filter="fade">
                                      <p:cBhvr>
                                        <p:cTn id="272" dur="550"/>
                                        <p:tgtEl>
                                          <p:spTgt spid="68"/>
                                        </p:tgtEl>
                                      </p:cBhvr>
                                    </p:animEffect>
                                    <p:anim calcmode="lin" valueType="num">
                                      <p:cBhvr additive="base">
                                        <p:cTn id="273" dur="550" fill="hold"/>
                                        <p:tgtEl>
                                          <p:spTgt spid="68"/>
                                        </p:tgtEl>
                                        <p:attrNameLst>
                                          <p:attrName>ppt_w</p:attrName>
                                        </p:attrNameLst>
                                      </p:cBhvr>
                                      <p:tavLst>
                                        <p:tav tm="0">
                                          <p:val>
                                            <p:strVal val="0"/>
                                          </p:val>
                                        </p:tav>
                                        <p:tav tm="100000">
                                          <p:val>
                                            <p:strVal val="#ppt_w"/>
                                          </p:val>
                                        </p:tav>
                                      </p:tavLst>
                                    </p:anim>
                                    <p:anim calcmode="lin" valueType="num">
                                      <p:cBhvr additive="base">
                                        <p:cTn id="274" dur="550" fill="hold"/>
                                        <p:tgtEl>
                                          <p:spTgt spid="68"/>
                                        </p:tgtEl>
                                        <p:attrNameLst>
                                          <p:attrName>ppt_h</p:attrName>
                                        </p:attrNameLst>
                                      </p:cBhvr>
                                      <p:tavLst>
                                        <p:tav tm="0">
                                          <p:val>
                                            <p:strVal val="0"/>
                                          </p:val>
                                        </p:tav>
                                        <p:tav tm="100000">
                                          <p:val>
                                            <p:strVal val="#ppt_h"/>
                                          </p:val>
                                        </p:tav>
                                      </p:tavLst>
                                    </p:anim>
                                  </p:childTnLst>
                                </p:cTn>
                              </p:par>
                            </p:childTnLst>
                          </p:cTn>
                        </p:par>
                        <p:par>
                          <p:cTn id="275" fill="hold">
                            <p:stCondLst>
                              <p:cond delay="200"/>
                            </p:stCondLst>
                            <p:childTnLst>
                              <p:par>
                                <p:cTn id="276" presetID="53" presetClass="entr" presetSubtype="16" fill="hold" grpId="0" nodeType="afterEffect">
                                  <p:stCondLst>
                                    <p:cond delay="0"/>
                                  </p:stCondLst>
                                  <p:childTnLst>
                                    <p:set>
                                      <p:cBhvr>
                                        <p:cTn id="277" dur="1" fill="hold">
                                          <p:stCondLst>
                                            <p:cond delay="0"/>
                                          </p:stCondLst>
                                        </p:cTn>
                                        <p:tgtEl>
                                          <p:spTgt spid="70"/>
                                        </p:tgtEl>
                                        <p:attrNameLst>
                                          <p:attrName>style.visibility</p:attrName>
                                        </p:attrNameLst>
                                      </p:cBhvr>
                                      <p:to>
                                        <p:strVal val="visible"/>
                                      </p:to>
                                    </p:set>
                                    <p:animEffect transition="in" filter="fade">
                                      <p:cBhvr>
                                        <p:cTn id="278" dur="550"/>
                                        <p:tgtEl>
                                          <p:spTgt spid="70"/>
                                        </p:tgtEl>
                                      </p:cBhvr>
                                    </p:animEffect>
                                    <p:anim calcmode="lin" valueType="num">
                                      <p:cBhvr additive="base">
                                        <p:cTn id="279" dur="550" fill="hold"/>
                                        <p:tgtEl>
                                          <p:spTgt spid="70"/>
                                        </p:tgtEl>
                                        <p:attrNameLst>
                                          <p:attrName>ppt_w</p:attrName>
                                        </p:attrNameLst>
                                      </p:cBhvr>
                                      <p:tavLst>
                                        <p:tav tm="0">
                                          <p:val>
                                            <p:strVal val="0"/>
                                          </p:val>
                                        </p:tav>
                                        <p:tav tm="100000">
                                          <p:val>
                                            <p:strVal val="#ppt_w"/>
                                          </p:val>
                                        </p:tav>
                                      </p:tavLst>
                                    </p:anim>
                                    <p:anim calcmode="lin" valueType="num">
                                      <p:cBhvr additive="base">
                                        <p:cTn id="280" dur="550" fill="hold"/>
                                        <p:tgtEl>
                                          <p:spTgt spid="70"/>
                                        </p:tgtEl>
                                        <p:attrNameLst>
                                          <p:attrName>ppt_h</p:attrName>
                                        </p:attrNameLst>
                                      </p:cBhvr>
                                      <p:tavLst>
                                        <p:tav tm="0">
                                          <p:val>
                                            <p:strVal val="0"/>
                                          </p:val>
                                        </p:tav>
                                        <p:tav tm="100000">
                                          <p:val>
                                            <p:strVal val="#ppt_h"/>
                                          </p:val>
                                        </p:tav>
                                      </p:tavLst>
                                    </p:anim>
                                  </p:childTnLst>
                                </p:cTn>
                              </p:par>
                            </p:childTnLst>
                          </p:cTn>
                        </p:par>
                        <p:par>
                          <p:cTn id="281" fill="hold">
                            <p:stCondLst>
                              <p:cond delay="200"/>
                            </p:stCondLst>
                            <p:childTnLst>
                              <p:par>
                                <p:cTn id="282" presetID="10" presetClass="entr" presetSubtype="0" fill="hold" grpId="0" nodeType="afterEffect">
                                  <p:stCondLst>
                                    <p:cond delay="0"/>
                                  </p:stCondLst>
                                  <p:childTnLst>
                                    <p:set>
                                      <p:cBhvr>
                                        <p:cTn id="283" dur="1" fill="hold">
                                          <p:stCondLst>
                                            <p:cond delay="0"/>
                                          </p:stCondLst>
                                        </p:cTn>
                                        <p:tgtEl>
                                          <p:spTgt spid="71"/>
                                        </p:tgtEl>
                                        <p:attrNameLst>
                                          <p:attrName>style.visibility</p:attrName>
                                        </p:attrNameLst>
                                      </p:cBhvr>
                                      <p:to>
                                        <p:strVal val="visible"/>
                                      </p:to>
                                    </p:set>
                                    <p:animEffect transition="in" filter="fade">
                                      <p:cBhvr>
                                        <p:cTn id="284" dur="550"/>
                                        <p:tgtEl>
                                          <p:spTgt spid="71"/>
                                        </p:tgtEl>
                                      </p:cBhvr>
                                    </p:animEffect>
                                  </p:childTnLst>
                                </p:cTn>
                              </p:par>
                            </p:childTnLst>
                          </p:cTn>
                        </p:par>
                        <p:par>
                          <p:cTn id="285" fill="hold">
                            <p:stCondLst>
                              <p:cond delay="350"/>
                            </p:stCondLst>
                            <p:childTnLst>
                              <p:par>
                                <p:cTn id="286" presetID="10" presetClass="entr" presetSubtype="0" fill="hold" grpId="0" nodeType="afterEffect">
                                  <p:stCondLst>
                                    <p:cond delay="0"/>
                                  </p:stCondLst>
                                  <p:childTnLst>
                                    <p:set>
                                      <p:cBhvr>
                                        <p:cTn id="287" dur="1" fill="hold">
                                          <p:stCondLst>
                                            <p:cond delay="0"/>
                                          </p:stCondLst>
                                        </p:cTn>
                                        <p:tgtEl>
                                          <p:spTgt spid="73"/>
                                        </p:tgtEl>
                                        <p:attrNameLst>
                                          <p:attrName>style.visibility</p:attrName>
                                        </p:attrNameLst>
                                      </p:cBhvr>
                                      <p:to>
                                        <p:strVal val="visible"/>
                                      </p:to>
                                    </p:set>
                                    <p:animEffect transition="in" filter="fade">
                                      <p:cBhvr>
                                        <p:cTn id="288" dur="550"/>
                                        <p:tgtEl>
                                          <p:spTgt spid="73"/>
                                        </p:tgtEl>
                                      </p:cBhvr>
                                    </p:animEffect>
                                  </p:childTnLst>
                                </p:cTn>
                              </p:par>
                            </p:childTnLst>
                          </p:cTn>
                        </p:par>
                        <p:par>
                          <p:cTn id="289" fill="hold">
                            <p:stCondLst>
                              <p:cond delay="500"/>
                            </p:stCondLst>
                            <p:childTnLst>
                              <p:par>
                                <p:cTn id="290" presetID="2" presetClass="entr" presetSubtype="8" fill="hold" grpId="0" nodeType="afterEffect">
                                  <p:stCondLst>
                                    <p:cond delay="0"/>
                                  </p:stCondLst>
                                  <p:childTnLst>
                                    <p:set>
                                      <p:cBhvr>
                                        <p:cTn id="291" dur="1" fill="hold">
                                          <p:stCondLst>
                                            <p:cond delay="0"/>
                                          </p:stCondLst>
                                        </p:cTn>
                                        <p:tgtEl>
                                          <p:spTgt spid="72"/>
                                        </p:tgtEl>
                                        <p:attrNameLst>
                                          <p:attrName>style.visibility</p:attrName>
                                        </p:attrNameLst>
                                      </p:cBhvr>
                                      <p:to>
                                        <p:strVal val="visible"/>
                                      </p:to>
                                    </p:set>
                                    <p:anim calcmode="lin" valueType="num">
                                      <p:cBhvr additive="base">
                                        <p:cTn id="293" dur="550" fill="hold"/>
                                        <p:tgtEl>
                                          <p:spTgt spid="72"/>
                                        </p:tgtEl>
                                        <p:attrNameLst>
                                          <p:attrName>ppt_x</p:attrName>
                                        </p:attrNameLst>
                                      </p:cBhvr>
                                      <p:tavLst>
                                        <p:tav tm="0">
                                          <p:val>
                                            <p:strVal val="0-#ppt_w/2"/>
                                          </p:val>
                                        </p:tav>
                                        <p:tav tm="100000">
                                          <p:val>
                                            <p:strVal val="#ppt_x"/>
                                          </p:val>
                                        </p:tav>
                                      </p:tavLst>
                                    </p:anim>
                                    <p:anim calcmode="lin" valueType="num">
                                      <p:cBhvr additive="base">
                                        <p:cTn id="294" dur="550" fill="hold"/>
                                        <p:tgtEl>
                                          <p:spTgt spid="72"/>
                                        </p:tgtEl>
                                        <p:attrNameLst>
                                          <p:attrName>ppt_y</p:attrName>
                                        </p:attrNameLst>
                                      </p:cBhvr>
                                      <p:tavLst>
                                        <p:tav tm="0">
                                          <p:val>
                                            <p:strVal val="#ppt_y"/>
                                          </p:val>
                                        </p:tav>
                                        <p:tav tm="100000">
                                          <p:val>
                                            <p:strVal val="#ppt_y"/>
                                          </p:val>
                                        </p:tav>
                                      </p:tavLst>
                                    </p:anim>
                                  </p:childTnLst>
                                </p:cTn>
                              </p:par>
                            </p:childTnLst>
                          </p:cTn>
                        </p:par>
                        <p:par>
                          <p:cTn id="295" fill="hold">
                            <p:stCondLst>
                              <p:cond delay="650"/>
                            </p:stCondLst>
                            <p:childTnLst>
                              <p:par>
                                <p:cTn id="296" presetID="42" presetClass="entr" presetSubtype="0" fill="hold" grpId="0" nodeType="afterEffect">
                                  <p:stCondLst>
                                    <p:cond delay="0"/>
                                  </p:stCondLst>
                                  <p:childTnLst>
                                    <p:set>
                                      <p:cBhvr>
                                        <p:cTn id="297" dur="1" fill="hold">
                                          <p:stCondLst>
                                            <p:cond delay="0"/>
                                          </p:stCondLst>
                                        </p:cTn>
                                        <p:tgtEl>
                                          <p:spTgt spid="74"/>
                                        </p:tgtEl>
                                        <p:attrNameLst>
                                          <p:attrName>style.visibility</p:attrName>
                                        </p:attrNameLst>
                                      </p:cBhvr>
                                      <p:to>
                                        <p:strVal val="visible"/>
                                      </p:to>
                                    </p:set>
                                    <p:animEffect transition="in" filter="fade">
                                      <p:cBhvr>
                                        <p:cTn id="298" dur="550"/>
                                        <p:tgtEl>
                                          <p:spTgt spid="74"/>
                                        </p:tgtEl>
                                      </p:cBhvr>
                                    </p:animEffect>
                                    <p:anim calcmode="lin" valueType="num">
                                      <p:cBhvr additive="base">
                                        <p:cTn id="299" dur="550" fill="hold"/>
                                        <p:tgtEl>
                                          <p:spTgt spid="74"/>
                                        </p:tgtEl>
                                        <p:attrNameLst>
                                          <p:attrName>ppt_x</p:attrName>
                                        </p:attrNameLst>
                                      </p:cBhvr>
                                      <p:tavLst>
                                        <p:tav tm="0">
                                          <p:val>
                                            <p:strVal val="#ppt_x"/>
                                          </p:val>
                                        </p:tav>
                                        <p:tav tm="100000">
                                          <p:val>
                                            <p:strVal val="#ppt_x"/>
                                          </p:val>
                                        </p:tav>
                                      </p:tavLst>
                                    </p:anim>
                                    <p:anim calcmode="lin" valueType="num">
                                      <p:cBhvr additive="base">
                                        <p:cTn id="300" dur="550" fill="hold"/>
                                        <p:tgtEl>
                                          <p:spTgt spid="74"/>
                                        </p:tgtEl>
                                        <p:attrNameLst>
                                          <p:attrName>ppt_y</p:attrName>
                                        </p:attrNameLst>
                                      </p:cBhvr>
                                      <p:tavLst>
                                        <p:tav tm="0">
                                          <p:val>
                                            <p:strVal val="#ppt_y+.08"/>
                                          </p:val>
                                        </p:tav>
                                        <p:tav tm="100000">
                                          <p:val>
                                            <p:strVal val="#ppt_y"/>
                                          </p:val>
                                        </p:tav>
                                      </p:tavLst>
                                    </p:anim>
                                  </p:childTnLst>
                                </p:cTn>
                              </p:par>
                            </p:childTnLst>
                          </p:cTn>
                        </p:par>
                        <p:par>
                          <p:cTn id="301" fill="hold">
                            <p:stCondLst>
                              <p:cond delay="800"/>
                            </p:stCondLst>
                            <p:childTnLst>
                              <p:par>
                                <p:cTn id="302" presetID="22" presetClass="entr" presetSubtype="8" fill="hold" grpId="0" nodeType="afterEffect">
                                  <p:stCondLst>
                                    <p:cond delay="0"/>
                                  </p:stCondLst>
                                  <p:childTnLst>
                                    <p:set>
                                      <p:cBhvr>
                                        <p:cTn id="303" dur="1" fill="hold">
                                          <p:stCondLst>
                                            <p:cond delay="0"/>
                                          </p:stCondLst>
                                        </p:cTn>
                                        <p:tgtEl>
                                          <p:spTgt spid="75"/>
                                        </p:tgtEl>
                                        <p:attrNameLst>
                                          <p:attrName>style.visibility</p:attrName>
                                        </p:attrNameLst>
                                      </p:cBhvr>
                                      <p:to>
                                        <p:strVal val="visible"/>
                                      </p:to>
                                    </p:set>
                                    <p:animEffect transition="in" filter="wipe(left)">
                                      <p:cBhvr>
                                        <p:cTn id="305" dur="800"/>
                                        <p:tgtEl>
                                          <p:spTgt spid="75"/>
                                        </p:tgtEl>
                                      </p:cBhvr>
                                    </p:animEffect>
                                  </p:childTnLst>
                                </p:cTn>
                              </p:par>
                            </p:childTnLst>
                          </p:cTn>
                        </p:par>
                        <p:par>
                          <p:cTn id="306" fill="hold">
                            <p:stCondLst>
                              <p:cond delay="950"/>
                            </p:stCondLst>
                            <p:childTnLst>
                              <p:par>
                                <p:cTn id="307" presetID="10" presetClass="entr" presetSubtype="0" fill="hold" grpId="0" nodeType="afterEffect">
                                  <p:stCondLst>
                                    <p:cond delay="0"/>
                                  </p:stCondLst>
                                  <p:childTnLst>
                                    <p:set>
                                      <p:cBhvr>
                                        <p:cTn id="308" dur="1" fill="hold">
                                          <p:stCondLst>
                                            <p:cond delay="0"/>
                                          </p:stCondLst>
                                        </p:cTn>
                                        <p:tgtEl>
                                          <p:spTgt spid="76"/>
                                        </p:tgtEl>
                                        <p:attrNameLst>
                                          <p:attrName>style.visibility</p:attrName>
                                        </p:attrNameLst>
                                      </p:cBhvr>
                                      <p:to>
                                        <p:strVal val="visible"/>
                                      </p:to>
                                    </p:set>
                                    <p:animEffect transition="in" filter="fade">
                                      <p:cBhvr>
                                        <p:cTn id="309" dur="55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9" grpId="0" animBg="1"/>
      <p:bldP spid="68" grpId="0" animBg="1"/>
      <p:bldP spid="71" grpId="0" animBg="1"/>
      <p:bldP spid="73" grpId="0" animBg="1"/>
      <p:bldP spid="72" grpId="0" animBg="1"/>
      <p:bldP spid="74" grpId="0" animBg="1"/>
      <p:bldP spid="75" grpId="0" animBg="1"/>
      <p:bldP spid="76"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2" name="Rounded Rectangle 21"/>
          <p:cNvSpPr/>
          <p:nvPr/>
        </p:nvSpPr>
        <p:spPr>
          <a:xfrm>
            <a:off x="550000" y="195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035000"/>
            <a:ext cx="50000" cy="360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0000" y="2035000"/>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5" name="TextBox 24"/>
          <p:cNvSpPr txBox="1"/>
          <p:nvPr/>
        </p:nvSpPr>
        <p:spPr>
          <a:xfrm>
            <a:off x="1300000" y="1995000"/>
            <a:ext cx="10250000" cy="440000"/>
          </a:xfrm>
          <a:prstGeom prst="rect">
            <a:avLst/>
          </a:prstGeom>
          <a:noFill/>
        </p:spPr>
        <p:txBody>
          <a:bodyPr wrap="square" anchor="ctr">
            <a:spAutoFit/>
          </a:bodyPr>
          <a:lstStyle/>
          <a:p>
            <a:r>
              <a:rPr sz="1600" b="0">
                <a:solidFill>
                  <a:srgbClr val="E8EEFA"/>
                </a:solidFill>
                <a:latin typeface="Segoe UI"/>
              </a:rPr>
              <a:t>Sun'iy intellekt injiniringi konsepsiyasi</a:t>
            </a:r>
          </a:p>
        </p:txBody>
      </p:sp>
      <p:sp>
        <p:nvSpPr>
          <p:cNvPr id="26" name="Rounded Rectangle 25"/>
          <p:cNvSpPr/>
          <p:nvPr/>
        </p:nvSpPr>
        <p:spPr>
          <a:xfrm>
            <a:off x="550000" y="258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65000"/>
            <a:ext cx="50000" cy="36000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665000"/>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9" name="TextBox 28"/>
          <p:cNvSpPr txBox="1"/>
          <p:nvPr/>
        </p:nvSpPr>
        <p:spPr>
          <a:xfrm>
            <a:off x="1300000" y="2625000"/>
            <a:ext cx="10250000" cy="440000"/>
          </a:xfrm>
          <a:prstGeom prst="rect">
            <a:avLst/>
          </a:prstGeom>
          <a:noFill/>
        </p:spPr>
        <p:txBody>
          <a:bodyPr wrap="square" anchor="ctr">
            <a:spAutoFit/>
          </a:bodyPr>
          <a:lstStyle/>
          <a:p>
            <a:r>
              <a:rPr sz="1600" b="0">
                <a:solidFill>
                  <a:srgbClr val="E8EEFA"/>
                </a:solidFill>
                <a:latin typeface="Segoe UI"/>
              </a:rPr>
              <a:t>Sun'iy intellekt tizimlarining asosiy tamoyillari</a:t>
            </a:r>
          </a:p>
        </p:txBody>
      </p:sp>
      <p:sp>
        <p:nvSpPr>
          <p:cNvPr id="30" name="Rounded Rectangle 29"/>
          <p:cNvSpPr/>
          <p:nvPr/>
        </p:nvSpPr>
        <p:spPr>
          <a:xfrm>
            <a:off x="550000" y="321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295000"/>
            <a:ext cx="50000" cy="36000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295000"/>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3" name="TextBox 32"/>
          <p:cNvSpPr txBox="1"/>
          <p:nvPr/>
        </p:nvSpPr>
        <p:spPr>
          <a:xfrm>
            <a:off x="1300000" y="3255000"/>
            <a:ext cx="10250000" cy="440000"/>
          </a:xfrm>
          <a:prstGeom prst="rect">
            <a:avLst/>
          </a:prstGeom>
          <a:noFill/>
        </p:spPr>
        <p:txBody>
          <a:bodyPr wrap="square" anchor="ctr">
            <a:spAutoFit/>
          </a:bodyPr>
          <a:lstStyle/>
          <a:p>
            <a:r>
              <a:rPr sz="1600" b="0">
                <a:solidFill>
                  <a:srgbClr val="E8EEFA"/>
                </a:solidFill>
                <a:latin typeface="Segoe UI"/>
              </a:rPr>
              <a:t>Sun'iy intellektga asoslangan hisoblash platformalari</a:t>
            </a:r>
          </a:p>
        </p:txBody>
      </p:sp>
      <p:sp>
        <p:nvSpPr>
          <p:cNvPr id="34" name="Rounded Rectangle 33"/>
          <p:cNvSpPr/>
          <p:nvPr/>
        </p:nvSpPr>
        <p:spPr>
          <a:xfrm>
            <a:off x="550000" y="384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360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3925000"/>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7" name="TextBox 36"/>
          <p:cNvSpPr txBox="1"/>
          <p:nvPr/>
        </p:nvSpPr>
        <p:spPr>
          <a:xfrm>
            <a:off x="1300000" y="3885000"/>
            <a:ext cx="10250000" cy="440000"/>
          </a:xfrm>
          <a:prstGeom prst="rect">
            <a:avLst/>
          </a:prstGeom>
          <a:noFill/>
        </p:spPr>
        <p:txBody>
          <a:bodyPr wrap="square" anchor="ctr">
            <a:spAutoFit/>
          </a:bodyPr>
          <a:lstStyle/>
          <a:p>
            <a:r>
              <a:rPr sz="1600" b="0">
                <a:solidFill>
                  <a:srgbClr val="E8EEFA"/>
                </a:solidFill>
                <a:latin typeface="Segoe UI"/>
              </a:rPr>
              <a:t>AI-enabled computer systems arxitekturasi</a:t>
            </a:r>
          </a:p>
        </p:txBody>
      </p:sp>
      <p:sp>
        <p:nvSpPr>
          <p:cNvPr id="38" name="Rounded Rectangle 37"/>
          <p:cNvSpPr/>
          <p:nvPr/>
        </p:nvSpPr>
        <p:spPr>
          <a:xfrm>
            <a:off x="550000" y="447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4555000"/>
            <a:ext cx="50000" cy="360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4555000"/>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1" name="TextBox 40"/>
          <p:cNvSpPr txBox="1"/>
          <p:nvPr/>
        </p:nvSpPr>
        <p:spPr>
          <a:xfrm>
            <a:off x="1300000" y="4515000"/>
            <a:ext cx="10250000" cy="440000"/>
          </a:xfrm>
          <a:prstGeom prst="rect">
            <a:avLst/>
          </a:prstGeom>
          <a:noFill/>
        </p:spPr>
        <p:txBody>
          <a:bodyPr wrap="square" anchor="ctr">
            <a:spAutoFit/>
          </a:bodyPr>
          <a:lstStyle/>
          <a:p>
            <a:r>
              <a:rPr sz="1600" b="0">
                <a:solidFill>
                  <a:srgbClr val="E8EEFA"/>
                </a:solidFill>
                <a:latin typeface="Segoe UI"/>
              </a:rPr>
              <a:t>Apparat va dasturiy ta'minotni birgalikda loyihalash</a:t>
            </a:r>
          </a:p>
        </p:txBody>
      </p:sp>
      <p:sp>
        <p:nvSpPr>
          <p:cNvPr id="42" name="Rounded Rectangle 41"/>
          <p:cNvSpPr/>
          <p:nvPr/>
        </p:nvSpPr>
        <p:spPr>
          <a:xfrm>
            <a:off x="550000" y="5105000"/>
            <a:ext cx="11100000" cy="52000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185000"/>
            <a:ext cx="50000" cy="36000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5185000"/>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5" name="TextBox 44"/>
          <p:cNvSpPr txBox="1"/>
          <p:nvPr/>
        </p:nvSpPr>
        <p:spPr>
          <a:xfrm>
            <a:off x="1300000" y="5145000"/>
            <a:ext cx="10250000" cy="440000"/>
          </a:xfrm>
          <a:prstGeom prst="rect">
            <a:avLst/>
          </a:prstGeom>
          <a:noFill/>
        </p:spPr>
        <p:txBody>
          <a:bodyPr wrap="square" anchor="ctr">
            <a:spAutoFit/>
          </a:bodyPr>
          <a:lstStyle/>
          <a:p>
            <a:r>
              <a:rPr sz="1600" b="0">
                <a:solidFill>
                  <a:srgbClr val="E8EEFA"/>
                </a:solidFill>
                <a:latin typeface="Segoe UI"/>
              </a:rPr>
              <a:t>Loyihalash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ppt_x</p:attrName>
                                        </p:attrNameLst>
                                      </p:cBhvr>
                                      <p:tavLst>
                                        <p:tav tm="0">
                                          <p:val>
                                            <p:strVal val="#ppt_x"/>
                                          </p:val>
                                        </p:tav>
                                        <p:tav tm="100000">
                                          <p:val>
                                            <p:strVal val="#ppt_x"/>
                                          </p:val>
                                        </p:tav>
                                      </p:tavLst>
                                    </p:anim>
                                    <p:anim calcmode="lin" valueType="num">
                                      <p:cBhvr additive="base">
                                        <p:cTn id="17" dur="550" fill="hold"/>
                                        <p:tgtEl>
                                          <p:spTgt spid="22"/>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ppt_x</p:attrName>
                                        </p:attrNameLst>
                                      </p:cBhvr>
                                      <p:tavLst>
                                        <p:tav tm="0">
                                          <p:val>
                                            <p:strVal val="#ppt_x"/>
                                          </p:val>
                                        </p:tav>
                                        <p:tav tm="100000">
                                          <p:val>
                                            <p:strVal val="#ppt_x"/>
                                          </p:val>
                                        </p:tav>
                                      </p:tavLst>
                                    </p:anim>
                                    <p:anim calcmode="lin" valueType="num">
                                      <p:cBhvr additive="base">
                                        <p:cTn id="23" dur="550" fill="hold"/>
                                        <p:tgtEl>
                                          <p:spTgt spid="23"/>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50"/>
                                        <p:tgtEl>
                                          <p:spTgt spid="24"/>
                                        </p:tgtEl>
                                      </p:cBhvr>
                                    </p:animEffect>
                                    <p:anim calcmode="lin" valueType="num">
                                      <p:cBhvr additive="base">
                                        <p:cTn id="28" dur="550" fill="hold"/>
                                        <p:tgtEl>
                                          <p:spTgt spid="24"/>
                                        </p:tgtEl>
                                        <p:attrNameLst>
                                          <p:attrName>ppt_w</p:attrName>
                                        </p:attrNameLst>
                                      </p:cBhvr>
                                      <p:tavLst>
                                        <p:tav tm="0">
                                          <p:val>
                                            <p:strVal val="0"/>
                                          </p:val>
                                        </p:tav>
                                        <p:tav tm="100000">
                                          <p:val>
                                            <p:strVal val="#ppt_w"/>
                                          </p:val>
                                        </p:tav>
                                      </p:tavLst>
                                    </p:anim>
                                    <p:anim calcmode="lin" valueType="num">
                                      <p:cBhvr additive="base">
                                        <p:cTn id="29" dur="550" fill="hold"/>
                                        <p:tgtEl>
                                          <p:spTgt spid="24"/>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5"/>
                                        </p:tgtEl>
                                        <p:attrNameLst>
                                          <p:attrName>style.visibility</p:attrName>
                                        </p:attrNameLst>
                                      </p:cBhvr>
                                      <p:to>
                                        <p:strVal val="visible"/>
                                      </p:to>
                                    </p:set>
                                    <p:animEffect transition="in" filter="fade">
                                      <p:cBhvr>
                                        <p:cTn id="33" dur="550"/>
                                        <p:tgtEl>
                                          <p:spTgt spid="25"/>
                                        </p:tgtEl>
                                      </p:cBhvr>
                                    </p:animEffect>
                                    <p:anim calcmode="lin" valueType="num">
                                      <p:cBhvr additive="base">
                                        <p:cTn id="34" dur="550" fill="hold"/>
                                        <p:tgtEl>
                                          <p:spTgt spid="25"/>
                                        </p:tgtEl>
                                        <p:attrNameLst>
                                          <p:attrName>ppt_x</p:attrName>
                                        </p:attrNameLst>
                                      </p:cBhvr>
                                      <p:tavLst>
                                        <p:tav tm="0">
                                          <p:val>
                                            <p:strVal val="#ppt_x"/>
                                          </p:val>
                                        </p:tav>
                                        <p:tav tm="100000">
                                          <p:val>
                                            <p:strVal val="#ppt_x"/>
                                          </p:val>
                                        </p:tav>
                                      </p:tavLst>
                                    </p:anim>
                                    <p:anim calcmode="lin" valueType="num">
                                      <p:cBhvr additive="base">
                                        <p:cTn id="35" dur="550" fill="hold"/>
                                        <p:tgtEl>
                                          <p:spTgt spid="25"/>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50"/>
                                        <p:tgtEl>
                                          <p:spTgt spid="26"/>
                                        </p:tgtEl>
                                      </p:cBhvr>
                                    </p:animEffect>
                                    <p:anim calcmode="lin" valueType="num">
                                      <p:cBhvr additive="base">
                                        <p:cTn id="40" dur="550" fill="hold"/>
                                        <p:tgtEl>
                                          <p:spTgt spid="26"/>
                                        </p:tgtEl>
                                        <p:attrNameLst>
                                          <p:attrName>ppt_x</p:attrName>
                                        </p:attrNameLst>
                                      </p:cBhvr>
                                      <p:tavLst>
                                        <p:tav tm="0">
                                          <p:val>
                                            <p:strVal val="#ppt_x"/>
                                          </p:val>
                                        </p:tav>
                                        <p:tav tm="100000">
                                          <p:val>
                                            <p:strVal val="#ppt_x"/>
                                          </p:val>
                                        </p:tav>
                                      </p:tavLst>
                                    </p:anim>
                                    <p:anim calcmode="lin" valueType="num">
                                      <p:cBhvr additive="base">
                                        <p:cTn id="41" dur="550" fill="hold"/>
                                        <p:tgtEl>
                                          <p:spTgt spid="26"/>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50"/>
                                        <p:tgtEl>
                                          <p:spTgt spid="27"/>
                                        </p:tgtEl>
                                      </p:cBhvr>
                                    </p:animEffect>
                                    <p:anim calcmode="lin" valueType="num">
                                      <p:cBhvr additive="base">
                                        <p:cTn id="46" dur="550" fill="hold"/>
                                        <p:tgtEl>
                                          <p:spTgt spid="27"/>
                                        </p:tgtEl>
                                        <p:attrNameLst>
                                          <p:attrName>ppt_x</p:attrName>
                                        </p:attrNameLst>
                                      </p:cBhvr>
                                      <p:tavLst>
                                        <p:tav tm="0">
                                          <p:val>
                                            <p:strVal val="#ppt_x"/>
                                          </p:val>
                                        </p:tav>
                                        <p:tav tm="100000">
                                          <p:val>
                                            <p:strVal val="#ppt_x"/>
                                          </p:val>
                                        </p:tav>
                                      </p:tavLst>
                                    </p:anim>
                                    <p:anim calcmode="lin" valueType="num">
                                      <p:cBhvr additive="base">
                                        <p:cTn id="47" dur="550" fill="hold"/>
                                        <p:tgtEl>
                                          <p:spTgt spid="27"/>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50"/>
                                        <p:tgtEl>
                                          <p:spTgt spid="28"/>
                                        </p:tgtEl>
                                      </p:cBhvr>
                                    </p:animEffect>
                                    <p:anim calcmode="lin" valueType="num">
                                      <p:cBhvr additive="base">
                                        <p:cTn id="52" dur="550" fill="hold"/>
                                        <p:tgtEl>
                                          <p:spTgt spid="28"/>
                                        </p:tgtEl>
                                        <p:attrNameLst>
                                          <p:attrName>ppt_w</p:attrName>
                                        </p:attrNameLst>
                                      </p:cBhvr>
                                      <p:tavLst>
                                        <p:tav tm="0">
                                          <p:val>
                                            <p:strVal val="0"/>
                                          </p:val>
                                        </p:tav>
                                        <p:tav tm="100000">
                                          <p:val>
                                            <p:strVal val="#ppt_w"/>
                                          </p:val>
                                        </p:tav>
                                      </p:tavLst>
                                    </p:anim>
                                    <p:anim calcmode="lin" valueType="num">
                                      <p:cBhvr additive="base">
                                        <p:cTn id="53" dur="550" fill="hold"/>
                                        <p:tgtEl>
                                          <p:spTgt spid="28"/>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29"/>
                                        </p:tgtEl>
                                        <p:attrNameLst>
                                          <p:attrName>style.visibility</p:attrName>
                                        </p:attrNameLst>
                                      </p:cBhvr>
                                      <p:to>
                                        <p:strVal val="visible"/>
                                      </p:to>
                                    </p:set>
                                    <p:animEffect transition="in" filter="fade">
                                      <p:cBhvr>
                                        <p:cTn id="57" dur="550"/>
                                        <p:tgtEl>
                                          <p:spTgt spid="29"/>
                                        </p:tgtEl>
                                      </p:cBhvr>
                                    </p:animEffect>
                                    <p:anim calcmode="lin" valueType="num">
                                      <p:cBhvr additive="base">
                                        <p:cTn id="58" dur="550" fill="hold"/>
                                        <p:tgtEl>
                                          <p:spTgt spid="29"/>
                                        </p:tgtEl>
                                        <p:attrNameLst>
                                          <p:attrName>ppt_x</p:attrName>
                                        </p:attrNameLst>
                                      </p:cBhvr>
                                      <p:tavLst>
                                        <p:tav tm="0">
                                          <p:val>
                                            <p:strVal val="#ppt_x"/>
                                          </p:val>
                                        </p:tav>
                                        <p:tav tm="100000">
                                          <p:val>
                                            <p:strVal val="#ppt_x"/>
                                          </p:val>
                                        </p:tav>
                                      </p:tavLst>
                                    </p:anim>
                                    <p:anim calcmode="lin" valueType="num">
                                      <p:cBhvr additive="base">
                                        <p:cTn id="59" dur="550" fill="hold"/>
                                        <p:tgtEl>
                                          <p:spTgt spid="29"/>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550"/>
                                        <p:tgtEl>
                                          <p:spTgt spid="30"/>
                                        </p:tgtEl>
                                      </p:cBhvr>
                                    </p:animEffect>
                                    <p:anim calcmode="lin" valueType="num">
                                      <p:cBhvr additive="base">
                                        <p:cTn id="64" dur="550" fill="hold"/>
                                        <p:tgtEl>
                                          <p:spTgt spid="30"/>
                                        </p:tgtEl>
                                        <p:attrNameLst>
                                          <p:attrName>ppt_x</p:attrName>
                                        </p:attrNameLst>
                                      </p:cBhvr>
                                      <p:tavLst>
                                        <p:tav tm="0">
                                          <p:val>
                                            <p:strVal val="#ppt_x"/>
                                          </p:val>
                                        </p:tav>
                                        <p:tav tm="100000">
                                          <p:val>
                                            <p:strVal val="#ppt_x"/>
                                          </p:val>
                                        </p:tav>
                                      </p:tavLst>
                                    </p:anim>
                                    <p:anim calcmode="lin" valueType="num">
                                      <p:cBhvr additive="base">
                                        <p:cTn id="65" dur="550" fill="hold"/>
                                        <p:tgtEl>
                                          <p:spTgt spid="30"/>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550"/>
                                        <p:tgtEl>
                                          <p:spTgt spid="31"/>
                                        </p:tgtEl>
                                      </p:cBhvr>
                                    </p:animEffect>
                                    <p:anim calcmode="lin" valueType="num">
                                      <p:cBhvr additive="base">
                                        <p:cTn id="70" dur="550" fill="hold"/>
                                        <p:tgtEl>
                                          <p:spTgt spid="31"/>
                                        </p:tgtEl>
                                        <p:attrNameLst>
                                          <p:attrName>ppt_x</p:attrName>
                                        </p:attrNameLst>
                                      </p:cBhvr>
                                      <p:tavLst>
                                        <p:tav tm="0">
                                          <p:val>
                                            <p:strVal val="#ppt_x"/>
                                          </p:val>
                                        </p:tav>
                                        <p:tav tm="100000">
                                          <p:val>
                                            <p:strVal val="#ppt_x"/>
                                          </p:val>
                                        </p:tav>
                                      </p:tavLst>
                                    </p:anim>
                                    <p:anim calcmode="lin" valueType="num">
                                      <p:cBhvr additive="base">
                                        <p:cTn id="71" dur="550" fill="hold"/>
                                        <p:tgtEl>
                                          <p:spTgt spid="31"/>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550"/>
                                        <p:tgtEl>
                                          <p:spTgt spid="32"/>
                                        </p:tgtEl>
                                      </p:cBhvr>
                                    </p:animEffect>
                                    <p:anim calcmode="lin" valueType="num">
                                      <p:cBhvr additive="base">
                                        <p:cTn id="76" dur="550" fill="hold"/>
                                        <p:tgtEl>
                                          <p:spTgt spid="32"/>
                                        </p:tgtEl>
                                        <p:attrNameLst>
                                          <p:attrName>ppt_w</p:attrName>
                                        </p:attrNameLst>
                                      </p:cBhvr>
                                      <p:tavLst>
                                        <p:tav tm="0">
                                          <p:val>
                                            <p:strVal val="0"/>
                                          </p:val>
                                        </p:tav>
                                        <p:tav tm="100000">
                                          <p:val>
                                            <p:strVal val="#ppt_w"/>
                                          </p:val>
                                        </p:tav>
                                      </p:tavLst>
                                    </p:anim>
                                    <p:anim calcmode="lin" valueType="num">
                                      <p:cBhvr additive="base">
                                        <p:cTn id="77" dur="550" fill="hold"/>
                                        <p:tgtEl>
                                          <p:spTgt spid="32"/>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550"/>
                                        <p:tgtEl>
                                          <p:spTgt spid="33"/>
                                        </p:tgtEl>
                                      </p:cBhvr>
                                    </p:animEffect>
                                    <p:anim calcmode="lin" valueType="num">
                                      <p:cBhvr additive="base">
                                        <p:cTn id="82" dur="550" fill="hold"/>
                                        <p:tgtEl>
                                          <p:spTgt spid="33"/>
                                        </p:tgtEl>
                                        <p:attrNameLst>
                                          <p:attrName>ppt_x</p:attrName>
                                        </p:attrNameLst>
                                      </p:cBhvr>
                                      <p:tavLst>
                                        <p:tav tm="0">
                                          <p:val>
                                            <p:strVal val="#ppt_x"/>
                                          </p:val>
                                        </p:tav>
                                        <p:tav tm="100000">
                                          <p:val>
                                            <p:strVal val="#ppt_x"/>
                                          </p:val>
                                        </p:tav>
                                      </p:tavLst>
                                    </p:anim>
                                    <p:anim calcmode="lin" valueType="num">
                                      <p:cBhvr additive="base">
                                        <p:cTn id="83" dur="550" fill="hold"/>
                                        <p:tgtEl>
                                          <p:spTgt spid="33"/>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550"/>
                                        <p:tgtEl>
                                          <p:spTgt spid="34"/>
                                        </p:tgtEl>
                                      </p:cBhvr>
                                    </p:animEffect>
                                    <p:anim calcmode="lin" valueType="num">
                                      <p:cBhvr additive="base">
                                        <p:cTn id="88" dur="550" fill="hold"/>
                                        <p:tgtEl>
                                          <p:spTgt spid="34"/>
                                        </p:tgtEl>
                                        <p:attrNameLst>
                                          <p:attrName>ppt_x</p:attrName>
                                        </p:attrNameLst>
                                      </p:cBhvr>
                                      <p:tavLst>
                                        <p:tav tm="0">
                                          <p:val>
                                            <p:strVal val="#ppt_x"/>
                                          </p:val>
                                        </p:tav>
                                        <p:tav tm="100000">
                                          <p:val>
                                            <p:strVal val="#ppt_x"/>
                                          </p:val>
                                        </p:tav>
                                      </p:tavLst>
                                    </p:anim>
                                    <p:anim calcmode="lin" valueType="num">
                                      <p:cBhvr additive="base">
                                        <p:cTn id="89" dur="550" fill="hold"/>
                                        <p:tgtEl>
                                          <p:spTgt spid="34"/>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5"/>
                                        </p:tgtEl>
                                        <p:attrNameLst>
                                          <p:attrName>style.visibility</p:attrName>
                                        </p:attrNameLst>
                                      </p:cBhvr>
                                      <p:to>
                                        <p:strVal val="visible"/>
                                      </p:to>
                                    </p:set>
                                    <p:animEffect transition="in" filter="fade">
                                      <p:cBhvr>
                                        <p:cTn id="93" dur="550"/>
                                        <p:tgtEl>
                                          <p:spTgt spid="35"/>
                                        </p:tgtEl>
                                      </p:cBhvr>
                                    </p:animEffect>
                                    <p:anim calcmode="lin" valueType="num">
                                      <p:cBhvr additive="base">
                                        <p:cTn id="94" dur="550" fill="hold"/>
                                        <p:tgtEl>
                                          <p:spTgt spid="35"/>
                                        </p:tgtEl>
                                        <p:attrNameLst>
                                          <p:attrName>ppt_x</p:attrName>
                                        </p:attrNameLst>
                                      </p:cBhvr>
                                      <p:tavLst>
                                        <p:tav tm="0">
                                          <p:val>
                                            <p:strVal val="#ppt_x"/>
                                          </p:val>
                                        </p:tav>
                                        <p:tav tm="100000">
                                          <p:val>
                                            <p:strVal val="#ppt_x"/>
                                          </p:val>
                                        </p:tav>
                                      </p:tavLst>
                                    </p:anim>
                                    <p:anim calcmode="lin" valueType="num">
                                      <p:cBhvr additive="base">
                                        <p:cTn id="95" dur="550" fill="hold"/>
                                        <p:tgtEl>
                                          <p:spTgt spid="35"/>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550"/>
                                        <p:tgtEl>
                                          <p:spTgt spid="36"/>
                                        </p:tgtEl>
                                      </p:cBhvr>
                                    </p:animEffect>
                                    <p:anim calcmode="lin" valueType="num">
                                      <p:cBhvr additive="base">
                                        <p:cTn id="100" dur="550" fill="hold"/>
                                        <p:tgtEl>
                                          <p:spTgt spid="36"/>
                                        </p:tgtEl>
                                        <p:attrNameLst>
                                          <p:attrName>ppt_w</p:attrName>
                                        </p:attrNameLst>
                                      </p:cBhvr>
                                      <p:tavLst>
                                        <p:tav tm="0">
                                          <p:val>
                                            <p:strVal val="0"/>
                                          </p:val>
                                        </p:tav>
                                        <p:tav tm="100000">
                                          <p:val>
                                            <p:strVal val="#ppt_w"/>
                                          </p:val>
                                        </p:tav>
                                      </p:tavLst>
                                    </p:anim>
                                    <p:anim calcmode="lin" valueType="num">
                                      <p:cBhvr additive="base">
                                        <p:cTn id="101" dur="550" fill="hold"/>
                                        <p:tgtEl>
                                          <p:spTgt spid="36"/>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37"/>
                                        </p:tgtEl>
                                        <p:attrNameLst>
                                          <p:attrName>style.visibility</p:attrName>
                                        </p:attrNameLst>
                                      </p:cBhvr>
                                      <p:to>
                                        <p:strVal val="visible"/>
                                      </p:to>
                                    </p:set>
                                    <p:animEffect transition="in" filter="fade">
                                      <p:cBhvr>
                                        <p:cTn id="105" dur="550"/>
                                        <p:tgtEl>
                                          <p:spTgt spid="37"/>
                                        </p:tgtEl>
                                      </p:cBhvr>
                                    </p:animEffect>
                                    <p:anim calcmode="lin" valueType="num">
                                      <p:cBhvr additive="base">
                                        <p:cTn id="106" dur="550" fill="hold"/>
                                        <p:tgtEl>
                                          <p:spTgt spid="37"/>
                                        </p:tgtEl>
                                        <p:attrNameLst>
                                          <p:attrName>ppt_x</p:attrName>
                                        </p:attrNameLst>
                                      </p:cBhvr>
                                      <p:tavLst>
                                        <p:tav tm="0">
                                          <p:val>
                                            <p:strVal val="#ppt_x"/>
                                          </p:val>
                                        </p:tav>
                                        <p:tav tm="100000">
                                          <p:val>
                                            <p:strVal val="#ppt_x"/>
                                          </p:val>
                                        </p:tav>
                                      </p:tavLst>
                                    </p:anim>
                                    <p:anim calcmode="lin" valueType="num">
                                      <p:cBhvr additive="base">
                                        <p:cTn id="107" dur="550" fill="hold"/>
                                        <p:tgtEl>
                                          <p:spTgt spid="37"/>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50"/>
                                        <p:tgtEl>
                                          <p:spTgt spid="38"/>
                                        </p:tgtEl>
                                      </p:cBhvr>
                                    </p:animEffect>
                                    <p:anim calcmode="lin" valueType="num">
                                      <p:cBhvr additive="base">
                                        <p:cTn id="112" dur="550" fill="hold"/>
                                        <p:tgtEl>
                                          <p:spTgt spid="38"/>
                                        </p:tgtEl>
                                        <p:attrNameLst>
                                          <p:attrName>ppt_x</p:attrName>
                                        </p:attrNameLst>
                                      </p:cBhvr>
                                      <p:tavLst>
                                        <p:tav tm="0">
                                          <p:val>
                                            <p:strVal val="#ppt_x"/>
                                          </p:val>
                                        </p:tav>
                                        <p:tav tm="100000">
                                          <p:val>
                                            <p:strVal val="#ppt_x"/>
                                          </p:val>
                                        </p:tav>
                                      </p:tavLst>
                                    </p:anim>
                                    <p:anim calcmode="lin" valueType="num">
                                      <p:cBhvr additive="base">
                                        <p:cTn id="113" dur="550" fill="hold"/>
                                        <p:tgtEl>
                                          <p:spTgt spid="38"/>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550"/>
                                        <p:tgtEl>
                                          <p:spTgt spid="39"/>
                                        </p:tgtEl>
                                      </p:cBhvr>
                                    </p:animEffect>
                                    <p:anim calcmode="lin" valueType="num">
                                      <p:cBhvr additive="base">
                                        <p:cTn id="118" dur="550" fill="hold"/>
                                        <p:tgtEl>
                                          <p:spTgt spid="39"/>
                                        </p:tgtEl>
                                        <p:attrNameLst>
                                          <p:attrName>ppt_x</p:attrName>
                                        </p:attrNameLst>
                                      </p:cBhvr>
                                      <p:tavLst>
                                        <p:tav tm="0">
                                          <p:val>
                                            <p:strVal val="#ppt_x"/>
                                          </p:val>
                                        </p:tav>
                                        <p:tav tm="100000">
                                          <p:val>
                                            <p:strVal val="#ppt_x"/>
                                          </p:val>
                                        </p:tav>
                                      </p:tavLst>
                                    </p:anim>
                                    <p:anim calcmode="lin" valueType="num">
                                      <p:cBhvr additive="base">
                                        <p:cTn id="119" dur="550" fill="hold"/>
                                        <p:tgtEl>
                                          <p:spTgt spid="39"/>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3" dur="550"/>
                                        <p:tgtEl>
                                          <p:spTgt spid="40"/>
                                        </p:tgtEl>
                                      </p:cBhvr>
                                    </p:animEffect>
                                    <p:anim calcmode="lin" valueType="num">
                                      <p:cBhvr additive="base">
                                        <p:cTn id="124" dur="550" fill="hold"/>
                                        <p:tgtEl>
                                          <p:spTgt spid="40"/>
                                        </p:tgtEl>
                                        <p:attrNameLst>
                                          <p:attrName>ppt_w</p:attrName>
                                        </p:attrNameLst>
                                      </p:cBhvr>
                                      <p:tavLst>
                                        <p:tav tm="0">
                                          <p:val>
                                            <p:strVal val="0"/>
                                          </p:val>
                                        </p:tav>
                                        <p:tav tm="100000">
                                          <p:val>
                                            <p:strVal val="#ppt_w"/>
                                          </p:val>
                                        </p:tav>
                                      </p:tavLst>
                                    </p:anim>
                                    <p:anim calcmode="lin" valueType="num">
                                      <p:cBhvr additive="base">
                                        <p:cTn id="125" dur="550" fill="hold"/>
                                        <p:tgtEl>
                                          <p:spTgt spid="40"/>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1"/>
                                        </p:tgtEl>
                                        <p:attrNameLst>
                                          <p:attrName>style.visibility</p:attrName>
                                        </p:attrNameLst>
                                      </p:cBhvr>
                                      <p:to>
                                        <p:strVal val="visible"/>
                                      </p:to>
                                    </p:set>
                                    <p:animEffect transition="in" filter="fade">
                                      <p:cBhvr>
                                        <p:cTn id="129" dur="550"/>
                                        <p:tgtEl>
                                          <p:spTgt spid="41"/>
                                        </p:tgtEl>
                                      </p:cBhvr>
                                    </p:animEffect>
                                    <p:anim calcmode="lin" valueType="num">
                                      <p:cBhvr additive="base">
                                        <p:cTn id="130" dur="550" fill="hold"/>
                                        <p:tgtEl>
                                          <p:spTgt spid="41"/>
                                        </p:tgtEl>
                                        <p:attrNameLst>
                                          <p:attrName>ppt_x</p:attrName>
                                        </p:attrNameLst>
                                      </p:cBhvr>
                                      <p:tavLst>
                                        <p:tav tm="0">
                                          <p:val>
                                            <p:strVal val="#ppt_x"/>
                                          </p:val>
                                        </p:tav>
                                        <p:tav tm="100000">
                                          <p:val>
                                            <p:strVal val="#ppt_x"/>
                                          </p:val>
                                        </p:tav>
                                      </p:tavLst>
                                    </p:anim>
                                    <p:anim calcmode="lin" valueType="num">
                                      <p:cBhvr additive="base">
                                        <p:cTn id="131" dur="550" fill="hold"/>
                                        <p:tgtEl>
                                          <p:spTgt spid="41"/>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2"/>
                                        </p:tgtEl>
                                        <p:attrNameLst>
                                          <p:attrName>style.visibility</p:attrName>
                                        </p:attrNameLst>
                                      </p:cBhvr>
                                      <p:to>
                                        <p:strVal val="visible"/>
                                      </p:to>
                                    </p:set>
                                    <p:animEffect transition="in" filter="fade">
                                      <p:cBhvr>
                                        <p:cTn id="135" dur="550"/>
                                        <p:tgtEl>
                                          <p:spTgt spid="42"/>
                                        </p:tgtEl>
                                      </p:cBhvr>
                                    </p:animEffect>
                                    <p:anim calcmode="lin" valueType="num">
                                      <p:cBhvr additive="base">
                                        <p:cTn id="136" dur="550" fill="hold"/>
                                        <p:tgtEl>
                                          <p:spTgt spid="42"/>
                                        </p:tgtEl>
                                        <p:attrNameLst>
                                          <p:attrName>ppt_x</p:attrName>
                                        </p:attrNameLst>
                                      </p:cBhvr>
                                      <p:tavLst>
                                        <p:tav tm="0">
                                          <p:val>
                                            <p:strVal val="#ppt_x"/>
                                          </p:val>
                                        </p:tav>
                                        <p:tav tm="100000">
                                          <p:val>
                                            <p:strVal val="#ppt_x"/>
                                          </p:val>
                                        </p:tav>
                                      </p:tavLst>
                                    </p:anim>
                                    <p:anim calcmode="lin" valueType="num">
                                      <p:cBhvr additive="base">
                                        <p:cTn id="137" dur="550" fill="hold"/>
                                        <p:tgtEl>
                                          <p:spTgt spid="42"/>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3"/>
                                        </p:tgtEl>
                                        <p:attrNameLst>
                                          <p:attrName>style.visibility</p:attrName>
                                        </p:attrNameLst>
                                      </p:cBhvr>
                                      <p:to>
                                        <p:strVal val="visible"/>
                                      </p:to>
                                    </p:set>
                                    <p:animEffect transition="in" filter="fade">
                                      <p:cBhvr>
                                        <p:cTn id="141" dur="550"/>
                                        <p:tgtEl>
                                          <p:spTgt spid="43"/>
                                        </p:tgtEl>
                                      </p:cBhvr>
                                    </p:animEffect>
                                    <p:anim calcmode="lin" valueType="num">
                                      <p:cBhvr additive="base">
                                        <p:cTn id="142" dur="550" fill="hold"/>
                                        <p:tgtEl>
                                          <p:spTgt spid="43"/>
                                        </p:tgtEl>
                                        <p:attrNameLst>
                                          <p:attrName>ppt_x</p:attrName>
                                        </p:attrNameLst>
                                      </p:cBhvr>
                                      <p:tavLst>
                                        <p:tav tm="0">
                                          <p:val>
                                            <p:strVal val="#ppt_x"/>
                                          </p:val>
                                        </p:tav>
                                        <p:tav tm="100000">
                                          <p:val>
                                            <p:strVal val="#ppt_x"/>
                                          </p:val>
                                        </p:tav>
                                      </p:tavLst>
                                    </p:anim>
                                    <p:anim calcmode="lin" valueType="num">
                                      <p:cBhvr additive="base">
                                        <p:cTn id="143" dur="550" fill="hold"/>
                                        <p:tgtEl>
                                          <p:spTgt spid="43"/>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4"/>
                                        </p:tgtEl>
                                        <p:attrNameLst>
                                          <p:attrName>style.visibility</p:attrName>
                                        </p:attrNameLst>
                                      </p:cBhvr>
                                      <p:to>
                                        <p:strVal val="visible"/>
                                      </p:to>
                                    </p:set>
                                    <p:animEffect transition="in" filter="fade">
                                      <p:cBhvr>
                                        <p:cTn id="147" dur="550"/>
                                        <p:tgtEl>
                                          <p:spTgt spid="44"/>
                                        </p:tgtEl>
                                      </p:cBhvr>
                                    </p:animEffect>
                                    <p:anim calcmode="lin" valueType="num">
                                      <p:cBhvr additive="base">
                                        <p:cTn id="148" dur="550" fill="hold"/>
                                        <p:tgtEl>
                                          <p:spTgt spid="44"/>
                                        </p:tgtEl>
                                        <p:attrNameLst>
                                          <p:attrName>ppt_w</p:attrName>
                                        </p:attrNameLst>
                                      </p:cBhvr>
                                      <p:tavLst>
                                        <p:tav tm="0">
                                          <p:val>
                                            <p:strVal val="0"/>
                                          </p:val>
                                        </p:tav>
                                        <p:tav tm="100000">
                                          <p:val>
                                            <p:strVal val="#ppt_w"/>
                                          </p:val>
                                        </p:tav>
                                      </p:tavLst>
                                    </p:anim>
                                    <p:anim calcmode="lin" valueType="num">
                                      <p:cBhvr additive="base">
                                        <p:cTn id="149" dur="550" fill="hold"/>
                                        <p:tgtEl>
                                          <p:spTgt spid="44"/>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5"/>
                                        </p:tgtEl>
                                        <p:attrNameLst>
                                          <p:attrName>style.visibility</p:attrName>
                                        </p:attrNameLst>
                                      </p:cBhvr>
                                      <p:to>
                                        <p:strVal val="visible"/>
                                      </p:to>
                                    </p:set>
                                    <p:animEffect transition="in" filter="fade">
                                      <p:cBhvr>
                                        <p:cTn id="153" dur="550"/>
                                        <p:tgtEl>
                                          <p:spTgt spid="45"/>
                                        </p:tgtEl>
                                      </p:cBhvr>
                                    </p:animEffect>
                                    <p:anim calcmode="lin" valueType="num">
                                      <p:cBhvr additive="base">
                                        <p:cTn id="154" dur="550" fill="hold"/>
                                        <p:tgtEl>
                                          <p:spTgt spid="45"/>
                                        </p:tgtEl>
                                        <p:attrNameLst>
                                          <p:attrName>ppt_x</p:attrName>
                                        </p:attrNameLst>
                                      </p:cBhvr>
                                      <p:tavLst>
                                        <p:tav tm="0">
                                          <p:val>
                                            <p:strVal val="#ppt_x"/>
                                          </p:val>
                                        </p:tav>
                                        <p:tav tm="100000">
                                          <p:val>
                                            <p:strVal val="#ppt_x"/>
                                          </p:val>
                                        </p:tav>
                                      </p:tavLst>
                                    </p:anim>
                                    <p:anim calcmode="lin" valueType="num">
                                      <p:cBhvr additive="base">
                                        <p:cTn id="155"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938d5d05600bee6d.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PumitasUNAM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Sun'iy intellekt injiniringi konsepsiyasi</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567432"/>
            <a:ext cx="5900000" cy="2127568"/>
          </a:xfrm>
          <a:prstGeom prst="rect">
            <a:avLst/>
          </a:prstGeom>
          <a:noFill/>
        </p:spPr>
        <p:txBody>
          <a:bodyPr wrap="square" anchor="ctr">
            <a:spAutoFit/>
          </a:bodyPr>
          <a:lstStyle/>
          <a:p>
            <a:r>
              <a:rPr sz="1400" b="0">
                <a:solidFill>
                  <a:srgbClr val="E8EEFA"/>
                </a:solidFill>
                <a:latin typeface="Segoe UI"/>
              </a:rPr>
              <a:t>Sun'iy intellekt injiniringi (AI engineering) — SI komponentlarini o'z ichiga olgan tizimlarni ishonchli, takrorlanuvchi va masshtablanuvchi tarzda loyihalash, qurish, joylashtirish va ekspluatatsiya qilish fanidir.</a:t>
            </a:r>
          </a:p>
        </p:txBody>
      </p:sp>
      <p:sp>
        <p:nvSpPr>
          <p:cNvPr id="32" name="Rounded Rectangle 31"/>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Microsoft tadqiqotchilari Amershi va hammualliflar 2019-yilgi ICSE konferensiyasidagi «Software Engineering for Machine Learning: A Case Study» maqolasida va keyinchalik [3] kitobida mashinali o'qitish ish jarayonining to'qqiz bosqichini ajratishgan: model…</a:t>
            </a:r>
          </a:p>
          <a:p>
            <a:pPr>
              <a:spcBef>
                <a:spcPts val="400"/>
              </a:spcBef>
            </a:pPr>
            <a:r>
              <a:rPr sz="1400">
                <a:solidFill>
                  <a:srgbClr val="AEBBD9"/>
                </a:solidFill>
                <a:latin typeface="Segoe UI"/>
              </a:rPr>
              <a:t>Bu jarayon chiziqli emas — baholash natijasi yomon bo'lsa, ma'lumot yig'ishga qaytiladi; monitoring siljishni (drift) ko'rsatsa, qayta o'qitish boshlanadi.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283880"/>
            <a:ext cx="6750000" cy="301224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363880"/>
            <a:ext cx="50000" cy="285224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323880"/>
            <a:ext cx="5900000" cy="2932240"/>
          </a:xfrm>
          <a:prstGeom prst="rect">
            <a:avLst/>
          </a:prstGeom>
          <a:noFill/>
        </p:spPr>
        <p:txBody>
          <a:bodyPr wrap="square" anchor="ctr">
            <a:spAutoFit/>
          </a:bodyPr>
          <a:lstStyle/>
          <a:p>
            <a:r>
              <a:rPr sz="1700" b="1">
                <a:solidFill>
                  <a:srgbClr val="E8EEFA"/>
                </a:solidFill>
                <a:latin typeface="Segoe UI"/>
              </a:rPr>
              <a:t>Amershi va hammualliflar SI tizimlarining an'anaviy dasturiy ta'minotdan uchta tub farqini ko'rsatadilar.</a:t>
            </a:r>
          </a:p>
          <a:p>
            <a:pPr>
              <a:spcBef>
                <a:spcPts val="400"/>
              </a:spcBef>
            </a:pPr>
            <a:r>
              <a:rPr sz="1600">
                <a:solidFill>
                  <a:srgbClr val="AEBBD9"/>
                </a:solidFill>
                <a:latin typeface="Segoe UI"/>
              </a:rPr>
              <a:t>Birinchidan, ma'lumotni boshqarish koddan ko'ra murakkabroq: ma'lumot versiyalanishi, sifati tekshirilishi, kelib chiqishi (provenance) kuzatilishi kerak. Ikkinchidan, modelni sozlash va qayta ishlatish an'anaviy kodni qayta ishlatishdan farq qiladi — oldindan o'qitilgan modelni boshqa sohaga ko'chirish alohida malaka talab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6</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Kneusel [2] amaliy nuqtai nazardan SI injiniringini «modelni ishlaydigan mahsulotga aylantirish san'ati» deb ta'riflaydi va muhandis javob berishi kerak bo'lgan savollarni sanaydi: inferens qayerda bajariladi (bulut, server, qurilma)?</a:t>
            </a:r>
          </a:p>
          <a:p>
            <a:pPr>
              <a:spcBef>
                <a:spcPts val="400"/>
              </a:spcBef>
            </a:pPr>
            <a:r>
              <a:rPr sz="1600">
                <a:solidFill>
                  <a:srgbClr val="AEBBD9"/>
                </a:solidFill>
                <a:latin typeface="Segoe UI"/>
              </a:rPr>
              <a:t>Qanday kechikish qabul qilinadi? Xato narxi qancha? Model qanchalik tez eskiradi? Ushbu savollarning har biri bevosita kompyuter tizimi arxitekturasiga ta'sir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injiniringi konsepsiyasi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SI injiniringining yana bir muhim jihati — hayot sikli tushunchasi.</a:t>
            </a:r>
          </a:p>
          <a:p>
            <a:pPr>
              <a:spcBef>
                <a:spcPts val="400"/>
              </a:spcBef>
            </a:pPr>
            <a:r>
              <a:rPr sz="1600">
                <a:solidFill>
                  <a:srgbClr val="AEBBD9"/>
                </a:solidFill>
                <a:latin typeface="Segoe UI"/>
              </a:rPr>
              <a:t>Mustaqil ta'lim topshirig'ida keltirilgan Netflix tavsiya tizimi, Uber haydovchi tahlili va Amazon omborxona robototexnikasi misollarida umumiy naqsh ko'rinadi: ma'lumot to'xtovsiz oqib keladi, model davriy ravishda qayta o'qitiladi, A/B sinovlar orqali yangi versiya eskisi bilan taqqoslanadi, inferens infratuzilmasi esa yuk o'zgarishiga qarab avtomatik kengayadi.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19120cc529f7e17.jpg"/>
          <p:cNvPicPr>
            <a:picLocks noChangeAspect="1"/>
          </p:cNvPicPr>
          <p:nvPr/>
        </p:nvPicPr>
        <p:blipFill>
          <a:blip r:embed="rId2"/>
          <a:srcRect l="9838" r="9838"/>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mikemacmarketing / original posted on flickr
Liam Huang / clipped and posted on · Wikimedia Commons · CC BY 2.0</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Sun'iy intellekt tizimlarining asosiy tamoyillari</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48868"/>
            <a:ext cx="50000" cy="228226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Sun'iy intellekt tizimi an'anaviy dasturdan ishlash tamoyili bilan farq qiladi: an'anaviy dasturda muhandis qoidalarni o'zi yozadi, SI tizimida esa qoidalar ma'lumotdan o'rganiladi.</a:t>
            </a:r>
          </a:p>
          <a:p>
            <a:pPr>
              <a:spcBef>
                <a:spcPts val="400"/>
              </a:spcBef>
            </a:pPr>
            <a:r>
              <a:rPr sz="1400">
                <a:solidFill>
                  <a:srgbClr val="AEBBD9"/>
                </a:solidFill>
                <a:latin typeface="Segoe UI"/>
              </a:rPr>
              <a:t>Shu sababli SI asosidagi kompyuter tizimini loyihalovchi muhandis ikki guruh tamoyillarni bilishi kerak — modelning qanday «fikrlashini» belgilaydigan texnik tamoyillar va tizimning jamiyat uchun xavfsiz hamda ishonchli bo'lishini ta'minlaydigan ishonchli SI (trustworthy AI) tamoyillari.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661544"/>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741544"/>
            <a:ext cx="50000" cy="191345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49827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0" name="TextBox 29"/>
          <p:cNvSpPr txBox="1"/>
          <p:nvPr/>
        </p:nvSpPr>
        <p:spPr>
          <a:xfrm>
            <a:off x="1300000" y="1701544"/>
            <a:ext cx="5900000" cy="1993456"/>
          </a:xfrm>
          <a:prstGeom prst="rect">
            <a:avLst/>
          </a:prstGeom>
          <a:noFill/>
        </p:spPr>
        <p:txBody>
          <a:bodyPr wrap="square" anchor="ctr">
            <a:spAutoFit/>
          </a:bodyPr>
          <a:lstStyle/>
          <a:p>
            <a:r>
              <a:rPr sz="1400" b="1">
                <a:solidFill>
                  <a:srgbClr val="E8EEFA"/>
                </a:solidFill>
                <a:latin typeface="Segoe UI"/>
              </a:rPr>
              <a:t>Ma'lumotdan o'rganish.</a:t>
            </a:r>
          </a:p>
          <a:p>
            <a:pPr>
              <a:spcBef>
                <a:spcPts val="400"/>
              </a:spcBef>
            </a:pPr>
            <a:r>
              <a:rPr sz="1300">
                <a:solidFill>
                  <a:srgbClr val="AEBBD9"/>
                </a:solidFill>
                <a:latin typeface="Segoe UI"/>
              </a:rPr>
              <a:t>Model xatti-harakati dasturchi yozgan qoidalardan emas, o'quv ma'lumotlaridagi qonuniyatlardan kelib chiqadi. Demak ma'lumotning hajmi, sifati va vakilligi (representativeness) tizim sifatini koddan kam bo'lmagan darajada belgilaydi: noto'g'ri belgilangan 5 % misol ham aniqlikni sezilarli tushiradi, shuning uchun ma'lumot ham kod kabi versiyalanadi va tekshiriladi.</a:t>
            </a:r>
          </a:p>
        </p:txBody>
      </p:sp>
      <p:sp>
        <p:nvSpPr>
          <p:cNvPr id="31" name="Rounded Rectangle 30"/>
          <p:cNvSpPr/>
          <p:nvPr/>
        </p:nvSpPr>
        <p:spPr>
          <a:xfrm>
            <a:off x="550000" y="3845000"/>
            <a:ext cx="6750000" cy="207345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91345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8172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4" name="TextBox 33"/>
          <p:cNvSpPr txBox="1"/>
          <p:nvPr/>
        </p:nvSpPr>
        <p:spPr>
          <a:xfrm>
            <a:off x="1300000" y="3885000"/>
            <a:ext cx="5900000" cy="1993456"/>
          </a:xfrm>
          <a:prstGeom prst="rect">
            <a:avLst/>
          </a:prstGeom>
          <a:noFill/>
        </p:spPr>
        <p:txBody>
          <a:bodyPr wrap="square" anchor="ctr">
            <a:spAutoFit/>
          </a:bodyPr>
          <a:lstStyle/>
          <a:p>
            <a:r>
              <a:rPr sz="1400" b="1">
                <a:solidFill>
                  <a:srgbClr val="E8EEFA"/>
                </a:solidFill>
                <a:latin typeface="Segoe UI"/>
              </a:rPr>
              <a:t>Umumlashtirish.</a:t>
            </a:r>
          </a:p>
          <a:p>
            <a:pPr>
              <a:spcBef>
                <a:spcPts val="400"/>
              </a:spcBef>
            </a:pPr>
            <a:r>
              <a:rPr sz="1300">
                <a:solidFill>
                  <a:srgbClr val="AEBBD9"/>
                </a:solidFill>
                <a:latin typeface="Segoe UI"/>
              </a:rPr>
              <a:t>Model faqat ko'rgan misollarini yodlab olmasligi, balki yangi, ilgari ko'rilmagan ma'lumotda ham to'g'ri ishlashi kerak. Buning uchun ma'lumot o'quv, validatsiya va test to'plamlariga ajratiladi; o'quv to'plamida yuqori, testda past natija — qayta moslashish (overfitting) belgisi. Real ekspluatatsiyada kirish ma'lumoti o'zgarib boradi (data drift), shuning uchun umumlashtirish doimiy monitoring bilan nazorat qilinadi.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959476"/>
            <a:ext cx="50000" cy="169552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07238"/>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0" name="TextBox 29"/>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Optimallashtirish orqali o'qitish.</a:t>
            </a:r>
          </a:p>
          <a:p>
            <a:pPr>
              <a:spcBef>
                <a:spcPts val="400"/>
              </a:spcBef>
            </a:pPr>
            <a:r>
              <a:rPr sz="1300">
                <a:solidFill>
                  <a:srgbClr val="AEBBD9"/>
                </a:solidFill>
                <a:latin typeface="Segoe UI"/>
              </a:rPr>
              <a:t>O'qitish bu yo'qotish funksiyasini (loss function) minimallashtirish masalasi: gradient tushish usuli millionlab parametrlarni qadam-baqadam sozlaydi. Aynan shu jarayon katta hajmdagi matritsa ko'paytirishlarini talab qiladi va GPU, TPU kabi tezlatkichlarga ehtiyojni keltirib chiqaradi; o'qitish bir marta katta resurs talab qilsa, inferens har bir so'rovda kichik, lekin doimiy resurs sarflaydi.</a:t>
            </a:r>
          </a:p>
        </p:txBody>
      </p:sp>
      <p:sp>
        <p:nvSpPr>
          <p:cNvPr id="31" name="Rounded Rectangle 30"/>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69552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7276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Ehtimoliy natija.</a:t>
            </a:r>
          </a:p>
          <a:p>
            <a:pPr>
              <a:spcBef>
                <a:spcPts val="400"/>
              </a:spcBef>
            </a:pPr>
            <a:r>
              <a:rPr sz="1300">
                <a:solidFill>
                  <a:srgbClr val="AEBBD9"/>
                </a:solidFill>
                <a:latin typeface="Segoe UI"/>
              </a:rPr>
              <a:t>Model qat'iy «ha/yo'q» emas, balki ishonch darajasi (confidence) bilan javob qaytaradi. Tizim arxitekturasida ishonch chegarasi (threshold) qayerda turishi, past ishonchli holatlarda nima qilinishi (inson tekshiruviga yuborish, qayta so'rash) oldindan loyihalanadi; xato narxi qanchalik yuqori bo'lsa, chegara shunchalik ehtiyotkor tanlanadi.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12</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Iterativ hayot sikli.</a:t>
            </a:r>
          </a:p>
          <a:p>
            <a:pPr>
              <a:spcBef>
                <a:spcPts val="400"/>
              </a:spcBef>
            </a:pPr>
            <a:r>
              <a:rPr sz="1400">
                <a:solidFill>
                  <a:srgbClr val="AEBBD9"/>
                </a:solidFill>
                <a:latin typeface="Segoe UI"/>
              </a:rPr>
              <a:t>SI tizimi bir marta yaratilib tugallanmaydi: ma'lumot yig'ish → o'qitish → baholash → joylashtirish → monitoring → qayta o'qitish halqasi doimiy aylanadi. Bu tamoyil MLOps amaliyotining asosi bo'lib, infratuzilmada model versiyalari, tajribalar jurnali va avtomatik qayta joylashtirish imkoniyatini talab qiladi.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Ishonchli SI tamoyillari.</a:t>
            </a:r>
          </a:p>
          <a:p>
            <a:pPr>
              <a:spcBef>
                <a:spcPts val="400"/>
              </a:spcBef>
            </a:pPr>
            <a:r>
              <a:rPr sz="1400">
                <a:solidFill>
                  <a:srgbClr val="AEBBD9"/>
                </a:solidFill>
                <a:latin typeface="Segoe UI"/>
              </a:rPr>
              <a:t>Iqtisodiy hamkorlik va taraqqiyot tashkiloti (OECD) 2019-yilda qabul qilgan va 2024-yilda yangilagan SI tamoyillari, UNESCO ning 2021-yilgi «Sun'iy intellekt etikasi bo'yicha tavsiyanoma»si hamda Yevropa Ittifoqining 2024-yilda kuchga kirgan SI to'g'risidagi qonuni (EU AI Act) quyidagi umumiy talablarni ilgari suradi: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76824"/>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6591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3" name="TextBox 32"/>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Insonga yo'naltirilganlik va inson nazorati.</a:t>
            </a:r>
          </a:p>
          <a:p>
            <a:pPr>
              <a:spcBef>
                <a:spcPts val="400"/>
              </a:spcBef>
            </a:pPr>
            <a:r>
              <a:rPr sz="1400">
                <a:solidFill>
                  <a:srgbClr val="AEBBD9"/>
                </a:solidFill>
                <a:latin typeface="Segoe UI"/>
              </a:rPr>
              <a:t>Muhim qarorlarda (tibbiy tashxis, kredit, ishga qabul) yakuniy so'z inson qolishi kerak; tizim inson qarorini qo'llab-quvvatlaydi, uni ko'r-ko'rona almashtirmaydi. Muhandislik nuqtai nazaridan bu operator interfeysi, natijani bekor qilish imkoniyati va eskalatsiya mexanizmini loyihalashni anglatadi.</a:t>
            </a:r>
          </a:p>
        </p:txBody>
      </p:sp>
      <p:sp>
        <p:nvSpPr>
          <p:cNvPr id="34" name="Rounded Rectangle 33"/>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57817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14088"/>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7" name="TextBox 36"/>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Shaffoflik va tushuntiriluvchanlik.</a:t>
            </a:r>
          </a:p>
          <a:p>
            <a:pPr>
              <a:spcBef>
                <a:spcPts val="400"/>
              </a:spcBef>
            </a:pPr>
            <a:r>
              <a:rPr sz="1400">
                <a:solidFill>
                  <a:srgbClr val="AEBBD9"/>
                </a:solidFill>
                <a:latin typeface="Segoe UI"/>
              </a:rPr>
              <a:t>Foydalanuvchi SI bilan ishlayotganini bilishi, tizim esa nima uchun aynan shu natijani berganini tushuntira olishi kerak. Amalda bu model kartasi (model card), qaror sabablarini ko'rsatuvchi usullar (masalan, Grad-CAM issiqlik xaritasi yoki SHAP qiymatlari) va har bir natijani jurnalga yozish orqali ta'minlanadi.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076824"/>
            <a:ext cx="50000" cy="1578176"/>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665912"/>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1" name="TextBox 30"/>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Adolatlilik va kamsitmaslik.</a:t>
            </a:r>
          </a:p>
          <a:p>
            <a:pPr>
              <a:spcBef>
                <a:spcPts val="400"/>
              </a:spcBef>
            </a:pPr>
            <a:r>
              <a:rPr sz="1400">
                <a:solidFill>
                  <a:srgbClr val="AEBBD9"/>
                </a:solidFill>
                <a:latin typeface="Segoe UI"/>
              </a:rPr>
              <a:t>Model jinsi, millati, yoshi yoki hududiga qarab guruhlarga nisbatan tizimli xato qilmasligi kerak. Buning uchun aniqlik umumiy emas, har bir guruh bo'yicha alohida o'lchanadi va o'quv ma'lumotidagi muvozanatsizlik tuzatiladi.</a:t>
            </a:r>
          </a:p>
        </p:txBody>
      </p:sp>
      <p:sp>
        <p:nvSpPr>
          <p:cNvPr id="32" name="Rounded Rectangle 31"/>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57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514088"/>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11</a:t>
            </a:r>
          </a:p>
        </p:txBody>
      </p:sp>
      <p:sp>
        <p:nvSpPr>
          <p:cNvPr id="35" name="TextBox 34"/>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Ishonchlilik, xavfsizlik va mustahkamlik.</a:t>
            </a:r>
          </a:p>
          <a:p>
            <a:pPr>
              <a:spcBef>
                <a:spcPts val="400"/>
              </a:spcBef>
            </a:pPr>
            <a:r>
              <a:rPr sz="1400">
                <a:solidFill>
                  <a:srgbClr val="AEBBD9"/>
                </a:solidFill>
                <a:latin typeface="Segoe UI"/>
              </a:rPr>
              <a:t>Tizim shovqinli yoki g'ayrioddiy kirishda, apparat nosozligida va qasddan qilingan hujumlarda (adversarial misollar, ma'lumotni zaharlash) ham bashorat qilinadigan tarzda ishlashi kerak. Kompyuter tizimi darajasida bu zaxira (redundancy), degradatsiya rejimlari va kiberxavfsizlik choralari orqali erishiladi.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15</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23152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311520"/>
            <a:ext cx="50000" cy="134348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2783260"/>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12</a:t>
            </a:r>
          </a:p>
        </p:txBody>
      </p:sp>
      <p:sp>
        <p:nvSpPr>
          <p:cNvPr id="32" name="TextBox 31"/>
          <p:cNvSpPr txBox="1"/>
          <p:nvPr/>
        </p:nvSpPr>
        <p:spPr>
          <a:xfrm>
            <a:off x="1300000" y="2271520"/>
            <a:ext cx="5900000" cy="1423480"/>
          </a:xfrm>
          <a:prstGeom prst="rect">
            <a:avLst/>
          </a:prstGeom>
          <a:noFill/>
        </p:spPr>
        <p:txBody>
          <a:bodyPr wrap="square" anchor="ctr">
            <a:spAutoFit/>
          </a:bodyPr>
          <a:lstStyle/>
          <a:p>
            <a:r>
              <a:rPr sz="1500" b="1">
                <a:solidFill>
                  <a:srgbClr val="E8EEFA"/>
                </a:solidFill>
                <a:latin typeface="Segoe UI"/>
              </a:rPr>
              <a:t>Maxfiylik va ma'lumotlarni himoya qilish.</a:t>
            </a:r>
          </a:p>
          <a:p>
            <a:pPr>
              <a:spcBef>
                <a:spcPts val="400"/>
              </a:spcBef>
            </a:pPr>
            <a:r>
              <a:rPr sz="1400">
                <a:solidFill>
                  <a:srgbClr val="AEBBD9"/>
                </a:solidFill>
                <a:latin typeface="Segoe UI"/>
              </a:rPr>
              <a:t>Shaxsiy ma'lumotlar qonunga muvofiq, minimal hajmda va himoyalangan holda qayta ishlanadi. Inferensni chekka qurilmada bajarish (video bulutga yuborilmaydi), shifrlash va anonimlashtirish — bu tamoyilning arxitekturaviy yechimlari.</a:t>
            </a:r>
          </a:p>
        </p:txBody>
      </p:sp>
      <p:sp>
        <p:nvSpPr>
          <p:cNvPr id="33" name="Rounded Rectangle 32"/>
          <p:cNvSpPr/>
          <p:nvPr/>
        </p:nvSpPr>
        <p:spPr>
          <a:xfrm>
            <a:off x="550000" y="384500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0000" y="392500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0000" y="439674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13</a:t>
            </a:r>
          </a:p>
        </p:txBody>
      </p:sp>
      <p:sp>
        <p:nvSpPr>
          <p:cNvPr id="36" name="TextBox 35"/>
          <p:cNvSpPr txBox="1"/>
          <p:nvPr/>
        </p:nvSpPr>
        <p:spPr>
          <a:xfrm>
            <a:off x="1300000" y="3885000"/>
            <a:ext cx="5900000" cy="1423480"/>
          </a:xfrm>
          <a:prstGeom prst="rect">
            <a:avLst/>
          </a:prstGeom>
          <a:noFill/>
        </p:spPr>
        <p:txBody>
          <a:bodyPr wrap="square" anchor="ctr">
            <a:spAutoFit/>
          </a:bodyPr>
          <a:lstStyle/>
          <a:p>
            <a:r>
              <a:rPr sz="1500" b="1">
                <a:solidFill>
                  <a:srgbClr val="E8EEFA"/>
                </a:solidFill>
                <a:latin typeface="Segoe UI"/>
              </a:rPr>
              <a:t>Hisobdorlik.</a:t>
            </a:r>
          </a:p>
          <a:p>
            <a:pPr>
              <a:spcBef>
                <a:spcPts val="400"/>
              </a:spcBef>
            </a:pPr>
            <a:r>
              <a:rPr sz="1400">
                <a:solidFill>
                  <a:srgbClr val="AEBBD9"/>
                </a:solidFill>
                <a:latin typeface="Segoe UI"/>
              </a:rPr>
              <a:t>Tizim natijasi uchun aniq javobgar shaxs yoki tashkilot bo'lishi, har bir qarorni keyinchalik tekshirish (audit) mumkin bo'lishi kerak. Buning uchun model versiyasi, kirish ma'lumoti va natija o'zgartirib bo'lmaydigan jurnalda saqlanadi.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3"/>
                                        </p:tgtEl>
                                        <p:attrNameLst>
                                          <p:attrName>style.visibility</p:attrName>
                                        </p:attrNameLst>
                                      </p:cBhvr>
                                      <p:to>
                                        <p:strVal val="visible"/>
                                      </p:to>
                                    </p:set>
                                    <p:animEffect transition="in" filter="fade">
                                      <p:cBhvr>
                                        <p:cTn id="59" dur="550"/>
                                        <p:tgtEl>
                                          <p:spTgt spid="33"/>
                                        </p:tgtEl>
                                      </p:cBhvr>
                                    </p:animEffect>
                                    <p:anim calcmode="lin" valueType="num">
                                      <p:cBhvr additive="base">
                                        <p:cTn id="60" dur="550" fill="hold"/>
                                        <p:tgtEl>
                                          <p:spTgt spid="33"/>
                                        </p:tgtEl>
                                        <p:attrNameLst>
                                          <p:attrName>ppt_x</p:attrName>
                                        </p:attrNameLst>
                                      </p:cBhvr>
                                      <p:tavLst>
                                        <p:tav tm="0">
                                          <p:val>
                                            <p:strVal val="#ppt_x"/>
                                          </p:val>
                                        </p:tav>
                                        <p:tav tm="100000">
                                          <p:val>
                                            <p:strVal val="#ppt_x"/>
                                          </p:val>
                                        </p:tav>
                                      </p:tavLst>
                                    </p:anim>
                                    <p:anim calcmode="lin" valueType="num">
                                      <p:cBhvr additive="base">
                                        <p:cTn id="61" dur="550" fill="hold"/>
                                        <p:tgtEl>
                                          <p:spTgt spid="33"/>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4"/>
                                        </p:tgtEl>
                                        <p:attrNameLst>
                                          <p:attrName>style.visibility</p:attrName>
                                        </p:attrNameLst>
                                      </p:cBhvr>
                                      <p:to>
                                        <p:strVal val="visible"/>
                                      </p:to>
                                    </p:set>
                                    <p:animEffect transition="in" filter="fade">
                                      <p:cBhvr>
                                        <p:cTn id="65" dur="550"/>
                                        <p:tgtEl>
                                          <p:spTgt spid="34"/>
                                        </p:tgtEl>
                                      </p:cBhvr>
                                    </p:animEffect>
                                    <p:anim calcmode="lin" valueType="num">
                                      <p:cBhvr additive="base">
                                        <p:cTn id="66" dur="550" fill="hold"/>
                                        <p:tgtEl>
                                          <p:spTgt spid="34"/>
                                        </p:tgtEl>
                                        <p:attrNameLst>
                                          <p:attrName>ppt_x</p:attrName>
                                        </p:attrNameLst>
                                      </p:cBhvr>
                                      <p:tavLst>
                                        <p:tav tm="0">
                                          <p:val>
                                            <p:strVal val="#ppt_x"/>
                                          </p:val>
                                        </p:tav>
                                        <p:tav tm="100000">
                                          <p:val>
                                            <p:strVal val="#ppt_x"/>
                                          </p:val>
                                        </p:tav>
                                      </p:tavLst>
                                    </p:anim>
                                    <p:anim calcmode="lin" valueType="num">
                                      <p:cBhvr additive="base">
                                        <p:cTn id="67" dur="550" fill="hold"/>
                                        <p:tgtEl>
                                          <p:spTgt spid="34"/>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50"/>
                                        <p:tgtEl>
                                          <p:spTgt spid="35"/>
                                        </p:tgtEl>
                                      </p:cBhvr>
                                    </p:animEffect>
                                    <p:anim calcmode="lin" valueType="num">
                                      <p:cBhvr additive="base">
                                        <p:cTn id="72" dur="550" fill="hold"/>
                                        <p:tgtEl>
                                          <p:spTgt spid="35"/>
                                        </p:tgtEl>
                                        <p:attrNameLst>
                                          <p:attrName>ppt_w</p:attrName>
                                        </p:attrNameLst>
                                      </p:cBhvr>
                                      <p:tavLst>
                                        <p:tav tm="0">
                                          <p:val>
                                            <p:strVal val="0"/>
                                          </p:val>
                                        </p:tav>
                                        <p:tav tm="100000">
                                          <p:val>
                                            <p:strVal val="#ppt_w"/>
                                          </p:val>
                                        </p:tav>
                                      </p:tavLst>
                                    </p:anim>
                                    <p:anim calcmode="lin" valueType="num">
                                      <p:cBhvr additive="base">
                                        <p:cTn id="73" dur="550" fill="hold"/>
                                        <p:tgtEl>
                                          <p:spTgt spid="35"/>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fade">
                                      <p:cBhvr>
                                        <p:cTn id="77" dur="550"/>
                                        <p:tgtEl>
                                          <p:spTgt spid="36"/>
                                        </p:tgtEl>
                                      </p:cBhvr>
                                    </p:animEffect>
                                    <p:anim calcmode="lin" valueType="num">
                                      <p:cBhvr additive="base">
                                        <p:cTn id="78" dur="550" fill="hold"/>
                                        <p:tgtEl>
                                          <p:spTgt spid="36"/>
                                        </p:tgtEl>
                                        <p:attrNameLst>
                                          <p:attrName>ppt_x</p:attrName>
                                        </p:attrNameLst>
                                      </p:cBhvr>
                                      <p:tavLst>
                                        <p:tav tm="0">
                                          <p:val>
                                            <p:strVal val="#ppt_x"/>
                                          </p:val>
                                        </p:tav>
                                        <p:tav tm="100000">
                                          <p:val>
                                            <p:strVal val="#ppt_x"/>
                                          </p:val>
                                        </p:tav>
                                      </p:tavLst>
                                    </p:anim>
                                    <p:anim calcmode="lin" valueType="num">
                                      <p:cBhvr additive="base">
                                        <p:cTn id="79" dur="550" fill="hold"/>
                                        <p:tgtEl>
                                          <p:spTgt spid="3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 tizimlarining asosiy tamoyillari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14</a:t>
            </a:r>
          </a:p>
        </p:txBody>
      </p:sp>
      <p:sp>
        <p:nvSpPr>
          <p:cNvPr id="34" name="TextBox 33"/>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EU AI Act tizimlarni xavf darajasiga ko'ra to'rt toifaga ajratadi: taqiqlangan (masalan, ijtimoiy reyting), yuqori xavfli (tibbiyot, ta'lim, transport, kritik infratuzilma), cheklangan xavfli (chat-botlar — foydalanuvchini ogohlantirish shart) va minimal…</a:t>
            </a:r>
          </a:p>
          <a:p>
            <a:pPr>
              <a:spcBef>
                <a:spcPts val="400"/>
              </a:spcBef>
            </a:pPr>
            <a:r>
              <a:rPr sz="1400">
                <a:solidFill>
                  <a:srgbClr val="AEBBD9"/>
                </a:solidFill>
                <a:latin typeface="Segoe UI"/>
              </a:rPr>
              <a:t>Yuqori xavfli toifadagi tizim uchun texnik hujjatlar, ma'lumot sifati nazorati, jurnal yuritish va inson nazorati majburiy — bularning har biri kompyuter tizimi arxitekturasida alohida komponent sifatida loyihalanadi.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500d39deda63e642.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Lawrence Systems · Wikimedia Commons · CC BY 3.0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Sun'iy intellektga asoslangan hisoblash platformalari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51520"/>
            <a:ext cx="6750000" cy="267696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531520"/>
            <a:ext cx="50000" cy="25169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491520"/>
            <a:ext cx="5900000" cy="2596960"/>
          </a:xfrm>
          <a:prstGeom prst="rect">
            <a:avLst/>
          </a:prstGeom>
          <a:noFill/>
        </p:spPr>
        <p:txBody>
          <a:bodyPr wrap="square" anchor="ctr">
            <a:spAutoFit/>
          </a:bodyPr>
          <a:lstStyle/>
          <a:p>
            <a:r>
              <a:rPr sz="1500" b="1">
                <a:solidFill>
                  <a:srgbClr val="E8EEFA"/>
                </a:solidFill>
                <a:latin typeface="Segoe UI"/>
              </a:rPr>
              <a:t>Hisoblash platformasi deganda biz SI yukini bajaruvchi apparat va uning ustidagi tizimli dasturiy ta'minot (drayver, kutubxona, ish vaqti muhiti) majmuasini tushunamiz.</a:t>
            </a:r>
          </a:p>
          <a:p>
            <a:pPr>
              <a:spcBef>
                <a:spcPts val="400"/>
              </a:spcBef>
            </a:pPr>
            <a:r>
              <a:rPr sz="1400">
                <a:solidFill>
                  <a:srgbClr val="AEBBD9"/>
                </a:solidFill>
                <a:latin typeface="Segoe UI"/>
              </a:rPr>
              <a:t>Platformalarni to'rt sinfga ajratish qulay: shaxsiy ish stansiyalari, ma'lumotlar markazi serverlari, bulut xizmatlari va chekka (edge) qurilmalar. Quyidagi jadvalda ularning tipik vakillari va taxminiy ko'rsatkichlari keltirilgan (ishlab chiqaruvchilar e'lon qilgan rasmiy pasport qiymatlari, real yuklamada 30–60 % foydalanish odatiy).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48868"/>
            <a:ext cx="50000" cy="228226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2" name="TextBox 31"/>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Jadvaldan uch muhim xulosa kelib chiqadi.</a:t>
            </a:r>
          </a:p>
          <a:p>
            <a:pPr>
              <a:spcBef>
                <a:spcPts val="400"/>
              </a:spcBef>
            </a:pPr>
            <a:r>
              <a:rPr sz="1400">
                <a:solidFill>
                  <a:srgbClr val="AEBBD9"/>
                </a:solidFill>
                <a:latin typeface="Segoe UI"/>
              </a:rPr>
              <a:t>Birinchidan, platformalar orasidagi farq olti tartibni (10⁶) tashkil etadi — mikrokontrollerdan H100 gacha. Demak «model ishlaydimi?» savoli ma'nosiz; «qaysi platformada, qanday kechikish va energiya bilan ishlaydi?» deb so'rash kerak. Ikkinchidan, hisoblash quvvati bilan birga xotira o'tkazuvchanligi (memory bandwidth) ko'rsatilgan — ko'p SI yuklari, ayniqsa LLM inferensi, hisoblash bilan emas, xotira bilan cheklanadi (bu haqda M5 va M10 mavzularida batafsil).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20</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568868"/>
            <a:ext cx="6750000" cy="244226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648868"/>
            <a:ext cx="50000" cy="2282264"/>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608868"/>
            <a:ext cx="5900000" cy="2362264"/>
          </a:xfrm>
          <a:prstGeom prst="rect">
            <a:avLst/>
          </a:prstGeom>
          <a:noFill/>
        </p:spPr>
        <p:txBody>
          <a:bodyPr wrap="square" anchor="ctr">
            <a:spAutoFit/>
          </a:bodyPr>
          <a:lstStyle/>
          <a:p>
            <a:r>
              <a:rPr sz="1500" b="1">
                <a:solidFill>
                  <a:srgbClr val="E8EEFA"/>
                </a:solidFill>
                <a:latin typeface="Segoe UI"/>
              </a:rPr>
              <a:t>Platforma tanlashda hisoblash quvvatining birligiga e'tibor berish zarur.</a:t>
            </a:r>
          </a:p>
          <a:p>
            <a:pPr>
              <a:spcBef>
                <a:spcPts val="400"/>
              </a:spcBef>
            </a:pPr>
            <a:r>
              <a:rPr sz="1400">
                <a:solidFill>
                  <a:srgbClr val="AEBBD9"/>
                </a:solidFill>
                <a:latin typeface="Segoe UI"/>
              </a:rPr>
              <a:t>TOPS (tera operations per second) odatda INT8 butun sonli amallar uchun, TFLOPS esa suzuvchi nuqtali (FP32, FP16, BF16, FP8) amallar uchun beriladi. Bitta ko'paytirish-qo'shish (multiply-accumulate, MAC) amali ikki operatsiya sifatida hisoblanadi. Bundan tashqari, NVIDIA ko'rsatkichlarini «siyrak» (sparsity, 2:4 strukturali siyraklik) rejimi uchun e'lon qiladi, bu zich hisobdan ikki baravar yuqori.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Sun'iy intellektga asoslangan hisoblash platformalari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graphicFrame>
        <p:nvGraphicFramePr>
          <p:cNvPr id="26" name="Table 25"/>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Platforma sinfi</a:t>
                      </a:r>
                    </a:p>
                  </a:txBody>
                  <a:tcPr>
                    <a:solidFill>
                      <a:srgbClr val="1C2755"/>
                    </a:solidFill>
                  </a:tcPr>
                </a:tc>
                <a:tc>
                  <a:txBody>
                    <a:bodyPr/>
                    <a:lstStyle/>
                    <a:p>
                      <a:r>
                        <a:rPr sz="1400" b="1">
                          <a:solidFill>
                            <a:srgbClr val="22D3EE"/>
                          </a:solidFill>
                          <a:latin typeface="Segoe UI"/>
                        </a:rPr>
                        <a:t>Tipik vakil</a:t>
                      </a:r>
                    </a:p>
                  </a:txBody>
                  <a:tcPr>
                    <a:solidFill>
                      <a:srgbClr val="1C2755"/>
                    </a:solidFill>
                  </a:tcPr>
                </a:tc>
                <a:tc>
                  <a:txBody>
                    <a:bodyPr/>
                    <a:lstStyle/>
                    <a:p>
                      <a:r>
                        <a:rPr sz="1400" b="1">
                          <a:solidFill>
                            <a:srgbClr val="22D3EE"/>
                          </a:solidFill>
                          <a:latin typeface="Segoe UI"/>
                        </a:rPr>
                        <a:t>Hisoblash quvvati (taxm.)</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Energiya</a:t>
                      </a:r>
                    </a:p>
                  </a:txBody>
                  <a:tcPr>
                    <a:solidFill>
                      <a:srgbClr val="1C2755"/>
                    </a:solidFill>
                  </a:tcPr>
                </a:tc>
                <a:tc>
                  <a:txBody>
                    <a:bodyPr/>
                    <a:lstStyle/>
                    <a:p>
                      <a:r>
                        <a:rPr sz="1400" b="1">
                          <a:solidFill>
                            <a:srgbClr val="22D3EE"/>
                          </a:solidFill>
                          <a:latin typeface="Segoe UI"/>
                        </a:rPr>
                        <a:t>Odatiy vazifa</a:t>
                      </a:r>
                    </a:p>
                  </a:txBody>
                  <a:tcPr>
                    <a:solidFill>
                      <a:srgbClr val="1C2755"/>
                    </a:solidFill>
                  </a:tcPr>
                </a:tc>
              </a:tr>
              <a:tr h="520000">
                <a:tc>
                  <a:txBody>
                    <a:bodyPr/>
                    <a:lstStyle/>
                    <a:p>
                      <a:r>
                        <a:rPr sz="1400" b="0">
                          <a:solidFill>
                            <a:srgbClr val="E8EEFA"/>
                          </a:solidFill>
                          <a:latin typeface="Segoe UI"/>
                        </a:rPr>
                        <a:t>Chekka mikrokontroller</a:t>
                      </a:r>
                    </a:p>
                  </a:txBody>
                  <a:tcPr>
                    <a:solidFill>
                      <a:srgbClr val="111834"/>
                    </a:solidFill>
                  </a:tcPr>
                </a:tc>
                <a:tc>
                  <a:txBody>
                    <a:bodyPr/>
                    <a:lstStyle/>
                    <a:p>
                      <a:r>
                        <a:rPr sz="1400" b="0">
                          <a:solidFill>
                            <a:srgbClr val="E8EEFA"/>
                          </a:solidFill>
                          <a:latin typeface="Segoe UI"/>
                        </a:rPr>
                        <a:t>ARM Cortex-M7 + TinyML</a:t>
                      </a:r>
                    </a:p>
                  </a:txBody>
                  <a:tcPr>
                    <a:solidFill>
                      <a:srgbClr val="111834"/>
                    </a:solidFill>
                  </a:tcPr>
                </a:tc>
                <a:tc>
                  <a:txBody>
                    <a:bodyPr/>
                    <a:lstStyle/>
                    <a:p>
                      <a:r>
                        <a:rPr sz="1400" b="0">
                          <a:solidFill>
                            <a:srgbClr val="E8EEFA"/>
                          </a:solidFill>
                          <a:latin typeface="Segoe UI"/>
                        </a:rPr>
                        <a:t>0,001–0,01 TOPS</a:t>
                      </a:r>
                    </a:p>
                  </a:txBody>
                  <a:tcPr>
                    <a:solidFill>
                      <a:srgbClr val="111834"/>
                    </a:solidFill>
                  </a:tcPr>
                </a:tc>
                <a:tc>
                  <a:txBody>
                    <a:bodyPr/>
                    <a:lstStyle/>
                    <a:p>
                      <a:r>
                        <a:rPr sz="1400" b="0">
                          <a:solidFill>
                            <a:srgbClr val="E8EEFA"/>
                          </a:solidFill>
                          <a:latin typeface="Segoe UI"/>
                        </a:rPr>
                        <a:t>0,5–2 MB SRAM</a:t>
                      </a:r>
                    </a:p>
                  </a:txBody>
                  <a:tcPr>
                    <a:solidFill>
                      <a:srgbClr val="111834"/>
                    </a:solidFill>
                  </a:tcPr>
                </a:tc>
                <a:tc>
                  <a:txBody>
                    <a:bodyPr/>
                    <a:lstStyle/>
                    <a:p>
                      <a:r>
                        <a:rPr sz="1400" b="0">
                          <a:solidFill>
                            <a:srgbClr val="E8EEFA"/>
                          </a:solidFill>
                          <a:latin typeface="Segoe UI"/>
                        </a:rPr>
                        <a:t>0,05–0,5 W</a:t>
                      </a:r>
                    </a:p>
                  </a:txBody>
                  <a:tcPr>
                    <a:solidFill>
                      <a:srgbClr val="111834"/>
                    </a:solidFill>
                  </a:tcPr>
                </a:tc>
                <a:tc>
                  <a:txBody>
                    <a:bodyPr/>
                    <a:lstStyle/>
                    <a:p>
                      <a:r>
                        <a:rPr sz="1400" b="0">
                          <a:solidFill>
                            <a:srgbClr val="E8EEFA"/>
                          </a:solidFill>
                          <a:latin typeface="Segoe UI"/>
                        </a:rPr>
                        <a:t>Kalit so'z aniqlash, sensor tasnifi</a:t>
                      </a:r>
                    </a:p>
                  </a:txBody>
                  <a:tcPr>
                    <a:solidFill>
                      <a:srgbClr val="111834"/>
                    </a:solidFill>
                  </a:tcPr>
                </a:tc>
              </a:tr>
              <a:tr h="520000">
                <a:tc>
                  <a:txBody>
                    <a:bodyPr/>
                    <a:lstStyle/>
                    <a:p>
                      <a:r>
                        <a:rPr sz="1400" b="0">
                          <a:solidFill>
                            <a:srgbClr val="E8EEFA"/>
                          </a:solidFill>
                          <a:latin typeface="Segoe UI"/>
                        </a:rPr>
                        <a:t>Chekka tezlatkich</a:t>
                      </a:r>
                    </a:p>
                  </a:txBody>
                  <a:tcPr>
                    <a:solidFill>
                      <a:srgbClr val="161F40"/>
                    </a:solidFill>
                  </a:tcPr>
                </a:tc>
                <a:tc>
                  <a:txBody>
                    <a:bodyPr/>
                    <a:lstStyle/>
                    <a:p>
                      <a:r>
                        <a:rPr sz="1400" b="0">
                          <a:solidFill>
                            <a:srgbClr val="E8EEFA"/>
                          </a:solidFill>
                          <a:latin typeface="Segoe UI"/>
                        </a:rPr>
                        <a:t>Google Coral Edge TPU</a:t>
                      </a:r>
                    </a:p>
                  </a:txBody>
                  <a:tcPr>
                    <a:solidFill>
                      <a:srgbClr val="161F40"/>
                    </a:solidFill>
                  </a:tcPr>
                </a:tc>
                <a:tc>
                  <a:txBody>
                    <a:bodyPr/>
                    <a:lstStyle/>
                    <a:p>
                      <a:r>
                        <a:rPr sz="1400" b="0">
                          <a:solidFill>
                            <a:srgbClr val="E8EEFA"/>
                          </a:solidFill>
                          <a:latin typeface="Segoe UI"/>
                        </a:rPr>
                        <a:t>4 TOPS INT8</a:t>
                      </a:r>
                    </a:p>
                  </a:txBody>
                  <a:tcPr>
                    <a:solidFill>
                      <a:srgbClr val="161F40"/>
                    </a:solidFill>
                  </a:tcPr>
                </a:tc>
                <a:tc>
                  <a:txBody>
                    <a:bodyPr/>
                    <a:lstStyle/>
                    <a:p>
                      <a:r>
                        <a:rPr sz="1400" b="0">
                          <a:solidFill>
                            <a:srgbClr val="E8EEFA"/>
                          </a:solidFill>
                          <a:latin typeface="Segoe UI"/>
                        </a:rPr>
                        <a:t>xost xotirasi</a:t>
                      </a:r>
                    </a:p>
                  </a:txBody>
                  <a:tcPr>
                    <a:solidFill>
                      <a:srgbClr val="161F40"/>
                    </a:solidFill>
                  </a:tcPr>
                </a:tc>
                <a:tc>
                  <a:txBody>
                    <a:bodyPr/>
                    <a:lstStyle/>
                    <a:p>
                      <a:r>
                        <a:rPr sz="1400" b="0">
                          <a:solidFill>
                            <a:srgbClr val="E8EEFA"/>
                          </a:solidFill>
                          <a:latin typeface="Segoe UI"/>
                        </a:rPr>
                        <a:t>~2 W</a:t>
                      </a:r>
                    </a:p>
                  </a:txBody>
                  <a:tcPr>
                    <a:solidFill>
                      <a:srgbClr val="161F40"/>
                    </a:solidFill>
                  </a:tcPr>
                </a:tc>
                <a:tc>
                  <a:txBody>
                    <a:bodyPr/>
                    <a:lstStyle/>
                    <a:p>
                      <a:r>
                        <a:rPr sz="1400" b="0">
                          <a:solidFill>
                            <a:srgbClr val="E8EEFA"/>
                          </a:solidFill>
                          <a:latin typeface="Segoe UI"/>
                        </a:rPr>
                        <a:t>Bitta kamera, tasnif</a:t>
                      </a:r>
                    </a:p>
                  </a:txBody>
                  <a:tcPr>
                    <a:solidFill>
                      <a:srgbClr val="161F40"/>
                    </a:solidFill>
                  </a:tcPr>
                </a:tc>
              </a:tr>
              <a:tr h="520000">
                <a:tc>
                  <a:txBody>
                    <a:bodyPr/>
                    <a:lstStyle/>
                    <a:p>
                      <a:r>
                        <a:rPr sz="1400" b="0">
                          <a:solidFill>
                            <a:srgbClr val="E8EEFA"/>
                          </a:solidFill>
                          <a:latin typeface="Segoe UI"/>
                        </a:rPr>
                        <a:t>Chekka modul</a:t>
                      </a:r>
                    </a:p>
                  </a:txBody>
                  <a:tcPr>
                    <a:solidFill>
                      <a:srgbClr val="111834"/>
                    </a:solidFill>
                  </a:tcPr>
                </a:tc>
                <a:tc>
                  <a:txBody>
                    <a:bodyPr/>
                    <a:lstStyle/>
                    <a:p>
                      <a:r>
                        <a:rPr sz="1400" b="0">
                          <a:solidFill>
                            <a:srgbClr val="E8EEFA"/>
                          </a:solidFill>
                          <a:latin typeface="Segoe UI"/>
                        </a:rPr>
                        <a:t>NVIDIA Jetson Orin Nano 8 GB</a:t>
                      </a:r>
                    </a:p>
                  </a:txBody>
                  <a:tcPr>
                    <a:solidFill>
                      <a:srgbClr val="111834"/>
                    </a:solidFill>
                  </a:tcPr>
                </a:tc>
                <a:tc>
                  <a:txBody>
                    <a:bodyPr/>
                    <a:lstStyle/>
                    <a:p>
                      <a:r>
                        <a:rPr sz="1400" b="0">
                          <a:solidFill>
                            <a:srgbClr val="E8EEFA"/>
                          </a:solidFill>
                          <a:latin typeface="Segoe UI"/>
                        </a:rPr>
                        <a:t>~40 TOPS INT8 (siyrak)</a:t>
                      </a:r>
                    </a:p>
                  </a:txBody>
                  <a:tcPr>
                    <a:solidFill>
                      <a:srgbClr val="111834"/>
                    </a:solidFill>
                  </a:tcPr>
                </a:tc>
                <a:tc>
                  <a:txBody>
                    <a:bodyPr/>
                    <a:lstStyle/>
                    <a:p>
                      <a:r>
                        <a:rPr sz="1400" b="0">
                          <a:solidFill>
                            <a:srgbClr val="E8EEFA"/>
                          </a:solidFill>
                          <a:latin typeface="Segoe UI"/>
                        </a:rPr>
                        <a:t>8 GB LPDDR5, 68 GB/s</a:t>
                      </a:r>
                    </a:p>
                  </a:txBody>
                  <a:tcPr>
                    <a:solidFill>
                      <a:srgbClr val="111834"/>
                    </a:solidFill>
                  </a:tcPr>
                </a:tc>
                <a:tc>
                  <a:txBody>
                    <a:bodyPr/>
                    <a:lstStyle/>
                    <a:p>
                      <a:r>
                        <a:rPr sz="1400" b="0">
                          <a:solidFill>
                            <a:srgbClr val="E8EEFA"/>
                          </a:solidFill>
                          <a:latin typeface="Segoe UI"/>
                        </a:rPr>
                        <a:t>7–15 W</a:t>
                      </a:r>
                    </a:p>
                  </a:txBody>
                  <a:tcPr>
                    <a:solidFill>
                      <a:srgbClr val="111834"/>
                    </a:solidFill>
                  </a:tcPr>
                </a:tc>
                <a:tc>
                  <a:txBody>
                    <a:bodyPr/>
                    <a:lstStyle/>
                    <a:p>
                      <a:r>
                        <a:rPr sz="1400" b="0">
                          <a:solidFill>
                            <a:srgbClr val="E8EEFA"/>
                          </a:solidFill>
                          <a:latin typeface="Segoe UI"/>
                        </a:rPr>
                        <a:t>2–4 kamera, detektsiya</a:t>
                      </a:r>
                    </a:p>
                  </a:txBody>
                  <a:tcPr>
                    <a:solidFill>
                      <a:srgbClr val="111834"/>
                    </a:solidFill>
                  </a:tcPr>
                </a:tc>
              </a:tr>
              <a:tr h="520000">
                <a:tc>
                  <a:txBody>
                    <a:bodyPr/>
                    <a:lstStyle/>
                    <a:p>
                      <a:r>
                        <a:rPr sz="1400" b="0">
                          <a:solidFill>
                            <a:srgbClr val="E8EEFA"/>
                          </a:solidFill>
                          <a:latin typeface="Segoe UI"/>
                        </a:rPr>
                        <a:t>Chekka server</a:t>
                      </a:r>
                    </a:p>
                  </a:txBody>
                  <a:tcPr>
                    <a:solidFill>
                      <a:srgbClr val="161F40"/>
                    </a:solidFill>
                  </a:tcPr>
                </a:tc>
                <a:tc>
                  <a:txBody>
                    <a:bodyPr/>
                    <a:lstStyle/>
                    <a:p>
                      <a:r>
                        <a:rPr sz="1400" b="0">
                          <a:solidFill>
                            <a:srgbClr val="E8EEFA"/>
                          </a:solidFill>
                          <a:latin typeface="Segoe UI"/>
                        </a:rPr>
                        <a:t>NVIDIA Jetson AGX Orin 64 GB</a:t>
                      </a:r>
                    </a:p>
                  </a:txBody>
                  <a:tcPr>
                    <a:solidFill>
                      <a:srgbClr val="161F40"/>
                    </a:solidFill>
                  </a:tcPr>
                </a:tc>
                <a:tc>
                  <a:txBody>
                    <a:bodyPr/>
                    <a:lstStyle/>
                    <a:p>
                      <a:r>
                        <a:rPr sz="1400" b="0">
                          <a:solidFill>
                            <a:srgbClr val="E8EEFA"/>
                          </a:solidFill>
                          <a:latin typeface="Segoe UI"/>
                        </a:rPr>
                        <a:t>~275 TOPS INT8 (siyrak)</a:t>
                      </a:r>
                    </a:p>
                  </a:txBody>
                  <a:tcPr>
                    <a:solidFill>
                      <a:srgbClr val="161F40"/>
                    </a:solidFill>
                  </a:tcPr>
                </a:tc>
                <a:tc>
                  <a:txBody>
                    <a:bodyPr/>
                    <a:lstStyle/>
                    <a:p>
                      <a:r>
                        <a:rPr sz="1400" b="0">
                          <a:solidFill>
                            <a:srgbClr val="E8EEFA"/>
                          </a:solidFill>
                          <a:latin typeface="Segoe UI"/>
                        </a:rPr>
                        <a:t>64 GB LPDDR5, 205 GB/s</a:t>
                      </a:r>
                    </a:p>
                  </a:txBody>
                  <a:tcPr>
                    <a:solidFill>
                      <a:srgbClr val="161F40"/>
                    </a:solidFill>
                  </a:tcPr>
                </a:tc>
                <a:tc>
                  <a:txBody>
                    <a:bodyPr/>
                    <a:lstStyle/>
                    <a:p>
                      <a:r>
                        <a:rPr sz="1400" b="0">
                          <a:solidFill>
                            <a:srgbClr val="E8EEFA"/>
                          </a:solidFill>
                          <a:latin typeface="Segoe UI"/>
                        </a:rPr>
                        <a:t>15–60 W</a:t>
                      </a:r>
                    </a:p>
                  </a:txBody>
                  <a:tcPr>
                    <a:solidFill>
                      <a:srgbClr val="161F40"/>
                    </a:solidFill>
                  </a:tcPr>
                </a:tc>
                <a:tc>
                  <a:txBody>
                    <a:bodyPr/>
                    <a:lstStyle/>
                    <a:p>
                      <a:r>
                        <a:rPr sz="1400" b="0">
                          <a:solidFill>
                            <a:srgbClr val="E8EEFA"/>
                          </a:solidFill>
                          <a:latin typeface="Segoe UI"/>
                        </a:rPr>
                        <a:t>8–16 kamera, ko'p model</a:t>
                      </a:r>
                    </a:p>
                  </a:txBody>
                  <a:tcPr>
                    <a:solidFill>
                      <a:srgbClr val="161F40"/>
                    </a:solidFill>
                  </a:tcPr>
                </a:tc>
              </a:tr>
              <a:tr h="520000">
                <a:tc>
                  <a:txBody>
                    <a:bodyPr/>
                    <a:lstStyle/>
                    <a:p>
                      <a:r>
                        <a:rPr sz="1400" b="0">
                          <a:solidFill>
                            <a:srgbClr val="E8EEFA"/>
                          </a:solidFill>
                          <a:latin typeface="Segoe UI"/>
                        </a:rPr>
                        <a:t>Inferens serveri</a:t>
                      </a:r>
                    </a:p>
                  </a:txBody>
                  <a:tcPr>
                    <a:solidFill>
                      <a:srgbClr val="111834"/>
                    </a:solidFill>
                  </a:tcPr>
                </a:tc>
                <a:tc>
                  <a:txBody>
                    <a:bodyPr/>
                    <a:lstStyle/>
                    <a:p>
                      <a:r>
                        <a:rPr sz="1400" b="0">
                          <a:solidFill>
                            <a:srgbClr val="E8EEFA"/>
                          </a:solidFill>
                          <a:latin typeface="Segoe UI"/>
                        </a:rPr>
                        <a:t>NVIDIA L4 (PCIe)</a:t>
                      </a:r>
                    </a:p>
                  </a:txBody>
                  <a:tcPr>
                    <a:solidFill>
                      <a:srgbClr val="111834"/>
                    </a:solidFill>
                  </a:tcPr>
                </a:tc>
                <a:tc>
                  <a:txBody>
                    <a:bodyPr/>
                    <a:lstStyle/>
                    <a:p>
                      <a:r>
                        <a:rPr sz="1400" b="0">
                          <a:solidFill>
                            <a:srgbClr val="E8EEFA"/>
                          </a:solidFill>
                          <a:latin typeface="Segoe UI"/>
                        </a:rPr>
                        <a:t>~121 TFLOPS FP16 (zich)</a:t>
                      </a:r>
                    </a:p>
                  </a:txBody>
                  <a:tcPr>
                    <a:solidFill>
                      <a:srgbClr val="111834"/>
                    </a:solidFill>
                  </a:tcPr>
                </a:tc>
                <a:tc>
                  <a:txBody>
                    <a:bodyPr/>
                    <a:lstStyle/>
                    <a:p>
                      <a:r>
                        <a:rPr sz="1400" b="0">
                          <a:solidFill>
                            <a:srgbClr val="E8EEFA"/>
                          </a:solidFill>
                          <a:latin typeface="Segoe UI"/>
                        </a:rPr>
                        <a:t>24 GB GDDR6, 300 GB/s</a:t>
                      </a:r>
                    </a:p>
                  </a:txBody>
                  <a:tcPr>
                    <a:solidFill>
                      <a:srgbClr val="111834"/>
                    </a:solidFill>
                  </a:tcPr>
                </a:tc>
                <a:tc>
                  <a:txBody>
                    <a:bodyPr/>
                    <a:lstStyle/>
                    <a:p>
                      <a:r>
                        <a:rPr sz="1400" b="0">
                          <a:solidFill>
                            <a:srgbClr val="E8EEFA"/>
                          </a:solidFill>
                          <a:latin typeface="Segoe UI"/>
                        </a:rPr>
                        <a:t>72 W</a:t>
                      </a:r>
                    </a:p>
                  </a:txBody>
                  <a:tcPr>
                    <a:solidFill>
                      <a:srgbClr val="111834"/>
                    </a:solidFill>
                  </a:tcPr>
                </a:tc>
                <a:tc>
                  <a:txBody>
                    <a:bodyPr/>
                    <a:lstStyle/>
                    <a:p>
                      <a:r>
                        <a:rPr sz="1400" b="0">
                          <a:solidFill>
                            <a:srgbClr val="E8EEFA"/>
                          </a:solidFill>
                          <a:latin typeface="Segoe UI"/>
                        </a:rPr>
                        <a:t>Video-analitika, tavsiya</a:t>
                      </a:r>
                    </a:p>
                  </a:txBody>
                  <a:tcPr>
                    <a:solidFill>
                      <a:srgbClr val="111834"/>
                    </a:solidFill>
                  </a:tcPr>
                </a:tc>
              </a:tr>
              <a:tr h="520000">
                <a:tc>
                  <a:txBody>
                    <a:bodyPr/>
                    <a:lstStyle/>
                    <a:p>
                      <a:r>
                        <a:rPr sz="1400" b="0">
                          <a:solidFill>
                            <a:srgbClr val="E8EEFA"/>
                          </a:solidFill>
                          <a:latin typeface="Segoe UI"/>
                        </a:rPr>
                        <a:t>O'qitish serveri</a:t>
                      </a:r>
                    </a:p>
                  </a:txBody>
                  <a:tcPr>
                    <a:solidFill>
                      <a:srgbClr val="161F40"/>
                    </a:solidFill>
                  </a:tcPr>
                </a:tc>
                <a:tc>
                  <a:txBody>
                    <a:bodyPr/>
                    <a:lstStyle/>
                    <a:p>
                      <a:r>
                        <a:rPr sz="1400" b="0">
                          <a:solidFill>
                            <a:srgbClr val="E8EEFA"/>
                          </a:solidFill>
                          <a:latin typeface="Segoe UI"/>
                        </a:rPr>
                        <a:t>NVIDIA A100 80 GB</a:t>
                      </a:r>
                    </a:p>
                  </a:txBody>
                  <a:tcPr>
                    <a:solidFill>
                      <a:srgbClr val="161F40"/>
                    </a:solidFill>
                  </a:tcPr>
                </a:tc>
                <a:tc>
                  <a:txBody>
                    <a:bodyPr/>
                    <a:lstStyle/>
                    <a:p>
                      <a:r>
                        <a:rPr sz="1400" b="0">
                          <a:solidFill>
                            <a:srgbClr val="E8EEFA"/>
                          </a:solidFill>
                          <a:latin typeface="Segoe UI"/>
                        </a:rPr>
                        <a:t>312 TFLOPS FP16 (zich)</a:t>
                      </a:r>
                    </a:p>
                  </a:txBody>
                  <a:tcPr>
                    <a:solidFill>
                      <a:srgbClr val="161F40"/>
                    </a:solidFill>
                  </a:tcPr>
                </a:tc>
                <a:tc>
                  <a:txBody>
                    <a:bodyPr/>
                    <a:lstStyle/>
                    <a:p>
                      <a:r>
                        <a:rPr sz="1400" b="0">
                          <a:solidFill>
                            <a:srgbClr val="E8EEFA"/>
                          </a:solidFill>
                          <a:latin typeface="Segoe UI"/>
                        </a:rPr>
                        <a:t>80 GB HBM2e, ~2 TB/s</a:t>
                      </a:r>
                    </a:p>
                  </a:txBody>
                  <a:tcPr>
                    <a:solidFill>
                      <a:srgbClr val="161F40"/>
                    </a:solidFill>
                  </a:tcPr>
                </a:tc>
                <a:tc>
                  <a:txBody>
                    <a:bodyPr/>
                    <a:lstStyle/>
                    <a:p>
                      <a:r>
                        <a:rPr sz="1400" b="0">
                          <a:solidFill>
                            <a:srgbClr val="E8EEFA"/>
                          </a:solidFill>
                          <a:latin typeface="Segoe UI"/>
                        </a:rPr>
                        <a:t>400 W</a:t>
                      </a:r>
                    </a:p>
                  </a:txBody>
                  <a:tcPr>
                    <a:solidFill>
                      <a:srgbClr val="161F40"/>
                    </a:solidFill>
                  </a:tcPr>
                </a:tc>
                <a:tc>
                  <a:txBody>
                    <a:bodyPr/>
                    <a:lstStyle/>
                    <a:p>
                      <a:r>
                        <a:rPr sz="1400" b="0">
                          <a:solidFill>
                            <a:srgbClr val="E8EEFA"/>
                          </a:solidFill>
                          <a:latin typeface="Segoe UI"/>
                        </a:rPr>
                        <a:t>O'qitish, katta modellar</a:t>
                      </a:r>
                    </a:p>
                  </a:txBody>
                  <a:tcPr>
                    <a:solidFill>
                      <a:srgbClr val="161F40"/>
                    </a:solidFill>
                  </a:tcPr>
                </a:tc>
              </a:tr>
              <a:tr h="520000">
                <a:tc>
                  <a:txBody>
                    <a:bodyPr/>
                    <a:lstStyle/>
                    <a:p>
                      <a:r>
                        <a:rPr sz="1400" b="0">
                          <a:solidFill>
                            <a:srgbClr val="E8EEFA"/>
                          </a:solidFill>
                          <a:latin typeface="Segoe UI"/>
                        </a:rPr>
                        <a:t>O'qitish serveri</a:t>
                      </a:r>
                    </a:p>
                  </a:txBody>
                  <a:tcPr>
                    <a:solidFill>
                      <a:srgbClr val="111834"/>
                    </a:solidFill>
                  </a:tcPr>
                </a:tc>
                <a:tc>
                  <a:txBody>
                    <a:bodyPr/>
                    <a:lstStyle/>
                    <a:p>
                      <a:r>
                        <a:rPr sz="1400" b="0">
                          <a:solidFill>
                            <a:srgbClr val="E8EEFA"/>
                          </a:solidFill>
                          <a:latin typeface="Segoe UI"/>
                        </a:rPr>
                        <a:t>NVIDIA H100 SXM</a:t>
                      </a:r>
                    </a:p>
                  </a:txBody>
                  <a:tcPr>
                    <a:solidFill>
                      <a:srgbClr val="111834"/>
                    </a:solidFill>
                  </a:tcPr>
                </a:tc>
                <a:tc>
                  <a:txBody>
                    <a:bodyPr/>
                    <a:lstStyle/>
                    <a:p>
                      <a:r>
                        <a:rPr sz="1400" b="0">
                          <a:solidFill>
                            <a:srgbClr val="E8EEFA"/>
                          </a:solidFill>
                          <a:latin typeface="Segoe UI"/>
                        </a:rPr>
                        <a:t>~990 TFLOPS FP16 (zich)</a:t>
                      </a:r>
                    </a:p>
                  </a:txBody>
                  <a:tcPr>
                    <a:solidFill>
                      <a:srgbClr val="111834"/>
                    </a:solidFill>
                  </a:tcPr>
                </a:tc>
                <a:tc>
                  <a:txBody>
                    <a:bodyPr/>
                    <a:lstStyle/>
                    <a:p>
                      <a:r>
                        <a:rPr sz="1400" b="0">
                          <a:solidFill>
                            <a:srgbClr val="E8EEFA"/>
                          </a:solidFill>
                          <a:latin typeface="Segoe UI"/>
                        </a:rPr>
                        <a:t>80 GB HBM3, 3,35 TB/s</a:t>
                      </a:r>
                    </a:p>
                  </a:txBody>
                  <a:tcPr>
                    <a:solidFill>
                      <a:srgbClr val="111834"/>
                    </a:solidFill>
                  </a:tcPr>
                </a:tc>
                <a:tc>
                  <a:txBody>
                    <a:bodyPr/>
                    <a:lstStyle/>
                    <a:p>
                      <a:r>
                        <a:rPr sz="1400" b="0">
                          <a:solidFill>
                            <a:srgbClr val="E8EEFA"/>
                          </a:solidFill>
                          <a:latin typeface="Segoe UI"/>
                        </a:rPr>
                        <a:t>700 W</a:t>
                      </a:r>
                    </a:p>
                  </a:txBody>
                  <a:tcPr>
                    <a:solidFill>
                      <a:srgbClr val="111834"/>
                    </a:solidFill>
                  </a:tcPr>
                </a:tc>
                <a:tc>
                  <a:txBody>
                    <a:bodyPr/>
                    <a:lstStyle/>
                    <a:p>
                      <a:r>
                        <a:rPr sz="1400" b="0">
                          <a:solidFill>
                            <a:srgbClr val="E8EEFA"/>
                          </a:solidFill>
                          <a:latin typeface="Segoe UI"/>
                        </a:rPr>
                        <a:t>LLM o'qitish va inferens</a:t>
                      </a:r>
                    </a:p>
                  </a:txBody>
                  <a:tcPr>
                    <a:solidFill>
                      <a:srgbClr val="111834"/>
                    </a:solidFill>
                  </a:tcPr>
                </a:tc>
              </a:tr>
              <a:tr h="520000">
                <a:tc>
                  <a:txBody>
                    <a:bodyPr/>
                    <a:lstStyle/>
                    <a:p>
                      <a:r>
                        <a:rPr sz="1400" b="0">
                          <a:solidFill>
                            <a:srgbClr val="E8EEFA"/>
                          </a:solidFill>
                          <a:latin typeface="Segoe UI"/>
                        </a:rPr>
                        <a:t>Bulut tezlatkichi</a:t>
                      </a:r>
                    </a:p>
                  </a:txBody>
                  <a:tcPr>
                    <a:solidFill>
                      <a:srgbClr val="161F40"/>
                    </a:solidFill>
                  </a:tcPr>
                </a:tc>
                <a:tc>
                  <a:txBody>
                    <a:bodyPr/>
                    <a:lstStyle/>
                    <a:p>
                      <a:r>
                        <a:rPr sz="1400" b="0">
                          <a:solidFill>
                            <a:srgbClr val="E8EEFA"/>
                          </a:solidFill>
                          <a:latin typeface="Segoe UI"/>
                        </a:rPr>
                        <a:t>Google TPU v5e</a:t>
                      </a:r>
                    </a:p>
                  </a:txBody>
                  <a:tcPr>
                    <a:solidFill>
                      <a:srgbClr val="161F40"/>
                    </a:solidFill>
                  </a:tcPr>
                </a:tc>
                <a:tc>
                  <a:txBody>
                    <a:bodyPr/>
                    <a:lstStyle/>
                    <a:p>
                      <a:r>
                        <a:rPr sz="1400" b="0">
                          <a:solidFill>
                            <a:srgbClr val="E8EEFA"/>
                          </a:solidFill>
                          <a:latin typeface="Segoe UI"/>
                        </a:rPr>
                        <a:t>197 TFLOPS BF16</a:t>
                      </a:r>
                    </a:p>
                  </a:txBody>
                  <a:tcPr>
                    <a:solidFill>
                      <a:srgbClr val="161F40"/>
                    </a:solidFill>
                  </a:tcPr>
                </a:tc>
                <a:tc>
                  <a:txBody>
                    <a:bodyPr/>
                    <a:lstStyle/>
                    <a:p>
                      <a:r>
                        <a:rPr sz="1400" b="0">
                          <a:solidFill>
                            <a:srgbClr val="E8EEFA"/>
                          </a:solidFill>
                          <a:latin typeface="Segoe UI"/>
                        </a:rPr>
                        <a:t>16 GB HBM2, 819 GB/s</a:t>
                      </a:r>
                    </a:p>
                  </a:txBody>
                  <a:tcPr>
                    <a:solidFill>
                      <a:srgbClr val="161F40"/>
                    </a:solidFill>
                  </a:tcPr>
                </a:tc>
                <a:tc>
                  <a:txBody>
                    <a:bodyPr/>
                    <a:lstStyle/>
                    <a:p>
                      <a:r>
                        <a:rPr sz="1400" b="0">
                          <a:solidFill>
                            <a:srgbClr val="E8EEFA"/>
                          </a:solidFill>
                          <a:latin typeface="Segoe UI"/>
                        </a:rPr>
                        <a:t>—</a:t>
                      </a:r>
                    </a:p>
                  </a:txBody>
                  <a:tcPr>
                    <a:solidFill>
                      <a:srgbClr val="161F40"/>
                    </a:solidFill>
                  </a:tcPr>
                </a:tc>
                <a:tc>
                  <a:txBody>
                    <a:bodyPr/>
                    <a:lstStyle/>
                    <a:p>
                      <a:r>
                        <a:rPr sz="1400" b="0">
                          <a:solidFill>
                            <a:srgbClr val="E8EEFA"/>
                          </a:solidFill>
                          <a:latin typeface="Segoe UI"/>
                        </a:rPr>
                        <a:t>Bulutda o'qitish/inferens</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100" b="1">
                <a:solidFill>
                  <a:srgbClr val="E8EEFA"/>
                </a:solidFill>
                <a:latin typeface="Segoe UI"/>
              </a:rPr>
              <a:t>Sun'iy intellektga asoslangan hisoblash platformalari (davomi)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graphicFrame>
        <p:nvGraphicFramePr>
          <p:cNvPr id="25" name="Table 24"/>
          <p:cNvGraphicFramePr>
            <a:graphicFrameLocks noGrp="1"/>
          </p:cNvGraphicFramePr>
          <p:nvPr/>
        </p:nvGraphicFramePr>
        <p:xfrm>
          <a:off x="550000" y="1400000"/>
          <a:ext cx="11100000" cy="104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400" b="1">
                          <a:solidFill>
                            <a:srgbClr val="22D3EE"/>
                          </a:solidFill>
                          <a:latin typeface="Segoe UI"/>
                        </a:rPr>
                        <a:t>Platforma sinfi</a:t>
                      </a:r>
                    </a:p>
                  </a:txBody>
                  <a:tcPr>
                    <a:solidFill>
                      <a:srgbClr val="1C2755"/>
                    </a:solidFill>
                  </a:tcPr>
                </a:tc>
                <a:tc>
                  <a:txBody>
                    <a:bodyPr/>
                    <a:lstStyle/>
                    <a:p>
                      <a:r>
                        <a:rPr sz="1400" b="1">
                          <a:solidFill>
                            <a:srgbClr val="22D3EE"/>
                          </a:solidFill>
                          <a:latin typeface="Segoe UI"/>
                        </a:rPr>
                        <a:t>Tipik vakil</a:t>
                      </a:r>
                    </a:p>
                  </a:txBody>
                  <a:tcPr>
                    <a:solidFill>
                      <a:srgbClr val="1C2755"/>
                    </a:solidFill>
                  </a:tcPr>
                </a:tc>
                <a:tc>
                  <a:txBody>
                    <a:bodyPr/>
                    <a:lstStyle/>
                    <a:p>
                      <a:r>
                        <a:rPr sz="1400" b="1">
                          <a:solidFill>
                            <a:srgbClr val="22D3EE"/>
                          </a:solidFill>
                          <a:latin typeface="Segoe UI"/>
                        </a:rPr>
                        <a:t>Hisoblash quvvati (taxm.)</a:t>
                      </a:r>
                    </a:p>
                  </a:txBody>
                  <a:tcPr>
                    <a:solidFill>
                      <a:srgbClr val="1C2755"/>
                    </a:solidFill>
                  </a:tcPr>
                </a:tc>
                <a:tc>
                  <a:txBody>
                    <a:bodyPr/>
                    <a:lstStyle/>
                    <a:p>
                      <a:r>
                        <a:rPr sz="1400" b="1">
                          <a:solidFill>
                            <a:srgbClr val="22D3EE"/>
                          </a:solidFill>
                          <a:latin typeface="Segoe UI"/>
                        </a:rPr>
                        <a:t>Xotira</a:t>
                      </a:r>
                    </a:p>
                  </a:txBody>
                  <a:tcPr>
                    <a:solidFill>
                      <a:srgbClr val="1C2755"/>
                    </a:solidFill>
                  </a:tcPr>
                </a:tc>
                <a:tc>
                  <a:txBody>
                    <a:bodyPr/>
                    <a:lstStyle/>
                    <a:p>
                      <a:r>
                        <a:rPr sz="1400" b="1">
                          <a:solidFill>
                            <a:srgbClr val="22D3EE"/>
                          </a:solidFill>
                          <a:latin typeface="Segoe UI"/>
                        </a:rPr>
                        <a:t>Energiya</a:t>
                      </a:r>
                    </a:p>
                  </a:txBody>
                  <a:tcPr>
                    <a:solidFill>
                      <a:srgbClr val="1C2755"/>
                    </a:solidFill>
                  </a:tcPr>
                </a:tc>
                <a:tc>
                  <a:txBody>
                    <a:bodyPr/>
                    <a:lstStyle/>
                    <a:p>
                      <a:r>
                        <a:rPr sz="1400" b="1">
                          <a:solidFill>
                            <a:srgbClr val="22D3EE"/>
                          </a:solidFill>
                          <a:latin typeface="Segoe UI"/>
                        </a:rPr>
                        <a:t>Odatiy vazifa</a:t>
                      </a:r>
                    </a:p>
                  </a:txBody>
                  <a:tcPr>
                    <a:solidFill>
                      <a:srgbClr val="1C2755"/>
                    </a:solidFill>
                  </a:tcPr>
                </a:tc>
              </a:tr>
              <a:tr h="520000">
                <a:tc>
                  <a:txBody>
                    <a:bodyPr/>
                    <a:lstStyle/>
                    <a:p>
                      <a:r>
                        <a:rPr sz="1400" b="0">
                          <a:solidFill>
                            <a:srgbClr val="E8EEFA"/>
                          </a:solidFill>
                          <a:latin typeface="Segoe UI"/>
                        </a:rPr>
                        <a:t>Bulut tezlatkichi</a:t>
                      </a:r>
                    </a:p>
                  </a:txBody>
                  <a:tcPr>
                    <a:solidFill>
                      <a:srgbClr val="111834"/>
                    </a:solidFill>
                  </a:tcPr>
                </a:tc>
                <a:tc>
                  <a:txBody>
                    <a:bodyPr/>
                    <a:lstStyle/>
                    <a:p>
                      <a:r>
                        <a:rPr sz="1400" b="0">
                          <a:solidFill>
                            <a:srgbClr val="E8EEFA"/>
                          </a:solidFill>
                          <a:latin typeface="Segoe UI"/>
                        </a:rPr>
                        <a:t>Intel Gaudi 3</a:t>
                      </a:r>
                    </a:p>
                  </a:txBody>
                  <a:tcPr>
                    <a:solidFill>
                      <a:srgbClr val="111834"/>
                    </a:solidFill>
                  </a:tcPr>
                </a:tc>
                <a:tc>
                  <a:txBody>
                    <a:bodyPr/>
                    <a:lstStyle/>
                    <a:p>
                      <a:r>
                        <a:rPr sz="1400" b="0">
                          <a:solidFill>
                            <a:srgbClr val="E8EEFA"/>
                          </a:solidFill>
                          <a:latin typeface="Segoe UI"/>
                        </a:rPr>
                        <a:t>~1,8 PFLOPS FP8</a:t>
                      </a:r>
                    </a:p>
                  </a:txBody>
                  <a:tcPr>
                    <a:solidFill>
                      <a:srgbClr val="111834"/>
                    </a:solidFill>
                  </a:tcPr>
                </a:tc>
                <a:tc>
                  <a:txBody>
                    <a:bodyPr/>
                    <a:lstStyle/>
                    <a:p>
                      <a:r>
                        <a:rPr sz="1400" b="0">
                          <a:solidFill>
                            <a:srgbClr val="E8EEFA"/>
                          </a:solidFill>
                          <a:latin typeface="Segoe UI"/>
                        </a:rPr>
                        <a:t>128 GB HBM2e, 3,7 TB/s</a:t>
                      </a:r>
                    </a:p>
                  </a:txBody>
                  <a:tcPr>
                    <a:solidFill>
                      <a:srgbClr val="111834"/>
                    </a:solidFill>
                  </a:tcPr>
                </a:tc>
                <a:tc>
                  <a:txBody>
                    <a:bodyPr/>
                    <a:lstStyle/>
                    <a:p>
                      <a:r>
                        <a:rPr sz="1400" b="0">
                          <a:solidFill>
                            <a:srgbClr val="E8EEFA"/>
                          </a:solidFill>
                          <a:latin typeface="Segoe UI"/>
                        </a:rPr>
                        <a:t>~900 W</a:t>
                      </a:r>
                    </a:p>
                  </a:txBody>
                  <a:tcPr>
                    <a:solidFill>
                      <a:srgbClr val="111834"/>
                    </a:solidFill>
                  </a:tcPr>
                </a:tc>
                <a:tc>
                  <a:txBody>
                    <a:bodyPr/>
                    <a:lstStyle/>
                    <a:p>
                      <a:r>
                        <a:rPr sz="1400" b="0">
                          <a:solidFill>
                            <a:srgbClr val="E8EEFA"/>
                          </a:solidFill>
                          <a:latin typeface="Segoe UI"/>
                        </a:rPr>
                        <a:t>LLM o'qitish</a:t>
                      </a:r>
                    </a:p>
                  </a:txBody>
                  <a:tcPr>
                    <a:solidFill>
                      <a:srgbClr val="111834"/>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6" dur="8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33e63c437ae669bb.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1" name="TextBox 40"/>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Oleg Yunakov · Wikimedia Commons · CC BY-SA 4.0</a:t>
            </a:r>
          </a:p>
        </p:txBody>
      </p:sp>
      <p:sp>
        <p:nvSpPr>
          <p:cNvPr id="42" name="TextBox 41"/>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3" name="TextBox 42"/>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4" name="TextBox 43"/>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AI-enabled computer systems arxitekturasi</a:t>
            </a:r>
          </a:p>
        </p:txBody>
      </p:sp>
      <p:sp>
        <p:nvSpPr>
          <p:cNvPr id="45" name="Rectangle 44"/>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150"/>
                            </p:stCondLst>
                            <p:childTnLst>
                              <p:par>
                                <p:cTn id="148" presetID="53" presetClass="entr" presetSubtype="16"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anim calcmode="lin" valueType="num">
                                      <p:cBhvr additive="base">
                                        <p:cTn id="151" dur="550" fill="hold"/>
                                        <p:tgtEl>
                                          <p:spTgt spid="39"/>
                                        </p:tgtEl>
                                        <p:attrNameLst>
                                          <p:attrName>ppt_w</p:attrName>
                                        </p:attrNameLst>
                                      </p:cBhvr>
                                      <p:tavLst>
                                        <p:tav tm="0">
                                          <p:val>
                                            <p:strVal val="0"/>
                                          </p:val>
                                        </p:tav>
                                        <p:tav tm="100000">
                                          <p:val>
                                            <p:strVal val="#ppt_w"/>
                                          </p:val>
                                        </p:tav>
                                      </p:tavLst>
                                    </p:anim>
                                    <p:anim calcmode="lin" valueType="num">
                                      <p:cBhvr additive="base">
                                        <p:cTn id="152" dur="550" fill="hold"/>
                                        <p:tgtEl>
                                          <p:spTgt spid="39"/>
                                        </p:tgtEl>
                                        <p:attrNameLst>
                                          <p:attrName>ppt_h</p:attrName>
                                        </p:attrNameLst>
                                      </p:cBhvr>
                                      <p:tavLst>
                                        <p:tav tm="0">
                                          <p:val>
                                            <p:strVal val="0"/>
                                          </p:val>
                                        </p:tav>
                                        <p:tav tm="100000">
                                          <p:val>
                                            <p:strVal val="#ppt_h"/>
                                          </p:val>
                                        </p:tav>
                                      </p:tavLst>
                                    </p:anim>
                                  </p:childTnLst>
                                </p:cTn>
                              </p:par>
                            </p:childTnLst>
                          </p:cTn>
                        </p:par>
                        <p:par>
                          <p:cTn id="153" fill="hold">
                            <p:stCondLst>
                              <p:cond delay="150"/>
                            </p:stCondLst>
                            <p:childTnLst>
                              <p:par>
                                <p:cTn id="154" presetID="53" presetClass="entr" presetSubtype="16" fill="hold" grpId="0" nodeType="afterEffect">
                                  <p:stCondLst>
                                    <p:cond delay="0"/>
                                  </p:stCondLst>
                                  <p:childTnLst>
                                    <p:set>
                                      <p:cBhvr>
                                        <p:cTn id="155" dur="1" fill="hold">
                                          <p:stCondLst>
                                            <p:cond delay="0"/>
                                          </p:stCondLst>
                                        </p:cTn>
                                        <p:tgtEl>
                                          <p:spTgt spid="40"/>
                                        </p:tgtEl>
                                        <p:attrNameLst>
                                          <p:attrName>style.visibility</p:attrName>
                                        </p:attrNameLst>
                                      </p:cBhvr>
                                      <p:to>
                                        <p:strVal val="visible"/>
                                      </p:to>
                                    </p:set>
                                    <p:animEffect transition="in" filter="fade">
                                      <p:cBhvr>
                                        <p:cTn id="156" dur="550"/>
                                        <p:tgtEl>
                                          <p:spTgt spid="40"/>
                                        </p:tgtEl>
                                      </p:cBhvr>
                                    </p:animEffect>
                                    <p:anim calcmode="lin" valueType="num">
                                      <p:cBhvr additive="base">
                                        <p:cTn id="157" dur="550" fill="hold"/>
                                        <p:tgtEl>
                                          <p:spTgt spid="40"/>
                                        </p:tgtEl>
                                        <p:attrNameLst>
                                          <p:attrName>ppt_w</p:attrName>
                                        </p:attrNameLst>
                                      </p:cBhvr>
                                      <p:tavLst>
                                        <p:tav tm="0">
                                          <p:val>
                                            <p:strVal val="0"/>
                                          </p:val>
                                        </p:tav>
                                        <p:tav tm="100000">
                                          <p:val>
                                            <p:strVal val="#ppt_w"/>
                                          </p:val>
                                        </p:tav>
                                      </p:tavLst>
                                    </p:anim>
                                    <p:anim calcmode="lin" valueType="num">
                                      <p:cBhvr additive="base">
                                        <p:cTn id="158" dur="550" fill="hold"/>
                                        <p:tgtEl>
                                          <p:spTgt spid="40"/>
                                        </p:tgtEl>
                                        <p:attrNameLst>
                                          <p:attrName>ppt_h</p:attrName>
                                        </p:attrNameLst>
                                      </p:cBhvr>
                                      <p:tavLst>
                                        <p:tav tm="0">
                                          <p:val>
                                            <p:strVal val="0"/>
                                          </p:val>
                                        </p:tav>
                                        <p:tav tm="100000">
                                          <p:val>
                                            <p:strVal val="#ppt_h"/>
                                          </p:val>
                                        </p:tav>
                                      </p:tavLst>
                                    </p:anim>
                                  </p:childTnLst>
                                </p:cTn>
                              </p:par>
                            </p:childTnLst>
                          </p:cTn>
                        </p:par>
                        <p:par>
                          <p:cTn id="159" fill="hold">
                            <p:stCondLst>
                              <p:cond delay="150"/>
                            </p:stCondLst>
                            <p:childTnLst>
                              <p:par>
                                <p:cTn id="160" presetID="10" presetClass="entr" presetSubtype="0"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childTnLst>
                                </p:cTn>
                              </p:par>
                            </p:childTnLst>
                          </p:cTn>
                        </p:par>
                        <p:par>
                          <p:cTn id="163" fill="hold">
                            <p:stCondLst>
                              <p:cond delay="350"/>
                            </p:stCondLst>
                            <p:childTnLst>
                              <p:par>
                                <p:cTn id="164" presetID="53" presetClass="entr" presetSubtype="16"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anim calcmode="lin" valueType="num">
                                      <p:cBhvr additive="base">
                                        <p:cTn id="167" dur="550" fill="hold"/>
                                        <p:tgtEl>
                                          <p:spTgt spid="42"/>
                                        </p:tgtEl>
                                        <p:attrNameLst>
                                          <p:attrName>ppt_w</p:attrName>
                                        </p:attrNameLst>
                                      </p:cBhvr>
                                      <p:tavLst>
                                        <p:tav tm="0">
                                          <p:val>
                                            <p:strVal val="0"/>
                                          </p:val>
                                        </p:tav>
                                        <p:tav tm="100000">
                                          <p:val>
                                            <p:strVal val="#ppt_w"/>
                                          </p:val>
                                        </p:tav>
                                      </p:tavLst>
                                    </p:anim>
                                    <p:anim calcmode="lin" valueType="num">
                                      <p:cBhvr additive="base">
                                        <p:cTn id="168" dur="550" fill="hold"/>
                                        <p:tgtEl>
                                          <p:spTgt spid="42"/>
                                        </p:tgtEl>
                                        <p:attrNameLst>
                                          <p:attrName>ppt_h</p:attrName>
                                        </p:attrNameLst>
                                      </p:cBhvr>
                                      <p:tavLst>
                                        <p:tav tm="0">
                                          <p:val>
                                            <p:strVal val="0"/>
                                          </p:val>
                                        </p:tav>
                                        <p:tav tm="100000">
                                          <p:val>
                                            <p:strVal val="#ppt_h"/>
                                          </p:val>
                                        </p:tav>
                                      </p:tavLst>
                                    </p:anim>
                                  </p:childTnLst>
                                </p:cTn>
                              </p:par>
                            </p:childTnLst>
                          </p:cTn>
                        </p:par>
                        <p:par>
                          <p:cTn id="169" fill="hold">
                            <p:stCondLst>
                              <p:cond delay="450"/>
                            </p:stCondLst>
                            <p:childTnLst>
                              <p:par>
                                <p:cTn id="170" presetID="10" presetClass="entr" presetSubtype="0"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Effect transition="in" filter="fade">
                                      <p:cBhvr>
                                        <p:cTn id="172" dur="550"/>
                                        <p:tgtEl>
                                          <p:spTgt spid="43"/>
                                        </p:tgtEl>
                                      </p:cBhvr>
                                    </p:animEffect>
                                  </p:childTnLst>
                                </p:cTn>
                              </p:par>
                            </p:childTnLst>
                          </p:cTn>
                        </p:par>
                        <p:par>
                          <p:cTn id="173" fill="hold">
                            <p:stCondLst>
                              <p:cond delay="550"/>
                            </p:stCondLst>
                            <p:childTnLst>
                              <p:par>
                                <p:cTn id="174" presetID="2" presetClass="entr" presetSubtype="8"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 calcmode="lin" valueType="num">
                                      <p:cBhvr additive="base">
                                        <p:cTn id="177" dur="550" fill="hold"/>
                                        <p:tgtEl>
                                          <p:spTgt spid="44"/>
                                        </p:tgtEl>
                                        <p:attrNameLst>
                                          <p:attrName>ppt_x</p:attrName>
                                        </p:attrNameLst>
                                      </p:cBhvr>
                                      <p:tavLst>
                                        <p:tav tm="0">
                                          <p:val>
                                            <p:strVal val="0-#ppt_w/2"/>
                                          </p:val>
                                        </p:tav>
                                        <p:tav tm="100000">
                                          <p:val>
                                            <p:strVal val="#ppt_x"/>
                                          </p:val>
                                        </p:tav>
                                      </p:tavLst>
                                    </p:anim>
                                    <p:anim calcmode="lin" valueType="num">
                                      <p:cBhvr additive="base">
                                        <p:cTn id="178" dur="550" fill="hold"/>
                                        <p:tgtEl>
                                          <p:spTgt spid="44"/>
                                        </p:tgtEl>
                                        <p:attrNameLst>
                                          <p:attrName>ppt_y</p:attrName>
                                        </p:attrNameLst>
                                      </p:cBhvr>
                                      <p:tavLst>
                                        <p:tav tm="0">
                                          <p:val>
                                            <p:strVal val="#ppt_y"/>
                                          </p:val>
                                        </p:tav>
                                        <p:tav tm="100000">
                                          <p:val>
                                            <p:strVal val="#ppt_y"/>
                                          </p:val>
                                        </p:tav>
                                      </p:tavLst>
                                    </p:anim>
                                  </p:childTnLst>
                                </p:cTn>
                              </p:par>
                            </p:childTnLst>
                          </p:cTn>
                        </p:par>
                        <p:par>
                          <p:cTn id="179" fill="hold">
                            <p:stCondLst>
                              <p:cond delay="650"/>
                            </p:stCondLst>
                            <p:childTnLst>
                              <p:par>
                                <p:cTn id="180" presetID="22" presetClass="entr" presetSubtype="8" fill="hold" grpId="0" nodeType="afterEffect">
                                  <p:stCondLst>
                                    <p:cond delay="0"/>
                                  </p:stCondLst>
                                  <p:childTnLst>
                                    <p:set>
                                      <p:cBhvr>
                                        <p:cTn id="181" dur="1" fill="hold">
                                          <p:stCondLst>
                                            <p:cond delay="0"/>
                                          </p:stCondLst>
                                        </p:cTn>
                                        <p:tgtEl>
                                          <p:spTgt spid="45"/>
                                        </p:tgtEl>
                                        <p:attrNameLst>
                                          <p:attrName>style.visibility</p:attrName>
                                        </p:attrNameLst>
                                      </p:cBhvr>
                                      <p:to>
                                        <p:strVal val="visible"/>
                                      </p:to>
                                    </p:set>
                                    <p:animEffect transition="in" filter="wipe(left)">
                                      <p:cBhvr>
                                        <p:cTn id="183" dur="8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1" grpId="0" animBg="1"/>
      <p:bldP spid="42" grpId="0" animBg="1"/>
      <p:bldP spid="43" grpId="0" animBg="1"/>
      <p:bldP spid="44" grpId="0" animBg="1"/>
      <p:bldP spid="4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42478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504780"/>
            <a:ext cx="50000" cy="13434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197652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464780"/>
            <a:ext cx="5900000" cy="1423480"/>
          </a:xfrm>
          <a:prstGeom prst="rect">
            <a:avLst/>
          </a:prstGeom>
          <a:noFill/>
        </p:spPr>
        <p:txBody>
          <a:bodyPr wrap="square" anchor="ctr">
            <a:spAutoFit/>
          </a:bodyPr>
          <a:lstStyle/>
          <a:p>
            <a:r>
              <a:rPr sz="1500" b="1">
                <a:solidFill>
                  <a:srgbClr val="E8EEFA"/>
                </a:solidFill>
                <a:latin typeface="Segoe UI"/>
              </a:rPr>
              <a:t>AI-enabled kompyuter tizimi — bu funksionalligining muhim qismi o'qitilgan model orqali amalga oshiriladigan tizim.</a:t>
            </a:r>
          </a:p>
          <a:p>
            <a:pPr>
              <a:spcBef>
                <a:spcPts val="400"/>
              </a:spcBef>
            </a:pPr>
            <a:r>
              <a:rPr sz="1400">
                <a:solidFill>
                  <a:srgbClr val="AEBBD9"/>
                </a:solidFill>
                <a:latin typeface="Segoe UI"/>
              </a:rPr>
              <a:t>Uning arxitekturasini besh qatlamli model sifatida tasavvur qilish qulay:</a:t>
            </a:r>
          </a:p>
        </p:txBody>
      </p:sp>
      <p:sp>
        <p:nvSpPr>
          <p:cNvPr id="31" name="Rounded Rectangle 30"/>
          <p:cNvSpPr/>
          <p:nvPr/>
        </p:nvSpPr>
        <p:spPr>
          <a:xfrm>
            <a:off x="550000" y="303826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118260"/>
            <a:ext cx="50000" cy="134348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078260"/>
            <a:ext cx="5900000" cy="1423480"/>
          </a:xfrm>
          <a:prstGeom prst="rect">
            <a:avLst/>
          </a:prstGeom>
          <a:noFill/>
        </p:spPr>
        <p:txBody>
          <a:bodyPr wrap="square" anchor="ctr">
            <a:spAutoFit/>
          </a:bodyPr>
          <a:lstStyle/>
          <a:p>
            <a:r>
              <a:rPr sz="1500" b="1">
                <a:solidFill>
                  <a:srgbClr val="E8EEFA"/>
                </a:solidFill>
                <a:latin typeface="Segoe UI"/>
              </a:rPr>
              <a:t>Ma'lumot qabul qilish qatlami (ingestion).</a:t>
            </a:r>
          </a:p>
          <a:p>
            <a:pPr>
              <a:spcBef>
                <a:spcPts val="400"/>
              </a:spcBef>
            </a:pPr>
            <a:r>
              <a:rPr sz="1400">
                <a:solidFill>
                  <a:srgbClr val="AEBBD9"/>
                </a:solidFill>
                <a:latin typeface="Segoe UI"/>
              </a:rPr>
              <a:t>Sensorlar, kameralar, jurnallar, foydalanuvchi so'rovlari. Bu yerda protokollar (RTSP, MQTT, HTTP/gRPC), kodeklar (H.264/H.265) va buferlash hal qilinadi.</a:t>
            </a:r>
          </a:p>
        </p:txBody>
      </p:sp>
      <p:sp>
        <p:nvSpPr>
          <p:cNvPr id="35" name="Rounded Rectangle 34"/>
          <p:cNvSpPr/>
          <p:nvPr/>
        </p:nvSpPr>
        <p:spPr>
          <a:xfrm>
            <a:off x="550000" y="4651740"/>
            <a:ext cx="6750000" cy="150348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4731740"/>
            <a:ext cx="50000" cy="134348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520348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8" name="TextBox 37"/>
          <p:cNvSpPr txBox="1"/>
          <p:nvPr/>
        </p:nvSpPr>
        <p:spPr>
          <a:xfrm>
            <a:off x="1300000" y="4691740"/>
            <a:ext cx="5900000" cy="1423480"/>
          </a:xfrm>
          <a:prstGeom prst="rect">
            <a:avLst/>
          </a:prstGeom>
          <a:noFill/>
        </p:spPr>
        <p:txBody>
          <a:bodyPr wrap="square" anchor="ctr">
            <a:spAutoFit/>
          </a:bodyPr>
          <a:lstStyle/>
          <a:p>
            <a:r>
              <a:rPr sz="1500" b="1">
                <a:solidFill>
                  <a:srgbClr val="E8EEFA"/>
                </a:solidFill>
                <a:latin typeface="Segoe UI"/>
              </a:rPr>
              <a:t>Oldindan ishlov berish qatlami (preprocessing).</a:t>
            </a:r>
          </a:p>
          <a:p>
            <a:pPr>
              <a:spcBef>
                <a:spcPts val="400"/>
              </a:spcBef>
            </a:pPr>
            <a:r>
              <a:rPr sz="1400">
                <a:solidFill>
                  <a:srgbClr val="AEBBD9"/>
                </a:solidFill>
                <a:latin typeface="Segoe UI"/>
              </a:rPr>
              <a:t>Dekodlash, o'lchamini o'zgartirish, normallashtirish, tokenlashtirish. Ko'pincha e'tibordan chetda qoladi, lekin video tizimlarida dekodlash inferensdan ko'ra ko'proq resurs talab qilishi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550"/>
                                        <p:tgtEl>
                                          <p:spTgt spid="35"/>
                                        </p:tgtEl>
                                      </p:cBhvr>
                                    </p:animEffect>
                                    <p:anim calcmode="lin" valueType="num">
                                      <p:cBhvr additive="base">
                                        <p:cTn id="84" dur="550" fill="hold"/>
                                        <p:tgtEl>
                                          <p:spTgt spid="35"/>
                                        </p:tgtEl>
                                        <p:attrNameLst>
                                          <p:attrName>ppt_x</p:attrName>
                                        </p:attrNameLst>
                                      </p:cBhvr>
                                      <p:tavLst>
                                        <p:tav tm="0">
                                          <p:val>
                                            <p:strVal val="#ppt_x"/>
                                          </p:val>
                                        </p:tav>
                                        <p:tav tm="100000">
                                          <p:val>
                                            <p:strVal val="#ppt_x"/>
                                          </p:val>
                                        </p:tav>
                                      </p:tavLst>
                                    </p:anim>
                                    <p:anim calcmode="lin" valueType="num">
                                      <p:cBhvr additive="base">
                                        <p:cTn id="85" dur="550" fill="hold"/>
                                        <p:tgtEl>
                                          <p:spTgt spid="35"/>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550"/>
                                        <p:tgtEl>
                                          <p:spTgt spid="36"/>
                                        </p:tgtEl>
                                      </p:cBhvr>
                                    </p:animEffect>
                                    <p:anim calcmode="lin" valueType="num">
                                      <p:cBhvr additive="base">
                                        <p:cTn id="90" dur="550" fill="hold"/>
                                        <p:tgtEl>
                                          <p:spTgt spid="36"/>
                                        </p:tgtEl>
                                        <p:attrNameLst>
                                          <p:attrName>ppt_x</p:attrName>
                                        </p:attrNameLst>
                                      </p:cBhvr>
                                      <p:tavLst>
                                        <p:tav tm="0">
                                          <p:val>
                                            <p:strVal val="#ppt_x"/>
                                          </p:val>
                                        </p:tav>
                                        <p:tav tm="100000">
                                          <p:val>
                                            <p:strVal val="#ppt_x"/>
                                          </p:val>
                                        </p:tav>
                                      </p:tavLst>
                                    </p:anim>
                                    <p:anim calcmode="lin" valueType="num">
                                      <p:cBhvr additive="base">
                                        <p:cTn id="91" dur="550" fill="hold"/>
                                        <p:tgtEl>
                                          <p:spTgt spid="36"/>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7"/>
                                        </p:tgtEl>
                                        <p:attrNameLst>
                                          <p:attrName>style.visibility</p:attrName>
                                        </p:attrNameLst>
                                      </p:cBhvr>
                                      <p:to>
                                        <p:strVal val="visible"/>
                                      </p:to>
                                    </p:set>
                                    <p:animEffect transition="in" filter="fade">
                                      <p:cBhvr>
                                        <p:cTn id="95" dur="550"/>
                                        <p:tgtEl>
                                          <p:spTgt spid="37"/>
                                        </p:tgtEl>
                                      </p:cBhvr>
                                    </p:animEffect>
                                    <p:anim calcmode="lin" valueType="num">
                                      <p:cBhvr additive="base">
                                        <p:cTn id="96" dur="550" fill="hold"/>
                                        <p:tgtEl>
                                          <p:spTgt spid="37"/>
                                        </p:tgtEl>
                                        <p:attrNameLst>
                                          <p:attrName>ppt_w</p:attrName>
                                        </p:attrNameLst>
                                      </p:cBhvr>
                                      <p:tavLst>
                                        <p:tav tm="0">
                                          <p:val>
                                            <p:strVal val="0"/>
                                          </p:val>
                                        </p:tav>
                                        <p:tav tm="100000">
                                          <p:val>
                                            <p:strVal val="#ppt_w"/>
                                          </p:val>
                                        </p:tav>
                                      </p:tavLst>
                                    </p:anim>
                                    <p:anim calcmode="lin" valueType="num">
                                      <p:cBhvr additive="base">
                                        <p:cTn id="97" dur="550" fill="hold"/>
                                        <p:tgtEl>
                                          <p:spTgt spid="37"/>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550"/>
                                        <p:tgtEl>
                                          <p:spTgt spid="38"/>
                                        </p:tgtEl>
                                      </p:cBhvr>
                                    </p:animEffect>
                                    <p:anim calcmode="lin" valueType="num">
                                      <p:cBhvr additive="base">
                                        <p:cTn id="102" dur="550" fill="hold"/>
                                        <p:tgtEl>
                                          <p:spTgt spid="38"/>
                                        </p:tgtEl>
                                        <p:attrNameLst>
                                          <p:attrName>ppt_x</p:attrName>
                                        </p:attrNameLst>
                                      </p:cBhvr>
                                      <p:tavLst>
                                        <p:tav tm="0">
                                          <p:val>
                                            <p:strVal val="#ppt_x"/>
                                          </p:val>
                                        </p:tav>
                                        <p:tav tm="100000">
                                          <p:val>
                                            <p:strVal val="#ppt_x"/>
                                          </p:val>
                                        </p:tav>
                                      </p:tavLst>
                                    </p:anim>
                                    <p:anim calcmode="lin" valueType="num">
                                      <p:cBhvr additive="base">
                                        <p:cTn id="103"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76824"/>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56824"/>
            <a:ext cx="50000" cy="110878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21121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29" name="TextBox 28"/>
          <p:cNvSpPr txBox="1"/>
          <p:nvPr/>
        </p:nvSpPr>
        <p:spPr>
          <a:xfrm>
            <a:off x="1300000" y="1816824"/>
            <a:ext cx="5900000" cy="1188784"/>
          </a:xfrm>
          <a:prstGeom prst="rect">
            <a:avLst/>
          </a:prstGeom>
          <a:noFill/>
        </p:spPr>
        <p:txBody>
          <a:bodyPr wrap="square" anchor="ctr">
            <a:spAutoFit/>
          </a:bodyPr>
          <a:lstStyle/>
          <a:p>
            <a:r>
              <a:rPr sz="1500" b="1">
                <a:solidFill>
                  <a:srgbClr val="E8EEFA"/>
                </a:solidFill>
                <a:latin typeface="Segoe UI"/>
              </a:rPr>
              <a:t>Inferens qatlami.</a:t>
            </a:r>
          </a:p>
          <a:p>
            <a:pPr>
              <a:spcBef>
                <a:spcPts val="400"/>
              </a:spcBef>
            </a:pPr>
            <a:r>
              <a:rPr sz="1400">
                <a:solidFill>
                  <a:srgbClr val="AEBBD9"/>
                </a:solidFill>
                <a:latin typeface="Segoe UI"/>
              </a:rPr>
              <a:t>Modelning o'zi va uni bajaruvchi ish vaqti muhiti (PyTorch, ONNX Runtime, TensorRT, OpenVINO). Bu qatlam tezlatkich bilan bevosita ishlaydi.</a:t>
            </a:r>
          </a:p>
        </p:txBody>
      </p:sp>
      <p:sp>
        <p:nvSpPr>
          <p:cNvPr id="30" name="Rounded Rectangle 29"/>
          <p:cNvSpPr/>
          <p:nvPr/>
        </p:nvSpPr>
        <p:spPr>
          <a:xfrm>
            <a:off x="550000" y="3155608"/>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235608"/>
            <a:ext cx="50000" cy="11087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3" name="TextBox 32"/>
          <p:cNvSpPr txBox="1"/>
          <p:nvPr/>
        </p:nvSpPr>
        <p:spPr>
          <a:xfrm>
            <a:off x="1300000" y="3195608"/>
            <a:ext cx="5900000" cy="1188784"/>
          </a:xfrm>
          <a:prstGeom prst="rect">
            <a:avLst/>
          </a:prstGeom>
          <a:noFill/>
        </p:spPr>
        <p:txBody>
          <a:bodyPr wrap="square" anchor="ctr">
            <a:spAutoFit/>
          </a:bodyPr>
          <a:lstStyle/>
          <a:p>
            <a:r>
              <a:rPr sz="1500" b="1">
                <a:solidFill>
                  <a:srgbClr val="E8EEFA"/>
                </a:solidFill>
                <a:latin typeface="Segoe UI"/>
              </a:rPr>
              <a:t>Orkestratsiya va biznes mantiq qatlami.</a:t>
            </a:r>
          </a:p>
          <a:p>
            <a:pPr>
              <a:spcBef>
                <a:spcPts val="400"/>
              </a:spcBef>
            </a:pPr>
            <a:r>
              <a:rPr sz="1400">
                <a:solidFill>
                  <a:srgbClr val="AEBBD9"/>
                </a:solidFill>
                <a:latin typeface="Segoe UI"/>
              </a:rPr>
              <a:t>Natijalarni birlashtirish, qoidalar, kuzatish (tracking), hodisalarni yaratish, saqlash, boshqa tizimlarga uzatish.</a:t>
            </a:r>
          </a:p>
        </p:txBody>
      </p:sp>
      <p:sp>
        <p:nvSpPr>
          <p:cNvPr id="34" name="Rounded Rectangle 33"/>
          <p:cNvSpPr/>
          <p:nvPr/>
        </p:nvSpPr>
        <p:spPr>
          <a:xfrm>
            <a:off x="550000" y="4534392"/>
            <a:ext cx="6750000" cy="126878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14392"/>
            <a:ext cx="50000" cy="1108784"/>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968784"/>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7" name="TextBox 36"/>
          <p:cNvSpPr txBox="1"/>
          <p:nvPr/>
        </p:nvSpPr>
        <p:spPr>
          <a:xfrm>
            <a:off x="1300000" y="4574392"/>
            <a:ext cx="5900000" cy="1188784"/>
          </a:xfrm>
          <a:prstGeom prst="rect">
            <a:avLst/>
          </a:prstGeom>
          <a:noFill/>
        </p:spPr>
        <p:txBody>
          <a:bodyPr wrap="square" anchor="ctr">
            <a:spAutoFit/>
          </a:bodyPr>
          <a:lstStyle/>
          <a:p>
            <a:r>
              <a:rPr sz="1500" b="1">
                <a:solidFill>
                  <a:srgbClr val="E8EEFA"/>
                </a:solidFill>
                <a:latin typeface="Segoe UI"/>
              </a:rPr>
              <a:t>Kuzatuv va boshqaruv qatlami (observability).</a:t>
            </a:r>
          </a:p>
          <a:p>
            <a:pPr>
              <a:spcBef>
                <a:spcPts val="400"/>
              </a:spcBef>
            </a:pPr>
            <a:r>
              <a:rPr sz="1400">
                <a:solidFill>
                  <a:srgbClr val="AEBBD9"/>
                </a:solidFill>
                <a:latin typeface="Segoe UI"/>
              </a:rPr>
              <a:t>Metrikalar (kechikish, o'tkazuvchanlik, GPU bandligi), jurnallar, model sifati monitoringi, versiya boshqaruvi.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par>
                          <p:cTn id="80" fill="hold">
                            <p:stCondLst>
                              <p:cond delay="750"/>
                            </p:stCondLst>
                            <p:childTnLst>
                              <p:par>
                                <p:cTn id="81" presetID="42" presetClass="entr" presetSubtype="0" fill="hold" grpId="0" nodeType="afterEffect">
                                  <p:stCondLst>
                                    <p:cond delay="0"/>
                                  </p:stCondLst>
                                  <p:childTnLst>
                                    <p:set>
                                      <p:cBhvr>
                                        <p:cTn id="82" dur="1" fill="hold">
                                          <p:stCondLst>
                                            <p:cond delay="0"/>
                                          </p:stCondLst>
                                        </p:cTn>
                                        <p:tgtEl>
                                          <p:spTgt spid="34"/>
                                        </p:tgtEl>
                                        <p:attrNameLst>
                                          <p:attrName>style.visibility</p:attrName>
                                        </p:attrNameLst>
                                      </p:cBhvr>
                                      <p:to>
                                        <p:strVal val="visible"/>
                                      </p:to>
                                    </p:set>
                                    <p:animEffect transition="in" filter="fade">
                                      <p:cBhvr>
                                        <p:cTn id="83" dur="550"/>
                                        <p:tgtEl>
                                          <p:spTgt spid="34"/>
                                        </p:tgtEl>
                                      </p:cBhvr>
                                    </p:animEffect>
                                    <p:anim calcmode="lin" valueType="num">
                                      <p:cBhvr additive="base">
                                        <p:cTn id="84" dur="550" fill="hold"/>
                                        <p:tgtEl>
                                          <p:spTgt spid="34"/>
                                        </p:tgtEl>
                                        <p:attrNameLst>
                                          <p:attrName>ppt_x</p:attrName>
                                        </p:attrNameLst>
                                      </p:cBhvr>
                                      <p:tavLst>
                                        <p:tav tm="0">
                                          <p:val>
                                            <p:strVal val="#ppt_x"/>
                                          </p:val>
                                        </p:tav>
                                        <p:tav tm="100000">
                                          <p:val>
                                            <p:strVal val="#ppt_x"/>
                                          </p:val>
                                        </p:tav>
                                      </p:tavLst>
                                    </p:anim>
                                    <p:anim calcmode="lin" valueType="num">
                                      <p:cBhvr additive="base">
                                        <p:cTn id="85" dur="550" fill="hold"/>
                                        <p:tgtEl>
                                          <p:spTgt spid="34"/>
                                        </p:tgtEl>
                                        <p:attrNameLst>
                                          <p:attrName>ppt_y</p:attrName>
                                        </p:attrNameLst>
                                      </p:cBhvr>
                                      <p:tavLst>
                                        <p:tav tm="0">
                                          <p:val>
                                            <p:strVal val="#ppt_y+.08"/>
                                          </p:val>
                                        </p:tav>
                                        <p:tav tm="100000">
                                          <p:val>
                                            <p:strVal val="#ppt_y"/>
                                          </p:val>
                                        </p:tav>
                                      </p:tavLst>
                                    </p:anim>
                                  </p:childTnLst>
                                </p:cTn>
                              </p:par>
                            </p:childTnLst>
                          </p:cTn>
                        </p:par>
                        <p:par>
                          <p:cTn id="86" fill="hold">
                            <p:stCondLst>
                              <p:cond delay="750"/>
                            </p:stCondLst>
                            <p:childTnLst>
                              <p:par>
                                <p:cTn id="87" presetID="42" presetClass="entr" presetSubtype="0" fill="hold" grpId="0" nodeType="afterEffect">
                                  <p:stCondLst>
                                    <p:cond delay="0"/>
                                  </p:stCondLst>
                                  <p:childTnLst>
                                    <p:set>
                                      <p:cBhvr>
                                        <p:cTn id="88" dur="1" fill="hold">
                                          <p:stCondLst>
                                            <p:cond delay="0"/>
                                          </p:stCondLst>
                                        </p:cTn>
                                        <p:tgtEl>
                                          <p:spTgt spid="35"/>
                                        </p:tgtEl>
                                        <p:attrNameLst>
                                          <p:attrName>style.visibility</p:attrName>
                                        </p:attrNameLst>
                                      </p:cBhvr>
                                      <p:to>
                                        <p:strVal val="visible"/>
                                      </p:to>
                                    </p:set>
                                    <p:animEffect transition="in" filter="fade">
                                      <p:cBhvr>
                                        <p:cTn id="89" dur="550"/>
                                        <p:tgtEl>
                                          <p:spTgt spid="35"/>
                                        </p:tgtEl>
                                      </p:cBhvr>
                                    </p:animEffect>
                                    <p:anim calcmode="lin" valueType="num">
                                      <p:cBhvr additive="base">
                                        <p:cTn id="90" dur="550" fill="hold"/>
                                        <p:tgtEl>
                                          <p:spTgt spid="35"/>
                                        </p:tgtEl>
                                        <p:attrNameLst>
                                          <p:attrName>ppt_x</p:attrName>
                                        </p:attrNameLst>
                                      </p:cBhvr>
                                      <p:tavLst>
                                        <p:tav tm="0">
                                          <p:val>
                                            <p:strVal val="#ppt_x"/>
                                          </p:val>
                                        </p:tav>
                                        <p:tav tm="100000">
                                          <p:val>
                                            <p:strVal val="#ppt_x"/>
                                          </p:val>
                                        </p:tav>
                                      </p:tavLst>
                                    </p:anim>
                                    <p:anim calcmode="lin" valueType="num">
                                      <p:cBhvr additive="base">
                                        <p:cTn id="91" dur="550" fill="hold"/>
                                        <p:tgtEl>
                                          <p:spTgt spid="35"/>
                                        </p:tgtEl>
                                        <p:attrNameLst>
                                          <p:attrName>ppt_y</p:attrName>
                                        </p:attrNameLst>
                                      </p:cBhvr>
                                      <p:tavLst>
                                        <p:tav tm="0">
                                          <p:val>
                                            <p:strVal val="#ppt_y+.08"/>
                                          </p:val>
                                        </p:tav>
                                        <p:tav tm="100000">
                                          <p:val>
                                            <p:strVal val="#ppt_y"/>
                                          </p:val>
                                        </p:tav>
                                      </p:tavLst>
                                    </p:anim>
                                  </p:childTnLst>
                                </p:cTn>
                              </p:par>
                            </p:childTnLst>
                          </p:cTn>
                        </p:par>
                        <p:par>
                          <p:cTn id="92" fill="hold">
                            <p:stCondLst>
                              <p:cond delay="750"/>
                            </p:stCondLst>
                            <p:childTnLst>
                              <p:par>
                                <p:cTn id="93" presetID="53" presetClass="entr" presetSubtype="16"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550"/>
                                        <p:tgtEl>
                                          <p:spTgt spid="36"/>
                                        </p:tgtEl>
                                      </p:cBhvr>
                                    </p:animEffect>
                                    <p:anim calcmode="lin" valueType="num">
                                      <p:cBhvr additive="base">
                                        <p:cTn id="96" dur="550" fill="hold"/>
                                        <p:tgtEl>
                                          <p:spTgt spid="36"/>
                                        </p:tgtEl>
                                        <p:attrNameLst>
                                          <p:attrName>ppt_w</p:attrName>
                                        </p:attrNameLst>
                                      </p:cBhvr>
                                      <p:tavLst>
                                        <p:tav tm="0">
                                          <p:val>
                                            <p:strVal val="0"/>
                                          </p:val>
                                        </p:tav>
                                        <p:tav tm="100000">
                                          <p:val>
                                            <p:strVal val="#ppt_w"/>
                                          </p:val>
                                        </p:tav>
                                      </p:tavLst>
                                    </p:anim>
                                    <p:anim calcmode="lin" valueType="num">
                                      <p:cBhvr additive="base">
                                        <p:cTn id="97" dur="550" fill="hold"/>
                                        <p:tgtEl>
                                          <p:spTgt spid="36"/>
                                        </p:tgtEl>
                                        <p:attrNameLst>
                                          <p:attrName>ppt_h</p:attrName>
                                        </p:attrNameLst>
                                      </p:cBhvr>
                                      <p:tavLst>
                                        <p:tav tm="0">
                                          <p:val>
                                            <p:strVal val="0"/>
                                          </p:val>
                                        </p:tav>
                                        <p:tav tm="100000">
                                          <p:val>
                                            <p:strVal val="#ppt_h"/>
                                          </p:val>
                                        </p:tav>
                                      </p:tavLst>
                                    </p:anim>
                                  </p:childTnLst>
                                </p:cTn>
                              </p:par>
                            </p:childTnLst>
                          </p:cTn>
                        </p:par>
                        <p:par>
                          <p:cTn id="98" fill="hold">
                            <p:stCondLst>
                              <p:cond delay="750"/>
                            </p:stCondLst>
                            <p:childTnLst>
                              <p:par>
                                <p:cTn id="99" presetID="42" presetClass="entr" presetSubtype="0" fill="hold" grpId="0" nodeType="after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550"/>
                                        <p:tgtEl>
                                          <p:spTgt spid="37"/>
                                        </p:tgtEl>
                                      </p:cBhvr>
                                    </p:animEffect>
                                    <p:anim calcmode="lin" valueType="num">
                                      <p:cBhvr additive="base">
                                        <p:cTn id="102" dur="550" fill="hold"/>
                                        <p:tgtEl>
                                          <p:spTgt spid="37"/>
                                        </p:tgtEl>
                                        <p:attrNameLst>
                                          <p:attrName>ppt_x</p:attrName>
                                        </p:attrNameLst>
                                      </p:cBhvr>
                                      <p:tavLst>
                                        <p:tav tm="0">
                                          <p:val>
                                            <p:strVal val="#ppt_x"/>
                                          </p:val>
                                        </p:tav>
                                        <p:tav tm="100000">
                                          <p:val>
                                            <p:strVal val="#ppt_x"/>
                                          </p:val>
                                        </p:tav>
                                      </p:tavLst>
                                    </p:anim>
                                    <p:anim calcmode="lin" valueType="num">
                                      <p:cBhvr additive="base">
                                        <p:cTn id="103"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29" name="TextBox 28"/>
          <p:cNvSpPr txBox="1"/>
          <p:nvPr/>
        </p:nvSpPr>
        <p:spPr>
          <a:xfrm>
            <a:off x="1300000" y="1567432"/>
            <a:ext cx="5900000" cy="2127568"/>
          </a:xfrm>
          <a:prstGeom prst="rect">
            <a:avLst/>
          </a:prstGeom>
          <a:noFill/>
        </p:spPr>
        <p:txBody>
          <a:bodyPr wrap="square" anchor="ctr">
            <a:spAutoFit/>
          </a:bodyPr>
          <a:lstStyle/>
          <a:p>
            <a:r>
              <a:rPr sz="1500" b="1">
                <a:solidFill>
                  <a:srgbClr val="E8EEFA"/>
                </a:solidFill>
                <a:latin typeface="Segoe UI"/>
              </a:rPr>
              <a:t>Qatlamlar orasidagi interfeyslar aniq belgilanishi kerak, chunki ular apparat chegaralari bilan mos tushadi: masalan, 1-2-qatlamlar CPU va video dekoder (NVDEC) da, 3-qatlam GPU da, 4-5-qatlamlar CPU da ishlashi mumkin.</a:t>
            </a:r>
          </a:p>
          <a:p>
            <a:pPr>
              <a:spcBef>
                <a:spcPts val="400"/>
              </a:spcBef>
            </a:pPr>
            <a:r>
              <a:rPr sz="1400">
                <a:solidFill>
                  <a:srgbClr val="AEBBD9"/>
                </a:solidFill>
                <a:latin typeface="Segoe UI"/>
              </a:rPr>
              <a:t>Ma'lumotning bu chegaralardan o'tishi — xost va qurilma xotirasi o'rtasida nusxalash — ko'pincha asosiy to'siq (bottleneck) bo'ladi.</a:t>
            </a:r>
          </a:p>
        </p:txBody>
      </p:sp>
      <p:sp>
        <p:nvSpPr>
          <p:cNvPr id="30" name="Rounded Rectangle 29"/>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3" name="TextBox 32"/>
          <p:cNvSpPr txBox="1"/>
          <p:nvPr/>
        </p:nvSpPr>
        <p:spPr>
          <a:xfrm>
            <a:off x="1300000" y="3885000"/>
            <a:ext cx="5900000" cy="2127568"/>
          </a:xfrm>
          <a:prstGeom prst="rect">
            <a:avLst/>
          </a:prstGeom>
          <a:noFill/>
        </p:spPr>
        <p:txBody>
          <a:bodyPr wrap="square" anchor="ctr">
            <a:spAutoFit/>
          </a:bodyPr>
          <a:lstStyle/>
          <a:p>
            <a:r>
              <a:rPr sz="1500" b="1">
                <a:solidFill>
                  <a:srgbClr val="E8EEFA"/>
                </a:solidFill>
                <a:latin typeface="Segoe UI"/>
              </a:rPr>
              <a:t>Arxitekturaning yana bir o'lchovi — inferens rejimi.</a:t>
            </a:r>
          </a:p>
          <a:p>
            <a:pPr>
              <a:spcBef>
                <a:spcPts val="400"/>
              </a:spcBef>
            </a:pPr>
            <a:r>
              <a:rPr sz="1400">
                <a:solidFill>
                  <a:srgbClr val="AEBBD9"/>
                </a:solidFill>
                <a:latin typeface="Segoe UI"/>
              </a:rPr>
              <a:t>Onlayn (real vaqt) rejimda har bir so'rov alohida va kechikish muhim; paketli (batch) rejimda so'rovlar to'planib, o'tkazuvchanlik muhim; oqimli (streaming) rejimda uzluksiz ma'lumot oqimi qayta ishlanadi.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AI-enabled computer systems arxitekturasi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Ko'rsatkichlarni rasmiylashtiraylik.</a:t>
            </a:r>
          </a:p>
          <a:p>
            <a:pPr>
              <a:spcBef>
                <a:spcPts val="400"/>
              </a:spcBef>
            </a:pPr>
            <a:r>
              <a:rPr sz="1600">
                <a:solidFill>
                  <a:srgbClr val="AEBBD9"/>
                </a:solidFill>
                <a:latin typeface="Segoe UI"/>
              </a:rPr>
              <a:t>Agar tizim N ta kameradan har biri f kadr/soniya tezlikda ma'lumot olsa va model bitta kadr uchun C FLOP talab qilsa, zarur hisoblash quvvati P = N × f × C / η bo'ladi, bu yerda η — tezlatkichdan real foydalanish koeffitsiyenti (odatda 0,2–0,6). Masalan, 16 kamera, 25 kadr/s, YOLOv8s modeli (640×640 kirishda taxminan 28,6 GFLOP) va η = 0,35 uchun P ≈ 16 × 25 × 28,6 × 10⁹ / 0,35 ≈ 32,7 TFLOPS kerak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7ba312c577b79652.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Ashley Pomeroy · Wikimedia Commons · CC BY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Apparat va dasturiy ta'minotni birgalikda loyihalash</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29</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443612"/>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523612"/>
            <a:ext cx="50000" cy="21313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38930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1483612"/>
            <a:ext cx="5900000" cy="2211388"/>
          </a:xfrm>
          <a:prstGeom prst="rect">
            <a:avLst/>
          </a:prstGeom>
          <a:noFill/>
        </p:spPr>
        <p:txBody>
          <a:bodyPr wrap="square" anchor="ctr">
            <a:spAutoFit/>
          </a:bodyPr>
          <a:lstStyle/>
          <a:p>
            <a:r>
              <a:rPr sz="1400" b="1">
                <a:solidFill>
                  <a:srgbClr val="E8EEFA"/>
                </a:solidFill>
                <a:latin typeface="Segoe UI"/>
              </a:rPr>
              <a:t>Hardware–software co-design — tizimning apparat va dasturiy qismlarini alohida emas, balki bir vaqtning o'zida, bir-biriga moslashtirib loyihalash metodologiyasi.</a:t>
            </a:r>
          </a:p>
          <a:p>
            <a:pPr>
              <a:spcBef>
                <a:spcPts val="400"/>
              </a:spcBef>
            </a:pPr>
            <a:r>
              <a:rPr sz="1300">
                <a:solidFill>
                  <a:srgbClr val="AEBBD9"/>
                </a:solidFill>
                <a:latin typeface="Segoe UI"/>
              </a:rPr>
              <a:t>An'anaviy yondashuvda apparat avval tanlanadi (yoki mavjud bo'ladi), so'ng dastur unga moslashtiriladi.</a:t>
            </a:r>
          </a:p>
        </p:txBody>
      </p:sp>
      <p:sp>
        <p:nvSpPr>
          <p:cNvPr id="32" name="Rounded Rectangle 31"/>
          <p:cNvSpPr/>
          <p:nvPr/>
        </p:nvSpPr>
        <p:spPr>
          <a:xfrm>
            <a:off x="550000" y="3845000"/>
            <a:ext cx="6750000" cy="229138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213138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79069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5" name="TextBox 34"/>
          <p:cNvSpPr txBox="1"/>
          <p:nvPr/>
        </p:nvSpPr>
        <p:spPr>
          <a:xfrm>
            <a:off x="1300000" y="3885000"/>
            <a:ext cx="5900000" cy="2211388"/>
          </a:xfrm>
          <a:prstGeom prst="rect">
            <a:avLst/>
          </a:prstGeom>
          <a:noFill/>
        </p:spPr>
        <p:txBody>
          <a:bodyPr wrap="square" anchor="ctr">
            <a:spAutoFit/>
          </a:bodyPr>
          <a:lstStyle/>
          <a:p>
            <a:r>
              <a:rPr sz="1400" b="1">
                <a:solidFill>
                  <a:srgbClr val="E8EEFA"/>
                </a:solidFill>
                <a:latin typeface="Segoe UI"/>
              </a:rPr>
              <a:t>Co-design amaliy jihatdan iterativ jarayon.</a:t>
            </a:r>
          </a:p>
          <a:p>
            <a:pPr>
              <a:spcBef>
                <a:spcPts val="400"/>
              </a:spcBef>
            </a:pPr>
            <a:r>
              <a:rPr sz="1300">
                <a:solidFill>
                  <a:srgbClr val="AEBBD9"/>
                </a:solidFill>
                <a:latin typeface="Segoe UI"/>
              </a:rPr>
              <a:t>Birinchi iteratsiyada talab (kechikish, aniqlik, byudjet, energiya) qo'yiladi va nomzod model hamda nomzod apparat tanlanadi. Ikkinchi iteratsiyada model shu apparatda profillanadi — qaysi qatlamlar sekin, xotira yetarlimi, tezlatkichdan foydalanish qanday. Uchinchi iteratsiyada ikki tomon ham moslashtiriladi: model kvantlanadi yoki kichikroq variant olinadi, apparat tomonida esa paket hajmi, oqimlar soni, xotira joylashuvi sozlanadi. Bu sikl talab bajarilguncha takrorlanadi.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30</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8509f23b168f8308.jpg"/>
          <p:cNvPicPr>
            <a:picLocks noChangeAspect="1"/>
          </p:cNvPicPr>
          <p:nvPr/>
        </p:nvPicPr>
        <p:blipFill>
          <a:blip r:embed="rId2"/>
          <a:srcRect l="3246" r="3246"/>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Steve Jurvetson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0" name="TextBox 29"/>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Co-design kontekstida ikki klassik qonun doimo yodda bo'lishi kerak.</a:t>
            </a:r>
          </a:p>
          <a:p>
            <a:pPr>
              <a:spcBef>
                <a:spcPts val="400"/>
              </a:spcBef>
            </a:pPr>
            <a:r>
              <a:rPr sz="1600">
                <a:solidFill>
                  <a:srgbClr val="AEBBD9"/>
                </a:solidFill>
                <a:latin typeface="Segoe UI"/>
              </a:rPr>
              <a:t>Amdal qonuni (Amdahl's law): agar dasturning p ulushi tezlashtirilsa va qolgan 1−p ulushi o'zgarmasa, umumiy tezlashuv S = 1 / ((1−p) + p/s) dan oshmaydi, bu yerda s — tezlashtirilgan qismning tezlashuvi. Video-analitikada inferens kadr vaqtining 60 % ini egallasa va uni cheksiz tezlashtirsak ham, umumiy tezlashuv 2,5 baravardan oshmaydi — dekodlash va keyingi ishlov cheklaydi.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Apparat va dasturiy ta'minotni birgalikda loyihalash</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31</a:t>
            </a:r>
          </a:p>
        </p:txBody>
      </p:sp>
      <p:graphicFrame>
        <p:nvGraphicFramePr>
          <p:cNvPr id="26" name="Table 25"/>
          <p:cNvGraphicFramePr>
            <a:graphicFrameLocks noGrp="1"/>
          </p:cNvGraphicFramePr>
          <p:nvPr/>
        </p:nvGraphicFramePr>
        <p:xfrm>
          <a:off x="550000" y="1400000"/>
          <a:ext cx="11100000" cy="2600000"/>
        </p:xfrm>
        <a:graphic>
          <a:graphicData uri="http://schemas.openxmlformats.org/drawingml/2006/table">
            <a:tbl>
              <a:tblPr firstRow="1" bandRow="1">
                <a:tableStyleId>{5C22544A-7EE6-4342-B048-85BDC9FD1C3A}</a:tableStyleId>
              </a:tblPr>
              <a:tblGrid>
                <a:gridCol w="2775000"/>
                <a:gridCol w="2775000"/>
                <a:gridCol w="2775000"/>
                <a:gridCol w="2775000"/>
              </a:tblGrid>
              <a:tr h="520000">
                <a:tc>
                  <a:txBody>
                    <a:bodyPr/>
                    <a:lstStyle/>
                    <a:p>
                      <a:r>
                        <a:rPr sz="1200" b="1">
                          <a:solidFill>
                            <a:srgbClr val="22D3EE"/>
                          </a:solidFill>
                          <a:latin typeface="Segoe UI"/>
                        </a:rPr>
                        <a:t>O'lchov</a:t>
                      </a:r>
                    </a:p>
                  </a:txBody>
                  <a:tcPr>
                    <a:solidFill>
                      <a:srgbClr val="1C2755"/>
                    </a:solidFill>
                  </a:tcPr>
                </a:tc>
                <a:tc>
                  <a:txBody>
                    <a:bodyPr/>
                    <a:lstStyle/>
                    <a:p>
                      <a:r>
                        <a:rPr sz="1200" b="1">
                          <a:solidFill>
                            <a:srgbClr val="22D3EE"/>
                          </a:solidFill>
                          <a:latin typeface="Segoe UI"/>
                        </a:rPr>
                        <a:t>Dasturiy tomondagi tanlovlar</a:t>
                      </a:r>
                    </a:p>
                  </a:txBody>
                  <a:tcPr>
                    <a:solidFill>
                      <a:srgbClr val="1C2755"/>
                    </a:solidFill>
                  </a:tcPr>
                </a:tc>
                <a:tc>
                  <a:txBody>
                    <a:bodyPr/>
                    <a:lstStyle/>
                    <a:p>
                      <a:r>
                        <a:rPr sz="1200" b="1">
                          <a:solidFill>
                            <a:srgbClr val="22D3EE"/>
                          </a:solidFill>
                          <a:latin typeface="Segoe UI"/>
                        </a:rPr>
                        <a:t>Apparat tomondagi tanlovlar</a:t>
                      </a:r>
                    </a:p>
                  </a:txBody>
                  <a:tcPr>
                    <a:solidFill>
                      <a:srgbClr val="1C2755"/>
                    </a:solidFill>
                  </a:tcPr>
                </a:tc>
                <a:tc>
                  <a:txBody>
                    <a:bodyPr/>
                    <a:lstStyle/>
                    <a:p>
                      <a:r>
                        <a:rPr sz="1200" b="1">
                          <a:solidFill>
                            <a:srgbClr val="22D3EE"/>
                          </a:solidFill>
                          <a:latin typeface="Segoe UI"/>
                        </a:rPr>
                        <a:t>O'zaro ta'sir</a:t>
                      </a:r>
                    </a:p>
                  </a:txBody>
                  <a:tcPr>
                    <a:solidFill>
                      <a:srgbClr val="1C2755"/>
                    </a:solidFill>
                  </a:tcPr>
                </a:tc>
              </a:tr>
              <a:tr h="520000">
                <a:tc>
                  <a:txBody>
                    <a:bodyPr/>
                    <a:lstStyle/>
                    <a:p>
                      <a:r>
                        <a:rPr sz="1200" b="0">
                          <a:solidFill>
                            <a:srgbClr val="E8EEFA"/>
                          </a:solidFill>
                          <a:latin typeface="Segoe UI"/>
                        </a:rPr>
                        <a:t>Hisoblash</a:t>
                      </a:r>
                    </a:p>
                  </a:txBody>
                  <a:tcPr>
                    <a:solidFill>
                      <a:srgbClr val="111834"/>
                    </a:solidFill>
                  </a:tcPr>
                </a:tc>
                <a:tc>
                  <a:txBody>
                    <a:bodyPr/>
                    <a:lstStyle/>
                    <a:p>
                      <a:r>
                        <a:rPr sz="1200" b="0">
                          <a:solidFill>
                            <a:srgbClr val="E8EEFA"/>
                          </a:solidFill>
                          <a:latin typeface="Segoe UI"/>
                        </a:rPr>
                        <a:t>Model hajmi, arxitektura, FLOP</a:t>
                      </a:r>
                    </a:p>
                  </a:txBody>
                  <a:tcPr>
                    <a:solidFill>
                      <a:srgbClr val="111834"/>
                    </a:solidFill>
                  </a:tcPr>
                </a:tc>
                <a:tc>
                  <a:txBody>
                    <a:bodyPr/>
                    <a:lstStyle/>
                    <a:p>
                      <a:r>
                        <a:rPr sz="1200" b="0">
                          <a:solidFill>
                            <a:srgbClr val="E8EEFA"/>
                          </a:solidFill>
                          <a:latin typeface="Segoe UI"/>
                        </a:rPr>
                        <a:t>TFLOPS, yadrolar soni, chastota</a:t>
                      </a:r>
                    </a:p>
                  </a:txBody>
                  <a:tcPr>
                    <a:solidFill>
                      <a:srgbClr val="111834"/>
                    </a:solidFill>
                  </a:tcPr>
                </a:tc>
                <a:tc>
                  <a:txBody>
                    <a:bodyPr/>
                    <a:lstStyle/>
                    <a:p>
                      <a:r>
                        <a:rPr sz="1200" b="0">
                          <a:solidFill>
                            <a:srgbClr val="E8EEFA"/>
                          </a:solidFill>
                          <a:latin typeface="Segoe UI"/>
                        </a:rPr>
                        <a:t>Model murakkabligi ↔ tezlatkich sinfi</a:t>
                      </a:r>
                    </a:p>
                  </a:txBody>
                  <a:tcPr>
                    <a:solidFill>
                      <a:srgbClr val="111834"/>
                    </a:solidFill>
                  </a:tcPr>
                </a:tc>
              </a:tr>
              <a:tr h="520000">
                <a:tc>
                  <a:txBody>
                    <a:bodyPr/>
                    <a:lstStyle/>
                    <a:p>
                      <a:r>
                        <a:rPr sz="1200" b="0">
                          <a:solidFill>
                            <a:srgbClr val="E8EEFA"/>
                          </a:solidFill>
                          <a:latin typeface="Segoe UI"/>
                        </a:rPr>
                        <a:t>Aniqlik</a:t>
                      </a:r>
                    </a:p>
                  </a:txBody>
                  <a:tcPr>
                    <a:solidFill>
                      <a:srgbClr val="161F40"/>
                    </a:solidFill>
                  </a:tcPr>
                </a:tc>
                <a:tc>
                  <a:txBody>
                    <a:bodyPr/>
                    <a:lstStyle/>
                    <a:p>
                      <a:r>
                        <a:rPr sz="1200" b="0">
                          <a:solidFill>
                            <a:srgbClr val="E8EEFA"/>
                          </a:solidFill>
                          <a:latin typeface="Segoe UI"/>
                        </a:rPr>
                        <a:t>FP32 / FP16 / INT8 / FP8 kvantlash</a:t>
                      </a:r>
                    </a:p>
                  </a:txBody>
                  <a:tcPr>
                    <a:solidFill>
                      <a:srgbClr val="161F40"/>
                    </a:solidFill>
                  </a:tcPr>
                </a:tc>
                <a:tc>
                  <a:txBody>
                    <a:bodyPr/>
                    <a:lstStyle/>
                    <a:p>
                      <a:r>
                        <a:rPr sz="1200" b="0">
                          <a:solidFill>
                            <a:srgbClr val="E8EEFA"/>
                          </a:solidFill>
                          <a:latin typeface="Segoe UI"/>
                        </a:rPr>
                        <a:t>Tensor Core, INT8 bloklar, NPU</a:t>
                      </a:r>
                    </a:p>
                  </a:txBody>
                  <a:tcPr>
                    <a:solidFill>
                      <a:srgbClr val="161F40"/>
                    </a:solidFill>
                  </a:tcPr>
                </a:tc>
                <a:tc>
                  <a:txBody>
                    <a:bodyPr/>
                    <a:lstStyle/>
                    <a:p>
                      <a:r>
                        <a:rPr sz="1200" b="0">
                          <a:solidFill>
                            <a:srgbClr val="E8EEFA"/>
                          </a:solidFill>
                          <a:latin typeface="Segoe UI"/>
                        </a:rPr>
                        <a:t>Kvantlash apparatda qo'llab-quvvatlansa 2–4× tezlashuv</a:t>
                      </a:r>
                    </a:p>
                  </a:txBody>
                  <a:tcPr>
                    <a:solidFill>
                      <a:srgbClr val="161F40"/>
                    </a:solidFill>
                  </a:tcPr>
                </a:tc>
              </a:tr>
              <a:tr h="520000">
                <a:tc>
                  <a:txBody>
                    <a:bodyPr/>
                    <a:lstStyle/>
                    <a:p>
                      <a:r>
                        <a:rPr sz="1200" b="0">
                          <a:solidFill>
                            <a:srgbClr val="E8EEFA"/>
                          </a:solidFill>
                          <a:latin typeface="Segoe UI"/>
                        </a:rPr>
                        <a:t>Xotira</a:t>
                      </a:r>
                    </a:p>
                  </a:txBody>
                  <a:tcPr>
                    <a:solidFill>
                      <a:srgbClr val="111834"/>
                    </a:solidFill>
                  </a:tcPr>
                </a:tc>
                <a:tc>
                  <a:txBody>
                    <a:bodyPr/>
                    <a:lstStyle/>
                    <a:p>
                      <a:r>
                        <a:rPr sz="1200" b="0">
                          <a:solidFill>
                            <a:srgbClr val="E8EEFA"/>
                          </a:solidFill>
                          <a:latin typeface="Segoe UI"/>
                        </a:rPr>
                        <a:t>Paket hajmi, aktivatsiyalar, KV-kesh</a:t>
                      </a:r>
                    </a:p>
                  </a:txBody>
                  <a:tcPr>
                    <a:solidFill>
                      <a:srgbClr val="111834"/>
                    </a:solidFill>
                  </a:tcPr>
                </a:tc>
                <a:tc>
                  <a:txBody>
                    <a:bodyPr/>
                    <a:lstStyle/>
                    <a:p>
                      <a:r>
                        <a:rPr sz="1200" b="0">
                          <a:solidFill>
                            <a:srgbClr val="E8EEFA"/>
                          </a:solidFill>
                          <a:latin typeface="Segoe UI"/>
                        </a:rPr>
                        <a:t>Xotira hajmi, o'tkazuvchanlik, iyerarxiya</a:t>
                      </a:r>
                    </a:p>
                  </a:txBody>
                  <a:tcPr>
                    <a:solidFill>
                      <a:srgbClr val="111834"/>
                    </a:solidFill>
                  </a:tcPr>
                </a:tc>
                <a:tc>
                  <a:txBody>
                    <a:bodyPr/>
                    <a:lstStyle/>
                    <a:p>
                      <a:r>
                        <a:rPr sz="1200" b="0">
                          <a:solidFill>
                            <a:srgbClr val="E8EEFA"/>
                          </a:solidFill>
                          <a:latin typeface="Segoe UI"/>
                        </a:rPr>
                        <a:t>Model sig'maydimi → bo'lish yoki siqish</a:t>
                      </a:r>
                    </a:p>
                  </a:txBody>
                  <a:tcPr>
                    <a:solidFill>
                      <a:srgbClr val="111834"/>
                    </a:solidFill>
                  </a:tcPr>
                </a:tc>
              </a:tr>
              <a:tr h="520000">
                <a:tc>
                  <a:txBody>
                    <a:bodyPr/>
                    <a:lstStyle/>
                    <a:p>
                      <a:r>
                        <a:rPr sz="1200" b="0">
                          <a:solidFill>
                            <a:srgbClr val="E8EEFA"/>
                          </a:solidFill>
                          <a:latin typeface="Segoe UI"/>
                        </a:rPr>
                        <a:t>Ma'lumot harakati</a:t>
                      </a:r>
                    </a:p>
                  </a:txBody>
                  <a:tcPr>
                    <a:solidFill>
                      <a:srgbClr val="161F40"/>
                    </a:solidFill>
                  </a:tcPr>
                </a:tc>
                <a:tc>
                  <a:txBody>
                    <a:bodyPr/>
                    <a:lstStyle/>
                    <a:p>
                      <a:r>
                        <a:rPr sz="1200" b="0">
                          <a:solidFill>
                            <a:srgbClr val="E8EEFA"/>
                          </a:solidFill>
                          <a:latin typeface="Segoe UI"/>
                        </a:rPr>
                        <a:t>Quvur tuzilishi, nusxalash, nol-nusxa</a:t>
                      </a:r>
                    </a:p>
                  </a:txBody>
                  <a:tcPr>
                    <a:solidFill>
                      <a:srgbClr val="161F40"/>
                    </a:solidFill>
                  </a:tcPr>
                </a:tc>
                <a:tc>
                  <a:txBody>
                    <a:bodyPr/>
                    <a:lstStyle/>
                    <a:p>
                      <a:r>
                        <a:rPr sz="1200" b="0">
                          <a:solidFill>
                            <a:srgbClr val="E8EEFA"/>
                          </a:solidFill>
                          <a:latin typeface="Segoe UI"/>
                        </a:rPr>
                        <a:t>PCIe, NVLink, birlashgan xotira</a:t>
                      </a:r>
                    </a:p>
                  </a:txBody>
                  <a:tcPr>
                    <a:solidFill>
                      <a:srgbClr val="161F40"/>
                    </a:solidFill>
                  </a:tcPr>
                </a:tc>
                <a:tc>
                  <a:txBody>
                    <a:bodyPr/>
                    <a:lstStyle/>
                    <a:p>
                      <a:r>
                        <a:rPr sz="1200" b="0">
                          <a:solidFill>
                            <a:srgbClr val="E8EEFA"/>
                          </a:solidFill>
                          <a:latin typeface="Segoe UI"/>
                        </a:rPr>
                        <a:t>Nusxalash kechikishi ↔ shina kengligi</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wipe(left)">
                                      <p:cBhvr>
                                        <p:cTn id="16" dur="8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5c255ff50de1ec6.jpg"/>
          <p:cNvPicPr>
            <a:picLocks noChangeAspect="1"/>
          </p:cNvPicPr>
          <p:nvPr/>
        </p:nvPicPr>
        <p:blipFill>
          <a:blip r:embed="rId2"/>
          <a:srcRect l="12204" r="12204"/>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Bennett Brown · Wikimedia Commons · CC BY 4.0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Loyihalash tamoyillari</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33</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7522695264632dd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Jguarin · Wikimedia Commons · CC BY-SA 4.0</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1879476"/>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1959476"/>
            <a:ext cx="50000" cy="1695524"/>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607238"/>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3" name="TextBox 32"/>
          <p:cNvSpPr txBox="1"/>
          <p:nvPr/>
        </p:nvSpPr>
        <p:spPr>
          <a:xfrm>
            <a:off x="1300000" y="1919476"/>
            <a:ext cx="5900000" cy="1775524"/>
          </a:xfrm>
          <a:prstGeom prst="rect">
            <a:avLst/>
          </a:prstGeom>
          <a:noFill/>
        </p:spPr>
        <p:txBody>
          <a:bodyPr wrap="square" anchor="ctr">
            <a:spAutoFit/>
          </a:bodyPr>
          <a:lstStyle/>
          <a:p>
            <a:r>
              <a:rPr sz="1400" b="1">
                <a:solidFill>
                  <a:srgbClr val="E8EEFA"/>
                </a:solidFill>
                <a:latin typeface="Segoe UI"/>
              </a:rPr>
              <a:t>Yuqoridagi tushunchalar — SI tamoyillari, platformalar, qatlamli arxitektura va co-design — asosida SI tizimini loyihalashning amaliy tamoyillarini shakllantirish mumkin.</a:t>
            </a:r>
          </a:p>
          <a:p>
            <a:pPr>
              <a:spcBef>
                <a:spcPts val="400"/>
              </a:spcBef>
            </a:pPr>
            <a:r>
              <a:rPr sz="1300">
                <a:solidFill>
                  <a:srgbClr val="AEBBD9"/>
                </a:solidFill>
                <a:latin typeface="Segoe UI"/>
              </a:rPr>
              <a:t>Ular har qanday loyihada, kichik chekka qurilmadan tortib ma'lumotlar markazigacha, bir xil tartibda qo'llaniladi va loyiha hujjatida alohida bo'lim sifatida yoziladi.</a:t>
            </a:r>
          </a:p>
        </p:txBody>
      </p:sp>
      <p:sp>
        <p:nvSpPr>
          <p:cNvPr id="34" name="Rounded Rectangle 33"/>
          <p:cNvSpPr/>
          <p:nvPr/>
        </p:nvSpPr>
        <p:spPr>
          <a:xfrm>
            <a:off x="550000" y="3845000"/>
            <a:ext cx="6750000" cy="1855524"/>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3925000"/>
            <a:ext cx="50000" cy="1695524"/>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4572762"/>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7" name="TextBox 36"/>
          <p:cNvSpPr txBox="1"/>
          <p:nvPr/>
        </p:nvSpPr>
        <p:spPr>
          <a:xfrm>
            <a:off x="1300000" y="3885000"/>
            <a:ext cx="5900000" cy="1775524"/>
          </a:xfrm>
          <a:prstGeom prst="rect">
            <a:avLst/>
          </a:prstGeom>
          <a:noFill/>
        </p:spPr>
        <p:txBody>
          <a:bodyPr wrap="square" anchor="ctr">
            <a:spAutoFit/>
          </a:bodyPr>
          <a:lstStyle/>
          <a:p>
            <a:r>
              <a:rPr sz="1400" b="1">
                <a:solidFill>
                  <a:srgbClr val="E8EEFA"/>
                </a:solidFill>
                <a:latin typeface="Segoe UI"/>
              </a:rPr>
              <a:t>Talabdan boshlash.</a:t>
            </a:r>
          </a:p>
          <a:p>
            <a:pPr>
              <a:spcBef>
                <a:spcPts val="400"/>
              </a:spcBef>
            </a:pPr>
            <a:r>
              <a:rPr sz="1300">
                <a:solidFill>
                  <a:srgbClr val="AEBBD9"/>
                </a:solidFill>
                <a:latin typeface="Segoe UI"/>
              </a:rPr>
              <a:t>Kechikish byudjeti (masalan, kadrdan hodisagacha 200 ms), aniqlik chegarasi (mAP yoki F1), yuk (kameralar soni, so'rov/soniya), energiya va narx cheklovlari raqam bilan yoziladi; raqamsiz talab — talab emas. Masalan, «tizim tez ishlasin» degan talabni sinab bo'lmaydi, «95 % so'rovlar 150 ms dan tez» degan talabni esa o'lchab tekshirish mumkin.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550"/>
                                        <p:tgtEl>
                                          <p:spTgt spid="34"/>
                                        </p:tgtEl>
                                      </p:cBhvr>
                                    </p:animEffect>
                                    <p:anim calcmode="lin" valueType="num">
                                      <p:cBhvr additive="base">
                                        <p:cTn id="60" dur="550" fill="hold"/>
                                        <p:tgtEl>
                                          <p:spTgt spid="34"/>
                                        </p:tgtEl>
                                        <p:attrNameLst>
                                          <p:attrName>ppt_x</p:attrName>
                                        </p:attrNameLst>
                                      </p:cBhvr>
                                      <p:tavLst>
                                        <p:tav tm="0">
                                          <p:val>
                                            <p:strVal val="#ppt_x"/>
                                          </p:val>
                                        </p:tav>
                                        <p:tav tm="100000">
                                          <p:val>
                                            <p:strVal val="#ppt_x"/>
                                          </p:val>
                                        </p:tav>
                                      </p:tavLst>
                                    </p:anim>
                                    <p:anim calcmode="lin" valueType="num">
                                      <p:cBhvr additive="base">
                                        <p:cTn id="61" dur="550" fill="hold"/>
                                        <p:tgtEl>
                                          <p:spTgt spid="34"/>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5"/>
                                        </p:tgtEl>
                                        <p:attrNameLst>
                                          <p:attrName>style.visibility</p:attrName>
                                        </p:attrNameLst>
                                      </p:cBhvr>
                                      <p:to>
                                        <p:strVal val="visible"/>
                                      </p:to>
                                    </p:set>
                                    <p:animEffect transition="in" filter="fade">
                                      <p:cBhvr>
                                        <p:cTn id="65" dur="550"/>
                                        <p:tgtEl>
                                          <p:spTgt spid="35"/>
                                        </p:tgtEl>
                                      </p:cBhvr>
                                    </p:animEffect>
                                    <p:anim calcmode="lin" valueType="num">
                                      <p:cBhvr additive="base">
                                        <p:cTn id="66" dur="550" fill="hold"/>
                                        <p:tgtEl>
                                          <p:spTgt spid="35"/>
                                        </p:tgtEl>
                                        <p:attrNameLst>
                                          <p:attrName>ppt_x</p:attrName>
                                        </p:attrNameLst>
                                      </p:cBhvr>
                                      <p:tavLst>
                                        <p:tav tm="0">
                                          <p:val>
                                            <p:strVal val="#ppt_x"/>
                                          </p:val>
                                        </p:tav>
                                        <p:tav tm="100000">
                                          <p:val>
                                            <p:strVal val="#ppt_x"/>
                                          </p:val>
                                        </p:tav>
                                      </p:tavLst>
                                    </p:anim>
                                    <p:anim calcmode="lin" valueType="num">
                                      <p:cBhvr additive="base">
                                        <p:cTn id="67" dur="550" fill="hold"/>
                                        <p:tgtEl>
                                          <p:spTgt spid="35"/>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6"/>
                                        </p:tgtEl>
                                        <p:attrNameLst>
                                          <p:attrName>style.visibility</p:attrName>
                                        </p:attrNameLst>
                                      </p:cBhvr>
                                      <p:to>
                                        <p:strVal val="visible"/>
                                      </p:to>
                                    </p:set>
                                    <p:animEffect transition="in" filter="fade">
                                      <p:cBhvr>
                                        <p:cTn id="71" dur="550"/>
                                        <p:tgtEl>
                                          <p:spTgt spid="36"/>
                                        </p:tgtEl>
                                      </p:cBhvr>
                                    </p:animEffect>
                                    <p:anim calcmode="lin" valueType="num">
                                      <p:cBhvr additive="base">
                                        <p:cTn id="72" dur="550" fill="hold"/>
                                        <p:tgtEl>
                                          <p:spTgt spid="36"/>
                                        </p:tgtEl>
                                        <p:attrNameLst>
                                          <p:attrName>ppt_w</p:attrName>
                                        </p:attrNameLst>
                                      </p:cBhvr>
                                      <p:tavLst>
                                        <p:tav tm="0">
                                          <p:val>
                                            <p:strVal val="0"/>
                                          </p:val>
                                        </p:tav>
                                        <p:tav tm="100000">
                                          <p:val>
                                            <p:strVal val="#ppt_w"/>
                                          </p:val>
                                        </p:tav>
                                      </p:tavLst>
                                    </p:anim>
                                    <p:anim calcmode="lin" valueType="num">
                                      <p:cBhvr additive="base">
                                        <p:cTn id="73" dur="550" fill="hold"/>
                                        <p:tgtEl>
                                          <p:spTgt spid="36"/>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50"/>
                                        <p:tgtEl>
                                          <p:spTgt spid="37"/>
                                        </p:tgtEl>
                                      </p:cBhvr>
                                    </p:animEffect>
                                    <p:anim calcmode="lin" valueType="num">
                                      <p:cBhvr additive="base">
                                        <p:cTn id="78" dur="550" fill="hold"/>
                                        <p:tgtEl>
                                          <p:spTgt spid="37"/>
                                        </p:tgtEl>
                                        <p:attrNameLst>
                                          <p:attrName>ppt_x</p:attrName>
                                        </p:attrNameLst>
                                      </p:cBhvr>
                                      <p:tavLst>
                                        <p:tav tm="0">
                                          <p:val>
                                            <p:strVal val="#ppt_x"/>
                                          </p:val>
                                        </p:tav>
                                        <p:tav tm="100000">
                                          <p:val>
                                            <p:strVal val="#ppt_x"/>
                                          </p:val>
                                        </p:tav>
                                      </p:tavLst>
                                    </p:anim>
                                    <p:anim calcmode="lin" valueType="num">
                                      <p:cBhvr additive="base">
                                        <p:cTn id="79" dur="550" fill="hold"/>
                                        <p:tgtEl>
                                          <p:spTgt spid="3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5fd2cc278700b62b.jpg"/>
          <p:cNvPicPr>
            <a:picLocks noChangeAspect="1"/>
          </p:cNvPicPr>
          <p:nvPr/>
        </p:nvPicPr>
        <p:blipFill>
          <a:blip r:embed="rId2"/>
          <a:srcRect l="1864" r="1864"/>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paulo@kiefe.com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Ma'lumot oqimini chizish.</a:t>
            </a:r>
          </a:p>
          <a:p>
            <a:pPr>
              <a:spcBef>
                <a:spcPts val="400"/>
              </a:spcBef>
            </a:pPr>
            <a:r>
              <a:rPr sz="1400">
                <a:solidFill>
                  <a:srgbClr val="AEBBD9"/>
                </a:solidFill>
                <a:latin typeface="Segoe UI"/>
              </a:rPr>
              <a:t>Har bir komponent orqali o'tadigan baytlar soni hisoblanadi. 1080p kadr RGB ko'rinishda 6,2 MB, 25 kadr/s da bitta kamera 155 MB/s, 16 kamera 2,5 GB/s — bu PCIe 3.0 x16 ning (taxminan 16 GB/s) sezilarli qismi. Bunday hisob apparat tanlashdan oldin qilinadi, chunki shina yoki tarmoq yetishmasa eng kuchli GPU ham bo'sh turadi.</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Eng tor joyni topish.</a:t>
            </a:r>
          </a:p>
          <a:p>
            <a:pPr>
              <a:spcBef>
                <a:spcPts val="400"/>
              </a:spcBef>
            </a:pPr>
            <a:r>
              <a:rPr sz="1400">
                <a:solidFill>
                  <a:srgbClr val="AEBBD9"/>
                </a:solidFill>
                <a:latin typeface="Segoe UI"/>
              </a:rPr>
              <a:t>Amdal qonuniga ko'ra faqat tor joyni optimallashtirish umumiy tezlikni oshiradi. Avval profillash (har qatlam vaqtini o'lchash), keyin optimallashtirish: agar dekodlash 40 ms, inferens 10 ms olsa, modelni ikki baravar tezlashtirish umumiy natijani atigi 10 % ga yaxshilaydi.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35</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076824"/>
            <a:ext cx="50000" cy="157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665912"/>
            <a:ext cx="400000" cy="40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34" name="TextBox 33"/>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Modullilik va standart interfeyslar.</a:t>
            </a:r>
          </a:p>
          <a:p>
            <a:pPr>
              <a:spcBef>
                <a:spcPts val="400"/>
              </a:spcBef>
            </a:pPr>
            <a:r>
              <a:rPr sz="1400">
                <a:solidFill>
                  <a:srgbClr val="AEBBD9"/>
                </a:solidFill>
                <a:latin typeface="Segoe UI"/>
              </a:rPr>
              <a:t>Model almashtirilsa (YOLOv8 → YOLO11) yoki tezlatkich o'zgarsa (GPU → NPU), qolgan tizim o'zgarmasligi kerak. Buning uchun ONNX kabi standart model formati, aniq API (REST/gRPC) va konteynerlash qo'llaniladi; bu tizimni yetkazib beruvchiga bog'lanib qolishdan saqlaydi.</a:t>
            </a:r>
          </a:p>
        </p:txBody>
      </p:sp>
      <p:sp>
        <p:nvSpPr>
          <p:cNvPr id="35" name="Rounded Rectangle 34"/>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1578176"/>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514088"/>
            <a:ext cx="400000" cy="40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38" name="TextBox 37"/>
          <p:cNvSpPr txBox="1"/>
          <p:nvPr/>
        </p:nvSpPr>
        <p:spPr>
          <a:xfrm>
            <a:off x="1300000" y="3885000"/>
            <a:ext cx="5900000" cy="1658176"/>
          </a:xfrm>
          <a:prstGeom prst="rect">
            <a:avLst/>
          </a:prstGeom>
          <a:noFill/>
        </p:spPr>
        <p:txBody>
          <a:bodyPr wrap="square" anchor="ctr">
            <a:spAutoFit/>
          </a:bodyPr>
          <a:lstStyle/>
          <a:p>
            <a:r>
              <a:rPr sz="1500" b="1">
                <a:solidFill>
                  <a:srgbClr val="E8EEFA"/>
                </a:solidFill>
                <a:latin typeface="Segoe UI"/>
              </a:rPr>
              <a:t>Kuzatuvchanlik dastlabdan.</a:t>
            </a:r>
          </a:p>
          <a:p>
            <a:pPr>
              <a:spcBef>
                <a:spcPts val="400"/>
              </a:spcBef>
            </a:pPr>
            <a:r>
              <a:rPr sz="1400">
                <a:solidFill>
                  <a:srgbClr val="AEBBD9"/>
                </a:solidFill>
                <a:latin typeface="Segoe UI"/>
              </a:rPr>
              <a:t>Kechikish, o'tkazuvchanlik, tezlatkich bandligi va model sifati metrikalari keyin qo'shiladigan narsa emas; ularsiz co-design iteratsiyasini bajarib bo'lmaydi. Har bir so'rov uchun vaqt belgilari va model versiyasi jurnalga yoziladi, metrikalar esa monitoring paneliga (masalan, Prometheus + Grafana) chiqariladi.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3bf51a6fe71b1fc.jpg"/>
          <p:cNvPicPr>
            <a:picLocks noChangeAspect="1"/>
          </p:cNvPicPr>
          <p:nvPr/>
        </p:nvPicPr>
        <p:blipFill>
          <a:blip r:embed="rId2"/>
          <a:srcRect l="18285" r="1828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Aisart · Wikimedia Commons · CC BY-SA 3.0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Degradatsiyaga tayyorlik.</a:t>
            </a:r>
          </a:p>
          <a:p>
            <a:pPr>
              <a:spcBef>
                <a:spcPts val="400"/>
              </a:spcBef>
            </a:pPr>
            <a:r>
              <a:rPr sz="1400">
                <a:solidFill>
                  <a:srgbClr val="AEBBD9"/>
                </a:solidFill>
                <a:latin typeface="Segoe UI"/>
              </a:rPr>
              <a:t>Tezlatkich ishdan chiqsa yoki yuk oshsa tizim butunlay to'xtamasdan ishlashda davom etishi kerak. Kadr tashlash (frame skipping), kichikroq modelga o'tish, navbatni cheklash va zaxira tugun — bu «yumshoq degradatsiya» usullari; foydalanuvchi uchun sekinroq ishlaydigan tizim butunlay ishlamaydigan tizimdan yaxshiroq.</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Masshtablanuvchanlik.</a:t>
            </a:r>
          </a:p>
          <a:p>
            <a:pPr>
              <a:spcBef>
                <a:spcPts val="400"/>
              </a:spcBef>
            </a:pPr>
            <a:r>
              <a:rPr sz="1400">
                <a:solidFill>
                  <a:srgbClr val="AEBBD9"/>
                </a:solidFill>
                <a:latin typeface="Segoe UI"/>
              </a:rPr>
              <a:t>Yuk o'sganda (kameralar 16 dan 64 ga ko'paysa) arxitektura qayta yozilmasdan, tugun yoki tezlatkich qo'shish orqali kengayishi kerak. Holatsiz (stateless) inferens xizmatlari, navbat (message queue) va yuk taqsimlagich bunga imkon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Loyihalash tamoyillari</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M1 · Sun'iy intellektga asoslangan kompyuter tizimlari injiniringi: arxitektura va loyihalash tamoyillari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37</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c7d2b5c580b73f8.jpg"/>
          <p:cNvPicPr>
            <a:picLocks noChangeAspect="1"/>
          </p:cNvPicPr>
          <p:nvPr/>
        </p:nvPicPr>
        <p:blipFill>
          <a:blip r:embed="rId2"/>
          <a:srcRect l="14215" r="14215"/>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Tomwsulcer · Wikimedia Commons · CC0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1842128"/>
            <a:ext cx="50000" cy="181287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2548564"/>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09</a:t>
            </a:r>
          </a:p>
        </p:txBody>
      </p:sp>
      <p:sp>
        <p:nvSpPr>
          <p:cNvPr id="31" name="TextBox 30"/>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Xavfsizlik va maxfiylik loyiha ichida (security &amp; privacy by design).</a:t>
            </a:r>
          </a:p>
          <a:p>
            <a:pPr>
              <a:spcBef>
                <a:spcPts val="400"/>
              </a:spcBef>
            </a:pPr>
            <a:r>
              <a:rPr sz="1400">
                <a:solidFill>
                  <a:srgbClr val="AEBBD9"/>
                </a:solidFill>
                <a:latin typeface="Segoe UI"/>
              </a:rPr>
              <a:t>Ishonchli SI tamoyillari arxitekturaga dastlabki bosqichda kiritiladi: ma'lumot qayerda qayta ishlanishi, kim natijani ko'ra olishi, model va ma'lumot qanday himoyalanishi loyiha hujjatida aniq yoziladi. Keyinroq qo'shilgan himoya har doim qimmatroq va zaifroq bo'ladi.</a:t>
            </a:r>
          </a:p>
        </p:txBody>
      </p:sp>
      <p:sp>
        <p:nvSpPr>
          <p:cNvPr id="32" name="Rounded Rectangle 31"/>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50000" y="3925000"/>
            <a:ext cx="50000" cy="181287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760000" y="4631436"/>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10</a:t>
            </a:r>
          </a:p>
        </p:txBody>
      </p:sp>
      <p:sp>
        <p:nvSpPr>
          <p:cNvPr id="35" name="TextBox 34"/>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Energiya va narx samaradorligi.</a:t>
            </a:r>
          </a:p>
          <a:p>
            <a:pPr>
              <a:spcBef>
                <a:spcPts val="400"/>
              </a:spcBef>
            </a:pPr>
            <a:r>
              <a:rPr sz="1400">
                <a:solidFill>
                  <a:srgbClr val="AEBBD9"/>
                </a:solidFill>
                <a:latin typeface="Segoe UI"/>
              </a:rPr>
              <a:t>Tizim bahosi faqat sotib olish narxi emas, balki uch–besh yillik ekspluatatsiya xarajati (elektr, sovutish, xizmat ko'rsatish) bilan baholanadi. Bitta vatt uchun unumdorlik (TOPS/W) va bitta so'rov narxi asosiy taqqoslash ko'rsatkichlari hisoblanadi.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550"/>
                                        <p:tgtEl>
                                          <p:spTgt spid="32"/>
                                        </p:tgtEl>
                                      </p:cBhvr>
                                    </p:animEffect>
                                    <p:anim calcmode="lin" valueType="num">
                                      <p:cBhvr additive="base">
                                        <p:cTn id="60" dur="550" fill="hold"/>
                                        <p:tgtEl>
                                          <p:spTgt spid="32"/>
                                        </p:tgtEl>
                                        <p:attrNameLst>
                                          <p:attrName>ppt_x</p:attrName>
                                        </p:attrNameLst>
                                      </p:cBhvr>
                                      <p:tavLst>
                                        <p:tav tm="0">
                                          <p:val>
                                            <p:strVal val="#ppt_x"/>
                                          </p:val>
                                        </p:tav>
                                        <p:tav tm="100000">
                                          <p:val>
                                            <p:strVal val="#ppt_x"/>
                                          </p:val>
                                        </p:tav>
                                      </p:tavLst>
                                    </p:anim>
                                    <p:anim calcmode="lin" valueType="num">
                                      <p:cBhvr additive="base">
                                        <p:cTn id="61" dur="550" fill="hold"/>
                                        <p:tgtEl>
                                          <p:spTgt spid="32"/>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3"/>
                                        </p:tgtEl>
                                        <p:attrNameLst>
                                          <p:attrName>style.visibility</p:attrName>
                                        </p:attrNameLst>
                                      </p:cBhvr>
                                      <p:to>
                                        <p:strVal val="visible"/>
                                      </p:to>
                                    </p:set>
                                    <p:animEffect transition="in" filter="fade">
                                      <p:cBhvr>
                                        <p:cTn id="65" dur="550"/>
                                        <p:tgtEl>
                                          <p:spTgt spid="33"/>
                                        </p:tgtEl>
                                      </p:cBhvr>
                                    </p:animEffect>
                                    <p:anim calcmode="lin" valueType="num">
                                      <p:cBhvr additive="base">
                                        <p:cTn id="66" dur="550" fill="hold"/>
                                        <p:tgtEl>
                                          <p:spTgt spid="33"/>
                                        </p:tgtEl>
                                        <p:attrNameLst>
                                          <p:attrName>ppt_x</p:attrName>
                                        </p:attrNameLst>
                                      </p:cBhvr>
                                      <p:tavLst>
                                        <p:tav tm="0">
                                          <p:val>
                                            <p:strVal val="#ppt_x"/>
                                          </p:val>
                                        </p:tav>
                                        <p:tav tm="100000">
                                          <p:val>
                                            <p:strVal val="#ppt_x"/>
                                          </p:val>
                                        </p:tav>
                                      </p:tavLst>
                                    </p:anim>
                                    <p:anim calcmode="lin" valueType="num">
                                      <p:cBhvr additive="base">
                                        <p:cTn id="67" dur="550" fill="hold"/>
                                        <p:tgtEl>
                                          <p:spTgt spid="33"/>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4"/>
                                        </p:tgtEl>
                                        <p:attrNameLst>
                                          <p:attrName>style.visibility</p:attrName>
                                        </p:attrNameLst>
                                      </p:cBhvr>
                                      <p:to>
                                        <p:strVal val="visible"/>
                                      </p:to>
                                    </p:set>
                                    <p:animEffect transition="in" filter="fade">
                                      <p:cBhvr>
                                        <p:cTn id="71" dur="550"/>
                                        <p:tgtEl>
                                          <p:spTgt spid="34"/>
                                        </p:tgtEl>
                                      </p:cBhvr>
                                    </p:animEffect>
                                    <p:anim calcmode="lin" valueType="num">
                                      <p:cBhvr additive="base">
                                        <p:cTn id="72" dur="550" fill="hold"/>
                                        <p:tgtEl>
                                          <p:spTgt spid="34"/>
                                        </p:tgtEl>
                                        <p:attrNameLst>
                                          <p:attrName>ppt_w</p:attrName>
                                        </p:attrNameLst>
                                      </p:cBhvr>
                                      <p:tavLst>
                                        <p:tav tm="0">
                                          <p:val>
                                            <p:strVal val="0"/>
                                          </p:val>
                                        </p:tav>
                                        <p:tav tm="100000">
                                          <p:val>
                                            <p:strVal val="#ppt_w"/>
                                          </p:val>
                                        </p:tav>
                                      </p:tavLst>
                                    </p:anim>
                                    <p:anim calcmode="lin" valueType="num">
                                      <p:cBhvr additive="base">
                                        <p:cTn id="73" dur="550" fill="hold"/>
                                        <p:tgtEl>
                                          <p:spTgt spid="34"/>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5"/>
                                        </p:tgtEl>
                                        <p:attrNameLst>
                                          <p:attrName>style.visibility</p:attrName>
                                        </p:attrNameLst>
                                      </p:cBhvr>
                                      <p:to>
                                        <p:strVal val="visible"/>
                                      </p:to>
                                    </p:set>
                                    <p:animEffect transition="in" filter="fade">
                                      <p:cBhvr>
                                        <p:cTn id="77" dur="550"/>
                                        <p:tgtEl>
                                          <p:spTgt spid="35"/>
                                        </p:tgtEl>
                                      </p:cBhvr>
                                    </p:animEffect>
                                    <p:anim calcmode="lin" valueType="num">
                                      <p:cBhvr additive="base">
                                        <p:cTn id="78" dur="550" fill="hold"/>
                                        <p:tgtEl>
                                          <p:spTgt spid="35"/>
                                        </p:tgtEl>
                                        <p:attrNameLst>
                                          <p:attrName>ppt_x</p:attrName>
                                        </p:attrNameLst>
                                      </p:cBhvr>
                                      <p:tavLst>
                                        <p:tav tm="0">
                                          <p:val>
                                            <p:strVal val="#ppt_x"/>
                                          </p:val>
                                        </p:tav>
                                        <p:tav tm="100000">
                                          <p:val>
                                            <p:strVal val="#ppt_x"/>
                                          </p:val>
                                        </p:tav>
                                      </p:tavLst>
                                    </p:anim>
                                    <p:anim calcmode="lin" valueType="num">
                                      <p:cBhvr additive="base">
                                        <p:cTn id="79" dur="550" fill="hold"/>
                                        <p:tgtEl>
                                          <p:spTgt spid="3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P spid="32" grpId="0" animBg="1"/>
      <p:bldP spid="33" grpId="0" animBg="1"/>
      <p:bldP spid="34" grpId="0" animBg="1"/>
      <p:bldP spid="35"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80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45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45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450000" y="1642857"/>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033333"/>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875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75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3" name="Rectangle 92"/>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5" name="TextBox 94"/>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200"/>
                            </p:stCondLst>
                            <p:childTnLst>
                              <p:par>
                                <p:cTn id="360" presetID="53" presetClass="entr" presetSubtype="16"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anim calcmode="lin" valueType="num">
                                      <p:cBhvr additive="base">
                                        <p:cTn id="363" dur="550" fill="hold"/>
                                        <p:tgtEl>
                                          <p:spTgt spid="92"/>
                                        </p:tgtEl>
                                        <p:attrNameLst>
                                          <p:attrName>ppt_w</p:attrName>
                                        </p:attrNameLst>
                                      </p:cBhvr>
                                      <p:tavLst>
                                        <p:tav tm="0">
                                          <p:val>
                                            <p:strVal val="0"/>
                                          </p:val>
                                        </p:tav>
                                        <p:tav tm="100000">
                                          <p:val>
                                            <p:strVal val="#ppt_w"/>
                                          </p:val>
                                        </p:tav>
                                      </p:tavLst>
                                    </p:anim>
                                    <p:anim calcmode="lin" valueType="num">
                                      <p:cBhvr additive="base">
                                        <p:cTn id="364" dur="550" fill="hold"/>
                                        <p:tgtEl>
                                          <p:spTgt spid="92"/>
                                        </p:tgtEl>
                                        <p:attrNameLst>
                                          <p:attrName>ppt_h</p:attrName>
                                        </p:attrNameLst>
                                      </p:cBhvr>
                                      <p:tavLst>
                                        <p:tav tm="0">
                                          <p:val>
                                            <p:strVal val="0"/>
                                          </p:val>
                                        </p:tav>
                                        <p:tav tm="100000">
                                          <p:val>
                                            <p:strVal val="#ppt_h"/>
                                          </p:val>
                                        </p:tav>
                                      </p:tavLst>
                                    </p:anim>
                                  </p:childTnLst>
                                </p:cTn>
                              </p:par>
                            </p:childTnLst>
                          </p:cTn>
                        </p:par>
                        <p:par>
                          <p:cTn id="365" fill="hold">
                            <p:stCondLst>
                              <p:cond delay="350"/>
                            </p:stCondLst>
                            <p:childTnLst>
                              <p:par>
                                <p:cTn id="366" presetID="22" presetClass="entr" presetSubtype="8" fill="hold" grpId="0" nodeType="afterEffect">
                                  <p:stCondLst>
                                    <p:cond delay="0"/>
                                  </p:stCondLst>
                                  <p:childTnLst>
                                    <p:set>
                                      <p:cBhvr>
                                        <p:cTn id="367" dur="1" fill="hold">
                                          <p:stCondLst>
                                            <p:cond delay="0"/>
                                          </p:stCondLst>
                                        </p:cTn>
                                        <p:tgtEl>
                                          <p:spTgt spid="93"/>
                                        </p:tgtEl>
                                        <p:attrNameLst>
                                          <p:attrName>style.visibility</p:attrName>
                                        </p:attrNameLst>
                                      </p:cBhvr>
                                      <p:to>
                                        <p:strVal val="visible"/>
                                      </p:to>
                                    </p:set>
                                    <p:animEffect transition="in" filter="wipe(left)">
                                      <p:cBhvr>
                                        <p:cTn id="369" dur="800"/>
                                        <p:tgtEl>
                                          <p:spTgt spid="93"/>
                                        </p:tgtEl>
                                      </p:cBhvr>
                                    </p:animEffect>
                                  </p:childTnLst>
                                </p:cTn>
                              </p:par>
                            </p:childTnLst>
                          </p:cTn>
                        </p:par>
                        <p:par>
                          <p:cTn id="370" fill="hold">
                            <p:stCondLst>
                              <p:cond delay="500"/>
                            </p:stCondLst>
                            <p:childTnLst>
                              <p:par>
                                <p:cTn id="371" presetID="42" presetClass="entr" presetSubtype="0" fill="hold" grpId="0" nodeType="afterEffect">
                                  <p:stCondLst>
                                    <p:cond delay="0"/>
                                  </p:stCondLst>
                                  <p:childTnLst>
                                    <p:set>
                                      <p:cBhvr>
                                        <p:cTn id="372" dur="1" fill="hold">
                                          <p:stCondLst>
                                            <p:cond delay="0"/>
                                          </p:stCondLst>
                                        </p:cTn>
                                        <p:tgtEl>
                                          <p:spTgt spid="94"/>
                                        </p:tgtEl>
                                        <p:attrNameLst>
                                          <p:attrName>style.visibility</p:attrName>
                                        </p:attrNameLst>
                                      </p:cBhvr>
                                      <p:to>
                                        <p:strVal val="visible"/>
                                      </p:to>
                                    </p:set>
                                    <p:animEffect transition="in" filter="fade">
                                      <p:cBhvr>
                                        <p:cTn id="373" dur="550"/>
                                        <p:tgtEl>
                                          <p:spTgt spid="94"/>
                                        </p:tgtEl>
                                      </p:cBhvr>
                                    </p:animEffect>
                                    <p:anim calcmode="lin" valueType="num">
                                      <p:cBhvr additive="base">
                                        <p:cTn id="374" dur="550" fill="hold"/>
                                        <p:tgtEl>
                                          <p:spTgt spid="94"/>
                                        </p:tgtEl>
                                        <p:attrNameLst>
                                          <p:attrName>ppt_x</p:attrName>
                                        </p:attrNameLst>
                                      </p:cBhvr>
                                      <p:tavLst>
                                        <p:tav tm="0">
                                          <p:val>
                                            <p:strVal val="#ppt_x"/>
                                          </p:val>
                                        </p:tav>
                                        <p:tav tm="100000">
                                          <p:val>
                                            <p:strVal val="#ppt_x"/>
                                          </p:val>
                                        </p:tav>
                                      </p:tavLst>
                                    </p:anim>
                                    <p:anim calcmode="lin" valueType="num">
                                      <p:cBhvr additive="base">
                                        <p:cTn id="375" dur="550" fill="hold"/>
                                        <p:tgtEl>
                                          <p:spTgt spid="94"/>
                                        </p:tgtEl>
                                        <p:attrNameLst>
                                          <p:attrName>ppt_y</p:attrName>
                                        </p:attrNameLst>
                                      </p:cBhvr>
                                      <p:tavLst>
                                        <p:tav tm="0">
                                          <p:val>
                                            <p:strVal val="#ppt_y+.08"/>
                                          </p:val>
                                        </p:tav>
                                        <p:tav tm="100000">
                                          <p:val>
                                            <p:strVal val="#ppt_y"/>
                                          </p:val>
                                        </p:tav>
                                      </p:tavLst>
                                    </p:anim>
                                  </p:childTnLst>
                                </p:cTn>
                              </p:par>
                            </p:childTnLst>
                          </p:cTn>
                        </p:par>
                        <p:par>
                          <p:cTn id="376" fill="hold">
                            <p:stCondLst>
                              <p:cond delay="650"/>
                            </p:stCondLst>
                            <p:childTnLst>
                              <p:par>
                                <p:cTn id="377" presetID="10" presetClass="entr" presetSubtype="0" fill="hold" grpId="0" nodeType="afterEffect">
                                  <p:stCondLst>
                                    <p:cond delay="0"/>
                                  </p:stCondLst>
                                  <p:childTnLst>
                                    <p:set>
                                      <p:cBhvr>
                                        <p:cTn id="378" dur="1" fill="hold">
                                          <p:stCondLst>
                                            <p:cond delay="0"/>
                                          </p:stCondLst>
                                        </p:cTn>
                                        <p:tgtEl>
                                          <p:spTgt spid="95"/>
                                        </p:tgtEl>
                                        <p:attrNameLst>
                                          <p:attrName>style.visibility</p:attrName>
                                        </p:attrNameLst>
                                      </p:cBhvr>
                                      <p:to>
                                        <p:strVal val="visible"/>
                                      </p:to>
                                    </p:set>
                                    <p:animEffect transition="in" filter="fade">
                                      <p:cBhvr>
                                        <p:cTn id="379" dur="55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
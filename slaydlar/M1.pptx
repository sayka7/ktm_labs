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Mavzuning maqsadi — magistrantlarda sun'iy intellekt (SI) asosidagi kompyuter tizimini alohida «model» sifatida emas, balki apparat, dasturiy ta'minot, ma'lumotlar oqimi va ekspluatatsiya jarayonlarini birlashtirgan yaxlit muhandislik obyekti sifatida ko'rish ko'nikmasini shakllantirish. Mavzu o'zlashtirilgach, magistrant:</a:t>
            </a:r>
          </a:p>
          <a:p/>
          <a:p>
            <a:r>
              <a:t>Sun'iy intellekt injiniringi (AI engineering) konsepsiyasini an'anaviy dasturiy injiniring va ma'lumotlar fanidan farqlab, SI mahsulotining hayot siklidagi bosqichlarni (ma'lumot, model, integratsiya, joylashtirish, monitoring) tavsiflay oladi;</a:t>
            </a:r>
          </a:p>
          <a:p/>
          <a:p>
            <a:r>
              <a:t>SI asosidagi hisoblash platformalarining (bulut, server, chekka qurilma) texnik ko'rsatkichlarini — hisoblash quvvati, xotira o'tkazuvchanligi, energiya sarfi, kechikish — o'qib, muayyan masala uchun platformani asoslab tanlay oladi;</a:t>
            </a:r>
          </a:p>
          <a:p/>
          <a:p>
            <a:r>
              <a:t>AI-enabled computer system arxitekturasining qatlamlarini (ma'lumot qabul qilish, oldindan ishlov berish, inferens, orkestratsiya, kuzatuv) chizib, ular orasidagi interfeyslarni aniqlay oladi;</a:t>
            </a:r>
          </a:p>
          <a:p/>
          <a:p>
            <a:r>
              <a:t>Apparat va dasturiy ta'minotni birgalikda loyihalash (hardware–software co-design) tamoyillarini qo'llab, model murakkabligi bilan apparat imkoniyati o'rtasidagi muvozanatni hisob-kitob bilan asoslaydi;</a:t>
            </a:r>
          </a:p>
          <a:p/>
          <a:p>
            <a:r>
              <a:t>Oddiy inferens xizmatini Python va ONNX Runtime yordamida ishga tushirib, uning kechikish (latency) va o'tkazuvchanlik (throughput) ko'rsatkichlarini o'lchaydi.</a:t>
            </a:r>
          </a:p>
          <a:p/>
          <a:p>
            <a:r>
              <a:t>Mavzu fanning TN1 (SI asosidagi kompyuter tizimlarini loyihalash, AI-enabled arxitekturalar va apparat–dasturiy integratsiya tamoyillarini bilish) ta'lim natijasiga bevosita xizmat qiladi, shuningdek TN5 (zamonaviy apparat-dasturiy vositalar bilan tizim yaratish) va TN6 (unumdorlikni o'lchash) uchun poydevor yaratadi.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Mavzuning maqsadi — magistrantlarda sun'iy intellekt (SI) asosidagi kompyuter tizimini alohida «model» sifatida emas, balki apparat, dasturiy ta'minot, ma'lumotlar oqimi va ekspluatatsiya jarayonlarini birlashtirgan yaxlit muhandislik obyekti sifatida ko'rish ko'nikmasini shakllantirish. Mavzu o'zlashtirilgach, magistrant:</a:t>
            </a:r>
          </a:p>
          <a:p/>
          <a:p>
            <a:r>
              <a:t>Sun'iy intellekt injiniringi (AI engineering) konsepsiyasini an'anaviy dasturiy injiniring va ma'lumotlar fanidan farqlab, SI mahsulotining hayot siklidagi bosqichlarni (ma'lumot, model, integratsiya, joylashtirish, monitoring) tavsiflay oladi;</a:t>
            </a:r>
          </a:p>
          <a:p/>
          <a:p>
            <a:r>
              <a:t>SI asosidagi hisoblash platformalarining (bulut, server, chekka qurilma) texnik ko'rsatkichlarini — hisoblash quvvati, xotira o'tkazuvchanligi, energiya sarfi, kechikish — o'qib, muayyan masala uchun platformani asoslab tanlay oladi;</a:t>
            </a:r>
          </a:p>
          <a:p/>
          <a:p>
            <a:r>
              <a:t>AI-enabled computer system arxitekturasining qatlamlarini (ma'lumot qabul qilish, oldindan ishlov berish, inferens, orkestratsiya, kuzatuv) chizib, ular orasidagi interfeyslarni aniqlay oladi;</a:t>
            </a:r>
          </a:p>
          <a:p/>
          <a:p>
            <a:r>
              <a:t>Apparat va dasturiy ta'minotni birgalikda loyihalash (hardware–software co-design) tamoyillarini qo'llab, model murakkabligi bilan apparat imkoniyati o'rtasidagi muvozanatni hisob-kitob bilan asoslaydi;</a:t>
            </a:r>
          </a:p>
          <a:p/>
          <a:p>
            <a:r>
              <a:t>Oddiy inferens xizmatini Python va ONNX Runtime yordamida ishga tushirib, uning kechikish (latency) va o'tkazuvchanlik (throughput) ko'rsatkichlarini o'lchaydi.</a:t>
            </a:r>
          </a:p>
          <a:p/>
          <a:p>
            <a:r>
              <a:t>Mavzu fanning TN1 (SI asosidagi kompyuter tizimlarini loyihalash, AI-enabled arxitekturalar va apparat–dasturiy integratsiya tamoyillarini bilish) ta'lim natijasiga bevosita xizmat qiladi, shuningdek TN5 (zamonaviy apparat-dasturiy vositalar bilan tizim yaratish) va TN6 (unumdorlikni o'lchash) uchun poydevor yaratadi.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So'nggi o'n yillikda sun'iy intellekt laboratoriya tajribasidan sanoat infratuzilmasining tarkibiy qismiga aylandi. Bugun bank kartasidagi firibgarlikni aniqlash, savdo markazidagi video-kuzatuv, tibbiy tasvirlarni tahlil qilish, logistika omborida buyumlarni saralash yoki smartfon kamerasidagi portret rejimi — bularning barchasi neyron tarmoq bilan ishlaydigan kompyuter tizimlaridir. Biroq amaliyot shuni ko'rsatdiki, yaxshi o'qitilgan model mahsulotga aylanishi uchun yetarli emas. Google muhandislari 2015-yilda e'lon qilgan «Hidden Technical Debt in Machine Learning Systems» maqolasida ta'kidlanganidek, real SI tizimida modelning o'zi butun kod hajmining juda kichik qismini tashkil etadi; qolgan qismi ma'lumot yig'ish, tekshirish, xususiyatlarni hisoblash, resurslarni boshqarish, xizmat ko'rsatish infratuzilmasi va monitoringdan iborat.</a:t>
            </a:r>
          </a:p>
          <a:p/>
          <a:p>
            <a:r>
              <a:t>Shu sababli alohida muhandislik yo'nalishi — sun'iy intellekt injiniringi — shakllandi. U uchta an'anaviy sohaning kesishmasida turadi: dasturiy injiniring (talablar, arxitektura, sinov, versiyalash), ma'lumotlar fani (model, statistika, baholash) va kompyuter arxitekturasi (protsessor, xotira, tezlatkich, tarmoq). Bizning fanimiz ana shu uchinchi tayanchga — SI uchun kompyuter tizimlariga — e'tibor qaratadi, chunki aynan apparat cheklovlari ko'pincha loyihaning muvaffaqiyatini hal qiladi: 16 ta kameradan real vaqtda odam aniqlash kerak bo'lsa, qaysi protsessorni olish kerak? Katta til modelini (LLM) bitta serverda ishga tushirib bo'ladimi? Chekka qurilmada 5 vatt energiya bilan nimaga erishish mumkin?</a:t>
            </a:r>
          </a:p>
          <a:p/>
          <a:p>
            <a:r>
              <a:t>Sanoat konteksti ham o'zgardi. Hennessy va Patterson 2019-yilda Tyuring ma'ruzasida «kompyuter arxitekturasining yangi oltin asri» haqida gapirib, Mur qonuni va Dennard masshtablashi sekinlashgan sharoitda unumdorlik o'sishining asosiy manbai sohaga xos arxitekturalar (domain-specific architectures) bo'lishini ta'kidladi. Sun'iy intellekt — bu tendensiyaning eng yorqin namunasi: GPU, TPU, NPU, FPGA kabi tezlatkichlar (accelerator) aynan neyron tarmoq hisoblari uchun ixtisoslashgan. Natijada SI tizimini loyihalovchi muhandis endi «dastur yozib, uni mavjud kompyuterda ishga tushirish» bilan cheklanmaydi; u model, dasturiy stek va apparatni birgalikda tanlaydi va sozlaydi. Ushbu ma'ruza shu yondashuvning konseptual asoslarini beradi va amaliy misolda uni video-analitika tizimini loyihalash orqali ko'rsatadi.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Sun'iy intellekt injiniringi (AI engineering) — SI komponentlarini o'z ichiga olgan tizimlarni ishonchli, takrorlanuvchi va masshtablanuvchi tarzda loyihalash, qurish, joylashtirish va ekspluatatsiya qilish fanidir. Microsoft tadqiqotchilari Amershi va hammualliflar 2019-yilgi ICSE konferensiyasidagi «Software Engineering for Machine Learning: A Case Study» maqolasida va keyinchalik [3] kitobida mashinali o'qitish ish jarayonining to'qqiz bosqichini ajratishgan: model talablarini aniqlash, ma'lumot yig'ish, ma'lumotni tozalash, ma'lumotni belgilash (labeling), xususiyatlarni ishlab chiqish, modelni o'qitish, modelni baholash, modelni joylashtirish va modelni monitoring qilish. Bu jarayon chiziqli emas — baholash natijasi yomon bo'lsa, ma'lumot yig'ishga qaytiladi; monitoring siljishni (drift) ko'rsatsa, qayta o'qitish boshlanadi.</a:t>
            </a:r>
          </a:p>
          <a:p/>
          <a:p>
            <a:r>
              <a:t>Amershi va hammualliflar SI tizimlarining an'anaviy dasturiy ta'minotdan uchta tub farqini ko'rsatadilar. Birinchidan, ma'lumotni boshqarish koddan ko'ra murakkabroq: ma'lumot versiyalanishi, sifati tekshirilishi, kelib chiqishi (provenance) kuzatilishi kerak. Ikkinchidan, modelni sozlash va qayta ishlatish an'anaviy kodni qayta ishlatishdan farq qiladi — oldindan o'qitilgan modelni boshqa sohaga ko'chirish alohida malaka talab qiladi. Uchinchidan, modul chegaralari buziladi: ikki model bir-biriga bog'liq bo'lib, birining o'zgarishi ikkinchisining xatti-harakatini o'zgartiradi (CACE tamoyili — «Changing Anything Changes Everything»).</a:t>
            </a:r>
          </a:p>
          <a:p/>
          <a:p>
            <a:r>
              <a:t>Kneusel [2] amaliy nuqtai nazardan SI injiniringini «modelni ishlaydigan mahsulotga aylantirish san'ati» deb ta'riflaydi va muhandis javob berishi kerak bo'lgan savollarni sanaydi: inferens qayerda bajariladi (bulut, server, qurilma)? Qanday kechikish qabul qilinadi? Xato narxi qancha? Model qanchalik tez eskiradi? Ushbu savollarning har biri bevosita kompyuter tizimi arxitekturasiga ta'sir qiladi. Masalan, 20 millisekund kechikish talabi va tarmoq orqali bulutga murojaat qilishning 50–100 millisekundlik tabiiy kechikishi bir-biriga zid — demak inferens qurilmaning o'zida bajarilishi shart.</a:t>
            </a:r>
          </a:p>
          <a:p/>
          <a:p>
            <a:r>
              <a:t>SI injiniringining yana bir muhim jihati — hayot sikli tushunchasi. Mustaqil ta'lim topshirig'ida keltirilgan Netflix tavsiya tizimi, Uber haydovchi tahlili va Amazon omborxona robototexnikasi misollarida umumiy naqsh ko'rinadi: ma'lumot to'xtovsiz oqib keladi, model davriy ravishda qayta o'qitiladi, A/B sinovlar orqali yangi versiya eskisi bilan taqqoslanadi, inferens infratuzilmasi esa yuk o'zgarishiga qarab avtomatik kengayadi. Netflix misolida tavsiya modeli offline rejimda (kecha-kunduz paketli hisoblash) o'qitiladi, lekin foydalanuvchi sahifani ochganda natija bir necha o'n millisekund ichida qaytishi kerak — bu ikki rejim butunlay boshqa apparat talablarini qo'yadi.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Hisoblash platformasi deganda biz SI yukini bajaruvchi apparat va uning ustidagi tizimli dasturiy ta'minot (drayver, kutubxona, ish vaqti muhiti) majmuasini tushunamiz. Platformalarni to'rt sinfga ajratish qulay: shaxsiy ish stansiyalari, ma'lumotlar markazi serverlari, bulut xizmatlari va chekka (edge) qurilmalar. Quyidagi jadvalda ularning tipik vakillari va taxminiy ko'rsatkichlari keltirilgan (ishlab chiqaruvchilar e'lon qilgan rasmiy pasport qiymatlari, real yuklamada 30–60 % foydalanish odatiy).</a:t>
            </a:r>
          </a:p>
          <a:p/>
          <a:p>
            <a:r>
              <a:t>Jadvaldan uch muhim xulosa kelib chiqadi. Birinchidan, platformalar orasidagi farq olti tartibni (10⁶) tashkil etadi — mikrokontrollerdan H100 gacha. Demak «model ishlaydimi?» savoli ma'nosiz; «qaysi platformada, qanday kechikish va energiya bilan ishlaydi?» deb so'rash kerak. Ikkinchidan, hisoblash quvvati bilan birga xotira o'tkazuvchanligi (memory bandwidth) ko'rsatilgan — ko'p SI yuklari, ayniqsa LLM inferensi, hisoblash bilan emas, xotira bilan cheklanadi (bu haqda M5 va M10 mavzularida batafsil). Uchinchidan, energiya ustuni platforma sinfini aniq belgilaydi: batareyada ishlaydigan qurilma uchun 5 vatt ham ko'p, ma'lumotlar markazida esa 700 vattli chip me'yor.</a:t>
            </a:r>
          </a:p>
          <a:p/>
          <a:p>
            <a:r>
              <a:t>Platforma tanlashda hisoblash quvvatining birligiga e'tibor berish zarur. TOPS (tera operations per second) odatda INT8 butun sonli amallar uchun, TFLOPS esa suzuvchi nuqtali (FP32, FP16, BF16, FP8) amallar uchun beriladi. Bitta ko'paytirish-qo'shish (multiply-accumulate, MAC) amali ikki operatsiya sifatida hisoblanadi. Bundan tashqari, NVIDIA ko'rsatkichlarini «siyrak» (sparsity, 2:4 strukturali siyraklik) rejimi uchun e'lon qiladi, bu zich hisobdan ikki baravar yuqori. Shuning uchun turli ishlab chiqaruvchilarni taqqoslaganda bir xil aniqlik va bir xil siyraklik rejimidagi raqamlarni olish shart.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AI-enabled kompyuter tizimi — bu funksionalligining muhim qismi o'qitilgan model orqali amalga oshiriladigan tizim. Uning arxitekturasini besh qatlamli model sifatida tasavvur qilish qulay:</a:t>
            </a:r>
          </a:p>
          <a:p/>
          <a:p>
            <a:r>
              <a:t>Ma'lumot qabul qilish qatlami (ingestion) — sensorlar, kameralar, jurnallar, foydalanuvchi so'rovlari. Bu yerda protokollar (RTSP, MQTT, HTTP/gRPC), kodeklar (H.264/H.265) va buferlash hal qilinadi.</a:t>
            </a:r>
          </a:p>
          <a:p/>
          <a:p>
            <a:r>
              <a:t>Oldindan ishlov berish qatlami (preprocessing) — dekodlash, o'lchamini o'zgartirish, normallashtirish, tokenlashtirish. Ko'pincha e'tibordan chetda qoladi, lekin video tizimlarida dekodlash inferensdan ko'ra ko'proq resurs talab qilishi mumkin.</a:t>
            </a:r>
          </a:p>
          <a:p/>
          <a:p>
            <a:r>
              <a:t>Inferens qatlami — modelning o'zi va uni bajaruvchi ish vaqti muhiti (PyTorch, ONNX Runtime, TensorRT, OpenVINO). Bu qatlam tezlatkich bilan bevosita ishlaydi.</a:t>
            </a:r>
          </a:p>
          <a:p/>
          <a:p>
            <a:r>
              <a:t>Orkestratsiya va biznes mantiq qatlami — natijalarni birlashtirish, qoidalar, kuzatish (tracking), hodisalarni yaratish, saqlash, boshqa tizimlarga uzatish.</a:t>
            </a:r>
          </a:p>
          <a:p/>
          <a:p>
            <a:r>
              <a:t>Kuzatuv va boshqaruv qatlami (observability) — metrikalar (kechikish, o'tkazuvchanlik, GPU bandligi), jurnallar, model sifati monitoringi, versiya boshqaruvi.</a:t>
            </a:r>
          </a:p>
          <a:p/>
          <a:p>
            <a:r>
              <a:t>Qatlamlar orasidagi interfeyslar aniq belgilanishi kerak, chunki ular apparat chegaralari bilan mos tushadi: masalan, 1-2-qatlamlar CPU va video dekoder (NVDEC) da, 3-qatlam GPU da, 4-5-qatlamlar CPU da ishlashi mumkin. Ma'lumotning bu chegaralardan o'tishi — xost va qurilma xotirasi o'rtasida nusxalash — ko'pincha asosiy to'siq (bottleneck) bo'ladi. Shu sababli zamonaviy arxitekturalarda «nol nusxalash» (zero-copy) yondashuvi — dekodlangan kadrni GPU xotirasida qoldirib, to'g'ridan-to'g'ri inferensga uzatish — keng qo'llaniladi.</a:t>
            </a:r>
          </a:p>
          <a:p/>
          <a:p>
            <a:r>
              <a:t>Arxitekturaning yana bir o'lchovi — inferens rejimi. Onlayn (real vaqt) rejimda har bir so'rov alohida va kechikish muhim; paketli (batch) rejimda so'rovlar to'planib, o'tkazuvchanlik muhim; oqimli (streaming) rejimda uzluksiz ma'lumot oqimi qayta ishlanadi. Har rejim uchun maqbul apparat va dasturiy yechim boshqa: onlayn rejimda kichik paket (batch size 1–4) va past kechikishli tezlatkich; paketli rejimda katta paket (64–256) va yuqori o'tkazuvchanlik; oqimli rejimda esa dekodlash–inferens–kuzatish quvuri (pipeline) ning muvozanati hal qiluvchi.</a:t>
            </a:r>
          </a:p>
          <a:p/>
          <a:p>
            <a:r>
              <a:t>Ko'rsatkichlarni rasmiylashtiraylik. Agar tizim N ta kameradan har biri f kadr/soniya tezlikda ma'lumot olsa va model bitta kadr uchun C FLOP talab qilsa, zarur hisoblash quvvati P = N × f × C / η bo'ladi, bu yerda η — tezlatkichdan real foydalanish koeffitsiyenti (odatda 0,2–0,6). Masalan, 16 kamera, 25 kadr/s, YOLOv8s modeli (640×640 kirishda taxminan 28,6 GFLOP) va η = 0,35 uchun P ≈ 16 × 25 × 28,6 × 10⁹ / 0,35 ≈ 32,7 TFLOPS kerak bo'ladi. Bu raqam Jetson Orin Nano (taxminan 20 TFLOPS FP16 zich hisobda) uchun ko'p, lekin Jetson AGX Orin yoki bitta L4 uchun yetarli. Ana shu oddiy hisob platforma tanlashning birinchi qadamidir.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AI-enabled kompyuter tizimi — bu funksionalligining muhim qismi o'qitilgan model orqali amalga oshiriladigan tizim. Uning arxitekturasini besh qatlamli model sifatida tasavvur qilish qulay:</a:t>
            </a:r>
          </a:p>
          <a:p/>
          <a:p>
            <a:r>
              <a:t>Ma'lumot qabul qilish qatlami (ingestion) — sensorlar, kameralar, jurnallar, foydalanuvchi so'rovlari. Bu yerda protokollar (RTSP, MQTT, HTTP/gRPC), kodeklar (H.264/H.265) va buferlash hal qilinadi.</a:t>
            </a:r>
          </a:p>
          <a:p/>
          <a:p>
            <a:r>
              <a:t>Oldindan ishlov berish qatlami (preprocessing) — dekodlash, o'lchamini o'zgartirish, normallashtirish, tokenlashtirish. Ko'pincha e'tibordan chetda qoladi, lekin video tizimlarida dekodlash inferensdan ko'ra ko'proq resurs talab qilishi mumkin.</a:t>
            </a:r>
          </a:p>
          <a:p/>
          <a:p>
            <a:r>
              <a:t>Inferens qatlami — modelning o'zi va uni bajaruvchi ish vaqti muhiti (PyTorch, ONNX Runtime, TensorRT, OpenVINO). Bu qatlam tezlatkich bilan bevosita ishlaydi.</a:t>
            </a:r>
          </a:p>
          <a:p/>
          <a:p>
            <a:r>
              <a:t>Orkestratsiya va biznes mantiq qatlami — natijalarni birlashtirish, qoidalar, kuzatish (tracking), hodisalarni yaratish, saqlash, boshqa tizimlarga uzatish.</a:t>
            </a:r>
          </a:p>
          <a:p/>
          <a:p>
            <a:r>
              <a:t>Kuzatuv va boshqaruv qatlami (observability) — metrikalar (kechikish, o'tkazuvchanlik, GPU bandligi), jurnallar, model sifati monitoringi, versiya boshqaruvi.</a:t>
            </a:r>
          </a:p>
          <a:p/>
          <a:p>
            <a:r>
              <a:t>Qatlamlar orasidagi interfeyslar aniq belgilanishi kerak, chunki ular apparat chegaralari bilan mos tushadi: masalan, 1-2-qatlamlar CPU va video dekoder (NVDEC) da, 3-qatlam GPU da, 4-5-qatlamlar CPU da ishlashi mumkin. Ma'lumotning bu chegaralardan o'tishi — xost va qurilma xotirasi o'rtasida nusxalash — ko'pincha asosiy to'siq (bottleneck) bo'ladi. Shu sababli zamonaviy arxitekturalarda «nol nusxalash» (zero-copy) yondashuvi — dekodlangan kadrni GPU xotirasida qoldirib, to'g'ridan-to'g'ri inferensga uzatish — keng qo'llaniladi.</a:t>
            </a:r>
          </a:p>
          <a:p/>
          <a:p>
            <a:r>
              <a:t>Arxitekturaning yana bir o'lchovi — inferens rejimi. Onlayn (real vaqt) rejimda har bir so'rov alohida va kechikish muhim; paketli (batch) rejimda so'rovlar to'planib, o'tkazuvchanlik muhim; oqimli (streaming) rejimda uzluksiz ma'lumot oqimi qayta ishlanadi. Har rejim uchun maqbul apparat va dasturiy yechim boshqa: onlayn rejimda kichik paket (batch size 1–4) va past kechikishli tezlatkich; paketli rejimda katta paket (64–256) va yuqori o'tkazuvchanlik; oqimli rejimda esa dekodlash–inferens–kuzatish quvuri (pipeline) ning muvozanati hal qiluvchi.</a:t>
            </a:r>
          </a:p>
          <a:p/>
          <a:p>
            <a:r>
              <a:t>Ko'rsatkichlarni rasmiylashtiraylik. Agar tizim N ta kameradan har biri f kadr/soniya tezlikda ma'lumot olsa va model bitta kadr uchun C FLOP talab qilsa, zarur hisoblash quvvati P = N × f × C / η bo'ladi, bu yerda η — tezlatkichdan real foydalanish koeffitsiyenti (odatda 0,2–0,6). Masalan, 16 kamera, 25 kadr/s, YOLOv8s modeli (640×640 kirishda taxminan 28,6 GFLOP) va η = 0,35 uchun P ≈ 16 × 25 × 28,6 × 10⁹ / 0,35 ≈ 32,7 TFLOPS kerak bo'ladi. Bu raqam Jetson Orin Nano (taxminan 20 TFLOPS FP16 zich hisobda) uchun ko'p, lekin Jetson AGX Orin yoki bitta L4 uchun yetarli. Ana shu oddiy hisob platforma tanlashning birinchi qadamidir.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Hardware–software co-design — tizimning apparat va dasturiy qismlarini alohida emas, balki bir vaqtning o'zida, bir-biriga moslashtirib loyihalash metodologiyasi. An'anaviy yondashuvda apparat avval tanlanadi (yoki mavjud bo'ladi), so'ng dastur unga moslashtiriladi. SI tizimlarida bu yondashuv ikki sababga ko'ra ishlamaydi: birinchidan, model arxitekturasi (qatlamlar soni, kanallar, aniqlik) o'zi loyihalash parametri bo'lib, uni apparatga qarab o'zgartirish mumkin; ikkinchidan, tezlatkichlar shunchalik ixtisoslashganki, ularga mos kelmaydigan model (masalan, Tensor Core uchun 8 ga karrali bo'lmagan kanal soni) unumdorlikni bir necha barobar yo'qotadi.</a:t>
            </a:r>
          </a:p>
          <a:p/>
          <a:p>
            <a:r>
              <a:t>Co-design jarayonini to'rt o'lchovli izlanish fazosi sifatida tasavvur qilish mumkin:</a:t>
            </a:r>
          </a:p>
          <a:p/>
          <a:p>
            <a:r>
              <a:t>Co-design amaliy jihatdan iterativ jarayon. Birinchi iteratsiyada talab (kechikish, aniqlik, byudjet, energiya) qo'yiladi va nomzod model hamda nomzod apparat tanlanadi. Ikkinchi iteratsiyada model shu apparatda profillanadi — qaysi qatlamlar sekin, xotira yetarlimi, tezlatkichdan foydalanish qanday. Uchinchi iteratsiyada ikki tomon ham moslashtiriladi: model kvantlanadi yoki kichikroq variant olinadi, apparat tomonida esa paket hajmi, oqimlar soni, xotira joylashuvi sozlanadi. Bu sikl talab bajarilguncha takrorlanadi. Sze va hammualliflar [4] bu jarayonni «algoritm–apparat birgalikdagi loyihalash» deb atab, neyron tarmoqning energiya sarfi asosan hisoblashda emas, xotiraga murojaatda ekanini ko'rsatadilar: 45 nm texnologiyada DRAM dan 32 bit o'qish taxminan 640 pJ energiya talab qiladi, 32 bitli ko'paytirish esa atigi 3,7 pJ — ya'ni ma'lumotni joyida saqlab, qayta ishlatish (data reuse) har qanday hisoblash optimizatsiyasidan muhimroq.</a:t>
            </a:r>
          </a:p>
          <a:p/>
          <a:p>
            <a:r>
              <a:t>Co-design kontekstida ikki klassik qonun doimo yodda bo'lishi kerak. Amdal qonuni (Amdahl's law): agar dasturning p ulushi tezlashtirilsa va qolgan 1−p ulushi o'zgarmasa, umumiy tezlashuv S = 1 / ((1−p) + p/s) dan oshmaydi, bu yerda s — tezlashtirilgan qismning tezlashuvi. Video-analitikada inferens kadr vaqtining 60 % ini egallasa va uni cheksiz tezlashtirsak ham, umumiy tezlashuv 2,5 baravardan oshmaydi — dekodlash va keyingi ishlov cheklaydi. Roofline modeli esa yukning arifmetik intensivligi (FLOP / bayt) asosida u hisoblash yoki xotira bilan cheklanganini ko'rsatadi; bu model M10 da batafsil ko'riladi, lekin co-design ning har bir qadamida ishlatiladi.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Yuqoridagi tushunchalar asosida SI tizimini loyihalashning amaliy tamoyillarini shakllantirish mumkin. Talabdan boshlash: kechikish byudjeti (masalan, kadrdan hodisagacha 200 ms), aniqlik chegarasi (mAP yoki F1), yuk (kameralar soni, so'rov/soniya), energiya va narx cheklovlari raqam bilan yoziladi; raqamsiz talab — talab emas. Ma'lumot oqimini chizish: har bir komponent orqali o'tadigan baytlar soni hisoblanadi; 1080p kadr RGB ko'rinishda 6,2 MB, 25 kadr/s da bitta kamera 155 MB/s, 16 kamera 2,5 GB/s — bu PCIe 3.0 x16 ning (taxminan 16 GB/s) sezilarli qismi. Eng tor joyni topish: Amdal qonuniga ko'ra faqat tor joyni optimallashtirish foyda beradi. Modullilik va interfeyslar: model almashtirilsa (YOLOv8 → YOLO11), qolgan tizim o'zgarmasligi kerak — buning uchun ONNX kabi standart format va aniq API. Kuzatuvchanlik dastlabdan: metrikalar keyin qo'shiladigan narsa emas; ularsiz co-design iteratsiyasini bajarib bo'lmaydi. Degradatsiyaga tayyorlik: tezlatkich ishdan chiqsa yoki yuk oshsa tizim butunlay to'xtamasdan, kadr tashlash (frame skipping) yoki kichik modelga o'tish orqali ishlashda davom etishi kerak.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Vazifa: savdo markazi kirish zonasida 16 ta IP-kamera (1080p, 25 kadr/s) orqali odamlar va transport vositalarini real vaqtda aniqlovchi video-analitika tizimini loyihalash. Talablar: kadrdan hodisagacha kechikish 300 ms dan kam, kamida 15 kadr/s qayta ishlash tezligi (har kamera uchun), aniqlik COCO mAP50 bo'yicha kamida 0,5 (odam va avtomobil sinflari uchun), umumiy apparat byudjeti o'rtacha inferens serveri darajasida, tizim 24/7 ishlaydi. Misol to'rt qadamdan iborat: talabni hisoblash, komponentlarni tanlash, inferens xizmatini yozish va uni o'lchash. Kod Python 3.10+, ultralytics, onnxruntime (yoki onnxruntime-gpu), fastapi, opencv-python paketlari bilan sinalgan; o'lchov natijalari taxminiy va apparatga qarab farq qiladi.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Avval yuk hajmini hisoblaymiz. 16 kamera × 15 kadr/s = 240 kadr/s (talabdagi minimal tezlik; 25 kadr/s da 400 kadr/s bo'lar edi, lekin aniqlash uchun har kadr shart emas — kuzatuv (tracking) oraliq kadrlarni to'ldiradi). Nomzod modellar sifatida YOLOv8 oilasini olamiz, chunki u ONNX ga eksport qilinadi va chekka qurilmadan serverga qadar barcha platformalarda qo'llab-quvvatlanadi.</a:t>
            </a:r>
          </a:p>
          <a:p/>
          <a:p>
            <a:r>
              <a:t>Odam va avtomobil COCO ning eng yaxshi aniqlanadigan sinflaridan bo'lgani uchun YOLOv8s mAP50 talabini ortig'i bilan qondiradi. Zarur quvvat: 240 × 28,6 GFLOP = 6,9 TFLOP/s samarali; η = 0,35 bilan taxminan 20 TFLOPS pasport quvvati FP16 rejimida. INT8 kvantlash bilan talab yana ikki baravar kamayadi.</a:t>
            </a:r>
          </a:p>
          <a:p/>
          <a:p>
            <a:r>
              <a:t>Nima bo'ldi va nega. Biz talabni raqamga aylantirdik va modelni apparatga qarab emas, apparatni modelga qarab tanlash imkoniyatini oldik. Shu bosqichda kadr tezligini 25 dan 15 ga tushirish qarori — co-design ning dasturiy tomondagi birinchi qadami; u apparat talabini 40 % kamaytirdi.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Hisoblash: bitta NVIDIA L4 (24 GB, 72 W, taxminan 121 TFLOPS FP16 zich, INT8 da ikki baravar) yoki Jetson AGX Orin 64 GB (chekka variant). Server varianti tanlanadi, chunki 16 kamera bir joyda va server xonasi mavjud; L4 ning energiya sarfi past bo'lgani uchun oddiy 1U serverga sig'adi.</a:t>
            </a:r>
          </a:p>
          <a:p/>
          <a:p>
            <a:r>
              <a:t>Dekodlash: 16 ta 1080p H.264 oqimi — bu L4 dagi NVDEC bloklari uchun yengil yuk (L4 da ikkita NVDEC bo'lib, ishlab chiqaruvchi ma'lumotiga ko'ra bir vaqtda ko'plab 1080p oqimlarni dekodlaydi). Dekodlashni CPU ga yuklasak, 16 oqim uchun kamida 8–10 zamonaviy yadro kerak bo'lar edi — shuning uchun apparat dekoder tanlanadi (DeepStream yoki PyNvCodec orqali). Ushbu o'quv misolida soddalik uchun OpenCV bilan CPU dekodlash ko'rsatiladi, ishlab chiqarishda esa GPU dekoder.</a:t>
            </a:r>
          </a:p>
          <a:p/>
          <a:p>
            <a:r>
              <a:t>CPU va xotira: 8–16 yadroli server protsessori (oldindan/keyingi ishlov, kuzatuv, API), 64 GB RAM. Tarmoq: 16 kamera × ~8 Mbit/s = 128 Mbit/s — 1 Gbit/s port yetarli. Saqlash: hodisalar va kadr parchalari uchun NVMe SSD.</a:t>
            </a:r>
          </a:p>
          <a:p/>
          <a:p>
            <a:r>
              <a:t>Dasturiy stek: Ubuntu 22.04, NVIDIA drayveri, CUDA 12.x, ONNX Runtime (CUDA EP) yoki TensorRT, FastAPI (API), Prometheus (metrikalar), Docker (qadoqlash; M7 da batafsil).</a:t>
            </a:r>
          </a:p>
          <a:p/>
          <a:p>
            <a:r>
              <a:t>Nima bo'ldi va nega. Har komponent oldingi qadamdagi raqamdan kelib chiqdi: tezlatkich — zarur TFLOPS dan, dekoder — oqimlar sonidan, CPU — tezlatkichga yuklanmaydigan ishdan. Hisoblamasdan «eng kuchli GPU» olish byudjetni besh-o'n baravar oshirib, foyda bermasdi.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PyTorch modeli ramkadan mustaqil ONNX grafiga aylandi. Endi uni ONNX Runtime, TensorRT yoki OpenVINO da ishga tushirish mumkin — bu «modullilik va interfeyslar» tamoyilining amaliy ifodasi. Statik kirish shakli (1×3×640×640) tanlandi, chunki tezlatkichlar statik shakllar uchun oldindan optimallashtirilgan yadro (kernel) tanlay oladi.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Ishga tushirish: uvicorn service:app --host 0.0.0.0 --port 8000 --workers 1. Sinov so'rovi: curl -F "file=@kadr.jpg" http://localhost:8000/detect.</a:t>
            </a:r>
          </a:p>
          <a:p/>
          <a:p>
            <a:r>
              <a:t>Nima bo'ldi va nega. Xizmat arxitekturaning 2–4-qatlamlarini (oldindan ishlov, inferens, keyingi ishlov) alohida funksiyalarga ajratdi va har bosqich vaqtini alohida o'lchaydi — bu kuzatuvchanlik tamoyili. Bitta ishchi jarayon (--workers 1) tanlandi, chunki GPU ni bir necha jarayon bo'lib ishlatish kontekst almashinuvi tufayli unumdorlikni pasaytiradi; parallellik ish vaqti muhiti ichida (CUDA oqimlari) va paketlash orqali ta'minlanadi.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Kutilgan taxminiy natijalar (bitta 1080p JPEG kadr, YOLOv8s, 640×640):</a:t>
            </a:r>
          </a:p>
          <a:p/>
          <a:p>
            <a:r>
              <a:t>Nima bo'ldi va nega. O'lchov ikki haqiqatni ochdi. Birinchidan, FP32 rejimidagi ONNX Runtime bitta jarayonda 240 kadr/s talabini qondirmaydi — faqat TensorRT FP16 yoki INT8 bilan qondiradi (bu A3 amaliy mashg'ulotining mavzusi). Ikkinchidan, GPU variantida inferens 2–3 ms ga tushganda oldindan ishlov (JPEG dekodlash + o'lcham o'zgartirish, CPU da) umumiy vaqtning yarmidan ko'pini egallaydi — Amdal qonuni amalda. Demak keyingi co-design iteratsiyasi apparat dekoder va GPU da oldindan ishlovga (nol nusxalash) qaratilishi kerak.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Misol natijalari co-design iteratsiyasining mantiqini aniq ko'rsatadi. Dastlabki hisob-kitob (20 TFLOPS) va tanlangan apparat (L4) o'zaro mos keldi, lekin birinchi dasturiy yechim (ONNX Runtime FP32) tezlatkich imkoniyatining faqat qismini ishlatdi: 121 TFLOPS pasport quvvatida 28,6 GFLOP li model 8 ms bajarilishi η ≈ 0,03 foydalanishni bildiradi. Bu kichik paket (batch size 1), FP32 aniqlik va umumiy maqsadli ish vaqti muhiti tufayli. TensorRT FP16 ga o'tish η ni taxminan 0,1–0,15 ga ko'taradi; paketlash (4–8 kadr) va INT8 kvantlash yana 2–3 baravar qo'shadi. Shuni ta'kidlash kerakki, inferens yuklarida 0,3–0,5 dan yuqori foydalanish kamdan-kam erishiladi — bu normal holat, chunki model qatlamlari kichik va xotira harakati ko'p.</a:t>
            </a:r>
          </a:p>
          <a:p/>
          <a:p>
            <a:r>
              <a:t>Ikkinchi muhim xulosa — oldindan ishlovning narxi. GPU variantida 15–20 ms umumiy kechikishning 10–12 ms i inferensdan tashqarida. 16 kamerali real tizimda JPEG emas, H.264 oqimi keladi; har kadrni CPU da dekodlash 1080p uchun 5–10 ms oladi va 240 kadr/s da 2–3 yadroni to'liq band qiladi. Apparat dekoder (NVDEC) va GPU da o'lcham o'zgartirish bu yukni deyarli nolga tushiradi, ammo dasturiy murakkablikni oshiradi (DeepStream, GStreamer quvuri). Bu — co-design ning tipik savdolashuvi: muhandislik vaqti va murakkablik evaziga apparatdan samarali foydalanish.</a:t>
            </a:r>
          </a:p>
          <a:p/>
          <a:p>
            <a:r>
              <a:t>Cheklovlar ham aniq. Birinchidan, misolda sinxron HTTP API ishlatildi; real video-analitikada kadrlar HTTP orqali yuborilmaydi — xizmat oqimni to'g'ridan-to'g'ri o'qiydi. HTTP varianti o'quv maqsadida o'lchash qulayligi uchun tanlandi. Ikkinchidan, bitta kadrning kechikishi tizim kechikishi emas: kuzatuv, hodisa yaratish, ma'lumotlar bazasiga yozish qo'shiladi; 300 ms byudjetdan inferensga 50 ms dan ko'p ajratmaslik oqilona. Uchinchidan, aniqlik COCO da o'lchandi; savdo markazining real kameralari (burchak, yorug'lik, zichlik) boshqa taqsimot bo'lib, model sozlash (fine-tuning) talab qilishi mumkin — bu SI injiniringining «ma'lumot» bosqichiga qaytish demakdir.</a:t>
            </a:r>
          </a:p>
          <a:p/>
          <a:p>
            <a:r>
              <a:t>Muqobil yondashuvlar: (a) to'liq chekka arxitektura — har 4 kameraga bitta Jetson Orin Nano, markaziy server faqat hodisalarni yig'adi; afzalligi — tarmoq yuki va yagona nuqsonli nuqta yo'q, kamchiligi — 4 qurilmani yangilash va kuzatish murakkabroq; (b) bulutli inferens — kameralar oqimi bulutga yuboriladi; 16 × 8 Mbit/s tashqi kanal va 50–150 ms tarmoq kechikishi talab bilan sig'ishmaydi, bundan tashqari video maxfiyligi masalasi bor; (c) gibrid — chekkada yengil model (YOLOv8n) harakatni aniqlaydi, faqat qiziq kadrlar serverga og'ir modelga yuboriladi; bu ko'pincha eng tejamkor yechim.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Pasport TFLOPS ni real unumdorlik deb qabul qilish. Ishlab chiqaruvchi raqamlari ideal matritsali ko'paytirish uchun, ko'pincha siyrak rejimda beriladi. Real modelda 10–40 % foydalanish normal. Platformani tanlashdan oldin o'z modelingizni shu platformada (yoki MLPerf Inference natijalarida o'xshash modelni) o'lchang.</a:t>
            </a:r>
          </a:p>
          <a:p/>
          <a:p>
            <a:r>
              <a:t>Faqat inferens vaqtini o'lchash. Dekodlash, o'lcham o'zgartirish, xost–qurilma nusxalash, keyingi ishlov va tarmoq ko'pincha inferensdan ko'p vaqt oladi. Har bosqichni alohida o'lchang (misoldagi timing_ms kabi) va Amdal qonunini qo'llang.</a:t>
            </a:r>
          </a:p>
          <a:p/>
          <a:p>
            <a:r>
              <a:t>O'rtacha kechikishga qarash, quyruqni unutish. Foydalanuvchi p95 va p99 kechikishni his qiladi. Isitish (warm-up), xotira ajratish, chiqindi yig'uvchi (garbage collector) pauzalari quyruqni cho'zadi. Talabni p95 bilan yozing.</a:t>
            </a:r>
          </a:p>
          <a:p/>
          <a:p>
            <a:r>
              <a:t>Dinamik shakllar va «ehtiyot uchun» umumiy yechim. Statik kirish shakli, belgilangan paket hajmi va aniq provayder tezlatkichga eng yaxshi yadrolarni tanlash imkonini beradi. Moslashuvchanlik kerak bo'lsa, bir nechta statik profil tayyorlang.</a:t>
            </a:r>
          </a:p>
          <a:p/>
          <a:p>
            <a:r>
              <a:t>Xotira o'tkazuvchanligini e'tiborsiz qoldirish. Ko'p modellar, ayniqsa kichik paketda, hisoblash emas, xotira bilan cheklanadi. Tezlatkich tanlaganda GB/s ko'rsatkichini TFLOPS bilan birga ko'ring; Jetson Orin Nano (68 GB/s) va L4 (300 GB/s) o'rtasidagi farq ko'pincha hisoblash farqidan ko'ra muhimroq.</a:t>
            </a:r>
          </a:p>
          <a:p/>
          <a:p>
            <a:r>
              <a:t>GPU ni bir nechta jarayonga bo'lib berish. Har bir jarayon alohida CUDA konteksti yaratadi, xotira va vaqt isrof bo'ladi. Bitta jarayon, bir nechta oqim (stream) yoki Triton Inference Server kabi maxsus server ishlating.</a:t>
            </a:r>
          </a:p>
          <a:p/>
          <a:p>
            <a:r>
              <a:t>Kuzatuvchanlikni oxirgi bosqichga qoldirish. Metrikalar (so'rov/s, p95, GPU bandligi, GPU xotirasi, navbat uzunligi) birinchi kundan yig'ilishi kerak; ularsiz co-design iteratsiyasini bajarish mumkin emas va ishlab chiqarishdagi muammo sababini topib bo'lmaydi.</a:t>
            </a:r>
          </a:p>
          <a:p/>
          <a:p>
            <a:r>
              <a:t>Degradatsiya rejimini loyihalamaslik. Yuk oshganda yoki tezlatkich band bo'lganda tizim nima qiladi? Kadr tashlash, kichik modelga o'tish, navbat chegarasi — bular talablar bosqichida belgilanishi kerak, avariya paytida emas.</a:t>
            </a:r>
          </a:p>
          <a:p/>
          <a:p>
            <a:r>
              <a:t>Model formatini ramkaga bog'lab qo'yish. PyTorch modelini bevosita ishlab chiqarishga chiqarish versiyaga bog'liqlik va og'ir muhit demakdir. ONNX yoki TensorRT kabi standart oraliq formatdan foydalaning — bu modelni va ish vaqti muhitini mustaqil yangilash imkonini beradi.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Pasport TFLOPS ni real unumdorlik deb qabul qilish. Ishlab chiqaruvchi raqamlari ideal matritsali ko'paytirish uchun, ko'pincha siyrak rejimda beriladi. Real modelda 10–40 % foydalanish normal. Platformani tanlashdan oldin o'z modelingizni shu platformada (yoki MLPerf Inference natijalarida o'xshash modelni) o'lchang.</a:t>
            </a:r>
          </a:p>
          <a:p/>
          <a:p>
            <a:r>
              <a:t>Faqat inferens vaqtini o'lchash. Dekodlash, o'lcham o'zgartirish, xost–qurilma nusxalash, keyingi ishlov va tarmoq ko'pincha inferensdan ko'p vaqt oladi. Har bosqichni alohida o'lchang (misoldagi timing_ms kabi) va Amdal qonunini qo'llang.</a:t>
            </a:r>
          </a:p>
          <a:p/>
          <a:p>
            <a:r>
              <a:t>O'rtacha kechikishga qarash, quyruqni unutish. Foydalanuvchi p95 va p99 kechikishni his qiladi. Isitish (warm-up), xotira ajratish, chiqindi yig'uvchi (garbage collector) pauzalari quyruqni cho'zadi. Talabni p95 bilan yozing.</a:t>
            </a:r>
          </a:p>
          <a:p/>
          <a:p>
            <a:r>
              <a:t>Dinamik shakllar va «ehtiyot uchun» umumiy yechim. Statik kirish shakli, belgilangan paket hajmi va aniq provayder tezlatkichga eng yaxshi yadrolarni tanlash imkonini beradi. Moslashuvchanlik kerak bo'lsa, bir nechta statik profil tayyorlang.</a:t>
            </a:r>
          </a:p>
          <a:p/>
          <a:p>
            <a:r>
              <a:t>Xotira o'tkazuvchanligini e'tiborsiz qoldirish. Ko'p modellar, ayniqsa kichik paketda, hisoblash emas, xotira bilan cheklanadi. Tezlatkich tanlaganda GB/s ko'rsatkichini TFLOPS bilan birga ko'ring; Jetson Orin Nano (68 GB/s) va L4 (300 GB/s) o'rtasidagi farq ko'pincha hisoblash farqidan ko'ra muhimroq.</a:t>
            </a:r>
          </a:p>
          <a:p/>
          <a:p>
            <a:r>
              <a:t>GPU ni bir nechta jarayonga bo'lib berish. Har bir jarayon alohida CUDA konteksti yaratadi, xotira va vaqt isrof bo'ladi. Bitta jarayon, bir nechta oqim (stream) yoki Triton Inference Server kabi maxsus server ishlating.</a:t>
            </a:r>
          </a:p>
          <a:p/>
          <a:p>
            <a:r>
              <a:t>Kuzatuvchanlikni oxirgi bosqichga qoldirish. Metrikalar (so'rov/s, p95, GPU bandligi, GPU xotirasi, navbat uzunligi) birinchi kundan yig'ilishi kerak; ularsiz co-design iteratsiyasini bajarish mumkin emas va ishlab chiqarishdagi muammo sababini topib bo'lmaydi.</a:t>
            </a:r>
          </a:p>
          <a:p/>
          <a:p>
            <a:r>
              <a:t>Degradatsiya rejimini loyihalamaslik. Yuk oshganda yoki tezlatkich band bo'lganda tizim nima qiladi? Kadr tashlash, kichik modelga o'tish, navbat chegarasi — bular talablar bosqichida belgilanishi kerak, avariya paytida emas.</a:t>
            </a:r>
          </a:p>
          <a:p/>
          <a:p>
            <a:r>
              <a:t>Model formatini ramkaga bog'lab qo'yish. PyTorch modelini bevosita ishlab chiqarishga chiqarish versiyaga bog'liqlik va og'ir muhit demakdir. ONNX yoki TensorRT kabi standart oraliq formatdan foydalaning — bu modelni va ish vaqti muhitini mustaqil yangilash imkonini beradi.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Sun'iy intellekt injiniringi an'anaviy dasturiy injiniringdan qaysi uchta jihat bilan tubdan farq qiladi? Har bir farqning kompyuter tizimi arxitekturasiga ta'sirini misol bilan tushuntiring.</a:t>
            </a:r>
          </a:p>
          <a:p/>
          <a:p>
            <a:r>
              <a:t>Pasportda 275 TOPS ko'rsatilgan Jetson AGX Orin bilan 121 TFLOPS ko'rsatilgan NVIDIA L4 ni to'g'ridan-to'g'ri taqqoslash nega noto'g'ri? To'g'ri taqqoslash uchun qanday shartlar bajarilishi kerak?</a:t>
            </a:r>
          </a:p>
          <a:p/>
          <a:p>
            <a:r>
              <a:t>Video-analitika tizimida inferens kadr vaqtining 40 % ini egallasa, uni 10 baravar tezlashtirish umumiy tezlashuvni necha baravar oshiradi? Natija co-design strategiyasiga qanday ta'sir qiladi?</a:t>
            </a:r>
          </a:p>
          <a:p/>
          <a:p>
            <a:r>
              <a:t>Nega Sze va hammualliflar neyron tarmoq uchun «ma'lumotni qayta ishlatish» hisoblashni tezlashtirishdan muhimroq deb hisoblaydi? Bu xulosa tezlatkich arxitekturasida qanday aks etgan?</a:t>
            </a:r>
          </a:p>
          <a:p/>
          <a:p>
            <a:r>
              <a:t>AI-enabled kompyuter tizimining besh qatlamli arxitekturasida qaysi qatlamlar orasidagi chegara ko'pincha asosiy to'siq bo'ladi va nima uchun? Uni yumshatishning ikki usulini ayting.</a:t>
            </a:r>
          </a:p>
          <a:p/>
          <a:p>
            <a:r>
              <a:t>Onlayn, paketli va oqimli inferens rejimlari uchun maqbul paket hajmi va tezlatkich sinfi qanday farq qiladi? Har biriga real ilova misolini keltiring.</a:t>
            </a:r>
          </a:p>
          <a:p/>
          <a:p>
            <a:r>
              <a:t>Bulutli inferens 16 kamerali savdo markazi tizimi uchun nima sababdan mos kelmadi? Qanday sharoitda bulut yechimi afzal bo'lar edi?</a:t>
            </a:r>
          </a:p>
          <a:p/>
          <a:p>
            <a:r>
              <a:t>Amaliy misolda ONNX Runtime FP32 rejimida tezlatkichdan foydalanish koeffitsiyenti taxminan 0,03 chiqdi. Bu raqamni oshirishning kamida uchta usulini sanab, har birining narxini (murakkablik, aniqlik yo'qotish) baholang.</a:t>
            </a:r>
          </a:p>
          <a:p/>
          <a:p>
            <a:r>
              <a:t>Agar buyurtmachi aniqlikni mAP50 0,5 dan 0,7 ga oshirishni so'rasa, co-design ning qaysi o'lchovlari qayta ko'rib chiqilishi kerak va bu apparat tanloviga qanday ta'sir qiladi?</a:t>
            </a:r>
          </a:p>
          <a:p/>
          <a:p>
            <a:r>
              <a:t>«Raqamsiz talab — talab emas» tamoyilini tushuntiring. SI tizimi uchun kamida beshta raqamli talab turini sanang va ularning har biri qanday o'lchanishini ayting.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Sun'iy intellekt injiniringi an'anaviy dasturiy injiniringdan qaysi uchta jihat bilan tubdan farq qiladi? Har bir farqning kompyuter tizimi arxitekturasiga ta'sirini misol bilan tushuntiring.</a:t>
            </a:r>
          </a:p>
          <a:p/>
          <a:p>
            <a:r>
              <a:t>Pasportda 275 TOPS ko'rsatilgan Jetson AGX Orin bilan 121 TFLOPS ko'rsatilgan NVIDIA L4 ni to'g'ridan-to'g'ri taqqoslash nega noto'g'ri? To'g'ri taqqoslash uchun qanday shartlar bajarilishi kerak?</a:t>
            </a:r>
          </a:p>
          <a:p/>
          <a:p>
            <a:r>
              <a:t>Video-analitika tizimida inferens kadr vaqtining 40 % ini egallasa, uni 10 baravar tezlashtirish umumiy tezlashuvni necha baravar oshiradi? Natija co-design strategiyasiga qanday ta'sir qiladi?</a:t>
            </a:r>
          </a:p>
          <a:p/>
          <a:p>
            <a:r>
              <a:t>Nega Sze va hammualliflar neyron tarmoq uchun «ma'lumotni qayta ishlatish» hisoblashni tezlashtirishdan muhimroq deb hisoblaydi? Bu xulosa tezlatkich arxitekturasida qanday aks etgan?</a:t>
            </a:r>
          </a:p>
          <a:p/>
          <a:p>
            <a:r>
              <a:t>AI-enabled kompyuter tizimining besh qatlamli arxitekturasida qaysi qatlamlar orasidagi chegara ko'pincha asosiy to'siq bo'ladi va nima uchun? Uni yumshatishning ikki usulini ayting.</a:t>
            </a:r>
          </a:p>
          <a:p/>
          <a:p>
            <a:r>
              <a:t>Onlayn, paketli va oqimli inferens rejimlari uchun maqbul paket hajmi va tezlatkich sinfi qanday farq qiladi? Har biriga real ilova misolini keltiring.</a:t>
            </a:r>
          </a:p>
          <a:p/>
          <a:p>
            <a:r>
              <a:t>Bulutli inferens 16 kamerali savdo markazi tizimi uchun nima sababdan mos kelmadi? Qanday sharoitda bulut yechimi afzal bo'lar edi?</a:t>
            </a:r>
          </a:p>
          <a:p/>
          <a:p>
            <a:r>
              <a:t>Amaliy misolda ONNX Runtime FP32 rejimida tezlatkichdan foydalanish koeffitsiyenti taxminan 0,03 chiqdi. Bu raqamni oshirishning kamida uchta usulini sanab, har birining narxini (murakkablik, aniqlik yo'qotish) baholang.</a:t>
            </a:r>
          </a:p>
          <a:p/>
          <a:p>
            <a:r>
              <a:t>Agar buyurtmachi aniqlikni mAP50 0,5 dan 0,7 ga oshirishni so'rasa, co-design ning qaysi o'lchovlari qayta ko'rib chiqilishi kerak va bu apparat tanloviga qanday ta'sir qiladi?</a:t>
            </a:r>
          </a:p>
          <a:p/>
          <a:p>
            <a:r>
              <a:t>«Raqamsiz talab — talab emas» tamoyilini tushuntiring. SI tizimi uchun kamida beshta raqamli talab turini sanang va ularning har biri qanday o'lchanishini ayting.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1-topshiriq (sillabusdagi 1-mustaqil ta'lim topshirig'iga bog'langan). Netflix tavsiya tizimi, Uber haydovchi tahlili yoki Amazon omborxona robototexnikasidan birini tanlang. Ochiq manbalardagi (kompaniya muhandislik bloglari, konferensiya ma'ruzalari) ma'lumotlar asosida tizimning besh qatlamli arxitekturasini chizing, har qatlam uchun ishlatiladigan apparat sinfini (CPU/GPU/boshqa) va inferens rejimini (onlayn/paketli/oqimli) ko'rsating, hayot sikli bosqichlarini (ma'lumot → o'qitish → joylashtirish → monitoring → qayta o'qitish) tavsiflang. Hajm 4–6 bet.</a:t>
            </a:r>
          </a:p>
          <a:p/>
          <a:p>
            <a:r>
              <a:t>Baholash mezoni: arxitektura qatlamlari va interfeyslarining to'g'ri ajratilishi (30 %), apparat tanlovining raqamli asoslanishi (30 %), hayot sikli va qayta o'qitish mexanizmining tavsifi (20 %), manbalarning ishonchliligi va to'g'ri keltirilishi (20 %).</a:t>
            </a:r>
          </a:p>
          <a:p/>
          <a:p>
            <a:r>
              <a:t>2-topshiriq (amaliy). Ma'ruzadagi inferens xizmatini o'z kompyuteringizda (CPU yetarli) ishga tushiring, YOLOv8n va YOLOv8s modellari uchun pre/infer/post vaqtlarini va parallel o'tkazuvchanlikni o'lchang. So'ng quyidagi hisobni bajaring: 8 kamera, 10 kadr/s talab uchun qaysi model va qaysi platforma (jadvaldagi variantlardan) yetarli? Javobni Amdal qonuni va η koeffitsiyenti bilan asoslang. Hisobot 2–3 bet, o'lchov jadvali va hisob-kitob bilan.</a:t>
            </a:r>
          </a:p>
          <a:p/>
          <a:p>
            <a:r>
              <a:t>Baholash mezoni: o'lchovlarning to'g'ri va takrorlanuvchi bajarilishi (40 %), hisob-kitobning to'g'riligi (30 %), xulosaning asoslanganligi va cheklovlarni ko'rsatish (30 %).</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Hennessy, J. L., &amp; Patterson, D. A. Computer Architecture: A Quantitative Approach. 7th Edition. Morgan Kaufmann, 2024. — 1-bob (unumdorlik, Amdal qonuni, energiya) va 7-bob (sohaga xos arxitekturalar).</a:t>
            </a:r>
          </a:p>
          <a:p/>
          <a:p>
            <a:r>
              <a:t>[2] Kneusel, R. T. Artificial Intelligence Engineering: A Practical Guide for AI Applications. No Starch Press, 2023.</a:t>
            </a:r>
          </a:p>
          <a:p/>
          <a:p>
            <a:r>
              <a:t>[3] Amershi, S., Begel, A., Bird, C., et al. Machine Learning Engineering. MIT Press, 2025.</a:t>
            </a:r>
          </a:p>
          <a:p/>
          <a:p>
            <a:r>
              <a:t>[4] Sze, V., Chen, Y.-H., Yang, T.-J., &amp; Emer, J. S. Efficient Processing of Deep Neural Networks: A Tutorial and Survey. Morgan &amp; Claypool, 2020. — 1–3-boblar (energiya, ma'lumot harakati, algoritm–apparat birgalikdagi loyihalash).</a:t>
            </a:r>
          </a:p>
          <a:p/>
          <a:p>
            <a:r>
              <a:t>[6] NVIDIA Developer Portal — https://developer.nvidia.com (Jetson, L4, A100/H100 texnik hujjatlari, TensorRT, DeepStream).</a:t>
            </a:r>
          </a:p>
          <a:p/>
          <a:p>
            <a:r>
              <a:t>[7] PyTorch rasmiy hujjatlari — https://pytorch.org.</a:t>
            </a:r>
          </a:p>
          <a:p/>
          <a:p>
            <a:r>
              <a:t>[10] ONNX rasmiy sayti — https://onnx.ai; ONNX Runtime hujjatlari — https://onnxruntime.ai.</a:t>
            </a:r>
          </a:p>
          <a:p/>
          <a:p>
            <a:r>
              <a:t>Sculley, D., Holt, G., Golovin, D., et al. Hidden Technical Debt in Machine Learning Systems. Advances in Neural Information Processing Systems 28 (NeurIPS 2015).</a:t>
            </a:r>
          </a:p>
          <a:p/>
          <a:p>
            <a:r>
              <a:t>Amershi, S., Begel, A., Bird, C., et al. Software Engineering for Machine Learning: A Case Study. Proceedings of ICSE-SEIP 2019, IEEE.</a:t>
            </a:r>
          </a:p>
          <a:p/>
          <a:p>
            <a:r>
              <a:t>Hennessy, J. L., &amp; Patterson, D. A. A New Golden Age for Computer Architecture. Communications of the ACM, 62(2), 2019, pp. 48–60.</a:t>
            </a:r>
          </a:p>
          <a:p/>
          <a:p>
            <a:r>
              <a:t>MLCommons MLPerf Inference benchmark natijalari — https://mlcommons.org.</a:t>
            </a:r>
          </a:p>
          <a:p/>
          <a:p>
            <a:r>
              <a:t>Ultralytics YOLOv8 hujjatlari — https://docs.ultralytics.com.</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Hennessy, J. L., &amp; Patterson, D. A. Computer Architecture: A Quantitative Approach. 7th Edition. Morgan Kaufmann, 2024. — 1-bob (unumdorlik, Amdal qonuni, energiya) va 7-bob (sohaga xos arxitekturalar).</a:t>
            </a:r>
          </a:p>
          <a:p/>
          <a:p>
            <a:r>
              <a:t>[2] Kneusel, R. T. Artificial Intelligence Engineering: A Practical Guide for AI Applications. No Starch Press, 2023.</a:t>
            </a:r>
          </a:p>
          <a:p/>
          <a:p>
            <a:r>
              <a:t>[3] Amershi, S., Begel, A., Bird, C., et al. Machine Learning Engineering. MIT Press, 2025.</a:t>
            </a:r>
          </a:p>
          <a:p/>
          <a:p>
            <a:r>
              <a:t>[4] Sze, V., Chen, Y.-H., Yang, T.-J., &amp; Emer, J. S. Efficient Processing of Deep Neural Networks: A Tutorial and Survey. Morgan &amp; Claypool, 2020. — 1–3-boblar (energiya, ma'lumot harakati, algoritm–apparat birgalikdagi loyihalash).</a:t>
            </a:r>
          </a:p>
          <a:p/>
          <a:p>
            <a:r>
              <a:t>[6] NVIDIA Developer Portal — https://developer.nvidia.com (Jetson, L4, A100/H100 texnik hujjatlari, TensorRT, DeepStream).</a:t>
            </a:r>
          </a:p>
          <a:p/>
          <a:p>
            <a:r>
              <a:t>[7] PyTorch rasmiy hujjatlari — https://pytorch.org.</a:t>
            </a:r>
          </a:p>
          <a:p/>
          <a:p>
            <a:r>
              <a:t>[10] ONNX rasmiy sayti — https://onnx.ai; ONNX Runtime hujjatlari — https://onnxruntime.ai.</a:t>
            </a:r>
          </a:p>
          <a:p/>
          <a:p>
            <a:r>
              <a:t>Sculley, D., Holt, G., Golovin, D., et al. Hidden Technical Debt in Machine Learning Systems. Advances in Neural Information Processing Systems 28 (NeurIPS 2015).</a:t>
            </a:r>
          </a:p>
          <a:p/>
          <a:p>
            <a:r>
              <a:t>Amershi, S., Begel, A., Bird, C., et al. Software Engineering for Machine Learning: A Case Study. Proceedings of ICSE-SEIP 2019, IEEE.</a:t>
            </a:r>
          </a:p>
          <a:p/>
          <a:p>
            <a:r>
              <a:t>Hennessy, J. L., &amp; Patterson, D. A. A New Golden Age for Computer Architecture. Communications of the ACM, 62(2), 2019, pp. 48–60.</a:t>
            </a:r>
          </a:p>
          <a:p/>
          <a:p>
            <a:r>
              <a:t>MLCommons MLPerf Inference benchmark natijalari — https://mlcommons.org.</a:t>
            </a:r>
          </a:p>
          <a:p/>
          <a:p>
            <a:r>
              <a:t>Ultralytics YOLOv8 hujjatlari — https://docs.ultralytics.com.</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Hennessy, J. L., &amp; Patterson, D. A. Computer Architecture: A Quantitative Approach. 7th Edition. Morgan Kaufmann, 2024. — 1-bob (unumdorlik, Amdal qonuni, energiya) va 7-bob (sohaga xos arxitekturalar).</a:t>
            </a:r>
          </a:p>
          <a:p/>
          <a:p>
            <a:r>
              <a:t>[2] Kneusel, R. T. Artificial Intelligence Engineering: A Practical Guide for AI Applications. No Starch Press, 2023.</a:t>
            </a:r>
          </a:p>
          <a:p/>
          <a:p>
            <a:r>
              <a:t>[3] Amershi, S., Begel, A., Bird, C., et al. Machine Learning Engineering. MIT Press, 2025.</a:t>
            </a:r>
          </a:p>
          <a:p/>
          <a:p>
            <a:r>
              <a:t>[4] Sze, V., Chen, Y.-H., Yang, T.-J., &amp; Emer, J. S. Efficient Processing of Deep Neural Networks: A Tutorial and Survey. Morgan &amp; Claypool, 2020. — 1–3-boblar (energiya, ma'lumot harakati, algoritm–apparat birgalikdagi loyihalash).</a:t>
            </a:r>
          </a:p>
          <a:p/>
          <a:p>
            <a:r>
              <a:t>[6] NVIDIA Developer Portal — https://developer.nvidia.com (Jetson, L4, A100/H100 texnik hujjatlari, TensorRT, DeepStream).</a:t>
            </a:r>
          </a:p>
          <a:p/>
          <a:p>
            <a:r>
              <a:t>[7] PyTorch rasmiy hujjatlari — https://pytorch.org.</a:t>
            </a:r>
          </a:p>
          <a:p/>
          <a:p>
            <a:r>
              <a:t>[10] ONNX rasmiy sayti — https://onnx.ai; ONNX Runtime hujjatlari — https://onnxruntime.ai.</a:t>
            </a:r>
          </a:p>
          <a:p/>
          <a:p>
            <a:r>
              <a:t>Sculley, D., Holt, G., Golovin, D., et al. Hidden Technical Debt in Machine Learning Systems. Advances in Neural Information Processing Systems 28 (NeurIPS 2015).</a:t>
            </a:r>
          </a:p>
          <a:p/>
          <a:p>
            <a:r>
              <a:t>Amershi, S., Begel, A., Bird, C., et al. Software Engineering for Machine Learning: A Case Study. Proceedings of ICSE-SEIP 2019, IEEE.</a:t>
            </a:r>
          </a:p>
          <a:p/>
          <a:p>
            <a:r>
              <a:t>Hennessy, J. L., &amp; Patterson, D. A. A New Golden Age for Computer Architecture. Communications of the ACM, 62(2), 2019, pp. 48–60.</a:t>
            </a:r>
          </a:p>
          <a:p/>
          <a:p>
            <a:r>
              <a:t>MLCommons MLPerf Inference benchmark natijalari — https://mlcommons.org.</a:t>
            </a:r>
          </a:p>
          <a:p/>
          <a:p>
            <a:r>
              <a:t>Ultralytics YOLOv8 hujjatlari — https://docs.ultralytics.com.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42845"/>
              </a:gs>
              <a:gs pos="100000">
                <a:srgbClr val="0F6E80"/>
              </a:gs>
            </a:gsLst>
            <a:lin scaled="0" ang="27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600000" y="-1200000"/>
            <a:ext cx="4600000" cy="4600000"/>
          </a:xfrm>
          <a:prstGeom prst="ellipse">
            <a:avLst/>
          </a:prstGeom>
          <a:solidFill>
            <a:srgbClr val="244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200000" y="3900000"/>
            <a:ext cx="2600000" cy="2600000"/>
          </a:xfrm>
          <a:prstGeom prst="ellipse">
            <a:avLst/>
          </a:prstGeom>
          <a:solidFill>
            <a:srgbClr val="138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300000" y="3300000"/>
            <a:ext cx="700000" cy="700000"/>
          </a:xfrm>
          <a:prstGeom prst="ellipse">
            <a:avLst/>
          </a:prstGeom>
          <a:solidFill>
            <a:srgbClr val="7FD6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00000" y="4650000"/>
            <a:ext cx="2400000" cy="70000"/>
          </a:xfrm>
          <a:prstGeom prst="rect">
            <a:avLst/>
          </a:prstGeom>
          <a:solidFill>
            <a:srgbClr val="7FD6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0000" y="700000"/>
            <a:ext cx="8000000" cy="500000"/>
          </a:xfrm>
          <a:prstGeom prst="rect">
            <a:avLst/>
          </a:prstGeom>
          <a:noFill/>
        </p:spPr>
        <p:txBody>
          <a:bodyPr wrap="square" anchor="t" lIns="50800" rIns="50800">
            <a:spAutoFit/>
          </a:bodyPr>
          <a:lstStyle/>
          <a:p>
            <a:pPr algn="l"/>
            <a:r>
              <a:rPr sz="1600" b="0">
                <a:solidFill>
                  <a:srgbClr val="A9C4E6"/>
                </a:solidFill>
                <a:latin typeface="Calibri"/>
              </a:rPr>
              <a:t>Sun'iy intellektga asoslangan kompyuter tizimlari muhandisligi</a:t>
            </a:r>
          </a:p>
        </p:txBody>
      </p:sp>
      <p:sp>
        <p:nvSpPr>
          <p:cNvPr id="8" name="TextBox 7"/>
          <p:cNvSpPr txBox="1"/>
          <p:nvPr/>
        </p:nvSpPr>
        <p:spPr>
          <a:xfrm>
            <a:off x="700000" y="1300000"/>
            <a:ext cx="8000000" cy="500000"/>
          </a:xfrm>
          <a:prstGeom prst="rect">
            <a:avLst/>
          </a:prstGeom>
          <a:noFill/>
        </p:spPr>
        <p:txBody>
          <a:bodyPr wrap="square" anchor="t" lIns="50800" rIns="50800">
            <a:spAutoFit/>
          </a:bodyPr>
          <a:lstStyle/>
          <a:p>
            <a:pPr algn="l"/>
            <a:r>
              <a:rPr sz="1600" b="1">
                <a:solidFill>
                  <a:srgbClr val="7FD6D7"/>
                </a:solidFill>
                <a:latin typeface="Calibri"/>
              </a:rPr>
              <a:t>MA'RUZA · M1 · 2 soat</a:t>
            </a:r>
          </a:p>
        </p:txBody>
      </p:sp>
      <p:sp>
        <p:nvSpPr>
          <p:cNvPr id="9" name="TextBox 8"/>
          <p:cNvSpPr txBox="1"/>
          <p:nvPr/>
        </p:nvSpPr>
        <p:spPr>
          <a:xfrm>
            <a:off x="700000" y="1900000"/>
            <a:ext cx="8400000" cy="2600000"/>
          </a:xfrm>
          <a:prstGeom prst="rect">
            <a:avLst/>
          </a:prstGeom>
          <a:noFill/>
        </p:spPr>
        <p:txBody>
          <a:bodyPr wrap="square" anchor="t" lIns="50800" rIns="50800">
            <a:spAutoFit/>
          </a:bodyPr>
          <a:lstStyle/>
          <a:p>
            <a:pPr algn="l"/>
            <a:r>
              <a:rPr sz="3000" b="1">
                <a:solidFill>
                  <a:srgbClr val="FFFFFF"/>
                </a:solidFill>
                <a:latin typeface="Calibri"/>
              </a:rPr>
              <a:t>Sun'iy intellektga asoslangan kompyuter tizimlari injiniringi: arxitektura va loyihalash tamoyillari</a:t>
            </a:r>
          </a:p>
        </p:txBody>
      </p:sp>
      <p:sp>
        <p:nvSpPr>
          <p:cNvPr id="10" name="TextBox 9"/>
          <p:cNvSpPr txBox="1"/>
          <p:nvPr/>
        </p:nvSpPr>
        <p:spPr>
          <a:xfrm>
            <a:off x="700000" y="4900000"/>
            <a:ext cx="8000000" cy="1200000"/>
          </a:xfrm>
          <a:prstGeom prst="rect">
            <a:avLst/>
          </a:prstGeom>
          <a:noFill/>
        </p:spPr>
        <p:txBody>
          <a:bodyPr wrap="square" anchor="t" lIns="50800" rIns="50800">
            <a:spAutoFit/>
          </a:bodyPr>
          <a:lstStyle/>
          <a:p>
            <a:pPr algn="l"/>
            <a:r>
              <a:rPr sz="1500" b="0">
                <a:solidFill>
                  <a:srgbClr val="D7E3F4"/>
                </a:solidFill>
                <a:latin typeface="Calibri"/>
              </a:rPr>
              <a:t>O‘qituvchi: S.Iskandarova, t.f.f.d. (PhD), dotsent</a:t>
            </a:r>
          </a:p>
          <a:p>
            <a:pPr algn="l"/>
            <a:r>
              <a:rPr sz="1500" b="0">
                <a:solidFill>
                  <a:srgbClr val="D7E3F4"/>
                </a:solidFill>
                <a:latin typeface="Calibri"/>
              </a:rPr>
              <a:t>2026-2027 o‘quv yili</a:t>
            </a:r>
          </a:p>
          <a:p>
            <a:pPr algn="l"/>
            <a:r>
              <a:rPr sz="1500" b="0">
                <a:solidFill>
                  <a:srgbClr val="D7E3F4"/>
                </a:solidFill>
                <a:latin typeface="Calibri"/>
              </a:rPr>
              <a:t>https://aiscan.airi.uz/ktm/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5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300"/>
                            </p:stCondLst>
                            <p:childTnLst>
                              <p:par>
                                <p:cTn id="16" presetID="53" presetClass="entr" presetSubtype="16"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50"/>
                                        <p:tgtEl>
                                          <p:spTgt spid="5"/>
                                        </p:tgtEl>
                                      </p:cBhvr>
                                    </p:animEffect>
                                    <p:anim calcmode="lin" valueType="num">
                                      <p:cBhvr additive="base">
                                        <p:cTn id="19" dur="550" fill="hold"/>
                                        <p:tgtEl>
                                          <p:spTgt spid="5"/>
                                        </p:tgtEl>
                                        <p:attrNameLst>
                                          <p:attrName>ppt_w</p:attrName>
                                        </p:attrNameLst>
                                      </p:cBhvr>
                                      <p:tavLst>
                                        <p:tav tm="0">
                                          <p:val>
                                            <p:strVal val="0"/>
                                          </p:val>
                                        </p:tav>
                                        <p:tav tm="100000">
                                          <p:val>
                                            <p:strVal val="#ppt_w"/>
                                          </p:val>
                                        </p:tav>
                                      </p:tavLst>
                                    </p:anim>
                                    <p:anim calcmode="lin" valueType="num">
                                      <p:cBhvr additive="base">
                                        <p:cTn id="20" dur="550" fill="hold"/>
                                        <p:tgtEl>
                                          <p:spTgt spid="5"/>
                                        </p:tgtEl>
                                        <p:attrNameLst>
                                          <p:attrName>ppt_h</p:attrName>
                                        </p:attrNameLst>
                                      </p:cBhvr>
                                      <p:tavLst>
                                        <p:tav tm="0">
                                          <p:val>
                                            <p:strVal val="0"/>
                                          </p:val>
                                        </p:tav>
                                        <p:tav tm="100000">
                                          <p:val>
                                            <p:strVal val="#ppt_h"/>
                                          </p:val>
                                        </p:tav>
                                      </p:tavLst>
                                    </p:anim>
                                  </p:childTnLst>
                                </p:cTn>
                              </p:par>
                            </p:childTnLst>
                          </p:cTn>
                        </p:par>
                        <p:par>
                          <p:cTn id="21" fill="hold">
                            <p:stCondLst>
                              <p:cond delay="400"/>
                            </p:stCondLst>
                            <p:childTnLst>
                              <p:par>
                                <p:cTn id="22" presetID="10" presetClass="entr" presetSubtype="0"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50"/>
                                        <p:tgtEl>
                                          <p:spTgt spid="7"/>
                                        </p:tgtEl>
                                      </p:cBhvr>
                                    </p:animEffect>
                                  </p:childTnLst>
                                </p:cTn>
                              </p:par>
                            </p:childTnLst>
                          </p:cTn>
                        </p:par>
                        <p:par>
                          <p:cTn id="25" fill="hold">
                            <p:stCondLst>
                              <p:cond delay="550"/>
                            </p:stCondLst>
                            <p:childTnLst>
                              <p:par>
                                <p:cTn id="26" presetID="2" presetClass="entr" presetSubtype="8" fill="hold" grpId="0" nodeType="after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additive="base">
                                        <p:cTn id="29" dur="550" fill="hold"/>
                                        <p:tgtEl>
                                          <p:spTgt spid="8"/>
                                        </p:tgtEl>
                                        <p:attrNameLst>
                                          <p:attrName>ppt_x</p:attrName>
                                        </p:attrNameLst>
                                      </p:cBhvr>
                                      <p:tavLst>
                                        <p:tav tm="0">
                                          <p:val>
                                            <p:strVal val="0-#ppt_w/2"/>
                                          </p:val>
                                        </p:tav>
                                        <p:tav tm="100000">
                                          <p:val>
                                            <p:strVal val="#ppt_x"/>
                                          </p:val>
                                        </p:tav>
                                      </p:tavLst>
                                    </p:anim>
                                    <p:anim calcmode="lin" valueType="num">
                                      <p:cBhvr additive="base">
                                        <p:cTn id="30" dur="550" fill="hold"/>
                                        <p:tgtEl>
                                          <p:spTgt spid="8"/>
                                        </p:tgtEl>
                                        <p:attrNameLst>
                                          <p:attrName>ppt_y</p:attrName>
                                        </p:attrNameLst>
                                      </p:cBhvr>
                                      <p:tavLst>
                                        <p:tav tm="0">
                                          <p:val>
                                            <p:strVal val="#ppt_y"/>
                                          </p:val>
                                        </p:tav>
                                        <p:tav tm="100000">
                                          <p:val>
                                            <p:strVal val="#ppt_y"/>
                                          </p:val>
                                        </p:tav>
                                      </p:tavLst>
                                    </p:anim>
                                  </p:childTnLst>
                                </p:cTn>
                              </p:par>
                            </p:childTnLst>
                          </p:cTn>
                        </p:par>
                        <p:par>
                          <p:cTn id="31" fill="hold">
                            <p:stCondLst>
                              <p:cond delay="700"/>
                            </p:stCondLst>
                            <p:childTnLst>
                              <p:par>
                                <p:cTn id="32" presetID="42" presetClass="entr" presetSubtype="0" fill="hold" grpId="0"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50"/>
                                        <p:tgtEl>
                                          <p:spTgt spid="9"/>
                                        </p:tgtEl>
                                      </p:cBhvr>
                                    </p:animEffect>
                                    <p:anim calcmode="lin" valueType="num">
                                      <p:cBhvr additive="base">
                                        <p:cTn id="35" dur="550" fill="hold"/>
                                        <p:tgtEl>
                                          <p:spTgt spid="9"/>
                                        </p:tgtEl>
                                        <p:attrNameLst>
                                          <p:attrName>ppt_x</p:attrName>
                                        </p:attrNameLst>
                                      </p:cBhvr>
                                      <p:tavLst>
                                        <p:tav tm="0">
                                          <p:val>
                                            <p:strVal val="#ppt_x"/>
                                          </p:val>
                                        </p:tav>
                                        <p:tav tm="100000">
                                          <p:val>
                                            <p:strVal val="#ppt_x"/>
                                          </p:val>
                                        </p:tav>
                                      </p:tavLst>
                                    </p:anim>
                                    <p:anim calcmode="lin" valueType="num">
                                      <p:cBhvr additive="base">
                                        <p:cTn id="36" dur="550" fill="hold"/>
                                        <p:tgtEl>
                                          <p:spTgt spid="9"/>
                                        </p:tgtEl>
                                        <p:attrNameLst>
                                          <p:attrName>ppt_y</p:attrName>
                                        </p:attrNameLst>
                                      </p:cBhvr>
                                      <p:tavLst>
                                        <p:tav tm="0">
                                          <p:val>
                                            <p:strVal val="#ppt_y+.08"/>
                                          </p:val>
                                        </p:tav>
                                        <p:tav tm="100000">
                                          <p:val>
                                            <p:strVal val="#ppt_y"/>
                                          </p:val>
                                        </p:tav>
                                      </p:tavLst>
                                    </p:anim>
                                  </p:childTnLst>
                                </p:cTn>
                              </p:par>
                            </p:childTnLst>
                          </p:cTn>
                        </p:par>
                        <p:par>
                          <p:cTn id="37" fill="hold">
                            <p:stCondLst>
                              <p:cond delay="850"/>
                            </p:stCondLst>
                            <p:childTnLst>
                              <p:par>
                                <p:cTn id="38" presetID="22" presetClass="entr" presetSubtype="8" fill="hold" grpId="0" nodeType="after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wipe(left)">
                                      <p:cBhvr>
                                        <p:cTn id="41" dur="800"/>
                                        <p:tgtEl>
                                          <p:spTgt spid="6"/>
                                        </p:tgtEl>
                                      </p:cBhvr>
                                    </p:animEffect>
                                  </p:childTnLst>
                                </p:cTn>
                              </p:par>
                            </p:childTnLst>
                          </p:cTn>
                        </p:par>
                        <p:par>
                          <p:cTn id="42" fill="hold">
                            <p:stCondLst>
                              <p:cond delay="1000"/>
                            </p:stCondLst>
                            <p:childTnLst>
                              <p:par>
                                <p:cTn id="43" presetID="10" presetClass="entr" presetSubtype="0" fill="hold" grpId="0" nodeType="after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5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8" grpId="0" animBg="1"/>
      <p:bldP spid="9" grpId="0" animBg="1"/>
      <p:bldP spid="6" grpId="0" animBg="1"/>
      <p:bldP spid="10"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MAVZU</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Reja</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 · Sun'iy intellektga asoslangan kompyuter tizimlari injiniringi: arxitektura va loyihalash tamoyillari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a:t>
            </a:r>
          </a:p>
        </p:txBody>
      </p:sp>
      <p:sp>
        <p:nvSpPr>
          <p:cNvPr id="10" name="Rounded Rectangle 9"/>
          <p:cNvSpPr/>
          <p:nvPr/>
        </p:nvSpPr>
        <p:spPr>
          <a:xfrm>
            <a:off x="550000" y="1300001"/>
            <a:ext cx="11100000" cy="443333"/>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300001"/>
            <a:ext cx="70000" cy="443333"/>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1291667"/>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300001"/>
            <a:ext cx="10050000" cy="443333"/>
          </a:xfrm>
          <a:prstGeom prst="rect">
            <a:avLst/>
          </a:prstGeom>
          <a:noFill/>
        </p:spPr>
        <p:txBody>
          <a:bodyPr wrap="square" anchor="ctr" lIns="50800" rIns="50800">
            <a:spAutoFit/>
          </a:bodyPr>
          <a:lstStyle/>
          <a:p>
            <a:pPr algn="l"/>
            <a:r>
              <a:rPr sz="1900" b="0">
                <a:solidFill>
                  <a:srgbClr val="1B2430"/>
                </a:solidFill>
                <a:latin typeface="Calibri"/>
              </a:rPr>
              <a:t>Mavzuning maqsadi va o'rganish natijalari</a:t>
            </a:r>
          </a:p>
        </p:txBody>
      </p:sp>
      <p:sp>
        <p:nvSpPr>
          <p:cNvPr id="14" name="Rounded Rectangle 13"/>
          <p:cNvSpPr/>
          <p:nvPr/>
        </p:nvSpPr>
        <p:spPr>
          <a:xfrm>
            <a:off x="550000" y="1863334"/>
            <a:ext cx="11100000" cy="443333"/>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1863334"/>
            <a:ext cx="70000" cy="443333"/>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185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1863334"/>
            <a:ext cx="10050000" cy="443333"/>
          </a:xfrm>
          <a:prstGeom prst="rect">
            <a:avLst/>
          </a:prstGeom>
          <a:noFill/>
        </p:spPr>
        <p:txBody>
          <a:bodyPr wrap="square" anchor="ctr" lIns="50800" rIns="50800">
            <a:spAutoFit/>
          </a:bodyPr>
          <a:lstStyle/>
          <a:p>
            <a:pPr algn="l"/>
            <a:r>
              <a:rPr sz="1900" b="0">
                <a:solidFill>
                  <a:srgbClr val="1B2430"/>
                </a:solidFill>
                <a:latin typeface="Calibri"/>
              </a:rPr>
              <a:t>Kirish</a:t>
            </a:r>
          </a:p>
        </p:txBody>
      </p:sp>
      <p:sp>
        <p:nvSpPr>
          <p:cNvPr id="18" name="Rounded Rectangle 17"/>
          <p:cNvSpPr/>
          <p:nvPr/>
        </p:nvSpPr>
        <p:spPr>
          <a:xfrm>
            <a:off x="550000" y="2426667"/>
            <a:ext cx="11100000" cy="443333"/>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2426667"/>
            <a:ext cx="70000" cy="443333"/>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2418333"/>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2426667"/>
            <a:ext cx="10050000" cy="443333"/>
          </a:xfrm>
          <a:prstGeom prst="rect">
            <a:avLst/>
          </a:prstGeom>
          <a:noFill/>
        </p:spPr>
        <p:txBody>
          <a:bodyPr wrap="square" anchor="ctr" lIns="50800" rIns="50800">
            <a:spAutoFit/>
          </a:bodyPr>
          <a:lstStyle/>
          <a:p>
            <a:pPr algn="l"/>
            <a:r>
              <a:rPr sz="1900" b="0">
                <a:solidFill>
                  <a:srgbClr val="1B2430"/>
                </a:solidFill>
                <a:latin typeface="Calibri"/>
              </a:rPr>
              <a:t>Nazariy asoslar</a:t>
            </a:r>
          </a:p>
        </p:txBody>
      </p:sp>
      <p:sp>
        <p:nvSpPr>
          <p:cNvPr id="22" name="Rounded Rectangle 21"/>
          <p:cNvSpPr/>
          <p:nvPr/>
        </p:nvSpPr>
        <p:spPr>
          <a:xfrm>
            <a:off x="550000" y="2990000"/>
            <a:ext cx="11100000" cy="443333"/>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50000" y="2990000"/>
            <a:ext cx="70000" cy="443333"/>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0000" y="2981666"/>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5" name="TextBox 24"/>
          <p:cNvSpPr txBox="1"/>
          <p:nvPr/>
        </p:nvSpPr>
        <p:spPr>
          <a:xfrm>
            <a:off x="1450000" y="2990000"/>
            <a:ext cx="10050000" cy="443333"/>
          </a:xfrm>
          <a:prstGeom prst="rect">
            <a:avLst/>
          </a:prstGeom>
          <a:noFill/>
        </p:spPr>
        <p:txBody>
          <a:bodyPr wrap="square" anchor="ctr" lIns="50800" rIns="50800">
            <a:spAutoFit/>
          </a:bodyPr>
          <a:lstStyle/>
          <a:p>
            <a:pPr algn="l"/>
            <a:r>
              <a:rPr sz="1900" b="0">
                <a:solidFill>
                  <a:srgbClr val="1B2430"/>
                </a:solidFill>
                <a:latin typeface="Calibri"/>
              </a:rPr>
              <a:t>Amaliy misol</a:t>
            </a:r>
          </a:p>
        </p:txBody>
      </p:sp>
      <p:sp>
        <p:nvSpPr>
          <p:cNvPr id="26" name="Rounded Rectangle 25"/>
          <p:cNvSpPr/>
          <p:nvPr/>
        </p:nvSpPr>
        <p:spPr>
          <a:xfrm>
            <a:off x="550000" y="3553333"/>
            <a:ext cx="11100000" cy="443333"/>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0000" y="3553333"/>
            <a:ext cx="70000" cy="443333"/>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0000" y="3544999"/>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5</a:t>
            </a:r>
          </a:p>
        </p:txBody>
      </p:sp>
      <p:sp>
        <p:nvSpPr>
          <p:cNvPr id="29" name="TextBox 28"/>
          <p:cNvSpPr txBox="1"/>
          <p:nvPr/>
        </p:nvSpPr>
        <p:spPr>
          <a:xfrm>
            <a:off x="1450000" y="3553333"/>
            <a:ext cx="10050000" cy="443333"/>
          </a:xfrm>
          <a:prstGeom prst="rect">
            <a:avLst/>
          </a:prstGeom>
          <a:noFill/>
        </p:spPr>
        <p:txBody>
          <a:bodyPr wrap="square" anchor="ctr" lIns="50800" rIns="50800">
            <a:spAutoFit/>
          </a:bodyPr>
          <a:lstStyle/>
          <a:p>
            <a:pPr algn="l"/>
            <a:r>
              <a:rPr sz="1900" b="0">
                <a:solidFill>
                  <a:srgbClr val="1B2430"/>
                </a:solidFill>
                <a:latin typeface="Calibri"/>
              </a:rPr>
              <a:t>Natijalarni tahlil qilish</a:t>
            </a:r>
          </a:p>
        </p:txBody>
      </p:sp>
      <p:sp>
        <p:nvSpPr>
          <p:cNvPr id="30" name="Rounded Rectangle 29"/>
          <p:cNvSpPr/>
          <p:nvPr/>
        </p:nvSpPr>
        <p:spPr>
          <a:xfrm>
            <a:off x="550000" y="4116666"/>
            <a:ext cx="11100000" cy="443333"/>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0000" y="4116666"/>
            <a:ext cx="70000" cy="443333"/>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0000" y="4108332"/>
            <a:ext cx="460000" cy="460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6</a:t>
            </a:r>
          </a:p>
        </p:txBody>
      </p:sp>
      <p:sp>
        <p:nvSpPr>
          <p:cNvPr id="33" name="TextBox 32"/>
          <p:cNvSpPr txBox="1"/>
          <p:nvPr/>
        </p:nvSpPr>
        <p:spPr>
          <a:xfrm>
            <a:off x="1450000" y="4116666"/>
            <a:ext cx="10050000" cy="443333"/>
          </a:xfrm>
          <a:prstGeom prst="rect">
            <a:avLst/>
          </a:prstGeom>
          <a:noFill/>
        </p:spPr>
        <p:txBody>
          <a:bodyPr wrap="square" anchor="ctr" lIns="50800" rIns="50800">
            <a:spAutoFit/>
          </a:bodyPr>
          <a:lstStyle/>
          <a:p>
            <a:pPr algn="l"/>
            <a:r>
              <a:rPr sz="1900" b="0">
                <a:solidFill>
                  <a:srgbClr val="1B2430"/>
                </a:solidFill>
                <a:latin typeface="Calibri"/>
              </a:rPr>
              <a:t>Keng tarqalgan xatolar va amaliy tavsiyalar</a:t>
            </a:r>
          </a:p>
        </p:txBody>
      </p:sp>
      <p:sp>
        <p:nvSpPr>
          <p:cNvPr id="34" name="Rounded Rectangle 33"/>
          <p:cNvSpPr/>
          <p:nvPr/>
        </p:nvSpPr>
        <p:spPr>
          <a:xfrm>
            <a:off x="550000" y="4679999"/>
            <a:ext cx="11100000" cy="443333"/>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50000" y="4679999"/>
            <a:ext cx="70000" cy="443333"/>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00000" y="4671665"/>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7</a:t>
            </a:r>
          </a:p>
        </p:txBody>
      </p:sp>
      <p:sp>
        <p:nvSpPr>
          <p:cNvPr id="37" name="TextBox 36"/>
          <p:cNvSpPr txBox="1"/>
          <p:nvPr/>
        </p:nvSpPr>
        <p:spPr>
          <a:xfrm>
            <a:off x="1450000" y="4679999"/>
            <a:ext cx="10050000" cy="443333"/>
          </a:xfrm>
          <a:prstGeom prst="rect">
            <a:avLst/>
          </a:prstGeom>
          <a:noFill/>
        </p:spPr>
        <p:txBody>
          <a:bodyPr wrap="square" anchor="ctr" lIns="50800" rIns="50800">
            <a:spAutoFit/>
          </a:bodyPr>
          <a:lstStyle/>
          <a:p>
            <a:pPr algn="l"/>
            <a:r>
              <a:rPr sz="1900" b="0">
                <a:solidFill>
                  <a:srgbClr val="1B2430"/>
                </a:solidFill>
                <a:latin typeface="Calibri"/>
              </a:rPr>
              <a:t>Nazorat savollari</a:t>
            </a:r>
          </a:p>
        </p:txBody>
      </p:sp>
      <p:sp>
        <p:nvSpPr>
          <p:cNvPr id="38" name="Rounded Rectangle 37"/>
          <p:cNvSpPr/>
          <p:nvPr/>
        </p:nvSpPr>
        <p:spPr>
          <a:xfrm>
            <a:off x="550000" y="5243332"/>
            <a:ext cx="11100000" cy="443333"/>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50000" y="5243332"/>
            <a:ext cx="70000" cy="443333"/>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00000" y="5234998"/>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8</a:t>
            </a:r>
          </a:p>
        </p:txBody>
      </p:sp>
      <p:sp>
        <p:nvSpPr>
          <p:cNvPr id="41" name="TextBox 40"/>
          <p:cNvSpPr txBox="1"/>
          <p:nvPr/>
        </p:nvSpPr>
        <p:spPr>
          <a:xfrm>
            <a:off x="1450000" y="5243332"/>
            <a:ext cx="10050000" cy="443333"/>
          </a:xfrm>
          <a:prstGeom prst="rect">
            <a:avLst/>
          </a:prstGeom>
          <a:noFill/>
        </p:spPr>
        <p:txBody>
          <a:bodyPr wrap="square" anchor="ctr" lIns="50800" rIns="50800">
            <a:spAutoFit/>
          </a:bodyPr>
          <a:lstStyle/>
          <a:p>
            <a:pPr algn="l"/>
            <a:r>
              <a:rPr sz="1900" b="0">
                <a:solidFill>
                  <a:srgbClr val="1B2430"/>
                </a:solidFill>
                <a:latin typeface="Calibri"/>
              </a:rPr>
              <a:t>Mustaqil ish uchun topshiriq</a:t>
            </a:r>
          </a:p>
        </p:txBody>
      </p:sp>
      <p:sp>
        <p:nvSpPr>
          <p:cNvPr id="42" name="Rounded Rectangle 41"/>
          <p:cNvSpPr/>
          <p:nvPr/>
        </p:nvSpPr>
        <p:spPr>
          <a:xfrm>
            <a:off x="550000" y="5806665"/>
            <a:ext cx="11100000" cy="443333"/>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50000" y="5806665"/>
            <a:ext cx="70000" cy="443333"/>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0000" y="5798331"/>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9</a:t>
            </a:r>
          </a:p>
        </p:txBody>
      </p:sp>
      <p:sp>
        <p:nvSpPr>
          <p:cNvPr id="45" name="TextBox 44"/>
          <p:cNvSpPr txBox="1"/>
          <p:nvPr/>
        </p:nvSpPr>
        <p:spPr>
          <a:xfrm>
            <a:off x="1450000" y="5806665"/>
            <a:ext cx="10050000" cy="443333"/>
          </a:xfrm>
          <a:prstGeom prst="rect">
            <a:avLst/>
          </a:prstGeom>
          <a:noFill/>
        </p:spPr>
        <p:txBody>
          <a:bodyPr wrap="square" anchor="ctr" lIns="50800" rIns="50800">
            <a:spAutoFit/>
          </a:bodyPr>
          <a:lstStyle/>
          <a:p>
            <a:pPr algn="l"/>
            <a:r>
              <a:rPr sz="1900" b="0">
                <a:solidFill>
                  <a:srgbClr val="1B2430"/>
                </a:solidFill>
                <a:latin typeface="Calibri"/>
              </a:rPr>
              <a:t>Foydalanilgan manbalar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2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anim calcmode="lin" valueType="num">
                                      <p:cBhvr additive="base">
                                        <p:cTn id="83" dur="550" fill="hold"/>
                                        <p:tgtEl>
                                          <p:spTgt spid="22"/>
                                        </p:tgtEl>
                                        <p:attrNameLst>
                                          <p:attrName>ppt_x</p:attrName>
                                        </p:attrNameLst>
                                      </p:cBhvr>
                                      <p:tavLst>
                                        <p:tav tm="0">
                                          <p:val>
                                            <p:strVal val="#ppt_x"/>
                                          </p:val>
                                        </p:tav>
                                        <p:tav tm="100000">
                                          <p:val>
                                            <p:strVal val="#ppt_x"/>
                                          </p:val>
                                        </p:tav>
                                      </p:tavLst>
                                    </p:anim>
                                    <p:anim calcmode="lin" valueType="num">
                                      <p:cBhvr additive="base">
                                        <p:cTn id="84" dur="550" fill="hold"/>
                                        <p:tgtEl>
                                          <p:spTgt spid="22"/>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550"/>
                                        <p:tgtEl>
                                          <p:spTgt spid="23"/>
                                        </p:tgtEl>
                                      </p:cBhvr>
                                    </p:animEffect>
                                    <p:anim calcmode="lin" valueType="num">
                                      <p:cBhvr additive="base">
                                        <p:cTn id="89" dur="550" fill="hold"/>
                                        <p:tgtEl>
                                          <p:spTgt spid="23"/>
                                        </p:tgtEl>
                                        <p:attrNameLst>
                                          <p:attrName>ppt_x</p:attrName>
                                        </p:attrNameLst>
                                      </p:cBhvr>
                                      <p:tavLst>
                                        <p:tav tm="0">
                                          <p:val>
                                            <p:strVal val="#ppt_x"/>
                                          </p:val>
                                        </p:tav>
                                        <p:tav tm="100000">
                                          <p:val>
                                            <p:strVal val="#ppt_x"/>
                                          </p:val>
                                        </p:tav>
                                      </p:tavLst>
                                    </p:anim>
                                    <p:anim calcmode="lin" valueType="num">
                                      <p:cBhvr additive="base">
                                        <p:cTn id="90" dur="550" fill="hold"/>
                                        <p:tgtEl>
                                          <p:spTgt spid="23"/>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50"/>
                                        <p:tgtEl>
                                          <p:spTgt spid="24"/>
                                        </p:tgtEl>
                                      </p:cBhvr>
                                    </p:animEffect>
                                    <p:anim calcmode="lin" valueType="num">
                                      <p:cBhvr additive="base">
                                        <p:cTn id="95" dur="550" fill="hold"/>
                                        <p:tgtEl>
                                          <p:spTgt spid="24"/>
                                        </p:tgtEl>
                                        <p:attrNameLst>
                                          <p:attrName>ppt_w</p:attrName>
                                        </p:attrNameLst>
                                      </p:cBhvr>
                                      <p:tavLst>
                                        <p:tav tm="0">
                                          <p:val>
                                            <p:strVal val="0"/>
                                          </p:val>
                                        </p:tav>
                                        <p:tav tm="100000">
                                          <p:val>
                                            <p:strVal val="#ppt_w"/>
                                          </p:val>
                                        </p:tav>
                                      </p:tavLst>
                                    </p:anim>
                                    <p:anim calcmode="lin" valueType="num">
                                      <p:cBhvr additive="base">
                                        <p:cTn id="96" dur="550" fill="hold"/>
                                        <p:tgtEl>
                                          <p:spTgt spid="24"/>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550"/>
                                        <p:tgtEl>
                                          <p:spTgt spid="25"/>
                                        </p:tgtEl>
                                      </p:cBhvr>
                                    </p:animEffect>
                                    <p:anim calcmode="lin" valueType="num">
                                      <p:cBhvr additive="base">
                                        <p:cTn id="101" dur="550" fill="hold"/>
                                        <p:tgtEl>
                                          <p:spTgt spid="25"/>
                                        </p:tgtEl>
                                        <p:attrNameLst>
                                          <p:attrName>ppt_x</p:attrName>
                                        </p:attrNameLst>
                                      </p:cBhvr>
                                      <p:tavLst>
                                        <p:tav tm="0">
                                          <p:val>
                                            <p:strVal val="#ppt_x"/>
                                          </p:val>
                                        </p:tav>
                                        <p:tav tm="100000">
                                          <p:val>
                                            <p:strVal val="#ppt_x"/>
                                          </p:val>
                                        </p:tav>
                                      </p:tavLst>
                                    </p:anim>
                                    <p:anim calcmode="lin" valueType="num">
                                      <p:cBhvr additive="base">
                                        <p:cTn id="102" dur="550" fill="hold"/>
                                        <p:tgtEl>
                                          <p:spTgt spid="25"/>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6"/>
                                        </p:tgtEl>
                                        <p:attrNameLst>
                                          <p:attrName>style.visibility</p:attrName>
                                        </p:attrNameLst>
                                      </p:cBhvr>
                                      <p:to>
                                        <p:strVal val="visible"/>
                                      </p:to>
                                    </p:set>
                                    <p:animEffect transition="in" filter="fade">
                                      <p:cBhvr>
                                        <p:cTn id="106" dur="550"/>
                                        <p:tgtEl>
                                          <p:spTgt spid="26"/>
                                        </p:tgtEl>
                                      </p:cBhvr>
                                    </p:animEffect>
                                    <p:anim calcmode="lin" valueType="num">
                                      <p:cBhvr additive="base">
                                        <p:cTn id="107" dur="550" fill="hold"/>
                                        <p:tgtEl>
                                          <p:spTgt spid="26"/>
                                        </p:tgtEl>
                                        <p:attrNameLst>
                                          <p:attrName>ppt_x</p:attrName>
                                        </p:attrNameLst>
                                      </p:cBhvr>
                                      <p:tavLst>
                                        <p:tav tm="0">
                                          <p:val>
                                            <p:strVal val="#ppt_x"/>
                                          </p:val>
                                        </p:tav>
                                        <p:tav tm="100000">
                                          <p:val>
                                            <p:strVal val="#ppt_x"/>
                                          </p:val>
                                        </p:tav>
                                      </p:tavLst>
                                    </p:anim>
                                    <p:anim calcmode="lin" valueType="num">
                                      <p:cBhvr additive="base">
                                        <p:cTn id="108" dur="550" fill="hold"/>
                                        <p:tgtEl>
                                          <p:spTgt spid="26"/>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7"/>
                                        </p:tgtEl>
                                        <p:attrNameLst>
                                          <p:attrName>style.visibility</p:attrName>
                                        </p:attrNameLst>
                                      </p:cBhvr>
                                      <p:to>
                                        <p:strVal val="visible"/>
                                      </p:to>
                                    </p:set>
                                    <p:animEffect transition="in" filter="fade">
                                      <p:cBhvr>
                                        <p:cTn id="112" dur="550"/>
                                        <p:tgtEl>
                                          <p:spTgt spid="27"/>
                                        </p:tgtEl>
                                      </p:cBhvr>
                                    </p:animEffect>
                                    <p:anim calcmode="lin" valueType="num">
                                      <p:cBhvr additive="base">
                                        <p:cTn id="113" dur="550" fill="hold"/>
                                        <p:tgtEl>
                                          <p:spTgt spid="27"/>
                                        </p:tgtEl>
                                        <p:attrNameLst>
                                          <p:attrName>ppt_x</p:attrName>
                                        </p:attrNameLst>
                                      </p:cBhvr>
                                      <p:tavLst>
                                        <p:tav tm="0">
                                          <p:val>
                                            <p:strVal val="#ppt_x"/>
                                          </p:val>
                                        </p:tav>
                                        <p:tav tm="100000">
                                          <p:val>
                                            <p:strVal val="#ppt_x"/>
                                          </p:val>
                                        </p:tav>
                                      </p:tavLst>
                                    </p:anim>
                                    <p:anim calcmode="lin" valueType="num">
                                      <p:cBhvr additive="base">
                                        <p:cTn id="114" dur="550" fill="hold"/>
                                        <p:tgtEl>
                                          <p:spTgt spid="27"/>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8"/>
                                        </p:tgtEl>
                                        <p:attrNameLst>
                                          <p:attrName>style.visibility</p:attrName>
                                        </p:attrNameLst>
                                      </p:cBhvr>
                                      <p:to>
                                        <p:strVal val="visible"/>
                                      </p:to>
                                    </p:set>
                                    <p:animEffect transition="in" filter="fade">
                                      <p:cBhvr>
                                        <p:cTn id="118" dur="550"/>
                                        <p:tgtEl>
                                          <p:spTgt spid="28"/>
                                        </p:tgtEl>
                                      </p:cBhvr>
                                    </p:animEffect>
                                    <p:anim calcmode="lin" valueType="num">
                                      <p:cBhvr additive="base">
                                        <p:cTn id="119" dur="550" fill="hold"/>
                                        <p:tgtEl>
                                          <p:spTgt spid="28"/>
                                        </p:tgtEl>
                                        <p:attrNameLst>
                                          <p:attrName>ppt_w</p:attrName>
                                        </p:attrNameLst>
                                      </p:cBhvr>
                                      <p:tavLst>
                                        <p:tav tm="0">
                                          <p:val>
                                            <p:strVal val="0"/>
                                          </p:val>
                                        </p:tav>
                                        <p:tav tm="100000">
                                          <p:val>
                                            <p:strVal val="#ppt_w"/>
                                          </p:val>
                                        </p:tav>
                                      </p:tavLst>
                                    </p:anim>
                                    <p:anim calcmode="lin" valueType="num">
                                      <p:cBhvr additive="base">
                                        <p:cTn id="120" dur="550" fill="hold"/>
                                        <p:tgtEl>
                                          <p:spTgt spid="28"/>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9"/>
                                        </p:tgtEl>
                                        <p:attrNameLst>
                                          <p:attrName>style.visibility</p:attrName>
                                        </p:attrNameLst>
                                      </p:cBhvr>
                                      <p:to>
                                        <p:strVal val="visible"/>
                                      </p:to>
                                    </p:set>
                                    <p:animEffect transition="in" filter="fade">
                                      <p:cBhvr>
                                        <p:cTn id="124" dur="550"/>
                                        <p:tgtEl>
                                          <p:spTgt spid="29"/>
                                        </p:tgtEl>
                                      </p:cBhvr>
                                    </p:animEffect>
                                    <p:anim calcmode="lin" valueType="num">
                                      <p:cBhvr additive="base">
                                        <p:cTn id="125" dur="550" fill="hold"/>
                                        <p:tgtEl>
                                          <p:spTgt spid="29"/>
                                        </p:tgtEl>
                                        <p:attrNameLst>
                                          <p:attrName>ppt_x</p:attrName>
                                        </p:attrNameLst>
                                      </p:cBhvr>
                                      <p:tavLst>
                                        <p:tav tm="0">
                                          <p:val>
                                            <p:strVal val="#ppt_x"/>
                                          </p:val>
                                        </p:tav>
                                        <p:tav tm="100000">
                                          <p:val>
                                            <p:strVal val="#ppt_x"/>
                                          </p:val>
                                        </p:tav>
                                      </p:tavLst>
                                    </p:anim>
                                    <p:anim calcmode="lin" valueType="num">
                                      <p:cBhvr additive="base">
                                        <p:cTn id="126" dur="550" fill="hold"/>
                                        <p:tgtEl>
                                          <p:spTgt spid="29"/>
                                        </p:tgtEl>
                                        <p:attrNameLst>
                                          <p:attrName>ppt_y</p:attrName>
                                        </p:attrNameLst>
                                      </p:cBhvr>
                                      <p:tavLst>
                                        <p:tav tm="0">
                                          <p:val>
                                            <p:strVal val="#ppt_y+.08"/>
                                          </p:val>
                                        </p:tav>
                                        <p:tav tm="100000">
                                          <p:val>
                                            <p:strVal val="#ppt_y"/>
                                          </p:val>
                                        </p:tav>
                                      </p:tavLst>
                                    </p:anim>
                                  </p:childTnLst>
                                </p:cTn>
                              </p:par>
                            </p:childTnLst>
                          </p:cTn>
                        </p:par>
                        <p:par>
                          <p:cTn id="127" fill="hold">
                            <p:stCondLst>
                              <p:cond delay="1320"/>
                            </p:stCondLst>
                            <p:childTnLst>
                              <p:par>
                                <p:cTn id="128" presetID="42" presetClass="entr" presetSubtype="0" fill="hold" grpId="0" nodeType="afterEffect">
                                  <p:stCondLst>
                                    <p:cond delay="0"/>
                                  </p:stCondLst>
                                  <p:childTnLst>
                                    <p:set>
                                      <p:cBhvr>
                                        <p:cTn id="129" dur="1" fill="hold">
                                          <p:stCondLst>
                                            <p:cond delay="0"/>
                                          </p:stCondLst>
                                        </p:cTn>
                                        <p:tgtEl>
                                          <p:spTgt spid="30"/>
                                        </p:tgtEl>
                                        <p:attrNameLst>
                                          <p:attrName>style.visibility</p:attrName>
                                        </p:attrNameLst>
                                      </p:cBhvr>
                                      <p:to>
                                        <p:strVal val="visible"/>
                                      </p:to>
                                    </p:set>
                                    <p:animEffect transition="in" filter="fade">
                                      <p:cBhvr>
                                        <p:cTn id="130" dur="550"/>
                                        <p:tgtEl>
                                          <p:spTgt spid="30"/>
                                        </p:tgtEl>
                                      </p:cBhvr>
                                    </p:animEffect>
                                    <p:anim calcmode="lin" valueType="num">
                                      <p:cBhvr additive="base">
                                        <p:cTn id="131" dur="550" fill="hold"/>
                                        <p:tgtEl>
                                          <p:spTgt spid="30"/>
                                        </p:tgtEl>
                                        <p:attrNameLst>
                                          <p:attrName>ppt_x</p:attrName>
                                        </p:attrNameLst>
                                      </p:cBhvr>
                                      <p:tavLst>
                                        <p:tav tm="0">
                                          <p:val>
                                            <p:strVal val="#ppt_x"/>
                                          </p:val>
                                        </p:tav>
                                        <p:tav tm="100000">
                                          <p:val>
                                            <p:strVal val="#ppt_x"/>
                                          </p:val>
                                        </p:tav>
                                      </p:tavLst>
                                    </p:anim>
                                    <p:anim calcmode="lin" valueType="num">
                                      <p:cBhvr additive="base">
                                        <p:cTn id="132" dur="550" fill="hold"/>
                                        <p:tgtEl>
                                          <p:spTgt spid="30"/>
                                        </p:tgtEl>
                                        <p:attrNameLst>
                                          <p:attrName>ppt_y</p:attrName>
                                        </p:attrNameLst>
                                      </p:cBhvr>
                                      <p:tavLst>
                                        <p:tav tm="0">
                                          <p:val>
                                            <p:strVal val="#ppt_y+.08"/>
                                          </p:val>
                                        </p:tav>
                                        <p:tav tm="100000">
                                          <p:val>
                                            <p:strVal val="#ppt_y"/>
                                          </p:val>
                                        </p:tav>
                                      </p:tavLst>
                                    </p:anim>
                                  </p:childTnLst>
                                </p:cTn>
                              </p:par>
                            </p:childTnLst>
                          </p:cTn>
                        </p:par>
                        <p:par>
                          <p:cTn id="133" fill="hold">
                            <p:stCondLst>
                              <p:cond delay="1320"/>
                            </p:stCondLst>
                            <p:childTnLst>
                              <p:par>
                                <p:cTn id="134" presetID="42" presetClass="entr" presetSubtype="0" fill="hold" grpId="0" nodeType="afterEffect">
                                  <p:stCondLst>
                                    <p:cond delay="0"/>
                                  </p:stCondLst>
                                  <p:childTnLst>
                                    <p:set>
                                      <p:cBhvr>
                                        <p:cTn id="135" dur="1" fill="hold">
                                          <p:stCondLst>
                                            <p:cond delay="0"/>
                                          </p:stCondLst>
                                        </p:cTn>
                                        <p:tgtEl>
                                          <p:spTgt spid="31"/>
                                        </p:tgtEl>
                                        <p:attrNameLst>
                                          <p:attrName>style.visibility</p:attrName>
                                        </p:attrNameLst>
                                      </p:cBhvr>
                                      <p:to>
                                        <p:strVal val="visible"/>
                                      </p:to>
                                    </p:set>
                                    <p:animEffect transition="in" filter="fade">
                                      <p:cBhvr>
                                        <p:cTn id="136" dur="550"/>
                                        <p:tgtEl>
                                          <p:spTgt spid="31"/>
                                        </p:tgtEl>
                                      </p:cBhvr>
                                    </p:animEffect>
                                    <p:anim calcmode="lin" valueType="num">
                                      <p:cBhvr additive="base">
                                        <p:cTn id="137" dur="550" fill="hold"/>
                                        <p:tgtEl>
                                          <p:spTgt spid="31"/>
                                        </p:tgtEl>
                                        <p:attrNameLst>
                                          <p:attrName>ppt_x</p:attrName>
                                        </p:attrNameLst>
                                      </p:cBhvr>
                                      <p:tavLst>
                                        <p:tav tm="0">
                                          <p:val>
                                            <p:strVal val="#ppt_x"/>
                                          </p:val>
                                        </p:tav>
                                        <p:tav tm="100000">
                                          <p:val>
                                            <p:strVal val="#ppt_x"/>
                                          </p:val>
                                        </p:tav>
                                      </p:tavLst>
                                    </p:anim>
                                    <p:anim calcmode="lin" valueType="num">
                                      <p:cBhvr additive="base">
                                        <p:cTn id="138" dur="550" fill="hold"/>
                                        <p:tgtEl>
                                          <p:spTgt spid="31"/>
                                        </p:tgtEl>
                                        <p:attrNameLst>
                                          <p:attrName>ppt_y</p:attrName>
                                        </p:attrNameLst>
                                      </p:cBhvr>
                                      <p:tavLst>
                                        <p:tav tm="0">
                                          <p:val>
                                            <p:strVal val="#ppt_y+.08"/>
                                          </p:val>
                                        </p:tav>
                                        <p:tav tm="100000">
                                          <p:val>
                                            <p:strVal val="#ppt_y"/>
                                          </p:val>
                                        </p:tav>
                                      </p:tavLst>
                                    </p:anim>
                                  </p:childTnLst>
                                </p:cTn>
                              </p:par>
                            </p:childTnLst>
                          </p:cTn>
                        </p:par>
                        <p:par>
                          <p:cTn id="139" fill="hold">
                            <p:stCondLst>
                              <p:cond delay="1320"/>
                            </p:stCondLst>
                            <p:childTnLst>
                              <p:par>
                                <p:cTn id="140" presetID="53" presetClass="entr" presetSubtype="16" fill="hold" grpId="0" nodeType="afterEffect">
                                  <p:stCondLst>
                                    <p:cond delay="0"/>
                                  </p:stCondLst>
                                  <p:childTnLst>
                                    <p:set>
                                      <p:cBhvr>
                                        <p:cTn id="141" dur="1" fill="hold">
                                          <p:stCondLst>
                                            <p:cond delay="0"/>
                                          </p:stCondLst>
                                        </p:cTn>
                                        <p:tgtEl>
                                          <p:spTgt spid="32"/>
                                        </p:tgtEl>
                                        <p:attrNameLst>
                                          <p:attrName>style.visibility</p:attrName>
                                        </p:attrNameLst>
                                      </p:cBhvr>
                                      <p:to>
                                        <p:strVal val="visible"/>
                                      </p:to>
                                    </p:set>
                                    <p:animEffect transition="in" filter="fade">
                                      <p:cBhvr>
                                        <p:cTn id="142" dur="550"/>
                                        <p:tgtEl>
                                          <p:spTgt spid="32"/>
                                        </p:tgtEl>
                                      </p:cBhvr>
                                    </p:animEffect>
                                    <p:anim calcmode="lin" valueType="num">
                                      <p:cBhvr additive="base">
                                        <p:cTn id="143" dur="550" fill="hold"/>
                                        <p:tgtEl>
                                          <p:spTgt spid="32"/>
                                        </p:tgtEl>
                                        <p:attrNameLst>
                                          <p:attrName>ppt_w</p:attrName>
                                        </p:attrNameLst>
                                      </p:cBhvr>
                                      <p:tavLst>
                                        <p:tav tm="0">
                                          <p:val>
                                            <p:strVal val="0"/>
                                          </p:val>
                                        </p:tav>
                                        <p:tav tm="100000">
                                          <p:val>
                                            <p:strVal val="#ppt_w"/>
                                          </p:val>
                                        </p:tav>
                                      </p:tavLst>
                                    </p:anim>
                                    <p:anim calcmode="lin" valueType="num">
                                      <p:cBhvr additive="base">
                                        <p:cTn id="144" dur="550" fill="hold"/>
                                        <p:tgtEl>
                                          <p:spTgt spid="32"/>
                                        </p:tgtEl>
                                        <p:attrNameLst>
                                          <p:attrName>ppt_h</p:attrName>
                                        </p:attrNameLst>
                                      </p:cBhvr>
                                      <p:tavLst>
                                        <p:tav tm="0">
                                          <p:val>
                                            <p:strVal val="0"/>
                                          </p:val>
                                        </p:tav>
                                        <p:tav tm="100000">
                                          <p:val>
                                            <p:strVal val="#ppt_h"/>
                                          </p:val>
                                        </p:tav>
                                      </p:tavLst>
                                    </p:anim>
                                  </p:childTnLst>
                                </p:cTn>
                              </p:par>
                            </p:childTnLst>
                          </p:cTn>
                        </p:par>
                        <p:par>
                          <p:cTn id="145" fill="hold">
                            <p:stCondLst>
                              <p:cond delay="1320"/>
                            </p:stCondLst>
                            <p:childTnLst>
                              <p:par>
                                <p:cTn id="146" presetID="42" presetClass="entr" presetSubtype="0" fill="hold" grpId="0" nodeType="afterEffect">
                                  <p:stCondLst>
                                    <p:cond delay="0"/>
                                  </p:stCondLst>
                                  <p:childTnLst>
                                    <p:set>
                                      <p:cBhvr>
                                        <p:cTn id="147" dur="1" fill="hold">
                                          <p:stCondLst>
                                            <p:cond delay="0"/>
                                          </p:stCondLst>
                                        </p:cTn>
                                        <p:tgtEl>
                                          <p:spTgt spid="33"/>
                                        </p:tgtEl>
                                        <p:attrNameLst>
                                          <p:attrName>style.visibility</p:attrName>
                                        </p:attrNameLst>
                                      </p:cBhvr>
                                      <p:to>
                                        <p:strVal val="visible"/>
                                      </p:to>
                                    </p:set>
                                    <p:animEffect transition="in" filter="fade">
                                      <p:cBhvr>
                                        <p:cTn id="148" dur="550"/>
                                        <p:tgtEl>
                                          <p:spTgt spid="33"/>
                                        </p:tgtEl>
                                      </p:cBhvr>
                                    </p:animEffect>
                                    <p:anim calcmode="lin" valueType="num">
                                      <p:cBhvr additive="base">
                                        <p:cTn id="149" dur="550" fill="hold"/>
                                        <p:tgtEl>
                                          <p:spTgt spid="33"/>
                                        </p:tgtEl>
                                        <p:attrNameLst>
                                          <p:attrName>ppt_x</p:attrName>
                                        </p:attrNameLst>
                                      </p:cBhvr>
                                      <p:tavLst>
                                        <p:tav tm="0">
                                          <p:val>
                                            <p:strVal val="#ppt_x"/>
                                          </p:val>
                                        </p:tav>
                                        <p:tav tm="100000">
                                          <p:val>
                                            <p:strVal val="#ppt_x"/>
                                          </p:val>
                                        </p:tav>
                                      </p:tavLst>
                                    </p:anim>
                                    <p:anim calcmode="lin" valueType="num">
                                      <p:cBhvr additive="base">
                                        <p:cTn id="150" dur="550" fill="hold"/>
                                        <p:tgtEl>
                                          <p:spTgt spid="33"/>
                                        </p:tgtEl>
                                        <p:attrNameLst>
                                          <p:attrName>ppt_y</p:attrName>
                                        </p:attrNameLst>
                                      </p:cBhvr>
                                      <p:tavLst>
                                        <p:tav tm="0">
                                          <p:val>
                                            <p:strVal val="#ppt_y+.08"/>
                                          </p:val>
                                        </p:tav>
                                        <p:tav tm="100000">
                                          <p:val>
                                            <p:strVal val="#ppt_y"/>
                                          </p:val>
                                        </p:tav>
                                      </p:tavLst>
                                    </p:anim>
                                  </p:childTnLst>
                                </p:cTn>
                              </p:par>
                            </p:childTnLst>
                          </p:cTn>
                        </p:par>
                        <p:par>
                          <p:cTn id="151" fill="hold">
                            <p:stCondLst>
                              <p:cond delay="1540"/>
                            </p:stCondLst>
                            <p:childTnLst>
                              <p:par>
                                <p:cTn id="152" presetID="42" presetClass="entr" presetSubtype="0" fill="hold" grpId="0" nodeType="afterEffect">
                                  <p:stCondLst>
                                    <p:cond delay="0"/>
                                  </p:stCondLst>
                                  <p:childTnLst>
                                    <p:set>
                                      <p:cBhvr>
                                        <p:cTn id="153" dur="1" fill="hold">
                                          <p:stCondLst>
                                            <p:cond delay="0"/>
                                          </p:stCondLst>
                                        </p:cTn>
                                        <p:tgtEl>
                                          <p:spTgt spid="34"/>
                                        </p:tgtEl>
                                        <p:attrNameLst>
                                          <p:attrName>style.visibility</p:attrName>
                                        </p:attrNameLst>
                                      </p:cBhvr>
                                      <p:to>
                                        <p:strVal val="visible"/>
                                      </p:to>
                                    </p:set>
                                    <p:animEffect transition="in" filter="fade">
                                      <p:cBhvr>
                                        <p:cTn id="154" dur="550"/>
                                        <p:tgtEl>
                                          <p:spTgt spid="34"/>
                                        </p:tgtEl>
                                      </p:cBhvr>
                                    </p:animEffect>
                                    <p:anim calcmode="lin" valueType="num">
                                      <p:cBhvr additive="base">
                                        <p:cTn id="155" dur="550" fill="hold"/>
                                        <p:tgtEl>
                                          <p:spTgt spid="34"/>
                                        </p:tgtEl>
                                        <p:attrNameLst>
                                          <p:attrName>ppt_x</p:attrName>
                                        </p:attrNameLst>
                                      </p:cBhvr>
                                      <p:tavLst>
                                        <p:tav tm="0">
                                          <p:val>
                                            <p:strVal val="#ppt_x"/>
                                          </p:val>
                                        </p:tav>
                                        <p:tav tm="100000">
                                          <p:val>
                                            <p:strVal val="#ppt_x"/>
                                          </p:val>
                                        </p:tav>
                                      </p:tavLst>
                                    </p:anim>
                                    <p:anim calcmode="lin" valueType="num">
                                      <p:cBhvr additive="base">
                                        <p:cTn id="156" dur="550" fill="hold"/>
                                        <p:tgtEl>
                                          <p:spTgt spid="34"/>
                                        </p:tgtEl>
                                        <p:attrNameLst>
                                          <p:attrName>ppt_y</p:attrName>
                                        </p:attrNameLst>
                                      </p:cBhvr>
                                      <p:tavLst>
                                        <p:tav tm="0">
                                          <p:val>
                                            <p:strVal val="#ppt_y+.08"/>
                                          </p:val>
                                        </p:tav>
                                        <p:tav tm="100000">
                                          <p:val>
                                            <p:strVal val="#ppt_y"/>
                                          </p:val>
                                        </p:tav>
                                      </p:tavLst>
                                    </p:anim>
                                  </p:childTnLst>
                                </p:cTn>
                              </p:par>
                            </p:childTnLst>
                          </p:cTn>
                        </p:par>
                        <p:par>
                          <p:cTn id="157" fill="hold">
                            <p:stCondLst>
                              <p:cond delay="1540"/>
                            </p:stCondLst>
                            <p:childTnLst>
                              <p:par>
                                <p:cTn id="158" presetID="42" presetClass="entr" presetSubtype="0" fill="hold" grpId="0" nodeType="afterEffect">
                                  <p:stCondLst>
                                    <p:cond delay="0"/>
                                  </p:stCondLst>
                                  <p:childTnLst>
                                    <p:set>
                                      <p:cBhvr>
                                        <p:cTn id="159" dur="1" fill="hold">
                                          <p:stCondLst>
                                            <p:cond delay="0"/>
                                          </p:stCondLst>
                                        </p:cTn>
                                        <p:tgtEl>
                                          <p:spTgt spid="35"/>
                                        </p:tgtEl>
                                        <p:attrNameLst>
                                          <p:attrName>style.visibility</p:attrName>
                                        </p:attrNameLst>
                                      </p:cBhvr>
                                      <p:to>
                                        <p:strVal val="visible"/>
                                      </p:to>
                                    </p:set>
                                    <p:animEffect transition="in" filter="fade">
                                      <p:cBhvr>
                                        <p:cTn id="160" dur="550"/>
                                        <p:tgtEl>
                                          <p:spTgt spid="35"/>
                                        </p:tgtEl>
                                      </p:cBhvr>
                                    </p:animEffect>
                                    <p:anim calcmode="lin" valueType="num">
                                      <p:cBhvr additive="base">
                                        <p:cTn id="161" dur="550" fill="hold"/>
                                        <p:tgtEl>
                                          <p:spTgt spid="35"/>
                                        </p:tgtEl>
                                        <p:attrNameLst>
                                          <p:attrName>ppt_x</p:attrName>
                                        </p:attrNameLst>
                                      </p:cBhvr>
                                      <p:tavLst>
                                        <p:tav tm="0">
                                          <p:val>
                                            <p:strVal val="#ppt_x"/>
                                          </p:val>
                                        </p:tav>
                                        <p:tav tm="100000">
                                          <p:val>
                                            <p:strVal val="#ppt_x"/>
                                          </p:val>
                                        </p:tav>
                                      </p:tavLst>
                                    </p:anim>
                                    <p:anim calcmode="lin" valueType="num">
                                      <p:cBhvr additive="base">
                                        <p:cTn id="162" dur="550" fill="hold"/>
                                        <p:tgtEl>
                                          <p:spTgt spid="35"/>
                                        </p:tgtEl>
                                        <p:attrNameLst>
                                          <p:attrName>ppt_y</p:attrName>
                                        </p:attrNameLst>
                                      </p:cBhvr>
                                      <p:tavLst>
                                        <p:tav tm="0">
                                          <p:val>
                                            <p:strVal val="#ppt_y+.08"/>
                                          </p:val>
                                        </p:tav>
                                        <p:tav tm="100000">
                                          <p:val>
                                            <p:strVal val="#ppt_y"/>
                                          </p:val>
                                        </p:tav>
                                      </p:tavLst>
                                    </p:anim>
                                  </p:childTnLst>
                                </p:cTn>
                              </p:par>
                            </p:childTnLst>
                          </p:cTn>
                        </p:par>
                        <p:par>
                          <p:cTn id="163" fill="hold">
                            <p:stCondLst>
                              <p:cond delay="1540"/>
                            </p:stCondLst>
                            <p:childTnLst>
                              <p:par>
                                <p:cTn id="164" presetID="53" presetClass="entr" presetSubtype="16" fill="hold" grpId="0" nodeType="afterEffect">
                                  <p:stCondLst>
                                    <p:cond delay="0"/>
                                  </p:stCondLst>
                                  <p:childTnLst>
                                    <p:set>
                                      <p:cBhvr>
                                        <p:cTn id="165" dur="1" fill="hold">
                                          <p:stCondLst>
                                            <p:cond delay="0"/>
                                          </p:stCondLst>
                                        </p:cTn>
                                        <p:tgtEl>
                                          <p:spTgt spid="36"/>
                                        </p:tgtEl>
                                        <p:attrNameLst>
                                          <p:attrName>style.visibility</p:attrName>
                                        </p:attrNameLst>
                                      </p:cBhvr>
                                      <p:to>
                                        <p:strVal val="visible"/>
                                      </p:to>
                                    </p:set>
                                    <p:animEffect transition="in" filter="fade">
                                      <p:cBhvr>
                                        <p:cTn id="166" dur="550"/>
                                        <p:tgtEl>
                                          <p:spTgt spid="36"/>
                                        </p:tgtEl>
                                      </p:cBhvr>
                                    </p:animEffect>
                                    <p:anim calcmode="lin" valueType="num">
                                      <p:cBhvr additive="base">
                                        <p:cTn id="167" dur="550" fill="hold"/>
                                        <p:tgtEl>
                                          <p:spTgt spid="36"/>
                                        </p:tgtEl>
                                        <p:attrNameLst>
                                          <p:attrName>ppt_w</p:attrName>
                                        </p:attrNameLst>
                                      </p:cBhvr>
                                      <p:tavLst>
                                        <p:tav tm="0">
                                          <p:val>
                                            <p:strVal val="0"/>
                                          </p:val>
                                        </p:tav>
                                        <p:tav tm="100000">
                                          <p:val>
                                            <p:strVal val="#ppt_w"/>
                                          </p:val>
                                        </p:tav>
                                      </p:tavLst>
                                    </p:anim>
                                    <p:anim calcmode="lin" valueType="num">
                                      <p:cBhvr additive="base">
                                        <p:cTn id="168" dur="550" fill="hold"/>
                                        <p:tgtEl>
                                          <p:spTgt spid="36"/>
                                        </p:tgtEl>
                                        <p:attrNameLst>
                                          <p:attrName>ppt_h</p:attrName>
                                        </p:attrNameLst>
                                      </p:cBhvr>
                                      <p:tavLst>
                                        <p:tav tm="0">
                                          <p:val>
                                            <p:strVal val="0"/>
                                          </p:val>
                                        </p:tav>
                                        <p:tav tm="100000">
                                          <p:val>
                                            <p:strVal val="#ppt_h"/>
                                          </p:val>
                                        </p:tav>
                                      </p:tavLst>
                                    </p:anim>
                                  </p:childTnLst>
                                </p:cTn>
                              </p:par>
                            </p:childTnLst>
                          </p:cTn>
                        </p:par>
                        <p:par>
                          <p:cTn id="169" fill="hold">
                            <p:stCondLst>
                              <p:cond delay="1540"/>
                            </p:stCondLst>
                            <p:childTnLst>
                              <p:par>
                                <p:cTn id="170" presetID="42" presetClass="entr" presetSubtype="0" fill="hold" grpId="0" nodeType="afterEffect">
                                  <p:stCondLst>
                                    <p:cond delay="0"/>
                                  </p:stCondLst>
                                  <p:childTnLst>
                                    <p:set>
                                      <p:cBhvr>
                                        <p:cTn id="171" dur="1" fill="hold">
                                          <p:stCondLst>
                                            <p:cond delay="0"/>
                                          </p:stCondLst>
                                        </p:cTn>
                                        <p:tgtEl>
                                          <p:spTgt spid="37"/>
                                        </p:tgtEl>
                                        <p:attrNameLst>
                                          <p:attrName>style.visibility</p:attrName>
                                        </p:attrNameLst>
                                      </p:cBhvr>
                                      <p:to>
                                        <p:strVal val="visible"/>
                                      </p:to>
                                    </p:set>
                                    <p:animEffect transition="in" filter="fade">
                                      <p:cBhvr>
                                        <p:cTn id="172" dur="550"/>
                                        <p:tgtEl>
                                          <p:spTgt spid="37"/>
                                        </p:tgtEl>
                                      </p:cBhvr>
                                    </p:animEffect>
                                    <p:anim calcmode="lin" valueType="num">
                                      <p:cBhvr additive="base">
                                        <p:cTn id="173" dur="550" fill="hold"/>
                                        <p:tgtEl>
                                          <p:spTgt spid="37"/>
                                        </p:tgtEl>
                                        <p:attrNameLst>
                                          <p:attrName>ppt_x</p:attrName>
                                        </p:attrNameLst>
                                      </p:cBhvr>
                                      <p:tavLst>
                                        <p:tav tm="0">
                                          <p:val>
                                            <p:strVal val="#ppt_x"/>
                                          </p:val>
                                        </p:tav>
                                        <p:tav tm="100000">
                                          <p:val>
                                            <p:strVal val="#ppt_x"/>
                                          </p:val>
                                        </p:tav>
                                      </p:tavLst>
                                    </p:anim>
                                    <p:anim calcmode="lin" valueType="num">
                                      <p:cBhvr additive="base">
                                        <p:cTn id="174" dur="550" fill="hold"/>
                                        <p:tgtEl>
                                          <p:spTgt spid="37"/>
                                        </p:tgtEl>
                                        <p:attrNameLst>
                                          <p:attrName>ppt_y</p:attrName>
                                        </p:attrNameLst>
                                      </p:cBhvr>
                                      <p:tavLst>
                                        <p:tav tm="0">
                                          <p:val>
                                            <p:strVal val="#ppt_y+.08"/>
                                          </p:val>
                                        </p:tav>
                                        <p:tav tm="100000">
                                          <p:val>
                                            <p:strVal val="#ppt_y"/>
                                          </p:val>
                                        </p:tav>
                                      </p:tavLst>
                                    </p:anim>
                                  </p:childTnLst>
                                </p:cTn>
                              </p:par>
                            </p:childTnLst>
                          </p:cTn>
                        </p:par>
                        <p:par>
                          <p:cTn id="175" fill="hold">
                            <p:stCondLst>
                              <p:cond delay="1760"/>
                            </p:stCondLst>
                            <p:childTnLst>
                              <p:par>
                                <p:cTn id="176" presetID="42" presetClass="entr" presetSubtype="0" fill="hold" grpId="0" nodeType="afterEffect">
                                  <p:stCondLst>
                                    <p:cond delay="0"/>
                                  </p:stCondLst>
                                  <p:childTnLst>
                                    <p:set>
                                      <p:cBhvr>
                                        <p:cTn id="177" dur="1" fill="hold">
                                          <p:stCondLst>
                                            <p:cond delay="0"/>
                                          </p:stCondLst>
                                        </p:cTn>
                                        <p:tgtEl>
                                          <p:spTgt spid="38"/>
                                        </p:tgtEl>
                                        <p:attrNameLst>
                                          <p:attrName>style.visibility</p:attrName>
                                        </p:attrNameLst>
                                      </p:cBhvr>
                                      <p:to>
                                        <p:strVal val="visible"/>
                                      </p:to>
                                    </p:set>
                                    <p:animEffect transition="in" filter="fade">
                                      <p:cBhvr>
                                        <p:cTn id="178" dur="550"/>
                                        <p:tgtEl>
                                          <p:spTgt spid="38"/>
                                        </p:tgtEl>
                                      </p:cBhvr>
                                    </p:animEffect>
                                    <p:anim calcmode="lin" valueType="num">
                                      <p:cBhvr additive="base">
                                        <p:cTn id="179" dur="550" fill="hold"/>
                                        <p:tgtEl>
                                          <p:spTgt spid="38"/>
                                        </p:tgtEl>
                                        <p:attrNameLst>
                                          <p:attrName>ppt_x</p:attrName>
                                        </p:attrNameLst>
                                      </p:cBhvr>
                                      <p:tavLst>
                                        <p:tav tm="0">
                                          <p:val>
                                            <p:strVal val="#ppt_x"/>
                                          </p:val>
                                        </p:tav>
                                        <p:tav tm="100000">
                                          <p:val>
                                            <p:strVal val="#ppt_x"/>
                                          </p:val>
                                        </p:tav>
                                      </p:tavLst>
                                    </p:anim>
                                    <p:anim calcmode="lin" valueType="num">
                                      <p:cBhvr additive="base">
                                        <p:cTn id="180" dur="550" fill="hold"/>
                                        <p:tgtEl>
                                          <p:spTgt spid="38"/>
                                        </p:tgtEl>
                                        <p:attrNameLst>
                                          <p:attrName>ppt_y</p:attrName>
                                        </p:attrNameLst>
                                      </p:cBhvr>
                                      <p:tavLst>
                                        <p:tav tm="0">
                                          <p:val>
                                            <p:strVal val="#ppt_y+.08"/>
                                          </p:val>
                                        </p:tav>
                                        <p:tav tm="100000">
                                          <p:val>
                                            <p:strVal val="#ppt_y"/>
                                          </p:val>
                                        </p:tav>
                                      </p:tavLst>
                                    </p:anim>
                                  </p:childTnLst>
                                </p:cTn>
                              </p:par>
                            </p:childTnLst>
                          </p:cTn>
                        </p:par>
                        <p:par>
                          <p:cTn id="181" fill="hold">
                            <p:stCondLst>
                              <p:cond delay="1760"/>
                            </p:stCondLst>
                            <p:childTnLst>
                              <p:par>
                                <p:cTn id="182" presetID="42" presetClass="entr" presetSubtype="0" fill="hold" grpId="0" nodeType="afterEffect">
                                  <p:stCondLst>
                                    <p:cond delay="0"/>
                                  </p:stCondLst>
                                  <p:childTnLst>
                                    <p:set>
                                      <p:cBhvr>
                                        <p:cTn id="183" dur="1" fill="hold">
                                          <p:stCondLst>
                                            <p:cond delay="0"/>
                                          </p:stCondLst>
                                        </p:cTn>
                                        <p:tgtEl>
                                          <p:spTgt spid="39"/>
                                        </p:tgtEl>
                                        <p:attrNameLst>
                                          <p:attrName>style.visibility</p:attrName>
                                        </p:attrNameLst>
                                      </p:cBhvr>
                                      <p:to>
                                        <p:strVal val="visible"/>
                                      </p:to>
                                    </p:set>
                                    <p:animEffect transition="in" filter="fade">
                                      <p:cBhvr>
                                        <p:cTn id="184" dur="550"/>
                                        <p:tgtEl>
                                          <p:spTgt spid="39"/>
                                        </p:tgtEl>
                                      </p:cBhvr>
                                    </p:animEffect>
                                    <p:anim calcmode="lin" valueType="num">
                                      <p:cBhvr additive="base">
                                        <p:cTn id="185" dur="550" fill="hold"/>
                                        <p:tgtEl>
                                          <p:spTgt spid="39"/>
                                        </p:tgtEl>
                                        <p:attrNameLst>
                                          <p:attrName>ppt_x</p:attrName>
                                        </p:attrNameLst>
                                      </p:cBhvr>
                                      <p:tavLst>
                                        <p:tav tm="0">
                                          <p:val>
                                            <p:strVal val="#ppt_x"/>
                                          </p:val>
                                        </p:tav>
                                        <p:tav tm="100000">
                                          <p:val>
                                            <p:strVal val="#ppt_x"/>
                                          </p:val>
                                        </p:tav>
                                      </p:tavLst>
                                    </p:anim>
                                    <p:anim calcmode="lin" valueType="num">
                                      <p:cBhvr additive="base">
                                        <p:cTn id="186" dur="550" fill="hold"/>
                                        <p:tgtEl>
                                          <p:spTgt spid="39"/>
                                        </p:tgtEl>
                                        <p:attrNameLst>
                                          <p:attrName>ppt_y</p:attrName>
                                        </p:attrNameLst>
                                      </p:cBhvr>
                                      <p:tavLst>
                                        <p:tav tm="0">
                                          <p:val>
                                            <p:strVal val="#ppt_y+.08"/>
                                          </p:val>
                                        </p:tav>
                                        <p:tav tm="100000">
                                          <p:val>
                                            <p:strVal val="#ppt_y"/>
                                          </p:val>
                                        </p:tav>
                                      </p:tavLst>
                                    </p:anim>
                                  </p:childTnLst>
                                </p:cTn>
                              </p:par>
                            </p:childTnLst>
                          </p:cTn>
                        </p:par>
                        <p:par>
                          <p:cTn id="187" fill="hold">
                            <p:stCondLst>
                              <p:cond delay="1760"/>
                            </p:stCondLst>
                            <p:childTnLst>
                              <p:par>
                                <p:cTn id="188" presetID="53" presetClass="entr" presetSubtype="16" fill="hold" grpId="0" nodeType="afterEffect">
                                  <p:stCondLst>
                                    <p:cond delay="0"/>
                                  </p:stCondLst>
                                  <p:childTnLst>
                                    <p:set>
                                      <p:cBhvr>
                                        <p:cTn id="189" dur="1" fill="hold">
                                          <p:stCondLst>
                                            <p:cond delay="0"/>
                                          </p:stCondLst>
                                        </p:cTn>
                                        <p:tgtEl>
                                          <p:spTgt spid="40"/>
                                        </p:tgtEl>
                                        <p:attrNameLst>
                                          <p:attrName>style.visibility</p:attrName>
                                        </p:attrNameLst>
                                      </p:cBhvr>
                                      <p:to>
                                        <p:strVal val="visible"/>
                                      </p:to>
                                    </p:set>
                                    <p:animEffect transition="in" filter="fade">
                                      <p:cBhvr>
                                        <p:cTn id="190" dur="550"/>
                                        <p:tgtEl>
                                          <p:spTgt spid="40"/>
                                        </p:tgtEl>
                                      </p:cBhvr>
                                    </p:animEffect>
                                    <p:anim calcmode="lin" valueType="num">
                                      <p:cBhvr additive="base">
                                        <p:cTn id="191" dur="550" fill="hold"/>
                                        <p:tgtEl>
                                          <p:spTgt spid="40"/>
                                        </p:tgtEl>
                                        <p:attrNameLst>
                                          <p:attrName>ppt_w</p:attrName>
                                        </p:attrNameLst>
                                      </p:cBhvr>
                                      <p:tavLst>
                                        <p:tav tm="0">
                                          <p:val>
                                            <p:strVal val="0"/>
                                          </p:val>
                                        </p:tav>
                                        <p:tav tm="100000">
                                          <p:val>
                                            <p:strVal val="#ppt_w"/>
                                          </p:val>
                                        </p:tav>
                                      </p:tavLst>
                                    </p:anim>
                                    <p:anim calcmode="lin" valueType="num">
                                      <p:cBhvr additive="base">
                                        <p:cTn id="192" dur="550" fill="hold"/>
                                        <p:tgtEl>
                                          <p:spTgt spid="40"/>
                                        </p:tgtEl>
                                        <p:attrNameLst>
                                          <p:attrName>ppt_h</p:attrName>
                                        </p:attrNameLst>
                                      </p:cBhvr>
                                      <p:tavLst>
                                        <p:tav tm="0">
                                          <p:val>
                                            <p:strVal val="0"/>
                                          </p:val>
                                        </p:tav>
                                        <p:tav tm="100000">
                                          <p:val>
                                            <p:strVal val="#ppt_h"/>
                                          </p:val>
                                        </p:tav>
                                      </p:tavLst>
                                    </p:anim>
                                  </p:childTnLst>
                                </p:cTn>
                              </p:par>
                            </p:childTnLst>
                          </p:cTn>
                        </p:par>
                        <p:par>
                          <p:cTn id="193" fill="hold">
                            <p:stCondLst>
                              <p:cond delay="1760"/>
                            </p:stCondLst>
                            <p:childTnLst>
                              <p:par>
                                <p:cTn id="194" presetID="42" presetClass="entr" presetSubtype="0" fill="hold" grpId="0" nodeType="afterEffect">
                                  <p:stCondLst>
                                    <p:cond delay="0"/>
                                  </p:stCondLst>
                                  <p:childTnLst>
                                    <p:set>
                                      <p:cBhvr>
                                        <p:cTn id="195" dur="1" fill="hold">
                                          <p:stCondLst>
                                            <p:cond delay="0"/>
                                          </p:stCondLst>
                                        </p:cTn>
                                        <p:tgtEl>
                                          <p:spTgt spid="41"/>
                                        </p:tgtEl>
                                        <p:attrNameLst>
                                          <p:attrName>style.visibility</p:attrName>
                                        </p:attrNameLst>
                                      </p:cBhvr>
                                      <p:to>
                                        <p:strVal val="visible"/>
                                      </p:to>
                                    </p:set>
                                    <p:animEffect transition="in" filter="fade">
                                      <p:cBhvr>
                                        <p:cTn id="196" dur="550"/>
                                        <p:tgtEl>
                                          <p:spTgt spid="41"/>
                                        </p:tgtEl>
                                      </p:cBhvr>
                                    </p:animEffect>
                                    <p:anim calcmode="lin" valueType="num">
                                      <p:cBhvr additive="base">
                                        <p:cTn id="197" dur="550" fill="hold"/>
                                        <p:tgtEl>
                                          <p:spTgt spid="41"/>
                                        </p:tgtEl>
                                        <p:attrNameLst>
                                          <p:attrName>ppt_x</p:attrName>
                                        </p:attrNameLst>
                                      </p:cBhvr>
                                      <p:tavLst>
                                        <p:tav tm="0">
                                          <p:val>
                                            <p:strVal val="#ppt_x"/>
                                          </p:val>
                                        </p:tav>
                                        <p:tav tm="100000">
                                          <p:val>
                                            <p:strVal val="#ppt_x"/>
                                          </p:val>
                                        </p:tav>
                                      </p:tavLst>
                                    </p:anim>
                                    <p:anim calcmode="lin" valueType="num">
                                      <p:cBhvr additive="base">
                                        <p:cTn id="198" dur="550" fill="hold"/>
                                        <p:tgtEl>
                                          <p:spTgt spid="41"/>
                                        </p:tgtEl>
                                        <p:attrNameLst>
                                          <p:attrName>ppt_y</p:attrName>
                                        </p:attrNameLst>
                                      </p:cBhvr>
                                      <p:tavLst>
                                        <p:tav tm="0">
                                          <p:val>
                                            <p:strVal val="#ppt_y+.08"/>
                                          </p:val>
                                        </p:tav>
                                        <p:tav tm="100000">
                                          <p:val>
                                            <p:strVal val="#ppt_y"/>
                                          </p:val>
                                        </p:tav>
                                      </p:tavLst>
                                    </p:anim>
                                  </p:childTnLst>
                                </p:cTn>
                              </p:par>
                            </p:childTnLst>
                          </p:cTn>
                        </p:par>
                        <p:par>
                          <p:cTn id="199" fill="hold">
                            <p:stCondLst>
                              <p:cond delay="1980"/>
                            </p:stCondLst>
                            <p:childTnLst>
                              <p:par>
                                <p:cTn id="200" presetID="42" presetClass="entr" presetSubtype="0" fill="hold" grpId="0" nodeType="afterEffect">
                                  <p:stCondLst>
                                    <p:cond delay="0"/>
                                  </p:stCondLst>
                                  <p:childTnLst>
                                    <p:set>
                                      <p:cBhvr>
                                        <p:cTn id="201" dur="1" fill="hold">
                                          <p:stCondLst>
                                            <p:cond delay="0"/>
                                          </p:stCondLst>
                                        </p:cTn>
                                        <p:tgtEl>
                                          <p:spTgt spid="42"/>
                                        </p:tgtEl>
                                        <p:attrNameLst>
                                          <p:attrName>style.visibility</p:attrName>
                                        </p:attrNameLst>
                                      </p:cBhvr>
                                      <p:to>
                                        <p:strVal val="visible"/>
                                      </p:to>
                                    </p:set>
                                    <p:animEffect transition="in" filter="fade">
                                      <p:cBhvr>
                                        <p:cTn id="202" dur="550"/>
                                        <p:tgtEl>
                                          <p:spTgt spid="42"/>
                                        </p:tgtEl>
                                      </p:cBhvr>
                                    </p:animEffect>
                                    <p:anim calcmode="lin" valueType="num">
                                      <p:cBhvr additive="base">
                                        <p:cTn id="203" dur="550" fill="hold"/>
                                        <p:tgtEl>
                                          <p:spTgt spid="42"/>
                                        </p:tgtEl>
                                        <p:attrNameLst>
                                          <p:attrName>ppt_x</p:attrName>
                                        </p:attrNameLst>
                                      </p:cBhvr>
                                      <p:tavLst>
                                        <p:tav tm="0">
                                          <p:val>
                                            <p:strVal val="#ppt_x"/>
                                          </p:val>
                                        </p:tav>
                                        <p:tav tm="100000">
                                          <p:val>
                                            <p:strVal val="#ppt_x"/>
                                          </p:val>
                                        </p:tav>
                                      </p:tavLst>
                                    </p:anim>
                                    <p:anim calcmode="lin" valueType="num">
                                      <p:cBhvr additive="base">
                                        <p:cTn id="204" dur="550" fill="hold"/>
                                        <p:tgtEl>
                                          <p:spTgt spid="42"/>
                                        </p:tgtEl>
                                        <p:attrNameLst>
                                          <p:attrName>ppt_y</p:attrName>
                                        </p:attrNameLst>
                                      </p:cBhvr>
                                      <p:tavLst>
                                        <p:tav tm="0">
                                          <p:val>
                                            <p:strVal val="#ppt_y+.08"/>
                                          </p:val>
                                        </p:tav>
                                        <p:tav tm="100000">
                                          <p:val>
                                            <p:strVal val="#ppt_y"/>
                                          </p:val>
                                        </p:tav>
                                      </p:tavLst>
                                    </p:anim>
                                  </p:childTnLst>
                                </p:cTn>
                              </p:par>
                            </p:childTnLst>
                          </p:cTn>
                        </p:par>
                        <p:par>
                          <p:cTn id="205" fill="hold">
                            <p:stCondLst>
                              <p:cond delay="1980"/>
                            </p:stCondLst>
                            <p:childTnLst>
                              <p:par>
                                <p:cTn id="206" presetID="42" presetClass="entr" presetSubtype="0" fill="hold" grpId="0" nodeType="afterEffect">
                                  <p:stCondLst>
                                    <p:cond delay="0"/>
                                  </p:stCondLst>
                                  <p:childTnLst>
                                    <p:set>
                                      <p:cBhvr>
                                        <p:cTn id="207" dur="1" fill="hold">
                                          <p:stCondLst>
                                            <p:cond delay="0"/>
                                          </p:stCondLst>
                                        </p:cTn>
                                        <p:tgtEl>
                                          <p:spTgt spid="43"/>
                                        </p:tgtEl>
                                        <p:attrNameLst>
                                          <p:attrName>style.visibility</p:attrName>
                                        </p:attrNameLst>
                                      </p:cBhvr>
                                      <p:to>
                                        <p:strVal val="visible"/>
                                      </p:to>
                                    </p:set>
                                    <p:animEffect transition="in" filter="fade">
                                      <p:cBhvr>
                                        <p:cTn id="208" dur="550"/>
                                        <p:tgtEl>
                                          <p:spTgt spid="43"/>
                                        </p:tgtEl>
                                      </p:cBhvr>
                                    </p:animEffect>
                                    <p:anim calcmode="lin" valueType="num">
                                      <p:cBhvr additive="base">
                                        <p:cTn id="209" dur="550" fill="hold"/>
                                        <p:tgtEl>
                                          <p:spTgt spid="43"/>
                                        </p:tgtEl>
                                        <p:attrNameLst>
                                          <p:attrName>ppt_x</p:attrName>
                                        </p:attrNameLst>
                                      </p:cBhvr>
                                      <p:tavLst>
                                        <p:tav tm="0">
                                          <p:val>
                                            <p:strVal val="#ppt_x"/>
                                          </p:val>
                                        </p:tav>
                                        <p:tav tm="100000">
                                          <p:val>
                                            <p:strVal val="#ppt_x"/>
                                          </p:val>
                                        </p:tav>
                                      </p:tavLst>
                                    </p:anim>
                                    <p:anim calcmode="lin" valueType="num">
                                      <p:cBhvr additive="base">
                                        <p:cTn id="210" dur="550" fill="hold"/>
                                        <p:tgtEl>
                                          <p:spTgt spid="43"/>
                                        </p:tgtEl>
                                        <p:attrNameLst>
                                          <p:attrName>ppt_y</p:attrName>
                                        </p:attrNameLst>
                                      </p:cBhvr>
                                      <p:tavLst>
                                        <p:tav tm="0">
                                          <p:val>
                                            <p:strVal val="#ppt_y+.08"/>
                                          </p:val>
                                        </p:tav>
                                        <p:tav tm="100000">
                                          <p:val>
                                            <p:strVal val="#ppt_y"/>
                                          </p:val>
                                        </p:tav>
                                      </p:tavLst>
                                    </p:anim>
                                  </p:childTnLst>
                                </p:cTn>
                              </p:par>
                            </p:childTnLst>
                          </p:cTn>
                        </p:par>
                        <p:par>
                          <p:cTn id="211" fill="hold">
                            <p:stCondLst>
                              <p:cond delay="1980"/>
                            </p:stCondLst>
                            <p:childTnLst>
                              <p:par>
                                <p:cTn id="212" presetID="53" presetClass="entr" presetSubtype="16" fill="hold" grpId="0" nodeType="afterEffect">
                                  <p:stCondLst>
                                    <p:cond delay="0"/>
                                  </p:stCondLst>
                                  <p:childTnLst>
                                    <p:set>
                                      <p:cBhvr>
                                        <p:cTn id="213" dur="1" fill="hold">
                                          <p:stCondLst>
                                            <p:cond delay="0"/>
                                          </p:stCondLst>
                                        </p:cTn>
                                        <p:tgtEl>
                                          <p:spTgt spid="44"/>
                                        </p:tgtEl>
                                        <p:attrNameLst>
                                          <p:attrName>style.visibility</p:attrName>
                                        </p:attrNameLst>
                                      </p:cBhvr>
                                      <p:to>
                                        <p:strVal val="visible"/>
                                      </p:to>
                                    </p:set>
                                    <p:animEffect transition="in" filter="fade">
                                      <p:cBhvr>
                                        <p:cTn id="214" dur="550"/>
                                        <p:tgtEl>
                                          <p:spTgt spid="44"/>
                                        </p:tgtEl>
                                      </p:cBhvr>
                                    </p:animEffect>
                                    <p:anim calcmode="lin" valueType="num">
                                      <p:cBhvr additive="base">
                                        <p:cTn id="215" dur="550" fill="hold"/>
                                        <p:tgtEl>
                                          <p:spTgt spid="44"/>
                                        </p:tgtEl>
                                        <p:attrNameLst>
                                          <p:attrName>ppt_w</p:attrName>
                                        </p:attrNameLst>
                                      </p:cBhvr>
                                      <p:tavLst>
                                        <p:tav tm="0">
                                          <p:val>
                                            <p:strVal val="0"/>
                                          </p:val>
                                        </p:tav>
                                        <p:tav tm="100000">
                                          <p:val>
                                            <p:strVal val="#ppt_w"/>
                                          </p:val>
                                        </p:tav>
                                      </p:tavLst>
                                    </p:anim>
                                    <p:anim calcmode="lin" valueType="num">
                                      <p:cBhvr additive="base">
                                        <p:cTn id="216" dur="550" fill="hold"/>
                                        <p:tgtEl>
                                          <p:spTgt spid="44"/>
                                        </p:tgtEl>
                                        <p:attrNameLst>
                                          <p:attrName>ppt_h</p:attrName>
                                        </p:attrNameLst>
                                      </p:cBhvr>
                                      <p:tavLst>
                                        <p:tav tm="0">
                                          <p:val>
                                            <p:strVal val="0"/>
                                          </p:val>
                                        </p:tav>
                                        <p:tav tm="100000">
                                          <p:val>
                                            <p:strVal val="#ppt_h"/>
                                          </p:val>
                                        </p:tav>
                                      </p:tavLst>
                                    </p:anim>
                                  </p:childTnLst>
                                </p:cTn>
                              </p:par>
                            </p:childTnLst>
                          </p:cTn>
                        </p:par>
                        <p:par>
                          <p:cTn id="217" fill="hold">
                            <p:stCondLst>
                              <p:cond delay="1980"/>
                            </p:stCondLst>
                            <p:childTnLst>
                              <p:par>
                                <p:cTn id="218" presetID="42" presetClass="entr" presetSubtype="0" fill="hold" grpId="0" nodeType="afterEffect">
                                  <p:stCondLst>
                                    <p:cond delay="0"/>
                                  </p:stCondLst>
                                  <p:childTnLst>
                                    <p:set>
                                      <p:cBhvr>
                                        <p:cTn id="219" dur="1" fill="hold">
                                          <p:stCondLst>
                                            <p:cond delay="0"/>
                                          </p:stCondLst>
                                        </p:cTn>
                                        <p:tgtEl>
                                          <p:spTgt spid="45"/>
                                        </p:tgtEl>
                                        <p:attrNameLst>
                                          <p:attrName>style.visibility</p:attrName>
                                        </p:attrNameLst>
                                      </p:cBhvr>
                                      <p:to>
                                        <p:strVal val="visible"/>
                                      </p:to>
                                    </p:set>
                                    <p:animEffect transition="in" filter="fade">
                                      <p:cBhvr>
                                        <p:cTn id="220" dur="550"/>
                                        <p:tgtEl>
                                          <p:spTgt spid="45"/>
                                        </p:tgtEl>
                                      </p:cBhvr>
                                    </p:animEffect>
                                    <p:anim calcmode="lin" valueType="num">
                                      <p:cBhvr additive="base">
                                        <p:cTn id="221" dur="550" fill="hold"/>
                                        <p:tgtEl>
                                          <p:spTgt spid="45"/>
                                        </p:tgtEl>
                                        <p:attrNameLst>
                                          <p:attrName>ppt_x</p:attrName>
                                        </p:attrNameLst>
                                      </p:cBhvr>
                                      <p:tavLst>
                                        <p:tav tm="0">
                                          <p:val>
                                            <p:strVal val="#ppt_x"/>
                                          </p:val>
                                        </p:tav>
                                        <p:tav tm="100000">
                                          <p:val>
                                            <p:strVal val="#ppt_x"/>
                                          </p:val>
                                        </p:tav>
                                      </p:tavLst>
                                    </p:anim>
                                    <p:anim calcmode="lin" valueType="num">
                                      <p:cBhvr additive="base">
                                        <p:cTn id="222" dur="550" fill="hold"/>
                                        <p:tgtEl>
                                          <p:spTgt spid="45"/>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1700000"/>
            <a:ext cx="3000000" cy="30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0000" y="2350000"/>
            <a:ext cx="3000000" cy="1700000"/>
          </a:xfrm>
          <a:prstGeom prst="rect">
            <a:avLst/>
          </a:prstGeom>
          <a:noFill/>
        </p:spPr>
        <p:txBody>
          <a:bodyPr wrap="square" anchor="ctr" lIns="50800" rIns="50800">
            <a:spAutoFit/>
          </a:bodyPr>
          <a:lstStyle/>
          <a:p>
            <a:pPr algn="ctr"/>
            <a:r>
              <a:rPr sz="7200" b="1">
                <a:solidFill>
                  <a:srgbClr val="FFFFFF"/>
                </a:solidFill>
                <a:latin typeface="Calibri"/>
              </a:rPr>
              <a:t>01</a:t>
            </a:r>
          </a:p>
        </p:txBody>
      </p:sp>
      <p:sp>
        <p:nvSpPr>
          <p:cNvPr id="5" name="TextBox 4"/>
          <p:cNvSpPr txBox="1"/>
          <p:nvPr/>
        </p:nvSpPr>
        <p:spPr>
          <a:xfrm>
            <a:off x="4500000" y="2400000"/>
            <a:ext cx="7000000" cy="1600000"/>
          </a:xfrm>
          <a:prstGeom prst="rect">
            <a:avLst/>
          </a:prstGeom>
          <a:noFill/>
        </p:spPr>
        <p:txBody>
          <a:bodyPr wrap="square" anchor="ctr" lIns="50800" rIns="50800">
            <a:spAutoFit/>
          </a:bodyPr>
          <a:lstStyle/>
          <a:p>
            <a:pPr algn="l"/>
            <a:r>
              <a:rPr sz="3600" b="1">
                <a:solidFill>
                  <a:srgbClr val="FFFFFF"/>
                </a:solidFill>
                <a:latin typeface="Calibri"/>
              </a:rPr>
              <a:t>Mavzuning maqsadi va o'rganish natijalari</a:t>
            </a:r>
          </a:p>
        </p:txBody>
      </p:sp>
      <p:sp>
        <p:nvSpPr>
          <p:cNvPr id="6" name="Rectangle 5"/>
          <p:cNvSpPr/>
          <p:nvPr/>
        </p:nvSpPr>
        <p:spPr>
          <a:xfrm>
            <a:off x="4550000" y="41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2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0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250"/>
                            </p:stCondLst>
                            <p:childTnLst>
                              <p:par>
                                <p:cTn id="16" presetID="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9" dur="550" fill="hold"/>
                                        <p:tgtEl>
                                          <p:spTgt spid="5"/>
                                        </p:tgtEl>
                                        <p:attrNameLst>
                                          <p:attrName>ppt_x</p:attrName>
                                        </p:attrNameLst>
                                      </p:cBhvr>
                                      <p:tavLst>
                                        <p:tav tm="0">
                                          <p:val>
                                            <p:strVal val="0-#ppt_w/2"/>
                                          </p:val>
                                        </p:tav>
                                        <p:tav tm="100000">
                                          <p:val>
                                            <p:strVal val="#ppt_x"/>
                                          </p:val>
                                        </p:tav>
                                      </p:tavLst>
                                    </p:anim>
                                    <p:anim calcmode="lin" valueType="num">
                                      <p:cBhvr additive="base">
                                        <p:cTn id="20" dur="550" fill="hold"/>
                                        <p:tgtEl>
                                          <p:spTgt spid="5"/>
                                        </p:tgtEl>
                                        <p:attrNameLst>
                                          <p:attrName>ppt_y</p:attrName>
                                        </p:attrNameLst>
                                      </p:cBhvr>
                                      <p:tavLst>
                                        <p:tav tm="0">
                                          <p:val>
                                            <p:strVal val="#ppt_y"/>
                                          </p:val>
                                        </p:tav>
                                        <p:tav tm="100000">
                                          <p:val>
                                            <p:strVal val="#ppt_y"/>
                                          </p:val>
                                        </p:tav>
                                      </p:tavLst>
                                    </p:anim>
                                  </p:childTnLst>
                                </p:cTn>
                              </p:par>
                            </p:childTnLst>
                          </p:cTn>
                        </p:par>
                        <p:par>
                          <p:cTn id="21" fill="hold">
                            <p:stCondLst>
                              <p:cond delay="350"/>
                            </p:stCondLst>
                            <p:childTnLst>
                              <p:par>
                                <p:cTn id="22" presetID="22" presetClass="entr" presetSubtype="8"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5" dur="8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Mavzuning maqsadi va o'rganish natijalari (1)</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 · Sun'iy intellektga asoslangan kompyuter tizimlari injiniringi: arxitektura va loyihalash tamoyillari</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4</a:t>
            </a:r>
          </a:p>
        </p:txBody>
      </p:sp>
      <p:sp>
        <p:nvSpPr>
          <p:cNvPr id="9" name="Rounded Rectangle 8"/>
          <p:cNvSpPr/>
          <p:nvPr/>
        </p:nvSpPr>
        <p:spPr>
          <a:xfrm>
            <a:off x="550000" y="1300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300000"/>
            <a:ext cx="70000" cy="894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1517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1300000"/>
            <a:ext cx="10050000" cy="894000"/>
          </a:xfrm>
          <a:prstGeom prst="rect">
            <a:avLst/>
          </a:prstGeom>
          <a:noFill/>
        </p:spPr>
        <p:txBody>
          <a:bodyPr wrap="square" anchor="ctr" lIns="50800" rIns="50800">
            <a:spAutoFit/>
          </a:bodyPr>
          <a:lstStyle/>
          <a:p>
            <a:pPr algn="l"/>
            <a:r>
              <a:rPr sz="1400" b="0">
                <a:solidFill>
                  <a:srgbClr val="1B2430"/>
                </a:solidFill>
                <a:latin typeface="Calibri"/>
              </a:rPr>
              <a:t>Mavzuning maqsadi — magistrantlarda sun'iy intellekt (SI) asosidagi kompyuter tizimini alohida «model» sifatida emas, balki apparat, dasturiy ta'minot, ma'lumotlar oqimi va ekspluatatsiya…</a:t>
            </a:r>
          </a:p>
        </p:txBody>
      </p:sp>
      <p:sp>
        <p:nvSpPr>
          <p:cNvPr id="13" name="Rounded Rectangle 12"/>
          <p:cNvSpPr/>
          <p:nvPr/>
        </p:nvSpPr>
        <p:spPr>
          <a:xfrm>
            <a:off x="550000" y="2314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314000"/>
            <a:ext cx="70000" cy="894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2531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6" name="TextBox 15"/>
          <p:cNvSpPr txBox="1"/>
          <p:nvPr/>
        </p:nvSpPr>
        <p:spPr>
          <a:xfrm>
            <a:off x="1450000" y="2314000"/>
            <a:ext cx="10050000" cy="894000"/>
          </a:xfrm>
          <a:prstGeom prst="rect">
            <a:avLst/>
          </a:prstGeom>
          <a:noFill/>
        </p:spPr>
        <p:txBody>
          <a:bodyPr wrap="square" anchor="ctr" lIns="50800" rIns="50800">
            <a:spAutoFit/>
          </a:bodyPr>
          <a:lstStyle/>
          <a:p>
            <a:pPr algn="l"/>
            <a:r>
              <a:rPr sz="1400" b="0">
                <a:solidFill>
                  <a:srgbClr val="1B2430"/>
                </a:solidFill>
                <a:latin typeface="Calibri"/>
              </a:rPr>
              <a:t>Sun'iy intellekt injiniringi (AI engineering) konsepsiyasini an'anaviy dasturiy injiniring va ma'lumotlar fanidan farqlab, SI mahsulotining hayot siklidagi bosqichlarni (ma'lumot, model,…</a:t>
            </a:r>
          </a:p>
        </p:txBody>
      </p:sp>
      <p:sp>
        <p:nvSpPr>
          <p:cNvPr id="17" name="Rounded Rectangle 16"/>
          <p:cNvSpPr/>
          <p:nvPr/>
        </p:nvSpPr>
        <p:spPr>
          <a:xfrm>
            <a:off x="550000" y="3328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3328000"/>
            <a:ext cx="70000" cy="894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354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0" name="TextBox 19"/>
          <p:cNvSpPr txBox="1"/>
          <p:nvPr/>
        </p:nvSpPr>
        <p:spPr>
          <a:xfrm>
            <a:off x="1450000" y="3328000"/>
            <a:ext cx="10050000" cy="894000"/>
          </a:xfrm>
          <a:prstGeom prst="rect">
            <a:avLst/>
          </a:prstGeom>
          <a:noFill/>
        </p:spPr>
        <p:txBody>
          <a:bodyPr wrap="square" anchor="ctr" lIns="50800" rIns="50800">
            <a:spAutoFit/>
          </a:bodyPr>
          <a:lstStyle/>
          <a:p>
            <a:pPr algn="l"/>
            <a:r>
              <a:rPr sz="1400" b="0">
                <a:solidFill>
                  <a:srgbClr val="1B2430"/>
                </a:solidFill>
                <a:latin typeface="Calibri"/>
              </a:rPr>
              <a:t>SI asosidagi hisoblash platformalarining (bulut, server, chekka qurilma) texnik ko'rsatkichlarini — hisoblash quvvati, xotira o'tkazuvchanligi, energiya sarfi, kechikish — o'qib, muayyan…</a:t>
            </a:r>
          </a:p>
        </p:txBody>
      </p:sp>
      <p:sp>
        <p:nvSpPr>
          <p:cNvPr id="21" name="Rounded Rectangle 20"/>
          <p:cNvSpPr/>
          <p:nvPr/>
        </p:nvSpPr>
        <p:spPr>
          <a:xfrm>
            <a:off x="550000" y="4342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00" y="4342000"/>
            <a:ext cx="70000" cy="894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0000" y="45590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4" name="TextBox 23"/>
          <p:cNvSpPr txBox="1"/>
          <p:nvPr/>
        </p:nvSpPr>
        <p:spPr>
          <a:xfrm>
            <a:off x="1450000" y="4342000"/>
            <a:ext cx="10050000" cy="894000"/>
          </a:xfrm>
          <a:prstGeom prst="rect">
            <a:avLst/>
          </a:prstGeom>
          <a:noFill/>
        </p:spPr>
        <p:txBody>
          <a:bodyPr wrap="square" anchor="ctr" lIns="50800" rIns="50800">
            <a:spAutoFit/>
          </a:bodyPr>
          <a:lstStyle/>
          <a:p>
            <a:pPr algn="l"/>
            <a:r>
              <a:rPr sz="1400" b="0">
                <a:solidFill>
                  <a:srgbClr val="1B2430"/>
                </a:solidFill>
                <a:latin typeface="Calibri"/>
              </a:rPr>
              <a:t>AI-enabled computer system arxitekturasining qatlamlarini (ma'lumot qabul qilish, oldindan ishlov berish, inferens, orkestratsiya, kuzatuv) chizib, ular orasidagi interfeyslarni aniqlay…</a:t>
            </a:r>
          </a:p>
        </p:txBody>
      </p:sp>
      <p:sp>
        <p:nvSpPr>
          <p:cNvPr id="25" name="Rounded Rectangle 24"/>
          <p:cNvSpPr/>
          <p:nvPr/>
        </p:nvSpPr>
        <p:spPr>
          <a:xfrm>
            <a:off x="550000" y="5356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0000" y="5356000"/>
            <a:ext cx="70000" cy="894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0000" y="5573000"/>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5</a:t>
            </a:r>
          </a:p>
        </p:txBody>
      </p:sp>
      <p:sp>
        <p:nvSpPr>
          <p:cNvPr id="28" name="TextBox 27"/>
          <p:cNvSpPr txBox="1"/>
          <p:nvPr/>
        </p:nvSpPr>
        <p:spPr>
          <a:xfrm>
            <a:off x="1450000" y="5356000"/>
            <a:ext cx="10050000" cy="894000"/>
          </a:xfrm>
          <a:prstGeom prst="rect">
            <a:avLst/>
          </a:prstGeom>
          <a:noFill/>
        </p:spPr>
        <p:txBody>
          <a:bodyPr wrap="square" anchor="ctr" lIns="50800" rIns="50800">
            <a:spAutoFit/>
          </a:bodyPr>
          <a:lstStyle/>
          <a:p>
            <a:pPr algn="l"/>
            <a:r>
              <a:rPr sz="1400" b="0">
                <a:solidFill>
                  <a:srgbClr val="1B2430"/>
                </a:solidFill>
                <a:latin typeface="Calibri"/>
              </a:rPr>
              <a:t>Apparat va dasturiy ta'minotni birgalikda loyihalash (hardware–software co-design) tamoyillarini qo'llab, model murakkabligi bilan apparat imkoniyati o'rtasidagi muvozanatni hisob-kitob…</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anim calcmode="lin" valueType="num">
                                      <p:cBhvr additive="base">
                                        <p:cTn id="83" dur="550" fill="hold"/>
                                        <p:tgtEl>
                                          <p:spTgt spid="21"/>
                                        </p:tgtEl>
                                        <p:attrNameLst>
                                          <p:attrName>ppt_x</p:attrName>
                                        </p:attrNameLst>
                                      </p:cBhvr>
                                      <p:tavLst>
                                        <p:tav tm="0">
                                          <p:val>
                                            <p:strVal val="#ppt_x"/>
                                          </p:val>
                                        </p:tav>
                                        <p:tav tm="100000">
                                          <p:val>
                                            <p:strVal val="#ppt_x"/>
                                          </p:val>
                                        </p:tav>
                                      </p:tavLst>
                                    </p:anim>
                                    <p:anim calcmode="lin" valueType="num">
                                      <p:cBhvr additive="base">
                                        <p:cTn id="84" dur="550" fill="hold"/>
                                        <p:tgtEl>
                                          <p:spTgt spid="21"/>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50"/>
                                        <p:tgtEl>
                                          <p:spTgt spid="22"/>
                                        </p:tgtEl>
                                      </p:cBhvr>
                                    </p:animEffect>
                                    <p:anim calcmode="lin" valueType="num">
                                      <p:cBhvr additive="base">
                                        <p:cTn id="89" dur="550" fill="hold"/>
                                        <p:tgtEl>
                                          <p:spTgt spid="22"/>
                                        </p:tgtEl>
                                        <p:attrNameLst>
                                          <p:attrName>ppt_x</p:attrName>
                                        </p:attrNameLst>
                                      </p:cBhvr>
                                      <p:tavLst>
                                        <p:tav tm="0">
                                          <p:val>
                                            <p:strVal val="#ppt_x"/>
                                          </p:val>
                                        </p:tav>
                                        <p:tav tm="100000">
                                          <p:val>
                                            <p:strVal val="#ppt_x"/>
                                          </p:val>
                                        </p:tav>
                                      </p:tavLst>
                                    </p:anim>
                                    <p:anim calcmode="lin" valueType="num">
                                      <p:cBhvr additive="base">
                                        <p:cTn id="90" dur="550" fill="hold"/>
                                        <p:tgtEl>
                                          <p:spTgt spid="22"/>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50"/>
                                        <p:tgtEl>
                                          <p:spTgt spid="23"/>
                                        </p:tgtEl>
                                      </p:cBhvr>
                                    </p:animEffect>
                                    <p:anim calcmode="lin" valueType="num">
                                      <p:cBhvr additive="base">
                                        <p:cTn id="95" dur="550" fill="hold"/>
                                        <p:tgtEl>
                                          <p:spTgt spid="23"/>
                                        </p:tgtEl>
                                        <p:attrNameLst>
                                          <p:attrName>ppt_w</p:attrName>
                                        </p:attrNameLst>
                                      </p:cBhvr>
                                      <p:tavLst>
                                        <p:tav tm="0">
                                          <p:val>
                                            <p:strVal val="0"/>
                                          </p:val>
                                        </p:tav>
                                        <p:tav tm="100000">
                                          <p:val>
                                            <p:strVal val="#ppt_w"/>
                                          </p:val>
                                        </p:tav>
                                      </p:tavLst>
                                    </p:anim>
                                    <p:anim calcmode="lin" valueType="num">
                                      <p:cBhvr additive="base">
                                        <p:cTn id="96" dur="550" fill="hold"/>
                                        <p:tgtEl>
                                          <p:spTgt spid="23"/>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50"/>
                                        <p:tgtEl>
                                          <p:spTgt spid="24"/>
                                        </p:tgtEl>
                                      </p:cBhvr>
                                    </p:animEffect>
                                    <p:anim calcmode="lin" valueType="num">
                                      <p:cBhvr additive="base">
                                        <p:cTn id="101" dur="550" fill="hold"/>
                                        <p:tgtEl>
                                          <p:spTgt spid="24"/>
                                        </p:tgtEl>
                                        <p:attrNameLst>
                                          <p:attrName>ppt_x</p:attrName>
                                        </p:attrNameLst>
                                      </p:cBhvr>
                                      <p:tavLst>
                                        <p:tav tm="0">
                                          <p:val>
                                            <p:strVal val="#ppt_x"/>
                                          </p:val>
                                        </p:tav>
                                        <p:tav tm="100000">
                                          <p:val>
                                            <p:strVal val="#ppt_x"/>
                                          </p:val>
                                        </p:tav>
                                      </p:tavLst>
                                    </p:anim>
                                    <p:anim calcmode="lin" valueType="num">
                                      <p:cBhvr additive="base">
                                        <p:cTn id="102" dur="550" fill="hold"/>
                                        <p:tgtEl>
                                          <p:spTgt spid="24"/>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550"/>
                                        <p:tgtEl>
                                          <p:spTgt spid="25"/>
                                        </p:tgtEl>
                                      </p:cBhvr>
                                    </p:animEffect>
                                    <p:anim calcmode="lin" valueType="num">
                                      <p:cBhvr additive="base">
                                        <p:cTn id="107" dur="550" fill="hold"/>
                                        <p:tgtEl>
                                          <p:spTgt spid="25"/>
                                        </p:tgtEl>
                                        <p:attrNameLst>
                                          <p:attrName>ppt_x</p:attrName>
                                        </p:attrNameLst>
                                      </p:cBhvr>
                                      <p:tavLst>
                                        <p:tav tm="0">
                                          <p:val>
                                            <p:strVal val="#ppt_x"/>
                                          </p:val>
                                        </p:tav>
                                        <p:tav tm="100000">
                                          <p:val>
                                            <p:strVal val="#ppt_x"/>
                                          </p:val>
                                        </p:tav>
                                      </p:tavLst>
                                    </p:anim>
                                    <p:anim calcmode="lin" valueType="num">
                                      <p:cBhvr additive="base">
                                        <p:cTn id="108" dur="550" fill="hold"/>
                                        <p:tgtEl>
                                          <p:spTgt spid="25"/>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550"/>
                                        <p:tgtEl>
                                          <p:spTgt spid="26"/>
                                        </p:tgtEl>
                                      </p:cBhvr>
                                    </p:animEffect>
                                    <p:anim calcmode="lin" valueType="num">
                                      <p:cBhvr additive="base">
                                        <p:cTn id="113" dur="550" fill="hold"/>
                                        <p:tgtEl>
                                          <p:spTgt spid="26"/>
                                        </p:tgtEl>
                                        <p:attrNameLst>
                                          <p:attrName>ppt_x</p:attrName>
                                        </p:attrNameLst>
                                      </p:cBhvr>
                                      <p:tavLst>
                                        <p:tav tm="0">
                                          <p:val>
                                            <p:strVal val="#ppt_x"/>
                                          </p:val>
                                        </p:tav>
                                        <p:tav tm="100000">
                                          <p:val>
                                            <p:strVal val="#ppt_x"/>
                                          </p:val>
                                        </p:tav>
                                      </p:tavLst>
                                    </p:anim>
                                    <p:anim calcmode="lin" valueType="num">
                                      <p:cBhvr additive="base">
                                        <p:cTn id="114" dur="550" fill="hold"/>
                                        <p:tgtEl>
                                          <p:spTgt spid="26"/>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7"/>
                                        </p:tgtEl>
                                        <p:attrNameLst>
                                          <p:attrName>style.visibility</p:attrName>
                                        </p:attrNameLst>
                                      </p:cBhvr>
                                      <p:to>
                                        <p:strVal val="visible"/>
                                      </p:to>
                                    </p:set>
                                    <p:animEffect transition="in" filter="fade">
                                      <p:cBhvr>
                                        <p:cTn id="118" dur="550"/>
                                        <p:tgtEl>
                                          <p:spTgt spid="27"/>
                                        </p:tgtEl>
                                      </p:cBhvr>
                                    </p:animEffect>
                                    <p:anim calcmode="lin" valueType="num">
                                      <p:cBhvr additive="base">
                                        <p:cTn id="119" dur="550" fill="hold"/>
                                        <p:tgtEl>
                                          <p:spTgt spid="27"/>
                                        </p:tgtEl>
                                        <p:attrNameLst>
                                          <p:attrName>ppt_w</p:attrName>
                                        </p:attrNameLst>
                                      </p:cBhvr>
                                      <p:tavLst>
                                        <p:tav tm="0">
                                          <p:val>
                                            <p:strVal val="0"/>
                                          </p:val>
                                        </p:tav>
                                        <p:tav tm="100000">
                                          <p:val>
                                            <p:strVal val="#ppt_w"/>
                                          </p:val>
                                        </p:tav>
                                      </p:tavLst>
                                    </p:anim>
                                    <p:anim calcmode="lin" valueType="num">
                                      <p:cBhvr additive="base">
                                        <p:cTn id="120" dur="550" fill="hold"/>
                                        <p:tgtEl>
                                          <p:spTgt spid="27"/>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8"/>
                                        </p:tgtEl>
                                        <p:attrNameLst>
                                          <p:attrName>style.visibility</p:attrName>
                                        </p:attrNameLst>
                                      </p:cBhvr>
                                      <p:to>
                                        <p:strVal val="visible"/>
                                      </p:to>
                                    </p:set>
                                    <p:animEffect transition="in" filter="fade">
                                      <p:cBhvr>
                                        <p:cTn id="124" dur="550"/>
                                        <p:tgtEl>
                                          <p:spTgt spid="28"/>
                                        </p:tgtEl>
                                      </p:cBhvr>
                                    </p:animEffect>
                                    <p:anim calcmode="lin" valueType="num">
                                      <p:cBhvr additive="base">
                                        <p:cTn id="125" dur="550" fill="hold"/>
                                        <p:tgtEl>
                                          <p:spTgt spid="28"/>
                                        </p:tgtEl>
                                        <p:attrNameLst>
                                          <p:attrName>ppt_x</p:attrName>
                                        </p:attrNameLst>
                                      </p:cBhvr>
                                      <p:tavLst>
                                        <p:tav tm="0">
                                          <p:val>
                                            <p:strVal val="#ppt_x"/>
                                          </p:val>
                                        </p:tav>
                                        <p:tav tm="100000">
                                          <p:val>
                                            <p:strVal val="#ppt_x"/>
                                          </p:val>
                                        </p:tav>
                                      </p:tavLst>
                                    </p:anim>
                                    <p:anim calcmode="lin" valueType="num">
                                      <p:cBhvr additive="base">
                                        <p:cTn id="126" dur="550" fill="hold"/>
                                        <p:tgtEl>
                                          <p:spTgt spid="28"/>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Mavzuning maqsadi va o'rganish natijalari (2)</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 · Sun'iy intellektga asoslangan kompyuter tizimlari injiniringi: arxitektura va loyihalash tamoyillari</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5</a:t>
            </a:r>
          </a:p>
        </p:txBody>
      </p:sp>
      <p:sp>
        <p:nvSpPr>
          <p:cNvPr id="9" name="Rounded Rectangle 8"/>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2076666"/>
            <a:ext cx="70000" cy="1250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2471666"/>
            <a:ext cx="460000" cy="460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6</a:t>
            </a:r>
          </a:p>
        </p:txBody>
      </p:sp>
      <p:sp>
        <p:nvSpPr>
          <p:cNvPr id="12" name="TextBox 11"/>
          <p:cNvSpPr txBox="1"/>
          <p:nvPr/>
        </p:nvSpPr>
        <p:spPr>
          <a:xfrm>
            <a:off x="1450000" y="2076666"/>
            <a:ext cx="10050000" cy="1250000"/>
          </a:xfrm>
          <a:prstGeom prst="rect">
            <a:avLst/>
          </a:prstGeom>
          <a:noFill/>
        </p:spPr>
        <p:txBody>
          <a:bodyPr wrap="square" anchor="ctr" lIns="50800" rIns="50800">
            <a:spAutoFit/>
          </a:bodyPr>
          <a:lstStyle/>
          <a:p>
            <a:pPr algn="l"/>
            <a:r>
              <a:rPr sz="1800" b="0">
                <a:solidFill>
                  <a:srgbClr val="1B2430"/>
                </a:solidFill>
                <a:latin typeface="Calibri"/>
              </a:rPr>
              <a:t>Oddiy inferens xizmatini Python va ONNX Runtime yordamida ishga tushirib, uning kechikish (latency) va o'tkazuvchanlik (throughput) ko'rsatkichlarini o'lchaydi.</a:t>
            </a:r>
          </a:p>
        </p:txBody>
      </p:sp>
      <p:sp>
        <p:nvSpPr>
          <p:cNvPr id="13" name="Rounded Rectangle 12"/>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344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384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7</a:t>
            </a:r>
          </a:p>
        </p:txBody>
      </p:sp>
      <p:sp>
        <p:nvSpPr>
          <p:cNvPr id="16" name="TextBox 15"/>
          <p:cNvSpPr txBox="1"/>
          <p:nvPr/>
        </p:nvSpPr>
        <p:spPr>
          <a:xfrm>
            <a:off x="1450000" y="3446666"/>
            <a:ext cx="10050000" cy="1250000"/>
          </a:xfrm>
          <a:prstGeom prst="rect">
            <a:avLst/>
          </a:prstGeom>
          <a:noFill/>
        </p:spPr>
        <p:txBody>
          <a:bodyPr wrap="square" anchor="ctr" lIns="50800" rIns="50800">
            <a:spAutoFit/>
          </a:bodyPr>
          <a:lstStyle/>
          <a:p>
            <a:pPr algn="l"/>
            <a:r>
              <a:rPr sz="1800" b="0">
                <a:solidFill>
                  <a:srgbClr val="1B2430"/>
                </a:solidFill>
                <a:latin typeface="Calibri"/>
              </a:rPr>
              <a:t>Mavzu fanning TN1 (SI asosidagi kompyuter tizimlarini loyihalash, AI-enabled arxitekturalar va apparat–dasturiy integratsiya tamoyillarini bilish) ta'lim natijasiga bevosita xizmat qiladi,…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1700000"/>
            <a:ext cx="3000000" cy="30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0000" y="2350000"/>
            <a:ext cx="3000000" cy="1700000"/>
          </a:xfrm>
          <a:prstGeom prst="rect">
            <a:avLst/>
          </a:prstGeom>
          <a:noFill/>
        </p:spPr>
        <p:txBody>
          <a:bodyPr wrap="square" anchor="ctr" lIns="50800" rIns="50800">
            <a:spAutoFit/>
          </a:bodyPr>
          <a:lstStyle/>
          <a:p>
            <a:pPr algn="ctr"/>
            <a:r>
              <a:rPr sz="7200" b="1">
                <a:solidFill>
                  <a:srgbClr val="FFFFFF"/>
                </a:solidFill>
                <a:latin typeface="Calibri"/>
              </a:rPr>
              <a:t>02</a:t>
            </a:r>
          </a:p>
        </p:txBody>
      </p:sp>
      <p:sp>
        <p:nvSpPr>
          <p:cNvPr id="5" name="TextBox 4"/>
          <p:cNvSpPr txBox="1"/>
          <p:nvPr/>
        </p:nvSpPr>
        <p:spPr>
          <a:xfrm>
            <a:off x="4500000" y="2400000"/>
            <a:ext cx="7000000" cy="1600000"/>
          </a:xfrm>
          <a:prstGeom prst="rect">
            <a:avLst/>
          </a:prstGeom>
          <a:noFill/>
        </p:spPr>
        <p:txBody>
          <a:bodyPr wrap="square" anchor="ctr" lIns="50800" rIns="50800">
            <a:spAutoFit/>
          </a:bodyPr>
          <a:lstStyle/>
          <a:p>
            <a:pPr algn="l"/>
            <a:r>
              <a:rPr sz="3600" b="1">
                <a:solidFill>
                  <a:srgbClr val="FFFFFF"/>
                </a:solidFill>
                <a:latin typeface="Calibri"/>
              </a:rPr>
              <a:t>Kirish</a:t>
            </a:r>
          </a:p>
        </p:txBody>
      </p:sp>
      <p:sp>
        <p:nvSpPr>
          <p:cNvPr id="6" name="Rectangle 5"/>
          <p:cNvSpPr/>
          <p:nvPr/>
        </p:nvSpPr>
        <p:spPr>
          <a:xfrm>
            <a:off x="4550000" y="41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2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0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250"/>
                            </p:stCondLst>
                            <p:childTnLst>
                              <p:par>
                                <p:cTn id="16" presetID="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9" dur="550" fill="hold"/>
                                        <p:tgtEl>
                                          <p:spTgt spid="5"/>
                                        </p:tgtEl>
                                        <p:attrNameLst>
                                          <p:attrName>ppt_x</p:attrName>
                                        </p:attrNameLst>
                                      </p:cBhvr>
                                      <p:tavLst>
                                        <p:tav tm="0">
                                          <p:val>
                                            <p:strVal val="0-#ppt_w/2"/>
                                          </p:val>
                                        </p:tav>
                                        <p:tav tm="100000">
                                          <p:val>
                                            <p:strVal val="#ppt_x"/>
                                          </p:val>
                                        </p:tav>
                                      </p:tavLst>
                                    </p:anim>
                                    <p:anim calcmode="lin" valueType="num">
                                      <p:cBhvr additive="base">
                                        <p:cTn id="20" dur="550" fill="hold"/>
                                        <p:tgtEl>
                                          <p:spTgt spid="5"/>
                                        </p:tgtEl>
                                        <p:attrNameLst>
                                          <p:attrName>ppt_y</p:attrName>
                                        </p:attrNameLst>
                                      </p:cBhvr>
                                      <p:tavLst>
                                        <p:tav tm="0">
                                          <p:val>
                                            <p:strVal val="#ppt_y"/>
                                          </p:val>
                                        </p:tav>
                                        <p:tav tm="100000">
                                          <p:val>
                                            <p:strVal val="#ppt_y"/>
                                          </p:val>
                                        </p:tav>
                                      </p:tavLst>
                                    </p:anim>
                                  </p:childTnLst>
                                </p:cTn>
                              </p:par>
                            </p:childTnLst>
                          </p:cTn>
                        </p:par>
                        <p:par>
                          <p:cTn id="21" fill="hold">
                            <p:stCondLst>
                              <p:cond delay="350"/>
                            </p:stCondLst>
                            <p:childTnLst>
                              <p:par>
                                <p:cTn id="22" presetID="22" presetClass="entr" presetSubtype="8"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5" dur="8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Kirish</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 · Sun'iy intellektga asoslangan kompyuter tizimlari injiniringi: arxitektura va loyihalash tamoyillari</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7</a:t>
            </a:r>
          </a:p>
        </p:txBody>
      </p:sp>
      <p:sp>
        <p:nvSpPr>
          <p:cNvPr id="9" name="Rounded Rectangle 8"/>
          <p:cNvSpPr/>
          <p:nvPr/>
        </p:nvSpPr>
        <p:spPr>
          <a:xfrm>
            <a:off x="550000" y="162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620000"/>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2015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1620000"/>
            <a:ext cx="10050000" cy="1250000"/>
          </a:xfrm>
          <a:prstGeom prst="rect">
            <a:avLst/>
          </a:prstGeom>
          <a:noFill/>
        </p:spPr>
        <p:txBody>
          <a:bodyPr wrap="square" anchor="ctr" lIns="50800" rIns="50800">
            <a:spAutoFit/>
          </a:bodyPr>
          <a:lstStyle/>
          <a:p>
            <a:pPr algn="l"/>
            <a:r>
              <a:rPr sz="1600" b="0">
                <a:solidFill>
                  <a:srgbClr val="1B2430"/>
                </a:solidFill>
                <a:latin typeface="Calibri"/>
              </a:rPr>
              <a:t>So'nggi o'n yillikda sun'iy intellekt laboratoriya tajribasidan sanoat infratuzilmasining tarkibiy qismiga aylandi. Bugun bank kartasidagi firibgarlikni aniqlash, savdo markazidagi video-kuzatuv, tibbiy tasvirlarni tahlil qilish, logistika omborida buyumlarni…</a:t>
            </a:r>
          </a:p>
        </p:txBody>
      </p:sp>
      <p:sp>
        <p:nvSpPr>
          <p:cNvPr id="13" name="Rounded Rectangle 12"/>
          <p:cNvSpPr/>
          <p:nvPr/>
        </p:nvSpPr>
        <p:spPr>
          <a:xfrm>
            <a:off x="550000" y="299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990000"/>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338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6" name="TextBox 15"/>
          <p:cNvSpPr txBox="1"/>
          <p:nvPr/>
        </p:nvSpPr>
        <p:spPr>
          <a:xfrm>
            <a:off x="1450000" y="2990000"/>
            <a:ext cx="10050000" cy="1250000"/>
          </a:xfrm>
          <a:prstGeom prst="rect">
            <a:avLst/>
          </a:prstGeom>
          <a:noFill/>
        </p:spPr>
        <p:txBody>
          <a:bodyPr wrap="square" anchor="ctr" lIns="50800" rIns="50800">
            <a:spAutoFit/>
          </a:bodyPr>
          <a:lstStyle/>
          <a:p>
            <a:pPr algn="l"/>
            <a:r>
              <a:rPr sz="1600" b="0">
                <a:solidFill>
                  <a:srgbClr val="1B2430"/>
                </a:solidFill>
                <a:latin typeface="Calibri"/>
              </a:rPr>
              <a:t>Shu sababli alohida muhandislik yo'nalishi — sun'iy intellekt injiniringi — shakllandi. U uchta an'anaviy sohaning kesishmasida turadi: dasturiy injiniring (talablar, arxitektura, sinov, versiyalash), ma'lumotlar fani (model, statistika, baholash) va…</a:t>
            </a:r>
          </a:p>
        </p:txBody>
      </p:sp>
      <p:sp>
        <p:nvSpPr>
          <p:cNvPr id="17" name="Rounded Rectangle 16"/>
          <p:cNvSpPr/>
          <p:nvPr/>
        </p:nvSpPr>
        <p:spPr>
          <a:xfrm>
            <a:off x="550000" y="436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4360000"/>
            <a:ext cx="70000" cy="1250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475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0" name="TextBox 19"/>
          <p:cNvSpPr txBox="1"/>
          <p:nvPr/>
        </p:nvSpPr>
        <p:spPr>
          <a:xfrm>
            <a:off x="1450000" y="4360000"/>
            <a:ext cx="10050000" cy="1250000"/>
          </a:xfrm>
          <a:prstGeom prst="rect">
            <a:avLst/>
          </a:prstGeom>
          <a:noFill/>
        </p:spPr>
        <p:txBody>
          <a:bodyPr wrap="square" anchor="ctr" lIns="50800" rIns="50800">
            <a:spAutoFit/>
          </a:bodyPr>
          <a:lstStyle/>
          <a:p>
            <a:pPr algn="l"/>
            <a:r>
              <a:rPr sz="1600" b="0">
                <a:solidFill>
                  <a:srgbClr val="1B2430"/>
                </a:solidFill>
                <a:latin typeface="Calibri"/>
              </a:rPr>
              <a:t>Sanoat konteksti ham o'zgardi. Hennessy va Patterson 2019-yilda Tyuring ma'ruzasida «kompyuter arxitekturasining yangi oltin asri» haqida gapirib, Mur qonuni va Dennard masshtablashi sekinlashgan sharoitda unumdorlik o'sishining asosiy manbai sohaga xos…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1700000"/>
            <a:ext cx="3000000" cy="30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0000" y="2350000"/>
            <a:ext cx="3000000" cy="1700000"/>
          </a:xfrm>
          <a:prstGeom prst="rect">
            <a:avLst/>
          </a:prstGeom>
          <a:noFill/>
        </p:spPr>
        <p:txBody>
          <a:bodyPr wrap="square" anchor="ctr" lIns="50800" rIns="50800">
            <a:spAutoFit/>
          </a:bodyPr>
          <a:lstStyle/>
          <a:p>
            <a:pPr algn="ctr"/>
            <a:r>
              <a:rPr sz="7200" b="1">
                <a:solidFill>
                  <a:srgbClr val="FFFFFF"/>
                </a:solidFill>
                <a:latin typeface="Calibri"/>
              </a:rPr>
              <a:t>03</a:t>
            </a:r>
          </a:p>
        </p:txBody>
      </p:sp>
      <p:sp>
        <p:nvSpPr>
          <p:cNvPr id="5" name="TextBox 4"/>
          <p:cNvSpPr txBox="1"/>
          <p:nvPr/>
        </p:nvSpPr>
        <p:spPr>
          <a:xfrm>
            <a:off x="4500000" y="2400000"/>
            <a:ext cx="7000000" cy="1600000"/>
          </a:xfrm>
          <a:prstGeom prst="rect">
            <a:avLst/>
          </a:prstGeom>
          <a:noFill/>
        </p:spPr>
        <p:txBody>
          <a:bodyPr wrap="square" anchor="ctr" lIns="50800" rIns="50800">
            <a:spAutoFit/>
          </a:bodyPr>
          <a:lstStyle/>
          <a:p>
            <a:pPr algn="l"/>
            <a:r>
              <a:rPr sz="3600" b="1">
                <a:solidFill>
                  <a:srgbClr val="FFFFFF"/>
                </a:solidFill>
                <a:latin typeface="Calibri"/>
              </a:rPr>
              <a:t>Nazariy asoslar</a:t>
            </a:r>
          </a:p>
        </p:txBody>
      </p:sp>
      <p:sp>
        <p:nvSpPr>
          <p:cNvPr id="6" name="Rectangle 5"/>
          <p:cNvSpPr/>
          <p:nvPr/>
        </p:nvSpPr>
        <p:spPr>
          <a:xfrm>
            <a:off x="4550000" y="41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2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0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250"/>
                            </p:stCondLst>
                            <p:childTnLst>
                              <p:par>
                                <p:cTn id="16" presetID="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9" dur="550" fill="hold"/>
                                        <p:tgtEl>
                                          <p:spTgt spid="5"/>
                                        </p:tgtEl>
                                        <p:attrNameLst>
                                          <p:attrName>ppt_x</p:attrName>
                                        </p:attrNameLst>
                                      </p:cBhvr>
                                      <p:tavLst>
                                        <p:tav tm="0">
                                          <p:val>
                                            <p:strVal val="0-#ppt_w/2"/>
                                          </p:val>
                                        </p:tav>
                                        <p:tav tm="100000">
                                          <p:val>
                                            <p:strVal val="#ppt_x"/>
                                          </p:val>
                                        </p:tav>
                                      </p:tavLst>
                                    </p:anim>
                                    <p:anim calcmode="lin" valueType="num">
                                      <p:cBhvr additive="base">
                                        <p:cTn id="20" dur="550" fill="hold"/>
                                        <p:tgtEl>
                                          <p:spTgt spid="5"/>
                                        </p:tgtEl>
                                        <p:attrNameLst>
                                          <p:attrName>ppt_y</p:attrName>
                                        </p:attrNameLst>
                                      </p:cBhvr>
                                      <p:tavLst>
                                        <p:tav tm="0">
                                          <p:val>
                                            <p:strVal val="#ppt_y"/>
                                          </p:val>
                                        </p:tav>
                                        <p:tav tm="100000">
                                          <p:val>
                                            <p:strVal val="#ppt_y"/>
                                          </p:val>
                                        </p:tav>
                                      </p:tavLst>
                                    </p:anim>
                                  </p:childTnLst>
                                </p:cTn>
                              </p:par>
                            </p:childTnLst>
                          </p:cTn>
                        </p:par>
                        <p:par>
                          <p:cTn id="21" fill="hold">
                            <p:stCondLst>
                              <p:cond delay="350"/>
                            </p:stCondLst>
                            <p:childTnLst>
                              <p:par>
                                <p:cTn id="22" presetID="22" presetClass="entr" presetSubtype="8"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5" dur="8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Sun'iy intellekt injiniringi konsepsiyasi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 · Sun'iy intellektga asoslangan kompyuter tizimlari injiniringi: arxitektura va loyihalash tamoyillari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9</a:t>
            </a:r>
          </a:p>
        </p:txBody>
      </p:sp>
      <p:sp>
        <p:nvSpPr>
          <p:cNvPr id="10" name="Rounded Rectangle 9"/>
          <p:cNvSpPr/>
          <p:nvPr/>
        </p:nvSpPr>
        <p:spPr>
          <a:xfrm>
            <a:off x="550000" y="13000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300000"/>
            <a:ext cx="70000" cy="11475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164375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300000"/>
            <a:ext cx="10050000" cy="1147500"/>
          </a:xfrm>
          <a:prstGeom prst="rect">
            <a:avLst/>
          </a:prstGeom>
          <a:noFill/>
        </p:spPr>
        <p:txBody>
          <a:bodyPr wrap="square" anchor="ctr" lIns="50800" rIns="50800">
            <a:spAutoFit/>
          </a:bodyPr>
          <a:lstStyle/>
          <a:p>
            <a:pPr algn="l"/>
            <a:r>
              <a:rPr sz="1400" b="0">
                <a:solidFill>
                  <a:srgbClr val="1B2430"/>
                </a:solidFill>
                <a:latin typeface="Calibri"/>
              </a:rPr>
              <a:t>Sun'iy intellekt injiniringi (AI engineering) — SI komponentlarini o'z ichiga olgan tizimlarni ishonchli, takrorlanuvchi va masshtablanuvchi tarzda loyihalash, qurish, joylashtirish va…</a:t>
            </a:r>
          </a:p>
        </p:txBody>
      </p:sp>
      <p:sp>
        <p:nvSpPr>
          <p:cNvPr id="14" name="Rounded Rectangle 13"/>
          <p:cNvSpPr/>
          <p:nvPr/>
        </p:nvSpPr>
        <p:spPr>
          <a:xfrm>
            <a:off x="550000" y="25675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567500"/>
            <a:ext cx="70000" cy="11475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291125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567500"/>
            <a:ext cx="10050000" cy="1147500"/>
          </a:xfrm>
          <a:prstGeom prst="rect">
            <a:avLst/>
          </a:prstGeom>
          <a:noFill/>
        </p:spPr>
        <p:txBody>
          <a:bodyPr wrap="square" anchor="ctr" lIns="50800" rIns="50800">
            <a:spAutoFit/>
          </a:bodyPr>
          <a:lstStyle/>
          <a:p>
            <a:pPr algn="l"/>
            <a:r>
              <a:rPr sz="1400" b="0">
                <a:solidFill>
                  <a:srgbClr val="1B2430"/>
                </a:solidFill>
                <a:latin typeface="Calibri"/>
              </a:rPr>
              <a:t>Amershi va hammualliflar SI tizimlarining an'anaviy dasturiy ta'minotdan uchta tub farqini ko'rsatadilar.</a:t>
            </a:r>
          </a:p>
        </p:txBody>
      </p:sp>
      <p:sp>
        <p:nvSpPr>
          <p:cNvPr id="18" name="Rounded Rectangle 17"/>
          <p:cNvSpPr/>
          <p:nvPr/>
        </p:nvSpPr>
        <p:spPr>
          <a:xfrm>
            <a:off x="550000" y="38350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3835000"/>
            <a:ext cx="70000" cy="11475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417875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3835000"/>
            <a:ext cx="10050000" cy="1147500"/>
          </a:xfrm>
          <a:prstGeom prst="rect">
            <a:avLst/>
          </a:prstGeom>
          <a:noFill/>
        </p:spPr>
        <p:txBody>
          <a:bodyPr wrap="square" anchor="ctr" lIns="50800" rIns="50800">
            <a:spAutoFit/>
          </a:bodyPr>
          <a:lstStyle/>
          <a:p>
            <a:pPr algn="l"/>
            <a:r>
              <a:rPr sz="1400" b="0">
                <a:solidFill>
                  <a:srgbClr val="1B2430"/>
                </a:solidFill>
                <a:latin typeface="Calibri"/>
              </a:rPr>
              <a:t>Kneusel [2] amaliy nuqtai nazardan SI injiniringini «modelni ishlaydigan mahsulotga aylantirish san'ati» deb ta'riflaydi va muhandis javob berishi kerak bo'lgan savollarni sanaydi: inferens…</a:t>
            </a:r>
          </a:p>
        </p:txBody>
      </p:sp>
      <p:sp>
        <p:nvSpPr>
          <p:cNvPr id="22" name="Rounded Rectangle 21"/>
          <p:cNvSpPr/>
          <p:nvPr/>
        </p:nvSpPr>
        <p:spPr>
          <a:xfrm>
            <a:off x="550000" y="51025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50000" y="5102500"/>
            <a:ext cx="70000" cy="11475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0000" y="544625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5" name="TextBox 24"/>
          <p:cNvSpPr txBox="1"/>
          <p:nvPr/>
        </p:nvSpPr>
        <p:spPr>
          <a:xfrm>
            <a:off x="1450000" y="5102500"/>
            <a:ext cx="10050000" cy="1147500"/>
          </a:xfrm>
          <a:prstGeom prst="rect">
            <a:avLst/>
          </a:prstGeom>
          <a:noFill/>
        </p:spPr>
        <p:txBody>
          <a:bodyPr wrap="square" anchor="ctr" lIns="50800" rIns="50800">
            <a:spAutoFit/>
          </a:bodyPr>
          <a:lstStyle/>
          <a:p>
            <a:pPr algn="l"/>
            <a:r>
              <a:rPr sz="1400" b="0">
                <a:solidFill>
                  <a:srgbClr val="1B2430"/>
                </a:solidFill>
                <a:latin typeface="Calibri"/>
              </a:rPr>
              <a:t>SI injiniringining yana bir muhim jihati — hayot sikli tushunchasi.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anim calcmode="lin" valueType="num">
                                      <p:cBhvr additive="base">
                                        <p:cTn id="83" dur="550" fill="hold"/>
                                        <p:tgtEl>
                                          <p:spTgt spid="22"/>
                                        </p:tgtEl>
                                        <p:attrNameLst>
                                          <p:attrName>ppt_x</p:attrName>
                                        </p:attrNameLst>
                                      </p:cBhvr>
                                      <p:tavLst>
                                        <p:tav tm="0">
                                          <p:val>
                                            <p:strVal val="#ppt_x"/>
                                          </p:val>
                                        </p:tav>
                                        <p:tav tm="100000">
                                          <p:val>
                                            <p:strVal val="#ppt_x"/>
                                          </p:val>
                                        </p:tav>
                                      </p:tavLst>
                                    </p:anim>
                                    <p:anim calcmode="lin" valueType="num">
                                      <p:cBhvr additive="base">
                                        <p:cTn id="84" dur="550" fill="hold"/>
                                        <p:tgtEl>
                                          <p:spTgt spid="22"/>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550"/>
                                        <p:tgtEl>
                                          <p:spTgt spid="23"/>
                                        </p:tgtEl>
                                      </p:cBhvr>
                                    </p:animEffect>
                                    <p:anim calcmode="lin" valueType="num">
                                      <p:cBhvr additive="base">
                                        <p:cTn id="89" dur="550" fill="hold"/>
                                        <p:tgtEl>
                                          <p:spTgt spid="23"/>
                                        </p:tgtEl>
                                        <p:attrNameLst>
                                          <p:attrName>ppt_x</p:attrName>
                                        </p:attrNameLst>
                                      </p:cBhvr>
                                      <p:tavLst>
                                        <p:tav tm="0">
                                          <p:val>
                                            <p:strVal val="#ppt_x"/>
                                          </p:val>
                                        </p:tav>
                                        <p:tav tm="100000">
                                          <p:val>
                                            <p:strVal val="#ppt_x"/>
                                          </p:val>
                                        </p:tav>
                                      </p:tavLst>
                                    </p:anim>
                                    <p:anim calcmode="lin" valueType="num">
                                      <p:cBhvr additive="base">
                                        <p:cTn id="90" dur="550" fill="hold"/>
                                        <p:tgtEl>
                                          <p:spTgt spid="23"/>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50"/>
                                        <p:tgtEl>
                                          <p:spTgt spid="24"/>
                                        </p:tgtEl>
                                      </p:cBhvr>
                                    </p:animEffect>
                                    <p:anim calcmode="lin" valueType="num">
                                      <p:cBhvr additive="base">
                                        <p:cTn id="95" dur="550" fill="hold"/>
                                        <p:tgtEl>
                                          <p:spTgt spid="24"/>
                                        </p:tgtEl>
                                        <p:attrNameLst>
                                          <p:attrName>ppt_w</p:attrName>
                                        </p:attrNameLst>
                                      </p:cBhvr>
                                      <p:tavLst>
                                        <p:tav tm="0">
                                          <p:val>
                                            <p:strVal val="0"/>
                                          </p:val>
                                        </p:tav>
                                        <p:tav tm="100000">
                                          <p:val>
                                            <p:strVal val="#ppt_w"/>
                                          </p:val>
                                        </p:tav>
                                      </p:tavLst>
                                    </p:anim>
                                    <p:anim calcmode="lin" valueType="num">
                                      <p:cBhvr additive="base">
                                        <p:cTn id="96" dur="550" fill="hold"/>
                                        <p:tgtEl>
                                          <p:spTgt spid="24"/>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550"/>
                                        <p:tgtEl>
                                          <p:spTgt spid="25"/>
                                        </p:tgtEl>
                                      </p:cBhvr>
                                    </p:animEffect>
                                    <p:anim calcmode="lin" valueType="num">
                                      <p:cBhvr additive="base">
                                        <p:cTn id="101" dur="550" fill="hold"/>
                                        <p:tgtEl>
                                          <p:spTgt spid="25"/>
                                        </p:tgtEl>
                                        <p:attrNameLst>
                                          <p:attrName>ppt_x</p:attrName>
                                        </p:attrNameLst>
                                      </p:cBhvr>
                                      <p:tavLst>
                                        <p:tav tm="0">
                                          <p:val>
                                            <p:strVal val="#ppt_x"/>
                                          </p:val>
                                        </p:tav>
                                        <p:tav tm="100000">
                                          <p:val>
                                            <p:strVal val="#ppt_x"/>
                                          </p:val>
                                        </p:tav>
                                      </p:tavLst>
                                    </p:anim>
                                    <p:anim calcmode="lin" valueType="num">
                                      <p:cBhvr additive="base">
                                        <p:cTn id="102" dur="550" fill="hold"/>
                                        <p:tgtEl>
                                          <p:spTgt spid="25"/>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Sun'iy intellektga asoslangan hisoblash platformalari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 · Sun'iy intellektga asoslangan kompyuter tizimlari injiniringi: arxitektura va loyihalash tamoyillari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10</a:t>
            </a:r>
          </a:p>
        </p:txBody>
      </p:sp>
      <p:sp>
        <p:nvSpPr>
          <p:cNvPr id="10" name="Rounded Rectangle 9"/>
          <p:cNvSpPr/>
          <p:nvPr/>
        </p:nvSpPr>
        <p:spPr>
          <a:xfrm>
            <a:off x="550000" y="162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620000"/>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015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620000"/>
            <a:ext cx="10050000" cy="1250000"/>
          </a:xfrm>
          <a:prstGeom prst="rect">
            <a:avLst/>
          </a:prstGeom>
          <a:noFill/>
        </p:spPr>
        <p:txBody>
          <a:bodyPr wrap="square" anchor="ctr" lIns="50800" rIns="50800">
            <a:spAutoFit/>
          </a:bodyPr>
          <a:lstStyle/>
          <a:p>
            <a:pPr algn="l"/>
            <a:r>
              <a:rPr sz="1600" b="0">
                <a:solidFill>
                  <a:srgbClr val="1B2430"/>
                </a:solidFill>
                <a:latin typeface="Calibri"/>
              </a:rPr>
              <a:t>Hisoblash platformasi deganda biz SI yukini bajaruvchi apparat va uning ustidagi tizimli dasturiy ta'minot (drayver, kutubxona, ish vaqti muhiti) majmuasini tushunamiz. Platformalarni to'rt sinfga ajratish qulay: shaxsiy ish stansiyalari, ma'lumotlar markazi…</a:t>
            </a:r>
          </a:p>
        </p:txBody>
      </p:sp>
      <p:sp>
        <p:nvSpPr>
          <p:cNvPr id="14" name="Rounded Rectangle 13"/>
          <p:cNvSpPr/>
          <p:nvPr/>
        </p:nvSpPr>
        <p:spPr>
          <a:xfrm>
            <a:off x="550000" y="299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990000"/>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38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990000"/>
            <a:ext cx="10050000" cy="1250000"/>
          </a:xfrm>
          <a:prstGeom prst="rect">
            <a:avLst/>
          </a:prstGeom>
          <a:noFill/>
        </p:spPr>
        <p:txBody>
          <a:bodyPr wrap="square" anchor="ctr" lIns="50800" rIns="50800">
            <a:spAutoFit/>
          </a:bodyPr>
          <a:lstStyle/>
          <a:p>
            <a:pPr algn="l"/>
            <a:r>
              <a:rPr sz="1600" b="0">
                <a:solidFill>
                  <a:srgbClr val="1B2430"/>
                </a:solidFill>
                <a:latin typeface="Calibri"/>
              </a:rPr>
              <a:t>Jadvaldan uch muhim xulosa kelib chiqadi. Birinchidan, platformalar orasidagi farq olti tartibni (10⁶) tashkil etadi — mikrokontrollerdan H100 gacha.</a:t>
            </a:r>
          </a:p>
        </p:txBody>
      </p:sp>
      <p:sp>
        <p:nvSpPr>
          <p:cNvPr id="18" name="Rounded Rectangle 17"/>
          <p:cNvSpPr/>
          <p:nvPr/>
        </p:nvSpPr>
        <p:spPr>
          <a:xfrm>
            <a:off x="550000" y="436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4360000"/>
            <a:ext cx="70000" cy="1250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475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4360000"/>
            <a:ext cx="10050000" cy="1250000"/>
          </a:xfrm>
          <a:prstGeom prst="rect">
            <a:avLst/>
          </a:prstGeom>
          <a:noFill/>
        </p:spPr>
        <p:txBody>
          <a:bodyPr wrap="square" anchor="ctr" lIns="50800" rIns="50800">
            <a:spAutoFit/>
          </a:bodyPr>
          <a:lstStyle/>
          <a:p>
            <a:pPr algn="l"/>
            <a:r>
              <a:rPr sz="1600" b="0">
                <a:solidFill>
                  <a:srgbClr val="1B2430"/>
                </a:solidFill>
                <a:latin typeface="Calibri"/>
              </a:rPr>
              <a:t>Platforma tanlashda hisoblash quvvatining birligiga e'tibor berish zarur. TOPS (tera operations per second) odatda INT8 butun sonli amallar uchun, TFLOPS esa suzuvchi nuqtali (FP32, FP16, BF16, FP8) amallar uchun beriladi.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Sun'iy intellektga asoslangan hisoblash platformalari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 · Sun'iy intellektga asoslangan kompyuter tizimlari injiniringi: arxitektura va loyihalash tamoyillari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11</a:t>
            </a:r>
          </a:p>
        </p:txBody>
      </p:sp>
      <p:graphicFrame>
        <p:nvGraphicFramePr>
          <p:cNvPr id="10" name="Table 9"/>
          <p:cNvGraphicFramePr>
            <a:graphicFrameLocks noGrp="1"/>
          </p:cNvGraphicFramePr>
          <p:nvPr/>
        </p:nvGraphicFramePr>
        <p:xfrm>
          <a:off x="500000" y="1350000"/>
          <a:ext cx="11200000" cy="4680000"/>
        </p:xfrm>
        <a:graphic>
          <a:graphicData uri="http://schemas.openxmlformats.org/drawingml/2006/table">
            <a:tbl>
              <a:tblPr firstRow="1" bandRow="1">
                <a:tableStyleId>{5C22544A-7EE6-4342-B048-85BDC9FD1C3A}</a:tableStyleId>
              </a:tblPr>
              <a:tblGrid>
                <a:gridCol w="1866666"/>
                <a:gridCol w="1866666"/>
                <a:gridCol w="1866666"/>
                <a:gridCol w="1866666"/>
                <a:gridCol w="1866666"/>
                <a:gridCol w="1866670"/>
              </a:tblGrid>
              <a:tr h="520000">
                <a:tc>
                  <a:txBody>
                    <a:bodyPr/>
                    <a:lstStyle/>
                    <a:p>
                      <a:r>
                        <a:rPr sz="1400" b="1">
                          <a:solidFill>
                            <a:srgbClr val="FFFFFF"/>
                          </a:solidFill>
                          <a:latin typeface="Calibri"/>
                        </a:rPr>
                        <a:t>Platforma sinfi</a:t>
                      </a:r>
                    </a:p>
                  </a:txBody>
                  <a:tcPr>
                    <a:solidFill>
                      <a:srgbClr val="2D5C8F"/>
                    </a:solidFill>
                  </a:tcPr>
                </a:tc>
                <a:tc>
                  <a:txBody>
                    <a:bodyPr/>
                    <a:lstStyle/>
                    <a:p>
                      <a:r>
                        <a:rPr sz="1400" b="1">
                          <a:solidFill>
                            <a:srgbClr val="FFFFFF"/>
                          </a:solidFill>
                          <a:latin typeface="Calibri"/>
                        </a:rPr>
                        <a:t>Tipik vakil</a:t>
                      </a:r>
                    </a:p>
                  </a:txBody>
                  <a:tcPr>
                    <a:solidFill>
                      <a:srgbClr val="2D5C8F"/>
                    </a:solidFill>
                  </a:tcPr>
                </a:tc>
                <a:tc>
                  <a:txBody>
                    <a:bodyPr/>
                    <a:lstStyle/>
                    <a:p>
                      <a:r>
                        <a:rPr sz="1400" b="1">
                          <a:solidFill>
                            <a:srgbClr val="FFFFFF"/>
                          </a:solidFill>
                          <a:latin typeface="Calibri"/>
                        </a:rPr>
                        <a:t>Hisoblash quvvati (taxm.)</a:t>
                      </a:r>
                    </a:p>
                  </a:txBody>
                  <a:tcPr>
                    <a:solidFill>
                      <a:srgbClr val="2D5C8F"/>
                    </a:solidFill>
                  </a:tcPr>
                </a:tc>
                <a:tc>
                  <a:txBody>
                    <a:bodyPr/>
                    <a:lstStyle/>
                    <a:p>
                      <a:r>
                        <a:rPr sz="1400" b="1">
                          <a:solidFill>
                            <a:srgbClr val="FFFFFF"/>
                          </a:solidFill>
                          <a:latin typeface="Calibri"/>
                        </a:rPr>
                        <a:t>Xotira</a:t>
                      </a:r>
                    </a:p>
                  </a:txBody>
                  <a:tcPr>
                    <a:solidFill>
                      <a:srgbClr val="2D5C8F"/>
                    </a:solidFill>
                  </a:tcPr>
                </a:tc>
                <a:tc>
                  <a:txBody>
                    <a:bodyPr/>
                    <a:lstStyle/>
                    <a:p>
                      <a:r>
                        <a:rPr sz="1400" b="1">
                          <a:solidFill>
                            <a:srgbClr val="FFFFFF"/>
                          </a:solidFill>
                          <a:latin typeface="Calibri"/>
                        </a:rPr>
                        <a:t>Energiya</a:t>
                      </a:r>
                    </a:p>
                  </a:txBody>
                  <a:tcPr>
                    <a:solidFill>
                      <a:srgbClr val="2D5C8F"/>
                    </a:solidFill>
                  </a:tcPr>
                </a:tc>
                <a:tc>
                  <a:txBody>
                    <a:bodyPr/>
                    <a:lstStyle/>
                    <a:p>
                      <a:r>
                        <a:rPr sz="1400" b="1">
                          <a:solidFill>
                            <a:srgbClr val="FFFFFF"/>
                          </a:solidFill>
                          <a:latin typeface="Calibri"/>
                        </a:rPr>
                        <a:t>Odatiy vazifa</a:t>
                      </a:r>
                    </a:p>
                  </a:txBody>
                  <a:tcPr>
                    <a:solidFill>
                      <a:srgbClr val="2D5C8F"/>
                    </a:solidFill>
                  </a:tcPr>
                </a:tc>
              </a:tr>
              <a:tr h="520000">
                <a:tc>
                  <a:txBody>
                    <a:bodyPr/>
                    <a:lstStyle/>
                    <a:p>
                      <a:r>
                        <a:rPr sz="1400" b="0">
                          <a:solidFill>
                            <a:srgbClr val="1B2430"/>
                          </a:solidFill>
                          <a:latin typeface="Calibri"/>
                        </a:rPr>
                        <a:t>Chekka mikrokontroller</a:t>
                      </a:r>
                    </a:p>
                  </a:txBody>
                  <a:tcPr>
                    <a:solidFill>
                      <a:srgbClr val="F1F4F8"/>
                    </a:solidFill>
                  </a:tcPr>
                </a:tc>
                <a:tc>
                  <a:txBody>
                    <a:bodyPr/>
                    <a:lstStyle/>
                    <a:p>
                      <a:r>
                        <a:rPr sz="1400" b="0">
                          <a:solidFill>
                            <a:srgbClr val="1B2430"/>
                          </a:solidFill>
                          <a:latin typeface="Calibri"/>
                        </a:rPr>
                        <a:t>ARM Cortex-M7 + TinyML</a:t>
                      </a:r>
                    </a:p>
                  </a:txBody>
                  <a:tcPr>
                    <a:solidFill>
                      <a:srgbClr val="F1F4F8"/>
                    </a:solidFill>
                  </a:tcPr>
                </a:tc>
                <a:tc>
                  <a:txBody>
                    <a:bodyPr/>
                    <a:lstStyle/>
                    <a:p>
                      <a:r>
                        <a:rPr sz="1400" b="0">
                          <a:solidFill>
                            <a:srgbClr val="1B2430"/>
                          </a:solidFill>
                          <a:latin typeface="Calibri"/>
                        </a:rPr>
                        <a:t>0,001–0,01 TOPS</a:t>
                      </a:r>
                    </a:p>
                  </a:txBody>
                  <a:tcPr>
                    <a:solidFill>
                      <a:srgbClr val="F1F4F8"/>
                    </a:solidFill>
                  </a:tcPr>
                </a:tc>
                <a:tc>
                  <a:txBody>
                    <a:bodyPr/>
                    <a:lstStyle/>
                    <a:p>
                      <a:r>
                        <a:rPr sz="1400" b="0">
                          <a:solidFill>
                            <a:srgbClr val="1B2430"/>
                          </a:solidFill>
                          <a:latin typeface="Calibri"/>
                        </a:rPr>
                        <a:t>0,5–2 MB SRAM</a:t>
                      </a:r>
                    </a:p>
                  </a:txBody>
                  <a:tcPr>
                    <a:solidFill>
                      <a:srgbClr val="F1F4F8"/>
                    </a:solidFill>
                  </a:tcPr>
                </a:tc>
                <a:tc>
                  <a:txBody>
                    <a:bodyPr/>
                    <a:lstStyle/>
                    <a:p>
                      <a:r>
                        <a:rPr sz="1400" b="0">
                          <a:solidFill>
                            <a:srgbClr val="1B2430"/>
                          </a:solidFill>
                          <a:latin typeface="Calibri"/>
                        </a:rPr>
                        <a:t>0,05–0,5 W</a:t>
                      </a:r>
                    </a:p>
                  </a:txBody>
                  <a:tcPr>
                    <a:solidFill>
                      <a:srgbClr val="F1F4F8"/>
                    </a:solidFill>
                  </a:tcPr>
                </a:tc>
                <a:tc>
                  <a:txBody>
                    <a:bodyPr/>
                    <a:lstStyle/>
                    <a:p>
                      <a:r>
                        <a:rPr sz="1400" b="0">
                          <a:solidFill>
                            <a:srgbClr val="1B2430"/>
                          </a:solidFill>
                          <a:latin typeface="Calibri"/>
                        </a:rPr>
                        <a:t>Kalit so'z aniqlash, sensor tasnifi</a:t>
                      </a:r>
                    </a:p>
                  </a:txBody>
                  <a:tcPr>
                    <a:solidFill>
                      <a:srgbClr val="F1F4F8"/>
                    </a:solidFill>
                  </a:tcPr>
                </a:tc>
              </a:tr>
              <a:tr h="520000">
                <a:tc>
                  <a:txBody>
                    <a:bodyPr/>
                    <a:lstStyle/>
                    <a:p>
                      <a:r>
                        <a:rPr sz="1400" b="0">
                          <a:solidFill>
                            <a:srgbClr val="1B2430"/>
                          </a:solidFill>
                          <a:latin typeface="Calibri"/>
                        </a:rPr>
                        <a:t>Chekka tezlatkich</a:t>
                      </a:r>
                    </a:p>
                  </a:txBody>
                  <a:tcPr>
                    <a:solidFill>
                      <a:srgbClr val="FFFFFF"/>
                    </a:solidFill>
                  </a:tcPr>
                </a:tc>
                <a:tc>
                  <a:txBody>
                    <a:bodyPr/>
                    <a:lstStyle/>
                    <a:p>
                      <a:r>
                        <a:rPr sz="1400" b="0">
                          <a:solidFill>
                            <a:srgbClr val="1B2430"/>
                          </a:solidFill>
                          <a:latin typeface="Calibri"/>
                        </a:rPr>
                        <a:t>Google Coral Edge TPU</a:t>
                      </a:r>
                    </a:p>
                  </a:txBody>
                  <a:tcPr>
                    <a:solidFill>
                      <a:srgbClr val="FFFFFF"/>
                    </a:solidFill>
                  </a:tcPr>
                </a:tc>
                <a:tc>
                  <a:txBody>
                    <a:bodyPr/>
                    <a:lstStyle/>
                    <a:p>
                      <a:r>
                        <a:rPr sz="1400" b="0">
                          <a:solidFill>
                            <a:srgbClr val="1B2430"/>
                          </a:solidFill>
                          <a:latin typeface="Calibri"/>
                        </a:rPr>
                        <a:t>4 TOPS INT8</a:t>
                      </a:r>
                    </a:p>
                  </a:txBody>
                  <a:tcPr>
                    <a:solidFill>
                      <a:srgbClr val="FFFFFF"/>
                    </a:solidFill>
                  </a:tcPr>
                </a:tc>
                <a:tc>
                  <a:txBody>
                    <a:bodyPr/>
                    <a:lstStyle/>
                    <a:p>
                      <a:r>
                        <a:rPr sz="1400" b="0">
                          <a:solidFill>
                            <a:srgbClr val="1B2430"/>
                          </a:solidFill>
                          <a:latin typeface="Calibri"/>
                        </a:rPr>
                        <a:t>xost xotirasi</a:t>
                      </a:r>
                    </a:p>
                  </a:txBody>
                  <a:tcPr>
                    <a:solidFill>
                      <a:srgbClr val="FFFFFF"/>
                    </a:solidFill>
                  </a:tcPr>
                </a:tc>
                <a:tc>
                  <a:txBody>
                    <a:bodyPr/>
                    <a:lstStyle/>
                    <a:p>
                      <a:r>
                        <a:rPr sz="1400" b="0">
                          <a:solidFill>
                            <a:srgbClr val="1B2430"/>
                          </a:solidFill>
                          <a:latin typeface="Calibri"/>
                        </a:rPr>
                        <a:t>~2 W</a:t>
                      </a:r>
                    </a:p>
                  </a:txBody>
                  <a:tcPr>
                    <a:solidFill>
                      <a:srgbClr val="FFFFFF"/>
                    </a:solidFill>
                  </a:tcPr>
                </a:tc>
                <a:tc>
                  <a:txBody>
                    <a:bodyPr/>
                    <a:lstStyle/>
                    <a:p>
                      <a:r>
                        <a:rPr sz="1400" b="0">
                          <a:solidFill>
                            <a:srgbClr val="1B2430"/>
                          </a:solidFill>
                          <a:latin typeface="Calibri"/>
                        </a:rPr>
                        <a:t>Bitta kamera, tasnif</a:t>
                      </a:r>
                    </a:p>
                  </a:txBody>
                  <a:tcPr>
                    <a:solidFill>
                      <a:srgbClr val="FFFFFF"/>
                    </a:solidFill>
                  </a:tcPr>
                </a:tc>
              </a:tr>
              <a:tr h="520000">
                <a:tc>
                  <a:txBody>
                    <a:bodyPr/>
                    <a:lstStyle/>
                    <a:p>
                      <a:r>
                        <a:rPr sz="1400" b="0">
                          <a:solidFill>
                            <a:srgbClr val="1B2430"/>
                          </a:solidFill>
                          <a:latin typeface="Calibri"/>
                        </a:rPr>
                        <a:t>Chekka modul</a:t>
                      </a:r>
                    </a:p>
                  </a:txBody>
                  <a:tcPr>
                    <a:solidFill>
                      <a:srgbClr val="F1F4F8"/>
                    </a:solidFill>
                  </a:tcPr>
                </a:tc>
                <a:tc>
                  <a:txBody>
                    <a:bodyPr/>
                    <a:lstStyle/>
                    <a:p>
                      <a:r>
                        <a:rPr sz="1400" b="0">
                          <a:solidFill>
                            <a:srgbClr val="1B2430"/>
                          </a:solidFill>
                          <a:latin typeface="Calibri"/>
                        </a:rPr>
                        <a:t>NVIDIA Jetson Orin Nano 8 GB</a:t>
                      </a:r>
                    </a:p>
                  </a:txBody>
                  <a:tcPr>
                    <a:solidFill>
                      <a:srgbClr val="F1F4F8"/>
                    </a:solidFill>
                  </a:tcPr>
                </a:tc>
                <a:tc>
                  <a:txBody>
                    <a:bodyPr/>
                    <a:lstStyle/>
                    <a:p>
                      <a:r>
                        <a:rPr sz="1400" b="0">
                          <a:solidFill>
                            <a:srgbClr val="1B2430"/>
                          </a:solidFill>
                          <a:latin typeface="Calibri"/>
                        </a:rPr>
                        <a:t>~40 TOPS INT8 (siyrak)</a:t>
                      </a:r>
                    </a:p>
                  </a:txBody>
                  <a:tcPr>
                    <a:solidFill>
                      <a:srgbClr val="F1F4F8"/>
                    </a:solidFill>
                  </a:tcPr>
                </a:tc>
                <a:tc>
                  <a:txBody>
                    <a:bodyPr/>
                    <a:lstStyle/>
                    <a:p>
                      <a:r>
                        <a:rPr sz="1400" b="0">
                          <a:solidFill>
                            <a:srgbClr val="1B2430"/>
                          </a:solidFill>
                          <a:latin typeface="Calibri"/>
                        </a:rPr>
                        <a:t>8 GB LPDDR5, 68 GB/s</a:t>
                      </a:r>
                    </a:p>
                  </a:txBody>
                  <a:tcPr>
                    <a:solidFill>
                      <a:srgbClr val="F1F4F8"/>
                    </a:solidFill>
                  </a:tcPr>
                </a:tc>
                <a:tc>
                  <a:txBody>
                    <a:bodyPr/>
                    <a:lstStyle/>
                    <a:p>
                      <a:r>
                        <a:rPr sz="1400" b="0">
                          <a:solidFill>
                            <a:srgbClr val="1B2430"/>
                          </a:solidFill>
                          <a:latin typeface="Calibri"/>
                        </a:rPr>
                        <a:t>7–15 W</a:t>
                      </a:r>
                    </a:p>
                  </a:txBody>
                  <a:tcPr>
                    <a:solidFill>
                      <a:srgbClr val="F1F4F8"/>
                    </a:solidFill>
                  </a:tcPr>
                </a:tc>
                <a:tc>
                  <a:txBody>
                    <a:bodyPr/>
                    <a:lstStyle/>
                    <a:p>
                      <a:r>
                        <a:rPr sz="1400" b="0">
                          <a:solidFill>
                            <a:srgbClr val="1B2430"/>
                          </a:solidFill>
                          <a:latin typeface="Calibri"/>
                        </a:rPr>
                        <a:t>2–4 kamera, detektsiya</a:t>
                      </a:r>
                    </a:p>
                  </a:txBody>
                  <a:tcPr>
                    <a:solidFill>
                      <a:srgbClr val="F1F4F8"/>
                    </a:solidFill>
                  </a:tcPr>
                </a:tc>
              </a:tr>
              <a:tr h="520000">
                <a:tc>
                  <a:txBody>
                    <a:bodyPr/>
                    <a:lstStyle/>
                    <a:p>
                      <a:r>
                        <a:rPr sz="1400" b="0">
                          <a:solidFill>
                            <a:srgbClr val="1B2430"/>
                          </a:solidFill>
                          <a:latin typeface="Calibri"/>
                        </a:rPr>
                        <a:t>Chekka server</a:t>
                      </a:r>
                    </a:p>
                  </a:txBody>
                  <a:tcPr>
                    <a:solidFill>
                      <a:srgbClr val="FFFFFF"/>
                    </a:solidFill>
                  </a:tcPr>
                </a:tc>
                <a:tc>
                  <a:txBody>
                    <a:bodyPr/>
                    <a:lstStyle/>
                    <a:p>
                      <a:r>
                        <a:rPr sz="1400" b="0">
                          <a:solidFill>
                            <a:srgbClr val="1B2430"/>
                          </a:solidFill>
                          <a:latin typeface="Calibri"/>
                        </a:rPr>
                        <a:t>NVIDIA Jetson AGX Orin 64 GB</a:t>
                      </a:r>
                    </a:p>
                  </a:txBody>
                  <a:tcPr>
                    <a:solidFill>
                      <a:srgbClr val="FFFFFF"/>
                    </a:solidFill>
                  </a:tcPr>
                </a:tc>
                <a:tc>
                  <a:txBody>
                    <a:bodyPr/>
                    <a:lstStyle/>
                    <a:p>
                      <a:r>
                        <a:rPr sz="1400" b="0">
                          <a:solidFill>
                            <a:srgbClr val="1B2430"/>
                          </a:solidFill>
                          <a:latin typeface="Calibri"/>
                        </a:rPr>
                        <a:t>~275 TOPS INT8 (siyrak)</a:t>
                      </a:r>
                    </a:p>
                  </a:txBody>
                  <a:tcPr>
                    <a:solidFill>
                      <a:srgbClr val="FFFFFF"/>
                    </a:solidFill>
                  </a:tcPr>
                </a:tc>
                <a:tc>
                  <a:txBody>
                    <a:bodyPr/>
                    <a:lstStyle/>
                    <a:p>
                      <a:r>
                        <a:rPr sz="1400" b="0">
                          <a:solidFill>
                            <a:srgbClr val="1B2430"/>
                          </a:solidFill>
                          <a:latin typeface="Calibri"/>
                        </a:rPr>
                        <a:t>64 GB LPDDR5, 205 GB/s</a:t>
                      </a:r>
                    </a:p>
                  </a:txBody>
                  <a:tcPr>
                    <a:solidFill>
                      <a:srgbClr val="FFFFFF"/>
                    </a:solidFill>
                  </a:tcPr>
                </a:tc>
                <a:tc>
                  <a:txBody>
                    <a:bodyPr/>
                    <a:lstStyle/>
                    <a:p>
                      <a:r>
                        <a:rPr sz="1400" b="0">
                          <a:solidFill>
                            <a:srgbClr val="1B2430"/>
                          </a:solidFill>
                          <a:latin typeface="Calibri"/>
                        </a:rPr>
                        <a:t>15–60 W</a:t>
                      </a:r>
                    </a:p>
                  </a:txBody>
                  <a:tcPr>
                    <a:solidFill>
                      <a:srgbClr val="FFFFFF"/>
                    </a:solidFill>
                  </a:tcPr>
                </a:tc>
                <a:tc>
                  <a:txBody>
                    <a:bodyPr/>
                    <a:lstStyle/>
                    <a:p>
                      <a:r>
                        <a:rPr sz="1400" b="0">
                          <a:solidFill>
                            <a:srgbClr val="1B2430"/>
                          </a:solidFill>
                          <a:latin typeface="Calibri"/>
                        </a:rPr>
                        <a:t>8–16 kamera, ko'p model</a:t>
                      </a:r>
                    </a:p>
                  </a:txBody>
                  <a:tcPr>
                    <a:solidFill>
                      <a:srgbClr val="FFFFFF"/>
                    </a:solidFill>
                  </a:tcPr>
                </a:tc>
              </a:tr>
              <a:tr h="520000">
                <a:tc>
                  <a:txBody>
                    <a:bodyPr/>
                    <a:lstStyle/>
                    <a:p>
                      <a:r>
                        <a:rPr sz="1400" b="0">
                          <a:solidFill>
                            <a:srgbClr val="1B2430"/>
                          </a:solidFill>
                          <a:latin typeface="Calibri"/>
                        </a:rPr>
                        <a:t>Inferens serveri</a:t>
                      </a:r>
                    </a:p>
                  </a:txBody>
                  <a:tcPr>
                    <a:solidFill>
                      <a:srgbClr val="F1F4F8"/>
                    </a:solidFill>
                  </a:tcPr>
                </a:tc>
                <a:tc>
                  <a:txBody>
                    <a:bodyPr/>
                    <a:lstStyle/>
                    <a:p>
                      <a:r>
                        <a:rPr sz="1400" b="0">
                          <a:solidFill>
                            <a:srgbClr val="1B2430"/>
                          </a:solidFill>
                          <a:latin typeface="Calibri"/>
                        </a:rPr>
                        <a:t>NVIDIA L4 (PCIe)</a:t>
                      </a:r>
                    </a:p>
                  </a:txBody>
                  <a:tcPr>
                    <a:solidFill>
                      <a:srgbClr val="F1F4F8"/>
                    </a:solidFill>
                  </a:tcPr>
                </a:tc>
                <a:tc>
                  <a:txBody>
                    <a:bodyPr/>
                    <a:lstStyle/>
                    <a:p>
                      <a:r>
                        <a:rPr sz="1400" b="0">
                          <a:solidFill>
                            <a:srgbClr val="1B2430"/>
                          </a:solidFill>
                          <a:latin typeface="Calibri"/>
                        </a:rPr>
                        <a:t>~121 TFLOPS FP16 (zich)</a:t>
                      </a:r>
                    </a:p>
                  </a:txBody>
                  <a:tcPr>
                    <a:solidFill>
                      <a:srgbClr val="F1F4F8"/>
                    </a:solidFill>
                  </a:tcPr>
                </a:tc>
                <a:tc>
                  <a:txBody>
                    <a:bodyPr/>
                    <a:lstStyle/>
                    <a:p>
                      <a:r>
                        <a:rPr sz="1400" b="0">
                          <a:solidFill>
                            <a:srgbClr val="1B2430"/>
                          </a:solidFill>
                          <a:latin typeface="Calibri"/>
                        </a:rPr>
                        <a:t>24 GB GDDR6, 300 GB/s</a:t>
                      </a:r>
                    </a:p>
                  </a:txBody>
                  <a:tcPr>
                    <a:solidFill>
                      <a:srgbClr val="F1F4F8"/>
                    </a:solidFill>
                  </a:tcPr>
                </a:tc>
                <a:tc>
                  <a:txBody>
                    <a:bodyPr/>
                    <a:lstStyle/>
                    <a:p>
                      <a:r>
                        <a:rPr sz="1400" b="0">
                          <a:solidFill>
                            <a:srgbClr val="1B2430"/>
                          </a:solidFill>
                          <a:latin typeface="Calibri"/>
                        </a:rPr>
                        <a:t>72 W</a:t>
                      </a:r>
                    </a:p>
                  </a:txBody>
                  <a:tcPr>
                    <a:solidFill>
                      <a:srgbClr val="F1F4F8"/>
                    </a:solidFill>
                  </a:tcPr>
                </a:tc>
                <a:tc>
                  <a:txBody>
                    <a:bodyPr/>
                    <a:lstStyle/>
                    <a:p>
                      <a:r>
                        <a:rPr sz="1400" b="0">
                          <a:solidFill>
                            <a:srgbClr val="1B2430"/>
                          </a:solidFill>
                          <a:latin typeface="Calibri"/>
                        </a:rPr>
                        <a:t>Video-analitika, tavsiya</a:t>
                      </a:r>
                    </a:p>
                  </a:txBody>
                  <a:tcPr>
                    <a:solidFill>
                      <a:srgbClr val="F1F4F8"/>
                    </a:solidFill>
                  </a:tcPr>
                </a:tc>
              </a:tr>
              <a:tr h="520000">
                <a:tc>
                  <a:txBody>
                    <a:bodyPr/>
                    <a:lstStyle/>
                    <a:p>
                      <a:r>
                        <a:rPr sz="1400" b="0">
                          <a:solidFill>
                            <a:srgbClr val="1B2430"/>
                          </a:solidFill>
                          <a:latin typeface="Calibri"/>
                        </a:rPr>
                        <a:t>O'qitish serveri</a:t>
                      </a:r>
                    </a:p>
                  </a:txBody>
                  <a:tcPr>
                    <a:solidFill>
                      <a:srgbClr val="FFFFFF"/>
                    </a:solidFill>
                  </a:tcPr>
                </a:tc>
                <a:tc>
                  <a:txBody>
                    <a:bodyPr/>
                    <a:lstStyle/>
                    <a:p>
                      <a:r>
                        <a:rPr sz="1400" b="0">
                          <a:solidFill>
                            <a:srgbClr val="1B2430"/>
                          </a:solidFill>
                          <a:latin typeface="Calibri"/>
                        </a:rPr>
                        <a:t>NVIDIA A100 80 GB</a:t>
                      </a:r>
                    </a:p>
                  </a:txBody>
                  <a:tcPr>
                    <a:solidFill>
                      <a:srgbClr val="FFFFFF"/>
                    </a:solidFill>
                  </a:tcPr>
                </a:tc>
                <a:tc>
                  <a:txBody>
                    <a:bodyPr/>
                    <a:lstStyle/>
                    <a:p>
                      <a:r>
                        <a:rPr sz="1400" b="0">
                          <a:solidFill>
                            <a:srgbClr val="1B2430"/>
                          </a:solidFill>
                          <a:latin typeface="Calibri"/>
                        </a:rPr>
                        <a:t>312 TFLOPS FP16 (zich)</a:t>
                      </a:r>
                    </a:p>
                  </a:txBody>
                  <a:tcPr>
                    <a:solidFill>
                      <a:srgbClr val="FFFFFF"/>
                    </a:solidFill>
                  </a:tcPr>
                </a:tc>
                <a:tc>
                  <a:txBody>
                    <a:bodyPr/>
                    <a:lstStyle/>
                    <a:p>
                      <a:r>
                        <a:rPr sz="1400" b="0">
                          <a:solidFill>
                            <a:srgbClr val="1B2430"/>
                          </a:solidFill>
                          <a:latin typeface="Calibri"/>
                        </a:rPr>
                        <a:t>80 GB HBM2e, ~2 TB/s</a:t>
                      </a:r>
                    </a:p>
                  </a:txBody>
                  <a:tcPr>
                    <a:solidFill>
                      <a:srgbClr val="FFFFFF"/>
                    </a:solidFill>
                  </a:tcPr>
                </a:tc>
                <a:tc>
                  <a:txBody>
                    <a:bodyPr/>
                    <a:lstStyle/>
                    <a:p>
                      <a:r>
                        <a:rPr sz="1400" b="0">
                          <a:solidFill>
                            <a:srgbClr val="1B2430"/>
                          </a:solidFill>
                          <a:latin typeface="Calibri"/>
                        </a:rPr>
                        <a:t>400 W</a:t>
                      </a:r>
                    </a:p>
                  </a:txBody>
                  <a:tcPr>
                    <a:solidFill>
                      <a:srgbClr val="FFFFFF"/>
                    </a:solidFill>
                  </a:tcPr>
                </a:tc>
                <a:tc>
                  <a:txBody>
                    <a:bodyPr/>
                    <a:lstStyle/>
                    <a:p>
                      <a:r>
                        <a:rPr sz="1400" b="0">
                          <a:solidFill>
                            <a:srgbClr val="1B2430"/>
                          </a:solidFill>
                          <a:latin typeface="Calibri"/>
                        </a:rPr>
                        <a:t>O'qitish, katta modellar</a:t>
                      </a:r>
                    </a:p>
                  </a:txBody>
                  <a:tcPr>
                    <a:solidFill>
                      <a:srgbClr val="FFFFFF"/>
                    </a:solidFill>
                  </a:tcPr>
                </a:tc>
              </a:tr>
              <a:tr h="520000">
                <a:tc>
                  <a:txBody>
                    <a:bodyPr/>
                    <a:lstStyle/>
                    <a:p>
                      <a:r>
                        <a:rPr sz="1400" b="0">
                          <a:solidFill>
                            <a:srgbClr val="1B2430"/>
                          </a:solidFill>
                          <a:latin typeface="Calibri"/>
                        </a:rPr>
                        <a:t>O'qitish serveri</a:t>
                      </a:r>
                    </a:p>
                  </a:txBody>
                  <a:tcPr>
                    <a:solidFill>
                      <a:srgbClr val="F1F4F8"/>
                    </a:solidFill>
                  </a:tcPr>
                </a:tc>
                <a:tc>
                  <a:txBody>
                    <a:bodyPr/>
                    <a:lstStyle/>
                    <a:p>
                      <a:r>
                        <a:rPr sz="1400" b="0">
                          <a:solidFill>
                            <a:srgbClr val="1B2430"/>
                          </a:solidFill>
                          <a:latin typeface="Calibri"/>
                        </a:rPr>
                        <a:t>NVIDIA H100 SXM</a:t>
                      </a:r>
                    </a:p>
                  </a:txBody>
                  <a:tcPr>
                    <a:solidFill>
                      <a:srgbClr val="F1F4F8"/>
                    </a:solidFill>
                  </a:tcPr>
                </a:tc>
                <a:tc>
                  <a:txBody>
                    <a:bodyPr/>
                    <a:lstStyle/>
                    <a:p>
                      <a:r>
                        <a:rPr sz="1400" b="0">
                          <a:solidFill>
                            <a:srgbClr val="1B2430"/>
                          </a:solidFill>
                          <a:latin typeface="Calibri"/>
                        </a:rPr>
                        <a:t>~990 TFLOPS FP16 (zich)</a:t>
                      </a:r>
                    </a:p>
                  </a:txBody>
                  <a:tcPr>
                    <a:solidFill>
                      <a:srgbClr val="F1F4F8"/>
                    </a:solidFill>
                  </a:tcPr>
                </a:tc>
                <a:tc>
                  <a:txBody>
                    <a:bodyPr/>
                    <a:lstStyle/>
                    <a:p>
                      <a:r>
                        <a:rPr sz="1400" b="0">
                          <a:solidFill>
                            <a:srgbClr val="1B2430"/>
                          </a:solidFill>
                          <a:latin typeface="Calibri"/>
                        </a:rPr>
                        <a:t>80 GB HBM3, 3,35 TB/s</a:t>
                      </a:r>
                    </a:p>
                  </a:txBody>
                  <a:tcPr>
                    <a:solidFill>
                      <a:srgbClr val="F1F4F8"/>
                    </a:solidFill>
                  </a:tcPr>
                </a:tc>
                <a:tc>
                  <a:txBody>
                    <a:bodyPr/>
                    <a:lstStyle/>
                    <a:p>
                      <a:r>
                        <a:rPr sz="1400" b="0">
                          <a:solidFill>
                            <a:srgbClr val="1B2430"/>
                          </a:solidFill>
                          <a:latin typeface="Calibri"/>
                        </a:rPr>
                        <a:t>700 W</a:t>
                      </a:r>
                    </a:p>
                  </a:txBody>
                  <a:tcPr>
                    <a:solidFill>
                      <a:srgbClr val="F1F4F8"/>
                    </a:solidFill>
                  </a:tcPr>
                </a:tc>
                <a:tc>
                  <a:txBody>
                    <a:bodyPr/>
                    <a:lstStyle/>
                    <a:p>
                      <a:r>
                        <a:rPr sz="1400" b="0">
                          <a:solidFill>
                            <a:srgbClr val="1B2430"/>
                          </a:solidFill>
                          <a:latin typeface="Calibri"/>
                        </a:rPr>
                        <a:t>LLM o'qitish va inferens</a:t>
                      </a:r>
                    </a:p>
                  </a:txBody>
                  <a:tcPr>
                    <a:solidFill>
                      <a:srgbClr val="F1F4F8"/>
                    </a:solidFill>
                  </a:tcPr>
                </a:tc>
              </a:tr>
              <a:tr h="520000">
                <a:tc>
                  <a:txBody>
                    <a:bodyPr/>
                    <a:lstStyle/>
                    <a:p>
                      <a:r>
                        <a:rPr sz="1400" b="0">
                          <a:solidFill>
                            <a:srgbClr val="1B2430"/>
                          </a:solidFill>
                          <a:latin typeface="Calibri"/>
                        </a:rPr>
                        <a:t>Bulut tezlatkichi</a:t>
                      </a:r>
                    </a:p>
                  </a:txBody>
                  <a:tcPr>
                    <a:solidFill>
                      <a:srgbClr val="FFFFFF"/>
                    </a:solidFill>
                  </a:tcPr>
                </a:tc>
                <a:tc>
                  <a:txBody>
                    <a:bodyPr/>
                    <a:lstStyle/>
                    <a:p>
                      <a:r>
                        <a:rPr sz="1400" b="0">
                          <a:solidFill>
                            <a:srgbClr val="1B2430"/>
                          </a:solidFill>
                          <a:latin typeface="Calibri"/>
                        </a:rPr>
                        <a:t>Google TPU v5e</a:t>
                      </a:r>
                    </a:p>
                  </a:txBody>
                  <a:tcPr>
                    <a:solidFill>
                      <a:srgbClr val="FFFFFF"/>
                    </a:solidFill>
                  </a:tcPr>
                </a:tc>
                <a:tc>
                  <a:txBody>
                    <a:bodyPr/>
                    <a:lstStyle/>
                    <a:p>
                      <a:r>
                        <a:rPr sz="1400" b="0">
                          <a:solidFill>
                            <a:srgbClr val="1B2430"/>
                          </a:solidFill>
                          <a:latin typeface="Calibri"/>
                        </a:rPr>
                        <a:t>197 TFLOPS BF16</a:t>
                      </a:r>
                    </a:p>
                  </a:txBody>
                  <a:tcPr>
                    <a:solidFill>
                      <a:srgbClr val="FFFFFF"/>
                    </a:solidFill>
                  </a:tcPr>
                </a:tc>
                <a:tc>
                  <a:txBody>
                    <a:bodyPr/>
                    <a:lstStyle/>
                    <a:p>
                      <a:r>
                        <a:rPr sz="1400" b="0">
                          <a:solidFill>
                            <a:srgbClr val="1B2430"/>
                          </a:solidFill>
                          <a:latin typeface="Calibri"/>
                        </a:rPr>
                        <a:t>16 GB HBM2, 819 GB/s</a:t>
                      </a:r>
                    </a:p>
                  </a:txBody>
                  <a:tcPr>
                    <a:solidFill>
                      <a:srgbClr val="FFFFFF"/>
                    </a:solidFill>
                  </a:tcPr>
                </a:tc>
                <a:tc>
                  <a:txBody>
                    <a:bodyPr/>
                    <a:lstStyle/>
                    <a:p>
                      <a:r>
                        <a:rPr sz="1400" b="0">
                          <a:solidFill>
                            <a:srgbClr val="1B2430"/>
                          </a:solidFill>
                          <a:latin typeface="Calibri"/>
                        </a:rPr>
                        <a:t>—</a:t>
                      </a:r>
                    </a:p>
                  </a:txBody>
                  <a:tcPr>
                    <a:solidFill>
                      <a:srgbClr val="FFFFFF"/>
                    </a:solidFill>
                  </a:tcPr>
                </a:tc>
                <a:tc>
                  <a:txBody>
                    <a:bodyPr/>
                    <a:lstStyle/>
                    <a:p>
                      <a:r>
                        <a:rPr sz="1400" b="0">
                          <a:solidFill>
                            <a:srgbClr val="1B2430"/>
                          </a:solidFill>
                          <a:latin typeface="Calibri"/>
                        </a:rPr>
                        <a:t>Bulutda o'qitish/inferens</a:t>
                      </a:r>
                    </a:p>
                  </a:txBody>
                  <a:tcPr>
                    <a:solidFill>
                      <a:srgbClr val="FFFFFF"/>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Sun'iy intellektga asoslangan hisoblash platformalari (davomi)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 · Sun'iy intellektga asoslangan kompyuter tizimlari injiniringi: arxitektura va loyihalash tamoyillari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12</a:t>
            </a:r>
          </a:p>
        </p:txBody>
      </p:sp>
      <p:graphicFrame>
        <p:nvGraphicFramePr>
          <p:cNvPr id="10" name="Table 9"/>
          <p:cNvGraphicFramePr>
            <a:graphicFrameLocks noGrp="1"/>
          </p:cNvGraphicFramePr>
          <p:nvPr/>
        </p:nvGraphicFramePr>
        <p:xfrm>
          <a:off x="500000" y="1350000"/>
          <a:ext cx="11200000" cy="1040000"/>
        </p:xfrm>
        <a:graphic>
          <a:graphicData uri="http://schemas.openxmlformats.org/drawingml/2006/table">
            <a:tbl>
              <a:tblPr firstRow="1" bandRow="1">
                <a:tableStyleId>{5C22544A-7EE6-4342-B048-85BDC9FD1C3A}</a:tableStyleId>
              </a:tblPr>
              <a:tblGrid>
                <a:gridCol w="1866666"/>
                <a:gridCol w="1866666"/>
                <a:gridCol w="1866666"/>
                <a:gridCol w="1866666"/>
                <a:gridCol w="1866666"/>
                <a:gridCol w="1866670"/>
              </a:tblGrid>
              <a:tr h="520000">
                <a:tc>
                  <a:txBody>
                    <a:bodyPr/>
                    <a:lstStyle/>
                    <a:p>
                      <a:r>
                        <a:rPr sz="1400" b="1">
                          <a:solidFill>
                            <a:srgbClr val="FFFFFF"/>
                          </a:solidFill>
                          <a:latin typeface="Calibri"/>
                        </a:rPr>
                        <a:t>Platforma sinfi</a:t>
                      </a:r>
                    </a:p>
                  </a:txBody>
                  <a:tcPr>
                    <a:solidFill>
                      <a:srgbClr val="2D5C8F"/>
                    </a:solidFill>
                  </a:tcPr>
                </a:tc>
                <a:tc>
                  <a:txBody>
                    <a:bodyPr/>
                    <a:lstStyle/>
                    <a:p>
                      <a:r>
                        <a:rPr sz="1400" b="1">
                          <a:solidFill>
                            <a:srgbClr val="FFFFFF"/>
                          </a:solidFill>
                          <a:latin typeface="Calibri"/>
                        </a:rPr>
                        <a:t>Tipik vakil</a:t>
                      </a:r>
                    </a:p>
                  </a:txBody>
                  <a:tcPr>
                    <a:solidFill>
                      <a:srgbClr val="2D5C8F"/>
                    </a:solidFill>
                  </a:tcPr>
                </a:tc>
                <a:tc>
                  <a:txBody>
                    <a:bodyPr/>
                    <a:lstStyle/>
                    <a:p>
                      <a:r>
                        <a:rPr sz="1400" b="1">
                          <a:solidFill>
                            <a:srgbClr val="FFFFFF"/>
                          </a:solidFill>
                          <a:latin typeface="Calibri"/>
                        </a:rPr>
                        <a:t>Hisoblash quvvati (taxm.)</a:t>
                      </a:r>
                    </a:p>
                  </a:txBody>
                  <a:tcPr>
                    <a:solidFill>
                      <a:srgbClr val="2D5C8F"/>
                    </a:solidFill>
                  </a:tcPr>
                </a:tc>
                <a:tc>
                  <a:txBody>
                    <a:bodyPr/>
                    <a:lstStyle/>
                    <a:p>
                      <a:r>
                        <a:rPr sz="1400" b="1">
                          <a:solidFill>
                            <a:srgbClr val="FFFFFF"/>
                          </a:solidFill>
                          <a:latin typeface="Calibri"/>
                        </a:rPr>
                        <a:t>Xotira</a:t>
                      </a:r>
                    </a:p>
                  </a:txBody>
                  <a:tcPr>
                    <a:solidFill>
                      <a:srgbClr val="2D5C8F"/>
                    </a:solidFill>
                  </a:tcPr>
                </a:tc>
                <a:tc>
                  <a:txBody>
                    <a:bodyPr/>
                    <a:lstStyle/>
                    <a:p>
                      <a:r>
                        <a:rPr sz="1400" b="1">
                          <a:solidFill>
                            <a:srgbClr val="FFFFFF"/>
                          </a:solidFill>
                          <a:latin typeface="Calibri"/>
                        </a:rPr>
                        <a:t>Energiya</a:t>
                      </a:r>
                    </a:p>
                  </a:txBody>
                  <a:tcPr>
                    <a:solidFill>
                      <a:srgbClr val="2D5C8F"/>
                    </a:solidFill>
                  </a:tcPr>
                </a:tc>
                <a:tc>
                  <a:txBody>
                    <a:bodyPr/>
                    <a:lstStyle/>
                    <a:p>
                      <a:r>
                        <a:rPr sz="1400" b="1">
                          <a:solidFill>
                            <a:srgbClr val="FFFFFF"/>
                          </a:solidFill>
                          <a:latin typeface="Calibri"/>
                        </a:rPr>
                        <a:t>Odatiy vazifa</a:t>
                      </a:r>
                    </a:p>
                  </a:txBody>
                  <a:tcPr>
                    <a:solidFill>
                      <a:srgbClr val="2D5C8F"/>
                    </a:solidFill>
                  </a:tcPr>
                </a:tc>
              </a:tr>
              <a:tr h="520000">
                <a:tc>
                  <a:txBody>
                    <a:bodyPr/>
                    <a:lstStyle/>
                    <a:p>
                      <a:r>
                        <a:rPr sz="1400" b="0">
                          <a:solidFill>
                            <a:srgbClr val="1B2430"/>
                          </a:solidFill>
                          <a:latin typeface="Calibri"/>
                        </a:rPr>
                        <a:t>Bulut tezlatkichi</a:t>
                      </a:r>
                    </a:p>
                  </a:txBody>
                  <a:tcPr>
                    <a:solidFill>
                      <a:srgbClr val="F1F4F8"/>
                    </a:solidFill>
                  </a:tcPr>
                </a:tc>
                <a:tc>
                  <a:txBody>
                    <a:bodyPr/>
                    <a:lstStyle/>
                    <a:p>
                      <a:r>
                        <a:rPr sz="1400" b="0">
                          <a:solidFill>
                            <a:srgbClr val="1B2430"/>
                          </a:solidFill>
                          <a:latin typeface="Calibri"/>
                        </a:rPr>
                        <a:t>Intel Gaudi 3</a:t>
                      </a:r>
                    </a:p>
                  </a:txBody>
                  <a:tcPr>
                    <a:solidFill>
                      <a:srgbClr val="F1F4F8"/>
                    </a:solidFill>
                  </a:tcPr>
                </a:tc>
                <a:tc>
                  <a:txBody>
                    <a:bodyPr/>
                    <a:lstStyle/>
                    <a:p>
                      <a:r>
                        <a:rPr sz="1400" b="0">
                          <a:solidFill>
                            <a:srgbClr val="1B2430"/>
                          </a:solidFill>
                          <a:latin typeface="Calibri"/>
                        </a:rPr>
                        <a:t>~1,8 PFLOPS FP8</a:t>
                      </a:r>
                    </a:p>
                  </a:txBody>
                  <a:tcPr>
                    <a:solidFill>
                      <a:srgbClr val="F1F4F8"/>
                    </a:solidFill>
                  </a:tcPr>
                </a:tc>
                <a:tc>
                  <a:txBody>
                    <a:bodyPr/>
                    <a:lstStyle/>
                    <a:p>
                      <a:r>
                        <a:rPr sz="1400" b="0">
                          <a:solidFill>
                            <a:srgbClr val="1B2430"/>
                          </a:solidFill>
                          <a:latin typeface="Calibri"/>
                        </a:rPr>
                        <a:t>128 GB HBM2e, 3,7 TB/s</a:t>
                      </a:r>
                    </a:p>
                  </a:txBody>
                  <a:tcPr>
                    <a:solidFill>
                      <a:srgbClr val="F1F4F8"/>
                    </a:solidFill>
                  </a:tcPr>
                </a:tc>
                <a:tc>
                  <a:txBody>
                    <a:bodyPr/>
                    <a:lstStyle/>
                    <a:p>
                      <a:r>
                        <a:rPr sz="1400" b="0">
                          <a:solidFill>
                            <a:srgbClr val="1B2430"/>
                          </a:solidFill>
                          <a:latin typeface="Calibri"/>
                        </a:rPr>
                        <a:t>~900 W</a:t>
                      </a:r>
                    </a:p>
                  </a:txBody>
                  <a:tcPr>
                    <a:solidFill>
                      <a:srgbClr val="F1F4F8"/>
                    </a:solidFill>
                  </a:tcPr>
                </a:tc>
                <a:tc>
                  <a:txBody>
                    <a:bodyPr/>
                    <a:lstStyle/>
                    <a:p>
                      <a:r>
                        <a:rPr sz="1400" b="0">
                          <a:solidFill>
                            <a:srgbClr val="1B2430"/>
                          </a:solidFill>
                          <a:latin typeface="Calibri"/>
                        </a:rPr>
                        <a:t>LLM o'qitish</a:t>
                      </a:r>
                    </a:p>
                  </a:txBody>
                  <a:tcPr>
                    <a:solidFill>
                      <a:srgbClr val="F1F4F8"/>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AI-enabled computer systems arxitekturasi (1)</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 · Sun'iy intellektga asoslangan kompyuter tizimlari injiniringi: arxitektura va loyihalash tamoyillari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13</a:t>
            </a:r>
          </a:p>
        </p:txBody>
      </p:sp>
      <p:sp>
        <p:nvSpPr>
          <p:cNvPr id="10" name="Rounded Rectangle 9"/>
          <p:cNvSpPr/>
          <p:nvPr/>
        </p:nvSpPr>
        <p:spPr>
          <a:xfrm>
            <a:off x="550000" y="1300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300000"/>
            <a:ext cx="70000" cy="894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1517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300000"/>
            <a:ext cx="10050000" cy="894000"/>
          </a:xfrm>
          <a:prstGeom prst="rect">
            <a:avLst/>
          </a:prstGeom>
          <a:noFill/>
        </p:spPr>
        <p:txBody>
          <a:bodyPr wrap="square" anchor="ctr" lIns="50800" rIns="50800">
            <a:spAutoFit/>
          </a:bodyPr>
          <a:lstStyle/>
          <a:p>
            <a:pPr algn="l"/>
            <a:r>
              <a:rPr sz="1400" b="0">
                <a:solidFill>
                  <a:srgbClr val="1B2430"/>
                </a:solidFill>
                <a:latin typeface="Calibri"/>
              </a:rPr>
              <a:t>AI-enabled kompyuter tizimi — bu funksionalligining muhim qismi o'qitilgan model orqali amalga oshiriladigan tizim.</a:t>
            </a:r>
          </a:p>
        </p:txBody>
      </p:sp>
      <p:sp>
        <p:nvSpPr>
          <p:cNvPr id="14" name="Rounded Rectangle 13"/>
          <p:cNvSpPr/>
          <p:nvPr/>
        </p:nvSpPr>
        <p:spPr>
          <a:xfrm>
            <a:off x="550000" y="2314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314000"/>
            <a:ext cx="70000" cy="894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2531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314000"/>
            <a:ext cx="10050000" cy="894000"/>
          </a:xfrm>
          <a:prstGeom prst="rect">
            <a:avLst/>
          </a:prstGeom>
          <a:noFill/>
        </p:spPr>
        <p:txBody>
          <a:bodyPr wrap="square" anchor="ctr" lIns="50800" rIns="50800">
            <a:spAutoFit/>
          </a:bodyPr>
          <a:lstStyle/>
          <a:p>
            <a:pPr algn="l"/>
            <a:r>
              <a:rPr sz="1400" b="0">
                <a:solidFill>
                  <a:srgbClr val="1B2430"/>
                </a:solidFill>
                <a:latin typeface="Calibri"/>
              </a:rPr>
              <a:t>Ma'lumot qabul qilish qatlami (ingestion) — sensorlar, kameralar, jurnallar, foydalanuvchi so'rovlari. Bu yerda protokollar (RTSP, MQTT, HTTP/gRPC), kodeklar (H.264/H.265) va buferlash hal…</a:t>
            </a:r>
          </a:p>
        </p:txBody>
      </p:sp>
      <p:sp>
        <p:nvSpPr>
          <p:cNvPr id="18" name="Rounded Rectangle 17"/>
          <p:cNvSpPr/>
          <p:nvPr/>
        </p:nvSpPr>
        <p:spPr>
          <a:xfrm>
            <a:off x="550000" y="3328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3328000"/>
            <a:ext cx="70000" cy="894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354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3328000"/>
            <a:ext cx="10050000" cy="894000"/>
          </a:xfrm>
          <a:prstGeom prst="rect">
            <a:avLst/>
          </a:prstGeom>
          <a:noFill/>
        </p:spPr>
        <p:txBody>
          <a:bodyPr wrap="square" anchor="ctr" lIns="50800" rIns="50800">
            <a:spAutoFit/>
          </a:bodyPr>
          <a:lstStyle/>
          <a:p>
            <a:pPr algn="l"/>
            <a:r>
              <a:rPr sz="1400" b="0">
                <a:solidFill>
                  <a:srgbClr val="1B2430"/>
                </a:solidFill>
                <a:latin typeface="Calibri"/>
              </a:rPr>
              <a:t>Oldindan ishlov berish qatlami (preprocessing) — dekodlash, o'lchamini o'zgartirish, normallashtirish, tokenlashtirish. Ko'pincha e'tibordan chetda qoladi, lekin video tizimlarida dekodlash…</a:t>
            </a:r>
          </a:p>
        </p:txBody>
      </p:sp>
      <p:sp>
        <p:nvSpPr>
          <p:cNvPr id="22" name="Rounded Rectangle 21"/>
          <p:cNvSpPr/>
          <p:nvPr/>
        </p:nvSpPr>
        <p:spPr>
          <a:xfrm>
            <a:off x="550000" y="4342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50000" y="4342000"/>
            <a:ext cx="70000" cy="894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0000" y="45590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5" name="TextBox 24"/>
          <p:cNvSpPr txBox="1"/>
          <p:nvPr/>
        </p:nvSpPr>
        <p:spPr>
          <a:xfrm>
            <a:off x="1450000" y="4342000"/>
            <a:ext cx="10050000" cy="894000"/>
          </a:xfrm>
          <a:prstGeom prst="rect">
            <a:avLst/>
          </a:prstGeom>
          <a:noFill/>
        </p:spPr>
        <p:txBody>
          <a:bodyPr wrap="square" anchor="ctr" lIns="50800" rIns="50800">
            <a:spAutoFit/>
          </a:bodyPr>
          <a:lstStyle/>
          <a:p>
            <a:pPr algn="l"/>
            <a:r>
              <a:rPr sz="1400" b="0">
                <a:solidFill>
                  <a:srgbClr val="1B2430"/>
                </a:solidFill>
                <a:latin typeface="Calibri"/>
              </a:rPr>
              <a:t>Inferens qatlami — modelning o'zi va uni bajaruvchi ish vaqti muhiti (PyTorch, ONNX Runtime, TensorRT, OpenVINO). Bu qatlam tezlatkich bilan bevosita ishlaydi.</a:t>
            </a:r>
          </a:p>
        </p:txBody>
      </p:sp>
      <p:sp>
        <p:nvSpPr>
          <p:cNvPr id="26" name="Rounded Rectangle 25"/>
          <p:cNvSpPr/>
          <p:nvPr/>
        </p:nvSpPr>
        <p:spPr>
          <a:xfrm>
            <a:off x="550000" y="5356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0000" y="5356000"/>
            <a:ext cx="70000" cy="894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0000" y="5573000"/>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5</a:t>
            </a:r>
          </a:p>
        </p:txBody>
      </p:sp>
      <p:sp>
        <p:nvSpPr>
          <p:cNvPr id="29" name="TextBox 28"/>
          <p:cNvSpPr txBox="1"/>
          <p:nvPr/>
        </p:nvSpPr>
        <p:spPr>
          <a:xfrm>
            <a:off x="1450000" y="5356000"/>
            <a:ext cx="10050000" cy="894000"/>
          </a:xfrm>
          <a:prstGeom prst="rect">
            <a:avLst/>
          </a:prstGeom>
          <a:noFill/>
        </p:spPr>
        <p:txBody>
          <a:bodyPr wrap="square" anchor="ctr" lIns="50800" rIns="50800">
            <a:spAutoFit/>
          </a:bodyPr>
          <a:lstStyle/>
          <a:p>
            <a:pPr algn="l"/>
            <a:r>
              <a:rPr sz="1400" b="0">
                <a:solidFill>
                  <a:srgbClr val="1B2430"/>
                </a:solidFill>
                <a:latin typeface="Calibri"/>
              </a:rPr>
              <a:t>Orkestratsiya va biznes mantiq qatlami — natijalarni birlashtirish, qoidalar, kuzatish (tracking), hodisalarni yaratish, saqlash, boshqa tizimlarga uzatish.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anim calcmode="lin" valueType="num">
                                      <p:cBhvr additive="base">
                                        <p:cTn id="83" dur="550" fill="hold"/>
                                        <p:tgtEl>
                                          <p:spTgt spid="22"/>
                                        </p:tgtEl>
                                        <p:attrNameLst>
                                          <p:attrName>ppt_x</p:attrName>
                                        </p:attrNameLst>
                                      </p:cBhvr>
                                      <p:tavLst>
                                        <p:tav tm="0">
                                          <p:val>
                                            <p:strVal val="#ppt_x"/>
                                          </p:val>
                                        </p:tav>
                                        <p:tav tm="100000">
                                          <p:val>
                                            <p:strVal val="#ppt_x"/>
                                          </p:val>
                                        </p:tav>
                                      </p:tavLst>
                                    </p:anim>
                                    <p:anim calcmode="lin" valueType="num">
                                      <p:cBhvr additive="base">
                                        <p:cTn id="84" dur="550" fill="hold"/>
                                        <p:tgtEl>
                                          <p:spTgt spid="22"/>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550"/>
                                        <p:tgtEl>
                                          <p:spTgt spid="23"/>
                                        </p:tgtEl>
                                      </p:cBhvr>
                                    </p:animEffect>
                                    <p:anim calcmode="lin" valueType="num">
                                      <p:cBhvr additive="base">
                                        <p:cTn id="89" dur="550" fill="hold"/>
                                        <p:tgtEl>
                                          <p:spTgt spid="23"/>
                                        </p:tgtEl>
                                        <p:attrNameLst>
                                          <p:attrName>ppt_x</p:attrName>
                                        </p:attrNameLst>
                                      </p:cBhvr>
                                      <p:tavLst>
                                        <p:tav tm="0">
                                          <p:val>
                                            <p:strVal val="#ppt_x"/>
                                          </p:val>
                                        </p:tav>
                                        <p:tav tm="100000">
                                          <p:val>
                                            <p:strVal val="#ppt_x"/>
                                          </p:val>
                                        </p:tav>
                                      </p:tavLst>
                                    </p:anim>
                                    <p:anim calcmode="lin" valueType="num">
                                      <p:cBhvr additive="base">
                                        <p:cTn id="90" dur="550" fill="hold"/>
                                        <p:tgtEl>
                                          <p:spTgt spid="23"/>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50"/>
                                        <p:tgtEl>
                                          <p:spTgt spid="24"/>
                                        </p:tgtEl>
                                      </p:cBhvr>
                                    </p:animEffect>
                                    <p:anim calcmode="lin" valueType="num">
                                      <p:cBhvr additive="base">
                                        <p:cTn id="95" dur="550" fill="hold"/>
                                        <p:tgtEl>
                                          <p:spTgt spid="24"/>
                                        </p:tgtEl>
                                        <p:attrNameLst>
                                          <p:attrName>ppt_w</p:attrName>
                                        </p:attrNameLst>
                                      </p:cBhvr>
                                      <p:tavLst>
                                        <p:tav tm="0">
                                          <p:val>
                                            <p:strVal val="0"/>
                                          </p:val>
                                        </p:tav>
                                        <p:tav tm="100000">
                                          <p:val>
                                            <p:strVal val="#ppt_w"/>
                                          </p:val>
                                        </p:tav>
                                      </p:tavLst>
                                    </p:anim>
                                    <p:anim calcmode="lin" valueType="num">
                                      <p:cBhvr additive="base">
                                        <p:cTn id="96" dur="550" fill="hold"/>
                                        <p:tgtEl>
                                          <p:spTgt spid="24"/>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550"/>
                                        <p:tgtEl>
                                          <p:spTgt spid="25"/>
                                        </p:tgtEl>
                                      </p:cBhvr>
                                    </p:animEffect>
                                    <p:anim calcmode="lin" valueType="num">
                                      <p:cBhvr additive="base">
                                        <p:cTn id="101" dur="550" fill="hold"/>
                                        <p:tgtEl>
                                          <p:spTgt spid="25"/>
                                        </p:tgtEl>
                                        <p:attrNameLst>
                                          <p:attrName>ppt_x</p:attrName>
                                        </p:attrNameLst>
                                      </p:cBhvr>
                                      <p:tavLst>
                                        <p:tav tm="0">
                                          <p:val>
                                            <p:strVal val="#ppt_x"/>
                                          </p:val>
                                        </p:tav>
                                        <p:tav tm="100000">
                                          <p:val>
                                            <p:strVal val="#ppt_x"/>
                                          </p:val>
                                        </p:tav>
                                      </p:tavLst>
                                    </p:anim>
                                    <p:anim calcmode="lin" valueType="num">
                                      <p:cBhvr additive="base">
                                        <p:cTn id="102" dur="550" fill="hold"/>
                                        <p:tgtEl>
                                          <p:spTgt spid="25"/>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6"/>
                                        </p:tgtEl>
                                        <p:attrNameLst>
                                          <p:attrName>style.visibility</p:attrName>
                                        </p:attrNameLst>
                                      </p:cBhvr>
                                      <p:to>
                                        <p:strVal val="visible"/>
                                      </p:to>
                                    </p:set>
                                    <p:animEffect transition="in" filter="fade">
                                      <p:cBhvr>
                                        <p:cTn id="106" dur="550"/>
                                        <p:tgtEl>
                                          <p:spTgt spid="26"/>
                                        </p:tgtEl>
                                      </p:cBhvr>
                                    </p:animEffect>
                                    <p:anim calcmode="lin" valueType="num">
                                      <p:cBhvr additive="base">
                                        <p:cTn id="107" dur="550" fill="hold"/>
                                        <p:tgtEl>
                                          <p:spTgt spid="26"/>
                                        </p:tgtEl>
                                        <p:attrNameLst>
                                          <p:attrName>ppt_x</p:attrName>
                                        </p:attrNameLst>
                                      </p:cBhvr>
                                      <p:tavLst>
                                        <p:tav tm="0">
                                          <p:val>
                                            <p:strVal val="#ppt_x"/>
                                          </p:val>
                                        </p:tav>
                                        <p:tav tm="100000">
                                          <p:val>
                                            <p:strVal val="#ppt_x"/>
                                          </p:val>
                                        </p:tav>
                                      </p:tavLst>
                                    </p:anim>
                                    <p:anim calcmode="lin" valueType="num">
                                      <p:cBhvr additive="base">
                                        <p:cTn id="108" dur="550" fill="hold"/>
                                        <p:tgtEl>
                                          <p:spTgt spid="26"/>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7"/>
                                        </p:tgtEl>
                                        <p:attrNameLst>
                                          <p:attrName>style.visibility</p:attrName>
                                        </p:attrNameLst>
                                      </p:cBhvr>
                                      <p:to>
                                        <p:strVal val="visible"/>
                                      </p:to>
                                    </p:set>
                                    <p:animEffect transition="in" filter="fade">
                                      <p:cBhvr>
                                        <p:cTn id="112" dur="550"/>
                                        <p:tgtEl>
                                          <p:spTgt spid="27"/>
                                        </p:tgtEl>
                                      </p:cBhvr>
                                    </p:animEffect>
                                    <p:anim calcmode="lin" valueType="num">
                                      <p:cBhvr additive="base">
                                        <p:cTn id="113" dur="550" fill="hold"/>
                                        <p:tgtEl>
                                          <p:spTgt spid="27"/>
                                        </p:tgtEl>
                                        <p:attrNameLst>
                                          <p:attrName>ppt_x</p:attrName>
                                        </p:attrNameLst>
                                      </p:cBhvr>
                                      <p:tavLst>
                                        <p:tav tm="0">
                                          <p:val>
                                            <p:strVal val="#ppt_x"/>
                                          </p:val>
                                        </p:tav>
                                        <p:tav tm="100000">
                                          <p:val>
                                            <p:strVal val="#ppt_x"/>
                                          </p:val>
                                        </p:tav>
                                      </p:tavLst>
                                    </p:anim>
                                    <p:anim calcmode="lin" valueType="num">
                                      <p:cBhvr additive="base">
                                        <p:cTn id="114" dur="550" fill="hold"/>
                                        <p:tgtEl>
                                          <p:spTgt spid="27"/>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8"/>
                                        </p:tgtEl>
                                        <p:attrNameLst>
                                          <p:attrName>style.visibility</p:attrName>
                                        </p:attrNameLst>
                                      </p:cBhvr>
                                      <p:to>
                                        <p:strVal val="visible"/>
                                      </p:to>
                                    </p:set>
                                    <p:animEffect transition="in" filter="fade">
                                      <p:cBhvr>
                                        <p:cTn id="118" dur="550"/>
                                        <p:tgtEl>
                                          <p:spTgt spid="28"/>
                                        </p:tgtEl>
                                      </p:cBhvr>
                                    </p:animEffect>
                                    <p:anim calcmode="lin" valueType="num">
                                      <p:cBhvr additive="base">
                                        <p:cTn id="119" dur="550" fill="hold"/>
                                        <p:tgtEl>
                                          <p:spTgt spid="28"/>
                                        </p:tgtEl>
                                        <p:attrNameLst>
                                          <p:attrName>ppt_w</p:attrName>
                                        </p:attrNameLst>
                                      </p:cBhvr>
                                      <p:tavLst>
                                        <p:tav tm="0">
                                          <p:val>
                                            <p:strVal val="0"/>
                                          </p:val>
                                        </p:tav>
                                        <p:tav tm="100000">
                                          <p:val>
                                            <p:strVal val="#ppt_w"/>
                                          </p:val>
                                        </p:tav>
                                      </p:tavLst>
                                    </p:anim>
                                    <p:anim calcmode="lin" valueType="num">
                                      <p:cBhvr additive="base">
                                        <p:cTn id="120" dur="550" fill="hold"/>
                                        <p:tgtEl>
                                          <p:spTgt spid="28"/>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9"/>
                                        </p:tgtEl>
                                        <p:attrNameLst>
                                          <p:attrName>style.visibility</p:attrName>
                                        </p:attrNameLst>
                                      </p:cBhvr>
                                      <p:to>
                                        <p:strVal val="visible"/>
                                      </p:to>
                                    </p:set>
                                    <p:animEffect transition="in" filter="fade">
                                      <p:cBhvr>
                                        <p:cTn id="124" dur="550"/>
                                        <p:tgtEl>
                                          <p:spTgt spid="29"/>
                                        </p:tgtEl>
                                      </p:cBhvr>
                                    </p:animEffect>
                                    <p:anim calcmode="lin" valueType="num">
                                      <p:cBhvr additive="base">
                                        <p:cTn id="125" dur="550" fill="hold"/>
                                        <p:tgtEl>
                                          <p:spTgt spid="29"/>
                                        </p:tgtEl>
                                        <p:attrNameLst>
                                          <p:attrName>ppt_x</p:attrName>
                                        </p:attrNameLst>
                                      </p:cBhvr>
                                      <p:tavLst>
                                        <p:tav tm="0">
                                          <p:val>
                                            <p:strVal val="#ppt_x"/>
                                          </p:val>
                                        </p:tav>
                                        <p:tav tm="100000">
                                          <p:val>
                                            <p:strVal val="#ppt_x"/>
                                          </p:val>
                                        </p:tav>
                                      </p:tavLst>
                                    </p:anim>
                                    <p:anim calcmode="lin" valueType="num">
                                      <p:cBhvr additive="base">
                                        <p:cTn id="126" dur="550" fill="hold"/>
                                        <p:tgtEl>
                                          <p:spTgt spid="29"/>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AI-enabled computer systems arxitekturasi (2)</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 · Sun'iy intellektga asoslangan kompyuter tizimlari injiniringi: arxitektura va loyihalash tamoyillari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14</a:t>
            </a:r>
          </a:p>
        </p:txBody>
      </p:sp>
      <p:sp>
        <p:nvSpPr>
          <p:cNvPr id="10" name="Rounded Rectangle 9"/>
          <p:cNvSpPr/>
          <p:nvPr/>
        </p:nvSpPr>
        <p:spPr>
          <a:xfrm>
            <a:off x="550000" y="13000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300000"/>
            <a:ext cx="70000" cy="11475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1643750"/>
            <a:ext cx="460000" cy="460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6</a:t>
            </a:r>
          </a:p>
        </p:txBody>
      </p:sp>
      <p:sp>
        <p:nvSpPr>
          <p:cNvPr id="13" name="TextBox 12"/>
          <p:cNvSpPr txBox="1"/>
          <p:nvPr/>
        </p:nvSpPr>
        <p:spPr>
          <a:xfrm>
            <a:off x="1450000" y="1300000"/>
            <a:ext cx="10050000" cy="1147500"/>
          </a:xfrm>
          <a:prstGeom prst="rect">
            <a:avLst/>
          </a:prstGeom>
          <a:noFill/>
        </p:spPr>
        <p:txBody>
          <a:bodyPr wrap="square" anchor="ctr" lIns="50800" rIns="50800">
            <a:spAutoFit/>
          </a:bodyPr>
          <a:lstStyle/>
          <a:p>
            <a:pPr algn="l"/>
            <a:r>
              <a:rPr sz="1400" b="0">
                <a:solidFill>
                  <a:srgbClr val="1B2430"/>
                </a:solidFill>
                <a:latin typeface="Calibri"/>
              </a:rPr>
              <a:t>Kuzatuv va boshqaruv qatlami (observability) — metrikalar (kechikish, o'tkazuvchanlik, GPU bandligi), jurnallar, model sifati monitoringi, versiya boshqaruvi.</a:t>
            </a:r>
          </a:p>
        </p:txBody>
      </p:sp>
      <p:sp>
        <p:nvSpPr>
          <p:cNvPr id="14" name="Rounded Rectangle 13"/>
          <p:cNvSpPr/>
          <p:nvPr/>
        </p:nvSpPr>
        <p:spPr>
          <a:xfrm>
            <a:off x="550000" y="25675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567500"/>
            <a:ext cx="70000" cy="11475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291125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7</a:t>
            </a:r>
          </a:p>
        </p:txBody>
      </p:sp>
      <p:sp>
        <p:nvSpPr>
          <p:cNvPr id="17" name="TextBox 16"/>
          <p:cNvSpPr txBox="1"/>
          <p:nvPr/>
        </p:nvSpPr>
        <p:spPr>
          <a:xfrm>
            <a:off x="1450000" y="2567500"/>
            <a:ext cx="10050000" cy="1147500"/>
          </a:xfrm>
          <a:prstGeom prst="rect">
            <a:avLst/>
          </a:prstGeom>
          <a:noFill/>
        </p:spPr>
        <p:txBody>
          <a:bodyPr wrap="square" anchor="ctr" lIns="50800" rIns="50800">
            <a:spAutoFit/>
          </a:bodyPr>
          <a:lstStyle/>
          <a:p>
            <a:pPr algn="l"/>
            <a:r>
              <a:rPr sz="1400" b="0">
                <a:solidFill>
                  <a:srgbClr val="1B2430"/>
                </a:solidFill>
                <a:latin typeface="Calibri"/>
              </a:rPr>
              <a:t>Qatlamlar orasidagi interfeyslar aniq belgilanishi kerak, chunki ular apparat chegaralari bilan mos tushadi: masalan, 1-2-qatlamlar CPU va video dekoder (NVDEC) da, 3-qatlam GPU da,…</a:t>
            </a:r>
          </a:p>
        </p:txBody>
      </p:sp>
      <p:sp>
        <p:nvSpPr>
          <p:cNvPr id="18" name="Rounded Rectangle 17"/>
          <p:cNvSpPr/>
          <p:nvPr/>
        </p:nvSpPr>
        <p:spPr>
          <a:xfrm>
            <a:off x="550000" y="38350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3835000"/>
            <a:ext cx="70000" cy="11475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417875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8</a:t>
            </a:r>
          </a:p>
        </p:txBody>
      </p:sp>
      <p:sp>
        <p:nvSpPr>
          <p:cNvPr id="21" name="TextBox 20"/>
          <p:cNvSpPr txBox="1"/>
          <p:nvPr/>
        </p:nvSpPr>
        <p:spPr>
          <a:xfrm>
            <a:off x="1450000" y="3835000"/>
            <a:ext cx="10050000" cy="1147500"/>
          </a:xfrm>
          <a:prstGeom prst="rect">
            <a:avLst/>
          </a:prstGeom>
          <a:noFill/>
        </p:spPr>
        <p:txBody>
          <a:bodyPr wrap="square" anchor="ctr" lIns="50800" rIns="50800">
            <a:spAutoFit/>
          </a:bodyPr>
          <a:lstStyle/>
          <a:p>
            <a:pPr algn="l"/>
            <a:r>
              <a:rPr sz="1400" b="0">
                <a:solidFill>
                  <a:srgbClr val="1B2430"/>
                </a:solidFill>
                <a:latin typeface="Calibri"/>
              </a:rPr>
              <a:t>Arxitekturaning yana bir o'lchovi — inferens rejimi.</a:t>
            </a:r>
          </a:p>
        </p:txBody>
      </p:sp>
      <p:sp>
        <p:nvSpPr>
          <p:cNvPr id="22" name="Rounded Rectangle 21"/>
          <p:cNvSpPr/>
          <p:nvPr/>
        </p:nvSpPr>
        <p:spPr>
          <a:xfrm>
            <a:off x="550000" y="51025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50000" y="5102500"/>
            <a:ext cx="70000" cy="11475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0000" y="544625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9</a:t>
            </a:r>
          </a:p>
        </p:txBody>
      </p:sp>
      <p:sp>
        <p:nvSpPr>
          <p:cNvPr id="25" name="TextBox 24"/>
          <p:cNvSpPr txBox="1"/>
          <p:nvPr/>
        </p:nvSpPr>
        <p:spPr>
          <a:xfrm>
            <a:off x="1450000" y="5102500"/>
            <a:ext cx="10050000" cy="1147500"/>
          </a:xfrm>
          <a:prstGeom prst="rect">
            <a:avLst/>
          </a:prstGeom>
          <a:noFill/>
        </p:spPr>
        <p:txBody>
          <a:bodyPr wrap="square" anchor="ctr" lIns="50800" rIns="50800">
            <a:spAutoFit/>
          </a:bodyPr>
          <a:lstStyle/>
          <a:p>
            <a:pPr algn="l"/>
            <a:r>
              <a:rPr sz="1400" b="0">
                <a:solidFill>
                  <a:srgbClr val="1B2430"/>
                </a:solidFill>
                <a:latin typeface="Calibri"/>
              </a:rPr>
              <a:t>Ko'rsatkichlarni rasmiylashtiraylik. Agar tizim N ta kameradan har biri f kadr/soniya tezlikda ma'lumot olsa va model bitta kadr uchun C FLOP talab qilsa, zarur hisoblash quvvati P = N × f…</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anim calcmode="lin" valueType="num">
                                      <p:cBhvr additive="base">
                                        <p:cTn id="83" dur="550" fill="hold"/>
                                        <p:tgtEl>
                                          <p:spTgt spid="22"/>
                                        </p:tgtEl>
                                        <p:attrNameLst>
                                          <p:attrName>ppt_x</p:attrName>
                                        </p:attrNameLst>
                                      </p:cBhvr>
                                      <p:tavLst>
                                        <p:tav tm="0">
                                          <p:val>
                                            <p:strVal val="#ppt_x"/>
                                          </p:val>
                                        </p:tav>
                                        <p:tav tm="100000">
                                          <p:val>
                                            <p:strVal val="#ppt_x"/>
                                          </p:val>
                                        </p:tav>
                                      </p:tavLst>
                                    </p:anim>
                                    <p:anim calcmode="lin" valueType="num">
                                      <p:cBhvr additive="base">
                                        <p:cTn id="84" dur="550" fill="hold"/>
                                        <p:tgtEl>
                                          <p:spTgt spid="22"/>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550"/>
                                        <p:tgtEl>
                                          <p:spTgt spid="23"/>
                                        </p:tgtEl>
                                      </p:cBhvr>
                                    </p:animEffect>
                                    <p:anim calcmode="lin" valueType="num">
                                      <p:cBhvr additive="base">
                                        <p:cTn id="89" dur="550" fill="hold"/>
                                        <p:tgtEl>
                                          <p:spTgt spid="23"/>
                                        </p:tgtEl>
                                        <p:attrNameLst>
                                          <p:attrName>ppt_x</p:attrName>
                                        </p:attrNameLst>
                                      </p:cBhvr>
                                      <p:tavLst>
                                        <p:tav tm="0">
                                          <p:val>
                                            <p:strVal val="#ppt_x"/>
                                          </p:val>
                                        </p:tav>
                                        <p:tav tm="100000">
                                          <p:val>
                                            <p:strVal val="#ppt_x"/>
                                          </p:val>
                                        </p:tav>
                                      </p:tavLst>
                                    </p:anim>
                                    <p:anim calcmode="lin" valueType="num">
                                      <p:cBhvr additive="base">
                                        <p:cTn id="90" dur="550" fill="hold"/>
                                        <p:tgtEl>
                                          <p:spTgt spid="23"/>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50"/>
                                        <p:tgtEl>
                                          <p:spTgt spid="24"/>
                                        </p:tgtEl>
                                      </p:cBhvr>
                                    </p:animEffect>
                                    <p:anim calcmode="lin" valueType="num">
                                      <p:cBhvr additive="base">
                                        <p:cTn id="95" dur="550" fill="hold"/>
                                        <p:tgtEl>
                                          <p:spTgt spid="24"/>
                                        </p:tgtEl>
                                        <p:attrNameLst>
                                          <p:attrName>ppt_w</p:attrName>
                                        </p:attrNameLst>
                                      </p:cBhvr>
                                      <p:tavLst>
                                        <p:tav tm="0">
                                          <p:val>
                                            <p:strVal val="0"/>
                                          </p:val>
                                        </p:tav>
                                        <p:tav tm="100000">
                                          <p:val>
                                            <p:strVal val="#ppt_w"/>
                                          </p:val>
                                        </p:tav>
                                      </p:tavLst>
                                    </p:anim>
                                    <p:anim calcmode="lin" valueType="num">
                                      <p:cBhvr additive="base">
                                        <p:cTn id="96" dur="550" fill="hold"/>
                                        <p:tgtEl>
                                          <p:spTgt spid="24"/>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550"/>
                                        <p:tgtEl>
                                          <p:spTgt spid="25"/>
                                        </p:tgtEl>
                                      </p:cBhvr>
                                    </p:animEffect>
                                    <p:anim calcmode="lin" valueType="num">
                                      <p:cBhvr additive="base">
                                        <p:cTn id="101" dur="550" fill="hold"/>
                                        <p:tgtEl>
                                          <p:spTgt spid="25"/>
                                        </p:tgtEl>
                                        <p:attrNameLst>
                                          <p:attrName>ppt_x</p:attrName>
                                        </p:attrNameLst>
                                      </p:cBhvr>
                                      <p:tavLst>
                                        <p:tav tm="0">
                                          <p:val>
                                            <p:strVal val="#ppt_x"/>
                                          </p:val>
                                        </p:tav>
                                        <p:tav tm="100000">
                                          <p:val>
                                            <p:strVal val="#ppt_x"/>
                                          </p:val>
                                        </p:tav>
                                      </p:tavLst>
                                    </p:anim>
                                    <p:anim calcmode="lin" valueType="num">
                                      <p:cBhvr additive="base">
                                        <p:cTn id="102" dur="550" fill="hold"/>
                                        <p:tgtEl>
                                          <p:spTgt spid="25"/>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Apparat va dasturiy ta'minotni birgalikda loyihalash</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 · Sun'iy intellektga asoslangan kompyuter tizimlari injiniringi: arxitektura va loyihalash tamoyillari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15</a:t>
            </a:r>
          </a:p>
        </p:txBody>
      </p:sp>
      <p:sp>
        <p:nvSpPr>
          <p:cNvPr id="10" name="Rounded Rectangle 9"/>
          <p:cNvSpPr/>
          <p:nvPr/>
        </p:nvSpPr>
        <p:spPr>
          <a:xfrm>
            <a:off x="550000" y="13000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300000"/>
            <a:ext cx="70000" cy="11475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164375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300000"/>
            <a:ext cx="10050000" cy="1147500"/>
          </a:xfrm>
          <a:prstGeom prst="rect">
            <a:avLst/>
          </a:prstGeom>
          <a:noFill/>
        </p:spPr>
        <p:txBody>
          <a:bodyPr wrap="square" anchor="ctr" lIns="50800" rIns="50800">
            <a:spAutoFit/>
          </a:bodyPr>
          <a:lstStyle/>
          <a:p>
            <a:pPr algn="l"/>
            <a:r>
              <a:rPr sz="1600" b="0">
                <a:solidFill>
                  <a:srgbClr val="1B2430"/>
                </a:solidFill>
                <a:latin typeface="Calibri"/>
              </a:rPr>
              <a:t>Hardware–software co-design — tizimning apparat va dasturiy qismlarini alohida emas, balki bir vaqtning o'zida, bir-biriga moslashtirib loyihalash metodologiyasi.</a:t>
            </a:r>
          </a:p>
        </p:txBody>
      </p:sp>
      <p:sp>
        <p:nvSpPr>
          <p:cNvPr id="14" name="Rounded Rectangle 13"/>
          <p:cNvSpPr/>
          <p:nvPr/>
        </p:nvSpPr>
        <p:spPr>
          <a:xfrm>
            <a:off x="550000" y="25675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567500"/>
            <a:ext cx="70000" cy="11475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291125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567500"/>
            <a:ext cx="10050000" cy="1147500"/>
          </a:xfrm>
          <a:prstGeom prst="rect">
            <a:avLst/>
          </a:prstGeom>
          <a:noFill/>
        </p:spPr>
        <p:txBody>
          <a:bodyPr wrap="square" anchor="ctr" lIns="50800" rIns="50800">
            <a:spAutoFit/>
          </a:bodyPr>
          <a:lstStyle/>
          <a:p>
            <a:pPr algn="l"/>
            <a:r>
              <a:rPr sz="1600" b="0">
                <a:solidFill>
                  <a:srgbClr val="1B2430"/>
                </a:solidFill>
                <a:latin typeface="Calibri"/>
              </a:rPr>
              <a:t>Co-design jarayonini to'rt o'lchovli izlanish fazosi sifatida tasavvur qilish mumkin:</a:t>
            </a:r>
          </a:p>
        </p:txBody>
      </p:sp>
      <p:sp>
        <p:nvSpPr>
          <p:cNvPr id="18" name="Rounded Rectangle 17"/>
          <p:cNvSpPr/>
          <p:nvPr/>
        </p:nvSpPr>
        <p:spPr>
          <a:xfrm>
            <a:off x="550000" y="38350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3835000"/>
            <a:ext cx="70000" cy="11475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417875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3835000"/>
            <a:ext cx="10050000" cy="1147500"/>
          </a:xfrm>
          <a:prstGeom prst="rect">
            <a:avLst/>
          </a:prstGeom>
          <a:noFill/>
        </p:spPr>
        <p:txBody>
          <a:bodyPr wrap="square" anchor="ctr" lIns="50800" rIns="50800">
            <a:spAutoFit/>
          </a:bodyPr>
          <a:lstStyle/>
          <a:p>
            <a:pPr algn="l"/>
            <a:r>
              <a:rPr sz="1600" b="0">
                <a:solidFill>
                  <a:srgbClr val="1B2430"/>
                </a:solidFill>
                <a:latin typeface="Calibri"/>
              </a:rPr>
              <a:t>Co-design amaliy jihatdan iterativ jarayon.</a:t>
            </a:r>
          </a:p>
        </p:txBody>
      </p:sp>
      <p:sp>
        <p:nvSpPr>
          <p:cNvPr id="22" name="Rounded Rectangle 21"/>
          <p:cNvSpPr/>
          <p:nvPr/>
        </p:nvSpPr>
        <p:spPr>
          <a:xfrm>
            <a:off x="550000" y="51025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50000" y="5102500"/>
            <a:ext cx="70000" cy="11475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0000" y="544625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5" name="TextBox 24"/>
          <p:cNvSpPr txBox="1"/>
          <p:nvPr/>
        </p:nvSpPr>
        <p:spPr>
          <a:xfrm>
            <a:off x="1450000" y="5102500"/>
            <a:ext cx="10050000" cy="1147500"/>
          </a:xfrm>
          <a:prstGeom prst="rect">
            <a:avLst/>
          </a:prstGeom>
          <a:noFill/>
        </p:spPr>
        <p:txBody>
          <a:bodyPr wrap="square" anchor="ctr" lIns="50800" rIns="50800">
            <a:spAutoFit/>
          </a:bodyPr>
          <a:lstStyle/>
          <a:p>
            <a:pPr algn="l"/>
            <a:r>
              <a:rPr sz="1600" b="0">
                <a:solidFill>
                  <a:srgbClr val="1B2430"/>
                </a:solidFill>
                <a:latin typeface="Calibri"/>
              </a:rPr>
              <a:t>Co-design kontekstida ikki klassik qonun doimo yodda bo'lishi kerak.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anim calcmode="lin" valueType="num">
                                      <p:cBhvr additive="base">
                                        <p:cTn id="83" dur="550" fill="hold"/>
                                        <p:tgtEl>
                                          <p:spTgt spid="22"/>
                                        </p:tgtEl>
                                        <p:attrNameLst>
                                          <p:attrName>ppt_x</p:attrName>
                                        </p:attrNameLst>
                                      </p:cBhvr>
                                      <p:tavLst>
                                        <p:tav tm="0">
                                          <p:val>
                                            <p:strVal val="#ppt_x"/>
                                          </p:val>
                                        </p:tav>
                                        <p:tav tm="100000">
                                          <p:val>
                                            <p:strVal val="#ppt_x"/>
                                          </p:val>
                                        </p:tav>
                                      </p:tavLst>
                                    </p:anim>
                                    <p:anim calcmode="lin" valueType="num">
                                      <p:cBhvr additive="base">
                                        <p:cTn id="84" dur="550" fill="hold"/>
                                        <p:tgtEl>
                                          <p:spTgt spid="22"/>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550"/>
                                        <p:tgtEl>
                                          <p:spTgt spid="23"/>
                                        </p:tgtEl>
                                      </p:cBhvr>
                                    </p:animEffect>
                                    <p:anim calcmode="lin" valueType="num">
                                      <p:cBhvr additive="base">
                                        <p:cTn id="89" dur="550" fill="hold"/>
                                        <p:tgtEl>
                                          <p:spTgt spid="23"/>
                                        </p:tgtEl>
                                        <p:attrNameLst>
                                          <p:attrName>ppt_x</p:attrName>
                                        </p:attrNameLst>
                                      </p:cBhvr>
                                      <p:tavLst>
                                        <p:tav tm="0">
                                          <p:val>
                                            <p:strVal val="#ppt_x"/>
                                          </p:val>
                                        </p:tav>
                                        <p:tav tm="100000">
                                          <p:val>
                                            <p:strVal val="#ppt_x"/>
                                          </p:val>
                                        </p:tav>
                                      </p:tavLst>
                                    </p:anim>
                                    <p:anim calcmode="lin" valueType="num">
                                      <p:cBhvr additive="base">
                                        <p:cTn id="90" dur="550" fill="hold"/>
                                        <p:tgtEl>
                                          <p:spTgt spid="23"/>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50"/>
                                        <p:tgtEl>
                                          <p:spTgt spid="24"/>
                                        </p:tgtEl>
                                      </p:cBhvr>
                                    </p:animEffect>
                                    <p:anim calcmode="lin" valueType="num">
                                      <p:cBhvr additive="base">
                                        <p:cTn id="95" dur="550" fill="hold"/>
                                        <p:tgtEl>
                                          <p:spTgt spid="24"/>
                                        </p:tgtEl>
                                        <p:attrNameLst>
                                          <p:attrName>ppt_w</p:attrName>
                                        </p:attrNameLst>
                                      </p:cBhvr>
                                      <p:tavLst>
                                        <p:tav tm="0">
                                          <p:val>
                                            <p:strVal val="0"/>
                                          </p:val>
                                        </p:tav>
                                        <p:tav tm="100000">
                                          <p:val>
                                            <p:strVal val="#ppt_w"/>
                                          </p:val>
                                        </p:tav>
                                      </p:tavLst>
                                    </p:anim>
                                    <p:anim calcmode="lin" valueType="num">
                                      <p:cBhvr additive="base">
                                        <p:cTn id="96" dur="550" fill="hold"/>
                                        <p:tgtEl>
                                          <p:spTgt spid="24"/>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550"/>
                                        <p:tgtEl>
                                          <p:spTgt spid="25"/>
                                        </p:tgtEl>
                                      </p:cBhvr>
                                    </p:animEffect>
                                    <p:anim calcmode="lin" valueType="num">
                                      <p:cBhvr additive="base">
                                        <p:cTn id="101" dur="550" fill="hold"/>
                                        <p:tgtEl>
                                          <p:spTgt spid="25"/>
                                        </p:tgtEl>
                                        <p:attrNameLst>
                                          <p:attrName>ppt_x</p:attrName>
                                        </p:attrNameLst>
                                      </p:cBhvr>
                                      <p:tavLst>
                                        <p:tav tm="0">
                                          <p:val>
                                            <p:strVal val="#ppt_x"/>
                                          </p:val>
                                        </p:tav>
                                        <p:tav tm="100000">
                                          <p:val>
                                            <p:strVal val="#ppt_x"/>
                                          </p:val>
                                        </p:tav>
                                      </p:tavLst>
                                    </p:anim>
                                    <p:anim calcmode="lin" valueType="num">
                                      <p:cBhvr additive="base">
                                        <p:cTn id="102" dur="550" fill="hold"/>
                                        <p:tgtEl>
                                          <p:spTgt spid="25"/>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Apparat va dasturiy ta'minotni birgalikda loyihalash</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 · Sun'iy intellektga asoslangan kompyuter tizimlari injiniringi: arxitektura va loyihalash tamoyillari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16</a:t>
            </a:r>
          </a:p>
        </p:txBody>
      </p:sp>
      <p:graphicFrame>
        <p:nvGraphicFramePr>
          <p:cNvPr id="10" name="Table 9"/>
          <p:cNvGraphicFramePr>
            <a:graphicFrameLocks noGrp="1"/>
          </p:cNvGraphicFramePr>
          <p:nvPr/>
        </p:nvGraphicFramePr>
        <p:xfrm>
          <a:off x="500000" y="1350000"/>
          <a:ext cx="11200000" cy="2600000"/>
        </p:xfrm>
        <a:graphic>
          <a:graphicData uri="http://schemas.openxmlformats.org/drawingml/2006/table">
            <a:tbl>
              <a:tblPr firstRow="1" bandRow="1">
                <a:tableStyleId>{5C22544A-7EE6-4342-B048-85BDC9FD1C3A}</a:tableStyleId>
              </a:tblPr>
              <a:tblGrid>
                <a:gridCol w="2800000"/>
                <a:gridCol w="2800000"/>
                <a:gridCol w="2800000"/>
                <a:gridCol w="2800000"/>
              </a:tblGrid>
              <a:tr h="520000">
                <a:tc>
                  <a:txBody>
                    <a:bodyPr/>
                    <a:lstStyle/>
                    <a:p>
                      <a:r>
                        <a:rPr sz="1200" b="1">
                          <a:solidFill>
                            <a:srgbClr val="FFFFFF"/>
                          </a:solidFill>
                          <a:latin typeface="Calibri"/>
                        </a:rPr>
                        <a:t>O'lchov</a:t>
                      </a:r>
                    </a:p>
                  </a:txBody>
                  <a:tcPr>
                    <a:solidFill>
                      <a:srgbClr val="2D5C8F"/>
                    </a:solidFill>
                  </a:tcPr>
                </a:tc>
                <a:tc>
                  <a:txBody>
                    <a:bodyPr/>
                    <a:lstStyle/>
                    <a:p>
                      <a:r>
                        <a:rPr sz="1200" b="1">
                          <a:solidFill>
                            <a:srgbClr val="FFFFFF"/>
                          </a:solidFill>
                          <a:latin typeface="Calibri"/>
                        </a:rPr>
                        <a:t>Dasturiy tomondagi tanlovlar</a:t>
                      </a:r>
                    </a:p>
                  </a:txBody>
                  <a:tcPr>
                    <a:solidFill>
                      <a:srgbClr val="2D5C8F"/>
                    </a:solidFill>
                  </a:tcPr>
                </a:tc>
                <a:tc>
                  <a:txBody>
                    <a:bodyPr/>
                    <a:lstStyle/>
                    <a:p>
                      <a:r>
                        <a:rPr sz="1200" b="1">
                          <a:solidFill>
                            <a:srgbClr val="FFFFFF"/>
                          </a:solidFill>
                          <a:latin typeface="Calibri"/>
                        </a:rPr>
                        <a:t>Apparat tomondagi tanlovlar</a:t>
                      </a:r>
                    </a:p>
                  </a:txBody>
                  <a:tcPr>
                    <a:solidFill>
                      <a:srgbClr val="2D5C8F"/>
                    </a:solidFill>
                  </a:tcPr>
                </a:tc>
                <a:tc>
                  <a:txBody>
                    <a:bodyPr/>
                    <a:lstStyle/>
                    <a:p>
                      <a:r>
                        <a:rPr sz="1200" b="1">
                          <a:solidFill>
                            <a:srgbClr val="FFFFFF"/>
                          </a:solidFill>
                          <a:latin typeface="Calibri"/>
                        </a:rPr>
                        <a:t>O'zaro ta'sir</a:t>
                      </a:r>
                    </a:p>
                  </a:txBody>
                  <a:tcPr>
                    <a:solidFill>
                      <a:srgbClr val="2D5C8F"/>
                    </a:solidFill>
                  </a:tcPr>
                </a:tc>
              </a:tr>
              <a:tr h="520000">
                <a:tc>
                  <a:txBody>
                    <a:bodyPr/>
                    <a:lstStyle/>
                    <a:p>
                      <a:r>
                        <a:rPr sz="1200" b="0">
                          <a:solidFill>
                            <a:srgbClr val="1B2430"/>
                          </a:solidFill>
                          <a:latin typeface="Calibri"/>
                        </a:rPr>
                        <a:t>Hisoblash</a:t>
                      </a:r>
                    </a:p>
                  </a:txBody>
                  <a:tcPr>
                    <a:solidFill>
                      <a:srgbClr val="F1F4F8"/>
                    </a:solidFill>
                  </a:tcPr>
                </a:tc>
                <a:tc>
                  <a:txBody>
                    <a:bodyPr/>
                    <a:lstStyle/>
                    <a:p>
                      <a:r>
                        <a:rPr sz="1200" b="0">
                          <a:solidFill>
                            <a:srgbClr val="1B2430"/>
                          </a:solidFill>
                          <a:latin typeface="Calibri"/>
                        </a:rPr>
                        <a:t>Model hajmi, arxitektura, FLOP</a:t>
                      </a:r>
                    </a:p>
                  </a:txBody>
                  <a:tcPr>
                    <a:solidFill>
                      <a:srgbClr val="F1F4F8"/>
                    </a:solidFill>
                  </a:tcPr>
                </a:tc>
                <a:tc>
                  <a:txBody>
                    <a:bodyPr/>
                    <a:lstStyle/>
                    <a:p>
                      <a:r>
                        <a:rPr sz="1200" b="0">
                          <a:solidFill>
                            <a:srgbClr val="1B2430"/>
                          </a:solidFill>
                          <a:latin typeface="Calibri"/>
                        </a:rPr>
                        <a:t>TFLOPS, yadrolar soni, chastota</a:t>
                      </a:r>
                    </a:p>
                  </a:txBody>
                  <a:tcPr>
                    <a:solidFill>
                      <a:srgbClr val="F1F4F8"/>
                    </a:solidFill>
                  </a:tcPr>
                </a:tc>
                <a:tc>
                  <a:txBody>
                    <a:bodyPr/>
                    <a:lstStyle/>
                    <a:p>
                      <a:r>
                        <a:rPr sz="1200" b="0">
                          <a:solidFill>
                            <a:srgbClr val="1B2430"/>
                          </a:solidFill>
                          <a:latin typeface="Calibri"/>
                        </a:rPr>
                        <a:t>Model murakkabligi ↔ tezlatkich sinfi</a:t>
                      </a:r>
                    </a:p>
                  </a:txBody>
                  <a:tcPr>
                    <a:solidFill>
                      <a:srgbClr val="F1F4F8"/>
                    </a:solidFill>
                  </a:tcPr>
                </a:tc>
              </a:tr>
              <a:tr h="520000">
                <a:tc>
                  <a:txBody>
                    <a:bodyPr/>
                    <a:lstStyle/>
                    <a:p>
                      <a:r>
                        <a:rPr sz="1200" b="0">
                          <a:solidFill>
                            <a:srgbClr val="1B2430"/>
                          </a:solidFill>
                          <a:latin typeface="Calibri"/>
                        </a:rPr>
                        <a:t>Aniqlik</a:t>
                      </a:r>
                    </a:p>
                  </a:txBody>
                  <a:tcPr>
                    <a:solidFill>
                      <a:srgbClr val="FFFFFF"/>
                    </a:solidFill>
                  </a:tcPr>
                </a:tc>
                <a:tc>
                  <a:txBody>
                    <a:bodyPr/>
                    <a:lstStyle/>
                    <a:p>
                      <a:r>
                        <a:rPr sz="1200" b="0">
                          <a:solidFill>
                            <a:srgbClr val="1B2430"/>
                          </a:solidFill>
                          <a:latin typeface="Calibri"/>
                        </a:rPr>
                        <a:t>FP32 / FP16 / INT8 / FP8 kvantlash</a:t>
                      </a:r>
                    </a:p>
                  </a:txBody>
                  <a:tcPr>
                    <a:solidFill>
                      <a:srgbClr val="FFFFFF"/>
                    </a:solidFill>
                  </a:tcPr>
                </a:tc>
                <a:tc>
                  <a:txBody>
                    <a:bodyPr/>
                    <a:lstStyle/>
                    <a:p>
                      <a:r>
                        <a:rPr sz="1200" b="0">
                          <a:solidFill>
                            <a:srgbClr val="1B2430"/>
                          </a:solidFill>
                          <a:latin typeface="Calibri"/>
                        </a:rPr>
                        <a:t>Tensor Core, INT8 bloklar, NPU</a:t>
                      </a:r>
                    </a:p>
                  </a:txBody>
                  <a:tcPr>
                    <a:solidFill>
                      <a:srgbClr val="FFFFFF"/>
                    </a:solidFill>
                  </a:tcPr>
                </a:tc>
                <a:tc>
                  <a:txBody>
                    <a:bodyPr/>
                    <a:lstStyle/>
                    <a:p>
                      <a:r>
                        <a:rPr sz="1200" b="0">
                          <a:solidFill>
                            <a:srgbClr val="1B2430"/>
                          </a:solidFill>
                          <a:latin typeface="Calibri"/>
                        </a:rPr>
                        <a:t>Kvantlash apparatda qo'llab-quvvatlansa 2–4× tezlashuv</a:t>
                      </a:r>
                    </a:p>
                  </a:txBody>
                  <a:tcPr>
                    <a:solidFill>
                      <a:srgbClr val="FFFFFF"/>
                    </a:solidFill>
                  </a:tcPr>
                </a:tc>
              </a:tr>
              <a:tr h="520000">
                <a:tc>
                  <a:txBody>
                    <a:bodyPr/>
                    <a:lstStyle/>
                    <a:p>
                      <a:r>
                        <a:rPr sz="1200" b="0">
                          <a:solidFill>
                            <a:srgbClr val="1B2430"/>
                          </a:solidFill>
                          <a:latin typeface="Calibri"/>
                        </a:rPr>
                        <a:t>Xotira</a:t>
                      </a:r>
                    </a:p>
                  </a:txBody>
                  <a:tcPr>
                    <a:solidFill>
                      <a:srgbClr val="F1F4F8"/>
                    </a:solidFill>
                  </a:tcPr>
                </a:tc>
                <a:tc>
                  <a:txBody>
                    <a:bodyPr/>
                    <a:lstStyle/>
                    <a:p>
                      <a:r>
                        <a:rPr sz="1200" b="0">
                          <a:solidFill>
                            <a:srgbClr val="1B2430"/>
                          </a:solidFill>
                          <a:latin typeface="Calibri"/>
                        </a:rPr>
                        <a:t>Paket hajmi, aktivatsiyalar, KV-kesh</a:t>
                      </a:r>
                    </a:p>
                  </a:txBody>
                  <a:tcPr>
                    <a:solidFill>
                      <a:srgbClr val="F1F4F8"/>
                    </a:solidFill>
                  </a:tcPr>
                </a:tc>
                <a:tc>
                  <a:txBody>
                    <a:bodyPr/>
                    <a:lstStyle/>
                    <a:p>
                      <a:r>
                        <a:rPr sz="1200" b="0">
                          <a:solidFill>
                            <a:srgbClr val="1B2430"/>
                          </a:solidFill>
                          <a:latin typeface="Calibri"/>
                        </a:rPr>
                        <a:t>Xotira hajmi, o'tkazuvchanlik, iyerarxiya</a:t>
                      </a:r>
                    </a:p>
                  </a:txBody>
                  <a:tcPr>
                    <a:solidFill>
                      <a:srgbClr val="F1F4F8"/>
                    </a:solidFill>
                  </a:tcPr>
                </a:tc>
                <a:tc>
                  <a:txBody>
                    <a:bodyPr/>
                    <a:lstStyle/>
                    <a:p>
                      <a:r>
                        <a:rPr sz="1200" b="0">
                          <a:solidFill>
                            <a:srgbClr val="1B2430"/>
                          </a:solidFill>
                          <a:latin typeface="Calibri"/>
                        </a:rPr>
                        <a:t>Model sig'maydimi → bo'lish yoki siqish</a:t>
                      </a:r>
                    </a:p>
                  </a:txBody>
                  <a:tcPr>
                    <a:solidFill>
                      <a:srgbClr val="F1F4F8"/>
                    </a:solidFill>
                  </a:tcPr>
                </a:tc>
              </a:tr>
              <a:tr h="520000">
                <a:tc>
                  <a:txBody>
                    <a:bodyPr/>
                    <a:lstStyle/>
                    <a:p>
                      <a:r>
                        <a:rPr sz="1200" b="0">
                          <a:solidFill>
                            <a:srgbClr val="1B2430"/>
                          </a:solidFill>
                          <a:latin typeface="Calibri"/>
                        </a:rPr>
                        <a:t>Ma'lumot harakati</a:t>
                      </a:r>
                    </a:p>
                  </a:txBody>
                  <a:tcPr>
                    <a:solidFill>
                      <a:srgbClr val="FFFFFF"/>
                    </a:solidFill>
                  </a:tcPr>
                </a:tc>
                <a:tc>
                  <a:txBody>
                    <a:bodyPr/>
                    <a:lstStyle/>
                    <a:p>
                      <a:r>
                        <a:rPr sz="1200" b="0">
                          <a:solidFill>
                            <a:srgbClr val="1B2430"/>
                          </a:solidFill>
                          <a:latin typeface="Calibri"/>
                        </a:rPr>
                        <a:t>Quvur tuzilishi, nusxalash, nol-nusxa</a:t>
                      </a:r>
                    </a:p>
                  </a:txBody>
                  <a:tcPr>
                    <a:solidFill>
                      <a:srgbClr val="FFFFFF"/>
                    </a:solidFill>
                  </a:tcPr>
                </a:tc>
                <a:tc>
                  <a:txBody>
                    <a:bodyPr/>
                    <a:lstStyle/>
                    <a:p>
                      <a:r>
                        <a:rPr sz="1200" b="0">
                          <a:solidFill>
                            <a:srgbClr val="1B2430"/>
                          </a:solidFill>
                          <a:latin typeface="Calibri"/>
                        </a:rPr>
                        <a:t>PCIe, NVLink, birlashgan xotira</a:t>
                      </a:r>
                    </a:p>
                  </a:txBody>
                  <a:tcPr>
                    <a:solidFill>
                      <a:srgbClr val="FFFFFF"/>
                    </a:solidFill>
                  </a:tcPr>
                </a:tc>
                <a:tc>
                  <a:txBody>
                    <a:bodyPr/>
                    <a:lstStyle/>
                    <a:p>
                      <a:r>
                        <a:rPr sz="1200" b="0">
                          <a:solidFill>
                            <a:srgbClr val="1B2430"/>
                          </a:solidFill>
                          <a:latin typeface="Calibri"/>
                        </a:rPr>
                        <a:t>Nusxalash kechikishi ↔ shina kengligi</a:t>
                      </a:r>
                    </a:p>
                  </a:txBody>
                  <a:tcPr>
                    <a:solidFill>
                      <a:srgbClr val="FFFFFF"/>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Loyihalash tamoyillari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 · Sun'iy intellektga asoslangan kompyuter tizimlari injiniringi: arxitektura va loyihalash tamoyillari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17</a:t>
            </a:r>
          </a:p>
        </p:txBody>
      </p:sp>
      <p:sp>
        <p:nvSpPr>
          <p:cNvPr id="10" name="Rounded Rectangle 9"/>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533333"/>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928333"/>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533333"/>
            <a:ext cx="10050000" cy="1250000"/>
          </a:xfrm>
          <a:prstGeom prst="rect">
            <a:avLst/>
          </a:prstGeom>
          <a:noFill/>
        </p:spPr>
        <p:txBody>
          <a:bodyPr wrap="square" anchor="ctr" lIns="50800" rIns="50800">
            <a:spAutoFit/>
          </a:bodyPr>
          <a:lstStyle/>
          <a:p>
            <a:pPr algn="l"/>
            <a:r>
              <a:rPr sz="1600" b="0">
                <a:solidFill>
                  <a:srgbClr val="1B2430"/>
                </a:solidFill>
                <a:latin typeface="Calibri"/>
              </a:rPr>
              <a:t>Yuqoridagi tushunchalar asosida SI tizimini loyihalashning amaliy tamoyillarini shakllantirish mumkin. Talabdan boshlash: kechikish byudjeti (masalan, kadrdan hodisagacha 200 ms), aniqlik chegarasi (mAP yoki F1), yuk (kameralar soni, so'rov/soniya), energiya…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1700000"/>
            <a:ext cx="3000000" cy="30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0000" y="2350000"/>
            <a:ext cx="3000000" cy="1700000"/>
          </a:xfrm>
          <a:prstGeom prst="rect">
            <a:avLst/>
          </a:prstGeom>
          <a:noFill/>
        </p:spPr>
        <p:txBody>
          <a:bodyPr wrap="square" anchor="ctr" lIns="50800" rIns="50800">
            <a:spAutoFit/>
          </a:bodyPr>
          <a:lstStyle/>
          <a:p>
            <a:pPr algn="ctr"/>
            <a:r>
              <a:rPr sz="7200" b="1">
                <a:solidFill>
                  <a:srgbClr val="FFFFFF"/>
                </a:solidFill>
                <a:latin typeface="Calibri"/>
              </a:rPr>
              <a:t>04</a:t>
            </a:r>
          </a:p>
        </p:txBody>
      </p:sp>
      <p:sp>
        <p:nvSpPr>
          <p:cNvPr id="5" name="TextBox 4"/>
          <p:cNvSpPr txBox="1"/>
          <p:nvPr/>
        </p:nvSpPr>
        <p:spPr>
          <a:xfrm>
            <a:off x="4500000" y="2400000"/>
            <a:ext cx="7000000" cy="1600000"/>
          </a:xfrm>
          <a:prstGeom prst="rect">
            <a:avLst/>
          </a:prstGeom>
          <a:noFill/>
        </p:spPr>
        <p:txBody>
          <a:bodyPr wrap="square" anchor="ctr" lIns="50800" rIns="50800">
            <a:spAutoFit/>
          </a:bodyPr>
          <a:lstStyle/>
          <a:p>
            <a:pPr algn="l"/>
            <a:r>
              <a:rPr sz="3600" b="1">
                <a:solidFill>
                  <a:srgbClr val="FFFFFF"/>
                </a:solidFill>
                <a:latin typeface="Calibri"/>
              </a:rPr>
              <a:t>Amaliy misol</a:t>
            </a:r>
          </a:p>
        </p:txBody>
      </p:sp>
      <p:sp>
        <p:nvSpPr>
          <p:cNvPr id="6" name="Rectangle 5"/>
          <p:cNvSpPr/>
          <p:nvPr/>
        </p:nvSpPr>
        <p:spPr>
          <a:xfrm>
            <a:off x="4550000" y="41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2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0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250"/>
                            </p:stCondLst>
                            <p:childTnLst>
                              <p:par>
                                <p:cTn id="16" presetID="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9" dur="550" fill="hold"/>
                                        <p:tgtEl>
                                          <p:spTgt spid="5"/>
                                        </p:tgtEl>
                                        <p:attrNameLst>
                                          <p:attrName>ppt_x</p:attrName>
                                        </p:attrNameLst>
                                      </p:cBhvr>
                                      <p:tavLst>
                                        <p:tav tm="0">
                                          <p:val>
                                            <p:strVal val="0-#ppt_w/2"/>
                                          </p:val>
                                        </p:tav>
                                        <p:tav tm="100000">
                                          <p:val>
                                            <p:strVal val="#ppt_x"/>
                                          </p:val>
                                        </p:tav>
                                      </p:tavLst>
                                    </p:anim>
                                    <p:anim calcmode="lin" valueType="num">
                                      <p:cBhvr additive="base">
                                        <p:cTn id="20" dur="550" fill="hold"/>
                                        <p:tgtEl>
                                          <p:spTgt spid="5"/>
                                        </p:tgtEl>
                                        <p:attrNameLst>
                                          <p:attrName>ppt_y</p:attrName>
                                        </p:attrNameLst>
                                      </p:cBhvr>
                                      <p:tavLst>
                                        <p:tav tm="0">
                                          <p:val>
                                            <p:strVal val="#ppt_y"/>
                                          </p:val>
                                        </p:tav>
                                        <p:tav tm="100000">
                                          <p:val>
                                            <p:strVal val="#ppt_y"/>
                                          </p:val>
                                        </p:tav>
                                      </p:tavLst>
                                    </p:anim>
                                  </p:childTnLst>
                                </p:cTn>
                              </p:par>
                            </p:childTnLst>
                          </p:cTn>
                        </p:par>
                        <p:par>
                          <p:cTn id="21" fill="hold">
                            <p:stCondLst>
                              <p:cond delay="350"/>
                            </p:stCondLst>
                            <p:childTnLst>
                              <p:par>
                                <p:cTn id="22" presetID="22" presetClass="entr" presetSubtype="8"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5" dur="8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Amaliy misol</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 · Sun'iy intellektga asoslangan kompyuter tizimlari injiniringi: arxitektura va loyihalash tamoyillari</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19</a:t>
            </a:r>
          </a:p>
        </p:txBody>
      </p:sp>
      <p:sp>
        <p:nvSpPr>
          <p:cNvPr id="9" name="Rounded Rectangle 8"/>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2533333"/>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2928333"/>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2533333"/>
            <a:ext cx="10050000" cy="1250000"/>
          </a:xfrm>
          <a:prstGeom prst="rect">
            <a:avLst/>
          </a:prstGeom>
          <a:noFill/>
        </p:spPr>
        <p:txBody>
          <a:bodyPr wrap="square" anchor="ctr" lIns="50800" rIns="50800">
            <a:spAutoFit/>
          </a:bodyPr>
          <a:lstStyle/>
          <a:p>
            <a:pPr algn="l"/>
            <a:r>
              <a:rPr sz="1600" b="0">
                <a:solidFill>
                  <a:srgbClr val="1B2430"/>
                </a:solidFill>
                <a:latin typeface="Calibri"/>
              </a:rPr>
              <a:t>Vazifa: savdo markazi kirish zonasida 16 ta IP-kamera (1080p, 25 kadr/s) orqali odamlar va transport vositalarini real vaqtda aniqlovchi video-analitika tizimini loyihalash. Talablar: kadrdan hodisagacha kechikish 300 ms dan kam, kamida 15 kadr/s qayta…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1-qadam. Talabni hisoblash quvvatiga aylantirish</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 · Sun'iy intellektga asoslangan kompyuter tizimlari injiniringi: arxitektura va loyihalash tamoyillari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20</a:t>
            </a:r>
          </a:p>
        </p:txBody>
      </p:sp>
      <p:sp>
        <p:nvSpPr>
          <p:cNvPr id="10" name="Rounded Rectangle 9"/>
          <p:cNvSpPr/>
          <p:nvPr/>
        </p:nvSpPr>
        <p:spPr>
          <a:xfrm>
            <a:off x="550000" y="162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620000"/>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015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620000"/>
            <a:ext cx="10050000" cy="1250000"/>
          </a:xfrm>
          <a:prstGeom prst="rect">
            <a:avLst/>
          </a:prstGeom>
          <a:noFill/>
        </p:spPr>
        <p:txBody>
          <a:bodyPr wrap="square" anchor="ctr" lIns="50800" rIns="50800">
            <a:spAutoFit/>
          </a:bodyPr>
          <a:lstStyle/>
          <a:p>
            <a:pPr algn="l"/>
            <a:r>
              <a:rPr sz="1600" b="0">
                <a:solidFill>
                  <a:srgbClr val="1B2430"/>
                </a:solidFill>
                <a:latin typeface="Calibri"/>
              </a:rPr>
              <a:t>Avval yuk hajmini hisoblaymiz. 16 kamera × 15 kadr/s = 240 kadr/s (talabdagi minimal tezlik; 25 kadr/s da 400 kadr/s bo'lar edi, lekin aniqlash uchun har kadr shart emas — kuzatuv (tracking) oraliq kadrlarni to'ldiradi). Nomzod modellar sifatida YOLOv8…</a:t>
            </a:r>
          </a:p>
        </p:txBody>
      </p:sp>
      <p:sp>
        <p:nvSpPr>
          <p:cNvPr id="14" name="Rounded Rectangle 13"/>
          <p:cNvSpPr/>
          <p:nvPr/>
        </p:nvSpPr>
        <p:spPr>
          <a:xfrm>
            <a:off x="550000" y="299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990000"/>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38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990000"/>
            <a:ext cx="10050000" cy="1250000"/>
          </a:xfrm>
          <a:prstGeom prst="rect">
            <a:avLst/>
          </a:prstGeom>
          <a:noFill/>
        </p:spPr>
        <p:txBody>
          <a:bodyPr wrap="square" anchor="ctr" lIns="50800" rIns="50800">
            <a:spAutoFit/>
          </a:bodyPr>
          <a:lstStyle/>
          <a:p>
            <a:pPr algn="l"/>
            <a:r>
              <a:rPr sz="1600" b="0">
                <a:solidFill>
                  <a:srgbClr val="1B2430"/>
                </a:solidFill>
                <a:latin typeface="Calibri"/>
              </a:rPr>
              <a:t>Odam va avtomobil COCO ning eng yaxshi aniqlanadigan sinflaridan bo'lgani uchun YOLOv8s mAP50 talabini ortig'i bilan qondiradi. Zarur quvvat: 240 × 28,6 GFLOP = 6,9 TFLOP/s samarali; η = 0,35 bilan taxminan 20 TFLOPS pasport quvvati FP16 rejimida.</a:t>
            </a:r>
          </a:p>
        </p:txBody>
      </p:sp>
      <p:sp>
        <p:nvSpPr>
          <p:cNvPr id="18" name="Rounded Rectangle 17"/>
          <p:cNvSpPr/>
          <p:nvPr/>
        </p:nvSpPr>
        <p:spPr>
          <a:xfrm>
            <a:off x="550000" y="436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4360000"/>
            <a:ext cx="70000" cy="1250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475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4360000"/>
            <a:ext cx="10050000" cy="1250000"/>
          </a:xfrm>
          <a:prstGeom prst="rect">
            <a:avLst/>
          </a:prstGeom>
          <a:noFill/>
        </p:spPr>
        <p:txBody>
          <a:bodyPr wrap="square" anchor="ctr" lIns="50800" rIns="50800">
            <a:spAutoFit/>
          </a:bodyPr>
          <a:lstStyle/>
          <a:p>
            <a:pPr algn="l"/>
            <a:r>
              <a:rPr sz="1600" b="0">
                <a:solidFill>
                  <a:srgbClr val="1B2430"/>
                </a:solidFill>
                <a:latin typeface="Calibri"/>
              </a:rPr>
              <a:t>Nima bo'ldi va nega. Biz talabni raqamga aylantirdik va modelni apparatga qarab emas, apparatni modelga qarab tanlash imkoniyatini oldik. Shu bosqichda kadr tezligini 25 dan 15 ga tushirish qarori — co-design ning dasturiy tomondagi birinchi qadami; u apparat…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1-qadam. Talabni hisoblash quvvatiga aylantirish</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 · Sun'iy intellektga asoslangan kompyuter tizimlari injiniringi: arxitektura va loyihalash tamoyillari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21</a:t>
            </a:r>
          </a:p>
        </p:txBody>
      </p:sp>
      <p:graphicFrame>
        <p:nvGraphicFramePr>
          <p:cNvPr id="10" name="Table 9"/>
          <p:cNvGraphicFramePr>
            <a:graphicFrameLocks noGrp="1"/>
          </p:cNvGraphicFramePr>
          <p:nvPr/>
        </p:nvGraphicFramePr>
        <p:xfrm>
          <a:off x="500000" y="1350000"/>
          <a:ext cx="11200000" cy="2080000"/>
        </p:xfrm>
        <a:graphic>
          <a:graphicData uri="http://schemas.openxmlformats.org/drawingml/2006/table">
            <a:tbl>
              <a:tblPr firstRow="1" bandRow="1">
                <a:tableStyleId>{5C22544A-7EE6-4342-B048-85BDC9FD1C3A}</a:tableStyleId>
              </a:tblPr>
              <a:tblGrid>
                <a:gridCol w="2240000"/>
                <a:gridCol w="2240000"/>
                <a:gridCol w="2240000"/>
                <a:gridCol w="2240000"/>
                <a:gridCol w="2240000"/>
              </a:tblGrid>
              <a:tr h="520000">
                <a:tc>
                  <a:txBody>
                    <a:bodyPr/>
                    <a:lstStyle/>
                    <a:p>
                      <a:r>
                        <a:rPr sz="1400" b="1">
                          <a:solidFill>
                            <a:srgbClr val="FFFFFF"/>
                          </a:solidFill>
                          <a:latin typeface="Calibri"/>
                        </a:rPr>
                        <a:t>Model</a:t>
                      </a:r>
                    </a:p>
                  </a:txBody>
                  <a:tcPr>
                    <a:solidFill>
                      <a:srgbClr val="2D5C8F"/>
                    </a:solidFill>
                  </a:tcPr>
                </a:tc>
                <a:tc>
                  <a:txBody>
                    <a:bodyPr/>
                    <a:lstStyle/>
                    <a:p>
                      <a:r>
                        <a:rPr sz="1400" b="1">
                          <a:solidFill>
                            <a:srgbClr val="FFFFFF"/>
                          </a:solidFill>
                          <a:latin typeface="Calibri"/>
                        </a:rPr>
                        <a:t>Parametrlar</a:t>
                      </a:r>
                    </a:p>
                  </a:txBody>
                  <a:tcPr>
                    <a:solidFill>
                      <a:srgbClr val="2D5C8F"/>
                    </a:solidFill>
                  </a:tcPr>
                </a:tc>
                <a:tc>
                  <a:txBody>
                    <a:bodyPr/>
                    <a:lstStyle/>
                    <a:p>
                      <a:r>
                        <a:rPr sz="1400" b="1">
                          <a:solidFill>
                            <a:srgbClr val="FFFFFF"/>
                          </a:solidFill>
                          <a:latin typeface="Calibri"/>
                        </a:rPr>
                        <a:t>FLOP (640×640)</a:t>
                      </a:r>
                    </a:p>
                  </a:txBody>
                  <a:tcPr>
                    <a:solidFill>
                      <a:srgbClr val="2D5C8F"/>
                    </a:solidFill>
                  </a:tcPr>
                </a:tc>
                <a:tc>
                  <a:txBody>
                    <a:bodyPr/>
                    <a:lstStyle/>
                    <a:p>
                      <a:r>
                        <a:rPr sz="1400" b="1">
                          <a:solidFill>
                            <a:srgbClr val="FFFFFF"/>
                          </a:solidFill>
                          <a:latin typeface="Calibri"/>
                        </a:rPr>
                        <a:t>COCO mAP50-95</a:t>
                      </a:r>
                    </a:p>
                  </a:txBody>
                  <a:tcPr>
                    <a:solidFill>
                      <a:srgbClr val="2D5C8F"/>
                    </a:solidFill>
                  </a:tcPr>
                </a:tc>
                <a:tc>
                  <a:txBody>
                    <a:bodyPr/>
                    <a:lstStyle/>
                    <a:p>
                      <a:r>
                        <a:rPr sz="1400" b="1">
                          <a:solidFill>
                            <a:srgbClr val="FFFFFF"/>
                          </a:solidFill>
                          <a:latin typeface="Calibri"/>
                        </a:rPr>
                        <a:t>Izoh</a:t>
                      </a:r>
                    </a:p>
                  </a:txBody>
                  <a:tcPr>
                    <a:solidFill>
                      <a:srgbClr val="2D5C8F"/>
                    </a:solidFill>
                  </a:tcPr>
                </a:tc>
              </a:tr>
              <a:tr h="520000">
                <a:tc>
                  <a:txBody>
                    <a:bodyPr/>
                    <a:lstStyle/>
                    <a:p>
                      <a:r>
                        <a:rPr sz="1400" b="0">
                          <a:solidFill>
                            <a:srgbClr val="1B2430"/>
                          </a:solidFill>
                          <a:latin typeface="Calibri"/>
                        </a:rPr>
                        <a:t>YOLOv8n</a:t>
                      </a:r>
                    </a:p>
                  </a:txBody>
                  <a:tcPr>
                    <a:solidFill>
                      <a:srgbClr val="F1F4F8"/>
                    </a:solidFill>
                  </a:tcPr>
                </a:tc>
                <a:tc>
                  <a:txBody>
                    <a:bodyPr/>
                    <a:lstStyle/>
                    <a:p>
                      <a:r>
                        <a:rPr sz="1400" b="0">
                          <a:solidFill>
                            <a:srgbClr val="1B2430"/>
                          </a:solidFill>
                          <a:latin typeface="Calibri"/>
                        </a:rPr>
                        <a:t>3,2 mln</a:t>
                      </a:r>
                    </a:p>
                  </a:txBody>
                  <a:tcPr>
                    <a:solidFill>
                      <a:srgbClr val="F1F4F8"/>
                    </a:solidFill>
                  </a:tcPr>
                </a:tc>
                <a:tc>
                  <a:txBody>
                    <a:bodyPr/>
                    <a:lstStyle/>
                    <a:p>
                      <a:r>
                        <a:rPr sz="1400" b="0">
                          <a:solidFill>
                            <a:srgbClr val="1B2430"/>
                          </a:solidFill>
                          <a:latin typeface="Calibri"/>
                        </a:rPr>
                        <a:t>~8,7 GFLOP</a:t>
                      </a:r>
                    </a:p>
                  </a:txBody>
                  <a:tcPr>
                    <a:solidFill>
                      <a:srgbClr val="F1F4F8"/>
                    </a:solidFill>
                  </a:tcPr>
                </a:tc>
                <a:tc>
                  <a:txBody>
                    <a:bodyPr/>
                    <a:lstStyle/>
                    <a:p>
                      <a:r>
                        <a:rPr sz="1400" b="0">
                          <a:solidFill>
                            <a:srgbClr val="1B2430"/>
                          </a:solidFill>
                          <a:latin typeface="Calibri"/>
                        </a:rPr>
                        <a:t>37,3</a:t>
                      </a:r>
                    </a:p>
                  </a:txBody>
                  <a:tcPr>
                    <a:solidFill>
                      <a:srgbClr val="F1F4F8"/>
                    </a:solidFill>
                  </a:tcPr>
                </a:tc>
                <a:tc>
                  <a:txBody>
                    <a:bodyPr/>
                    <a:lstStyle/>
                    <a:p>
                      <a:r>
                        <a:rPr sz="1400" b="0">
                          <a:solidFill>
                            <a:srgbClr val="1B2430"/>
                          </a:solidFill>
                          <a:latin typeface="Calibri"/>
                        </a:rPr>
                        <a:t>Eng yengil</a:t>
                      </a:r>
                    </a:p>
                  </a:txBody>
                  <a:tcPr>
                    <a:solidFill>
                      <a:srgbClr val="F1F4F8"/>
                    </a:solidFill>
                  </a:tcPr>
                </a:tc>
              </a:tr>
              <a:tr h="520000">
                <a:tc>
                  <a:txBody>
                    <a:bodyPr/>
                    <a:lstStyle/>
                    <a:p>
                      <a:r>
                        <a:rPr sz="1400" b="0">
                          <a:solidFill>
                            <a:srgbClr val="1B2430"/>
                          </a:solidFill>
                          <a:latin typeface="Calibri"/>
                        </a:rPr>
                        <a:t>YOLOv8s</a:t>
                      </a:r>
                    </a:p>
                  </a:txBody>
                  <a:tcPr>
                    <a:solidFill>
                      <a:srgbClr val="FFFFFF"/>
                    </a:solidFill>
                  </a:tcPr>
                </a:tc>
                <a:tc>
                  <a:txBody>
                    <a:bodyPr/>
                    <a:lstStyle/>
                    <a:p>
                      <a:r>
                        <a:rPr sz="1400" b="0">
                          <a:solidFill>
                            <a:srgbClr val="1B2430"/>
                          </a:solidFill>
                          <a:latin typeface="Calibri"/>
                        </a:rPr>
                        <a:t>11,2 mln</a:t>
                      </a:r>
                    </a:p>
                  </a:txBody>
                  <a:tcPr>
                    <a:solidFill>
                      <a:srgbClr val="FFFFFF"/>
                    </a:solidFill>
                  </a:tcPr>
                </a:tc>
                <a:tc>
                  <a:txBody>
                    <a:bodyPr/>
                    <a:lstStyle/>
                    <a:p>
                      <a:r>
                        <a:rPr sz="1400" b="0">
                          <a:solidFill>
                            <a:srgbClr val="1B2430"/>
                          </a:solidFill>
                          <a:latin typeface="Calibri"/>
                        </a:rPr>
                        <a:t>~28,6 GFLOP</a:t>
                      </a:r>
                    </a:p>
                  </a:txBody>
                  <a:tcPr>
                    <a:solidFill>
                      <a:srgbClr val="FFFFFF"/>
                    </a:solidFill>
                  </a:tcPr>
                </a:tc>
                <a:tc>
                  <a:txBody>
                    <a:bodyPr/>
                    <a:lstStyle/>
                    <a:p>
                      <a:r>
                        <a:rPr sz="1400" b="0">
                          <a:solidFill>
                            <a:srgbClr val="1B2430"/>
                          </a:solidFill>
                          <a:latin typeface="Calibri"/>
                        </a:rPr>
                        <a:t>44,9</a:t>
                      </a:r>
                    </a:p>
                  </a:txBody>
                  <a:tcPr>
                    <a:solidFill>
                      <a:srgbClr val="FFFFFF"/>
                    </a:solidFill>
                  </a:tcPr>
                </a:tc>
                <a:tc>
                  <a:txBody>
                    <a:bodyPr/>
                    <a:lstStyle/>
                    <a:p>
                      <a:r>
                        <a:rPr sz="1400" b="0">
                          <a:solidFill>
                            <a:srgbClr val="1B2430"/>
                          </a:solidFill>
                          <a:latin typeface="Calibri"/>
                        </a:rPr>
                        <a:t>Muvozanat</a:t>
                      </a:r>
                    </a:p>
                  </a:txBody>
                  <a:tcPr>
                    <a:solidFill>
                      <a:srgbClr val="FFFFFF"/>
                    </a:solidFill>
                  </a:tcPr>
                </a:tc>
              </a:tr>
              <a:tr h="520000">
                <a:tc>
                  <a:txBody>
                    <a:bodyPr/>
                    <a:lstStyle/>
                    <a:p>
                      <a:r>
                        <a:rPr sz="1400" b="0">
                          <a:solidFill>
                            <a:srgbClr val="1B2430"/>
                          </a:solidFill>
                          <a:latin typeface="Calibri"/>
                        </a:rPr>
                        <a:t>YOLOv8m</a:t>
                      </a:r>
                    </a:p>
                  </a:txBody>
                  <a:tcPr>
                    <a:solidFill>
                      <a:srgbClr val="F1F4F8"/>
                    </a:solidFill>
                  </a:tcPr>
                </a:tc>
                <a:tc>
                  <a:txBody>
                    <a:bodyPr/>
                    <a:lstStyle/>
                    <a:p>
                      <a:r>
                        <a:rPr sz="1400" b="0">
                          <a:solidFill>
                            <a:srgbClr val="1B2430"/>
                          </a:solidFill>
                          <a:latin typeface="Calibri"/>
                        </a:rPr>
                        <a:t>25,9 mln</a:t>
                      </a:r>
                    </a:p>
                  </a:txBody>
                  <a:tcPr>
                    <a:solidFill>
                      <a:srgbClr val="F1F4F8"/>
                    </a:solidFill>
                  </a:tcPr>
                </a:tc>
                <a:tc>
                  <a:txBody>
                    <a:bodyPr/>
                    <a:lstStyle/>
                    <a:p>
                      <a:r>
                        <a:rPr sz="1400" b="0">
                          <a:solidFill>
                            <a:srgbClr val="1B2430"/>
                          </a:solidFill>
                          <a:latin typeface="Calibri"/>
                        </a:rPr>
                        <a:t>~78,9 GFLOP</a:t>
                      </a:r>
                    </a:p>
                  </a:txBody>
                  <a:tcPr>
                    <a:solidFill>
                      <a:srgbClr val="F1F4F8"/>
                    </a:solidFill>
                  </a:tcPr>
                </a:tc>
                <a:tc>
                  <a:txBody>
                    <a:bodyPr/>
                    <a:lstStyle/>
                    <a:p>
                      <a:r>
                        <a:rPr sz="1400" b="0">
                          <a:solidFill>
                            <a:srgbClr val="1B2430"/>
                          </a:solidFill>
                          <a:latin typeface="Calibri"/>
                        </a:rPr>
                        <a:t>50,2</a:t>
                      </a:r>
                    </a:p>
                  </a:txBody>
                  <a:tcPr>
                    <a:solidFill>
                      <a:srgbClr val="F1F4F8"/>
                    </a:solidFill>
                  </a:tcPr>
                </a:tc>
                <a:tc>
                  <a:txBody>
                    <a:bodyPr/>
                    <a:lstStyle/>
                    <a:p>
                      <a:r>
                        <a:rPr sz="1400" b="0">
                          <a:solidFill>
                            <a:srgbClr val="1B2430"/>
                          </a:solidFill>
                          <a:latin typeface="Calibri"/>
                        </a:rPr>
                        <a:t>Aniqroq, og'irroq</a:t>
                      </a:r>
                    </a:p>
                  </a:txBody>
                  <a:tcPr>
                    <a:solidFill>
                      <a:srgbClr val="F1F4F8"/>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2-qadam. Komponentlarni tanlash</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 · Sun'iy intellektga asoslangan kompyuter tizimlari injiniringi: arxitektura va loyihalash tamoyillari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22</a:t>
            </a:r>
          </a:p>
        </p:txBody>
      </p:sp>
      <p:sp>
        <p:nvSpPr>
          <p:cNvPr id="10" name="Rounded Rectangle 9"/>
          <p:cNvSpPr/>
          <p:nvPr/>
        </p:nvSpPr>
        <p:spPr>
          <a:xfrm>
            <a:off x="550000" y="1300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300000"/>
            <a:ext cx="70000" cy="894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1517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300000"/>
            <a:ext cx="10050000" cy="894000"/>
          </a:xfrm>
          <a:prstGeom prst="rect">
            <a:avLst/>
          </a:prstGeom>
          <a:noFill/>
        </p:spPr>
        <p:txBody>
          <a:bodyPr wrap="square" anchor="ctr" lIns="50800" rIns="50800">
            <a:spAutoFit/>
          </a:bodyPr>
          <a:lstStyle/>
          <a:p>
            <a:pPr algn="l"/>
            <a:r>
              <a:rPr sz="1400" b="0">
                <a:solidFill>
                  <a:srgbClr val="1B2430"/>
                </a:solidFill>
                <a:latin typeface="Calibri"/>
              </a:rPr>
              <a:t>Hisoblash: bitta NVIDIA L4 (24 GB, 72 W, taxminan 121 TFLOPS FP16 zich, INT8 da ikki baravar) yoki Jetson AGX Orin 64 GB (chekka variant).</a:t>
            </a:r>
          </a:p>
        </p:txBody>
      </p:sp>
      <p:sp>
        <p:nvSpPr>
          <p:cNvPr id="14" name="Rounded Rectangle 13"/>
          <p:cNvSpPr/>
          <p:nvPr/>
        </p:nvSpPr>
        <p:spPr>
          <a:xfrm>
            <a:off x="550000" y="2314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314000"/>
            <a:ext cx="70000" cy="894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2531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314000"/>
            <a:ext cx="10050000" cy="894000"/>
          </a:xfrm>
          <a:prstGeom prst="rect">
            <a:avLst/>
          </a:prstGeom>
          <a:noFill/>
        </p:spPr>
        <p:txBody>
          <a:bodyPr wrap="square" anchor="ctr" lIns="50800" rIns="50800">
            <a:spAutoFit/>
          </a:bodyPr>
          <a:lstStyle/>
          <a:p>
            <a:pPr algn="l"/>
            <a:r>
              <a:rPr sz="1400" b="0">
                <a:solidFill>
                  <a:srgbClr val="1B2430"/>
                </a:solidFill>
                <a:latin typeface="Calibri"/>
              </a:rPr>
              <a:t>Dekodlash: 16 ta 1080p H.264 oqimi — bu L4 dagi NVDEC bloklari uchun yengil yuk (L4 da ikkita NVDEC bo'lib, ishlab chiqaruvchi ma'lumotiga ko'ra bir vaqtda ko'plab 1080p oqimlarni…</a:t>
            </a:r>
          </a:p>
        </p:txBody>
      </p:sp>
      <p:sp>
        <p:nvSpPr>
          <p:cNvPr id="18" name="Rounded Rectangle 17"/>
          <p:cNvSpPr/>
          <p:nvPr/>
        </p:nvSpPr>
        <p:spPr>
          <a:xfrm>
            <a:off x="550000" y="3328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3328000"/>
            <a:ext cx="70000" cy="894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354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3328000"/>
            <a:ext cx="10050000" cy="894000"/>
          </a:xfrm>
          <a:prstGeom prst="rect">
            <a:avLst/>
          </a:prstGeom>
          <a:noFill/>
        </p:spPr>
        <p:txBody>
          <a:bodyPr wrap="square" anchor="ctr" lIns="50800" rIns="50800">
            <a:spAutoFit/>
          </a:bodyPr>
          <a:lstStyle/>
          <a:p>
            <a:pPr algn="l"/>
            <a:r>
              <a:rPr sz="1400" b="0">
                <a:solidFill>
                  <a:srgbClr val="1B2430"/>
                </a:solidFill>
                <a:latin typeface="Calibri"/>
              </a:rPr>
              <a:t>CPU va xotira: 8–16 yadroli server protsessori (oldindan/keyingi ishlov, kuzatuv, API), 64 GB RAM.</a:t>
            </a:r>
          </a:p>
        </p:txBody>
      </p:sp>
      <p:sp>
        <p:nvSpPr>
          <p:cNvPr id="22" name="Rounded Rectangle 21"/>
          <p:cNvSpPr/>
          <p:nvPr/>
        </p:nvSpPr>
        <p:spPr>
          <a:xfrm>
            <a:off x="550000" y="4342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50000" y="4342000"/>
            <a:ext cx="70000" cy="894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0000" y="45590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5" name="TextBox 24"/>
          <p:cNvSpPr txBox="1"/>
          <p:nvPr/>
        </p:nvSpPr>
        <p:spPr>
          <a:xfrm>
            <a:off x="1450000" y="4342000"/>
            <a:ext cx="10050000" cy="894000"/>
          </a:xfrm>
          <a:prstGeom prst="rect">
            <a:avLst/>
          </a:prstGeom>
          <a:noFill/>
        </p:spPr>
        <p:txBody>
          <a:bodyPr wrap="square" anchor="ctr" lIns="50800" rIns="50800">
            <a:spAutoFit/>
          </a:bodyPr>
          <a:lstStyle/>
          <a:p>
            <a:pPr algn="l"/>
            <a:r>
              <a:rPr sz="1400" b="0">
                <a:solidFill>
                  <a:srgbClr val="1B2430"/>
                </a:solidFill>
                <a:latin typeface="Calibri"/>
              </a:rPr>
              <a:t>Dasturiy stek: Ubuntu 22.04, NVIDIA drayveri, CUDA 12.x, ONNX Runtime (CUDA EP) yoki TensorRT, FastAPI (API), Prometheus (metrikalar), Docker (qadoqlash; M7 da batafsil).</a:t>
            </a:r>
          </a:p>
        </p:txBody>
      </p:sp>
      <p:sp>
        <p:nvSpPr>
          <p:cNvPr id="26" name="Rounded Rectangle 25"/>
          <p:cNvSpPr/>
          <p:nvPr/>
        </p:nvSpPr>
        <p:spPr>
          <a:xfrm>
            <a:off x="550000" y="5356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0000" y="5356000"/>
            <a:ext cx="70000" cy="894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0000" y="5573000"/>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5</a:t>
            </a:r>
          </a:p>
        </p:txBody>
      </p:sp>
      <p:sp>
        <p:nvSpPr>
          <p:cNvPr id="29" name="TextBox 28"/>
          <p:cNvSpPr txBox="1"/>
          <p:nvPr/>
        </p:nvSpPr>
        <p:spPr>
          <a:xfrm>
            <a:off x="1450000" y="5356000"/>
            <a:ext cx="10050000" cy="894000"/>
          </a:xfrm>
          <a:prstGeom prst="rect">
            <a:avLst/>
          </a:prstGeom>
          <a:noFill/>
        </p:spPr>
        <p:txBody>
          <a:bodyPr wrap="square" anchor="ctr" lIns="50800" rIns="50800">
            <a:spAutoFit/>
          </a:bodyPr>
          <a:lstStyle/>
          <a:p>
            <a:pPr algn="l"/>
            <a:r>
              <a:rPr sz="1400" b="0">
                <a:solidFill>
                  <a:srgbClr val="1B2430"/>
                </a:solidFill>
                <a:latin typeface="Calibri"/>
              </a:rPr>
              <a:t>Nima bo'ldi va nega. Har komponent oldingi qadamdagi raqamdan kelib chiqdi: tezlatkich — zarur TFLOPS dan, dekoder — oqimlar sonidan, CPU — tezlatkichga yuklanmaydigan ishdan.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anim calcmode="lin" valueType="num">
                                      <p:cBhvr additive="base">
                                        <p:cTn id="83" dur="550" fill="hold"/>
                                        <p:tgtEl>
                                          <p:spTgt spid="22"/>
                                        </p:tgtEl>
                                        <p:attrNameLst>
                                          <p:attrName>ppt_x</p:attrName>
                                        </p:attrNameLst>
                                      </p:cBhvr>
                                      <p:tavLst>
                                        <p:tav tm="0">
                                          <p:val>
                                            <p:strVal val="#ppt_x"/>
                                          </p:val>
                                        </p:tav>
                                        <p:tav tm="100000">
                                          <p:val>
                                            <p:strVal val="#ppt_x"/>
                                          </p:val>
                                        </p:tav>
                                      </p:tavLst>
                                    </p:anim>
                                    <p:anim calcmode="lin" valueType="num">
                                      <p:cBhvr additive="base">
                                        <p:cTn id="84" dur="550" fill="hold"/>
                                        <p:tgtEl>
                                          <p:spTgt spid="22"/>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550"/>
                                        <p:tgtEl>
                                          <p:spTgt spid="23"/>
                                        </p:tgtEl>
                                      </p:cBhvr>
                                    </p:animEffect>
                                    <p:anim calcmode="lin" valueType="num">
                                      <p:cBhvr additive="base">
                                        <p:cTn id="89" dur="550" fill="hold"/>
                                        <p:tgtEl>
                                          <p:spTgt spid="23"/>
                                        </p:tgtEl>
                                        <p:attrNameLst>
                                          <p:attrName>ppt_x</p:attrName>
                                        </p:attrNameLst>
                                      </p:cBhvr>
                                      <p:tavLst>
                                        <p:tav tm="0">
                                          <p:val>
                                            <p:strVal val="#ppt_x"/>
                                          </p:val>
                                        </p:tav>
                                        <p:tav tm="100000">
                                          <p:val>
                                            <p:strVal val="#ppt_x"/>
                                          </p:val>
                                        </p:tav>
                                      </p:tavLst>
                                    </p:anim>
                                    <p:anim calcmode="lin" valueType="num">
                                      <p:cBhvr additive="base">
                                        <p:cTn id="90" dur="550" fill="hold"/>
                                        <p:tgtEl>
                                          <p:spTgt spid="23"/>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50"/>
                                        <p:tgtEl>
                                          <p:spTgt spid="24"/>
                                        </p:tgtEl>
                                      </p:cBhvr>
                                    </p:animEffect>
                                    <p:anim calcmode="lin" valueType="num">
                                      <p:cBhvr additive="base">
                                        <p:cTn id="95" dur="550" fill="hold"/>
                                        <p:tgtEl>
                                          <p:spTgt spid="24"/>
                                        </p:tgtEl>
                                        <p:attrNameLst>
                                          <p:attrName>ppt_w</p:attrName>
                                        </p:attrNameLst>
                                      </p:cBhvr>
                                      <p:tavLst>
                                        <p:tav tm="0">
                                          <p:val>
                                            <p:strVal val="0"/>
                                          </p:val>
                                        </p:tav>
                                        <p:tav tm="100000">
                                          <p:val>
                                            <p:strVal val="#ppt_w"/>
                                          </p:val>
                                        </p:tav>
                                      </p:tavLst>
                                    </p:anim>
                                    <p:anim calcmode="lin" valueType="num">
                                      <p:cBhvr additive="base">
                                        <p:cTn id="96" dur="550" fill="hold"/>
                                        <p:tgtEl>
                                          <p:spTgt spid="24"/>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550"/>
                                        <p:tgtEl>
                                          <p:spTgt spid="25"/>
                                        </p:tgtEl>
                                      </p:cBhvr>
                                    </p:animEffect>
                                    <p:anim calcmode="lin" valueType="num">
                                      <p:cBhvr additive="base">
                                        <p:cTn id="101" dur="550" fill="hold"/>
                                        <p:tgtEl>
                                          <p:spTgt spid="25"/>
                                        </p:tgtEl>
                                        <p:attrNameLst>
                                          <p:attrName>ppt_x</p:attrName>
                                        </p:attrNameLst>
                                      </p:cBhvr>
                                      <p:tavLst>
                                        <p:tav tm="0">
                                          <p:val>
                                            <p:strVal val="#ppt_x"/>
                                          </p:val>
                                        </p:tav>
                                        <p:tav tm="100000">
                                          <p:val>
                                            <p:strVal val="#ppt_x"/>
                                          </p:val>
                                        </p:tav>
                                      </p:tavLst>
                                    </p:anim>
                                    <p:anim calcmode="lin" valueType="num">
                                      <p:cBhvr additive="base">
                                        <p:cTn id="102" dur="550" fill="hold"/>
                                        <p:tgtEl>
                                          <p:spTgt spid="25"/>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6"/>
                                        </p:tgtEl>
                                        <p:attrNameLst>
                                          <p:attrName>style.visibility</p:attrName>
                                        </p:attrNameLst>
                                      </p:cBhvr>
                                      <p:to>
                                        <p:strVal val="visible"/>
                                      </p:to>
                                    </p:set>
                                    <p:animEffect transition="in" filter="fade">
                                      <p:cBhvr>
                                        <p:cTn id="106" dur="550"/>
                                        <p:tgtEl>
                                          <p:spTgt spid="26"/>
                                        </p:tgtEl>
                                      </p:cBhvr>
                                    </p:animEffect>
                                    <p:anim calcmode="lin" valueType="num">
                                      <p:cBhvr additive="base">
                                        <p:cTn id="107" dur="550" fill="hold"/>
                                        <p:tgtEl>
                                          <p:spTgt spid="26"/>
                                        </p:tgtEl>
                                        <p:attrNameLst>
                                          <p:attrName>ppt_x</p:attrName>
                                        </p:attrNameLst>
                                      </p:cBhvr>
                                      <p:tavLst>
                                        <p:tav tm="0">
                                          <p:val>
                                            <p:strVal val="#ppt_x"/>
                                          </p:val>
                                        </p:tav>
                                        <p:tav tm="100000">
                                          <p:val>
                                            <p:strVal val="#ppt_x"/>
                                          </p:val>
                                        </p:tav>
                                      </p:tavLst>
                                    </p:anim>
                                    <p:anim calcmode="lin" valueType="num">
                                      <p:cBhvr additive="base">
                                        <p:cTn id="108" dur="550" fill="hold"/>
                                        <p:tgtEl>
                                          <p:spTgt spid="26"/>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7"/>
                                        </p:tgtEl>
                                        <p:attrNameLst>
                                          <p:attrName>style.visibility</p:attrName>
                                        </p:attrNameLst>
                                      </p:cBhvr>
                                      <p:to>
                                        <p:strVal val="visible"/>
                                      </p:to>
                                    </p:set>
                                    <p:animEffect transition="in" filter="fade">
                                      <p:cBhvr>
                                        <p:cTn id="112" dur="550"/>
                                        <p:tgtEl>
                                          <p:spTgt spid="27"/>
                                        </p:tgtEl>
                                      </p:cBhvr>
                                    </p:animEffect>
                                    <p:anim calcmode="lin" valueType="num">
                                      <p:cBhvr additive="base">
                                        <p:cTn id="113" dur="550" fill="hold"/>
                                        <p:tgtEl>
                                          <p:spTgt spid="27"/>
                                        </p:tgtEl>
                                        <p:attrNameLst>
                                          <p:attrName>ppt_x</p:attrName>
                                        </p:attrNameLst>
                                      </p:cBhvr>
                                      <p:tavLst>
                                        <p:tav tm="0">
                                          <p:val>
                                            <p:strVal val="#ppt_x"/>
                                          </p:val>
                                        </p:tav>
                                        <p:tav tm="100000">
                                          <p:val>
                                            <p:strVal val="#ppt_x"/>
                                          </p:val>
                                        </p:tav>
                                      </p:tavLst>
                                    </p:anim>
                                    <p:anim calcmode="lin" valueType="num">
                                      <p:cBhvr additive="base">
                                        <p:cTn id="114" dur="550" fill="hold"/>
                                        <p:tgtEl>
                                          <p:spTgt spid="27"/>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8"/>
                                        </p:tgtEl>
                                        <p:attrNameLst>
                                          <p:attrName>style.visibility</p:attrName>
                                        </p:attrNameLst>
                                      </p:cBhvr>
                                      <p:to>
                                        <p:strVal val="visible"/>
                                      </p:to>
                                    </p:set>
                                    <p:animEffect transition="in" filter="fade">
                                      <p:cBhvr>
                                        <p:cTn id="118" dur="550"/>
                                        <p:tgtEl>
                                          <p:spTgt spid="28"/>
                                        </p:tgtEl>
                                      </p:cBhvr>
                                    </p:animEffect>
                                    <p:anim calcmode="lin" valueType="num">
                                      <p:cBhvr additive="base">
                                        <p:cTn id="119" dur="550" fill="hold"/>
                                        <p:tgtEl>
                                          <p:spTgt spid="28"/>
                                        </p:tgtEl>
                                        <p:attrNameLst>
                                          <p:attrName>ppt_w</p:attrName>
                                        </p:attrNameLst>
                                      </p:cBhvr>
                                      <p:tavLst>
                                        <p:tav tm="0">
                                          <p:val>
                                            <p:strVal val="0"/>
                                          </p:val>
                                        </p:tav>
                                        <p:tav tm="100000">
                                          <p:val>
                                            <p:strVal val="#ppt_w"/>
                                          </p:val>
                                        </p:tav>
                                      </p:tavLst>
                                    </p:anim>
                                    <p:anim calcmode="lin" valueType="num">
                                      <p:cBhvr additive="base">
                                        <p:cTn id="120" dur="550" fill="hold"/>
                                        <p:tgtEl>
                                          <p:spTgt spid="28"/>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9"/>
                                        </p:tgtEl>
                                        <p:attrNameLst>
                                          <p:attrName>style.visibility</p:attrName>
                                        </p:attrNameLst>
                                      </p:cBhvr>
                                      <p:to>
                                        <p:strVal val="visible"/>
                                      </p:to>
                                    </p:set>
                                    <p:animEffect transition="in" filter="fade">
                                      <p:cBhvr>
                                        <p:cTn id="124" dur="550"/>
                                        <p:tgtEl>
                                          <p:spTgt spid="29"/>
                                        </p:tgtEl>
                                      </p:cBhvr>
                                    </p:animEffect>
                                    <p:anim calcmode="lin" valueType="num">
                                      <p:cBhvr additive="base">
                                        <p:cTn id="125" dur="550" fill="hold"/>
                                        <p:tgtEl>
                                          <p:spTgt spid="29"/>
                                        </p:tgtEl>
                                        <p:attrNameLst>
                                          <p:attrName>ppt_x</p:attrName>
                                        </p:attrNameLst>
                                      </p:cBhvr>
                                      <p:tavLst>
                                        <p:tav tm="0">
                                          <p:val>
                                            <p:strVal val="#ppt_x"/>
                                          </p:val>
                                        </p:tav>
                                        <p:tav tm="100000">
                                          <p:val>
                                            <p:strVal val="#ppt_x"/>
                                          </p:val>
                                        </p:tav>
                                      </p:tavLst>
                                    </p:anim>
                                    <p:anim calcmode="lin" valueType="num">
                                      <p:cBhvr additive="base">
                                        <p:cTn id="126" dur="550" fill="hold"/>
                                        <p:tgtEl>
                                          <p:spTgt spid="29"/>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3-qadam. Modelni ONNX ga eksport qilish</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 · Sun'iy intellektga asoslangan kompyuter tizimlari injiniringi: arxitektura va loyihalash tamoyillari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23</a:t>
            </a:r>
          </a:p>
        </p:txBody>
      </p:sp>
      <p:sp>
        <p:nvSpPr>
          <p:cNvPr id="10" name="Rounded Rectangle 9"/>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533333"/>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928333"/>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533333"/>
            <a:ext cx="10050000" cy="1250000"/>
          </a:xfrm>
          <a:prstGeom prst="rect">
            <a:avLst/>
          </a:prstGeom>
          <a:noFill/>
        </p:spPr>
        <p:txBody>
          <a:bodyPr wrap="square" anchor="ctr" lIns="50800" rIns="50800">
            <a:spAutoFit/>
          </a:bodyPr>
          <a:lstStyle/>
          <a:p>
            <a:pPr algn="l"/>
            <a:r>
              <a:rPr sz="1800" b="0">
                <a:solidFill>
                  <a:srgbClr val="1B2430"/>
                </a:solidFill>
                <a:latin typeface="Calibri"/>
              </a:rPr>
              <a:t>Nima bo'ldi va nega. PyTorch modeli ramkadan mustaqil ONNX grafiga aylandi. Endi uni ONNX Runtime, TensorRT yoki OpenVINO da ishga tushirish mumkin — bu «modullilik va interfeyslar» tamoyilining amaliy ifodasi.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3-qadam. Modelni ONNX ga eksport qilish — kod</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 · Sun'iy intellektga asoslangan kompyuter tizimlari injiniringi: arxitektura va loyihalash tamoyillari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24</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200">
                <a:solidFill>
                  <a:srgbClr val="7FD6D7"/>
                </a:solidFill>
                <a:latin typeface="Consolas"/>
              </a:rPr>
              <a:t># export_model.py — YOLOv8s modelini ONNX formatiga eksport qilish</a:t>
            </a:r>
          </a:p>
          <a:p>
            <a:r>
              <a:rPr sz="1200">
                <a:solidFill>
                  <a:srgbClr val="E2E8F0"/>
                </a:solidFill>
                <a:latin typeface="Consolas"/>
              </a:rPr>
              <a:t>from ultralytics import YOLO</a:t>
            </a:r>
          </a:p>
          <a:p>
            <a:r>
              <a:rPr sz="1200">
                <a:solidFill>
                  <a:srgbClr val="E2E8F0"/>
                </a:solidFill>
                <a:latin typeface="Consolas"/>
              </a:rPr>
              <a:t> </a:t>
            </a:r>
          </a:p>
          <a:p>
            <a:r>
              <a:rPr sz="1200">
                <a:solidFill>
                  <a:srgbClr val="E2E8F0"/>
                </a:solidFill>
                <a:latin typeface="Consolas"/>
              </a:rPr>
              <a:t>model = YOLO("yolov8s.pt")            # oldindan o'qitilgan COCO modeli yuklanadi</a:t>
            </a:r>
          </a:p>
          <a:p>
            <a:r>
              <a:rPr sz="1200">
                <a:solidFill>
                  <a:srgbClr val="E2E8F0"/>
                </a:solidFill>
                <a:latin typeface="Consolas"/>
              </a:rPr>
              <a:t>model.export(</a:t>
            </a:r>
          </a:p>
          <a:p>
            <a:r>
              <a:rPr sz="1200">
                <a:solidFill>
                  <a:srgbClr val="E2E8F0"/>
                </a:solidFill>
                <a:latin typeface="Consolas"/>
              </a:rPr>
              <a:t>    format="onnx",</a:t>
            </a:r>
          </a:p>
          <a:p>
            <a:r>
              <a:rPr sz="1200">
                <a:solidFill>
                  <a:srgbClr val="E2E8F0"/>
                </a:solidFill>
                <a:latin typeface="Consolas"/>
              </a:rPr>
              <a:t>    imgsz=640,</a:t>
            </a:r>
          </a:p>
          <a:p>
            <a:r>
              <a:rPr sz="1200">
                <a:solidFill>
                  <a:srgbClr val="E2E8F0"/>
                </a:solidFill>
                <a:latin typeface="Consolas"/>
              </a:rPr>
              <a:t>    opset=17,</a:t>
            </a:r>
          </a:p>
          <a:p>
            <a:r>
              <a:rPr sz="1200">
                <a:solidFill>
                  <a:srgbClr val="E2E8F0"/>
                </a:solidFill>
                <a:latin typeface="Consolas"/>
              </a:rPr>
              <a:t>    simplify=True,</a:t>
            </a:r>
          </a:p>
          <a:p>
            <a:r>
              <a:rPr sz="1200">
                <a:solidFill>
                  <a:srgbClr val="E2E8F0"/>
                </a:solidFill>
                <a:latin typeface="Consolas"/>
              </a:rPr>
              <a:t>    dynamic=False,                     # statik shakl: tezlatkichlar uchun qulay</a:t>
            </a:r>
          </a:p>
          <a:p>
            <a:r>
              <a:rPr sz="1200">
                <a:solidFill>
                  <a:srgbClr val="E2E8F0"/>
                </a:solidFill>
                <a:latin typeface="Consolas"/>
              </a:rPr>
              <a:t>    half=False,                        # FP16 ni ish vaqti muhiti o'zi tanlaydi</a:t>
            </a:r>
          </a:p>
          <a:p>
            <a:r>
              <a:rPr sz="1200">
                <a:solidFill>
                  <a:srgbClr val="E2E8F0"/>
                </a:solidFill>
                <a:latin typeface="Consolas"/>
              </a:rPr>
              <a:t>)</a:t>
            </a:r>
          </a:p>
          <a:p>
            <a:r>
              <a:rPr sz="1200">
                <a:solidFill>
                  <a:srgbClr val="E2E8F0"/>
                </a:solidFill>
                <a:latin typeface="Consolas"/>
              </a:rPr>
              <a:t>print("yolov8s.onnx tayyor")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4-qadam. Inferens xizmatini yozish</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 · Sun'iy intellektga asoslangan kompyuter tizimlari injiniringi: arxitektura va loyihalash tamoyillari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25</a:t>
            </a:r>
          </a:p>
        </p:txBody>
      </p:sp>
      <p:sp>
        <p:nvSpPr>
          <p:cNvPr id="10" name="Rounded Rectangle 9"/>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07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47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076666"/>
            <a:ext cx="10050000" cy="1250000"/>
          </a:xfrm>
          <a:prstGeom prst="rect">
            <a:avLst/>
          </a:prstGeom>
          <a:noFill/>
        </p:spPr>
        <p:txBody>
          <a:bodyPr wrap="square" anchor="ctr" lIns="50800" rIns="50800">
            <a:spAutoFit/>
          </a:bodyPr>
          <a:lstStyle/>
          <a:p>
            <a:pPr algn="l"/>
            <a:r>
              <a:rPr sz="1600" b="0">
                <a:solidFill>
                  <a:srgbClr val="1B2430"/>
                </a:solidFill>
                <a:latin typeface="Calibri"/>
              </a:rPr>
              <a:t>Ishga tushirish: uvicorn service:app --host 0.0.0.0 --port 8000 --workers 1. Sinov so'rovi: curl -F "file=@kadr.jpg" http://localhost:8000/detect.</a:t>
            </a:r>
          </a:p>
        </p:txBody>
      </p:sp>
      <p:sp>
        <p:nvSpPr>
          <p:cNvPr id="14" name="Rounded Rectangle 13"/>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3446666"/>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841666"/>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3446666"/>
            <a:ext cx="10050000" cy="1250000"/>
          </a:xfrm>
          <a:prstGeom prst="rect">
            <a:avLst/>
          </a:prstGeom>
          <a:noFill/>
        </p:spPr>
        <p:txBody>
          <a:bodyPr wrap="square" anchor="ctr" lIns="50800" rIns="50800">
            <a:spAutoFit/>
          </a:bodyPr>
          <a:lstStyle/>
          <a:p>
            <a:pPr algn="l"/>
            <a:r>
              <a:rPr sz="1600" b="0">
                <a:solidFill>
                  <a:srgbClr val="1B2430"/>
                </a:solidFill>
                <a:latin typeface="Calibri"/>
              </a:rPr>
              <a:t>Nima bo'ldi va nega. Xizmat arxitekturaning 2–4-qatlamlarini (oldindan ishlov, inferens, keyingi ishlov) alohida funksiyalarga ajratdi va har bosqich vaqtini alohida o'lchaydi — bu kuzatuvchanlik tamoyili. Bitta ishchi jarayon (--workers 1) tanlandi, chunki…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4-qadam. Inferens xizmatini yozish — kod</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 · Sun'iy intellektga asoslangan kompyuter tizimlari injiniringi: arxitektura va loyihalash tamoyillari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26</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200">
                <a:solidFill>
                  <a:srgbClr val="7FD6D7"/>
                </a:solidFill>
                <a:latin typeface="Consolas"/>
              </a:rPr>
              <a:t># service.py — ONNX Runtime asosidagi oddiy inferens xizmati</a:t>
            </a:r>
          </a:p>
          <a:p>
            <a:r>
              <a:rPr sz="1200">
                <a:solidFill>
                  <a:srgbClr val="E2E8F0"/>
                </a:solidFill>
                <a:latin typeface="Consolas"/>
              </a:rPr>
              <a:t>import time, numpy as np, cv2, onnxruntime as ort</a:t>
            </a:r>
          </a:p>
          <a:p>
            <a:r>
              <a:rPr sz="1200">
                <a:solidFill>
                  <a:srgbClr val="E2E8F0"/>
                </a:solidFill>
                <a:latin typeface="Consolas"/>
              </a:rPr>
              <a:t>from fastapi import FastAPI, UploadFile</a:t>
            </a:r>
          </a:p>
          <a:p>
            <a:r>
              <a:rPr sz="1200">
                <a:solidFill>
                  <a:srgbClr val="E2E8F0"/>
                </a:solidFill>
                <a:latin typeface="Consolas"/>
              </a:rPr>
              <a:t>from fastapi.responses import JSONResponse</a:t>
            </a:r>
          </a:p>
          <a:p>
            <a:r>
              <a:rPr sz="1200">
                <a:solidFill>
                  <a:srgbClr val="E2E8F0"/>
                </a:solidFill>
                <a:latin typeface="Consolas"/>
              </a:rPr>
              <a:t> </a:t>
            </a:r>
          </a:p>
          <a:p>
            <a:r>
              <a:rPr sz="1200">
                <a:solidFill>
                  <a:srgbClr val="E2E8F0"/>
                </a:solidFill>
                <a:latin typeface="Consolas"/>
              </a:rPr>
              <a:t>providers = ["CUDAExecutionProvider", "CPUExecutionProvider"]</a:t>
            </a:r>
          </a:p>
          <a:p>
            <a:r>
              <a:rPr sz="1200">
                <a:solidFill>
                  <a:srgbClr val="E2E8F0"/>
                </a:solidFill>
                <a:latin typeface="Consolas"/>
              </a:rPr>
              <a:t>sess = ort.InferenceSession("yolov8s.onnx", providers=providers)</a:t>
            </a:r>
          </a:p>
          <a:p>
            <a:r>
              <a:rPr sz="1200">
                <a:solidFill>
                  <a:srgbClr val="E2E8F0"/>
                </a:solidFill>
                <a:latin typeface="Consolas"/>
              </a:rPr>
              <a:t>inp_name = sess.get_inputs()[0].name</a:t>
            </a:r>
          </a:p>
          <a:p>
            <a:r>
              <a:rPr sz="1200">
                <a:solidFill>
                  <a:srgbClr val="E2E8F0"/>
                </a:solidFill>
                <a:latin typeface="Consolas"/>
              </a:rPr>
              <a:t>print("Faol provayder:", sess.get_providers()[0])</a:t>
            </a:r>
          </a:p>
          <a:p>
            <a:r>
              <a:rPr sz="1200">
                <a:solidFill>
                  <a:srgbClr val="E2E8F0"/>
                </a:solidFill>
                <a:latin typeface="Consolas"/>
              </a:rPr>
              <a:t> </a:t>
            </a:r>
          </a:p>
          <a:p>
            <a:r>
              <a:rPr sz="1200">
                <a:solidFill>
                  <a:srgbClr val="E2E8F0"/>
                </a:solidFill>
                <a:latin typeface="Consolas"/>
              </a:rPr>
              <a:t>CONF, IOU, CLASSES = 0.35, 0.5, {0: "person", 2: "car", 5: "bus", 7: "truck"}</a:t>
            </a:r>
          </a:p>
          <a:p>
            <a:r>
              <a:rPr sz="1200">
                <a:solidFill>
                  <a:srgbClr val="E2E8F0"/>
                </a:solidFill>
                <a:latin typeface="Consolas"/>
              </a:rPr>
              <a:t> </a:t>
            </a:r>
          </a:p>
          <a:p>
            <a:r>
              <a:rPr sz="1200">
                <a:solidFill>
                  <a:srgbClr val="E2E8F0"/>
                </a:solidFill>
                <a:latin typeface="Consolas"/>
              </a:rPr>
              <a:t>def preprocess(img):</a:t>
            </a:r>
          </a:p>
          <a:p>
            <a:r>
              <a:rPr sz="1200">
                <a:solidFill>
                  <a:srgbClr val="E2E8F0"/>
                </a:solidFill>
                <a:latin typeface="Consolas"/>
              </a:rPr>
              <a:t>    h, w = img.shape[:2]</a:t>
            </a:r>
          </a:p>
          <a:p>
            <a:r>
              <a:rPr sz="1200">
                <a:solidFill>
                  <a:srgbClr val="E2E8F0"/>
                </a:solidFill>
                <a:latin typeface="Consolas"/>
              </a:rPr>
              <a:t>    s = 640 / max(h, w)</a:t>
            </a:r>
          </a:p>
          <a:p>
            <a:r>
              <a:rPr sz="1200">
                <a:solidFill>
                  <a:srgbClr val="E2E8F0"/>
                </a:solidFill>
                <a:latin typeface="Consolas"/>
              </a:rPr>
              <a:t>    nh, nw = int(h * s), int(w * s)</a:t>
            </a:r>
          </a:p>
          <a:p>
            <a:r>
              <a:rPr sz="1200">
                <a:solidFill>
                  <a:srgbClr val="E2E8F0"/>
                </a:solidFill>
                <a:latin typeface="Consolas"/>
              </a:rPr>
              <a:t>    canvas = np.full((640, 640, 3), 114, np.uint8)</a:t>
            </a:r>
          </a:p>
          <a:p>
            <a:r>
              <a:rPr sz="1200">
                <a:solidFill>
                  <a:srgbClr val="E2E8F0"/>
                </a:solidFill>
                <a:latin typeface="Consolas"/>
              </a:rPr>
              <a:t>    canvas[:nh, :nw] = cv2.resize(img, (nw, nh))</a:t>
            </a:r>
          </a:p>
          <a:p>
            <a:r>
              <a:rPr sz="1200">
                <a:solidFill>
                  <a:srgbClr val="E2E8F0"/>
                </a:solidFill>
                <a:latin typeface="Consolas"/>
              </a:rPr>
              <a:t>    x = canvas[:, :, ::-1].transpose(2, 0, 1).astype(np.float32) / 255.0</a:t>
            </a:r>
          </a:p>
          <a:p>
            <a:r>
              <a:rPr sz="1200">
                <a:solidFill>
                  <a:srgbClr val="E2E8F0"/>
                </a:solidFill>
                <a:latin typeface="Consolas"/>
              </a:rPr>
              <a:t>    return x[None], s</a:t>
            </a:r>
          </a:p>
          <a:p>
            <a:r>
              <a:rPr sz="1200">
                <a:solidFill>
                  <a:srgbClr val="7FD6D7"/>
                </a:solidFill>
                <a:latin typeface="Consolas"/>
              </a:rPr>
              <a:t># … (to‘liq kod — mavzu matnida / GitHub’da)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5-qadam. Kechikish va o'tkazuvchanlikni o'lchash</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 · Sun'iy intellektga asoslangan kompyuter tizimlari injiniringi: arxitektura va loyihalash tamoyillari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27</a:t>
            </a:r>
          </a:p>
        </p:txBody>
      </p:sp>
      <p:sp>
        <p:nvSpPr>
          <p:cNvPr id="10" name="Rounded Rectangle 9"/>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07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47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076666"/>
            <a:ext cx="10050000" cy="1250000"/>
          </a:xfrm>
          <a:prstGeom prst="rect">
            <a:avLst/>
          </a:prstGeom>
          <a:noFill/>
        </p:spPr>
        <p:txBody>
          <a:bodyPr wrap="square" anchor="ctr" lIns="50800" rIns="50800">
            <a:spAutoFit/>
          </a:bodyPr>
          <a:lstStyle/>
          <a:p>
            <a:pPr algn="l"/>
            <a:r>
              <a:rPr sz="1800" b="0">
                <a:solidFill>
                  <a:srgbClr val="1B2430"/>
                </a:solidFill>
                <a:latin typeface="Calibri"/>
              </a:rPr>
              <a:t>Kutilgan taxminiy natijalar (bitta 1080p JPEG kadr, YOLOv8s, 640×640):</a:t>
            </a:r>
          </a:p>
        </p:txBody>
      </p:sp>
      <p:sp>
        <p:nvSpPr>
          <p:cNvPr id="14" name="Rounded Rectangle 13"/>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3446666"/>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841666"/>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3446666"/>
            <a:ext cx="10050000" cy="1250000"/>
          </a:xfrm>
          <a:prstGeom prst="rect">
            <a:avLst/>
          </a:prstGeom>
          <a:noFill/>
        </p:spPr>
        <p:txBody>
          <a:bodyPr wrap="square" anchor="ctr" lIns="50800" rIns="50800">
            <a:spAutoFit/>
          </a:bodyPr>
          <a:lstStyle/>
          <a:p>
            <a:pPr algn="l"/>
            <a:r>
              <a:rPr sz="1800" b="0">
                <a:solidFill>
                  <a:srgbClr val="1B2430"/>
                </a:solidFill>
                <a:latin typeface="Calibri"/>
              </a:rPr>
              <a:t>Nima bo'ldi va nega. O'lchov ikki haqiqatni ochdi. Birinchidan, FP32 rejimidagi ONNX Runtime bitta jarayonda 240 kadr/s talabini qondirmaydi — faqat TensorRT FP16 yoki INT8 bilan qondiradi (bu A3 amaliy mashg'ulotining mavzusi).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5-qadam. Kechikish va o'tkazuvchanlikni o'lchash</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 · Sun'iy intellektga asoslangan kompyuter tizimlari injiniringi: arxitektura va loyihalash tamoyillari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28</a:t>
            </a:r>
          </a:p>
        </p:txBody>
      </p:sp>
      <p:graphicFrame>
        <p:nvGraphicFramePr>
          <p:cNvPr id="10" name="Table 9"/>
          <p:cNvGraphicFramePr>
            <a:graphicFrameLocks noGrp="1"/>
          </p:cNvGraphicFramePr>
          <p:nvPr/>
        </p:nvGraphicFramePr>
        <p:xfrm>
          <a:off x="500000" y="1350000"/>
          <a:ext cx="11200000" cy="2080000"/>
        </p:xfrm>
        <a:graphic>
          <a:graphicData uri="http://schemas.openxmlformats.org/drawingml/2006/table">
            <a:tbl>
              <a:tblPr firstRow="1" bandRow="1">
                <a:tableStyleId>{5C22544A-7EE6-4342-B048-85BDC9FD1C3A}</a:tableStyleId>
              </a:tblPr>
              <a:tblGrid>
                <a:gridCol w="1866666"/>
                <a:gridCol w="1866666"/>
                <a:gridCol w="1866666"/>
                <a:gridCol w="1866666"/>
                <a:gridCol w="1866666"/>
                <a:gridCol w="1866670"/>
              </a:tblGrid>
              <a:tr h="520000">
                <a:tc>
                  <a:txBody>
                    <a:bodyPr/>
                    <a:lstStyle/>
                    <a:p>
                      <a:r>
                        <a:rPr sz="1400" b="1">
                          <a:solidFill>
                            <a:srgbClr val="FFFFFF"/>
                          </a:solidFill>
                          <a:latin typeface="Calibri"/>
                        </a:rPr>
                        <a:t>Konfiguratsiya</a:t>
                      </a:r>
                    </a:p>
                  </a:txBody>
                  <a:tcPr>
                    <a:solidFill>
                      <a:srgbClr val="2D5C8F"/>
                    </a:solidFill>
                  </a:tcPr>
                </a:tc>
                <a:tc>
                  <a:txBody>
                    <a:bodyPr/>
                    <a:lstStyle/>
                    <a:p>
                      <a:r>
                        <a:rPr sz="1400" b="1">
                          <a:solidFill>
                            <a:srgbClr val="FFFFFF"/>
                          </a:solidFill>
                          <a:latin typeface="Calibri"/>
                        </a:rPr>
                        <a:t>pre, ms</a:t>
                      </a:r>
                    </a:p>
                  </a:txBody>
                  <a:tcPr>
                    <a:solidFill>
                      <a:srgbClr val="2D5C8F"/>
                    </a:solidFill>
                  </a:tcPr>
                </a:tc>
                <a:tc>
                  <a:txBody>
                    <a:bodyPr/>
                    <a:lstStyle/>
                    <a:p>
                      <a:r>
                        <a:rPr sz="1400" b="1">
                          <a:solidFill>
                            <a:srgbClr val="FFFFFF"/>
                          </a:solidFill>
                          <a:latin typeface="Calibri"/>
                        </a:rPr>
                        <a:t>infer, ms</a:t>
                      </a:r>
                    </a:p>
                  </a:txBody>
                  <a:tcPr>
                    <a:solidFill>
                      <a:srgbClr val="2D5C8F"/>
                    </a:solidFill>
                  </a:tcPr>
                </a:tc>
                <a:tc>
                  <a:txBody>
                    <a:bodyPr/>
                    <a:lstStyle/>
                    <a:p>
                      <a:r>
                        <a:rPr sz="1400" b="1">
                          <a:solidFill>
                            <a:srgbClr val="FFFFFF"/>
                          </a:solidFill>
                          <a:latin typeface="Calibri"/>
                        </a:rPr>
                        <a:t>post, ms</a:t>
                      </a:r>
                    </a:p>
                  </a:txBody>
                  <a:tcPr>
                    <a:solidFill>
                      <a:srgbClr val="2D5C8F"/>
                    </a:solidFill>
                  </a:tcPr>
                </a:tc>
                <a:tc>
                  <a:txBody>
                    <a:bodyPr/>
                    <a:lstStyle/>
                    <a:p>
                      <a:r>
                        <a:rPr sz="1400" b="1">
                          <a:solidFill>
                            <a:srgbClr val="FFFFFF"/>
                          </a:solidFill>
                          <a:latin typeface="Calibri"/>
                        </a:rPr>
                        <a:t>Umumiy p50, ms</a:t>
                      </a:r>
                    </a:p>
                  </a:txBody>
                  <a:tcPr>
                    <a:solidFill>
                      <a:srgbClr val="2D5C8F"/>
                    </a:solidFill>
                  </a:tcPr>
                </a:tc>
                <a:tc>
                  <a:txBody>
                    <a:bodyPr/>
                    <a:lstStyle/>
                    <a:p>
                      <a:r>
                        <a:rPr sz="1400" b="1">
                          <a:solidFill>
                            <a:srgbClr val="FFFFFF"/>
                          </a:solidFill>
                          <a:latin typeface="Calibri"/>
                        </a:rPr>
                        <a:t>Parallel o'tkazuvchanlik</a:t>
                      </a:r>
                    </a:p>
                  </a:txBody>
                  <a:tcPr>
                    <a:solidFill>
                      <a:srgbClr val="2D5C8F"/>
                    </a:solidFill>
                  </a:tcPr>
                </a:tc>
              </a:tr>
              <a:tr h="520000">
                <a:tc>
                  <a:txBody>
                    <a:bodyPr/>
                    <a:lstStyle/>
                    <a:p>
                      <a:r>
                        <a:rPr sz="1400" b="0">
                          <a:solidFill>
                            <a:srgbClr val="1B2430"/>
                          </a:solidFill>
                          <a:latin typeface="Calibri"/>
                        </a:rPr>
                        <a:t>CPU (8 yadro, ORT CPU EP, FP32)</a:t>
                      </a:r>
                    </a:p>
                  </a:txBody>
                  <a:tcPr>
                    <a:solidFill>
                      <a:srgbClr val="F1F4F8"/>
                    </a:solidFill>
                  </a:tcPr>
                </a:tc>
                <a:tc>
                  <a:txBody>
                    <a:bodyPr/>
                    <a:lstStyle/>
                    <a:p>
                      <a:r>
                        <a:rPr sz="1400" b="0">
                          <a:solidFill>
                            <a:srgbClr val="1B2430"/>
                          </a:solidFill>
                          <a:latin typeface="Calibri"/>
                        </a:rPr>
                        <a:t>4–6</a:t>
                      </a:r>
                    </a:p>
                  </a:txBody>
                  <a:tcPr>
                    <a:solidFill>
                      <a:srgbClr val="F1F4F8"/>
                    </a:solidFill>
                  </a:tcPr>
                </a:tc>
                <a:tc>
                  <a:txBody>
                    <a:bodyPr/>
                    <a:lstStyle/>
                    <a:p>
                      <a:r>
                        <a:rPr sz="1400" b="0">
                          <a:solidFill>
                            <a:srgbClr val="1B2430"/>
                          </a:solidFill>
                          <a:latin typeface="Calibri"/>
                        </a:rPr>
                        <a:t>60–120</a:t>
                      </a:r>
                    </a:p>
                  </a:txBody>
                  <a:tcPr>
                    <a:solidFill>
                      <a:srgbClr val="F1F4F8"/>
                    </a:solidFill>
                  </a:tcPr>
                </a:tc>
                <a:tc>
                  <a:txBody>
                    <a:bodyPr/>
                    <a:lstStyle/>
                    <a:p>
                      <a:r>
                        <a:rPr sz="1400" b="0">
                          <a:solidFill>
                            <a:srgbClr val="1B2430"/>
                          </a:solidFill>
                          <a:latin typeface="Calibri"/>
                        </a:rPr>
                        <a:t>1–2</a:t>
                      </a:r>
                    </a:p>
                  </a:txBody>
                  <a:tcPr>
                    <a:solidFill>
                      <a:srgbClr val="F1F4F8"/>
                    </a:solidFill>
                  </a:tcPr>
                </a:tc>
                <a:tc>
                  <a:txBody>
                    <a:bodyPr/>
                    <a:lstStyle/>
                    <a:p>
                      <a:r>
                        <a:rPr sz="1400" b="0">
                          <a:solidFill>
                            <a:srgbClr val="1B2430"/>
                          </a:solidFill>
                          <a:latin typeface="Calibri"/>
                        </a:rPr>
                        <a:t>80–140</a:t>
                      </a:r>
                    </a:p>
                  </a:txBody>
                  <a:tcPr>
                    <a:solidFill>
                      <a:srgbClr val="F1F4F8"/>
                    </a:solidFill>
                  </a:tcPr>
                </a:tc>
                <a:tc>
                  <a:txBody>
                    <a:bodyPr/>
                    <a:lstStyle/>
                    <a:p>
                      <a:r>
                        <a:rPr sz="1400" b="0">
                          <a:solidFill>
                            <a:srgbClr val="1B2430"/>
                          </a:solidFill>
                          <a:latin typeface="Calibri"/>
                        </a:rPr>
                        <a:t>10–15 kadr/s</a:t>
                      </a:r>
                    </a:p>
                  </a:txBody>
                  <a:tcPr>
                    <a:solidFill>
                      <a:srgbClr val="F1F4F8"/>
                    </a:solidFill>
                  </a:tcPr>
                </a:tc>
              </a:tr>
              <a:tr h="520000">
                <a:tc>
                  <a:txBody>
                    <a:bodyPr/>
                    <a:lstStyle/>
                    <a:p>
                      <a:r>
                        <a:rPr sz="1400" b="0">
                          <a:solidFill>
                            <a:srgbClr val="1B2430"/>
                          </a:solidFill>
                          <a:latin typeface="Calibri"/>
                        </a:rPr>
                        <a:t>GPU L4, ORT CUDA EP, FP32</a:t>
                      </a:r>
                    </a:p>
                  </a:txBody>
                  <a:tcPr>
                    <a:solidFill>
                      <a:srgbClr val="FFFFFF"/>
                    </a:solidFill>
                  </a:tcPr>
                </a:tc>
                <a:tc>
                  <a:txBody>
                    <a:bodyPr/>
                    <a:lstStyle/>
                    <a:p>
                      <a:r>
                        <a:rPr sz="1400" b="0">
                          <a:solidFill>
                            <a:srgbClr val="1B2430"/>
                          </a:solidFill>
                          <a:latin typeface="Calibri"/>
                        </a:rPr>
                        <a:t>4–6</a:t>
                      </a:r>
                    </a:p>
                  </a:txBody>
                  <a:tcPr>
                    <a:solidFill>
                      <a:srgbClr val="FFFFFF"/>
                    </a:solidFill>
                  </a:tcPr>
                </a:tc>
                <a:tc>
                  <a:txBody>
                    <a:bodyPr/>
                    <a:lstStyle/>
                    <a:p>
                      <a:r>
                        <a:rPr sz="1400" b="0">
                          <a:solidFill>
                            <a:srgbClr val="1B2430"/>
                          </a:solidFill>
                          <a:latin typeface="Calibri"/>
                        </a:rPr>
                        <a:t>7–10</a:t>
                      </a:r>
                    </a:p>
                  </a:txBody>
                  <a:tcPr>
                    <a:solidFill>
                      <a:srgbClr val="FFFFFF"/>
                    </a:solidFill>
                  </a:tcPr>
                </a:tc>
                <a:tc>
                  <a:txBody>
                    <a:bodyPr/>
                    <a:lstStyle/>
                    <a:p>
                      <a:r>
                        <a:rPr sz="1400" b="0">
                          <a:solidFill>
                            <a:srgbClr val="1B2430"/>
                          </a:solidFill>
                          <a:latin typeface="Calibri"/>
                        </a:rPr>
                        <a:t>1–2</a:t>
                      </a:r>
                    </a:p>
                  </a:txBody>
                  <a:tcPr>
                    <a:solidFill>
                      <a:srgbClr val="FFFFFF"/>
                    </a:solidFill>
                  </a:tcPr>
                </a:tc>
                <a:tc>
                  <a:txBody>
                    <a:bodyPr/>
                    <a:lstStyle/>
                    <a:p>
                      <a:r>
                        <a:rPr sz="1400" b="0">
                          <a:solidFill>
                            <a:srgbClr val="1B2430"/>
                          </a:solidFill>
                          <a:latin typeface="Calibri"/>
                        </a:rPr>
                        <a:t>15–20</a:t>
                      </a:r>
                    </a:p>
                  </a:txBody>
                  <a:tcPr>
                    <a:solidFill>
                      <a:srgbClr val="FFFFFF"/>
                    </a:solidFill>
                  </a:tcPr>
                </a:tc>
                <a:tc>
                  <a:txBody>
                    <a:bodyPr/>
                    <a:lstStyle/>
                    <a:p>
                      <a:r>
                        <a:rPr sz="1400" b="0">
                          <a:solidFill>
                            <a:srgbClr val="1B2430"/>
                          </a:solidFill>
                          <a:latin typeface="Calibri"/>
                        </a:rPr>
                        <a:t>60–90 kadr/s</a:t>
                      </a:r>
                    </a:p>
                  </a:txBody>
                  <a:tcPr>
                    <a:solidFill>
                      <a:srgbClr val="FFFFFF"/>
                    </a:solidFill>
                  </a:tcPr>
                </a:tc>
              </a:tr>
              <a:tr h="520000">
                <a:tc>
                  <a:txBody>
                    <a:bodyPr/>
                    <a:lstStyle/>
                    <a:p>
                      <a:r>
                        <a:rPr sz="1400" b="0">
                          <a:solidFill>
                            <a:srgbClr val="1B2430"/>
                          </a:solidFill>
                          <a:latin typeface="Calibri"/>
                        </a:rPr>
                        <a:t>GPU L4, TensorRT FP16 (A3 da)</a:t>
                      </a:r>
                    </a:p>
                  </a:txBody>
                  <a:tcPr>
                    <a:solidFill>
                      <a:srgbClr val="F1F4F8"/>
                    </a:solidFill>
                  </a:tcPr>
                </a:tc>
                <a:tc>
                  <a:txBody>
                    <a:bodyPr/>
                    <a:lstStyle/>
                    <a:p>
                      <a:r>
                        <a:rPr sz="1400" b="0">
                          <a:solidFill>
                            <a:srgbClr val="1B2430"/>
                          </a:solidFill>
                          <a:latin typeface="Calibri"/>
                        </a:rPr>
                        <a:t>4–6</a:t>
                      </a:r>
                    </a:p>
                  </a:txBody>
                  <a:tcPr>
                    <a:solidFill>
                      <a:srgbClr val="F1F4F8"/>
                    </a:solidFill>
                  </a:tcPr>
                </a:tc>
                <a:tc>
                  <a:txBody>
                    <a:bodyPr/>
                    <a:lstStyle/>
                    <a:p>
                      <a:r>
                        <a:rPr sz="1400" b="0">
                          <a:solidFill>
                            <a:srgbClr val="1B2430"/>
                          </a:solidFill>
                          <a:latin typeface="Calibri"/>
                        </a:rPr>
                        <a:t>2–3</a:t>
                      </a:r>
                    </a:p>
                  </a:txBody>
                  <a:tcPr>
                    <a:solidFill>
                      <a:srgbClr val="F1F4F8"/>
                    </a:solidFill>
                  </a:tcPr>
                </a:tc>
                <a:tc>
                  <a:txBody>
                    <a:bodyPr/>
                    <a:lstStyle/>
                    <a:p>
                      <a:r>
                        <a:rPr sz="1400" b="0">
                          <a:solidFill>
                            <a:srgbClr val="1B2430"/>
                          </a:solidFill>
                          <a:latin typeface="Calibri"/>
                        </a:rPr>
                        <a:t>1–2</a:t>
                      </a:r>
                    </a:p>
                  </a:txBody>
                  <a:tcPr>
                    <a:solidFill>
                      <a:srgbClr val="F1F4F8"/>
                    </a:solidFill>
                  </a:tcPr>
                </a:tc>
                <a:tc>
                  <a:txBody>
                    <a:bodyPr/>
                    <a:lstStyle/>
                    <a:p>
                      <a:r>
                        <a:rPr sz="1400" b="0">
                          <a:solidFill>
                            <a:srgbClr val="1B2430"/>
                          </a:solidFill>
                          <a:latin typeface="Calibri"/>
                        </a:rPr>
                        <a:t>9–12</a:t>
                      </a:r>
                    </a:p>
                  </a:txBody>
                  <a:tcPr>
                    <a:solidFill>
                      <a:srgbClr val="F1F4F8"/>
                    </a:solidFill>
                  </a:tcPr>
                </a:tc>
                <a:tc>
                  <a:txBody>
                    <a:bodyPr/>
                    <a:lstStyle/>
                    <a:p>
                      <a:r>
                        <a:rPr sz="1400" b="0">
                          <a:solidFill>
                            <a:srgbClr val="1B2430"/>
                          </a:solidFill>
                          <a:latin typeface="Calibri"/>
                        </a:rPr>
                        <a:t>150–250 kadr/s</a:t>
                      </a:r>
                    </a:p>
                  </a:txBody>
                  <a:tcPr>
                    <a:solidFill>
                      <a:srgbClr val="F1F4F8"/>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5-qadam. Kechikish va o'tkazuvchanlikni o'lchash — kod</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 · Sun'iy intellektga asoslangan kompyuter tizimlari injiniringi: arxitektura va loyihalash tamoyillari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29</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200">
                <a:solidFill>
                  <a:srgbClr val="7FD6D7"/>
                </a:solidFill>
                <a:latin typeface="Consolas"/>
              </a:rPr>
              <a:t># bench.py — xizmatga ketma-ket va parallel so'rovlar yuborib o'lchash</a:t>
            </a:r>
          </a:p>
          <a:p>
            <a:r>
              <a:rPr sz="1200">
                <a:solidFill>
                  <a:srgbClr val="E2E8F0"/>
                </a:solidFill>
                <a:latin typeface="Consolas"/>
              </a:rPr>
              <a:t>import time, statistics, concurrent.futures as cf, requests</a:t>
            </a:r>
          </a:p>
          <a:p>
            <a:r>
              <a:rPr sz="1200">
                <a:solidFill>
                  <a:srgbClr val="E2E8F0"/>
                </a:solidFill>
                <a:latin typeface="Consolas"/>
              </a:rPr>
              <a:t> </a:t>
            </a:r>
          </a:p>
          <a:p>
            <a:r>
              <a:rPr sz="1200">
                <a:solidFill>
                  <a:srgbClr val="E2E8F0"/>
                </a:solidFill>
                <a:latin typeface="Consolas"/>
              </a:rPr>
              <a:t>URL, N, PAR = "http://localhost:8000/detect", 200, 8</a:t>
            </a:r>
          </a:p>
          <a:p>
            <a:r>
              <a:rPr sz="1200">
                <a:solidFill>
                  <a:srgbClr val="E2E8F0"/>
                </a:solidFill>
                <a:latin typeface="Consolas"/>
              </a:rPr>
              <a:t>data = open("kadr.jpg", "rb").read()</a:t>
            </a:r>
          </a:p>
          <a:p>
            <a:r>
              <a:rPr sz="1200">
                <a:solidFill>
                  <a:srgbClr val="E2E8F0"/>
                </a:solidFill>
                <a:latin typeface="Consolas"/>
              </a:rPr>
              <a:t> </a:t>
            </a:r>
          </a:p>
          <a:p>
            <a:r>
              <a:rPr sz="1200">
                <a:solidFill>
                  <a:srgbClr val="E2E8F0"/>
                </a:solidFill>
                <a:latin typeface="Consolas"/>
              </a:rPr>
              <a:t>def one():</a:t>
            </a:r>
          </a:p>
          <a:p>
            <a:r>
              <a:rPr sz="1200">
                <a:solidFill>
                  <a:srgbClr val="E2E8F0"/>
                </a:solidFill>
                <a:latin typeface="Consolas"/>
              </a:rPr>
              <a:t>    t = time.perf_counter()</a:t>
            </a:r>
          </a:p>
          <a:p>
            <a:r>
              <a:rPr sz="1200">
                <a:solidFill>
                  <a:srgbClr val="E2E8F0"/>
                </a:solidFill>
                <a:latin typeface="Consolas"/>
              </a:rPr>
              <a:t>    r = requests.post(URL, files={"file": ("k.jpg", data, "image/jpeg")})</a:t>
            </a:r>
          </a:p>
          <a:p>
            <a:r>
              <a:rPr sz="1200">
                <a:solidFill>
                  <a:srgbClr val="E2E8F0"/>
                </a:solidFill>
                <a:latin typeface="Consolas"/>
              </a:rPr>
              <a:t>    r.raise_for_status()</a:t>
            </a:r>
          </a:p>
          <a:p>
            <a:r>
              <a:rPr sz="1200">
                <a:solidFill>
                  <a:srgbClr val="E2E8F0"/>
                </a:solidFill>
                <a:latin typeface="Consolas"/>
              </a:rPr>
              <a:t>    return (time.perf_counter() - t) * 1e3, r.json()["timing_ms"]</a:t>
            </a:r>
          </a:p>
          <a:p>
            <a:r>
              <a:rPr sz="1200">
                <a:solidFill>
                  <a:srgbClr val="E2E8F0"/>
                </a:solidFill>
                <a:latin typeface="Consolas"/>
              </a:rPr>
              <a:t> </a:t>
            </a:r>
          </a:p>
          <a:p>
            <a:r>
              <a:rPr sz="1200">
                <a:solidFill>
                  <a:srgbClr val="E2E8F0"/>
                </a:solidFill>
                <a:latin typeface="Consolas"/>
              </a:rPr>
              <a:t>for _ in range(20): one()                       # isitish (warm-up)</a:t>
            </a:r>
          </a:p>
          <a:p>
            <a:r>
              <a:rPr sz="1200">
                <a:solidFill>
                  <a:srgbClr val="E2E8F0"/>
                </a:solidFill>
                <a:latin typeface="Consolas"/>
              </a:rPr>
              <a:t>lat = [one()[0] for _ in range(N)]</a:t>
            </a:r>
          </a:p>
          <a:p>
            <a:r>
              <a:rPr sz="1200">
                <a:solidFill>
                  <a:srgbClr val="E2E8F0"/>
                </a:solidFill>
                <a:latin typeface="Consolas"/>
              </a:rPr>
              <a:t>print(f"Ketma-ket: p50={statistics.median(lat):.1f} ms  "</a:t>
            </a:r>
          </a:p>
          <a:p>
            <a:r>
              <a:rPr sz="1200">
                <a:solidFill>
                  <a:srgbClr val="E2E8F0"/>
                </a:solidFill>
                <a:latin typeface="Consolas"/>
              </a:rPr>
              <a:t>      f"p95={sorted(lat)[int(N*0.95)]:.1f} ms")</a:t>
            </a:r>
          </a:p>
          <a:p>
            <a:r>
              <a:rPr sz="1200">
                <a:solidFill>
                  <a:srgbClr val="E2E8F0"/>
                </a:solidFill>
                <a:latin typeface="Consolas"/>
              </a:rPr>
              <a:t> </a:t>
            </a:r>
          </a:p>
          <a:p>
            <a:r>
              <a:rPr sz="1200">
                <a:solidFill>
                  <a:srgbClr val="E2E8F0"/>
                </a:solidFill>
                <a:latin typeface="Consolas"/>
              </a:rPr>
              <a:t>t0 = time.perf_counter()</a:t>
            </a:r>
          </a:p>
          <a:p>
            <a:r>
              <a:rPr sz="1200">
                <a:solidFill>
                  <a:srgbClr val="E2E8F0"/>
                </a:solidFill>
                <a:latin typeface="Consolas"/>
              </a:rPr>
              <a:t>with cf.ThreadPoolExecutor(PAR) as ex:</a:t>
            </a:r>
          </a:p>
          <a:p>
            <a:r>
              <a:rPr sz="1200">
                <a:solidFill>
                  <a:srgbClr val="E2E8F0"/>
                </a:solidFill>
                <a:latin typeface="Consolas"/>
              </a:rPr>
              <a:t>    res = list(ex.map(lambda _: one(), range(N)))</a:t>
            </a:r>
          </a:p>
          <a:p>
            <a:r>
              <a:rPr sz="1200">
                <a:solidFill>
                  <a:srgbClr val="7FD6D7"/>
                </a:solidFill>
                <a:latin typeface="Consolas"/>
              </a:rPr>
              <a:t># … (to‘liq kod — mavzu matnida / GitHub’da)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1700000"/>
            <a:ext cx="3000000" cy="30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0000" y="2350000"/>
            <a:ext cx="3000000" cy="1700000"/>
          </a:xfrm>
          <a:prstGeom prst="rect">
            <a:avLst/>
          </a:prstGeom>
          <a:noFill/>
        </p:spPr>
        <p:txBody>
          <a:bodyPr wrap="square" anchor="ctr" lIns="50800" rIns="50800">
            <a:spAutoFit/>
          </a:bodyPr>
          <a:lstStyle/>
          <a:p>
            <a:pPr algn="ctr"/>
            <a:r>
              <a:rPr sz="7200" b="1">
                <a:solidFill>
                  <a:srgbClr val="FFFFFF"/>
                </a:solidFill>
                <a:latin typeface="Calibri"/>
              </a:rPr>
              <a:t>05</a:t>
            </a:r>
          </a:p>
        </p:txBody>
      </p:sp>
      <p:sp>
        <p:nvSpPr>
          <p:cNvPr id="5" name="TextBox 4"/>
          <p:cNvSpPr txBox="1"/>
          <p:nvPr/>
        </p:nvSpPr>
        <p:spPr>
          <a:xfrm>
            <a:off x="4500000" y="2400000"/>
            <a:ext cx="7000000" cy="1600000"/>
          </a:xfrm>
          <a:prstGeom prst="rect">
            <a:avLst/>
          </a:prstGeom>
          <a:noFill/>
        </p:spPr>
        <p:txBody>
          <a:bodyPr wrap="square" anchor="ctr" lIns="50800" rIns="50800">
            <a:spAutoFit/>
          </a:bodyPr>
          <a:lstStyle/>
          <a:p>
            <a:pPr algn="l"/>
            <a:r>
              <a:rPr sz="3600" b="1">
                <a:solidFill>
                  <a:srgbClr val="FFFFFF"/>
                </a:solidFill>
                <a:latin typeface="Calibri"/>
              </a:rPr>
              <a:t>Natijalarni tahlil qilish</a:t>
            </a:r>
          </a:p>
        </p:txBody>
      </p:sp>
      <p:sp>
        <p:nvSpPr>
          <p:cNvPr id="6" name="Rectangle 5"/>
          <p:cNvSpPr/>
          <p:nvPr/>
        </p:nvSpPr>
        <p:spPr>
          <a:xfrm>
            <a:off x="4550000" y="41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2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0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250"/>
                            </p:stCondLst>
                            <p:childTnLst>
                              <p:par>
                                <p:cTn id="16" presetID="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9" dur="550" fill="hold"/>
                                        <p:tgtEl>
                                          <p:spTgt spid="5"/>
                                        </p:tgtEl>
                                        <p:attrNameLst>
                                          <p:attrName>ppt_x</p:attrName>
                                        </p:attrNameLst>
                                      </p:cBhvr>
                                      <p:tavLst>
                                        <p:tav tm="0">
                                          <p:val>
                                            <p:strVal val="0-#ppt_w/2"/>
                                          </p:val>
                                        </p:tav>
                                        <p:tav tm="100000">
                                          <p:val>
                                            <p:strVal val="#ppt_x"/>
                                          </p:val>
                                        </p:tav>
                                      </p:tavLst>
                                    </p:anim>
                                    <p:anim calcmode="lin" valueType="num">
                                      <p:cBhvr additive="base">
                                        <p:cTn id="20" dur="550" fill="hold"/>
                                        <p:tgtEl>
                                          <p:spTgt spid="5"/>
                                        </p:tgtEl>
                                        <p:attrNameLst>
                                          <p:attrName>ppt_y</p:attrName>
                                        </p:attrNameLst>
                                      </p:cBhvr>
                                      <p:tavLst>
                                        <p:tav tm="0">
                                          <p:val>
                                            <p:strVal val="#ppt_y"/>
                                          </p:val>
                                        </p:tav>
                                        <p:tav tm="100000">
                                          <p:val>
                                            <p:strVal val="#ppt_y"/>
                                          </p:val>
                                        </p:tav>
                                      </p:tavLst>
                                    </p:anim>
                                  </p:childTnLst>
                                </p:cTn>
                              </p:par>
                            </p:childTnLst>
                          </p:cTn>
                        </p:par>
                        <p:par>
                          <p:cTn id="21" fill="hold">
                            <p:stCondLst>
                              <p:cond delay="350"/>
                            </p:stCondLst>
                            <p:childTnLst>
                              <p:par>
                                <p:cTn id="22" presetID="22" presetClass="entr" presetSubtype="8"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5" dur="8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Natijalarni tahlil qilish</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 · Sun'iy intellektga asoslangan kompyuter tizimlari injiniringi: arxitektura va loyihalash tamoyillari</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31</a:t>
            </a:r>
          </a:p>
        </p:txBody>
      </p:sp>
      <p:sp>
        <p:nvSpPr>
          <p:cNvPr id="9" name="Rounded Rectangle 8"/>
          <p:cNvSpPr/>
          <p:nvPr/>
        </p:nvSpPr>
        <p:spPr>
          <a:xfrm>
            <a:off x="550000" y="13000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300000"/>
            <a:ext cx="70000" cy="11475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164375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1300000"/>
            <a:ext cx="10050000" cy="1147500"/>
          </a:xfrm>
          <a:prstGeom prst="rect">
            <a:avLst/>
          </a:prstGeom>
          <a:noFill/>
        </p:spPr>
        <p:txBody>
          <a:bodyPr wrap="square" anchor="ctr" lIns="50800" rIns="50800">
            <a:spAutoFit/>
          </a:bodyPr>
          <a:lstStyle/>
          <a:p>
            <a:pPr algn="l"/>
            <a:r>
              <a:rPr sz="1400" b="0">
                <a:solidFill>
                  <a:srgbClr val="1B2430"/>
                </a:solidFill>
                <a:latin typeface="Calibri"/>
              </a:rPr>
              <a:t>Misol natijalari co-design iteratsiyasining mantiqini aniq ko'rsatadi.</a:t>
            </a:r>
          </a:p>
        </p:txBody>
      </p:sp>
      <p:sp>
        <p:nvSpPr>
          <p:cNvPr id="13" name="Rounded Rectangle 12"/>
          <p:cNvSpPr/>
          <p:nvPr/>
        </p:nvSpPr>
        <p:spPr>
          <a:xfrm>
            <a:off x="550000" y="25675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567500"/>
            <a:ext cx="70000" cy="11475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291125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6" name="TextBox 15"/>
          <p:cNvSpPr txBox="1"/>
          <p:nvPr/>
        </p:nvSpPr>
        <p:spPr>
          <a:xfrm>
            <a:off x="1450000" y="2567500"/>
            <a:ext cx="10050000" cy="1147500"/>
          </a:xfrm>
          <a:prstGeom prst="rect">
            <a:avLst/>
          </a:prstGeom>
          <a:noFill/>
        </p:spPr>
        <p:txBody>
          <a:bodyPr wrap="square" anchor="ctr" lIns="50800" rIns="50800">
            <a:spAutoFit/>
          </a:bodyPr>
          <a:lstStyle/>
          <a:p>
            <a:pPr algn="l"/>
            <a:r>
              <a:rPr sz="1400" b="0">
                <a:solidFill>
                  <a:srgbClr val="1B2430"/>
                </a:solidFill>
                <a:latin typeface="Calibri"/>
              </a:rPr>
              <a:t>Ikkinchi muhim xulosa — oldindan ishlovning narxi.</a:t>
            </a:r>
          </a:p>
        </p:txBody>
      </p:sp>
      <p:sp>
        <p:nvSpPr>
          <p:cNvPr id="17" name="Rounded Rectangle 16"/>
          <p:cNvSpPr/>
          <p:nvPr/>
        </p:nvSpPr>
        <p:spPr>
          <a:xfrm>
            <a:off x="550000" y="38350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3835000"/>
            <a:ext cx="70000" cy="11475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417875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0" name="TextBox 19"/>
          <p:cNvSpPr txBox="1"/>
          <p:nvPr/>
        </p:nvSpPr>
        <p:spPr>
          <a:xfrm>
            <a:off x="1450000" y="3835000"/>
            <a:ext cx="10050000" cy="1147500"/>
          </a:xfrm>
          <a:prstGeom prst="rect">
            <a:avLst/>
          </a:prstGeom>
          <a:noFill/>
        </p:spPr>
        <p:txBody>
          <a:bodyPr wrap="square" anchor="ctr" lIns="50800" rIns="50800">
            <a:spAutoFit/>
          </a:bodyPr>
          <a:lstStyle/>
          <a:p>
            <a:pPr algn="l"/>
            <a:r>
              <a:rPr sz="1400" b="0">
                <a:solidFill>
                  <a:srgbClr val="1B2430"/>
                </a:solidFill>
                <a:latin typeface="Calibri"/>
              </a:rPr>
              <a:t>Cheklovlar ham aniq. Birinchidan, misolda sinxron HTTP API ishlatildi; real video-analitikada kadrlar HTTP orqali yuborilmaydi — xizmat oqimni to'g'ridan-to'g'ri o'qiydi.</a:t>
            </a:r>
          </a:p>
        </p:txBody>
      </p:sp>
      <p:sp>
        <p:nvSpPr>
          <p:cNvPr id="21" name="Rounded Rectangle 20"/>
          <p:cNvSpPr/>
          <p:nvPr/>
        </p:nvSpPr>
        <p:spPr>
          <a:xfrm>
            <a:off x="550000" y="51025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00" y="5102500"/>
            <a:ext cx="70000" cy="11475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0000" y="544625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4" name="TextBox 23"/>
          <p:cNvSpPr txBox="1"/>
          <p:nvPr/>
        </p:nvSpPr>
        <p:spPr>
          <a:xfrm>
            <a:off x="1450000" y="5102500"/>
            <a:ext cx="10050000" cy="1147500"/>
          </a:xfrm>
          <a:prstGeom prst="rect">
            <a:avLst/>
          </a:prstGeom>
          <a:noFill/>
        </p:spPr>
        <p:txBody>
          <a:bodyPr wrap="square" anchor="ctr" lIns="50800" rIns="50800">
            <a:spAutoFit/>
          </a:bodyPr>
          <a:lstStyle/>
          <a:p>
            <a:pPr algn="l"/>
            <a:r>
              <a:rPr sz="1400" b="0">
                <a:solidFill>
                  <a:srgbClr val="1B2430"/>
                </a:solidFill>
                <a:latin typeface="Calibri"/>
              </a:rPr>
              <a:t>Muqobil yondashuvlar: (a) to'liq chekka arxitektura — har 4 kameraga bitta Jetson Orin Nano, markaziy server faqat hodisalarni yig'adi; afzalligi — tarmoq yuki va yagona nuqsonli nuqta…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anim calcmode="lin" valueType="num">
                                      <p:cBhvr additive="base">
                                        <p:cTn id="83" dur="550" fill="hold"/>
                                        <p:tgtEl>
                                          <p:spTgt spid="21"/>
                                        </p:tgtEl>
                                        <p:attrNameLst>
                                          <p:attrName>ppt_x</p:attrName>
                                        </p:attrNameLst>
                                      </p:cBhvr>
                                      <p:tavLst>
                                        <p:tav tm="0">
                                          <p:val>
                                            <p:strVal val="#ppt_x"/>
                                          </p:val>
                                        </p:tav>
                                        <p:tav tm="100000">
                                          <p:val>
                                            <p:strVal val="#ppt_x"/>
                                          </p:val>
                                        </p:tav>
                                      </p:tavLst>
                                    </p:anim>
                                    <p:anim calcmode="lin" valueType="num">
                                      <p:cBhvr additive="base">
                                        <p:cTn id="84" dur="550" fill="hold"/>
                                        <p:tgtEl>
                                          <p:spTgt spid="21"/>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50"/>
                                        <p:tgtEl>
                                          <p:spTgt spid="22"/>
                                        </p:tgtEl>
                                      </p:cBhvr>
                                    </p:animEffect>
                                    <p:anim calcmode="lin" valueType="num">
                                      <p:cBhvr additive="base">
                                        <p:cTn id="89" dur="550" fill="hold"/>
                                        <p:tgtEl>
                                          <p:spTgt spid="22"/>
                                        </p:tgtEl>
                                        <p:attrNameLst>
                                          <p:attrName>ppt_x</p:attrName>
                                        </p:attrNameLst>
                                      </p:cBhvr>
                                      <p:tavLst>
                                        <p:tav tm="0">
                                          <p:val>
                                            <p:strVal val="#ppt_x"/>
                                          </p:val>
                                        </p:tav>
                                        <p:tav tm="100000">
                                          <p:val>
                                            <p:strVal val="#ppt_x"/>
                                          </p:val>
                                        </p:tav>
                                      </p:tavLst>
                                    </p:anim>
                                    <p:anim calcmode="lin" valueType="num">
                                      <p:cBhvr additive="base">
                                        <p:cTn id="90" dur="550" fill="hold"/>
                                        <p:tgtEl>
                                          <p:spTgt spid="22"/>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50"/>
                                        <p:tgtEl>
                                          <p:spTgt spid="23"/>
                                        </p:tgtEl>
                                      </p:cBhvr>
                                    </p:animEffect>
                                    <p:anim calcmode="lin" valueType="num">
                                      <p:cBhvr additive="base">
                                        <p:cTn id="95" dur="550" fill="hold"/>
                                        <p:tgtEl>
                                          <p:spTgt spid="23"/>
                                        </p:tgtEl>
                                        <p:attrNameLst>
                                          <p:attrName>ppt_w</p:attrName>
                                        </p:attrNameLst>
                                      </p:cBhvr>
                                      <p:tavLst>
                                        <p:tav tm="0">
                                          <p:val>
                                            <p:strVal val="0"/>
                                          </p:val>
                                        </p:tav>
                                        <p:tav tm="100000">
                                          <p:val>
                                            <p:strVal val="#ppt_w"/>
                                          </p:val>
                                        </p:tav>
                                      </p:tavLst>
                                    </p:anim>
                                    <p:anim calcmode="lin" valueType="num">
                                      <p:cBhvr additive="base">
                                        <p:cTn id="96" dur="550" fill="hold"/>
                                        <p:tgtEl>
                                          <p:spTgt spid="23"/>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50"/>
                                        <p:tgtEl>
                                          <p:spTgt spid="24"/>
                                        </p:tgtEl>
                                      </p:cBhvr>
                                    </p:animEffect>
                                    <p:anim calcmode="lin" valueType="num">
                                      <p:cBhvr additive="base">
                                        <p:cTn id="101" dur="550" fill="hold"/>
                                        <p:tgtEl>
                                          <p:spTgt spid="24"/>
                                        </p:tgtEl>
                                        <p:attrNameLst>
                                          <p:attrName>ppt_x</p:attrName>
                                        </p:attrNameLst>
                                      </p:cBhvr>
                                      <p:tavLst>
                                        <p:tav tm="0">
                                          <p:val>
                                            <p:strVal val="#ppt_x"/>
                                          </p:val>
                                        </p:tav>
                                        <p:tav tm="100000">
                                          <p:val>
                                            <p:strVal val="#ppt_x"/>
                                          </p:val>
                                        </p:tav>
                                      </p:tavLst>
                                    </p:anim>
                                    <p:anim calcmode="lin" valueType="num">
                                      <p:cBhvr additive="base">
                                        <p:cTn id="102" dur="550" fill="hold"/>
                                        <p:tgtEl>
                                          <p:spTgt spid="24"/>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1700000"/>
            <a:ext cx="3000000" cy="30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0000" y="2350000"/>
            <a:ext cx="3000000" cy="1700000"/>
          </a:xfrm>
          <a:prstGeom prst="rect">
            <a:avLst/>
          </a:prstGeom>
          <a:noFill/>
        </p:spPr>
        <p:txBody>
          <a:bodyPr wrap="square" anchor="ctr" lIns="50800" rIns="50800">
            <a:spAutoFit/>
          </a:bodyPr>
          <a:lstStyle/>
          <a:p>
            <a:pPr algn="ctr"/>
            <a:r>
              <a:rPr sz="7200" b="1">
                <a:solidFill>
                  <a:srgbClr val="FFFFFF"/>
                </a:solidFill>
                <a:latin typeface="Calibri"/>
              </a:rPr>
              <a:t>06</a:t>
            </a:r>
          </a:p>
        </p:txBody>
      </p:sp>
      <p:sp>
        <p:nvSpPr>
          <p:cNvPr id="5" name="TextBox 4"/>
          <p:cNvSpPr txBox="1"/>
          <p:nvPr/>
        </p:nvSpPr>
        <p:spPr>
          <a:xfrm>
            <a:off x="4500000" y="2400000"/>
            <a:ext cx="7000000" cy="1600000"/>
          </a:xfrm>
          <a:prstGeom prst="rect">
            <a:avLst/>
          </a:prstGeom>
          <a:noFill/>
        </p:spPr>
        <p:txBody>
          <a:bodyPr wrap="square" anchor="ctr" lIns="50800" rIns="50800">
            <a:spAutoFit/>
          </a:bodyPr>
          <a:lstStyle/>
          <a:p>
            <a:pPr algn="l"/>
            <a:r>
              <a:rPr sz="3600" b="1">
                <a:solidFill>
                  <a:srgbClr val="FFFFFF"/>
                </a:solidFill>
                <a:latin typeface="Calibri"/>
              </a:rPr>
              <a:t>Keng tarqalgan xatolar va amaliy tavsiyalar</a:t>
            </a:r>
          </a:p>
        </p:txBody>
      </p:sp>
      <p:sp>
        <p:nvSpPr>
          <p:cNvPr id="6" name="Rectangle 5"/>
          <p:cNvSpPr/>
          <p:nvPr/>
        </p:nvSpPr>
        <p:spPr>
          <a:xfrm>
            <a:off x="4550000" y="41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2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0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250"/>
                            </p:stCondLst>
                            <p:childTnLst>
                              <p:par>
                                <p:cTn id="16" presetID="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9" dur="550" fill="hold"/>
                                        <p:tgtEl>
                                          <p:spTgt spid="5"/>
                                        </p:tgtEl>
                                        <p:attrNameLst>
                                          <p:attrName>ppt_x</p:attrName>
                                        </p:attrNameLst>
                                      </p:cBhvr>
                                      <p:tavLst>
                                        <p:tav tm="0">
                                          <p:val>
                                            <p:strVal val="0-#ppt_w/2"/>
                                          </p:val>
                                        </p:tav>
                                        <p:tav tm="100000">
                                          <p:val>
                                            <p:strVal val="#ppt_x"/>
                                          </p:val>
                                        </p:tav>
                                      </p:tavLst>
                                    </p:anim>
                                    <p:anim calcmode="lin" valueType="num">
                                      <p:cBhvr additive="base">
                                        <p:cTn id="20" dur="550" fill="hold"/>
                                        <p:tgtEl>
                                          <p:spTgt spid="5"/>
                                        </p:tgtEl>
                                        <p:attrNameLst>
                                          <p:attrName>ppt_y</p:attrName>
                                        </p:attrNameLst>
                                      </p:cBhvr>
                                      <p:tavLst>
                                        <p:tav tm="0">
                                          <p:val>
                                            <p:strVal val="#ppt_y"/>
                                          </p:val>
                                        </p:tav>
                                        <p:tav tm="100000">
                                          <p:val>
                                            <p:strVal val="#ppt_y"/>
                                          </p:val>
                                        </p:tav>
                                      </p:tavLst>
                                    </p:anim>
                                  </p:childTnLst>
                                </p:cTn>
                              </p:par>
                            </p:childTnLst>
                          </p:cTn>
                        </p:par>
                        <p:par>
                          <p:cTn id="21" fill="hold">
                            <p:stCondLst>
                              <p:cond delay="350"/>
                            </p:stCondLst>
                            <p:childTnLst>
                              <p:par>
                                <p:cTn id="22" presetID="22" presetClass="entr" presetSubtype="8"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5" dur="8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Keng tarqalgan xatolar va amaliy tavsiyalar (1)</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 · Sun'iy intellektga asoslangan kompyuter tizimlari injiniringi: arxitektura va loyihalash tamoyillari</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33</a:t>
            </a:r>
          </a:p>
        </p:txBody>
      </p:sp>
      <p:sp>
        <p:nvSpPr>
          <p:cNvPr id="9" name="Rounded Rectangle 8"/>
          <p:cNvSpPr/>
          <p:nvPr/>
        </p:nvSpPr>
        <p:spPr>
          <a:xfrm>
            <a:off x="550000" y="1300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300000"/>
            <a:ext cx="70000" cy="894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1517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1300000"/>
            <a:ext cx="10050000" cy="894000"/>
          </a:xfrm>
          <a:prstGeom prst="rect">
            <a:avLst/>
          </a:prstGeom>
          <a:noFill/>
        </p:spPr>
        <p:txBody>
          <a:bodyPr wrap="square" anchor="ctr" lIns="50800" rIns="50800">
            <a:spAutoFit/>
          </a:bodyPr>
          <a:lstStyle/>
          <a:p>
            <a:pPr algn="l"/>
            <a:r>
              <a:rPr sz="1400" b="0">
                <a:solidFill>
                  <a:srgbClr val="1B2430"/>
                </a:solidFill>
                <a:latin typeface="Calibri"/>
              </a:rPr>
              <a:t>Pasport TFLOPS ni real unumdorlik deb qabul qilish. Ishlab chiqaruvchi raqamlari ideal matritsali ko'paytirish uchun, ko'pincha siyrak rejimda beriladi. Real modelda 10–40 % foydalanish…</a:t>
            </a:r>
          </a:p>
        </p:txBody>
      </p:sp>
      <p:sp>
        <p:nvSpPr>
          <p:cNvPr id="13" name="Rounded Rectangle 12"/>
          <p:cNvSpPr/>
          <p:nvPr/>
        </p:nvSpPr>
        <p:spPr>
          <a:xfrm>
            <a:off x="550000" y="2314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314000"/>
            <a:ext cx="70000" cy="894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2531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6" name="TextBox 15"/>
          <p:cNvSpPr txBox="1"/>
          <p:nvPr/>
        </p:nvSpPr>
        <p:spPr>
          <a:xfrm>
            <a:off x="1450000" y="2314000"/>
            <a:ext cx="10050000" cy="894000"/>
          </a:xfrm>
          <a:prstGeom prst="rect">
            <a:avLst/>
          </a:prstGeom>
          <a:noFill/>
        </p:spPr>
        <p:txBody>
          <a:bodyPr wrap="square" anchor="ctr" lIns="50800" rIns="50800">
            <a:spAutoFit/>
          </a:bodyPr>
          <a:lstStyle/>
          <a:p>
            <a:pPr algn="l"/>
            <a:r>
              <a:rPr sz="1400" b="0">
                <a:solidFill>
                  <a:srgbClr val="1B2430"/>
                </a:solidFill>
                <a:latin typeface="Calibri"/>
              </a:rPr>
              <a:t>Faqat inferens vaqtini o'lchash. Dekodlash, o'lcham o'zgartirish, xost–qurilma nusxalash, keyingi ishlov va tarmoq ko'pincha inferensdan ko'p vaqt oladi. Har bosqichni alohida o'lchang…</a:t>
            </a:r>
          </a:p>
        </p:txBody>
      </p:sp>
      <p:sp>
        <p:nvSpPr>
          <p:cNvPr id="17" name="Rounded Rectangle 16"/>
          <p:cNvSpPr/>
          <p:nvPr/>
        </p:nvSpPr>
        <p:spPr>
          <a:xfrm>
            <a:off x="550000" y="3328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3328000"/>
            <a:ext cx="70000" cy="894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354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0" name="TextBox 19"/>
          <p:cNvSpPr txBox="1"/>
          <p:nvPr/>
        </p:nvSpPr>
        <p:spPr>
          <a:xfrm>
            <a:off x="1450000" y="3328000"/>
            <a:ext cx="10050000" cy="894000"/>
          </a:xfrm>
          <a:prstGeom prst="rect">
            <a:avLst/>
          </a:prstGeom>
          <a:noFill/>
        </p:spPr>
        <p:txBody>
          <a:bodyPr wrap="square" anchor="ctr" lIns="50800" rIns="50800">
            <a:spAutoFit/>
          </a:bodyPr>
          <a:lstStyle/>
          <a:p>
            <a:pPr algn="l"/>
            <a:r>
              <a:rPr sz="1400" b="0">
                <a:solidFill>
                  <a:srgbClr val="1B2430"/>
                </a:solidFill>
                <a:latin typeface="Calibri"/>
              </a:rPr>
              <a:t>O'rtacha kechikishga qarash, quyruqni unutish. Foydalanuvchi p95 va p99 kechikishni his qiladi. Isitish (warm-up), xotira ajratish, chiqindi yig'uvchi (garbage collector) pauzalari quyruqni…</a:t>
            </a:r>
          </a:p>
        </p:txBody>
      </p:sp>
      <p:sp>
        <p:nvSpPr>
          <p:cNvPr id="21" name="Rounded Rectangle 20"/>
          <p:cNvSpPr/>
          <p:nvPr/>
        </p:nvSpPr>
        <p:spPr>
          <a:xfrm>
            <a:off x="550000" y="4342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00" y="4342000"/>
            <a:ext cx="70000" cy="894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0000" y="45590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4" name="TextBox 23"/>
          <p:cNvSpPr txBox="1"/>
          <p:nvPr/>
        </p:nvSpPr>
        <p:spPr>
          <a:xfrm>
            <a:off x="1450000" y="4342000"/>
            <a:ext cx="10050000" cy="894000"/>
          </a:xfrm>
          <a:prstGeom prst="rect">
            <a:avLst/>
          </a:prstGeom>
          <a:noFill/>
        </p:spPr>
        <p:txBody>
          <a:bodyPr wrap="square" anchor="ctr" lIns="50800" rIns="50800">
            <a:spAutoFit/>
          </a:bodyPr>
          <a:lstStyle/>
          <a:p>
            <a:pPr algn="l"/>
            <a:r>
              <a:rPr sz="1400" b="0">
                <a:solidFill>
                  <a:srgbClr val="1B2430"/>
                </a:solidFill>
                <a:latin typeface="Calibri"/>
              </a:rPr>
              <a:t>Dinamik shakllar va «ehtiyot uchun» umumiy yechim. Statik kirish shakli, belgilangan paket hajmi va aniq provayder tezlatkichga eng yaxshi yadrolarni tanlash imkonini beradi.…</a:t>
            </a:r>
          </a:p>
        </p:txBody>
      </p:sp>
      <p:sp>
        <p:nvSpPr>
          <p:cNvPr id="25" name="Rounded Rectangle 24"/>
          <p:cNvSpPr/>
          <p:nvPr/>
        </p:nvSpPr>
        <p:spPr>
          <a:xfrm>
            <a:off x="550000" y="5356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0000" y="5356000"/>
            <a:ext cx="70000" cy="894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0000" y="5573000"/>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5</a:t>
            </a:r>
          </a:p>
        </p:txBody>
      </p:sp>
      <p:sp>
        <p:nvSpPr>
          <p:cNvPr id="28" name="TextBox 27"/>
          <p:cNvSpPr txBox="1"/>
          <p:nvPr/>
        </p:nvSpPr>
        <p:spPr>
          <a:xfrm>
            <a:off x="1450000" y="5356000"/>
            <a:ext cx="10050000" cy="894000"/>
          </a:xfrm>
          <a:prstGeom prst="rect">
            <a:avLst/>
          </a:prstGeom>
          <a:noFill/>
        </p:spPr>
        <p:txBody>
          <a:bodyPr wrap="square" anchor="ctr" lIns="50800" rIns="50800">
            <a:spAutoFit/>
          </a:bodyPr>
          <a:lstStyle/>
          <a:p>
            <a:pPr algn="l"/>
            <a:r>
              <a:rPr sz="1400" b="0">
                <a:solidFill>
                  <a:srgbClr val="1B2430"/>
                </a:solidFill>
                <a:latin typeface="Calibri"/>
              </a:rPr>
              <a:t>Xotira o'tkazuvchanligini e'tiborsiz qoldirish. Ko'p modellar, ayniqsa kichik paketda, hisoblash emas, xotira bilan cheklanadi. Tezlatkich tanlaganda GB/s ko'rsatkichini TFLOPS bilan birga…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anim calcmode="lin" valueType="num">
                                      <p:cBhvr additive="base">
                                        <p:cTn id="83" dur="550" fill="hold"/>
                                        <p:tgtEl>
                                          <p:spTgt spid="21"/>
                                        </p:tgtEl>
                                        <p:attrNameLst>
                                          <p:attrName>ppt_x</p:attrName>
                                        </p:attrNameLst>
                                      </p:cBhvr>
                                      <p:tavLst>
                                        <p:tav tm="0">
                                          <p:val>
                                            <p:strVal val="#ppt_x"/>
                                          </p:val>
                                        </p:tav>
                                        <p:tav tm="100000">
                                          <p:val>
                                            <p:strVal val="#ppt_x"/>
                                          </p:val>
                                        </p:tav>
                                      </p:tavLst>
                                    </p:anim>
                                    <p:anim calcmode="lin" valueType="num">
                                      <p:cBhvr additive="base">
                                        <p:cTn id="84" dur="550" fill="hold"/>
                                        <p:tgtEl>
                                          <p:spTgt spid="21"/>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50"/>
                                        <p:tgtEl>
                                          <p:spTgt spid="22"/>
                                        </p:tgtEl>
                                      </p:cBhvr>
                                    </p:animEffect>
                                    <p:anim calcmode="lin" valueType="num">
                                      <p:cBhvr additive="base">
                                        <p:cTn id="89" dur="550" fill="hold"/>
                                        <p:tgtEl>
                                          <p:spTgt spid="22"/>
                                        </p:tgtEl>
                                        <p:attrNameLst>
                                          <p:attrName>ppt_x</p:attrName>
                                        </p:attrNameLst>
                                      </p:cBhvr>
                                      <p:tavLst>
                                        <p:tav tm="0">
                                          <p:val>
                                            <p:strVal val="#ppt_x"/>
                                          </p:val>
                                        </p:tav>
                                        <p:tav tm="100000">
                                          <p:val>
                                            <p:strVal val="#ppt_x"/>
                                          </p:val>
                                        </p:tav>
                                      </p:tavLst>
                                    </p:anim>
                                    <p:anim calcmode="lin" valueType="num">
                                      <p:cBhvr additive="base">
                                        <p:cTn id="90" dur="550" fill="hold"/>
                                        <p:tgtEl>
                                          <p:spTgt spid="22"/>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50"/>
                                        <p:tgtEl>
                                          <p:spTgt spid="23"/>
                                        </p:tgtEl>
                                      </p:cBhvr>
                                    </p:animEffect>
                                    <p:anim calcmode="lin" valueType="num">
                                      <p:cBhvr additive="base">
                                        <p:cTn id="95" dur="550" fill="hold"/>
                                        <p:tgtEl>
                                          <p:spTgt spid="23"/>
                                        </p:tgtEl>
                                        <p:attrNameLst>
                                          <p:attrName>ppt_w</p:attrName>
                                        </p:attrNameLst>
                                      </p:cBhvr>
                                      <p:tavLst>
                                        <p:tav tm="0">
                                          <p:val>
                                            <p:strVal val="0"/>
                                          </p:val>
                                        </p:tav>
                                        <p:tav tm="100000">
                                          <p:val>
                                            <p:strVal val="#ppt_w"/>
                                          </p:val>
                                        </p:tav>
                                      </p:tavLst>
                                    </p:anim>
                                    <p:anim calcmode="lin" valueType="num">
                                      <p:cBhvr additive="base">
                                        <p:cTn id="96" dur="550" fill="hold"/>
                                        <p:tgtEl>
                                          <p:spTgt spid="23"/>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50"/>
                                        <p:tgtEl>
                                          <p:spTgt spid="24"/>
                                        </p:tgtEl>
                                      </p:cBhvr>
                                    </p:animEffect>
                                    <p:anim calcmode="lin" valueType="num">
                                      <p:cBhvr additive="base">
                                        <p:cTn id="101" dur="550" fill="hold"/>
                                        <p:tgtEl>
                                          <p:spTgt spid="24"/>
                                        </p:tgtEl>
                                        <p:attrNameLst>
                                          <p:attrName>ppt_x</p:attrName>
                                        </p:attrNameLst>
                                      </p:cBhvr>
                                      <p:tavLst>
                                        <p:tav tm="0">
                                          <p:val>
                                            <p:strVal val="#ppt_x"/>
                                          </p:val>
                                        </p:tav>
                                        <p:tav tm="100000">
                                          <p:val>
                                            <p:strVal val="#ppt_x"/>
                                          </p:val>
                                        </p:tav>
                                      </p:tavLst>
                                    </p:anim>
                                    <p:anim calcmode="lin" valueType="num">
                                      <p:cBhvr additive="base">
                                        <p:cTn id="102" dur="550" fill="hold"/>
                                        <p:tgtEl>
                                          <p:spTgt spid="24"/>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550"/>
                                        <p:tgtEl>
                                          <p:spTgt spid="25"/>
                                        </p:tgtEl>
                                      </p:cBhvr>
                                    </p:animEffect>
                                    <p:anim calcmode="lin" valueType="num">
                                      <p:cBhvr additive="base">
                                        <p:cTn id="107" dur="550" fill="hold"/>
                                        <p:tgtEl>
                                          <p:spTgt spid="25"/>
                                        </p:tgtEl>
                                        <p:attrNameLst>
                                          <p:attrName>ppt_x</p:attrName>
                                        </p:attrNameLst>
                                      </p:cBhvr>
                                      <p:tavLst>
                                        <p:tav tm="0">
                                          <p:val>
                                            <p:strVal val="#ppt_x"/>
                                          </p:val>
                                        </p:tav>
                                        <p:tav tm="100000">
                                          <p:val>
                                            <p:strVal val="#ppt_x"/>
                                          </p:val>
                                        </p:tav>
                                      </p:tavLst>
                                    </p:anim>
                                    <p:anim calcmode="lin" valueType="num">
                                      <p:cBhvr additive="base">
                                        <p:cTn id="108" dur="550" fill="hold"/>
                                        <p:tgtEl>
                                          <p:spTgt spid="25"/>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550"/>
                                        <p:tgtEl>
                                          <p:spTgt spid="26"/>
                                        </p:tgtEl>
                                      </p:cBhvr>
                                    </p:animEffect>
                                    <p:anim calcmode="lin" valueType="num">
                                      <p:cBhvr additive="base">
                                        <p:cTn id="113" dur="550" fill="hold"/>
                                        <p:tgtEl>
                                          <p:spTgt spid="26"/>
                                        </p:tgtEl>
                                        <p:attrNameLst>
                                          <p:attrName>ppt_x</p:attrName>
                                        </p:attrNameLst>
                                      </p:cBhvr>
                                      <p:tavLst>
                                        <p:tav tm="0">
                                          <p:val>
                                            <p:strVal val="#ppt_x"/>
                                          </p:val>
                                        </p:tav>
                                        <p:tav tm="100000">
                                          <p:val>
                                            <p:strVal val="#ppt_x"/>
                                          </p:val>
                                        </p:tav>
                                      </p:tavLst>
                                    </p:anim>
                                    <p:anim calcmode="lin" valueType="num">
                                      <p:cBhvr additive="base">
                                        <p:cTn id="114" dur="550" fill="hold"/>
                                        <p:tgtEl>
                                          <p:spTgt spid="26"/>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7"/>
                                        </p:tgtEl>
                                        <p:attrNameLst>
                                          <p:attrName>style.visibility</p:attrName>
                                        </p:attrNameLst>
                                      </p:cBhvr>
                                      <p:to>
                                        <p:strVal val="visible"/>
                                      </p:to>
                                    </p:set>
                                    <p:animEffect transition="in" filter="fade">
                                      <p:cBhvr>
                                        <p:cTn id="118" dur="550"/>
                                        <p:tgtEl>
                                          <p:spTgt spid="27"/>
                                        </p:tgtEl>
                                      </p:cBhvr>
                                    </p:animEffect>
                                    <p:anim calcmode="lin" valueType="num">
                                      <p:cBhvr additive="base">
                                        <p:cTn id="119" dur="550" fill="hold"/>
                                        <p:tgtEl>
                                          <p:spTgt spid="27"/>
                                        </p:tgtEl>
                                        <p:attrNameLst>
                                          <p:attrName>ppt_w</p:attrName>
                                        </p:attrNameLst>
                                      </p:cBhvr>
                                      <p:tavLst>
                                        <p:tav tm="0">
                                          <p:val>
                                            <p:strVal val="0"/>
                                          </p:val>
                                        </p:tav>
                                        <p:tav tm="100000">
                                          <p:val>
                                            <p:strVal val="#ppt_w"/>
                                          </p:val>
                                        </p:tav>
                                      </p:tavLst>
                                    </p:anim>
                                    <p:anim calcmode="lin" valueType="num">
                                      <p:cBhvr additive="base">
                                        <p:cTn id="120" dur="550" fill="hold"/>
                                        <p:tgtEl>
                                          <p:spTgt spid="27"/>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8"/>
                                        </p:tgtEl>
                                        <p:attrNameLst>
                                          <p:attrName>style.visibility</p:attrName>
                                        </p:attrNameLst>
                                      </p:cBhvr>
                                      <p:to>
                                        <p:strVal val="visible"/>
                                      </p:to>
                                    </p:set>
                                    <p:animEffect transition="in" filter="fade">
                                      <p:cBhvr>
                                        <p:cTn id="124" dur="550"/>
                                        <p:tgtEl>
                                          <p:spTgt spid="28"/>
                                        </p:tgtEl>
                                      </p:cBhvr>
                                    </p:animEffect>
                                    <p:anim calcmode="lin" valueType="num">
                                      <p:cBhvr additive="base">
                                        <p:cTn id="125" dur="550" fill="hold"/>
                                        <p:tgtEl>
                                          <p:spTgt spid="28"/>
                                        </p:tgtEl>
                                        <p:attrNameLst>
                                          <p:attrName>ppt_x</p:attrName>
                                        </p:attrNameLst>
                                      </p:cBhvr>
                                      <p:tavLst>
                                        <p:tav tm="0">
                                          <p:val>
                                            <p:strVal val="#ppt_x"/>
                                          </p:val>
                                        </p:tav>
                                        <p:tav tm="100000">
                                          <p:val>
                                            <p:strVal val="#ppt_x"/>
                                          </p:val>
                                        </p:tav>
                                      </p:tavLst>
                                    </p:anim>
                                    <p:anim calcmode="lin" valueType="num">
                                      <p:cBhvr additive="base">
                                        <p:cTn id="126" dur="550" fill="hold"/>
                                        <p:tgtEl>
                                          <p:spTgt spid="28"/>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Keng tarqalgan xatolar va amaliy tavsiyalar (2)</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 · Sun'iy intellektga asoslangan kompyuter tizimlari injiniringi: arxitektura va loyihalash tamoyillari</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34</a:t>
            </a:r>
          </a:p>
        </p:txBody>
      </p:sp>
      <p:sp>
        <p:nvSpPr>
          <p:cNvPr id="9" name="Rounded Rectangle 8"/>
          <p:cNvSpPr/>
          <p:nvPr/>
        </p:nvSpPr>
        <p:spPr>
          <a:xfrm>
            <a:off x="550000" y="13000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300000"/>
            <a:ext cx="70000" cy="11475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1643750"/>
            <a:ext cx="460000" cy="460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6</a:t>
            </a:r>
          </a:p>
        </p:txBody>
      </p:sp>
      <p:sp>
        <p:nvSpPr>
          <p:cNvPr id="12" name="TextBox 11"/>
          <p:cNvSpPr txBox="1"/>
          <p:nvPr/>
        </p:nvSpPr>
        <p:spPr>
          <a:xfrm>
            <a:off x="1450000" y="1300000"/>
            <a:ext cx="10050000" cy="1147500"/>
          </a:xfrm>
          <a:prstGeom prst="rect">
            <a:avLst/>
          </a:prstGeom>
          <a:noFill/>
        </p:spPr>
        <p:txBody>
          <a:bodyPr wrap="square" anchor="ctr" lIns="50800" rIns="50800">
            <a:spAutoFit/>
          </a:bodyPr>
          <a:lstStyle/>
          <a:p>
            <a:pPr algn="l"/>
            <a:r>
              <a:rPr sz="1400" b="0">
                <a:solidFill>
                  <a:srgbClr val="1B2430"/>
                </a:solidFill>
                <a:latin typeface="Calibri"/>
              </a:rPr>
              <a:t>GPU ni bir nechta jarayonga bo'lib berish. Har bir jarayon alohida CUDA konteksti yaratadi, xotira va vaqt isrof bo'ladi. Bitta jarayon, bir nechta oqim (stream) yoki Triton Inference…</a:t>
            </a:r>
          </a:p>
        </p:txBody>
      </p:sp>
      <p:sp>
        <p:nvSpPr>
          <p:cNvPr id="13" name="Rounded Rectangle 12"/>
          <p:cNvSpPr/>
          <p:nvPr/>
        </p:nvSpPr>
        <p:spPr>
          <a:xfrm>
            <a:off x="550000" y="25675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567500"/>
            <a:ext cx="70000" cy="11475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291125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7</a:t>
            </a:r>
          </a:p>
        </p:txBody>
      </p:sp>
      <p:sp>
        <p:nvSpPr>
          <p:cNvPr id="16" name="TextBox 15"/>
          <p:cNvSpPr txBox="1"/>
          <p:nvPr/>
        </p:nvSpPr>
        <p:spPr>
          <a:xfrm>
            <a:off x="1450000" y="2567500"/>
            <a:ext cx="10050000" cy="1147500"/>
          </a:xfrm>
          <a:prstGeom prst="rect">
            <a:avLst/>
          </a:prstGeom>
          <a:noFill/>
        </p:spPr>
        <p:txBody>
          <a:bodyPr wrap="square" anchor="ctr" lIns="50800" rIns="50800">
            <a:spAutoFit/>
          </a:bodyPr>
          <a:lstStyle/>
          <a:p>
            <a:pPr algn="l"/>
            <a:r>
              <a:rPr sz="1400" b="0">
                <a:solidFill>
                  <a:srgbClr val="1B2430"/>
                </a:solidFill>
                <a:latin typeface="Calibri"/>
              </a:rPr>
              <a:t>Kuzatuvchanlikni oxirgi bosqichga qoldirish. Metrikalar (so'rov/s, p95, GPU bandligi, GPU xotirasi, navbat uzunligi) birinchi kundan yig'ilishi kerak; ularsiz co-design iteratsiyasini…</a:t>
            </a:r>
          </a:p>
        </p:txBody>
      </p:sp>
      <p:sp>
        <p:nvSpPr>
          <p:cNvPr id="17" name="Rounded Rectangle 16"/>
          <p:cNvSpPr/>
          <p:nvPr/>
        </p:nvSpPr>
        <p:spPr>
          <a:xfrm>
            <a:off x="550000" y="38350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3835000"/>
            <a:ext cx="70000" cy="11475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417875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8</a:t>
            </a:r>
          </a:p>
        </p:txBody>
      </p:sp>
      <p:sp>
        <p:nvSpPr>
          <p:cNvPr id="20" name="TextBox 19"/>
          <p:cNvSpPr txBox="1"/>
          <p:nvPr/>
        </p:nvSpPr>
        <p:spPr>
          <a:xfrm>
            <a:off x="1450000" y="3835000"/>
            <a:ext cx="10050000" cy="1147500"/>
          </a:xfrm>
          <a:prstGeom prst="rect">
            <a:avLst/>
          </a:prstGeom>
          <a:noFill/>
        </p:spPr>
        <p:txBody>
          <a:bodyPr wrap="square" anchor="ctr" lIns="50800" rIns="50800">
            <a:spAutoFit/>
          </a:bodyPr>
          <a:lstStyle/>
          <a:p>
            <a:pPr algn="l"/>
            <a:r>
              <a:rPr sz="1400" b="0">
                <a:solidFill>
                  <a:srgbClr val="1B2430"/>
                </a:solidFill>
                <a:latin typeface="Calibri"/>
              </a:rPr>
              <a:t>Degradatsiya rejimini loyihalamaslik. Yuk oshganda yoki tezlatkich band bo'lganda tizim nima qiladi? Kadr tashlash, kichik modelga o'tish, navbat chegarasi — bular talablar bosqichida…</a:t>
            </a:r>
          </a:p>
        </p:txBody>
      </p:sp>
      <p:sp>
        <p:nvSpPr>
          <p:cNvPr id="21" name="Rounded Rectangle 20"/>
          <p:cNvSpPr/>
          <p:nvPr/>
        </p:nvSpPr>
        <p:spPr>
          <a:xfrm>
            <a:off x="550000" y="51025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00" y="5102500"/>
            <a:ext cx="70000" cy="11475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0000" y="544625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9</a:t>
            </a:r>
          </a:p>
        </p:txBody>
      </p:sp>
      <p:sp>
        <p:nvSpPr>
          <p:cNvPr id="24" name="TextBox 23"/>
          <p:cNvSpPr txBox="1"/>
          <p:nvPr/>
        </p:nvSpPr>
        <p:spPr>
          <a:xfrm>
            <a:off x="1450000" y="5102500"/>
            <a:ext cx="10050000" cy="1147500"/>
          </a:xfrm>
          <a:prstGeom prst="rect">
            <a:avLst/>
          </a:prstGeom>
          <a:noFill/>
        </p:spPr>
        <p:txBody>
          <a:bodyPr wrap="square" anchor="ctr" lIns="50800" rIns="50800">
            <a:spAutoFit/>
          </a:bodyPr>
          <a:lstStyle/>
          <a:p>
            <a:pPr algn="l"/>
            <a:r>
              <a:rPr sz="1400" b="0">
                <a:solidFill>
                  <a:srgbClr val="1B2430"/>
                </a:solidFill>
                <a:latin typeface="Calibri"/>
              </a:rPr>
              <a:t>Model formatini ramkaga bog'lab qo'yish. PyTorch modelini bevosita ishlab chiqarishga chiqarish versiyaga bog'liqlik va og'ir muhit demakdir. ONNX yoki TensorRT kabi standart oraliq…</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anim calcmode="lin" valueType="num">
                                      <p:cBhvr additive="base">
                                        <p:cTn id="83" dur="550" fill="hold"/>
                                        <p:tgtEl>
                                          <p:spTgt spid="21"/>
                                        </p:tgtEl>
                                        <p:attrNameLst>
                                          <p:attrName>ppt_x</p:attrName>
                                        </p:attrNameLst>
                                      </p:cBhvr>
                                      <p:tavLst>
                                        <p:tav tm="0">
                                          <p:val>
                                            <p:strVal val="#ppt_x"/>
                                          </p:val>
                                        </p:tav>
                                        <p:tav tm="100000">
                                          <p:val>
                                            <p:strVal val="#ppt_x"/>
                                          </p:val>
                                        </p:tav>
                                      </p:tavLst>
                                    </p:anim>
                                    <p:anim calcmode="lin" valueType="num">
                                      <p:cBhvr additive="base">
                                        <p:cTn id="84" dur="550" fill="hold"/>
                                        <p:tgtEl>
                                          <p:spTgt spid="21"/>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50"/>
                                        <p:tgtEl>
                                          <p:spTgt spid="22"/>
                                        </p:tgtEl>
                                      </p:cBhvr>
                                    </p:animEffect>
                                    <p:anim calcmode="lin" valueType="num">
                                      <p:cBhvr additive="base">
                                        <p:cTn id="89" dur="550" fill="hold"/>
                                        <p:tgtEl>
                                          <p:spTgt spid="22"/>
                                        </p:tgtEl>
                                        <p:attrNameLst>
                                          <p:attrName>ppt_x</p:attrName>
                                        </p:attrNameLst>
                                      </p:cBhvr>
                                      <p:tavLst>
                                        <p:tav tm="0">
                                          <p:val>
                                            <p:strVal val="#ppt_x"/>
                                          </p:val>
                                        </p:tav>
                                        <p:tav tm="100000">
                                          <p:val>
                                            <p:strVal val="#ppt_x"/>
                                          </p:val>
                                        </p:tav>
                                      </p:tavLst>
                                    </p:anim>
                                    <p:anim calcmode="lin" valueType="num">
                                      <p:cBhvr additive="base">
                                        <p:cTn id="90" dur="550" fill="hold"/>
                                        <p:tgtEl>
                                          <p:spTgt spid="22"/>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50"/>
                                        <p:tgtEl>
                                          <p:spTgt spid="23"/>
                                        </p:tgtEl>
                                      </p:cBhvr>
                                    </p:animEffect>
                                    <p:anim calcmode="lin" valueType="num">
                                      <p:cBhvr additive="base">
                                        <p:cTn id="95" dur="550" fill="hold"/>
                                        <p:tgtEl>
                                          <p:spTgt spid="23"/>
                                        </p:tgtEl>
                                        <p:attrNameLst>
                                          <p:attrName>ppt_w</p:attrName>
                                        </p:attrNameLst>
                                      </p:cBhvr>
                                      <p:tavLst>
                                        <p:tav tm="0">
                                          <p:val>
                                            <p:strVal val="0"/>
                                          </p:val>
                                        </p:tav>
                                        <p:tav tm="100000">
                                          <p:val>
                                            <p:strVal val="#ppt_w"/>
                                          </p:val>
                                        </p:tav>
                                      </p:tavLst>
                                    </p:anim>
                                    <p:anim calcmode="lin" valueType="num">
                                      <p:cBhvr additive="base">
                                        <p:cTn id="96" dur="550" fill="hold"/>
                                        <p:tgtEl>
                                          <p:spTgt spid="23"/>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50"/>
                                        <p:tgtEl>
                                          <p:spTgt spid="24"/>
                                        </p:tgtEl>
                                      </p:cBhvr>
                                    </p:animEffect>
                                    <p:anim calcmode="lin" valueType="num">
                                      <p:cBhvr additive="base">
                                        <p:cTn id="101" dur="550" fill="hold"/>
                                        <p:tgtEl>
                                          <p:spTgt spid="24"/>
                                        </p:tgtEl>
                                        <p:attrNameLst>
                                          <p:attrName>ppt_x</p:attrName>
                                        </p:attrNameLst>
                                      </p:cBhvr>
                                      <p:tavLst>
                                        <p:tav tm="0">
                                          <p:val>
                                            <p:strVal val="#ppt_x"/>
                                          </p:val>
                                        </p:tav>
                                        <p:tav tm="100000">
                                          <p:val>
                                            <p:strVal val="#ppt_x"/>
                                          </p:val>
                                        </p:tav>
                                      </p:tavLst>
                                    </p:anim>
                                    <p:anim calcmode="lin" valueType="num">
                                      <p:cBhvr additive="base">
                                        <p:cTn id="102" dur="550" fill="hold"/>
                                        <p:tgtEl>
                                          <p:spTgt spid="24"/>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1700000"/>
            <a:ext cx="3000000" cy="30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0000" y="2350000"/>
            <a:ext cx="3000000" cy="1700000"/>
          </a:xfrm>
          <a:prstGeom prst="rect">
            <a:avLst/>
          </a:prstGeom>
          <a:noFill/>
        </p:spPr>
        <p:txBody>
          <a:bodyPr wrap="square" anchor="ctr" lIns="50800" rIns="50800">
            <a:spAutoFit/>
          </a:bodyPr>
          <a:lstStyle/>
          <a:p>
            <a:pPr algn="ctr"/>
            <a:r>
              <a:rPr sz="7200" b="1">
                <a:solidFill>
                  <a:srgbClr val="FFFFFF"/>
                </a:solidFill>
                <a:latin typeface="Calibri"/>
              </a:rPr>
              <a:t>07</a:t>
            </a:r>
          </a:p>
        </p:txBody>
      </p:sp>
      <p:sp>
        <p:nvSpPr>
          <p:cNvPr id="5" name="TextBox 4"/>
          <p:cNvSpPr txBox="1"/>
          <p:nvPr/>
        </p:nvSpPr>
        <p:spPr>
          <a:xfrm>
            <a:off x="4500000" y="2400000"/>
            <a:ext cx="7000000" cy="1600000"/>
          </a:xfrm>
          <a:prstGeom prst="rect">
            <a:avLst/>
          </a:prstGeom>
          <a:noFill/>
        </p:spPr>
        <p:txBody>
          <a:bodyPr wrap="square" anchor="ctr" lIns="50800" rIns="50800">
            <a:spAutoFit/>
          </a:bodyPr>
          <a:lstStyle/>
          <a:p>
            <a:pPr algn="l"/>
            <a:r>
              <a:rPr sz="3600" b="1">
                <a:solidFill>
                  <a:srgbClr val="FFFFFF"/>
                </a:solidFill>
                <a:latin typeface="Calibri"/>
              </a:rPr>
              <a:t>Nazorat savollari</a:t>
            </a:r>
          </a:p>
        </p:txBody>
      </p:sp>
      <p:sp>
        <p:nvSpPr>
          <p:cNvPr id="6" name="Rectangle 5"/>
          <p:cNvSpPr/>
          <p:nvPr/>
        </p:nvSpPr>
        <p:spPr>
          <a:xfrm>
            <a:off x="4550000" y="41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2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0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250"/>
                            </p:stCondLst>
                            <p:childTnLst>
                              <p:par>
                                <p:cTn id="16" presetID="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9" dur="550" fill="hold"/>
                                        <p:tgtEl>
                                          <p:spTgt spid="5"/>
                                        </p:tgtEl>
                                        <p:attrNameLst>
                                          <p:attrName>ppt_x</p:attrName>
                                        </p:attrNameLst>
                                      </p:cBhvr>
                                      <p:tavLst>
                                        <p:tav tm="0">
                                          <p:val>
                                            <p:strVal val="0-#ppt_w/2"/>
                                          </p:val>
                                        </p:tav>
                                        <p:tav tm="100000">
                                          <p:val>
                                            <p:strVal val="#ppt_x"/>
                                          </p:val>
                                        </p:tav>
                                      </p:tavLst>
                                    </p:anim>
                                    <p:anim calcmode="lin" valueType="num">
                                      <p:cBhvr additive="base">
                                        <p:cTn id="20" dur="550" fill="hold"/>
                                        <p:tgtEl>
                                          <p:spTgt spid="5"/>
                                        </p:tgtEl>
                                        <p:attrNameLst>
                                          <p:attrName>ppt_y</p:attrName>
                                        </p:attrNameLst>
                                      </p:cBhvr>
                                      <p:tavLst>
                                        <p:tav tm="0">
                                          <p:val>
                                            <p:strVal val="#ppt_y"/>
                                          </p:val>
                                        </p:tav>
                                        <p:tav tm="100000">
                                          <p:val>
                                            <p:strVal val="#ppt_y"/>
                                          </p:val>
                                        </p:tav>
                                      </p:tavLst>
                                    </p:anim>
                                  </p:childTnLst>
                                </p:cTn>
                              </p:par>
                            </p:childTnLst>
                          </p:cTn>
                        </p:par>
                        <p:par>
                          <p:cTn id="21" fill="hold">
                            <p:stCondLst>
                              <p:cond delay="350"/>
                            </p:stCondLst>
                            <p:childTnLst>
                              <p:par>
                                <p:cTn id="22" presetID="22" presetClass="entr" presetSubtype="8"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5" dur="8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Nazorat savollari (1)</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 · Sun'iy intellektga asoslangan kompyuter tizimlari injiniringi: arxitektura va loyihalash tamoyillari</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36</a:t>
            </a:r>
          </a:p>
        </p:txBody>
      </p:sp>
      <p:sp>
        <p:nvSpPr>
          <p:cNvPr id="9" name="Rounded Rectangle 8"/>
          <p:cNvSpPr/>
          <p:nvPr/>
        </p:nvSpPr>
        <p:spPr>
          <a:xfrm>
            <a:off x="550000" y="1300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300000"/>
            <a:ext cx="70000" cy="894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1517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1300000"/>
            <a:ext cx="10050000" cy="894000"/>
          </a:xfrm>
          <a:prstGeom prst="rect">
            <a:avLst/>
          </a:prstGeom>
          <a:noFill/>
        </p:spPr>
        <p:txBody>
          <a:bodyPr wrap="square" anchor="ctr" lIns="50800" rIns="50800">
            <a:spAutoFit/>
          </a:bodyPr>
          <a:lstStyle/>
          <a:p>
            <a:pPr algn="l"/>
            <a:r>
              <a:rPr sz="1400" b="0">
                <a:solidFill>
                  <a:srgbClr val="1B2430"/>
                </a:solidFill>
                <a:latin typeface="Calibri"/>
              </a:rPr>
              <a:t>Sun'iy intellekt injiniringi an'anaviy dasturiy injiniringdan qaysi uchta jihat bilan tubdan farq qiladi? Har bir farqning kompyuter tizimi arxitekturasiga ta'sirini misol bilan…</a:t>
            </a:r>
          </a:p>
        </p:txBody>
      </p:sp>
      <p:sp>
        <p:nvSpPr>
          <p:cNvPr id="13" name="Rounded Rectangle 12"/>
          <p:cNvSpPr/>
          <p:nvPr/>
        </p:nvSpPr>
        <p:spPr>
          <a:xfrm>
            <a:off x="550000" y="2314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314000"/>
            <a:ext cx="70000" cy="894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2531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6" name="TextBox 15"/>
          <p:cNvSpPr txBox="1"/>
          <p:nvPr/>
        </p:nvSpPr>
        <p:spPr>
          <a:xfrm>
            <a:off x="1450000" y="2314000"/>
            <a:ext cx="10050000" cy="894000"/>
          </a:xfrm>
          <a:prstGeom prst="rect">
            <a:avLst/>
          </a:prstGeom>
          <a:noFill/>
        </p:spPr>
        <p:txBody>
          <a:bodyPr wrap="square" anchor="ctr" lIns="50800" rIns="50800">
            <a:spAutoFit/>
          </a:bodyPr>
          <a:lstStyle/>
          <a:p>
            <a:pPr algn="l"/>
            <a:r>
              <a:rPr sz="1400" b="0">
                <a:solidFill>
                  <a:srgbClr val="1B2430"/>
                </a:solidFill>
                <a:latin typeface="Calibri"/>
              </a:rPr>
              <a:t>Pasportda 275 TOPS ko'rsatilgan Jetson AGX Orin bilan 121 TFLOPS ko'rsatilgan NVIDIA L4 ni to'g'ridan-to'g'ri taqqoslash nega noto'g'ri? To'g'ri taqqoslash uchun qanday shartlar bajarilishi…</a:t>
            </a:r>
          </a:p>
        </p:txBody>
      </p:sp>
      <p:sp>
        <p:nvSpPr>
          <p:cNvPr id="17" name="Rounded Rectangle 16"/>
          <p:cNvSpPr/>
          <p:nvPr/>
        </p:nvSpPr>
        <p:spPr>
          <a:xfrm>
            <a:off x="550000" y="3328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3328000"/>
            <a:ext cx="70000" cy="894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354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0" name="TextBox 19"/>
          <p:cNvSpPr txBox="1"/>
          <p:nvPr/>
        </p:nvSpPr>
        <p:spPr>
          <a:xfrm>
            <a:off x="1450000" y="3328000"/>
            <a:ext cx="10050000" cy="894000"/>
          </a:xfrm>
          <a:prstGeom prst="rect">
            <a:avLst/>
          </a:prstGeom>
          <a:noFill/>
        </p:spPr>
        <p:txBody>
          <a:bodyPr wrap="square" anchor="ctr" lIns="50800" rIns="50800">
            <a:spAutoFit/>
          </a:bodyPr>
          <a:lstStyle/>
          <a:p>
            <a:pPr algn="l"/>
            <a:r>
              <a:rPr sz="1400" b="0">
                <a:solidFill>
                  <a:srgbClr val="1B2430"/>
                </a:solidFill>
                <a:latin typeface="Calibri"/>
              </a:rPr>
              <a:t>Video-analitika tizimida inferens kadr vaqtining 40 % ini egallasa, uni 10 baravar tezlashtirish umumiy tezlashuvni necha baravar oshiradi? Natija co-design strategiyasiga qanday ta'sir…</a:t>
            </a:r>
          </a:p>
        </p:txBody>
      </p:sp>
      <p:sp>
        <p:nvSpPr>
          <p:cNvPr id="21" name="Rounded Rectangle 20"/>
          <p:cNvSpPr/>
          <p:nvPr/>
        </p:nvSpPr>
        <p:spPr>
          <a:xfrm>
            <a:off x="550000" y="4342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00" y="4342000"/>
            <a:ext cx="70000" cy="894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0000" y="45590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4" name="TextBox 23"/>
          <p:cNvSpPr txBox="1"/>
          <p:nvPr/>
        </p:nvSpPr>
        <p:spPr>
          <a:xfrm>
            <a:off x="1450000" y="4342000"/>
            <a:ext cx="10050000" cy="894000"/>
          </a:xfrm>
          <a:prstGeom prst="rect">
            <a:avLst/>
          </a:prstGeom>
          <a:noFill/>
        </p:spPr>
        <p:txBody>
          <a:bodyPr wrap="square" anchor="ctr" lIns="50800" rIns="50800">
            <a:spAutoFit/>
          </a:bodyPr>
          <a:lstStyle/>
          <a:p>
            <a:pPr algn="l"/>
            <a:r>
              <a:rPr sz="1400" b="0">
                <a:solidFill>
                  <a:srgbClr val="1B2430"/>
                </a:solidFill>
                <a:latin typeface="Calibri"/>
              </a:rPr>
              <a:t>Nega Sze va hammualliflar neyron tarmoq uchun «ma'lumotni qayta ishlatish» hisoblashni tezlashtirishdan muhimroq deb hisoblaydi? Bu xulosa tezlatkich arxitekturasida qanday aks etgan?</a:t>
            </a:r>
          </a:p>
        </p:txBody>
      </p:sp>
      <p:sp>
        <p:nvSpPr>
          <p:cNvPr id="25" name="Rounded Rectangle 24"/>
          <p:cNvSpPr/>
          <p:nvPr/>
        </p:nvSpPr>
        <p:spPr>
          <a:xfrm>
            <a:off x="550000" y="5356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0000" y="5356000"/>
            <a:ext cx="70000" cy="894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0000" y="5573000"/>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5</a:t>
            </a:r>
          </a:p>
        </p:txBody>
      </p:sp>
      <p:sp>
        <p:nvSpPr>
          <p:cNvPr id="28" name="TextBox 27"/>
          <p:cNvSpPr txBox="1"/>
          <p:nvPr/>
        </p:nvSpPr>
        <p:spPr>
          <a:xfrm>
            <a:off x="1450000" y="5356000"/>
            <a:ext cx="10050000" cy="894000"/>
          </a:xfrm>
          <a:prstGeom prst="rect">
            <a:avLst/>
          </a:prstGeom>
          <a:noFill/>
        </p:spPr>
        <p:txBody>
          <a:bodyPr wrap="square" anchor="ctr" lIns="50800" rIns="50800">
            <a:spAutoFit/>
          </a:bodyPr>
          <a:lstStyle/>
          <a:p>
            <a:pPr algn="l"/>
            <a:r>
              <a:rPr sz="1400" b="0">
                <a:solidFill>
                  <a:srgbClr val="1B2430"/>
                </a:solidFill>
                <a:latin typeface="Calibri"/>
              </a:rPr>
              <a:t>AI-enabled kompyuter tizimining besh qatlamli arxitekturasida qaysi qatlamlar orasidagi chegara ko'pincha asosiy to'siq bo'ladi va nima uchun? Uni yumshatishning ikki usulini ayting.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anim calcmode="lin" valueType="num">
                                      <p:cBhvr additive="base">
                                        <p:cTn id="83" dur="550" fill="hold"/>
                                        <p:tgtEl>
                                          <p:spTgt spid="21"/>
                                        </p:tgtEl>
                                        <p:attrNameLst>
                                          <p:attrName>ppt_x</p:attrName>
                                        </p:attrNameLst>
                                      </p:cBhvr>
                                      <p:tavLst>
                                        <p:tav tm="0">
                                          <p:val>
                                            <p:strVal val="#ppt_x"/>
                                          </p:val>
                                        </p:tav>
                                        <p:tav tm="100000">
                                          <p:val>
                                            <p:strVal val="#ppt_x"/>
                                          </p:val>
                                        </p:tav>
                                      </p:tavLst>
                                    </p:anim>
                                    <p:anim calcmode="lin" valueType="num">
                                      <p:cBhvr additive="base">
                                        <p:cTn id="84" dur="550" fill="hold"/>
                                        <p:tgtEl>
                                          <p:spTgt spid="21"/>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50"/>
                                        <p:tgtEl>
                                          <p:spTgt spid="22"/>
                                        </p:tgtEl>
                                      </p:cBhvr>
                                    </p:animEffect>
                                    <p:anim calcmode="lin" valueType="num">
                                      <p:cBhvr additive="base">
                                        <p:cTn id="89" dur="550" fill="hold"/>
                                        <p:tgtEl>
                                          <p:spTgt spid="22"/>
                                        </p:tgtEl>
                                        <p:attrNameLst>
                                          <p:attrName>ppt_x</p:attrName>
                                        </p:attrNameLst>
                                      </p:cBhvr>
                                      <p:tavLst>
                                        <p:tav tm="0">
                                          <p:val>
                                            <p:strVal val="#ppt_x"/>
                                          </p:val>
                                        </p:tav>
                                        <p:tav tm="100000">
                                          <p:val>
                                            <p:strVal val="#ppt_x"/>
                                          </p:val>
                                        </p:tav>
                                      </p:tavLst>
                                    </p:anim>
                                    <p:anim calcmode="lin" valueType="num">
                                      <p:cBhvr additive="base">
                                        <p:cTn id="90" dur="550" fill="hold"/>
                                        <p:tgtEl>
                                          <p:spTgt spid="22"/>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50"/>
                                        <p:tgtEl>
                                          <p:spTgt spid="23"/>
                                        </p:tgtEl>
                                      </p:cBhvr>
                                    </p:animEffect>
                                    <p:anim calcmode="lin" valueType="num">
                                      <p:cBhvr additive="base">
                                        <p:cTn id="95" dur="550" fill="hold"/>
                                        <p:tgtEl>
                                          <p:spTgt spid="23"/>
                                        </p:tgtEl>
                                        <p:attrNameLst>
                                          <p:attrName>ppt_w</p:attrName>
                                        </p:attrNameLst>
                                      </p:cBhvr>
                                      <p:tavLst>
                                        <p:tav tm="0">
                                          <p:val>
                                            <p:strVal val="0"/>
                                          </p:val>
                                        </p:tav>
                                        <p:tav tm="100000">
                                          <p:val>
                                            <p:strVal val="#ppt_w"/>
                                          </p:val>
                                        </p:tav>
                                      </p:tavLst>
                                    </p:anim>
                                    <p:anim calcmode="lin" valueType="num">
                                      <p:cBhvr additive="base">
                                        <p:cTn id="96" dur="550" fill="hold"/>
                                        <p:tgtEl>
                                          <p:spTgt spid="23"/>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50"/>
                                        <p:tgtEl>
                                          <p:spTgt spid="24"/>
                                        </p:tgtEl>
                                      </p:cBhvr>
                                    </p:animEffect>
                                    <p:anim calcmode="lin" valueType="num">
                                      <p:cBhvr additive="base">
                                        <p:cTn id="101" dur="550" fill="hold"/>
                                        <p:tgtEl>
                                          <p:spTgt spid="24"/>
                                        </p:tgtEl>
                                        <p:attrNameLst>
                                          <p:attrName>ppt_x</p:attrName>
                                        </p:attrNameLst>
                                      </p:cBhvr>
                                      <p:tavLst>
                                        <p:tav tm="0">
                                          <p:val>
                                            <p:strVal val="#ppt_x"/>
                                          </p:val>
                                        </p:tav>
                                        <p:tav tm="100000">
                                          <p:val>
                                            <p:strVal val="#ppt_x"/>
                                          </p:val>
                                        </p:tav>
                                      </p:tavLst>
                                    </p:anim>
                                    <p:anim calcmode="lin" valueType="num">
                                      <p:cBhvr additive="base">
                                        <p:cTn id="102" dur="550" fill="hold"/>
                                        <p:tgtEl>
                                          <p:spTgt spid="24"/>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550"/>
                                        <p:tgtEl>
                                          <p:spTgt spid="25"/>
                                        </p:tgtEl>
                                      </p:cBhvr>
                                    </p:animEffect>
                                    <p:anim calcmode="lin" valueType="num">
                                      <p:cBhvr additive="base">
                                        <p:cTn id="107" dur="550" fill="hold"/>
                                        <p:tgtEl>
                                          <p:spTgt spid="25"/>
                                        </p:tgtEl>
                                        <p:attrNameLst>
                                          <p:attrName>ppt_x</p:attrName>
                                        </p:attrNameLst>
                                      </p:cBhvr>
                                      <p:tavLst>
                                        <p:tav tm="0">
                                          <p:val>
                                            <p:strVal val="#ppt_x"/>
                                          </p:val>
                                        </p:tav>
                                        <p:tav tm="100000">
                                          <p:val>
                                            <p:strVal val="#ppt_x"/>
                                          </p:val>
                                        </p:tav>
                                      </p:tavLst>
                                    </p:anim>
                                    <p:anim calcmode="lin" valueType="num">
                                      <p:cBhvr additive="base">
                                        <p:cTn id="108" dur="550" fill="hold"/>
                                        <p:tgtEl>
                                          <p:spTgt spid="25"/>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550"/>
                                        <p:tgtEl>
                                          <p:spTgt spid="26"/>
                                        </p:tgtEl>
                                      </p:cBhvr>
                                    </p:animEffect>
                                    <p:anim calcmode="lin" valueType="num">
                                      <p:cBhvr additive="base">
                                        <p:cTn id="113" dur="550" fill="hold"/>
                                        <p:tgtEl>
                                          <p:spTgt spid="26"/>
                                        </p:tgtEl>
                                        <p:attrNameLst>
                                          <p:attrName>ppt_x</p:attrName>
                                        </p:attrNameLst>
                                      </p:cBhvr>
                                      <p:tavLst>
                                        <p:tav tm="0">
                                          <p:val>
                                            <p:strVal val="#ppt_x"/>
                                          </p:val>
                                        </p:tav>
                                        <p:tav tm="100000">
                                          <p:val>
                                            <p:strVal val="#ppt_x"/>
                                          </p:val>
                                        </p:tav>
                                      </p:tavLst>
                                    </p:anim>
                                    <p:anim calcmode="lin" valueType="num">
                                      <p:cBhvr additive="base">
                                        <p:cTn id="114" dur="550" fill="hold"/>
                                        <p:tgtEl>
                                          <p:spTgt spid="26"/>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7"/>
                                        </p:tgtEl>
                                        <p:attrNameLst>
                                          <p:attrName>style.visibility</p:attrName>
                                        </p:attrNameLst>
                                      </p:cBhvr>
                                      <p:to>
                                        <p:strVal val="visible"/>
                                      </p:to>
                                    </p:set>
                                    <p:animEffect transition="in" filter="fade">
                                      <p:cBhvr>
                                        <p:cTn id="118" dur="550"/>
                                        <p:tgtEl>
                                          <p:spTgt spid="27"/>
                                        </p:tgtEl>
                                      </p:cBhvr>
                                    </p:animEffect>
                                    <p:anim calcmode="lin" valueType="num">
                                      <p:cBhvr additive="base">
                                        <p:cTn id="119" dur="550" fill="hold"/>
                                        <p:tgtEl>
                                          <p:spTgt spid="27"/>
                                        </p:tgtEl>
                                        <p:attrNameLst>
                                          <p:attrName>ppt_w</p:attrName>
                                        </p:attrNameLst>
                                      </p:cBhvr>
                                      <p:tavLst>
                                        <p:tav tm="0">
                                          <p:val>
                                            <p:strVal val="0"/>
                                          </p:val>
                                        </p:tav>
                                        <p:tav tm="100000">
                                          <p:val>
                                            <p:strVal val="#ppt_w"/>
                                          </p:val>
                                        </p:tav>
                                      </p:tavLst>
                                    </p:anim>
                                    <p:anim calcmode="lin" valueType="num">
                                      <p:cBhvr additive="base">
                                        <p:cTn id="120" dur="550" fill="hold"/>
                                        <p:tgtEl>
                                          <p:spTgt spid="27"/>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8"/>
                                        </p:tgtEl>
                                        <p:attrNameLst>
                                          <p:attrName>style.visibility</p:attrName>
                                        </p:attrNameLst>
                                      </p:cBhvr>
                                      <p:to>
                                        <p:strVal val="visible"/>
                                      </p:to>
                                    </p:set>
                                    <p:animEffect transition="in" filter="fade">
                                      <p:cBhvr>
                                        <p:cTn id="124" dur="550"/>
                                        <p:tgtEl>
                                          <p:spTgt spid="28"/>
                                        </p:tgtEl>
                                      </p:cBhvr>
                                    </p:animEffect>
                                    <p:anim calcmode="lin" valueType="num">
                                      <p:cBhvr additive="base">
                                        <p:cTn id="125" dur="550" fill="hold"/>
                                        <p:tgtEl>
                                          <p:spTgt spid="28"/>
                                        </p:tgtEl>
                                        <p:attrNameLst>
                                          <p:attrName>ppt_x</p:attrName>
                                        </p:attrNameLst>
                                      </p:cBhvr>
                                      <p:tavLst>
                                        <p:tav tm="0">
                                          <p:val>
                                            <p:strVal val="#ppt_x"/>
                                          </p:val>
                                        </p:tav>
                                        <p:tav tm="100000">
                                          <p:val>
                                            <p:strVal val="#ppt_x"/>
                                          </p:val>
                                        </p:tav>
                                      </p:tavLst>
                                    </p:anim>
                                    <p:anim calcmode="lin" valueType="num">
                                      <p:cBhvr additive="base">
                                        <p:cTn id="126" dur="550" fill="hold"/>
                                        <p:tgtEl>
                                          <p:spTgt spid="28"/>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Nazorat savollari (2)</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 · Sun'iy intellektga asoslangan kompyuter tizimlari injiniringi: arxitektura va loyihalash tamoyillari</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37</a:t>
            </a:r>
          </a:p>
        </p:txBody>
      </p:sp>
      <p:sp>
        <p:nvSpPr>
          <p:cNvPr id="9" name="Rounded Rectangle 8"/>
          <p:cNvSpPr/>
          <p:nvPr/>
        </p:nvSpPr>
        <p:spPr>
          <a:xfrm>
            <a:off x="550000" y="1300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300000"/>
            <a:ext cx="70000" cy="894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1517000"/>
            <a:ext cx="460000" cy="460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6</a:t>
            </a:r>
          </a:p>
        </p:txBody>
      </p:sp>
      <p:sp>
        <p:nvSpPr>
          <p:cNvPr id="12" name="TextBox 11"/>
          <p:cNvSpPr txBox="1"/>
          <p:nvPr/>
        </p:nvSpPr>
        <p:spPr>
          <a:xfrm>
            <a:off x="1450000" y="1300000"/>
            <a:ext cx="10050000" cy="894000"/>
          </a:xfrm>
          <a:prstGeom prst="rect">
            <a:avLst/>
          </a:prstGeom>
          <a:noFill/>
        </p:spPr>
        <p:txBody>
          <a:bodyPr wrap="square" anchor="ctr" lIns="50800" rIns="50800">
            <a:spAutoFit/>
          </a:bodyPr>
          <a:lstStyle/>
          <a:p>
            <a:pPr algn="l"/>
            <a:r>
              <a:rPr sz="1600" b="0">
                <a:solidFill>
                  <a:srgbClr val="1B2430"/>
                </a:solidFill>
                <a:latin typeface="Calibri"/>
              </a:rPr>
              <a:t>Onlayn, paketli va oqimli inferens rejimlari uchun maqbul paket hajmi va tezlatkich sinfi qanday farq qiladi? Har biriga real ilova misolini keltiring.</a:t>
            </a:r>
          </a:p>
        </p:txBody>
      </p:sp>
      <p:sp>
        <p:nvSpPr>
          <p:cNvPr id="13" name="Rounded Rectangle 12"/>
          <p:cNvSpPr/>
          <p:nvPr/>
        </p:nvSpPr>
        <p:spPr>
          <a:xfrm>
            <a:off x="550000" y="2314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314000"/>
            <a:ext cx="70000" cy="894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2531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7</a:t>
            </a:r>
          </a:p>
        </p:txBody>
      </p:sp>
      <p:sp>
        <p:nvSpPr>
          <p:cNvPr id="16" name="TextBox 15"/>
          <p:cNvSpPr txBox="1"/>
          <p:nvPr/>
        </p:nvSpPr>
        <p:spPr>
          <a:xfrm>
            <a:off x="1450000" y="2314000"/>
            <a:ext cx="10050000" cy="894000"/>
          </a:xfrm>
          <a:prstGeom prst="rect">
            <a:avLst/>
          </a:prstGeom>
          <a:noFill/>
        </p:spPr>
        <p:txBody>
          <a:bodyPr wrap="square" anchor="ctr" lIns="50800" rIns="50800">
            <a:spAutoFit/>
          </a:bodyPr>
          <a:lstStyle/>
          <a:p>
            <a:pPr algn="l"/>
            <a:r>
              <a:rPr sz="1600" b="0">
                <a:solidFill>
                  <a:srgbClr val="1B2430"/>
                </a:solidFill>
                <a:latin typeface="Calibri"/>
              </a:rPr>
              <a:t>Bulutli inferens 16 kamerali savdo markazi tizimi uchun nima sababdan mos kelmadi? Qanday sharoitda bulut yechimi afzal bo'lar edi?</a:t>
            </a:r>
          </a:p>
        </p:txBody>
      </p:sp>
      <p:sp>
        <p:nvSpPr>
          <p:cNvPr id="17" name="Rounded Rectangle 16"/>
          <p:cNvSpPr/>
          <p:nvPr/>
        </p:nvSpPr>
        <p:spPr>
          <a:xfrm>
            <a:off x="550000" y="3328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3328000"/>
            <a:ext cx="70000" cy="894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354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8</a:t>
            </a:r>
          </a:p>
        </p:txBody>
      </p:sp>
      <p:sp>
        <p:nvSpPr>
          <p:cNvPr id="20" name="TextBox 19"/>
          <p:cNvSpPr txBox="1"/>
          <p:nvPr/>
        </p:nvSpPr>
        <p:spPr>
          <a:xfrm>
            <a:off x="1450000" y="3328000"/>
            <a:ext cx="10050000" cy="894000"/>
          </a:xfrm>
          <a:prstGeom prst="rect">
            <a:avLst/>
          </a:prstGeom>
          <a:noFill/>
        </p:spPr>
        <p:txBody>
          <a:bodyPr wrap="square" anchor="ctr" lIns="50800" rIns="50800">
            <a:spAutoFit/>
          </a:bodyPr>
          <a:lstStyle/>
          <a:p>
            <a:pPr algn="l"/>
            <a:r>
              <a:rPr sz="1600" b="0">
                <a:solidFill>
                  <a:srgbClr val="1B2430"/>
                </a:solidFill>
                <a:latin typeface="Calibri"/>
              </a:rPr>
              <a:t>Amaliy misolda ONNX Runtime FP32 rejimida tezlatkichdan foydalanish koeffitsiyenti taxminan 0,03 chiqdi. Bu raqamni oshirishning kamida uchta usulini sanab, har birining narxini…</a:t>
            </a:r>
          </a:p>
        </p:txBody>
      </p:sp>
      <p:sp>
        <p:nvSpPr>
          <p:cNvPr id="21" name="Rounded Rectangle 20"/>
          <p:cNvSpPr/>
          <p:nvPr/>
        </p:nvSpPr>
        <p:spPr>
          <a:xfrm>
            <a:off x="550000" y="4342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00" y="4342000"/>
            <a:ext cx="70000" cy="894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0000" y="4559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9</a:t>
            </a:r>
          </a:p>
        </p:txBody>
      </p:sp>
      <p:sp>
        <p:nvSpPr>
          <p:cNvPr id="24" name="TextBox 23"/>
          <p:cNvSpPr txBox="1"/>
          <p:nvPr/>
        </p:nvSpPr>
        <p:spPr>
          <a:xfrm>
            <a:off x="1450000" y="4342000"/>
            <a:ext cx="10050000" cy="894000"/>
          </a:xfrm>
          <a:prstGeom prst="rect">
            <a:avLst/>
          </a:prstGeom>
          <a:noFill/>
        </p:spPr>
        <p:txBody>
          <a:bodyPr wrap="square" anchor="ctr" lIns="50800" rIns="50800">
            <a:spAutoFit/>
          </a:bodyPr>
          <a:lstStyle/>
          <a:p>
            <a:pPr algn="l"/>
            <a:r>
              <a:rPr sz="1600" b="0">
                <a:solidFill>
                  <a:srgbClr val="1B2430"/>
                </a:solidFill>
                <a:latin typeface="Calibri"/>
              </a:rPr>
              <a:t>Agar buyurtmachi aniqlikni mAP50 0,5 dan 0,7 ga oshirishni so'rasa, co-design ning qaysi o'lchovlari qayta ko'rib chiqilishi kerak va bu apparat tanloviga qanday ta'sir qiladi?</a:t>
            </a:r>
          </a:p>
        </p:txBody>
      </p:sp>
      <p:sp>
        <p:nvSpPr>
          <p:cNvPr id="25" name="Rounded Rectangle 24"/>
          <p:cNvSpPr/>
          <p:nvPr/>
        </p:nvSpPr>
        <p:spPr>
          <a:xfrm>
            <a:off x="550000" y="5356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0000" y="5356000"/>
            <a:ext cx="70000" cy="894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0000" y="55730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10</a:t>
            </a:r>
          </a:p>
        </p:txBody>
      </p:sp>
      <p:sp>
        <p:nvSpPr>
          <p:cNvPr id="28" name="TextBox 27"/>
          <p:cNvSpPr txBox="1"/>
          <p:nvPr/>
        </p:nvSpPr>
        <p:spPr>
          <a:xfrm>
            <a:off x="1450000" y="5356000"/>
            <a:ext cx="10050000" cy="894000"/>
          </a:xfrm>
          <a:prstGeom prst="rect">
            <a:avLst/>
          </a:prstGeom>
          <a:noFill/>
        </p:spPr>
        <p:txBody>
          <a:bodyPr wrap="square" anchor="ctr" lIns="50800" rIns="50800">
            <a:spAutoFit/>
          </a:bodyPr>
          <a:lstStyle/>
          <a:p>
            <a:pPr algn="l"/>
            <a:r>
              <a:rPr sz="1600" b="0">
                <a:solidFill>
                  <a:srgbClr val="1B2430"/>
                </a:solidFill>
                <a:latin typeface="Calibri"/>
              </a:rPr>
              <a:t>«Raqamsiz talab — talab emas» tamoyilini tushuntiring. SI tizimi uchun kamida beshta raqamli talab turini sanang va ularning har biri qanday o'lchanishini ayting.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anim calcmode="lin" valueType="num">
                                      <p:cBhvr additive="base">
                                        <p:cTn id="83" dur="550" fill="hold"/>
                                        <p:tgtEl>
                                          <p:spTgt spid="21"/>
                                        </p:tgtEl>
                                        <p:attrNameLst>
                                          <p:attrName>ppt_x</p:attrName>
                                        </p:attrNameLst>
                                      </p:cBhvr>
                                      <p:tavLst>
                                        <p:tav tm="0">
                                          <p:val>
                                            <p:strVal val="#ppt_x"/>
                                          </p:val>
                                        </p:tav>
                                        <p:tav tm="100000">
                                          <p:val>
                                            <p:strVal val="#ppt_x"/>
                                          </p:val>
                                        </p:tav>
                                      </p:tavLst>
                                    </p:anim>
                                    <p:anim calcmode="lin" valueType="num">
                                      <p:cBhvr additive="base">
                                        <p:cTn id="84" dur="550" fill="hold"/>
                                        <p:tgtEl>
                                          <p:spTgt spid="21"/>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50"/>
                                        <p:tgtEl>
                                          <p:spTgt spid="22"/>
                                        </p:tgtEl>
                                      </p:cBhvr>
                                    </p:animEffect>
                                    <p:anim calcmode="lin" valueType="num">
                                      <p:cBhvr additive="base">
                                        <p:cTn id="89" dur="550" fill="hold"/>
                                        <p:tgtEl>
                                          <p:spTgt spid="22"/>
                                        </p:tgtEl>
                                        <p:attrNameLst>
                                          <p:attrName>ppt_x</p:attrName>
                                        </p:attrNameLst>
                                      </p:cBhvr>
                                      <p:tavLst>
                                        <p:tav tm="0">
                                          <p:val>
                                            <p:strVal val="#ppt_x"/>
                                          </p:val>
                                        </p:tav>
                                        <p:tav tm="100000">
                                          <p:val>
                                            <p:strVal val="#ppt_x"/>
                                          </p:val>
                                        </p:tav>
                                      </p:tavLst>
                                    </p:anim>
                                    <p:anim calcmode="lin" valueType="num">
                                      <p:cBhvr additive="base">
                                        <p:cTn id="90" dur="550" fill="hold"/>
                                        <p:tgtEl>
                                          <p:spTgt spid="22"/>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50"/>
                                        <p:tgtEl>
                                          <p:spTgt spid="23"/>
                                        </p:tgtEl>
                                      </p:cBhvr>
                                    </p:animEffect>
                                    <p:anim calcmode="lin" valueType="num">
                                      <p:cBhvr additive="base">
                                        <p:cTn id="95" dur="550" fill="hold"/>
                                        <p:tgtEl>
                                          <p:spTgt spid="23"/>
                                        </p:tgtEl>
                                        <p:attrNameLst>
                                          <p:attrName>ppt_w</p:attrName>
                                        </p:attrNameLst>
                                      </p:cBhvr>
                                      <p:tavLst>
                                        <p:tav tm="0">
                                          <p:val>
                                            <p:strVal val="0"/>
                                          </p:val>
                                        </p:tav>
                                        <p:tav tm="100000">
                                          <p:val>
                                            <p:strVal val="#ppt_w"/>
                                          </p:val>
                                        </p:tav>
                                      </p:tavLst>
                                    </p:anim>
                                    <p:anim calcmode="lin" valueType="num">
                                      <p:cBhvr additive="base">
                                        <p:cTn id="96" dur="550" fill="hold"/>
                                        <p:tgtEl>
                                          <p:spTgt spid="23"/>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50"/>
                                        <p:tgtEl>
                                          <p:spTgt spid="24"/>
                                        </p:tgtEl>
                                      </p:cBhvr>
                                    </p:animEffect>
                                    <p:anim calcmode="lin" valueType="num">
                                      <p:cBhvr additive="base">
                                        <p:cTn id="101" dur="550" fill="hold"/>
                                        <p:tgtEl>
                                          <p:spTgt spid="24"/>
                                        </p:tgtEl>
                                        <p:attrNameLst>
                                          <p:attrName>ppt_x</p:attrName>
                                        </p:attrNameLst>
                                      </p:cBhvr>
                                      <p:tavLst>
                                        <p:tav tm="0">
                                          <p:val>
                                            <p:strVal val="#ppt_x"/>
                                          </p:val>
                                        </p:tav>
                                        <p:tav tm="100000">
                                          <p:val>
                                            <p:strVal val="#ppt_x"/>
                                          </p:val>
                                        </p:tav>
                                      </p:tavLst>
                                    </p:anim>
                                    <p:anim calcmode="lin" valueType="num">
                                      <p:cBhvr additive="base">
                                        <p:cTn id="102" dur="550" fill="hold"/>
                                        <p:tgtEl>
                                          <p:spTgt spid="24"/>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550"/>
                                        <p:tgtEl>
                                          <p:spTgt spid="25"/>
                                        </p:tgtEl>
                                      </p:cBhvr>
                                    </p:animEffect>
                                    <p:anim calcmode="lin" valueType="num">
                                      <p:cBhvr additive="base">
                                        <p:cTn id="107" dur="550" fill="hold"/>
                                        <p:tgtEl>
                                          <p:spTgt spid="25"/>
                                        </p:tgtEl>
                                        <p:attrNameLst>
                                          <p:attrName>ppt_x</p:attrName>
                                        </p:attrNameLst>
                                      </p:cBhvr>
                                      <p:tavLst>
                                        <p:tav tm="0">
                                          <p:val>
                                            <p:strVal val="#ppt_x"/>
                                          </p:val>
                                        </p:tav>
                                        <p:tav tm="100000">
                                          <p:val>
                                            <p:strVal val="#ppt_x"/>
                                          </p:val>
                                        </p:tav>
                                      </p:tavLst>
                                    </p:anim>
                                    <p:anim calcmode="lin" valueType="num">
                                      <p:cBhvr additive="base">
                                        <p:cTn id="108" dur="550" fill="hold"/>
                                        <p:tgtEl>
                                          <p:spTgt spid="25"/>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550"/>
                                        <p:tgtEl>
                                          <p:spTgt spid="26"/>
                                        </p:tgtEl>
                                      </p:cBhvr>
                                    </p:animEffect>
                                    <p:anim calcmode="lin" valueType="num">
                                      <p:cBhvr additive="base">
                                        <p:cTn id="113" dur="550" fill="hold"/>
                                        <p:tgtEl>
                                          <p:spTgt spid="26"/>
                                        </p:tgtEl>
                                        <p:attrNameLst>
                                          <p:attrName>ppt_x</p:attrName>
                                        </p:attrNameLst>
                                      </p:cBhvr>
                                      <p:tavLst>
                                        <p:tav tm="0">
                                          <p:val>
                                            <p:strVal val="#ppt_x"/>
                                          </p:val>
                                        </p:tav>
                                        <p:tav tm="100000">
                                          <p:val>
                                            <p:strVal val="#ppt_x"/>
                                          </p:val>
                                        </p:tav>
                                      </p:tavLst>
                                    </p:anim>
                                    <p:anim calcmode="lin" valueType="num">
                                      <p:cBhvr additive="base">
                                        <p:cTn id="114" dur="550" fill="hold"/>
                                        <p:tgtEl>
                                          <p:spTgt spid="26"/>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7"/>
                                        </p:tgtEl>
                                        <p:attrNameLst>
                                          <p:attrName>style.visibility</p:attrName>
                                        </p:attrNameLst>
                                      </p:cBhvr>
                                      <p:to>
                                        <p:strVal val="visible"/>
                                      </p:to>
                                    </p:set>
                                    <p:animEffect transition="in" filter="fade">
                                      <p:cBhvr>
                                        <p:cTn id="118" dur="550"/>
                                        <p:tgtEl>
                                          <p:spTgt spid="27"/>
                                        </p:tgtEl>
                                      </p:cBhvr>
                                    </p:animEffect>
                                    <p:anim calcmode="lin" valueType="num">
                                      <p:cBhvr additive="base">
                                        <p:cTn id="119" dur="550" fill="hold"/>
                                        <p:tgtEl>
                                          <p:spTgt spid="27"/>
                                        </p:tgtEl>
                                        <p:attrNameLst>
                                          <p:attrName>ppt_w</p:attrName>
                                        </p:attrNameLst>
                                      </p:cBhvr>
                                      <p:tavLst>
                                        <p:tav tm="0">
                                          <p:val>
                                            <p:strVal val="0"/>
                                          </p:val>
                                        </p:tav>
                                        <p:tav tm="100000">
                                          <p:val>
                                            <p:strVal val="#ppt_w"/>
                                          </p:val>
                                        </p:tav>
                                      </p:tavLst>
                                    </p:anim>
                                    <p:anim calcmode="lin" valueType="num">
                                      <p:cBhvr additive="base">
                                        <p:cTn id="120" dur="550" fill="hold"/>
                                        <p:tgtEl>
                                          <p:spTgt spid="27"/>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8"/>
                                        </p:tgtEl>
                                        <p:attrNameLst>
                                          <p:attrName>style.visibility</p:attrName>
                                        </p:attrNameLst>
                                      </p:cBhvr>
                                      <p:to>
                                        <p:strVal val="visible"/>
                                      </p:to>
                                    </p:set>
                                    <p:animEffect transition="in" filter="fade">
                                      <p:cBhvr>
                                        <p:cTn id="124" dur="550"/>
                                        <p:tgtEl>
                                          <p:spTgt spid="28"/>
                                        </p:tgtEl>
                                      </p:cBhvr>
                                    </p:animEffect>
                                    <p:anim calcmode="lin" valueType="num">
                                      <p:cBhvr additive="base">
                                        <p:cTn id="125" dur="550" fill="hold"/>
                                        <p:tgtEl>
                                          <p:spTgt spid="28"/>
                                        </p:tgtEl>
                                        <p:attrNameLst>
                                          <p:attrName>ppt_x</p:attrName>
                                        </p:attrNameLst>
                                      </p:cBhvr>
                                      <p:tavLst>
                                        <p:tav tm="0">
                                          <p:val>
                                            <p:strVal val="#ppt_x"/>
                                          </p:val>
                                        </p:tav>
                                        <p:tav tm="100000">
                                          <p:val>
                                            <p:strVal val="#ppt_x"/>
                                          </p:val>
                                        </p:tav>
                                      </p:tavLst>
                                    </p:anim>
                                    <p:anim calcmode="lin" valueType="num">
                                      <p:cBhvr additive="base">
                                        <p:cTn id="126" dur="550" fill="hold"/>
                                        <p:tgtEl>
                                          <p:spTgt spid="28"/>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1700000"/>
            <a:ext cx="3000000" cy="30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0000" y="2350000"/>
            <a:ext cx="3000000" cy="1700000"/>
          </a:xfrm>
          <a:prstGeom prst="rect">
            <a:avLst/>
          </a:prstGeom>
          <a:noFill/>
        </p:spPr>
        <p:txBody>
          <a:bodyPr wrap="square" anchor="ctr" lIns="50800" rIns="50800">
            <a:spAutoFit/>
          </a:bodyPr>
          <a:lstStyle/>
          <a:p>
            <a:pPr algn="ctr"/>
            <a:r>
              <a:rPr sz="7200" b="1">
                <a:solidFill>
                  <a:srgbClr val="FFFFFF"/>
                </a:solidFill>
                <a:latin typeface="Calibri"/>
              </a:rPr>
              <a:t>08</a:t>
            </a:r>
          </a:p>
        </p:txBody>
      </p:sp>
      <p:sp>
        <p:nvSpPr>
          <p:cNvPr id="5" name="TextBox 4"/>
          <p:cNvSpPr txBox="1"/>
          <p:nvPr/>
        </p:nvSpPr>
        <p:spPr>
          <a:xfrm>
            <a:off x="4500000" y="2400000"/>
            <a:ext cx="7000000" cy="1600000"/>
          </a:xfrm>
          <a:prstGeom prst="rect">
            <a:avLst/>
          </a:prstGeom>
          <a:noFill/>
        </p:spPr>
        <p:txBody>
          <a:bodyPr wrap="square" anchor="ctr" lIns="50800" rIns="50800">
            <a:spAutoFit/>
          </a:bodyPr>
          <a:lstStyle/>
          <a:p>
            <a:pPr algn="l"/>
            <a:r>
              <a:rPr sz="3600" b="1">
                <a:solidFill>
                  <a:srgbClr val="FFFFFF"/>
                </a:solidFill>
                <a:latin typeface="Calibri"/>
              </a:rPr>
              <a:t>Mustaqil ish uchun topshiriq</a:t>
            </a:r>
          </a:p>
        </p:txBody>
      </p:sp>
      <p:sp>
        <p:nvSpPr>
          <p:cNvPr id="6" name="Rectangle 5"/>
          <p:cNvSpPr/>
          <p:nvPr/>
        </p:nvSpPr>
        <p:spPr>
          <a:xfrm>
            <a:off x="4550000" y="41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2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0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250"/>
                            </p:stCondLst>
                            <p:childTnLst>
                              <p:par>
                                <p:cTn id="16" presetID="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9" dur="550" fill="hold"/>
                                        <p:tgtEl>
                                          <p:spTgt spid="5"/>
                                        </p:tgtEl>
                                        <p:attrNameLst>
                                          <p:attrName>ppt_x</p:attrName>
                                        </p:attrNameLst>
                                      </p:cBhvr>
                                      <p:tavLst>
                                        <p:tav tm="0">
                                          <p:val>
                                            <p:strVal val="0-#ppt_w/2"/>
                                          </p:val>
                                        </p:tav>
                                        <p:tav tm="100000">
                                          <p:val>
                                            <p:strVal val="#ppt_x"/>
                                          </p:val>
                                        </p:tav>
                                      </p:tavLst>
                                    </p:anim>
                                    <p:anim calcmode="lin" valueType="num">
                                      <p:cBhvr additive="base">
                                        <p:cTn id="20" dur="550" fill="hold"/>
                                        <p:tgtEl>
                                          <p:spTgt spid="5"/>
                                        </p:tgtEl>
                                        <p:attrNameLst>
                                          <p:attrName>ppt_y</p:attrName>
                                        </p:attrNameLst>
                                      </p:cBhvr>
                                      <p:tavLst>
                                        <p:tav tm="0">
                                          <p:val>
                                            <p:strVal val="#ppt_y"/>
                                          </p:val>
                                        </p:tav>
                                        <p:tav tm="100000">
                                          <p:val>
                                            <p:strVal val="#ppt_y"/>
                                          </p:val>
                                        </p:tav>
                                      </p:tavLst>
                                    </p:anim>
                                  </p:childTnLst>
                                </p:cTn>
                              </p:par>
                            </p:childTnLst>
                          </p:cTn>
                        </p:par>
                        <p:par>
                          <p:cTn id="21" fill="hold">
                            <p:stCondLst>
                              <p:cond delay="350"/>
                            </p:stCondLst>
                            <p:childTnLst>
                              <p:par>
                                <p:cTn id="22" presetID="22" presetClass="entr" presetSubtype="8"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5" dur="8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Mustaqil ish uchun topshiriq</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 · Sun'iy intellektga asoslangan kompyuter tizimlari injiniringi: arxitektura va loyihalash tamoyillari</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39</a:t>
            </a:r>
          </a:p>
        </p:txBody>
      </p:sp>
      <p:sp>
        <p:nvSpPr>
          <p:cNvPr id="9" name="Rounded Rectangle 8"/>
          <p:cNvSpPr/>
          <p:nvPr/>
        </p:nvSpPr>
        <p:spPr>
          <a:xfrm>
            <a:off x="550000" y="13000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300000"/>
            <a:ext cx="70000" cy="11475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164375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1300000"/>
            <a:ext cx="10050000" cy="1147500"/>
          </a:xfrm>
          <a:prstGeom prst="rect">
            <a:avLst/>
          </a:prstGeom>
          <a:noFill/>
        </p:spPr>
        <p:txBody>
          <a:bodyPr wrap="square" anchor="ctr" lIns="50800" rIns="50800">
            <a:spAutoFit/>
          </a:bodyPr>
          <a:lstStyle/>
          <a:p>
            <a:pPr algn="l"/>
            <a:r>
              <a:rPr sz="1400" b="0">
                <a:solidFill>
                  <a:srgbClr val="1B2430"/>
                </a:solidFill>
                <a:latin typeface="Calibri"/>
              </a:rPr>
              <a:t>1-topshiriq (sillabusdagi 1-mustaqil ta'lim topshirig'iga bog'langan).</a:t>
            </a:r>
          </a:p>
        </p:txBody>
      </p:sp>
      <p:sp>
        <p:nvSpPr>
          <p:cNvPr id="13" name="Rounded Rectangle 12"/>
          <p:cNvSpPr/>
          <p:nvPr/>
        </p:nvSpPr>
        <p:spPr>
          <a:xfrm>
            <a:off x="550000" y="25675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567500"/>
            <a:ext cx="70000" cy="11475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291125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6" name="TextBox 15"/>
          <p:cNvSpPr txBox="1"/>
          <p:nvPr/>
        </p:nvSpPr>
        <p:spPr>
          <a:xfrm>
            <a:off x="1450000" y="2567500"/>
            <a:ext cx="10050000" cy="1147500"/>
          </a:xfrm>
          <a:prstGeom prst="rect">
            <a:avLst/>
          </a:prstGeom>
          <a:noFill/>
        </p:spPr>
        <p:txBody>
          <a:bodyPr wrap="square" anchor="ctr" lIns="50800" rIns="50800">
            <a:spAutoFit/>
          </a:bodyPr>
          <a:lstStyle/>
          <a:p>
            <a:pPr algn="l"/>
            <a:r>
              <a:rPr sz="1400" b="0">
                <a:solidFill>
                  <a:srgbClr val="1B2430"/>
                </a:solidFill>
                <a:latin typeface="Calibri"/>
              </a:rPr>
              <a:t>Baholash mezoni: arxitektura qatlamlari va interfeyslarining to'g'ri ajratilishi (30 %), apparat tanlovining raqamli asoslanishi (30 %), hayot sikli va qayta o'qitish mexanizmining tavsifi…</a:t>
            </a:r>
          </a:p>
        </p:txBody>
      </p:sp>
      <p:sp>
        <p:nvSpPr>
          <p:cNvPr id="17" name="Rounded Rectangle 16"/>
          <p:cNvSpPr/>
          <p:nvPr/>
        </p:nvSpPr>
        <p:spPr>
          <a:xfrm>
            <a:off x="550000" y="38350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3835000"/>
            <a:ext cx="70000" cy="11475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417875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0" name="TextBox 19"/>
          <p:cNvSpPr txBox="1"/>
          <p:nvPr/>
        </p:nvSpPr>
        <p:spPr>
          <a:xfrm>
            <a:off x="1450000" y="3835000"/>
            <a:ext cx="10050000" cy="1147500"/>
          </a:xfrm>
          <a:prstGeom prst="rect">
            <a:avLst/>
          </a:prstGeom>
          <a:noFill/>
        </p:spPr>
        <p:txBody>
          <a:bodyPr wrap="square" anchor="ctr" lIns="50800" rIns="50800">
            <a:spAutoFit/>
          </a:bodyPr>
          <a:lstStyle/>
          <a:p>
            <a:pPr algn="l"/>
            <a:r>
              <a:rPr sz="1400" b="0">
                <a:solidFill>
                  <a:srgbClr val="1B2430"/>
                </a:solidFill>
                <a:latin typeface="Calibri"/>
              </a:rPr>
              <a:t>2-topshiriq (amaliy). Ma'ruzadagi inferens xizmatini o'z kompyuteringizda (CPU yetarli) ishga tushiring, YOLOv8n va YOLOv8s modellari uchun pre/infer/post vaqtlarini va parallel…</a:t>
            </a:r>
          </a:p>
        </p:txBody>
      </p:sp>
      <p:sp>
        <p:nvSpPr>
          <p:cNvPr id="21" name="Rounded Rectangle 20"/>
          <p:cNvSpPr/>
          <p:nvPr/>
        </p:nvSpPr>
        <p:spPr>
          <a:xfrm>
            <a:off x="550000" y="51025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00" y="5102500"/>
            <a:ext cx="70000" cy="11475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0000" y="544625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4" name="TextBox 23"/>
          <p:cNvSpPr txBox="1"/>
          <p:nvPr/>
        </p:nvSpPr>
        <p:spPr>
          <a:xfrm>
            <a:off x="1450000" y="5102500"/>
            <a:ext cx="10050000" cy="1147500"/>
          </a:xfrm>
          <a:prstGeom prst="rect">
            <a:avLst/>
          </a:prstGeom>
          <a:noFill/>
        </p:spPr>
        <p:txBody>
          <a:bodyPr wrap="square" anchor="ctr" lIns="50800" rIns="50800">
            <a:spAutoFit/>
          </a:bodyPr>
          <a:lstStyle/>
          <a:p>
            <a:pPr algn="l"/>
            <a:r>
              <a:rPr sz="1400" b="0">
                <a:solidFill>
                  <a:srgbClr val="1B2430"/>
                </a:solidFill>
                <a:latin typeface="Calibri"/>
              </a:rPr>
              <a:t>Baholash mezoni: o'lchovlarning to'g'ri va takrorlanuvchi bajarilishi (40 %), hisob-kitobning to'g'riligi (30 %), xulosaning asoslanganligi va cheklovlarni ko'rsatish (30 %).</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anim calcmode="lin" valueType="num">
                                      <p:cBhvr additive="base">
                                        <p:cTn id="83" dur="550" fill="hold"/>
                                        <p:tgtEl>
                                          <p:spTgt spid="21"/>
                                        </p:tgtEl>
                                        <p:attrNameLst>
                                          <p:attrName>ppt_x</p:attrName>
                                        </p:attrNameLst>
                                      </p:cBhvr>
                                      <p:tavLst>
                                        <p:tav tm="0">
                                          <p:val>
                                            <p:strVal val="#ppt_x"/>
                                          </p:val>
                                        </p:tav>
                                        <p:tav tm="100000">
                                          <p:val>
                                            <p:strVal val="#ppt_x"/>
                                          </p:val>
                                        </p:tav>
                                      </p:tavLst>
                                    </p:anim>
                                    <p:anim calcmode="lin" valueType="num">
                                      <p:cBhvr additive="base">
                                        <p:cTn id="84" dur="550" fill="hold"/>
                                        <p:tgtEl>
                                          <p:spTgt spid="21"/>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50"/>
                                        <p:tgtEl>
                                          <p:spTgt spid="22"/>
                                        </p:tgtEl>
                                      </p:cBhvr>
                                    </p:animEffect>
                                    <p:anim calcmode="lin" valueType="num">
                                      <p:cBhvr additive="base">
                                        <p:cTn id="89" dur="550" fill="hold"/>
                                        <p:tgtEl>
                                          <p:spTgt spid="22"/>
                                        </p:tgtEl>
                                        <p:attrNameLst>
                                          <p:attrName>ppt_x</p:attrName>
                                        </p:attrNameLst>
                                      </p:cBhvr>
                                      <p:tavLst>
                                        <p:tav tm="0">
                                          <p:val>
                                            <p:strVal val="#ppt_x"/>
                                          </p:val>
                                        </p:tav>
                                        <p:tav tm="100000">
                                          <p:val>
                                            <p:strVal val="#ppt_x"/>
                                          </p:val>
                                        </p:tav>
                                      </p:tavLst>
                                    </p:anim>
                                    <p:anim calcmode="lin" valueType="num">
                                      <p:cBhvr additive="base">
                                        <p:cTn id="90" dur="550" fill="hold"/>
                                        <p:tgtEl>
                                          <p:spTgt spid="22"/>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50"/>
                                        <p:tgtEl>
                                          <p:spTgt spid="23"/>
                                        </p:tgtEl>
                                      </p:cBhvr>
                                    </p:animEffect>
                                    <p:anim calcmode="lin" valueType="num">
                                      <p:cBhvr additive="base">
                                        <p:cTn id="95" dur="550" fill="hold"/>
                                        <p:tgtEl>
                                          <p:spTgt spid="23"/>
                                        </p:tgtEl>
                                        <p:attrNameLst>
                                          <p:attrName>ppt_w</p:attrName>
                                        </p:attrNameLst>
                                      </p:cBhvr>
                                      <p:tavLst>
                                        <p:tav tm="0">
                                          <p:val>
                                            <p:strVal val="0"/>
                                          </p:val>
                                        </p:tav>
                                        <p:tav tm="100000">
                                          <p:val>
                                            <p:strVal val="#ppt_w"/>
                                          </p:val>
                                        </p:tav>
                                      </p:tavLst>
                                    </p:anim>
                                    <p:anim calcmode="lin" valueType="num">
                                      <p:cBhvr additive="base">
                                        <p:cTn id="96" dur="550" fill="hold"/>
                                        <p:tgtEl>
                                          <p:spTgt spid="23"/>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50"/>
                                        <p:tgtEl>
                                          <p:spTgt spid="24"/>
                                        </p:tgtEl>
                                      </p:cBhvr>
                                    </p:animEffect>
                                    <p:anim calcmode="lin" valueType="num">
                                      <p:cBhvr additive="base">
                                        <p:cTn id="101" dur="550" fill="hold"/>
                                        <p:tgtEl>
                                          <p:spTgt spid="24"/>
                                        </p:tgtEl>
                                        <p:attrNameLst>
                                          <p:attrName>ppt_x</p:attrName>
                                        </p:attrNameLst>
                                      </p:cBhvr>
                                      <p:tavLst>
                                        <p:tav tm="0">
                                          <p:val>
                                            <p:strVal val="#ppt_x"/>
                                          </p:val>
                                        </p:tav>
                                        <p:tav tm="100000">
                                          <p:val>
                                            <p:strVal val="#ppt_x"/>
                                          </p:val>
                                        </p:tav>
                                      </p:tavLst>
                                    </p:anim>
                                    <p:anim calcmode="lin" valueType="num">
                                      <p:cBhvr additive="base">
                                        <p:cTn id="102" dur="550" fill="hold"/>
                                        <p:tgtEl>
                                          <p:spTgt spid="24"/>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1700000"/>
            <a:ext cx="3000000" cy="30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0000" y="2350000"/>
            <a:ext cx="3000000" cy="1700000"/>
          </a:xfrm>
          <a:prstGeom prst="rect">
            <a:avLst/>
          </a:prstGeom>
          <a:noFill/>
        </p:spPr>
        <p:txBody>
          <a:bodyPr wrap="square" anchor="ctr" lIns="50800" rIns="50800">
            <a:spAutoFit/>
          </a:bodyPr>
          <a:lstStyle/>
          <a:p>
            <a:pPr algn="ctr"/>
            <a:r>
              <a:rPr sz="7200" b="1">
                <a:solidFill>
                  <a:srgbClr val="FFFFFF"/>
                </a:solidFill>
                <a:latin typeface="Calibri"/>
              </a:rPr>
              <a:t>09</a:t>
            </a:r>
          </a:p>
        </p:txBody>
      </p:sp>
      <p:sp>
        <p:nvSpPr>
          <p:cNvPr id="5" name="TextBox 4"/>
          <p:cNvSpPr txBox="1"/>
          <p:nvPr/>
        </p:nvSpPr>
        <p:spPr>
          <a:xfrm>
            <a:off x="4500000" y="2400000"/>
            <a:ext cx="7000000" cy="1600000"/>
          </a:xfrm>
          <a:prstGeom prst="rect">
            <a:avLst/>
          </a:prstGeom>
          <a:noFill/>
        </p:spPr>
        <p:txBody>
          <a:bodyPr wrap="square" anchor="ctr" lIns="50800" rIns="50800">
            <a:spAutoFit/>
          </a:bodyPr>
          <a:lstStyle/>
          <a:p>
            <a:pPr algn="l"/>
            <a:r>
              <a:rPr sz="3600" b="1">
                <a:solidFill>
                  <a:srgbClr val="FFFFFF"/>
                </a:solidFill>
                <a:latin typeface="Calibri"/>
              </a:rPr>
              <a:t>Foydalanilgan manbalar</a:t>
            </a:r>
          </a:p>
        </p:txBody>
      </p:sp>
      <p:sp>
        <p:nvSpPr>
          <p:cNvPr id="6" name="Rectangle 5"/>
          <p:cNvSpPr/>
          <p:nvPr/>
        </p:nvSpPr>
        <p:spPr>
          <a:xfrm>
            <a:off x="4550000" y="41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2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0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250"/>
                            </p:stCondLst>
                            <p:childTnLst>
                              <p:par>
                                <p:cTn id="16" presetID="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9" dur="550" fill="hold"/>
                                        <p:tgtEl>
                                          <p:spTgt spid="5"/>
                                        </p:tgtEl>
                                        <p:attrNameLst>
                                          <p:attrName>ppt_x</p:attrName>
                                        </p:attrNameLst>
                                      </p:cBhvr>
                                      <p:tavLst>
                                        <p:tav tm="0">
                                          <p:val>
                                            <p:strVal val="0-#ppt_w/2"/>
                                          </p:val>
                                        </p:tav>
                                        <p:tav tm="100000">
                                          <p:val>
                                            <p:strVal val="#ppt_x"/>
                                          </p:val>
                                        </p:tav>
                                      </p:tavLst>
                                    </p:anim>
                                    <p:anim calcmode="lin" valueType="num">
                                      <p:cBhvr additive="base">
                                        <p:cTn id="20" dur="550" fill="hold"/>
                                        <p:tgtEl>
                                          <p:spTgt spid="5"/>
                                        </p:tgtEl>
                                        <p:attrNameLst>
                                          <p:attrName>ppt_y</p:attrName>
                                        </p:attrNameLst>
                                      </p:cBhvr>
                                      <p:tavLst>
                                        <p:tav tm="0">
                                          <p:val>
                                            <p:strVal val="#ppt_y"/>
                                          </p:val>
                                        </p:tav>
                                        <p:tav tm="100000">
                                          <p:val>
                                            <p:strVal val="#ppt_y"/>
                                          </p:val>
                                        </p:tav>
                                      </p:tavLst>
                                    </p:anim>
                                  </p:childTnLst>
                                </p:cTn>
                              </p:par>
                            </p:childTnLst>
                          </p:cTn>
                        </p:par>
                        <p:par>
                          <p:cTn id="21" fill="hold">
                            <p:stCondLst>
                              <p:cond delay="350"/>
                            </p:stCondLst>
                            <p:childTnLst>
                              <p:par>
                                <p:cTn id="22" presetID="22" presetClass="entr" presetSubtype="8"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5" dur="8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Foydalanilgan manbalar (1)</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 · Sun'iy intellektga asoslangan kompyuter tizimlari injiniringi: arxitektura va loyihalash tamoyillari</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41</a:t>
            </a:r>
          </a:p>
        </p:txBody>
      </p:sp>
      <p:sp>
        <p:nvSpPr>
          <p:cNvPr id="9" name="Rounded Rectangle 8"/>
          <p:cNvSpPr/>
          <p:nvPr/>
        </p:nvSpPr>
        <p:spPr>
          <a:xfrm>
            <a:off x="550000" y="1300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300000"/>
            <a:ext cx="70000" cy="894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1517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1300000"/>
            <a:ext cx="10050000" cy="894000"/>
          </a:xfrm>
          <a:prstGeom prst="rect">
            <a:avLst/>
          </a:prstGeom>
          <a:noFill/>
        </p:spPr>
        <p:txBody>
          <a:bodyPr wrap="square" anchor="ctr" lIns="50800" rIns="50800">
            <a:spAutoFit/>
          </a:bodyPr>
          <a:lstStyle/>
          <a:p>
            <a:pPr algn="l"/>
            <a:r>
              <a:rPr sz="1400" b="0">
                <a:solidFill>
                  <a:srgbClr val="1B2430"/>
                </a:solidFill>
                <a:latin typeface="Calibri"/>
              </a:rPr>
              <a:t>[1] Hennessy, J. L., &amp; Patterson, D. A. Computer Architecture: A Quantitative Approach. 7th Edition. Morgan Kaufmann, 2024. — 1-bob (unumdorlik, Amdal qonuni, energiya) va 7-bob (sohaga xos…</a:t>
            </a:r>
          </a:p>
        </p:txBody>
      </p:sp>
      <p:sp>
        <p:nvSpPr>
          <p:cNvPr id="13" name="Rounded Rectangle 12"/>
          <p:cNvSpPr/>
          <p:nvPr/>
        </p:nvSpPr>
        <p:spPr>
          <a:xfrm>
            <a:off x="550000" y="2314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314000"/>
            <a:ext cx="70000" cy="894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2531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6" name="TextBox 15"/>
          <p:cNvSpPr txBox="1"/>
          <p:nvPr/>
        </p:nvSpPr>
        <p:spPr>
          <a:xfrm>
            <a:off x="1450000" y="2314000"/>
            <a:ext cx="10050000" cy="894000"/>
          </a:xfrm>
          <a:prstGeom prst="rect">
            <a:avLst/>
          </a:prstGeom>
          <a:noFill/>
        </p:spPr>
        <p:txBody>
          <a:bodyPr wrap="square" anchor="ctr" lIns="50800" rIns="50800">
            <a:spAutoFit/>
          </a:bodyPr>
          <a:lstStyle/>
          <a:p>
            <a:pPr algn="l"/>
            <a:r>
              <a:rPr sz="1400" b="0">
                <a:solidFill>
                  <a:srgbClr val="1B2430"/>
                </a:solidFill>
                <a:latin typeface="Calibri"/>
              </a:rPr>
              <a:t>[2] Kneusel, R. T. Artificial Intelligence Engineering: A Practical Guide for AI Applications. No Starch Press, 2023.</a:t>
            </a:r>
          </a:p>
        </p:txBody>
      </p:sp>
      <p:sp>
        <p:nvSpPr>
          <p:cNvPr id="17" name="Rounded Rectangle 16"/>
          <p:cNvSpPr/>
          <p:nvPr/>
        </p:nvSpPr>
        <p:spPr>
          <a:xfrm>
            <a:off x="550000" y="3328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3328000"/>
            <a:ext cx="70000" cy="894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354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0" name="TextBox 19"/>
          <p:cNvSpPr txBox="1"/>
          <p:nvPr/>
        </p:nvSpPr>
        <p:spPr>
          <a:xfrm>
            <a:off x="1450000" y="3328000"/>
            <a:ext cx="10050000" cy="894000"/>
          </a:xfrm>
          <a:prstGeom prst="rect">
            <a:avLst/>
          </a:prstGeom>
          <a:noFill/>
        </p:spPr>
        <p:txBody>
          <a:bodyPr wrap="square" anchor="ctr" lIns="50800" rIns="50800">
            <a:spAutoFit/>
          </a:bodyPr>
          <a:lstStyle/>
          <a:p>
            <a:pPr algn="l"/>
            <a:r>
              <a:rPr sz="1400" b="0">
                <a:solidFill>
                  <a:srgbClr val="1B2430"/>
                </a:solidFill>
                <a:latin typeface="Calibri"/>
              </a:rPr>
              <a:t>[3] Amershi, S., Begel, A., Bird, C., et al. Machine Learning Engineering. MIT Press, 2025.</a:t>
            </a:r>
          </a:p>
        </p:txBody>
      </p:sp>
      <p:sp>
        <p:nvSpPr>
          <p:cNvPr id="21" name="Rounded Rectangle 20"/>
          <p:cNvSpPr/>
          <p:nvPr/>
        </p:nvSpPr>
        <p:spPr>
          <a:xfrm>
            <a:off x="550000" y="4342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00" y="4342000"/>
            <a:ext cx="70000" cy="894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0000" y="45590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4" name="TextBox 23"/>
          <p:cNvSpPr txBox="1"/>
          <p:nvPr/>
        </p:nvSpPr>
        <p:spPr>
          <a:xfrm>
            <a:off x="1450000" y="4342000"/>
            <a:ext cx="10050000" cy="894000"/>
          </a:xfrm>
          <a:prstGeom prst="rect">
            <a:avLst/>
          </a:prstGeom>
          <a:noFill/>
        </p:spPr>
        <p:txBody>
          <a:bodyPr wrap="square" anchor="ctr" lIns="50800" rIns="50800">
            <a:spAutoFit/>
          </a:bodyPr>
          <a:lstStyle/>
          <a:p>
            <a:pPr algn="l"/>
            <a:r>
              <a:rPr sz="1400" b="0">
                <a:solidFill>
                  <a:srgbClr val="1B2430"/>
                </a:solidFill>
                <a:latin typeface="Calibri"/>
              </a:rPr>
              <a:t>[4] Sze, V., Chen, Y.-H., Yang, T.-J., &amp; Emer, J. S. Efficient Processing of Deep Neural Networks: A Tutorial and Survey. Morgan &amp; Claypool, 2020. — 1–3-boblar (energiya, ma'lumot harakati,…</a:t>
            </a:r>
          </a:p>
        </p:txBody>
      </p:sp>
      <p:sp>
        <p:nvSpPr>
          <p:cNvPr id="25" name="Rounded Rectangle 24"/>
          <p:cNvSpPr/>
          <p:nvPr/>
        </p:nvSpPr>
        <p:spPr>
          <a:xfrm>
            <a:off x="550000" y="5356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0000" y="5356000"/>
            <a:ext cx="70000" cy="894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0000" y="5573000"/>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5</a:t>
            </a:r>
          </a:p>
        </p:txBody>
      </p:sp>
      <p:sp>
        <p:nvSpPr>
          <p:cNvPr id="28" name="TextBox 27"/>
          <p:cNvSpPr txBox="1"/>
          <p:nvPr/>
        </p:nvSpPr>
        <p:spPr>
          <a:xfrm>
            <a:off x="1450000" y="5356000"/>
            <a:ext cx="10050000" cy="894000"/>
          </a:xfrm>
          <a:prstGeom prst="rect">
            <a:avLst/>
          </a:prstGeom>
          <a:noFill/>
        </p:spPr>
        <p:txBody>
          <a:bodyPr wrap="square" anchor="ctr" lIns="50800" rIns="50800">
            <a:spAutoFit/>
          </a:bodyPr>
          <a:lstStyle/>
          <a:p>
            <a:pPr algn="l"/>
            <a:r>
              <a:rPr sz="1400" b="0">
                <a:solidFill>
                  <a:srgbClr val="1B2430"/>
                </a:solidFill>
                <a:latin typeface="Calibri"/>
              </a:rPr>
              <a:t>[6] NVIDIA Developer Portal — https://developer.nvidia.com (Jetson, L4, A100/H100 texnik hujjatlari, TensorRT, DeepStream).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anim calcmode="lin" valueType="num">
                                      <p:cBhvr additive="base">
                                        <p:cTn id="83" dur="550" fill="hold"/>
                                        <p:tgtEl>
                                          <p:spTgt spid="21"/>
                                        </p:tgtEl>
                                        <p:attrNameLst>
                                          <p:attrName>ppt_x</p:attrName>
                                        </p:attrNameLst>
                                      </p:cBhvr>
                                      <p:tavLst>
                                        <p:tav tm="0">
                                          <p:val>
                                            <p:strVal val="#ppt_x"/>
                                          </p:val>
                                        </p:tav>
                                        <p:tav tm="100000">
                                          <p:val>
                                            <p:strVal val="#ppt_x"/>
                                          </p:val>
                                        </p:tav>
                                      </p:tavLst>
                                    </p:anim>
                                    <p:anim calcmode="lin" valueType="num">
                                      <p:cBhvr additive="base">
                                        <p:cTn id="84" dur="550" fill="hold"/>
                                        <p:tgtEl>
                                          <p:spTgt spid="21"/>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50"/>
                                        <p:tgtEl>
                                          <p:spTgt spid="22"/>
                                        </p:tgtEl>
                                      </p:cBhvr>
                                    </p:animEffect>
                                    <p:anim calcmode="lin" valueType="num">
                                      <p:cBhvr additive="base">
                                        <p:cTn id="89" dur="550" fill="hold"/>
                                        <p:tgtEl>
                                          <p:spTgt spid="22"/>
                                        </p:tgtEl>
                                        <p:attrNameLst>
                                          <p:attrName>ppt_x</p:attrName>
                                        </p:attrNameLst>
                                      </p:cBhvr>
                                      <p:tavLst>
                                        <p:tav tm="0">
                                          <p:val>
                                            <p:strVal val="#ppt_x"/>
                                          </p:val>
                                        </p:tav>
                                        <p:tav tm="100000">
                                          <p:val>
                                            <p:strVal val="#ppt_x"/>
                                          </p:val>
                                        </p:tav>
                                      </p:tavLst>
                                    </p:anim>
                                    <p:anim calcmode="lin" valueType="num">
                                      <p:cBhvr additive="base">
                                        <p:cTn id="90" dur="550" fill="hold"/>
                                        <p:tgtEl>
                                          <p:spTgt spid="22"/>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50"/>
                                        <p:tgtEl>
                                          <p:spTgt spid="23"/>
                                        </p:tgtEl>
                                      </p:cBhvr>
                                    </p:animEffect>
                                    <p:anim calcmode="lin" valueType="num">
                                      <p:cBhvr additive="base">
                                        <p:cTn id="95" dur="550" fill="hold"/>
                                        <p:tgtEl>
                                          <p:spTgt spid="23"/>
                                        </p:tgtEl>
                                        <p:attrNameLst>
                                          <p:attrName>ppt_w</p:attrName>
                                        </p:attrNameLst>
                                      </p:cBhvr>
                                      <p:tavLst>
                                        <p:tav tm="0">
                                          <p:val>
                                            <p:strVal val="0"/>
                                          </p:val>
                                        </p:tav>
                                        <p:tav tm="100000">
                                          <p:val>
                                            <p:strVal val="#ppt_w"/>
                                          </p:val>
                                        </p:tav>
                                      </p:tavLst>
                                    </p:anim>
                                    <p:anim calcmode="lin" valueType="num">
                                      <p:cBhvr additive="base">
                                        <p:cTn id="96" dur="550" fill="hold"/>
                                        <p:tgtEl>
                                          <p:spTgt spid="23"/>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50"/>
                                        <p:tgtEl>
                                          <p:spTgt spid="24"/>
                                        </p:tgtEl>
                                      </p:cBhvr>
                                    </p:animEffect>
                                    <p:anim calcmode="lin" valueType="num">
                                      <p:cBhvr additive="base">
                                        <p:cTn id="101" dur="550" fill="hold"/>
                                        <p:tgtEl>
                                          <p:spTgt spid="24"/>
                                        </p:tgtEl>
                                        <p:attrNameLst>
                                          <p:attrName>ppt_x</p:attrName>
                                        </p:attrNameLst>
                                      </p:cBhvr>
                                      <p:tavLst>
                                        <p:tav tm="0">
                                          <p:val>
                                            <p:strVal val="#ppt_x"/>
                                          </p:val>
                                        </p:tav>
                                        <p:tav tm="100000">
                                          <p:val>
                                            <p:strVal val="#ppt_x"/>
                                          </p:val>
                                        </p:tav>
                                      </p:tavLst>
                                    </p:anim>
                                    <p:anim calcmode="lin" valueType="num">
                                      <p:cBhvr additive="base">
                                        <p:cTn id="102" dur="550" fill="hold"/>
                                        <p:tgtEl>
                                          <p:spTgt spid="24"/>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550"/>
                                        <p:tgtEl>
                                          <p:spTgt spid="25"/>
                                        </p:tgtEl>
                                      </p:cBhvr>
                                    </p:animEffect>
                                    <p:anim calcmode="lin" valueType="num">
                                      <p:cBhvr additive="base">
                                        <p:cTn id="107" dur="550" fill="hold"/>
                                        <p:tgtEl>
                                          <p:spTgt spid="25"/>
                                        </p:tgtEl>
                                        <p:attrNameLst>
                                          <p:attrName>ppt_x</p:attrName>
                                        </p:attrNameLst>
                                      </p:cBhvr>
                                      <p:tavLst>
                                        <p:tav tm="0">
                                          <p:val>
                                            <p:strVal val="#ppt_x"/>
                                          </p:val>
                                        </p:tav>
                                        <p:tav tm="100000">
                                          <p:val>
                                            <p:strVal val="#ppt_x"/>
                                          </p:val>
                                        </p:tav>
                                      </p:tavLst>
                                    </p:anim>
                                    <p:anim calcmode="lin" valueType="num">
                                      <p:cBhvr additive="base">
                                        <p:cTn id="108" dur="550" fill="hold"/>
                                        <p:tgtEl>
                                          <p:spTgt spid="25"/>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550"/>
                                        <p:tgtEl>
                                          <p:spTgt spid="26"/>
                                        </p:tgtEl>
                                      </p:cBhvr>
                                    </p:animEffect>
                                    <p:anim calcmode="lin" valueType="num">
                                      <p:cBhvr additive="base">
                                        <p:cTn id="113" dur="550" fill="hold"/>
                                        <p:tgtEl>
                                          <p:spTgt spid="26"/>
                                        </p:tgtEl>
                                        <p:attrNameLst>
                                          <p:attrName>ppt_x</p:attrName>
                                        </p:attrNameLst>
                                      </p:cBhvr>
                                      <p:tavLst>
                                        <p:tav tm="0">
                                          <p:val>
                                            <p:strVal val="#ppt_x"/>
                                          </p:val>
                                        </p:tav>
                                        <p:tav tm="100000">
                                          <p:val>
                                            <p:strVal val="#ppt_x"/>
                                          </p:val>
                                        </p:tav>
                                      </p:tavLst>
                                    </p:anim>
                                    <p:anim calcmode="lin" valueType="num">
                                      <p:cBhvr additive="base">
                                        <p:cTn id="114" dur="550" fill="hold"/>
                                        <p:tgtEl>
                                          <p:spTgt spid="26"/>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7"/>
                                        </p:tgtEl>
                                        <p:attrNameLst>
                                          <p:attrName>style.visibility</p:attrName>
                                        </p:attrNameLst>
                                      </p:cBhvr>
                                      <p:to>
                                        <p:strVal val="visible"/>
                                      </p:to>
                                    </p:set>
                                    <p:animEffect transition="in" filter="fade">
                                      <p:cBhvr>
                                        <p:cTn id="118" dur="550"/>
                                        <p:tgtEl>
                                          <p:spTgt spid="27"/>
                                        </p:tgtEl>
                                      </p:cBhvr>
                                    </p:animEffect>
                                    <p:anim calcmode="lin" valueType="num">
                                      <p:cBhvr additive="base">
                                        <p:cTn id="119" dur="550" fill="hold"/>
                                        <p:tgtEl>
                                          <p:spTgt spid="27"/>
                                        </p:tgtEl>
                                        <p:attrNameLst>
                                          <p:attrName>ppt_w</p:attrName>
                                        </p:attrNameLst>
                                      </p:cBhvr>
                                      <p:tavLst>
                                        <p:tav tm="0">
                                          <p:val>
                                            <p:strVal val="0"/>
                                          </p:val>
                                        </p:tav>
                                        <p:tav tm="100000">
                                          <p:val>
                                            <p:strVal val="#ppt_w"/>
                                          </p:val>
                                        </p:tav>
                                      </p:tavLst>
                                    </p:anim>
                                    <p:anim calcmode="lin" valueType="num">
                                      <p:cBhvr additive="base">
                                        <p:cTn id="120" dur="550" fill="hold"/>
                                        <p:tgtEl>
                                          <p:spTgt spid="27"/>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8"/>
                                        </p:tgtEl>
                                        <p:attrNameLst>
                                          <p:attrName>style.visibility</p:attrName>
                                        </p:attrNameLst>
                                      </p:cBhvr>
                                      <p:to>
                                        <p:strVal val="visible"/>
                                      </p:to>
                                    </p:set>
                                    <p:animEffect transition="in" filter="fade">
                                      <p:cBhvr>
                                        <p:cTn id="124" dur="550"/>
                                        <p:tgtEl>
                                          <p:spTgt spid="28"/>
                                        </p:tgtEl>
                                      </p:cBhvr>
                                    </p:animEffect>
                                    <p:anim calcmode="lin" valueType="num">
                                      <p:cBhvr additive="base">
                                        <p:cTn id="125" dur="550" fill="hold"/>
                                        <p:tgtEl>
                                          <p:spTgt spid="28"/>
                                        </p:tgtEl>
                                        <p:attrNameLst>
                                          <p:attrName>ppt_x</p:attrName>
                                        </p:attrNameLst>
                                      </p:cBhvr>
                                      <p:tavLst>
                                        <p:tav tm="0">
                                          <p:val>
                                            <p:strVal val="#ppt_x"/>
                                          </p:val>
                                        </p:tav>
                                        <p:tav tm="100000">
                                          <p:val>
                                            <p:strVal val="#ppt_x"/>
                                          </p:val>
                                        </p:tav>
                                      </p:tavLst>
                                    </p:anim>
                                    <p:anim calcmode="lin" valueType="num">
                                      <p:cBhvr additive="base">
                                        <p:cTn id="126" dur="550" fill="hold"/>
                                        <p:tgtEl>
                                          <p:spTgt spid="28"/>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Foydalanilgan manbalar (2)</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 · Sun'iy intellektga asoslangan kompyuter tizimlari injiniringi: arxitektura va loyihalash tamoyillari</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42</a:t>
            </a:r>
          </a:p>
        </p:txBody>
      </p:sp>
      <p:sp>
        <p:nvSpPr>
          <p:cNvPr id="9" name="Rounded Rectangle 8"/>
          <p:cNvSpPr/>
          <p:nvPr/>
        </p:nvSpPr>
        <p:spPr>
          <a:xfrm>
            <a:off x="550000" y="1300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300000"/>
            <a:ext cx="70000" cy="894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1517000"/>
            <a:ext cx="460000" cy="460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6</a:t>
            </a:r>
          </a:p>
        </p:txBody>
      </p:sp>
      <p:sp>
        <p:nvSpPr>
          <p:cNvPr id="12" name="TextBox 11"/>
          <p:cNvSpPr txBox="1"/>
          <p:nvPr/>
        </p:nvSpPr>
        <p:spPr>
          <a:xfrm>
            <a:off x="1450000" y="1300000"/>
            <a:ext cx="10050000" cy="894000"/>
          </a:xfrm>
          <a:prstGeom prst="rect">
            <a:avLst/>
          </a:prstGeom>
          <a:noFill/>
        </p:spPr>
        <p:txBody>
          <a:bodyPr wrap="square" anchor="ctr" lIns="50800" rIns="50800">
            <a:spAutoFit/>
          </a:bodyPr>
          <a:lstStyle/>
          <a:p>
            <a:pPr algn="l"/>
            <a:r>
              <a:rPr sz="1600" b="0">
                <a:solidFill>
                  <a:srgbClr val="1B2430"/>
                </a:solidFill>
                <a:latin typeface="Calibri"/>
              </a:rPr>
              <a:t>[7] PyTorch rasmiy hujjatlari — https://pytorch.org.</a:t>
            </a:r>
          </a:p>
        </p:txBody>
      </p:sp>
      <p:sp>
        <p:nvSpPr>
          <p:cNvPr id="13" name="Rounded Rectangle 12"/>
          <p:cNvSpPr/>
          <p:nvPr/>
        </p:nvSpPr>
        <p:spPr>
          <a:xfrm>
            <a:off x="550000" y="2314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314000"/>
            <a:ext cx="70000" cy="894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2531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7</a:t>
            </a:r>
          </a:p>
        </p:txBody>
      </p:sp>
      <p:sp>
        <p:nvSpPr>
          <p:cNvPr id="16" name="TextBox 15"/>
          <p:cNvSpPr txBox="1"/>
          <p:nvPr/>
        </p:nvSpPr>
        <p:spPr>
          <a:xfrm>
            <a:off x="1450000" y="2314000"/>
            <a:ext cx="10050000" cy="894000"/>
          </a:xfrm>
          <a:prstGeom prst="rect">
            <a:avLst/>
          </a:prstGeom>
          <a:noFill/>
        </p:spPr>
        <p:txBody>
          <a:bodyPr wrap="square" anchor="ctr" lIns="50800" rIns="50800">
            <a:spAutoFit/>
          </a:bodyPr>
          <a:lstStyle/>
          <a:p>
            <a:pPr algn="l"/>
            <a:r>
              <a:rPr sz="1600" b="0">
                <a:solidFill>
                  <a:srgbClr val="1B2430"/>
                </a:solidFill>
                <a:latin typeface="Calibri"/>
              </a:rPr>
              <a:t>[10] ONNX rasmiy sayti — https://onnx.ai; ONNX Runtime hujjatlari — https://onnxruntime.ai.</a:t>
            </a:r>
          </a:p>
        </p:txBody>
      </p:sp>
      <p:sp>
        <p:nvSpPr>
          <p:cNvPr id="17" name="Rounded Rectangle 16"/>
          <p:cNvSpPr/>
          <p:nvPr/>
        </p:nvSpPr>
        <p:spPr>
          <a:xfrm>
            <a:off x="550000" y="3328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3328000"/>
            <a:ext cx="70000" cy="894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354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8</a:t>
            </a:r>
          </a:p>
        </p:txBody>
      </p:sp>
      <p:sp>
        <p:nvSpPr>
          <p:cNvPr id="20" name="TextBox 19"/>
          <p:cNvSpPr txBox="1"/>
          <p:nvPr/>
        </p:nvSpPr>
        <p:spPr>
          <a:xfrm>
            <a:off x="1450000" y="3328000"/>
            <a:ext cx="10050000" cy="894000"/>
          </a:xfrm>
          <a:prstGeom prst="rect">
            <a:avLst/>
          </a:prstGeom>
          <a:noFill/>
        </p:spPr>
        <p:txBody>
          <a:bodyPr wrap="square" anchor="ctr" lIns="50800" rIns="50800">
            <a:spAutoFit/>
          </a:bodyPr>
          <a:lstStyle/>
          <a:p>
            <a:pPr algn="l"/>
            <a:r>
              <a:rPr sz="1600" b="0">
                <a:solidFill>
                  <a:srgbClr val="1B2430"/>
                </a:solidFill>
                <a:latin typeface="Calibri"/>
              </a:rPr>
              <a:t>Sculley, D., Holt, G., Golovin, D., et al. Hidden Technical Debt in Machine Learning Systems. Advances in Neural Information Processing Systems 28 (NeurIPS 2015).</a:t>
            </a:r>
          </a:p>
        </p:txBody>
      </p:sp>
      <p:sp>
        <p:nvSpPr>
          <p:cNvPr id="21" name="Rounded Rectangle 20"/>
          <p:cNvSpPr/>
          <p:nvPr/>
        </p:nvSpPr>
        <p:spPr>
          <a:xfrm>
            <a:off x="550000" y="4342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00" y="4342000"/>
            <a:ext cx="70000" cy="894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0000" y="4559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9</a:t>
            </a:r>
          </a:p>
        </p:txBody>
      </p:sp>
      <p:sp>
        <p:nvSpPr>
          <p:cNvPr id="24" name="TextBox 23"/>
          <p:cNvSpPr txBox="1"/>
          <p:nvPr/>
        </p:nvSpPr>
        <p:spPr>
          <a:xfrm>
            <a:off x="1450000" y="4342000"/>
            <a:ext cx="10050000" cy="894000"/>
          </a:xfrm>
          <a:prstGeom prst="rect">
            <a:avLst/>
          </a:prstGeom>
          <a:noFill/>
        </p:spPr>
        <p:txBody>
          <a:bodyPr wrap="square" anchor="ctr" lIns="50800" rIns="50800">
            <a:spAutoFit/>
          </a:bodyPr>
          <a:lstStyle/>
          <a:p>
            <a:pPr algn="l"/>
            <a:r>
              <a:rPr sz="1600" b="0">
                <a:solidFill>
                  <a:srgbClr val="1B2430"/>
                </a:solidFill>
                <a:latin typeface="Calibri"/>
              </a:rPr>
              <a:t>Amershi, S., Begel, A., Bird, C., et al. Software Engineering for Machine Learning: A Case Study. Proceedings of ICSE-SEIP 2019, IEEE.</a:t>
            </a:r>
          </a:p>
        </p:txBody>
      </p:sp>
      <p:sp>
        <p:nvSpPr>
          <p:cNvPr id="25" name="Rounded Rectangle 24"/>
          <p:cNvSpPr/>
          <p:nvPr/>
        </p:nvSpPr>
        <p:spPr>
          <a:xfrm>
            <a:off x="550000" y="5356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0000" y="5356000"/>
            <a:ext cx="70000" cy="894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0000" y="55730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10</a:t>
            </a:r>
          </a:p>
        </p:txBody>
      </p:sp>
      <p:sp>
        <p:nvSpPr>
          <p:cNvPr id="28" name="TextBox 27"/>
          <p:cNvSpPr txBox="1"/>
          <p:nvPr/>
        </p:nvSpPr>
        <p:spPr>
          <a:xfrm>
            <a:off x="1450000" y="5356000"/>
            <a:ext cx="10050000" cy="894000"/>
          </a:xfrm>
          <a:prstGeom prst="rect">
            <a:avLst/>
          </a:prstGeom>
          <a:noFill/>
        </p:spPr>
        <p:txBody>
          <a:bodyPr wrap="square" anchor="ctr" lIns="50800" rIns="50800">
            <a:spAutoFit/>
          </a:bodyPr>
          <a:lstStyle/>
          <a:p>
            <a:pPr algn="l"/>
            <a:r>
              <a:rPr sz="1600" b="0">
                <a:solidFill>
                  <a:srgbClr val="1B2430"/>
                </a:solidFill>
                <a:latin typeface="Calibri"/>
              </a:rPr>
              <a:t>Hennessy, J. L., &amp; Patterson, D. A. A New Golden Age for Computer Architecture. Communications of the ACM, 62(2), 2019, pp. 48–60.</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anim calcmode="lin" valueType="num">
                                      <p:cBhvr additive="base">
                                        <p:cTn id="83" dur="550" fill="hold"/>
                                        <p:tgtEl>
                                          <p:spTgt spid="21"/>
                                        </p:tgtEl>
                                        <p:attrNameLst>
                                          <p:attrName>ppt_x</p:attrName>
                                        </p:attrNameLst>
                                      </p:cBhvr>
                                      <p:tavLst>
                                        <p:tav tm="0">
                                          <p:val>
                                            <p:strVal val="#ppt_x"/>
                                          </p:val>
                                        </p:tav>
                                        <p:tav tm="100000">
                                          <p:val>
                                            <p:strVal val="#ppt_x"/>
                                          </p:val>
                                        </p:tav>
                                      </p:tavLst>
                                    </p:anim>
                                    <p:anim calcmode="lin" valueType="num">
                                      <p:cBhvr additive="base">
                                        <p:cTn id="84" dur="550" fill="hold"/>
                                        <p:tgtEl>
                                          <p:spTgt spid="21"/>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50"/>
                                        <p:tgtEl>
                                          <p:spTgt spid="22"/>
                                        </p:tgtEl>
                                      </p:cBhvr>
                                    </p:animEffect>
                                    <p:anim calcmode="lin" valueType="num">
                                      <p:cBhvr additive="base">
                                        <p:cTn id="89" dur="550" fill="hold"/>
                                        <p:tgtEl>
                                          <p:spTgt spid="22"/>
                                        </p:tgtEl>
                                        <p:attrNameLst>
                                          <p:attrName>ppt_x</p:attrName>
                                        </p:attrNameLst>
                                      </p:cBhvr>
                                      <p:tavLst>
                                        <p:tav tm="0">
                                          <p:val>
                                            <p:strVal val="#ppt_x"/>
                                          </p:val>
                                        </p:tav>
                                        <p:tav tm="100000">
                                          <p:val>
                                            <p:strVal val="#ppt_x"/>
                                          </p:val>
                                        </p:tav>
                                      </p:tavLst>
                                    </p:anim>
                                    <p:anim calcmode="lin" valueType="num">
                                      <p:cBhvr additive="base">
                                        <p:cTn id="90" dur="550" fill="hold"/>
                                        <p:tgtEl>
                                          <p:spTgt spid="22"/>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50"/>
                                        <p:tgtEl>
                                          <p:spTgt spid="23"/>
                                        </p:tgtEl>
                                      </p:cBhvr>
                                    </p:animEffect>
                                    <p:anim calcmode="lin" valueType="num">
                                      <p:cBhvr additive="base">
                                        <p:cTn id="95" dur="550" fill="hold"/>
                                        <p:tgtEl>
                                          <p:spTgt spid="23"/>
                                        </p:tgtEl>
                                        <p:attrNameLst>
                                          <p:attrName>ppt_w</p:attrName>
                                        </p:attrNameLst>
                                      </p:cBhvr>
                                      <p:tavLst>
                                        <p:tav tm="0">
                                          <p:val>
                                            <p:strVal val="0"/>
                                          </p:val>
                                        </p:tav>
                                        <p:tav tm="100000">
                                          <p:val>
                                            <p:strVal val="#ppt_w"/>
                                          </p:val>
                                        </p:tav>
                                      </p:tavLst>
                                    </p:anim>
                                    <p:anim calcmode="lin" valueType="num">
                                      <p:cBhvr additive="base">
                                        <p:cTn id="96" dur="550" fill="hold"/>
                                        <p:tgtEl>
                                          <p:spTgt spid="23"/>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50"/>
                                        <p:tgtEl>
                                          <p:spTgt spid="24"/>
                                        </p:tgtEl>
                                      </p:cBhvr>
                                    </p:animEffect>
                                    <p:anim calcmode="lin" valueType="num">
                                      <p:cBhvr additive="base">
                                        <p:cTn id="101" dur="550" fill="hold"/>
                                        <p:tgtEl>
                                          <p:spTgt spid="24"/>
                                        </p:tgtEl>
                                        <p:attrNameLst>
                                          <p:attrName>ppt_x</p:attrName>
                                        </p:attrNameLst>
                                      </p:cBhvr>
                                      <p:tavLst>
                                        <p:tav tm="0">
                                          <p:val>
                                            <p:strVal val="#ppt_x"/>
                                          </p:val>
                                        </p:tav>
                                        <p:tav tm="100000">
                                          <p:val>
                                            <p:strVal val="#ppt_x"/>
                                          </p:val>
                                        </p:tav>
                                      </p:tavLst>
                                    </p:anim>
                                    <p:anim calcmode="lin" valueType="num">
                                      <p:cBhvr additive="base">
                                        <p:cTn id="102" dur="550" fill="hold"/>
                                        <p:tgtEl>
                                          <p:spTgt spid="24"/>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550"/>
                                        <p:tgtEl>
                                          <p:spTgt spid="25"/>
                                        </p:tgtEl>
                                      </p:cBhvr>
                                    </p:animEffect>
                                    <p:anim calcmode="lin" valueType="num">
                                      <p:cBhvr additive="base">
                                        <p:cTn id="107" dur="550" fill="hold"/>
                                        <p:tgtEl>
                                          <p:spTgt spid="25"/>
                                        </p:tgtEl>
                                        <p:attrNameLst>
                                          <p:attrName>ppt_x</p:attrName>
                                        </p:attrNameLst>
                                      </p:cBhvr>
                                      <p:tavLst>
                                        <p:tav tm="0">
                                          <p:val>
                                            <p:strVal val="#ppt_x"/>
                                          </p:val>
                                        </p:tav>
                                        <p:tav tm="100000">
                                          <p:val>
                                            <p:strVal val="#ppt_x"/>
                                          </p:val>
                                        </p:tav>
                                      </p:tavLst>
                                    </p:anim>
                                    <p:anim calcmode="lin" valueType="num">
                                      <p:cBhvr additive="base">
                                        <p:cTn id="108" dur="550" fill="hold"/>
                                        <p:tgtEl>
                                          <p:spTgt spid="25"/>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550"/>
                                        <p:tgtEl>
                                          <p:spTgt spid="26"/>
                                        </p:tgtEl>
                                      </p:cBhvr>
                                    </p:animEffect>
                                    <p:anim calcmode="lin" valueType="num">
                                      <p:cBhvr additive="base">
                                        <p:cTn id="113" dur="550" fill="hold"/>
                                        <p:tgtEl>
                                          <p:spTgt spid="26"/>
                                        </p:tgtEl>
                                        <p:attrNameLst>
                                          <p:attrName>ppt_x</p:attrName>
                                        </p:attrNameLst>
                                      </p:cBhvr>
                                      <p:tavLst>
                                        <p:tav tm="0">
                                          <p:val>
                                            <p:strVal val="#ppt_x"/>
                                          </p:val>
                                        </p:tav>
                                        <p:tav tm="100000">
                                          <p:val>
                                            <p:strVal val="#ppt_x"/>
                                          </p:val>
                                        </p:tav>
                                      </p:tavLst>
                                    </p:anim>
                                    <p:anim calcmode="lin" valueType="num">
                                      <p:cBhvr additive="base">
                                        <p:cTn id="114" dur="550" fill="hold"/>
                                        <p:tgtEl>
                                          <p:spTgt spid="26"/>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7"/>
                                        </p:tgtEl>
                                        <p:attrNameLst>
                                          <p:attrName>style.visibility</p:attrName>
                                        </p:attrNameLst>
                                      </p:cBhvr>
                                      <p:to>
                                        <p:strVal val="visible"/>
                                      </p:to>
                                    </p:set>
                                    <p:animEffect transition="in" filter="fade">
                                      <p:cBhvr>
                                        <p:cTn id="118" dur="550"/>
                                        <p:tgtEl>
                                          <p:spTgt spid="27"/>
                                        </p:tgtEl>
                                      </p:cBhvr>
                                    </p:animEffect>
                                    <p:anim calcmode="lin" valueType="num">
                                      <p:cBhvr additive="base">
                                        <p:cTn id="119" dur="550" fill="hold"/>
                                        <p:tgtEl>
                                          <p:spTgt spid="27"/>
                                        </p:tgtEl>
                                        <p:attrNameLst>
                                          <p:attrName>ppt_w</p:attrName>
                                        </p:attrNameLst>
                                      </p:cBhvr>
                                      <p:tavLst>
                                        <p:tav tm="0">
                                          <p:val>
                                            <p:strVal val="0"/>
                                          </p:val>
                                        </p:tav>
                                        <p:tav tm="100000">
                                          <p:val>
                                            <p:strVal val="#ppt_w"/>
                                          </p:val>
                                        </p:tav>
                                      </p:tavLst>
                                    </p:anim>
                                    <p:anim calcmode="lin" valueType="num">
                                      <p:cBhvr additive="base">
                                        <p:cTn id="120" dur="550" fill="hold"/>
                                        <p:tgtEl>
                                          <p:spTgt spid="27"/>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8"/>
                                        </p:tgtEl>
                                        <p:attrNameLst>
                                          <p:attrName>style.visibility</p:attrName>
                                        </p:attrNameLst>
                                      </p:cBhvr>
                                      <p:to>
                                        <p:strVal val="visible"/>
                                      </p:to>
                                    </p:set>
                                    <p:animEffect transition="in" filter="fade">
                                      <p:cBhvr>
                                        <p:cTn id="124" dur="550"/>
                                        <p:tgtEl>
                                          <p:spTgt spid="28"/>
                                        </p:tgtEl>
                                      </p:cBhvr>
                                    </p:animEffect>
                                    <p:anim calcmode="lin" valueType="num">
                                      <p:cBhvr additive="base">
                                        <p:cTn id="125" dur="550" fill="hold"/>
                                        <p:tgtEl>
                                          <p:spTgt spid="28"/>
                                        </p:tgtEl>
                                        <p:attrNameLst>
                                          <p:attrName>ppt_x</p:attrName>
                                        </p:attrNameLst>
                                      </p:cBhvr>
                                      <p:tavLst>
                                        <p:tav tm="0">
                                          <p:val>
                                            <p:strVal val="#ppt_x"/>
                                          </p:val>
                                        </p:tav>
                                        <p:tav tm="100000">
                                          <p:val>
                                            <p:strVal val="#ppt_x"/>
                                          </p:val>
                                        </p:tav>
                                      </p:tavLst>
                                    </p:anim>
                                    <p:anim calcmode="lin" valueType="num">
                                      <p:cBhvr additive="base">
                                        <p:cTn id="126" dur="550" fill="hold"/>
                                        <p:tgtEl>
                                          <p:spTgt spid="28"/>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Foydalanilgan manbalar (3)</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 · Sun'iy intellektga asoslangan kompyuter tizimlari injiniringi: arxitektura va loyihalash tamoyillari</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43</a:t>
            </a:r>
          </a:p>
        </p:txBody>
      </p:sp>
      <p:sp>
        <p:nvSpPr>
          <p:cNvPr id="9" name="Rounded Rectangle 8"/>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2076666"/>
            <a:ext cx="70000" cy="1250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2471666"/>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11</a:t>
            </a:r>
          </a:p>
        </p:txBody>
      </p:sp>
      <p:sp>
        <p:nvSpPr>
          <p:cNvPr id="12" name="TextBox 11"/>
          <p:cNvSpPr txBox="1"/>
          <p:nvPr/>
        </p:nvSpPr>
        <p:spPr>
          <a:xfrm>
            <a:off x="1450000" y="2076666"/>
            <a:ext cx="10050000" cy="1250000"/>
          </a:xfrm>
          <a:prstGeom prst="rect">
            <a:avLst/>
          </a:prstGeom>
          <a:noFill/>
        </p:spPr>
        <p:txBody>
          <a:bodyPr wrap="square" anchor="ctr" lIns="50800" rIns="50800">
            <a:spAutoFit/>
          </a:bodyPr>
          <a:lstStyle/>
          <a:p>
            <a:pPr algn="l"/>
            <a:r>
              <a:rPr sz="2000" b="0">
                <a:solidFill>
                  <a:srgbClr val="1B2430"/>
                </a:solidFill>
                <a:latin typeface="Calibri"/>
              </a:rPr>
              <a:t>MLCommons MLPerf Inference benchmark natijalari — https://mlcommons.org.</a:t>
            </a:r>
          </a:p>
        </p:txBody>
      </p:sp>
      <p:sp>
        <p:nvSpPr>
          <p:cNvPr id="13" name="Rounded Rectangle 12"/>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3446666"/>
            <a:ext cx="70000" cy="1250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3841666"/>
            <a:ext cx="460000" cy="460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12</a:t>
            </a:r>
          </a:p>
        </p:txBody>
      </p:sp>
      <p:sp>
        <p:nvSpPr>
          <p:cNvPr id="16" name="TextBox 15"/>
          <p:cNvSpPr txBox="1"/>
          <p:nvPr/>
        </p:nvSpPr>
        <p:spPr>
          <a:xfrm>
            <a:off x="1450000" y="3446666"/>
            <a:ext cx="10050000" cy="1250000"/>
          </a:xfrm>
          <a:prstGeom prst="rect">
            <a:avLst/>
          </a:prstGeom>
          <a:noFill/>
        </p:spPr>
        <p:txBody>
          <a:bodyPr wrap="square" anchor="ctr" lIns="50800" rIns="50800">
            <a:spAutoFit/>
          </a:bodyPr>
          <a:lstStyle/>
          <a:p>
            <a:pPr algn="l"/>
            <a:r>
              <a:rPr sz="2000" b="0">
                <a:solidFill>
                  <a:srgbClr val="1B2430"/>
                </a:solidFill>
                <a:latin typeface="Calibri"/>
              </a:rPr>
              <a:t>Ultralytics YOLOv8 hujjatlari — https://docs.ultralytics.com.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F6E80"/>
              </a:gs>
              <a:gs pos="100000">
                <a:srgbClr val="142845"/>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3900000"/>
            <a:ext cx="3600000" cy="3600000"/>
          </a:xfrm>
          <a:prstGeom prst="ellipse">
            <a:avLst/>
          </a:prstGeom>
          <a:solidFill>
            <a:srgbClr val="244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00000" y="1900000"/>
            <a:ext cx="10800000" cy="1100000"/>
          </a:xfrm>
          <a:prstGeom prst="rect">
            <a:avLst/>
          </a:prstGeom>
          <a:noFill/>
        </p:spPr>
        <p:txBody>
          <a:bodyPr wrap="square" anchor="t" lIns="50800" rIns="50800">
            <a:spAutoFit/>
          </a:bodyPr>
          <a:lstStyle/>
          <a:p>
            <a:pPr algn="ctr"/>
            <a:r>
              <a:rPr sz="4400" b="1">
                <a:solidFill>
                  <a:srgbClr val="FFFFFF"/>
                </a:solidFill>
                <a:latin typeface="Calibri"/>
              </a:rPr>
              <a:t>E’tiboringiz uchun rahmat!</a:t>
            </a:r>
          </a:p>
        </p:txBody>
      </p:sp>
      <p:sp>
        <p:nvSpPr>
          <p:cNvPr id="5" name="TextBox 4"/>
          <p:cNvSpPr txBox="1"/>
          <p:nvPr/>
        </p:nvSpPr>
        <p:spPr>
          <a:xfrm>
            <a:off x="700000" y="3200000"/>
            <a:ext cx="10800000" cy="500000"/>
          </a:xfrm>
          <a:prstGeom prst="rect">
            <a:avLst/>
          </a:prstGeom>
          <a:noFill/>
        </p:spPr>
        <p:txBody>
          <a:bodyPr wrap="square" anchor="t" lIns="50800" rIns="50800">
            <a:spAutoFit/>
          </a:bodyPr>
          <a:lstStyle/>
          <a:p>
            <a:pPr algn="ctr"/>
            <a:r>
              <a:rPr sz="2600" b="1">
                <a:solidFill>
                  <a:srgbClr val="7FD6D7"/>
                </a:solidFill>
                <a:latin typeface="Calibri"/>
              </a:rPr>
              <a:t>Savollar?</a:t>
            </a:r>
          </a:p>
        </p:txBody>
      </p:sp>
      <p:sp>
        <p:nvSpPr>
          <p:cNvPr id="6" name="TextBox 5"/>
          <p:cNvSpPr txBox="1"/>
          <p:nvPr/>
        </p:nvSpPr>
        <p:spPr>
          <a:xfrm>
            <a:off x="1200000" y="4300000"/>
            <a:ext cx="9800000" cy="1200000"/>
          </a:xfrm>
          <a:prstGeom prst="rect">
            <a:avLst/>
          </a:prstGeom>
          <a:noFill/>
        </p:spPr>
        <p:txBody>
          <a:bodyPr wrap="square" anchor="t" lIns="50800" rIns="50800">
            <a:spAutoFit/>
          </a:bodyPr>
          <a:lstStyle/>
          <a:p>
            <a:pPr algn="ctr"/>
            <a:r>
              <a:rPr sz="1600" b="0">
                <a:solidFill>
                  <a:srgbClr val="D7E3F4"/>
                </a:solidFill>
                <a:latin typeface="Calibri"/>
              </a:rPr>
              <a:t>Mavzu matni va materiallar: https://aiscan.airi.uz/ktm/#/c/mis2104/mavzu/M1</a:t>
            </a:r>
          </a:p>
          <a:p>
            <a:pPr algn="ctr"/>
            <a:r>
              <a:rPr sz="1600" b="0">
                <a:solidFill>
                  <a:srgbClr val="D7E3F4"/>
                </a:solidFill>
                <a:latin typeface="Calibri"/>
              </a:rPr>
              <a:t>Nazorat savollari va mustaqil ish — mavzu matnining oxirida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5"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5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350"/>
                            </p:stCondLst>
                            <p:childTnLst>
                              <p:par>
                                <p:cTn id="16" presetID="42" presetClass="entr" presetSubtype="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50"/>
                                        <p:tgtEl>
                                          <p:spTgt spid="5"/>
                                        </p:tgtEl>
                                      </p:cBhvr>
                                    </p:animEffect>
                                    <p:anim calcmode="lin" valueType="num">
                                      <p:cBhvr additive="base">
                                        <p:cTn id="19" dur="550" fill="hold"/>
                                        <p:tgtEl>
                                          <p:spTgt spid="5"/>
                                        </p:tgtEl>
                                        <p:attrNameLst>
                                          <p:attrName>ppt_x</p:attrName>
                                        </p:attrNameLst>
                                      </p:cBhvr>
                                      <p:tavLst>
                                        <p:tav tm="0">
                                          <p:val>
                                            <p:strVal val="#ppt_x"/>
                                          </p:val>
                                        </p:tav>
                                        <p:tav tm="100000">
                                          <p:val>
                                            <p:strVal val="#ppt_x"/>
                                          </p:val>
                                        </p:tav>
                                      </p:tavLst>
                                    </p:anim>
                                    <p:anim calcmode="lin" valueType="num">
                                      <p:cBhvr additive="base">
                                        <p:cTn id="20" dur="550" fill="hold"/>
                                        <p:tgtEl>
                                          <p:spTgt spid="5"/>
                                        </p:tgtEl>
                                        <p:attrNameLst>
                                          <p:attrName>ppt_y</p:attrName>
                                        </p:attrNameLst>
                                      </p:cBhvr>
                                      <p:tavLst>
                                        <p:tav tm="0">
                                          <p:val>
                                            <p:strVal val="#ppt_y+.08"/>
                                          </p:val>
                                        </p:tav>
                                        <p:tav tm="100000">
                                          <p:val>
                                            <p:strVal val="#ppt_y"/>
                                          </p:val>
                                        </p:tav>
                                      </p:tavLst>
                                    </p:anim>
                                  </p:childTnLst>
                                </p:cTn>
                              </p:par>
                            </p:childTnLst>
                          </p:cTn>
                        </p:par>
                        <p:par>
                          <p:cTn id="21" fill="hold">
                            <p:stCondLst>
                              <p:cond delay="550"/>
                            </p:stCondLst>
                            <p:childTnLst>
                              <p:par>
                                <p:cTn id="22" presetID="10" presetClass="entr" presetSubtype="0"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
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etikasi bo'yicha hujjatlarni uch darajaga ajratish foydali: tamoyillar (nima qilish kerak), standartlar (qanday tashkil qilish kerak) va qonunlar (nima majburiy). Tamoyillar darajasida eng ta'sirlilari — OECD SI tamoyillari (2019, 2024-yilda yangilangan; 47 dan ortiq davlat qo'shilgan) va UNESCO ning SI etikasi bo'yicha tavsiyasi (2021, 193 a'zo davlat tomonidan qabul qilingan). Ikkalasi ham besh-oltita umumiy tamoyilga tayanadi: inson manfaati va barqaror rivojlanish, inson huquqlari va adolatlilik, shaffoflik va tushuntirilish, mustahkamlik va xavfsizlik, hisobdorlik.</a:t>
            </a:r>
          </a:p>
          <a:p/>
          <a:p>
            <a:r>
              <a:t>Standartlar darajasida asosiy hujjatlar quyidagilar:</a:t>
            </a:r>
          </a:p>
          <a:p/>
          <a:p>
            <a:r>
              <a:t>ISO/IEC 42001 alohida e'tiborga loyiq, chunki u ISO 9001 (sifat) va ISO/IEC 27001 (axborot xavfsizligi) kabi «boshqaruv tizimi» standartidir: u modelning o'zini emas, balki tashkilotning SI ni ishlab chiqish va qo'llash jarayonini sertifikatlaydi. Standart Annex A da 38 ta nazorat chorasini (control) belgilaydi — SI siyosati, ichki tashkilot, SI tizimlari resurslari, ta'sirni baholash, hayot sikli, ma'lumotlar, manfaatdor tomonlar uchun axborot, foydalanish va uchinchi tomonlar bilan munosabatlar bo'yicha. Muhandis uchun bu shuni anglatadiki, har bir model uchun ta'sir baholash hisoboti, ma'lumotlar kelib chiqishi (provenance) jurnali va qaror jurnali (decision log) bo'lishi kerak.</a:t>
            </a:r>
          </a:p>
          <a:p/>
          <a:p>
            <a:r>
              <a:t>Qonunlar darajasida EU AI Act xavfga asoslangan yondashuvni qo'llaydi: taqiqlangan amaliyotlar (ijtimoiy reyting, ish joyida his-tuyg'ularni tanish, nozik belgilarga ko'ra biometrik tasniflash — 2025-yil fevralidan taqiqlangan), yuqori xavfli tizimlar (Annex III: ta'lim, bandlik, kredit, davlat xizmatlari, huquqni muhofaza qilish, migratsiya, adliya, muhim infratuzilma), cheklangan xavf (shaffoflik majburiyati — chatbot va sintetik kontent belgilanishi) va minimal xavf. Yuqori xavfli tizimlar uchun 9–15-moddalar texnik talablarni belgilaydi: risk boshqaruv tizimi (9-modda), ma'lumotlar va ularni boshqarish (10), texnik hujjatlar (11), avtomatik jurnallash (12), shaffoflik va foydalanuvchiga axborot (13), inson nazorati (14), aniqlik, mustahkamlik va kiberxavfsizlik (15). Jarimalar taqiqlangan amaliyot uchun 35 million yevro yoki global aylanmaning 7 % igacha, boshqa buzilishlar uchun 15 million yevro yoki 3 % gacha yetadi.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Mas'uliyatli SI — bu tamoyillarni butun hayot sikli bo'ylab amalga oshiruvchi muhandislik va tashkiliy amaliyotlar to'plami. Uning yadrosi — SI tizimi texnik artefakt emas, balki ijtimoiy-texnik tizim (sociotechnical system) ekanini tan olish: model, ma'lumot, foydalanuvchi, operator, ta'sirlanuvchi shaxslar va tashkiliy jarayonlar birgalikda natijani belgilaydi.</a:t>
            </a:r>
          </a:p>
          <a:p/>
          <a:p>
            <a:r>
              <a:t>Amaliyotda Responsible AI quyidagi artefaktlar orqali moddiylashadi. Model kartasi (Model Card, Mitchell va boshq., 2019) — modelning maqsadi, o'qitish ma'lumoti, baholash natijalari (guruhlar kesimida), cheklovlar va etik mulohazalar haqida standartlashtirilgan hujjat. Ma'lumotlar varaqasi (Datasheet for Datasets, Gebru va boshq., 2021) — ma'lumot to'plamining kelib chiqishi, yig'ish usuli, tarkibi va tavsiya etilmaydigan foydalanish holatlari. Algoritmik ta'sir baholash (Algorithmic Impact Assessment) — tizim ishga tushirilishidan oldin ta'sirlanuvchi guruhlar, zarar stsenariylari va yumshatish choralari tahlili. Inson nazorati dizayni — qaror inson tomonidan tasdiqlanadimi (human-in-the-loop), kuzatiladimi (human-on-the-loop) yoki faqat auditda ko'riladimi, va insonning aralashish imkoniyati texnik jihatdan ta'minlanganmi.</a:t>
            </a:r>
          </a:p>
          <a:p/>
          <a:p>
            <a:r>
              <a:t>Muhim nuqta: mas'uliyatli SI tizimning har bir bosqichida qaror nuqtalarini o'z ichiga oladi. Muammo qo'yilishida — «bu masalani SI bilan yechish to'g'rimi» (ba'zan eng mas'uliyatli qaror — tizimni qurmaslik). Ma'lumot yig'ishda — vakillik (representativeness), rozilik, tarixiy noxolislik. Modellashtirishda — maqsad funksiyasi kimning manfaatini optimallashtiradi. Baholashda — umumiy aniqlik emas, balki guruhlar kesimidagi natijalar. Joylashtirishda — tushuntirish, shikoyat mexanizmi, monitoring. Bu nuqtalarning har biri M12 da ko'rilgan MLOps konveyeriga «darvoza» (gate) sifatida kiritilishi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Adolatlilikning yagona ta'rifi yo'q — va bu matematik fakt, texnik kamchilik emas. Ikkilik tasniflash uchun asosiy guruh metrikalari quyidagilar (bu yerda Y — haqiqiy yorliq, Ŷ — bashorat, A — himoyalangan belgi, masalan jins yoki yosh guruhi):</a:t>
            </a:r>
          </a:p>
          <a:p/>
          <a:p>
            <a:r>
              <a:t>Metrikalar odatda farq (difference, ideal 0) yoki nisbat (ratio, ideal 1) ko'rinishida hisoblanadi. AQSh bandlik amaliyotidan kelgan «to'rtdan besh qoidasi» (four-fifths rule) ga ko'ra, ijobiy qaror ulushlari nisbati 0,8 dan past bo'lsa, bu nomutanosib ta'sir (disparate impact) belgisi hisoblanadi — ko'p auditlarda shu chegara qo'llaniladi.</a:t>
            </a:r>
          </a:p>
          <a:p/>
          <a:p>
            <a:r>
              <a:t>Imkonsizlik teoremasi (Chouldechova, 2017; Kleinberg va boshq., 2016) shuni aytadiki, guruhlarda asosiy chastota farq qilganda va model mukammal bo'lmaganda, kalibrlash, teng yolg'on ijobiy va teng yolg'on salbiy darajalarini bir vaqtda ta'minlab bo'lmaydi. Demak, metrika tanlovi — bu qiymat tanlovi, va u hujjatlashtirilishi, manfaatdor tomonlar bilan kelishilishi kerak. Guruh metrikalaridan tashqari individual adolatlilik (o'xshash odamlarga o'xshash qarorlar) va kontrfaktual adolatlilik (himoyalangan belgi o'zgarganda qaror o'zgarmasligi) tushunchalari ham bor, lekin ular «o'xshashlik» metrikasini aniqlashni talab qiladi, bu amaliyotda qiyin.</a:t>
            </a:r>
          </a:p>
          <a:p/>
          <a:p>
            <a:r>
              <a:t>Noxolislikni yumshatish usullari uch bosqichga bo'linadi. Oldindan ishlov berish (pre-processing): qayta vaznlash (reweighing), tanlanmani qayta balanslash, himoyalangan belgi bilan korrelyatsiyani olib tashlash. O'qitish vaqtida (in-processing): adolatlilik cheklovi bilan optimallashtirish — Fairlearn dagi ExponentiatedGradient va GridSearch (Agarwal va boshq., 2018 reduksiya yondashuvi), adversarial debiasing. Keyingi ishlov (post-processing): guruhlar uchun turli qaror chegaralari — Fairlearn dagi ThresholdOptimizer (Hardt va boshq., 2016). Muhim ogohlantirish: himoyalangan belgini shunchaki modeldan olib tashlash («adolatlilik ko'rmaslik orqali», fairness through unawareness) ishlamaydi, chunki boshqa belgilar (pochta indeksi, ism, ta'lim muassasasi) u bilan kuchli korrelyatsiyalangan proksi bo'lib xizmat qiladi.</a:t>
            </a:r>
          </a:p>
          <a:p/>
          <a:p>
            <a:r>
              <a:t>Asosiy ochiq vositalar: Fairlearn (Microsoft tomonidan boshlangan, hozir mustaqil ochiq loyiha; metrikalar MetricFrame orqali, yumshatish algoritmlari, scikit-learn bilan mos) va AI Fairness 360 (IBM, 2018; 70 dan ortiq metrika va 10 dan ortiq yumshatish algoritmi, ko'proq tadqiqot yo'nalishida).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Adolatlilikning yagona ta'rifi yo'q — va bu matematik fakt, texnik kamchilik emas. Ikkilik tasniflash uchun asosiy guruh metrikalari quyidagilar (bu yerda Y — haqiqiy yorliq, Ŷ — bashorat, A — himoyalangan belgi, masalan jins yoki yosh guruhi):</a:t>
            </a:r>
          </a:p>
          <a:p/>
          <a:p>
            <a:r>
              <a:t>Metrikalar odatda farq (difference, ideal 0) yoki nisbat (ratio, ideal 1) ko'rinishida hisoblanadi. AQSh bandlik amaliyotidan kelgan «to'rtdan besh qoidasi» (four-fifths rule) ga ko'ra, ijobiy qaror ulushlari nisbati 0,8 dan past bo'lsa, bu nomutanosib ta'sir (disparate impact) belgisi hisoblanadi — ko'p auditlarda shu chegara qo'llaniladi.</a:t>
            </a:r>
          </a:p>
          <a:p/>
          <a:p>
            <a:r>
              <a:t>Imkonsizlik teoremasi (Chouldechova, 2017; Kleinberg va boshq., 2016) shuni aytadiki, guruhlarda asosiy chastota farq qilganda va model mukammal bo'lmaganda, kalibrlash, teng yolg'on ijobiy va teng yolg'on salbiy darajalarini bir vaqtda ta'minlab bo'lmaydi. Demak, metrika tanlovi — bu qiymat tanlovi, va u hujjatlashtirilishi, manfaatdor tomonlar bilan kelishilishi kerak. Guruh metrikalaridan tashqari individual adolatlilik (o'xshash odamlarga o'xshash qarorlar) va kontrfaktual adolatlilik (himoyalangan belgi o'zgarganda qaror o'zgarmasligi) tushunchalari ham bor, lekin ular «o'xshashlik» metrikasini aniqlashni talab qiladi, bu amaliyotda qiyin.</a:t>
            </a:r>
          </a:p>
          <a:p/>
          <a:p>
            <a:r>
              <a:t>Noxolislikni yumshatish usullari uch bosqichga bo'linadi. Oldindan ishlov berish (pre-processing): qayta vaznlash (reweighing), tanlanmani qayta balanslash, himoyalangan belgi bilan korrelyatsiyani olib tashlash. O'qitish vaqtida (in-processing): adolatlilik cheklovi bilan optimallashtirish — Fairlearn dagi ExponentiatedGradient va GridSearch (Agarwal va boshq., 2018 reduksiya yondashuvi), adversarial debiasing. Keyingi ishlov (post-processing): guruhlar uchun turli qaror chegaralari — Fairlearn dagi ThresholdOptimizer (Hardt va boshq., 2016). Muhim ogohlantirish: himoyalangan belgini shunchaki modeldan olib tashlash («adolatlilik ko'rmaslik orqali», fairness through unawareness) ishlamaydi, chunki boshqa belgilar (pochta indeksi, ism, ta'lim muassasasi) u bilan kuchli korrelyatsiyalangan proksi bo'lib xizmat qiladi.</a:t>
            </a:r>
          </a:p>
          <a:p/>
          <a:p>
            <a:r>
              <a:t>Asosiy ochiq vositalar: Fairlearn (Microsoft tomonidan boshlangan, hozir mustaqil ochiq loyiha; metrikalar MetricFrame orqali, yumshatish algoritmlari, scikit-learn bilan mos) va AI Fairness 360 (IBM, 2018; 70 dan ortiq metrika va 10 dan ortiq yumshatish algoritmi, ko'proq tadqiqot yo'nalishida).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Shaffoflik (transparency) va tushuntirilish (explainability) bir narsa emas. Shaffoflik — tizim haqida axborotning mavjudligi: u qanday ma'lumotda o'qitilgan, qaysi maqsadda, qanday cheklovlar bilan, foydalanuvchi SI bilan muloqot qilayotganini biladimi. Tushuntirilish — aniq bir qaror yoki model xatti-harakati uchun inson tushunadigan sabab berish qobiliyati. Talqin qilinuvchanlik (interpretability) esa modelning ichki mexanizmi bevosita tushunarli ekani (chiziqli model, kichik qaror daraxti).</a:t>
            </a:r>
          </a:p>
          <a:p/>
          <a:p>
            <a:r>
              <a:t>XAI usullari bir nechta o'q bo'yicha tasniflanadi: lokal (bitta bashorat uchun) va global (butun model uchun); model-agnostik va modelga xos; ichki (intrinsic, model o'zi talqin qilinuvchan) va post-hoc. Eng ko'p qo'llaniladigan ikkita post-hoc model-agnostik usul — LIME (Ribeiro va boshq., 2016), bashorat atrofida lokal chiziqli surrogat quradi, va SHAP (Lundberg va Lee, 2017), kooperativ o'yinlar nazariyasidagi Shapley qiymatlariga asoslanadi va har bir belgining bashoratga hissasini additiv tarzda taqsimlaydi: f(x) = φ0 + Σ φi, bu yerda φ0 — o'rtacha bashorat, φi — i-belgining hissasi. Daraxtli modellar uchun TreeExplainer aniq Shapley qiymatlarini polinomial vaqtda hisoblaydi, bu uni sanoatda standartga aylantirdi. Neyron tarmoqlar uchun gradientga asoslangan usullar (Integrated Gradients, Grad-CAM) qo'shimcha imkoniyat beradi.</a:t>
            </a:r>
          </a:p>
          <a:p/>
          <a:p>
            <a:r>
              <a:t>XAI ning cheklovlari jiddiy. Tushuntirish — bu modelning soddalashtirilgan tasviri, va u o'zi noto'g'ri bo'lishi mumkin; turli usullar bir xil bashorat uchun turlicha tushuntirish berishi mumkin; korrelyatsiyalangan belgilar SHAP qiymatlarini «bo'lishib» oladi; foydalanuvchi tushuntirishga haddan tashqari ishonib, modelni tanqidiy baholashni to'xtatishi mumkin (avtomatlashtirish noxolisligi). Shu sababli EU AI Act 13-moddasi «foydalanuvchi natijani to'g'ri talqin qila olishi» ni talab qiladi — bu SHAP grafigini ko'rsatish emas, balki tushuntirishni maqsadli auditoriyaga moslashtirish degani: kredit mutaxassisiga va kredit oluvchiga turli ko'rinish kerak.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Ishonchli SI (trustworthy AI) tushunchasi adolatlilik va shaffoflikdan tashqari texnik mustahkamlik (robustness) — kirishning kichik o'zgarishiga chidamlilik, tarqatish siljishida barqarorlik, adversarial hujumlarga qarshilik (M9 da ko'rilgan), maxfiylik (differensial maxfiylik, federativ o'qitish) va hisobdorlik (accountability) — har bir qaror uchun kim javobgar va qanday shikoyat qilish mumkinligini o'z ichiga oladi. Hisobdorlikning texnik tayanchi — jurnallash: EU AI Act 12-moddasi yuqori xavfli tizimdan foydalanish davomida hodisalarni avtomatik qayd etishni talab qiladi, bu esa M12 dagi monitoring infratuzilmasining to'g'ridan-to'g'ri davomidir. Shunday qilib, etik talablar oxir-oqibat arxitektura talablariga aylanadi: versiyalangan ma'lumot va model, qaror jurnali, tushuntirish xizmati, inson aralashuvi uchun interfeys va guruhlar kesimidagi monitoring.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M14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Sun'iy intellekt tizimlarida etika, ishonchlilik va mas'uliyatli sun'iy intellekt tamoyillari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ce68c9738baab5db.jpg"/>
          <p:cNvPicPr>
            <a:picLocks noChangeAspect="1"/>
          </p:cNvPicPr>
          <p:nvPr/>
        </p:nvPicPr>
        <p:blipFill>
          <a:blip r:embed="rId2"/>
          <a:srcRect l="8535" r="8535"/>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Pearson Scott Foresman · Wikimedia Commons · Public domain</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225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25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32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295000"/>
            <a:ext cx="10150000" cy="440000"/>
          </a:xfrm>
          <a:prstGeom prst="rect">
            <a:avLst/>
          </a:prstGeom>
          <a:noFill/>
        </p:spPr>
        <p:txBody>
          <a:bodyPr wrap="square" anchor="ctr">
            <a:spAutoFit/>
          </a:bodyPr>
          <a:lstStyle/>
          <a:p>
            <a:r>
              <a:rPr sz="1600" b="0">
                <a:solidFill>
                  <a:srgbClr val="1B2430"/>
                </a:solidFill>
                <a:latin typeface="Calibri"/>
              </a:rPr>
              <a:t>Etik me'yorlar va xalqaro standartlar landshafti</a:t>
            </a:r>
          </a:p>
        </p:txBody>
      </p:sp>
      <p:sp>
        <p:nvSpPr>
          <p:cNvPr id="14" name="Rounded Rectangle 13"/>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88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5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Mas'uliyatli sun'iy intellekt (Responsible AI) konsepsiyasi</a:t>
            </a:r>
          </a:p>
        </p:txBody>
      </p:sp>
      <p:sp>
        <p:nvSpPr>
          <p:cNvPr id="18" name="Rounded Rectangle 17"/>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51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58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Adolatlilik (Fairness): ta'riflar, metrikalar va ziddiyatlar</a:t>
            </a:r>
          </a:p>
        </p:txBody>
      </p:sp>
      <p:sp>
        <p:nvSpPr>
          <p:cNvPr id="22" name="Rounded Rectangle 21"/>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145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4215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Shaffoflik va tushuntiriladigan sun'iy intellekt (XAI)</a:t>
            </a:r>
          </a:p>
        </p:txBody>
      </p:sp>
      <p:sp>
        <p:nvSpPr>
          <p:cNvPr id="26" name="Rounded Rectangle 25"/>
          <p:cNvSpPr/>
          <p:nvPr/>
        </p:nvSpPr>
        <p:spPr>
          <a:xfrm>
            <a:off x="550000" y="477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775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845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815000"/>
            <a:ext cx="10150000" cy="440000"/>
          </a:xfrm>
          <a:prstGeom prst="rect">
            <a:avLst/>
          </a:prstGeom>
          <a:noFill/>
        </p:spPr>
        <p:txBody>
          <a:bodyPr wrap="square" anchor="ctr">
            <a:spAutoFit/>
          </a:bodyPr>
          <a:lstStyle/>
          <a:p>
            <a:r>
              <a:rPr sz="1600" b="0">
                <a:solidFill>
                  <a:srgbClr val="1B2430"/>
                </a:solidFill>
                <a:latin typeface="Calibri"/>
              </a:rPr>
              <a:t>Ishonchlilik, mustahkamlik va hisobdorlik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5f067dc154b7849.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Celsoazevedo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Etik me'yorlar va xalqaro standartlar landshafti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Etik me'yorlar va xalqaro standartlar landshafti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500" b="1">
                <a:solidFill>
                  <a:srgbClr val="1F3A5F"/>
                </a:solidFill>
                <a:latin typeface="Calibri"/>
              </a:rPr>
              <a:t>SI etikasi bo'yicha hujjatlarni uch darajaga ajratish foydali: tamoyillar (nima qilish kerak), standartlar (qanday tashkil qilish kerak) va qonunlar (nima majburiy).</a:t>
            </a:r>
          </a:p>
          <a:p>
            <a:pPr>
              <a:spcBef>
                <a:spcPts val="400"/>
              </a:spcBef>
            </a:pPr>
            <a:r>
              <a:rPr sz="1400">
                <a:solidFill>
                  <a:srgbClr val="334055"/>
                </a:solidFill>
                <a:latin typeface="Calibri"/>
              </a:rPr>
              <a:t>Tamoyillar darajasida eng ta'sirlilari — OECD SI tamoyillari (2019, 2024-yilda yangilangan; 47 dan ortiq davlat qo'shilgan) va UNESCO ning SI etikasi bo'yicha tavsiyasi (2021, 193 a'zo davlat tomonidan qabul qilingan).</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400" b="0">
                <a:solidFill>
                  <a:srgbClr val="1B2430"/>
                </a:solidFill>
                <a:latin typeface="Calibri"/>
              </a:rPr>
              <a:t>Standartlar darajasida asosiy hujjatlar quyidagilar:</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400" b="0">
                <a:solidFill>
                  <a:srgbClr val="1B2430"/>
                </a:solidFill>
                <a:latin typeface="Calibri"/>
              </a:rPr>
              <a:t>ISO/IEC 42001 alohida e'tiborga loyiq, chunki u ISO 9001 (sifat) va ISO/IEC 27001 (axborot xavfsizligi) kabi «boshqaruv tizimi» standartidir: u modelning o'zini emas, balki tashkilotning SI ni ishlab chiqish va qo'llash jarayonini sertifikatlaydi.</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400" b="0">
                <a:solidFill>
                  <a:srgbClr val="1B2430"/>
                </a:solidFill>
                <a:latin typeface="Calibri"/>
              </a:rPr>
              <a:t>Qonunlar darajasida EU AI Act xavfga asoslangan yondashuvni qo'llaydi: taqiqlangan amaliyotlar (ijtimoiy reyting, ish joyida his-tuyg'ularni tanish, nozik belgilarga ko'ra biometrik tasniflash — 2025-yil fevralidan taqiqlangan), yuqori xavfli tizimlar (Annex…</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Etik me'yorlar va xalqaro standartlar landshafti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Hujjat</a:t>
                      </a:r>
                    </a:p>
                  </a:txBody>
                  <a:tcPr>
                    <a:solidFill>
                      <a:srgbClr val="2D5C8F"/>
                    </a:solidFill>
                  </a:tcPr>
                </a:tc>
                <a:tc>
                  <a:txBody>
                    <a:bodyPr/>
                    <a:lstStyle/>
                    <a:p>
                      <a:r>
                        <a:rPr sz="1200" b="1">
                          <a:solidFill>
                            <a:srgbClr val="FFFFFF"/>
                          </a:solidFill>
                          <a:latin typeface="Calibri"/>
                        </a:rPr>
                        <a:t>Yili</a:t>
                      </a:r>
                    </a:p>
                  </a:txBody>
                  <a:tcPr>
                    <a:solidFill>
                      <a:srgbClr val="2D5C8F"/>
                    </a:solidFill>
                  </a:tcPr>
                </a:tc>
                <a:tc>
                  <a:txBody>
                    <a:bodyPr/>
                    <a:lstStyle/>
                    <a:p>
                      <a:r>
                        <a:rPr sz="1200" b="1">
                          <a:solidFill>
                            <a:srgbClr val="FFFFFF"/>
                          </a:solidFill>
                          <a:latin typeface="Calibri"/>
                        </a:rPr>
                        <a:t>Mohiyati</a:t>
                      </a:r>
                    </a:p>
                  </a:txBody>
                  <a:tcPr>
                    <a:solidFill>
                      <a:srgbClr val="2D5C8F"/>
                    </a:solidFill>
                  </a:tcPr>
                </a:tc>
                <a:tc>
                  <a:txBody>
                    <a:bodyPr/>
                    <a:lstStyle/>
                    <a:p>
                      <a:r>
                        <a:rPr sz="1200" b="1">
                          <a:solidFill>
                            <a:srgbClr val="FFFFFF"/>
                          </a:solidFill>
                          <a:latin typeface="Calibri"/>
                        </a:rPr>
                        <a:t>Muhandis uchun ma'nosi</a:t>
                      </a:r>
                    </a:p>
                  </a:txBody>
                  <a:tcPr>
                    <a:solidFill>
                      <a:srgbClr val="2D5C8F"/>
                    </a:solidFill>
                  </a:tcPr>
                </a:tc>
              </a:tr>
              <a:tr h="520000">
                <a:tc>
                  <a:txBody>
                    <a:bodyPr/>
                    <a:lstStyle/>
                    <a:p>
                      <a:r>
                        <a:rPr sz="1200" b="0">
                          <a:solidFill>
                            <a:srgbClr val="1B2430"/>
                          </a:solidFill>
                          <a:latin typeface="Calibri"/>
                        </a:rPr>
                        <a:t>ISO/IEC 22989</a:t>
                      </a:r>
                    </a:p>
                  </a:txBody>
                  <a:tcPr>
                    <a:solidFill>
                      <a:srgbClr val="F1F4F8"/>
                    </a:solidFill>
                  </a:tcPr>
                </a:tc>
                <a:tc>
                  <a:txBody>
                    <a:bodyPr/>
                    <a:lstStyle/>
                    <a:p>
                      <a:r>
                        <a:rPr sz="1200" b="0">
                          <a:solidFill>
                            <a:srgbClr val="1B2430"/>
                          </a:solidFill>
                          <a:latin typeface="Calibri"/>
                        </a:rPr>
                        <a:t>2022</a:t>
                      </a:r>
                    </a:p>
                  </a:txBody>
                  <a:tcPr>
                    <a:solidFill>
                      <a:srgbClr val="F1F4F8"/>
                    </a:solidFill>
                  </a:tcPr>
                </a:tc>
                <a:tc>
                  <a:txBody>
                    <a:bodyPr/>
                    <a:lstStyle/>
                    <a:p>
                      <a:r>
                        <a:rPr sz="1200" b="0">
                          <a:solidFill>
                            <a:srgbClr val="1B2430"/>
                          </a:solidFill>
                          <a:latin typeface="Calibri"/>
                        </a:rPr>
                        <a:t>SI tushunchalari va terminologiyasi</a:t>
                      </a:r>
                    </a:p>
                  </a:txBody>
                  <a:tcPr>
                    <a:solidFill>
                      <a:srgbClr val="F1F4F8"/>
                    </a:solidFill>
                  </a:tcPr>
                </a:tc>
                <a:tc>
                  <a:txBody>
                    <a:bodyPr/>
                    <a:lstStyle/>
                    <a:p>
                      <a:r>
                        <a:rPr sz="1200" b="0">
                          <a:solidFill>
                            <a:srgbClr val="1B2430"/>
                          </a:solidFill>
                          <a:latin typeface="Calibri"/>
                        </a:rPr>
                        <a:t>yagona lug'at, hujjatlarda izchil atamalar</a:t>
                      </a:r>
                    </a:p>
                  </a:txBody>
                  <a:tcPr>
                    <a:solidFill>
                      <a:srgbClr val="F1F4F8"/>
                    </a:solidFill>
                  </a:tcPr>
                </a:tc>
              </a:tr>
              <a:tr h="520000">
                <a:tc>
                  <a:txBody>
                    <a:bodyPr/>
                    <a:lstStyle/>
                    <a:p>
                      <a:r>
                        <a:rPr sz="1200" b="0">
                          <a:solidFill>
                            <a:srgbClr val="1B2430"/>
                          </a:solidFill>
                          <a:latin typeface="Calibri"/>
                        </a:rPr>
                        <a:t>ISO/IEC 23894</a:t>
                      </a:r>
                    </a:p>
                  </a:txBody>
                  <a:tcPr>
                    <a:solidFill>
                      <a:srgbClr val="FFFFFF"/>
                    </a:solidFill>
                  </a:tcPr>
                </a:tc>
                <a:tc>
                  <a:txBody>
                    <a:bodyPr/>
                    <a:lstStyle/>
                    <a:p>
                      <a:r>
                        <a:rPr sz="1200" b="0">
                          <a:solidFill>
                            <a:srgbClr val="1B2430"/>
                          </a:solidFill>
                          <a:latin typeface="Calibri"/>
                        </a:rPr>
                        <a:t>2023</a:t>
                      </a:r>
                    </a:p>
                  </a:txBody>
                  <a:tcPr>
                    <a:solidFill>
                      <a:srgbClr val="FFFFFF"/>
                    </a:solidFill>
                  </a:tcPr>
                </a:tc>
                <a:tc>
                  <a:txBody>
                    <a:bodyPr/>
                    <a:lstStyle/>
                    <a:p>
                      <a:r>
                        <a:rPr sz="1200" b="0">
                          <a:solidFill>
                            <a:srgbClr val="1B2430"/>
                          </a:solidFill>
                          <a:latin typeface="Calibri"/>
                        </a:rPr>
                        <a:t>SI uchun risklarni boshqarish bo'yicha yo'riqnoma (ISO 31000 asosida)</a:t>
                      </a:r>
                    </a:p>
                  </a:txBody>
                  <a:tcPr>
                    <a:solidFill>
                      <a:srgbClr val="FFFFFF"/>
                    </a:solidFill>
                  </a:tcPr>
                </a:tc>
                <a:tc>
                  <a:txBody>
                    <a:bodyPr/>
                    <a:lstStyle/>
                    <a:p>
                      <a:r>
                        <a:rPr sz="1200" b="0">
                          <a:solidFill>
                            <a:srgbClr val="1B2430"/>
                          </a:solidFill>
                          <a:latin typeface="Calibri"/>
                        </a:rPr>
                        <a:t>risk reestri, SI hayot sikli bo'ylab tahdidlar</a:t>
                      </a:r>
                    </a:p>
                  </a:txBody>
                  <a:tcPr>
                    <a:solidFill>
                      <a:srgbClr val="FFFFFF"/>
                    </a:solidFill>
                  </a:tcPr>
                </a:tc>
              </a:tr>
              <a:tr h="520000">
                <a:tc>
                  <a:txBody>
                    <a:bodyPr/>
                    <a:lstStyle/>
                    <a:p>
                      <a:r>
                        <a:rPr sz="1200" b="0">
                          <a:solidFill>
                            <a:srgbClr val="1B2430"/>
                          </a:solidFill>
                          <a:latin typeface="Calibri"/>
                        </a:rPr>
                        <a:t>ISO/IEC 42001</a:t>
                      </a:r>
                    </a:p>
                  </a:txBody>
                  <a:tcPr>
                    <a:solidFill>
                      <a:srgbClr val="F1F4F8"/>
                    </a:solidFill>
                  </a:tcPr>
                </a:tc>
                <a:tc>
                  <a:txBody>
                    <a:bodyPr/>
                    <a:lstStyle/>
                    <a:p>
                      <a:r>
                        <a:rPr sz="1200" b="0">
                          <a:solidFill>
                            <a:srgbClr val="1B2430"/>
                          </a:solidFill>
                          <a:latin typeface="Calibri"/>
                        </a:rPr>
                        <a:t>2023</a:t>
                      </a:r>
                    </a:p>
                  </a:txBody>
                  <a:tcPr>
                    <a:solidFill>
                      <a:srgbClr val="F1F4F8"/>
                    </a:solidFill>
                  </a:tcPr>
                </a:tc>
                <a:tc>
                  <a:txBody>
                    <a:bodyPr/>
                    <a:lstStyle/>
                    <a:p>
                      <a:r>
                        <a:rPr sz="1200" b="0">
                          <a:solidFill>
                            <a:srgbClr val="1B2430"/>
                          </a:solidFill>
                          <a:latin typeface="Calibri"/>
                        </a:rPr>
                        <a:t>SI boshqaruv tizimi (AI Management System, AIMS) — sertifikatlanadigan</a:t>
                      </a:r>
                    </a:p>
                  </a:txBody>
                  <a:tcPr>
                    <a:solidFill>
                      <a:srgbClr val="F1F4F8"/>
                    </a:solidFill>
                  </a:tcPr>
                </a:tc>
                <a:tc>
                  <a:txBody>
                    <a:bodyPr/>
                    <a:lstStyle/>
                    <a:p>
                      <a:r>
                        <a:rPr sz="1200" b="0">
                          <a:solidFill>
                            <a:srgbClr val="1B2430"/>
                          </a:solidFill>
                          <a:latin typeface="Calibri"/>
                        </a:rPr>
                        <a:t>tashkilot darajasida siyosat, rollar, audit, uzluksiz takomillashtirish</a:t>
                      </a:r>
                    </a:p>
                  </a:txBody>
                  <a:tcPr>
                    <a:solidFill>
                      <a:srgbClr val="F1F4F8"/>
                    </a:solidFill>
                  </a:tcPr>
                </a:tc>
              </a:tr>
              <a:tr h="520000">
                <a:tc>
                  <a:txBody>
                    <a:bodyPr/>
                    <a:lstStyle/>
                    <a:p>
                      <a:r>
                        <a:rPr sz="1200" b="0">
                          <a:solidFill>
                            <a:srgbClr val="1B2430"/>
                          </a:solidFill>
                          <a:latin typeface="Calibri"/>
                        </a:rPr>
                        <a:t>ISO/IEC TR 24027</a:t>
                      </a:r>
                    </a:p>
                  </a:txBody>
                  <a:tcPr>
                    <a:solidFill>
                      <a:srgbClr val="FFFFFF"/>
                    </a:solidFill>
                  </a:tcPr>
                </a:tc>
                <a:tc>
                  <a:txBody>
                    <a:bodyPr/>
                    <a:lstStyle/>
                    <a:p>
                      <a:r>
                        <a:rPr sz="1200" b="0">
                          <a:solidFill>
                            <a:srgbClr val="1B2430"/>
                          </a:solidFill>
                          <a:latin typeface="Calibri"/>
                        </a:rPr>
                        <a:t>2021</a:t>
                      </a:r>
                    </a:p>
                  </a:txBody>
                  <a:tcPr>
                    <a:solidFill>
                      <a:srgbClr val="FFFFFF"/>
                    </a:solidFill>
                  </a:tcPr>
                </a:tc>
                <a:tc>
                  <a:txBody>
                    <a:bodyPr/>
                    <a:lstStyle/>
                    <a:p>
                      <a:r>
                        <a:rPr sz="1200" b="0">
                          <a:solidFill>
                            <a:srgbClr val="1B2430"/>
                          </a:solidFill>
                          <a:latin typeface="Calibri"/>
                        </a:rPr>
                        <a:t>SI tizimlarida noxolislik (bias) va qarorlar</a:t>
                      </a:r>
                    </a:p>
                  </a:txBody>
                  <a:tcPr>
                    <a:solidFill>
                      <a:srgbClr val="FFFFFF"/>
                    </a:solidFill>
                  </a:tcPr>
                </a:tc>
                <a:tc>
                  <a:txBody>
                    <a:bodyPr/>
                    <a:lstStyle/>
                    <a:p>
                      <a:r>
                        <a:rPr sz="1200" b="0">
                          <a:solidFill>
                            <a:srgbClr val="1B2430"/>
                          </a:solidFill>
                          <a:latin typeface="Calibri"/>
                        </a:rPr>
                        <a:t>noxolislik manbalari tasnifi va o'lchash usullari</a:t>
                      </a:r>
                    </a:p>
                  </a:txBody>
                  <a:tcPr>
                    <a:solidFill>
                      <a:srgbClr val="FFFFFF"/>
                    </a:solidFill>
                  </a:tcPr>
                </a:tc>
              </a:tr>
              <a:tr h="520000">
                <a:tc>
                  <a:txBody>
                    <a:bodyPr/>
                    <a:lstStyle/>
                    <a:p>
                      <a:r>
                        <a:rPr sz="1200" b="0">
                          <a:solidFill>
                            <a:srgbClr val="1B2430"/>
                          </a:solidFill>
                          <a:latin typeface="Calibri"/>
                        </a:rPr>
                        <a:t>ISO/IEC TR 24028</a:t>
                      </a:r>
                    </a:p>
                  </a:txBody>
                  <a:tcPr>
                    <a:solidFill>
                      <a:srgbClr val="F1F4F8"/>
                    </a:solidFill>
                  </a:tcPr>
                </a:tc>
                <a:tc>
                  <a:txBody>
                    <a:bodyPr/>
                    <a:lstStyle/>
                    <a:p>
                      <a:r>
                        <a:rPr sz="1200" b="0">
                          <a:solidFill>
                            <a:srgbClr val="1B2430"/>
                          </a:solidFill>
                          <a:latin typeface="Calibri"/>
                        </a:rPr>
                        <a:t>2020</a:t>
                      </a:r>
                    </a:p>
                  </a:txBody>
                  <a:tcPr>
                    <a:solidFill>
                      <a:srgbClr val="F1F4F8"/>
                    </a:solidFill>
                  </a:tcPr>
                </a:tc>
                <a:tc>
                  <a:txBody>
                    <a:bodyPr/>
                    <a:lstStyle/>
                    <a:p>
                      <a:r>
                        <a:rPr sz="1200" b="0">
                          <a:solidFill>
                            <a:srgbClr val="1B2430"/>
                          </a:solidFill>
                          <a:latin typeface="Calibri"/>
                        </a:rPr>
                        <a:t>SI ishonchliligi (trustworthiness) umumiy ko'rinishi</a:t>
                      </a:r>
                    </a:p>
                  </a:txBody>
                  <a:tcPr>
                    <a:solidFill>
                      <a:srgbClr val="F1F4F8"/>
                    </a:solidFill>
                  </a:tcPr>
                </a:tc>
                <a:tc>
                  <a:txBody>
                    <a:bodyPr/>
                    <a:lstStyle/>
                    <a:p>
                      <a:r>
                        <a:rPr sz="1200" b="0">
                          <a:solidFill>
                            <a:srgbClr val="1B2430"/>
                          </a:solidFill>
                          <a:latin typeface="Calibri"/>
                        </a:rPr>
                        <a:t>ishonchlilik xususiyatlari ro'yxati</a:t>
                      </a:r>
                    </a:p>
                  </a:txBody>
                  <a:tcPr>
                    <a:solidFill>
                      <a:srgbClr val="F1F4F8"/>
                    </a:solidFill>
                  </a:tcPr>
                </a:tc>
              </a:tr>
              <a:tr h="520000">
                <a:tc>
                  <a:txBody>
                    <a:bodyPr/>
                    <a:lstStyle/>
                    <a:p>
                      <a:r>
                        <a:rPr sz="1200" b="0">
                          <a:solidFill>
                            <a:srgbClr val="1B2430"/>
                          </a:solidFill>
                          <a:latin typeface="Calibri"/>
                        </a:rPr>
                        <a:t>NIST AI RMF 1.0</a:t>
                      </a:r>
                    </a:p>
                  </a:txBody>
                  <a:tcPr>
                    <a:solidFill>
                      <a:srgbClr val="FFFFFF"/>
                    </a:solidFill>
                  </a:tcPr>
                </a:tc>
                <a:tc>
                  <a:txBody>
                    <a:bodyPr/>
                    <a:lstStyle/>
                    <a:p>
                      <a:r>
                        <a:rPr sz="1200" b="0">
                          <a:solidFill>
                            <a:srgbClr val="1B2430"/>
                          </a:solidFill>
                          <a:latin typeface="Calibri"/>
                        </a:rPr>
                        <a:t>2023</a:t>
                      </a:r>
                    </a:p>
                  </a:txBody>
                  <a:tcPr>
                    <a:solidFill>
                      <a:srgbClr val="FFFFFF"/>
                    </a:solidFill>
                  </a:tcPr>
                </a:tc>
                <a:tc>
                  <a:txBody>
                    <a:bodyPr/>
                    <a:lstStyle/>
                    <a:p>
                      <a:r>
                        <a:rPr sz="1200" b="0">
                          <a:solidFill>
                            <a:srgbClr val="1B2430"/>
                          </a:solidFill>
                          <a:latin typeface="Calibri"/>
                        </a:rPr>
                        <a:t>AQSh risk boshqaruv asosi: Govern, Map, Measure, Manage</a:t>
                      </a:r>
                    </a:p>
                  </a:txBody>
                  <a:tcPr>
                    <a:solidFill>
                      <a:srgbClr val="FFFFFF"/>
                    </a:solidFill>
                  </a:tcPr>
                </a:tc>
                <a:tc>
                  <a:txBody>
                    <a:bodyPr/>
                    <a:lstStyle/>
                    <a:p>
                      <a:r>
                        <a:rPr sz="1200" b="0">
                          <a:solidFill>
                            <a:srgbClr val="1B2430"/>
                          </a:solidFill>
                          <a:latin typeface="Calibri"/>
                        </a:rPr>
                        <a:t>ixtiyoriy, lekin amaliy «playbook» bilan</a:t>
                      </a:r>
                    </a:p>
                  </a:txBody>
                  <a:tcPr>
                    <a:solidFill>
                      <a:srgbClr val="FFFFFF"/>
                    </a:solidFill>
                  </a:tcPr>
                </a:tc>
              </a:tr>
              <a:tr h="520000">
                <a:tc>
                  <a:txBody>
                    <a:bodyPr/>
                    <a:lstStyle/>
                    <a:p>
                      <a:r>
                        <a:rPr sz="1200" b="0">
                          <a:solidFill>
                            <a:srgbClr val="1B2430"/>
                          </a:solidFill>
                          <a:latin typeface="Calibri"/>
                        </a:rPr>
                        <a:t>IEEE 7000 / 7001</a:t>
                      </a:r>
                    </a:p>
                  </a:txBody>
                  <a:tcPr>
                    <a:solidFill>
                      <a:srgbClr val="F1F4F8"/>
                    </a:solidFill>
                  </a:tcPr>
                </a:tc>
                <a:tc>
                  <a:txBody>
                    <a:bodyPr/>
                    <a:lstStyle/>
                    <a:p>
                      <a:r>
                        <a:rPr sz="1200" b="0">
                          <a:solidFill>
                            <a:srgbClr val="1B2430"/>
                          </a:solidFill>
                          <a:latin typeface="Calibri"/>
                        </a:rPr>
                        <a:t>2021</a:t>
                      </a:r>
                    </a:p>
                  </a:txBody>
                  <a:tcPr>
                    <a:solidFill>
                      <a:srgbClr val="F1F4F8"/>
                    </a:solidFill>
                  </a:tcPr>
                </a:tc>
                <a:tc>
                  <a:txBody>
                    <a:bodyPr/>
                    <a:lstStyle/>
                    <a:p>
                      <a:r>
                        <a:rPr sz="1200" b="0">
                          <a:solidFill>
                            <a:srgbClr val="1B2430"/>
                          </a:solidFill>
                          <a:latin typeface="Calibri"/>
                        </a:rPr>
                        <a:t>qadriyatlarga asoslangan loyihalash; avtonom tizimlar shaffofligi</a:t>
                      </a:r>
                    </a:p>
                  </a:txBody>
                  <a:tcPr>
                    <a:solidFill>
                      <a:srgbClr val="F1F4F8"/>
                    </a:solidFill>
                  </a:tcPr>
                </a:tc>
                <a:tc>
                  <a:txBody>
                    <a:bodyPr/>
                    <a:lstStyle/>
                    <a:p>
                      <a:r>
                        <a:rPr sz="1200" b="0">
                          <a:solidFill>
                            <a:srgbClr val="1B2430"/>
                          </a:solidFill>
                          <a:latin typeface="Calibri"/>
                        </a:rPr>
                        <a:t>shaffoflik darajalarini o'lchanadigan qilish</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18bba9a674daa6a.jpg"/>
          <p:cNvPicPr>
            <a:picLocks noChangeAspect="1"/>
          </p:cNvPicPr>
          <p:nvPr/>
        </p:nvPicPr>
        <p:blipFill>
          <a:blip r:embed="rId2"/>
          <a:srcRect l="30703" r="3070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Authors of the study:     Nicholas Kluge Corrêa     Camila Galvão     James Will · Wikimedia Commons · CC BY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Mas'uliyatli sun'iy intellekt (Responsible AI) konsepsiyasi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Mas'uliyatli sun'iy intellekt (Responsible AI) konsepsiyasi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Mas'uliyatli SI — bu tamoyillarni butun hayot sikli bo'ylab amalga oshiruvchi muhandislik va tashkiliy amaliyotlar to'plami.</a:t>
            </a:r>
          </a:p>
          <a:p>
            <a:pPr>
              <a:spcBef>
                <a:spcPts val="400"/>
              </a:spcBef>
            </a:pPr>
            <a:r>
              <a:rPr sz="1400">
                <a:solidFill>
                  <a:srgbClr val="334055"/>
                </a:solidFill>
                <a:latin typeface="Calibri"/>
              </a:rPr>
              <a:t>Uning yadrosi — SI tizimi texnik artefakt emas, balki ijtimoiy-texnik tizim (sociotechnical system) ekanini tan olish: model, ma'lumot, foydalanuvchi, operator, ta'sirlanuvchi shaxslar va tashkiliy jarayonlar birgalikda natijani belgilaydi.</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Amaliyotda Responsible AI quyidagi artefaktlar orqali moddiylashadi.</a:t>
            </a:r>
          </a:p>
          <a:p>
            <a:pPr>
              <a:spcBef>
                <a:spcPts val="400"/>
              </a:spcBef>
            </a:pPr>
            <a:r>
              <a:rPr sz="1400">
                <a:solidFill>
                  <a:srgbClr val="334055"/>
                </a:solidFill>
                <a:latin typeface="Calibri"/>
              </a:rPr>
              <a:t>Model kartasi (Model Card, Mitchell va boshq., 2019) — modelning maqsadi, o'qitish ma'lumoti, baholash natijalari (guruhlar kesimida), cheklovlar va etik mulohazalar haqida standartlashtirilgan hujjat.</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Muhim nuqta: mas'uliyatli SI tizimning har bir bosqichida qaror nuqtalarini o'z ichiga oladi.</a:t>
            </a:r>
          </a:p>
          <a:p>
            <a:pPr>
              <a:spcBef>
                <a:spcPts val="400"/>
              </a:spcBef>
            </a:pPr>
            <a:r>
              <a:rPr sz="1400">
                <a:solidFill>
                  <a:srgbClr val="334055"/>
                </a:solidFill>
                <a:latin typeface="Calibri"/>
              </a:rPr>
              <a:t>Muammo qo'yilishida — «bu masalani SI bilan yechish to'g'rimi» (ba'zan eng mas'uliyatli qaror — tizimni qurmaslik). Ma'lumot yig'ishda — vakillik (representativeness), rozilik, tarixiy noxolislik. Modellashtirishda — maqsad funksiyasi kimning manfaatini optimallashtiradi.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704647d698882c1b.jpg"/>
          <p:cNvPicPr>
            <a:picLocks noChangeAspect="1"/>
          </p:cNvPicPr>
          <p:nvPr/>
        </p:nvPicPr>
        <p:blipFill>
          <a:blip r:embed="rId2"/>
          <a:srcRect l="18017" r="1801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Nikodem Nijaki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Adolatlilik (Fairness): ta'riflar, metrikalar va ziddiyatlar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Adolatlilik (Fairness): ta'riflar, metrikalar va ziddiyatlar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Adolatlilikning yagona ta'rifi yo'q — va bu matematik fakt, texnik kamchilik emas.</a:t>
            </a:r>
          </a:p>
          <a:p>
            <a:pPr>
              <a:spcBef>
                <a:spcPts val="400"/>
              </a:spcBef>
            </a:pPr>
            <a:r>
              <a:rPr sz="1400">
                <a:solidFill>
                  <a:srgbClr val="334055"/>
                </a:solidFill>
                <a:latin typeface="Calibri"/>
              </a:rPr>
              <a:t>Ikkilik tasniflash uchun asosiy guruh metrikalari quyidagilar (bu yerda Y — haqiqiy yorliq, Ŷ — bashorat, A — himoyalangan belgi, masalan jins yoki yosh guruhi):</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Metrikalar odatda farq (difference, ideal 0) yoki nisbat (ratio, ideal 1) ko'rinishida hisoblanadi.</a:t>
            </a:r>
          </a:p>
          <a:p>
            <a:pPr>
              <a:spcBef>
                <a:spcPts val="400"/>
              </a:spcBef>
            </a:pPr>
            <a:r>
              <a:rPr sz="1400">
                <a:solidFill>
                  <a:srgbClr val="334055"/>
                </a:solidFill>
                <a:latin typeface="Calibri"/>
              </a:rPr>
              <a:t>AQSh bandlik amaliyotidan kelgan «to'rtdan besh qoidasi» (four-fifths rule) ga ko'ra, ijobiy qaror ulushlari nisbati 0,8 dan past bo'lsa, bu nomutanosib ta'sir (disparate impact) belgisi hisoblanadi — ko'p auditlarda shu chegara qo'llaniladi.</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Imkonsizlik teoremasi (Chouldechova, 2017; Kleinberg va boshq., 2016) shuni aytadiki, guruhlarda asosiy chastota farq qilganda va model mukammal bo'lmaganda, kalibrlash, teng yolg'on ijobiy va teng yolg'on salbiy darajalarini bir vaqtda ta'minlab bo'lmaydi.</a:t>
            </a:r>
          </a:p>
          <a:p>
            <a:pPr>
              <a:spcBef>
                <a:spcPts val="400"/>
              </a:spcBef>
            </a:pPr>
            <a:r>
              <a:rPr sz="1400">
                <a:solidFill>
                  <a:srgbClr val="334055"/>
                </a:solidFill>
                <a:latin typeface="Calibri"/>
              </a:rPr>
              <a:t>Demak, metrika tanlovi — bu qiymat tanlovi, va u hujjatlashtirilishi, manfaatdor tomonlar bilan kelishilishi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Adolatlilik (Fairness): ta'riflar, metrikalar va ziddiyatlar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Noxolislikni yumshatish usullari uch bosqichga bo'linadi.</a:t>
            </a:r>
          </a:p>
          <a:p>
            <a:pPr>
              <a:spcBef>
                <a:spcPts val="400"/>
              </a:spcBef>
            </a:pPr>
            <a:r>
              <a:rPr sz="1500">
                <a:solidFill>
                  <a:srgbClr val="334055"/>
                </a:solidFill>
                <a:latin typeface="Calibri"/>
              </a:rPr>
              <a:t>Oldindan ishlov berish (pre-processing): qayta vaznlash (reweighing), tanlanmani qayta balanslash, himoyalangan belgi bilan korrelyatsiyani olib tashlash. O'qitish vaqtida (in-processing): adolatlilik cheklovi bilan optimallashtirish — Fairlearn dagi ExponentiatedGradient va GridSearch (Agarwal va boshq., 2018 reduksiya yondashuvi), adversarial debiasing.</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500" b="0">
                <a:solidFill>
                  <a:srgbClr val="1B2430"/>
                </a:solidFill>
                <a:latin typeface="Calibri"/>
              </a:rPr>
              <a:t>Asosiy ochiq vositalar: Fairlearn (Microsoft tomonidan boshlangan, hozir mustaqil ochiq loyiha; metrikalar MetricFrame orqali, yumshatish algoritmlari, scikit-learn bilan mos) va AI Fairness 360 (IBM, 2018; 70 dan ortiq metrika va 10 dan ortiq yumshatish…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Adolatlilik (Fairness): ta'riflar, metrikalar va ziddiyatlar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Metrika</a:t>
                      </a:r>
                    </a:p>
                  </a:txBody>
                  <a:tcPr>
                    <a:solidFill>
                      <a:srgbClr val="2D5C8F"/>
                    </a:solidFill>
                  </a:tcPr>
                </a:tc>
                <a:tc>
                  <a:txBody>
                    <a:bodyPr/>
                    <a:lstStyle/>
                    <a:p>
                      <a:r>
                        <a:rPr sz="1200" b="1">
                          <a:solidFill>
                            <a:srgbClr val="FFFFFF"/>
                          </a:solidFill>
                          <a:latin typeface="Calibri"/>
                        </a:rPr>
                        <a:t>Shart</a:t>
                      </a:r>
                    </a:p>
                  </a:txBody>
                  <a:tcPr>
                    <a:solidFill>
                      <a:srgbClr val="2D5C8F"/>
                    </a:solidFill>
                  </a:tcPr>
                </a:tc>
                <a:tc>
                  <a:txBody>
                    <a:bodyPr/>
                    <a:lstStyle/>
                    <a:p>
                      <a:r>
                        <a:rPr sz="1200" b="1">
                          <a:solidFill>
                            <a:srgbClr val="FFFFFF"/>
                          </a:solidFill>
                          <a:latin typeface="Calibri"/>
                        </a:rPr>
                        <a:t>Ma'nosi</a:t>
                      </a:r>
                    </a:p>
                  </a:txBody>
                  <a:tcPr>
                    <a:solidFill>
                      <a:srgbClr val="2D5C8F"/>
                    </a:solidFill>
                  </a:tcPr>
                </a:tc>
                <a:tc>
                  <a:txBody>
                    <a:bodyPr/>
                    <a:lstStyle/>
                    <a:p>
                      <a:r>
                        <a:rPr sz="1200" b="1">
                          <a:solidFill>
                            <a:srgbClr val="FFFFFF"/>
                          </a:solidFill>
                          <a:latin typeface="Calibri"/>
                        </a:rPr>
                        <a:t>Qachon mos</a:t>
                      </a:r>
                    </a:p>
                  </a:txBody>
                  <a:tcPr>
                    <a:solidFill>
                      <a:srgbClr val="2D5C8F"/>
                    </a:solidFill>
                  </a:tcPr>
                </a:tc>
              </a:tr>
              <a:tr h="520000">
                <a:tc>
                  <a:txBody>
                    <a:bodyPr/>
                    <a:lstStyle/>
                    <a:p>
                      <a:r>
                        <a:rPr sz="1200" b="0">
                          <a:solidFill>
                            <a:srgbClr val="1B2430"/>
                          </a:solidFill>
                          <a:latin typeface="Calibri"/>
                        </a:rPr>
                        <a:t>Demografik paritet (demographic parity)</a:t>
                      </a:r>
                    </a:p>
                  </a:txBody>
                  <a:tcPr>
                    <a:solidFill>
                      <a:srgbClr val="F1F4F8"/>
                    </a:solidFill>
                  </a:tcPr>
                </a:tc>
                <a:tc>
                  <a:txBody>
                    <a:bodyPr/>
                    <a:lstStyle/>
                    <a:p>
                      <a:r>
                        <a:rPr sz="1200" b="0">
                          <a:solidFill>
                            <a:srgbClr val="1B2430"/>
                          </a:solidFill>
                          <a:latin typeface="Calibri"/>
                        </a:rPr>
                        <a:t>P(Ŷ=1 ∣ A=a) barcha a uchun teng</a:t>
                      </a:r>
                    </a:p>
                  </a:txBody>
                  <a:tcPr>
                    <a:solidFill>
                      <a:srgbClr val="F1F4F8"/>
                    </a:solidFill>
                  </a:tcPr>
                </a:tc>
                <a:tc>
                  <a:txBody>
                    <a:bodyPr/>
                    <a:lstStyle/>
                    <a:p>
                      <a:r>
                        <a:rPr sz="1200" b="0">
                          <a:solidFill>
                            <a:srgbClr val="1B2430"/>
                          </a:solidFill>
                          <a:latin typeface="Calibri"/>
                        </a:rPr>
                        <a:t>ijobiy qaror ulushi guruhlarda teng</a:t>
                      </a:r>
                    </a:p>
                  </a:txBody>
                  <a:tcPr>
                    <a:solidFill>
                      <a:srgbClr val="F1F4F8"/>
                    </a:solidFill>
                  </a:tcPr>
                </a:tc>
                <a:tc>
                  <a:txBody>
                    <a:bodyPr/>
                    <a:lstStyle/>
                    <a:p>
                      <a:r>
                        <a:rPr sz="1200" b="0">
                          <a:solidFill>
                            <a:srgbClr val="1B2430"/>
                          </a:solidFill>
                          <a:latin typeface="Calibri"/>
                        </a:rPr>
                        <a:t>tarixiy ma'lumotning o'zi noxolis deb hisoblansa (masalan, ishga qabul)</a:t>
                      </a:r>
                    </a:p>
                  </a:txBody>
                  <a:tcPr>
                    <a:solidFill>
                      <a:srgbClr val="F1F4F8"/>
                    </a:solidFill>
                  </a:tcPr>
                </a:tc>
              </a:tr>
              <a:tr h="520000">
                <a:tc>
                  <a:txBody>
                    <a:bodyPr/>
                    <a:lstStyle/>
                    <a:p>
                      <a:r>
                        <a:rPr sz="1200" b="0">
                          <a:solidFill>
                            <a:srgbClr val="1B2430"/>
                          </a:solidFill>
                          <a:latin typeface="Calibri"/>
                        </a:rPr>
                        <a:t>Tenglashtirilgan imkoniyatlar (equalized odds, Hardt va boshq., 2016)</a:t>
                      </a:r>
                    </a:p>
                  </a:txBody>
                  <a:tcPr>
                    <a:solidFill>
                      <a:srgbClr val="FFFFFF"/>
                    </a:solidFill>
                  </a:tcPr>
                </a:tc>
                <a:tc>
                  <a:txBody>
                    <a:bodyPr/>
                    <a:lstStyle/>
                    <a:p>
                      <a:r>
                        <a:rPr sz="1200" b="0">
                          <a:solidFill>
                            <a:srgbClr val="1B2430"/>
                          </a:solidFill>
                          <a:latin typeface="Calibri"/>
                        </a:rPr>
                        <a:t>P(Ŷ=1 ∣ Y=y, A=a) har y uchun teng</a:t>
                      </a:r>
                    </a:p>
                  </a:txBody>
                  <a:tcPr>
                    <a:solidFill>
                      <a:srgbClr val="FFFFFF"/>
                    </a:solidFill>
                  </a:tcPr>
                </a:tc>
                <a:tc>
                  <a:txBody>
                    <a:bodyPr/>
                    <a:lstStyle/>
                    <a:p>
                      <a:r>
                        <a:rPr sz="1200" b="0">
                          <a:solidFill>
                            <a:srgbClr val="1B2430"/>
                          </a:solidFill>
                          <a:latin typeface="Calibri"/>
                        </a:rPr>
                        <a:t>haqiqiy ijobiy va yolg'on ijobiy darajalari teng</a:t>
                      </a:r>
                    </a:p>
                  </a:txBody>
                  <a:tcPr>
                    <a:solidFill>
                      <a:srgbClr val="FFFFFF"/>
                    </a:solidFill>
                  </a:tcPr>
                </a:tc>
                <a:tc>
                  <a:txBody>
                    <a:bodyPr/>
                    <a:lstStyle/>
                    <a:p>
                      <a:r>
                        <a:rPr sz="1200" b="0">
                          <a:solidFill>
                            <a:srgbClr val="1B2430"/>
                          </a:solidFill>
                          <a:latin typeface="Calibri"/>
                        </a:rPr>
                        <a:t>yorliqlar ishonchli bo'lsa (tibbiy tashxis)</a:t>
                      </a:r>
                    </a:p>
                  </a:txBody>
                  <a:tcPr>
                    <a:solidFill>
                      <a:srgbClr val="FFFFFF"/>
                    </a:solidFill>
                  </a:tcPr>
                </a:tc>
              </a:tr>
              <a:tr h="520000">
                <a:tc>
                  <a:txBody>
                    <a:bodyPr/>
                    <a:lstStyle/>
                    <a:p>
                      <a:r>
                        <a:rPr sz="1200" b="0">
                          <a:solidFill>
                            <a:srgbClr val="1B2430"/>
                          </a:solidFill>
                          <a:latin typeface="Calibri"/>
                        </a:rPr>
                        <a:t>Teng imkoniyat (equal opportunity)</a:t>
                      </a:r>
                    </a:p>
                  </a:txBody>
                  <a:tcPr>
                    <a:solidFill>
                      <a:srgbClr val="F1F4F8"/>
                    </a:solidFill>
                  </a:tcPr>
                </a:tc>
                <a:tc>
                  <a:txBody>
                    <a:bodyPr/>
                    <a:lstStyle/>
                    <a:p>
                      <a:r>
                        <a:rPr sz="1200" b="0">
                          <a:solidFill>
                            <a:srgbClr val="1B2430"/>
                          </a:solidFill>
                          <a:latin typeface="Calibri"/>
                        </a:rPr>
                        <a:t>faqat Y=1 uchun P(Ŷ=1 ∣ Y=1, A=a) teng</a:t>
                      </a:r>
                    </a:p>
                  </a:txBody>
                  <a:tcPr>
                    <a:solidFill>
                      <a:srgbClr val="F1F4F8"/>
                    </a:solidFill>
                  </a:tcPr>
                </a:tc>
                <a:tc>
                  <a:txBody>
                    <a:bodyPr/>
                    <a:lstStyle/>
                    <a:p>
                      <a:r>
                        <a:rPr sz="1200" b="0">
                          <a:solidFill>
                            <a:srgbClr val="1B2430"/>
                          </a:solidFill>
                          <a:latin typeface="Calibri"/>
                        </a:rPr>
                        <a:t>loyiq bo'lganlarga teng imkoniyat</a:t>
                      </a:r>
                    </a:p>
                  </a:txBody>
                  <a:tcPr>
                    <a:solidFill>
                      <a:srgbClr val="F1F4F8"/>
                    </a:solidFill>
                  </a:tcPr>
                </a:tc>
                <a:tc>
                  <a:txBody>
                    <a:bodyPr/>
                    <a:lstStyle/>
                    <a:p>
                      <a:r>
                        <a:rPr sz="1200" b="0">
                          <a:solidFill>
                            <a:srgbClr val="1B2430"/>
                          </a:solidFill>
                          <a:latin typeface="Calibri"/>
                        </a:rPr>
                        <a:t>ijobiy qaror resurs taqsimoti bo'lsa (kredit, stipendiya)</a:t>
                      </a:r>
                    </a:p>
                  </a:txBody>
                  <a:tcPr>
                    <a:solidFill>
                      <a:srgbClr val="F1F4F8"/>
                    </a:solidFill>
                  </a:tcPr>
                </a:tc>
              </a:tr>
              <a:tr h="520000">
                <a:tc>
                  <a:txBody>
                    <a:bodyPr/>
                    <a:lstStyle/>
                    <a:p>
                      <a:r>
                        <a:rPr sz="1200" b="0">
                          <a:solidFill>
                            <a:srgbClr val="1B2430"/>
                          </a:solidFill>
                          <a:latin typeface="Calibri"/>
                        </a:rPr>
                        <a:t>Bashorat pariteti / kalibrlash</a:t>
                      </a:r>
                    </a:p>
                  </a:txBody>
                  <a:tcPr>
                    <a:solidFill>
                      <a:srgbClr val="FFFFFF"/>
                    </a:solidFill>
                  </a:tcPr>
                </a:tc>
                <a:tc>
                  <a:txBody>
                    <a:bodyPr/>
                    <a:lstStyle/>
                    <a:p>
                      <a:r>
                        <a:rPr sz="1200" b="0">
                          <a:solidFill>
                            <a:srgbClr val="1B2430"/>
                          </a:solidFill>
                          <a:latin typeface="Calibri"/>
                        </a:rPr>
                        <a:t>P(Y=1 ∣ Ŷ=1, A=a) teng</a:t>
                      </a:r>
                    </a:p>
                  </a:txBody>
                  <a:tcPr>
                    <a:solidFill>
                      <a:srgbClr val="FFFFFF"/>
                    </a:solidFill>
                  </a:tcPr>
                </a:tc>
                <a:tc>
                  <a:txBody>
                    <a:bodyPr/>
                    <a:lstStyle/>
                    <a:p>
                      <a:r>
                        <a:rPr sz="1200" b="0">
                          <a:solidFill>
                            <a:srgbClr val="1B2430"/>
                          </a:solidFill>
                          <a:latin typeface="Calibri"/>
                        </a:rPr>
                        <a:t>bir xil ball bir xil xavf degani</a:t>
                      </a:r>
                    </a:p>
                  </a:txBody>
                  <a:tcPr>
                    <a:solidFill>
                      <a:srgbClr val="FFFFFF"/>
                    </a:solidFill>
                  </a:tcPr>
                </a:tc>
                <a:tc>
                  <a:txBody>
                    <a:bodyPr/>
                    <a:lstStyle/>
                    <a:p>
                      <a:r>
                        <a:rPr sz="1200" b="0">
                          <a:solidFill>
                            <a:srgbClr val="1B2430"/>
                          </a:solidFill>
                          <a:latin typeface="Calibri"/>
                        </a:rPr>
                        <a:t>qaror qabul qiluvchi ballni to'g'ridan-to'g'ri ishlatsa</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a8221a9eb5b3f1f.jpg"/>
          <p:cNvPicPr>
            <a:picLocks noChangeAspect="1"/>
          </p:cNvPicPr>
          <p:nvPr/>
        </p:nvPicPr>
        <p:blipFill>
          <a:blip r:embed="rId2"/>
          <a:srcRect l="23268" r="23268"/>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Kwan-Liu Ma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Shaffoflik va tushuntiriladigan sun'iy intellekt (XAI)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Shaffoflik va tushuntiriladigan sun'iy intellekt (XAI)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Shaffoflik (transparency) va tushuntirilish (explainability) bir narsa emas.</a:t>
            </a:r>
          </a:p>
          <a:p>
            <a:pPr>
              <a:spcBef>
                <a:spcPts val="400"/>
              </a:spcBef>
            </a:pPr>
            <a:r>
              <a:rPr sz="1400">
                <a:solidFill>
                  <a:srgbClr val="334055"/>
                </a:solidFill>
                <a:latin typeface="Calibri"/>
              </a:rPr>
              <a:t>Shaffoflik — tizim haqida axborotning mavjudligi: u qanday ma'lumotda o'qitilgan, qaysi maqsadda, qanday cheklovlar bilan, foydalanuvchi SI bilan muloqot qilayotganini biladimi. Tushuntirilish — aniq bir qaror yoki model xatti-harakati uchun inson tushunadigan sabab berish qobiliyati.</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400" b="0">
                <a:solidFill>
                  <a:srgbClr val="1B2430"/>
                </a:solidFill>
                <a:latin typeface="Calibri"/>
              </a:rPr>
              <a:t>XAI usullari bir nechta o'q bo'yicha tasniflanadi: lokal (bitta bashorat uchun) va global (butun model uchun); model-agnostik va modelga xos; ichki (intrinsic, model o'zi talqin qilinuvchan) va post-hoc.</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XAI ning cheklovlari jiddiy.</a:t>
            </a:r>
          </a:p>
          <a:p>
            <a:pPr>
              <a:spcBef>
                <a:spcPts val="400"/>
              </a:spcBef>
            </a:pPr>
            <a:r>
              <a:rPr sz="1400">
                <a:solidFill>
                  <a:srgbClr val="334055"/>
                </a:solidFill>
                <a:latin typeface="Calibri"/>
              </a:rPr>
              <a:t>Tushuntirish — bu modelning soddalashtirilgan tasviri, va u o'zi noto'g'ri bo'lishi mumkin; turli usullar bir xil bashorat uchun turlicha tushuntirish berishi mumkin; korrelyatsiyalangan belgilar SHAP qiymatlarini «bo'lishib» oladi; foydalanuvchi tushuntirishga haddan tashqari ishonib, modelni tanqidiy baholashni to'xtatishi mumkin (avtomatlashtirish noxolisligi).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c6eea4c85ca163c.jpg"/>
          <p:cNvPicPr>
            <a:picLocks noChangeAspect="1"/>
          </p:cNvPicPr>
          <p:nvPr/>
        </p:nvPicPr>
        <p:blipFill>
          <a:blip r:embed="rId2"/>
          <a:srcRect l="22011" r="22011"/>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USEPA Environmental-Protection-Agency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Ishonchlilik, mustahkamlik va hisobdorlik</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Ishonchlilik, mustahkamlik va hisobdorlik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Ishonchli SI (trustworthy AI) tushunchasi adolatlilik va shaffoflikdan tashqari texnik mustahkamlik (robustness) — kirishning kichik o'zgarishiga chidamlilik, tarqatish siljishida barqarorlik, adversarial hujumlarga qarshilik (M9 da ko'rilgan), maxfiylik…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
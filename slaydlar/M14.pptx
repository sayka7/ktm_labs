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ma'ruzaning maqsadi — sun'iy intellekt (SI) tizimini loyihalash va ekspluatatsiya qilishda etik me'yorlar, xalqaro standartlar va huquqiy talablarni muhandislik amaliyotiga aylantirishni o'rgatish. Oldingi mavzularda biz tizimni tez, arzon va ishonchli qilishni ko'rdik; endi esa «bu tizim kimga, qanday va qaysi asosda ta'sir qiladi» degan savolga muhandis sifatida javob berishni o'rganamiz. Etika bu yerda falsafiy mavhumlik emas, balki o'lchanadigan metrikalar, tekshiruv ro'yxatlari va hujjatlar to'plami sifatida qaraladi.</a:t>
            </a:r>
          </a:p>
          <a:p/>
          <a:p>
            <a:r>
              <a:t>Mavzuni o'zlashtirgach magistrant:</a:t>
            </a:r>
          </a:p>
          <a:p/>
          <a:p>
            <a:r>
              <a:t>Mas'uliyatli SI (Responsible AI) ning asosiy tamoyillarini (adolatlilik, shaffoflik, hisobdorlik, xavfsizlik, maxfiylik, inson nazorati) va ularning xalqaro hujjatlardagi (OECD, UNESCO, NIST AI RMF, ISO/IEC 42001, EU AI Act) ifodasini tushuntira oladi.</a:t>
            </a:r>
          </a:p>
          <a:p/>
          <a:p>
            <a:r>
              <a:t>Adolatlilik (fairness) ning guruh va individual ta'riflarini, ular orasidagi matematik ziddiyatni va qaysi vaziyatda qaysi metrika mos kelishini asoslay oladi.</a:t>
            </a:r>
          </a:p>
          <a:p/>
          <a:p>
            <a:r>
              <a:t>Shaffoflik (transparency) va tushuntiriladigan SI (Explainable AI, XAI) usullarini — model-agnostik (SHAP, LIME) va modelga xos usullarni — farqlay oladi, ularning cheklovlarini biladi.</a:t>
            </a:r>
          </a:p>
          <a:p/>
          <a:p>
            <a:r>
              <a:t>Fairlearn va SHAP kutubxonalari yordamida haqiqiy ma'lumotlar to'plamida adolatlilik auditini o'tkaza oladi, kamchilikni yumshatish (mitigation) usulini qo'llay oladi va natijani tushuntira oladi.</a:t>
            </a:r>
          </a:p>
          <a:p/>
          <a:p>
            <a:r>
              <a:t>ISO/IEC 42001 va EU AI Act ning yuqori xavfli tizimlarga qo'yadigan talablari asosida o'z loyihasi uchun muvofiqlik tekshiruv ro'yxatini tuza oladi.</a:t>
            </a:r>
          </a:p>
          <a:p/>
          <a:p>
            <a:r>
              <a:t>Mavzu fanning TN4 (SI tizimlarining ishonchliligi va xavfsizligini ta'minlash), TN6 (SI tizimlarini xalqaro standartlar asosida baholash) va TN7 (kompleks tizimni ijtimoiy mas'uliyat bilan loyihalash) natijalariga xizmat qiladi, A6 amaliy mashg'uloti va 6-mustaqil ta'lim topshirig'i bilan bevosita bog'langan.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ma'ruzaning maqsadi — sun'iy intellekt (SI) tizimini loyihalash va ekspluatatsiya qilishda etik me'yorlar, xalqaro standartlar va huquqiy talablarni muhandislik amaliyotiga aylantirishni o'rgatish. Oldingi mavzularda biz tizimni tez, arzon va ishonchli qilishni ko'rdik; endi esa «bu tizim kimga, qanday va qaysi asosda ta'sir qiladi» degan savolga muhandis sifatida javob berishni o'rganamiz. Etika bu yerda falsafiy mavhumlik emas, balki o'lchanadigan metrikalar, tekshiruv ro'yxatlari va hujjatlar to'plami sifatida qaraladi.</a:t>
            </a:r>
          </a:p>
          <a:p/>
          <a:p>
            <a:r>
              <a:t>Mavzuni o'zlashtirgach magistrant:</a:t>
            </a:r>
          </a:p>
          <a:p/>
          <a:p>
            <a:r>
              <a:t>Mas'uliyatli SI (Responsible AI) ning asosiy tamoyillarini (adolatlilik, shaffoflik, hisobdorlik, xavfsizlik, maxfiylik, inson nazorati) va ularning xalqaro hujjatlardagi (OECD, UNESCO, NIST AI RMF, ISO/IEC 42001, EU AI Act) ifodasini tushuntira oladi.</a:t>
            </a:r>
          </a:p>
          <a:p/>
          <a:p>
            <a:r>
              <a:t>Adolatlilik (fairness) ning guruh va individual ta'riflarini, ular orasidagi matematik ziddiyatni va qaysi vaziyatda qaysi metrika mos kelishini asoslay oladi.</a:t>
            </a:r>
          </a:p>
          <a:p/>
          <a:p>
            <a:r>
              <a:t>Shaffoflik (transparency) va tushuntiriladigan SI (Explainable AI, XAI) usullarini — model-agnostik (SHAP, LIME) va modelga xos usullarni — farqlay oladi, ularning cheklovlarini biladi.</a:t>
            </a:r>
          </a:p>
          <a:p/>
          <a:p>
            <a:r>
              <a:t>Fairlearn va SHAP kutubxonalari yordamida haqiqiy ma'lumotlar to'plamida adolatlilik auditini o'tkaza oladi, kamchilikni yumshatish (mitigation) usulini qo'llay oladi va natijani tushuntira oladi.</a:t>
            </a:r>
          </a:p>
          <a:p/>
          <a:p>
            <a:r>
              <a:t>ISO/IEC 42001 va EU AI Act ning yuqori xavfli tizimlarga qo'yadigan talablari asosida o'z loyihasi uchun muvofiqlik tekshiruv ro'yxatini tuza oladi.</a:t>
            </a:r>
          </a:p>
          <a:p/>
          <a:p>
            <a:r>
              <a:t>Mavzu fanning TN4 (SI tizimlarining ishonchliligi va xavfsizligini ta'minlash), TN6 (SI tizimlarini xalqaro standartlar asosida baholash) va TN7 (kompleks tizimni ijtimoiy mas'uliyat bilan loyihalash) natijalariga xizmat qiladi, A6 amaliy mashg'uloti va 6-mustaqil ta'lim topshirig'i bilan bevosita bog'langan.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2016-yilda ProPublica jurnalistlari AQSh sudlarida qo'llanilgan COMPAS retsidiv xavfini baholash tizimini tahlil qilib, qora tanli sudlanuvchilar orasida «yuqori xavf» deb noto'g'ri belgilanganlar ulushi oq tanlilarga nisbatan qariyb ikki baravar yuqori ekanini ko'rsatdi. Tizim ishlab chiqaruvchisi esa model «kalibrlangan» — ya'ni bir xil ball olgan odamlar irqidan qat'i nazar bir xil retsidiv chastotasiga ega — deb javob berdi. Keyinchalik Chouldechova (2017) hamda Kleinberg, Mullainathan va Raghavan (2016) matematik jihatdan isbotladilarki, agar guruhlarda asosiy chastota (base rate) farq qilsa, kalibrlash va xato darajalari tengligini bir vaqtda ta'minlab bo'lmaydi. Ya'ni bahs texnik xato haqida emas, balki qaysi adolatlilik ta'rifi tanlanishi haqida edi — va bu tanlov muhandis tomonidan ongsiz ravishda qilingan edi.</a:t>
            </a:r>
          </a:p>
          <a:p/>
          <a:p>
            <a:r>
              <a:t>Shu kabi voqealar ro'yxati uzun: 2018-yilda Amazon ichki ishga qabul qilish modelini bekor qildi, chunki model o'n yillik tarixiy ma'lumotdan «ayol» so'zi bor rezyumelarni past baholashni o'rgangan edi; «Gender Shades» tadqiqoti (Buolamwini va Gebru, 2018) tijorat yuz tanish tizimlarining xatosi och tanli erkaklarda 1 % dan kam, to'q tanli ayollarda esa 35 % gacha ekanini ko'rsatdi; Niderlandiyada bolalar nafaqasi bo'yicha firibgarlikni aniqlovchi algoritm o'n minglab oilani noto'g'ri ayblab, 2021-yilda hukumat iste'fosiga sabab bo'ldi.</a:t>
            </a:r>
          </a:p>
          <a:p/>
          <a:p>
            <a:r>
              <a:t>Bu voqealar ikkita muhandislik xulosasiga olib keladi. Birinchidan, SI tizimidagi nohaqlik odatda yomon niyatdan emas, balki ma'lumot, maqsad funksiyasi va baholash metrikasini tanlashda ijtimoiy kontekstni e'tiborsiz qoldirishdan kelib chiqadi. Ikkinchidan, bu muammolar ishga tushirishdan keyin emas, balki loyihalash bosqichida o'lchanishi va boshqarilishi kerak — xuddi kechikish yoki xotira sarfi kabi. Aynan shu nuqtada etika muhandislik faniga aylanadi.</a:t>
            </a:r>
          </a:p>
          <a:p/>
          <a:p>
            <a:r>
              <a:t>2024-yildan boshlab bu talab ixtiyoriy bo'lmay qoldi. Yevropa Ittifoqining SI to'g'risidagi reglamenti (EU AI Act, Reglament (EU) 2024/1689) 2024-yil 1-avgustda kuchga kirdi va yuqori xavfli tizimlar uchun majburiy talablar, shu jumladan 2026-yil avgustidan to'liq qo'llaniladigan muvofiqlik baholash tartibini belgiladi. Yevropa bozoriga mahsulot yetkazuvchi har qanday kompaniya, geografik joylashuvidan qat'i nazar, bu talablarga bo'ysunadi. O'zbekistonda ham 2024-yilda SI texnologiyalarini 2030-yilgacha rivojlantirish strategiyasi tasdiqlanib, unda etik tamoyillar va ma'lumotlar himoyasi alohida yo'nalish sifatida belgilangan. Shuning uchun bugungi SI muhandisi uchun adolatlilik metrikasi va muvofiqlik hujjati — latency va throughput kabi oddiy ish quroli bo'lishi kerak.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etikasi bo'yicha hujjatlarni uch darajaga ajratish foydali: tamoyillar (nima qilish kerak), standartlar (qanday tashkil qilish kerak) va qonunlar (nima majburiy). Tamoyillar darajasida eng ta'sirlilari — OECD SI tamoyillari (2019, 2024-yilda yangilangan; 47 dan ortiq davlat qo'shilgan) va UNESCO ning SI etikasi bo'yicha tavsiyasi (2021, 193 a'zo davlat tomonidan qabul qilingan). Ikkalasi ham besh-oltita umumiy tamoyilga tayanadi: inson manfaati va barqaror rivojlanish, inson huquqlari va adolatlilik, shaffoflik va tushuntirilish, mustahkamlik va xavfsizlik, hisobdorlik.</a:t>
            </a:r>
          </a:p>
          <a:p/>
          <a:p>
            <a:r>
              <a:t>Standartlar darajasida asosiy hujjatlar quyidagilar:</a:t>
            </a:r>
          </a:p>
          <a:p/>
          <a:p>
            <a:r>
              <a:t>ISO/IEC 42001 alohida e'tiborga loyiq, chunki u ISO 9001 (sifat) va ISO/IEC 27001 (axborot xavfsizligi) kabi «boshqaruv tizimi» standartidir: u modelning o'zini emas, balki tashkilotning SI ni ishlab chiqish va qo'llash jarayonini sertifikatlaydi. Standart Annex A da 38 ta nazorat chorasini (control) belgilaydi — SI siyosati, ichki tashkilot, SI tizimlari resurslari, ta'sirni baholash, hayot sikli, ma'lumotlar, manfaatdor tomonlar uchun axborot, foydalanish va uchinchi tomonlar bilan munosabatlar bo'yicha. Muhandis uchun bu shuni anglatadiki, har bir model uchun ta'sir baholash hisoboti, ma'lumotlar kelib chiqishi (provenance) jurnali va qaror jurnali (decision log) bo'lishi kerak.</a:t>
            </a:r>
          </a:p>
          <a:p/>
          <a:p>
            <a:r>
              <a:t>Qonunlar darajasida EU AI Act xavfga asoslangan yondashuvni qo'llaydi: taqiqlangan amaliyotlar (ijtimoiy reyting, ish joyida his-tuyg'ularni tanish, nozik belgilarga ko'ra biometrik tasniflash — 2025-yil fevralidan taqiqlangan), yuqori xavfli tizimlar (Annex III: ta'lim, bandlik, kredit, davlat xizmatlari, huquqni muhofaza qilish, migratsiya, adliya, muhim infratuzilma), cheklangan xavf (shaffoflik majburiyati — chatbot va sintetik kontent belgilanishi) va minimal xavf. Yuqori xavfli tizimlar uchun 9–15-moddalar texnik talablarni belgilaydi: risk boshqaruv tizimi (9-modda), ma'lumotlar va ularni boshqarish (10), texnik hujjatlar (11), avtomatik jurnallash (12), shaffoflik va foydalanuvchiga axborot (13), inson nazorati (14), aniqlik, mustahkamlik va kiberxavfsizlik (15). Jarimalar taqiqlangan amaliyot uchun 35 million yevro yoki global aylanmaning 7 % igacha, boshqa buzilishlar uchun 15 million yevro yoki 3 % gacha yetadi.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Mas'uliyatli SI — bu tamoyillarni butun hayot sikli bo'ylab amalga oshiruvchi muhandislik va tashkiliy amaliyotlar to'plami. Uning yadrosi — SI tizimi texnik artefakt emas, balki ijtimoiy-texnik tizim (sociotechnical system) ekanini tan olish: model, ma'lumot, foydalanuvchi, operator, ta'sirlanuvchi shaxslar va tashkiliy jarayonlar birgalikda natijani belgilaydi.</a:t>
            </a:r>
          </a:p>
          <a:p/>
          <a:p>
            <a:r>
              <a:t>Amaliyotda Responsible AI quyidagi artefaktlar orqali moddiylashadi. Model kartasi (Model Card, Mitchell va boshq., 2019) — modelning maqsadi, o'qitish ma'lumoti, baholash natijalari (guruhlar kesimida), cheklovlar va etik mulohazalar haqida standartlashtirilgan hujjat. Ma'lumotlar varaqasi (Datasheet for Datasets, Gebru va boshq., 2021) — ma'lumot to'plamining kelib chiqishi, yig'ish usuli, tarkibi va tavsiya etilmaydigan foydalanish holatlari. Algoritmik ta'sir baholash (Algorithmic Impact Assessment) — tizim ishga tushirilishidan oldin ta'sirlanuvchi guruhlar, zarar stsenariylari va yumshatish choralari tahlili. Inson nazorati dizayni — qaror inson tomonidan tasdiqlanadimi (human-in-the-loop), kuzatiladimi (human-on-the-loop) yoki faqat auditda ko'riladimi, va insonning aralashish imkoniyati texnik jihatdan ta'minlanganmi.</a:t>
            </a:r>
          </a:p>
          <a:p/>
          <a:p>
            <a:r>
              <a:t>Muhim nuqta: mas'uliyatli SI tizimning har bir bosqichida qaror nuqtalarini o'z ichiga oladi. Muammo qo'yilishida — «bu masalani SI bilan yechish to'g'rimi» (ba'zan eng mas'uliyatli qaror — tizimni qurmaslik). Ma'lumot yig'ishda — vakillik (representativeness), rozilik, tarixiy noxolislik. Modellashtirishda — maqsad funksiyasi kimning manfaatini optimallashtiradi. Baholashda — umumiy aniqlik emas, balki guruhlar kesimidagi natijalar. Joylashtirishda — tushuntirish, shikoyat mexanizmi, monitoring. Bu nuqtalarning har biri M12 da ko'rilgan MLOps konveyeriga «darvoza» (gate) sifatida kiritilishi kerak.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Adolatlilikning yagona ta'rifi yo'q — va bu matematik fakt, texnik kamchilik emas. Ikkilik tasniflash uchun asosiy guruh metrikalari quyidagilar (bu yerda Y — haqiqiy yorliq, Ŷ — bashorat, A — himoyalangan belgi, masalan jins yoki yosh guruhi):</a:t>
            </a:r>
          </a:p>
          <a:p/>
          <a:p>
            <a:r>
              <a:t>Metrikalar odatda farq (difference, ideal 0) yoki nisbat (ratio, ideal 1) ko'rinishida hisoblanadi. AQSh bandlik amaliyotidan kelgan «to'rtdan besh qoidasi» (four-fifths rule) ga ko'ra, ijobiy qaror ulushlari nisbati 0,8 dan past bo'lsa, bu nomutanosib ta'sir (disparate impact) belgisi hisoblanadi — ko'p auditlarda shu chegara qo'llaniladi.</a:t>
            </a:r>
          </a:p>
          <a:p/>
          <a:p>
            <a:r>
              <a:t>Imkonsizlik teoremasi (Chouldechova, 2017; Kleinberg va boshq., 2016) shuni aytadiki, guruhlarda asosiy chastota farq qilganda va model mukammal bo'lmaganda, kalibrlash, teng yolg'on ijobiy va teng yolg'on salbiy darajalarini bir vaqtda ta'minlab bo'lmaydi. Demak, metrika tanlovi — bu qiymat tanlovi, va u hujjatlashtirilishi, manfaatdor tomonlar bilan kelishilishi kerak. Guruh metrikalaridan tashqari individual adolatlilik (o'xshash odamlarga o'xshash qarorlar) va kontrfaktual adolatlilik (himoyalangan belgi o'zgarganda qaror o'zgarmasligi) tushunchalari ham bor, lekin ular «o'xshashlik» metrikasini aniqlashni talab qiladi, bu amaliyotda qiyin.</a:t>
            </a:r>
          </a:p>
          <a:p/>
          <a:p>
            <a:r>
              <a:t>Noxolislikni yumshatish usullari uch bosqichga bo'linadi. Oldindan ishlov berish (pre-processing): qayta vaznlash (reweighing), tanlanmani qayta balanslash, himoyalangan belgi bilan korrelyatsiyani olib tashlash. O'qitish vaqtida (in-processing): adolatlilik cheklovi bilan optimallashtirish — Fairlearn dagi ExponentiatedGradient va GridSearch (Agarwal va boshq., 2018 reduksiya yondashuvi), adversarial debiasing. Keyingi ishlov (post-processing): guruhlar uchun turli qaror chegaralari — Fairlearn dagi ThresholdOptimizer (Hardt va boshq., 2016). Muhim ogohlantirish: himoyalangan belgini shunchaki modeldan olib tashlash («adolatlilik ko'rmaslik orqali», fairness through unawareness) ishlamaydi, chunki boshqa belgilar (pochta indeksi, ism, ta'lim muassasasi) u bilan kuchli korrelyatsiyalangan proksi bo'lib xizmat qiladi.</a:t>
            </a:r>
          </a:p>
          <a:p/>
          <a:p>
            <a:r>
              <a:t>Asosiy ochiq vositalar: Fairlearn (Microsoft tomonidan boshlangan, hozir mustaqil ochiq loyiha; metrikalar MetricFrame orqali, yumshatish algoritmlari, scikit-learn bilan mos) va AI Fairness 360 (IBM, 2018; 70 dan ortiq metrika va 10 dan ortiq yumshatish algoritmi, ko'proq tadqiqot yo'nalishida).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Shaffoflik (transparency) va tushuntirilish (explainability) bir narsa emas. Shaffoflik — tizim haqida axborotning mavjudligi: u qanday ma'lumotda o'qitilgan, qaysi maqsadda, qanday cheklovlar bilan, foydalanuvchi SI bilan muloqot qilayotganini biladimi. Tushuntirilish — aniq bir qaror yoki model xatti-harakati uchun inson tushunadigan sabab berish qobiliyati. Talqin qilinuvchanlik (interpretability) esa modelning ichki mexanizmi bevosita tushunarli ekani (chiziqli model, kichik qaror daraxti).</a:t>
            </a:r>
          </a:p>
          <a:p/>
          <a:p>
            <a:r>
              <a:t>XAI usullari bir nechta o'q bo'yicha tasniflanadi: lokal (bitta bashorat uchun) va global (butun model uchun); model-agnostik va modelga xos; ichki (intrinsic, model o'zi talqin qilinuvchan) va post-hoc. Eng ko'p qo'llaniladigan ikkita post-hoc model-agnostik usul — LIME (Ribeiro va boshq., 2016), bashorat atrofida lokal chiziqli surrogat quradi, va SHAP (Lundberg va Lee, 2017), kooperativ o'yinlar nazariyasidagi Shapley qiymatlariga asoslanadi va har bir belgining bashoratga hissasini additiv tarzda taqsimlaydi: f(x) = φ0 + Σ φi, bu yerda φ0 — o'rtacha bashorat, φi — i-belgining hissasi. Daraxtli modellar uchun TreeExplainer aniq Shapley qiymatlarini polinomial vaqtda hisoblaydi, bu uni sanoatda standartga aylantirdi. Neyron tarmoqlar uchun gradientga asoslangan usullar (Integrated Gradients, Grad-CAM) qo'shimcha imkoniyat beradi.</a:t>
            </a:r>
          </a:p>
          <a:p/>
          <a:p>
            <a:r>
              <a:t>XAI ning cheklovlari jiddiy. Tushuntirish — bu modelning soddalashtirilgan tasviri, va u o'zi noto'g'ri bo'lishi mumkin; turli usullar bir xil bashorat uchun turlicha tushuntirish berishi mumkin; korrelyatsiyalangan belgilar SHAP qiymatlarini «bo'lishib» oladi; foydalanuvchi tushuntirishga haddan tashqari ishonib, modelni tanqidiy baholashni to'xtatishi mumkin (avtomatlashtirish noxolisligi). Shu sababli EU AI Act 13-moddasi «foydalanuvchi natijani to'g'ri talqin qila olishi» ni talab qiladi — bu SHAP grafigini ko'rsatish emas, balki tushuntirishni maqsadli auditoriyaga moslashtirish degani: kredit mutaxassisiga va kredit oluvchiga turli ko'rinish kerak.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Ishonchli SI (trustworthy AI) tushunchasi adolatlilik va shaffoflikdan tashqari texnik mustahkamlik (robustness) — kirishning kichik o'zgarishiga chidamlilik, tarqatish siljishida barqarorlik, adversarial hujumlarga qarshilik (M9 da ko'rilgan), maxfiylik (differensial maxfiylik, federativ o'qitish) va hisobdorlik (accountability) — har bir qaror uchun kim javobgar va qanday shikoyat qilish mumkinligini o'z ichiga oladi. Hisobdorlikning texnik tayanchi — jurnallash: EU AI Act 12-moddasi yuqori xavfli tizimdan foydalanish davomida hodisalarni avtomatik qayd etishni talab qiladi, bu esa M12 dagi monitoring infratuzilmasining to'g'ridan-to'g'ri davomidir. Shunday qilib, etik talablar oxir-oqibat arxitektura talablariga aylanadi: versiyalangan ma'lumot va model, qaror jurnali, tushuntirish xizmati, inson aralashuvi uchun interfeys va guruhlar kesimidagi monitoring.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 biz daromadni bashorat qiluvchi model misolida to'liq adolatlilik auditini o'tkazamiz. Ma'lumot to'plami — UCI «Adult» (1994-yilgi AQSh aholini ro'yxatga olish ma'lumotlari, 48 842 yozuv; maqsad — yillik daromad 50 ming dollardan oshadimi), u Fairlearn hujjatlarida ham standart misol sifatida ishlatiladi. Bu to'plamni kredit skoringi yoki ish haqi darajasini belgilash kabi yuqori xavfli masalaning o'rinbosari (proxy) deb qaraymiz. Muhit: Python 3.10+, scikit-learn 1.4+, fairlearn 0.10+, shap 0.45+, pandas. GPU kerak emas; butun misol oddiy noutbukda 2–3 daqiqada bajariladi.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34 ming o'qitish va 14,6 ming test yozuvi oldik. Ijobiy sinf ulushi taxminan 24 %, test to'plamida erkaklar taxminan 67 %. Himoyalangan belgini modeldan olib tashladik — bu ko'p tashkilotlarning standart amaliyoti — lekin quyida ko'ramizki, bu adolatlilikni kafolatlamaydi. Belgini alohida saqlash muhim: Fairlearn metrikalari uni sensitive_features argumenti sifatida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gradient boosting modeli taxminan 0,87 aniqlik va 0,92 AUC beradi (taxminiy; bo'linishga qarab ±0,005). Oddiy ML hisobotida ish shu yerda tugaydi — «model yaxshi». Mas'uliyatli yondashuvda esa bu faqat boshlanish: umumiy aniqlik guruhlar o'rtasidagi farqni yashiradi.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tipik natija (taxminiy) quyidagicha: erkaklar uchun ijobiy qaror ulushi (selection rate) taxminan 0,26, ayollar uchun 0,07; demografik paritet farqi taxminan 0,19, nisbati 0,27 — «to'rtdan besh» chegarasidan (0,8) uch baravar past. Haqiqiy ijobiy daraja (TPR) ham farq qiladi: erkaklarda taxminan 0,65, ayollarda 0,50, ya'ni haqiqatan yuqori daromadli ayollarni model ko'proq o'tkazib yuboradi — bu teng imkoniyat buzilishi. E'tibor bering: biz sex ustunini olib tashlagan edik, lekin model kasb, ish soatlari, oilaviy holat (relationship ustunidagi «Husband/Wife» qiymatlari jinsni deyarli to'liq ochib beradi) kabi proksilar orqali uni qayta tiklagan. Bu «ko'rmaslik orqali adolatlilik» ishlamasligining yorqin namunasi.</a:t>
            </a:r>
          </a:p>
          <a:p/>
          <a:p>
            <a:r>
              <a:t>Shuni ham ta'kidlash kerakki, bu ma'lumotda asosiy chastotalar o'zi farq qiladi: 1994-yil AQShda yuqori daromadli ayollar ulushi erkaklarnikidan taxminan uch baravar kam. Demak, model qisman tarixiy tengsizlikni aks ettiradi. Qaysi metrikani «adolatli» deb hisoblash — ish beruvchi, regulyator va ta'sirlanuvchi guruhlar bilan kelishiladigan qaror. Biz quyida ikki yondashuvni ko'rsatamiz.</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tipik natijalar (taxminiy) quyidagicha:</a:t>
            </a:r>
          </a:p>
          <a:p/>
          <a:p>
            <a:r>
              <a:t>Bu jadval adolatlilik va aniqlik o'rtasidagi klassik murosani ko'rsatadi: teng imkoniyatni ta'minlash 1–3 punkt aniqlikka tushadi. Ammo bu «yo'qotish» ni to'g'ri talqin qilish kerak — aniqlik tarixiy noxolis yorliqlarga nisbatan o'lchanmoqda, demak uning bir qismi nohaqlikni takrorlash hisobiga olingan edi. ThresholdOptimizer ning afzalligi — mavjud modelga tegmasdan ishlaydi va tez; kamchiligi — bashorat vaqtida himoyalangan belgini bilish va guruhlarga turli chegara qo'llash kerak, bu ba'zi yurisdiksiyalarda huquqiy savol tug'diradi (EU da bunday «ijobiy harakat» AI Act 10(5)-moddasiga ko'ra noxolislikni tuzatish maqsadida nozik ma'lumotdan foydalanishga ruxsat beradi, lekin qat'iy shartlar bilan). ExponentiatedGradient esa bashorat vaqtida belgiga muhtoj emas.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global darajada eng ta'sirli belgilar odatda relationship_Husband, marital-status_Married-civ-spouse, capital-gain, education-num, age va hours-per-week bo'ladi. Guruhlar farqi tahlili aynan relationship toifalarining erkaklar uchun o'rtacha hissasi musbat, ayollar uchun manfiy ekanini ko'rsatadi — ya'ni model jinsni «Husband/Wife» belgisi orqali qayta tiklagan va shunga tayangan. Lokal tushuntirish esa aniq bir rad etilgan, lekin aslida yuqori daromadli ayol uchun qaysi belgilar bashoratni pasaytirganini ko'rsatadi — masalan, haftasiga 40 soatdan kam ish va relationship_Wife. Bu aynan regulyator yoki shikoyat qiluvchi shaxs so'raydigan axborot. TreeExplainer tezligi: 2000 namuna uchun 300 daraxtli modelda taxminan 1–2 soniya; to'liq 14,6 ming test uchun 10–15 soniya (taxminiy).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Yakunda texnik natijalarni muvofiqlik tiliga tarjima qilamiz. Quyidagi tekshiruv ro'yxati kredit skoringi kabi Annex III ga kiruvchi yuqori xavfli tizim uchun minimal to'plam bo'lib, har bir bandga mas'ul, dalil (artefakt) va holat biriktiriladi.</a:t>
            </a:r>
          </a:p>
          <a:p/>
          <a:p>
            <a:r>
              <a:t>Nima bo'ldi va nega: ro'yxat shuni ko'rsatadiki, texnik ish (metrikalar, yumshatish, SHAP) muvofiqlikning taxminan uchdan bir qismi; qolgani — jarayon va hujjat. ISO/IEC 42001 sertifikati aynan shu jarayonning mavjudligi va takrorlanishini tasdiqlaydi. Muhim amaliy xulosa: tekshiruv ro'yxati MLOps konveyeriga avtomatik darvoza sifatida kiritilishi mumkin — masalan, CI bosqichida demographic_parity_ratio qiymati 0,8 dan past bo'lsa, model registrga «ishlab chiqarishga tayyor» belgisi bilan kirmaydi.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 bir nechta prinsipial xulosa beradi. Birinchidan, umumiy aniqlik 0,87 bo'lgan model guruhlar kesimida 0,27 nisbatli nomutanosiblikka ega bo'lishi mumkin — va buni faqat maxsus o'lchash ochadi. Demak, adolatlilik metrikalari standart baholash hisobotining bir qismi bo'lishi kerak, ixtiyoriy qo'shimcha emas.</a:t>
            </a:r>
          </a:p>
          <a:p/>
          <a:p>
            <a:r>
              <a:t>Ikkinchidan, yumshatish usullari ishlaydi, lekin ular murosani yo'qotmaydi, faqat uni oshkor qiladi. Qaysi nuqtani tanlash — texnik emas, balki qadriyat va huquqiy qaror. Muhandisning vazifasi — murosaning butun egri chizig'ini (Pareto frontini) ko'rsatish, manfaatdor tomonlar esa nuqtani tanlaydi. Fairlearn dagi GridSearch aynan shu frontni qurish uchun qulay.</a:t>
            </a:r>
          </a:p>
          <a:p/>
          <a:p>
            <a:r>
              <a:t>Uchinchidan, natijalarning cheklovlari bor. Biz faqat bitta himoyalangan belgini ko'rdik; irq va jins kesishmasi (intersectional fairness) ko'rilganda guruhlar soni oshadi, ba'zilarida namuna kam bo'lib metrikalar beqaror bo'ladi. Metrikalar test to'plamida o'lchandi; ishlab chiqarishda aholi tarkibi o'zgarsa (drift), adolatlilik ham o'zgaradi — demak guruhlar kesimidagi monitoring doimiy bo'lishi kerak. Adult to'plami 1994-yil ma'lumoti — uni zamonaviy kredit masalasiga to'g'ridan-to'g'ri qo'llash o'zi mas'uliyatsizlik bo'lar edi; biz uni faqat metodologiyani ko'rsatish uchun ishlatdik, va bu cheklov Datasheet da qayd etilishi shart.</a:t>
            </a:r>
          </a:p>
          <a:p/>
          <a:p>
            <a:r>
              <a:t>To'rtinchidan, SHAP tushuntirishlari foydali, lekin ularni ehtiyotkorlik bilan talqin qilish kerak: korrelyatsiyalangan belgilar (relationship va marital-status) hissani bo'lishadi, shuning uchun bitta belgining «aybi» kamroq ko'rinishi mumkin. Sababiy (causal) xulosa uchun SHAP yetarli emas; u modelning nimaga tayanganini ko'rsatadi, dunyoda nima sabab ekanini emas.</a:t>
            </a:r>
          </a:p>
          <a:p/>
          <a:p>
            <a:r>
              <a:t>Muqobil yondashuvlar: AIF360 kutubxonasi ko'proq metrika va yumshatish algoritmi beradi (masalan, Reweighing, Prejudice Remover, Calibrated Equalized Odds); talqin qilinuvchan modellar (Explainable Boosting Machine, GAM) post-hoc tushuntirishsiz shaffoflik beradi va ba'zan gradient boostingga yaqin sifatga erishadi; kontrfaktual tushuntirishlar («kredit olish uchun daromadingiz 8 % yuqori bo'lishi kerak edi») foydalanuvchi uchun SHAP dan tushunarliroq va AI Act 13-moddasi ruhiga yaqinroq.</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Himoyalangan belgini olib tashlash bilan cheklanish. Proksilar uni qayta tiklaydi. Tavsiya: belgini audit uchun saqlang va metrikalarni har doim guruhlar kesimida o'lchang; proksi-korrelyatsiyani alohida tekshiring.</a:t>
            </a:r>
          </a:p>
          <a:p/>
          <a:p>
            <a:r>
              <a:t>Bitta «adolatlilik» metrikasini ko'r-ko'rona tanlash. Imkonsizlik teoremasi tufayli bitta metrika boshqasini buzadi. Tavsiya: masala konteksti (resurs taqsimoti, jazo, tashxis) bo'yicha metrikani asoslang va qarorni hujjatlashtiring.</a:t>
            </a:r>
          </a:p>
          <a:p/>
          <a:p>
            <a:r>
              <a:t>Adolatlilikni faqat ishga tushirishdan oldin o'lchash. Aholi tarkibi va xatti-harakat o'zgaradi. Tavsiya: guruhlar kesimidagi metrikalar monitoring panelining doimiy qismi bo'lsin, chegaradan chiqish signal bersin.</a:t>
            </a:r>
          </a:p>
          <a:p/>
          <a:p>
            <a:r>
              <a:t>Tushuntirishni «SHAP grafigini ko'rsatish» deb tushunish. Mutaxassis bo'lmagan foydalanuvchi uni o'qiy olmaydi. Tavsiya: auditoriyaga mos ko'rinish (matnli sabab, kontrfaktual tavsiya) va foydalanuvchi sinovlari.</a:t>
            </a:r>
          </a:p>
          <a:p/>
          <a:p>
            <a:r>
              <a:t>Hujjatlarni loyiha oxirida yozish. Model Card va Datasheet loyihaning boshida shablon sifatida ochilib, har bosqichda to'ldirilishi kerak — aks holda ma'lumot kelib chiqishi va qarorlar unutiladi.</a:t>
            </a:r>
          </a:p>
          <a:p/>
          <a:p>
            <a:r>
              <a:t>Kichik guruhlarda metrikalarga ortiqcha ishonish. 50 ta namunali guruhda TPR farqi tasodifiy bo'lishi mumkin. Tavsiya: ishonch oraliqlarini (bootstrap) hisoblang va kichik guruhlar uchun alohida yondashuv belgilang.</a:t>
            </a:r>
          </a:p>
          <a:p/>
          <a:p>
            <a:r>
              <a:t>Yumshatishdan keyin umumiy sifatni qayta tekshirmaslik. Ba'zi usullar bir guruhda aniqlikni keskin pasaytirib, «tenglik»ka erishadi (leveling down). Tavsiya: har guruh uchun aniqlik, TPR va FPR ni yumshatishdan oldin va keyin taqqoslang.</a:t>
            </a:r>
          </a:p>
          <a:p/>
          <a:p>
            <a:r>
              <a:t>Huquqiy talabni texnik jamoaga tegishli emas deb hisoblash. AI Act 9–15-moddalar aynan arxitektura talablari (jurnallash, inson nazorati interfeysi). Tavsiya: muvofiqlik tekshiruv ro'yxatini texnik topshiriqning bir qismiga aylantiring va CI darvozasi sifatida avtomatlashtiring.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Himoyalangan belgini olib tashlash bilan cheklanish. Proksilar uni qayta tiklaydi. Tavsiya: belgini audit uchun saqlang va metrikalarni har doim guruhlar kesimida o'lchang; proksi-korrelyatsiyani alohida tekshiring.</a:t>
            </a:r>
          </a:p>
          <a:p/>
          <a:p>
            <a:r>
              <a:t>Bitta «adolatlilik» metrikasini ko'r-ko'rona tanlash. Imkonsizlik teoremasi tufayli bitta metrika boshqasini buzadi. Tavsiya: masala konteksti (resurs taqsimoti, jazo, tashxis) bo'yicha metrikani asoslang va qarorni hujjatlashtiring.</a:t>
            </a:r>
          </a:p>
          <a:p/>
          <a:p>
            <a:r>
              <a:t>Adolatlilikni faqat ishga tushirishdan oldin o'lchash. Aholi tarkibi va xatti-harakat o'zgaradi. Tavsiya: guruhlar kesimidagi metrikalar monitoring panelining doimiy qismi bo'lsin, chegaradan chiqish signal bersin.</a:t>
            </a:r>
          </a:p>
          <a:p/>
          <a:p>
            <a:r>
              <a:t>Tushuntirishni «SHAP grafigini ko'rsatish» deb tushunish. Mutaxassis bo'lmagan foydalanuvchi uni o'qiy olmaydi. Tavsiya: auditoriyaga mos ko'rinish (matnli sabab, kontrfaktual tavsiya) va foydalanuvchi sinovlari.</a:t>
            </a:r>
          </a:p>
          <a:p/>
          <a:p>
            <a:r>
              <a:t>Hujjatlarni loyiha oxirida yozish. Model Card va Datasheet loyihaning boshida shablon sifatida ochilib, har bosqichda to'ldirilishi kerak — aks holda ma'lumot kelib chiqishi va qarorlar unutiladi.</a:t>
            </a:r>
          </a:p>
          <a:p/>
          <a:p>
            <a:r>
              <a:t>Kichik guruhlarda metrikalarga ortiqcha ishonish. 50 ta namunali guruhda TPR farqi tasodifiy bo'lishi mumkin. Tavsiya: ishonch oraliqlarini (bootstrap) hisoblang va kichik guruhlar uchun alohida yondashuv belgilang.</a:t>
            </a:r>
          </a:p>
          <a:p/>
          <a:p>
            <a:r>
              <a:t>Yumshatishdan keyin umumiy sifatni qayta tekshirmaslik. Ba'zi usullar bir guruhda aniqlikni keskin pasaytirib, «tenglik»ka erishadi (leveling down). Tavsiya: har guruh uchun aniqlik, TPR va FPR ni yumshatishdan oldin va keyin taqqoslang.</a:t>
            </a:r>
          </a:p>
          <a:p/>
          <a:p>
            <a:r>
              <a:t>Huquqiy talabni texnik jamoaga tegishli emas deb hisoblash. AI Act 9–15-moddalar aynan arxitektura talablari (jurnallash, inson nazorati interfeysi). Tavsiya: muvofiqlik tekshiruv ro'yxatini texnik topshiriqning bir qismiga aylantiring va CI darvozasi sifatida avtomatlashtiring.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COMPAS bahsida ikki tomon ham matematik jihatdan haq edi. Qaysi adolatlilik ta'rifi sud tizimi uchun, qaysi biri kredit skoringi uchun ko'proq mos keladi va nega?</a:t>
            </a:r>
          </a:p>
          <a:p/>
          <a:p>
            <a:r>
              <a:t>Nega himoyalangan belgini modeldan olib tashlash adolatlilikni kafolatlamaydi? Misolimizda qaysi belgilar proksi vazifasini bajardi va buni qanday aniqlash mumkin?</a:t>
            </a:r>
          </a:p>
          <a:p/>
          <a:p>
            <a:r>
              <a:t>ThresholdOptimizer guruhlarga turli chegara qo'llaydi. Bu yondashuv qaysi vaziyatlarda huquqiy yoki etik jihatdan muammoli bo'lishi mumkin? Muqobil nima?</a:t>
            </a:r>
          </a:p>
          <a:p/>
          <a:p>
            <a:r>
              <a:t>Aniqlikning 3 punktga pasayishi hisobiga teng imkoniyatga erishish — bu «yo'qotish»mi? Aniqlik qaysi yorliqlarga nisbatan o'lchanganini hisobga olib javob bering.</a:t>
            </a:r>
          </a:p>
          <a:p/>
          <a:p>
            <a:r>
              <a:t>SHAP qiymati «model shu belgiga tayandi» deganimi yoki «bu belgi natijaning sababi» deganimi? Farq nima uchun regulyator uchun muhim?</a:t>
            </a:r>
          </a:p>
          <a:p/>
          <a:p>
            <a:r>
              <a:t>EU AI Act 14-moddasi inson nazoratini talab qiladi. Soniyasiga 1000 qaror qabul qiladigan tizimda inson nazorati qanday texnik shaklda amalga oshirilishi mumkin?</a:t>
            </a:r>
          </a:p>
          <a:p/>
          <a:p>
            <a:r>
              <a:t>ISO/IEC 42001 modelni emas, jarayonni sertifikatlaydi. Bu yondashuvning kuchli va zaif tomonlari nimada? Sertifikatlangan tashkilot nohaq tizim chiqarishi mumkinmi?</a:t>
            </a:r>
          </a:p>
          <a:p/>
          <a:p>
            <a:r>
              <a:t>Adolatlilik metrikasi CI konveyerida avtomatik darvoza bo'lsa, qaysi chegaralarni va kim belgilashi kerak? Chegara buzilganda jarayon qanday davom etadi?</a:t>
            </a:r>
          </a:p>
          <a:p/>
          <a:p>
            <a:r>
              <a:t>Kesishuvchi (intersectional) guruhlar soni ko'payganda metrikalar beqaror bo'ladi. Statistik ishonchlilik va adolatlilik tahlilining to'liqligi o'rtasida murosani qanday topasiz?</a:t>
            </a:r>
          </a:p>
          <a:p/>
          <a:p>
            <a:r>
              <a:t>O'zbekiston sharoitida yuqori xavfli deb hisoblanishi kerak bo'lgan uchta SI qo'llanilishini ayting va har biri uchun eng muhim etik riskni asoslang.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COMPAS bahsida ikki tomon ham matematik jihatdan haq edi. Qaysi adolatlilik ta'rifi sud tizimi uchun, qaysi biri kredit skoringi uchun ko'proq mos keladi va nega?</a:t>
            </a:r>
          </a:p>
          <a:p/>
          <a:p>
            <a:r>
              <a:t>Nega himoyalangan belgini modeldan olib tashlash adolatlilikni kafolatlamaydi? Misolimizda qaysi belgilar proksi vazifasini bajardi va buni qanday aniqlash mumkin?</a:t>
            </a:r>
          </a:p>
          <a:p/>
          <a:p>
            <a:r>
              <a:t>ThresholdOptimizer guruhlarga turli chegara qo'llaydi. Bu yondashuv qaysi vaziyatlarda huquqiy yoki etik jihatdan muammoli bo'lishi mumkin? Muqobil nima?</a:t>
            </a:r>
          </a:p>
          <a:p/>
          <a:p>
            <a:r>
              <a:t>Aniqlikning 3 punktga pasayishi hisobiga teng imkoniyatga erishish — bu «yo'qotish»mi? Aniqlik qaysi yorliqlarga nisbatan o'lchanganini hisobga olib javob bering.</a:t>
            </a:r>
          </a:p>
          <a:p/>
          <a:p>
            <a:r>
              <a:t>SHAP qiymati «model shu belgiga tayandi» deganimi yoki «bu belgi natijaning sababi» deganimi? Farq nima uchun regulyator uchun muhim?</a:t>
            </a:r>
          </a:p>
          <a:p/>
          <a:p>
            <a:r>
              <a:t>EU AI Act 14-moddasi inson nazoratini talab qiladi. Soniyasiga 1000 qaror qabul qiladigan tizimda inson nazorati qanday texnik shaklda amalga oshirilishi mumkin?</a:t>
            </a:r>
          </a:p>
          <a:p/>
          <a:p>
            <a:r>
              <a:t>ISO/IEC 42001 modelni emas, jarayonni sertifikatlaydi. Bu yondashuvning kuchli va zaif tomonlari nimada? Sertifikatlangan tashkilot nohaq tizim chiqarishi mumkinmi?</a:t>
            </a:r>
          </a:p>
          <a:p/>
          <a:p>
            <a:r>
              <a:t>Adolatlilik metrikasi CI konveyerida avtomatik darvoza bo'lsa, qaysi chegaralarni va kim belgilashi kerak? Chegara buzilganda jarayon qanday davom etadi?</a:t>
            </a:r>
          </a:p>
          <a:p/>
          <a:p>
            <a:r>
              <a:t>Kesishuvchi (intersectional) guruhlar soni ko'payganda metrikalar beqaror bo'ladi. Statistik ishonchlilik va adolatlilik tahlilining to'liqligi o'rtasida murosani qanday topasiz?</a:t>
            </a:r>
          </a:p>
          <a:p/>
          <a:p>
            <a:r>
              <a:t>O'zbekiston sharoitida yuqori xavfli deb hisoblanishi kerak bo'lgan uchta SI qo'llanilishini ayting va har biri uchun eng muhim etik riskni asoslang.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(sillabusdagi 6-mustaqil ta'lim topshirig'iga bog'langan). O'zingiz tanlagan yoki A7 loyihangizdagi SI tizimi uchun to'liq Responsible AI paketini tayyorlang: (a) Datasheet va Model Card; (b) kamida ikkita himoyalangan belgi bo'yicha Fairlearn yoki AIF360 yordamida adolatlilik auditi, ishonch oraliqlari bilan; (c) bitta yumshatish usulini qo'llash va aniqlik–adolatlilik Pareto frontini qurish; (d) SHAP yoki kontrfaktual usul bilan 3 ta real qaror uchun foydalanuvchiga mo'ljallangan tushuntirish; (e) ISO/IEC 42001, ISO/IEC 23894 va EU AI Act asosida muvofiqlik tekshiruv ro'yxati va takomillashtirish takliflari. Baholash mezonlari: metrikalar tanlovining asoslanishi va to'g'ri hisoblanishi (30 %), yumshatish natijalari va murosa tahlili (25 %), tushuntirishlarning auditoriyaga mosligi (15 %), muvofiqlik tahlilining to'liqligi va aniq takliflar (30 %).</a:t>
            </a:r>
          </a:p>
          <a:p/>
          <a:p>
            <a:r>
              <a:t>2-topshiriq. Fairlearn hujjatlaridagi GridSearch yordamida misoldagi model uchun 20–30 nuqtali Pareto frontini (aniqlik va demografik paritet farqi) quring; frontdagi uchta nuqtani tanlab, har biri qaysi manfaatdor tomon nuqtai nazaridan maqbul ekanini 1 sahifada asoslang. Baholash: frontning to'g'ri qurilishi (50 %), asoslashning chuqurligi (50 %).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SI mahsulotlarida etik va amaliy mulohazalar.</a:t>
            </a:r>
          </a:p>
          <a:p/>
          <a:p>
            <a:r>
              <a:t>[3] Amershi, S., et al. Machine Learning Engineering. MIT Press, 2025. — ML tizimlarida adolatlilik, hujjatlashtirish va mas'uliyatli ishlab chiqish jarayonlari.</a:t>
            </a:r>
          </a:p>
          <a:p/>
          <a:p>
            <a:r>
              <a:t>[7] https://pytorch.org — PyTorch hujjatlari (neyron tarmoqlar uchun Captum tushuntirish kutubxonasi shu ekotizimda).</a:t>
            </a:r>
          </a:p>
          <a:p/>
          <a:p>
            <a:r>
              <a:t>[8] https://www.tensorflow.org — TensorFlow Responsible AI vositalari (Fairness Indicators, What-If Tool) hujjatlari.</a:t>
            </a:r>
          </a:p>
          <a:p/>
          <a:p>
            <a:r>
              <a:t>Regulation (EU) 2024/1689 of the European Parliament and of the Council (Artificial Intelligence Act). Official Journal of the European Union, 12 July 2024. https://eur-lex.europa.eu/eli/reg/2024/1689/oj</a:t>
            </a:r>
          </a:p>
          <a:p/>
          <a:p>
            <a:r>
              <a:t>ISO/IEC 42001:2023. Information technology — Artificial intelligence — Management system. International Organization for Standardization, 2023.</a:t>
            </a:r>
          </a:p>
          <a:p/>
          <a:p>
            <a:r>
              <a:t>ISO/IEC 23894:2023. Information technology — Artificial intelligence — Guidance on risk management. ISO, 2023.</a:t>
            </a:r>
          </a:p>
          <a:p/>
          <a:p>
            <a:r>
              <a:t>NIST AI 100-1. Artificial Intelligence Risk Management Framework (AI RMF 1.0). National Institute of Standards and Technology, January 2023.</a:t>
            </a:r>
          </a:p>
          <a:p/>
          <a:p>
            <a:r>
              <a:t>Hardt, M., Price, E., &amp; Srebro, N. Equality of Opportunity in Supervised Learning. Advances in Neural Information Processing Systems (NeurIPS), 2016.</a:t>
            </a:r>
          </a:p>
          <a:p/>
          <a:p>
            <a:r>
              <a:t>Chouldechova, A. Fair prediction with disparate impact: A study of bias in recidivism prediction instruments. Big Data, vol. 5, no. 2, 2017, pp. 153–163.</a:t>
            </a:r>
          </a:p>
          <a:p/>
          <a:p>
            <a:r>
              <a:t>Lundberg, S. M., &amp; Lee, S.-I. A Unified Approach to Interpreting Model Predictions. Advances in Neural Information Processing Systems (NeurIPS), 2017.</a:t>
            </a:r>
          </a:p>
          <a:p/>
          <a:p>
            <a:r>
              <a:t>Mitchell, M., et al. Model Cards for Model Reporting. Proceedings of the Conference on Fairness, Accountability, and Transparency (FAT), 2019, pp. 220–229.</a:t>
            </a:r>
          </a:p>
          <a:p/>
          <a:p>
            <a:r>
              <a:t>Fairlearn hujjatlari: https://fairlearn.org — metrikalar, yumshatish algoritmlari va foydalanuvchi qo'llanmasi.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SI mahsulotlarida etik va amaliy mulohazalar.</a:t>
            </a:r>
          </a:p>
          <a:p/>
          <a:p>
            <a:r>
              <a:t>[3] Amershi, S., et al. Machine Learning Engineering. MIT Press, 2025. — ML tizimlarida adolatlilik, hujjatlashtirish va mas'uliyatli ishlab chiqish jarayonlari.</a:t>
            </a:r>
          </a:p>
          <a:p/>
          <a:p>
            <a:r>
              <a:t>[7] https://pytorch.org — PyTorch hujjatlari (neyron tarmoqlar uchun Captum tushuntirish kutubxonasi shu ekotizimda).</a:t>
            </a:r>
          </a:p>
          <a:p/>
          <a:p>
            <a:r>
              <a:t>[8] https://www.tensorflow.org — TensorFlow Responsible AI vositalari (Fairness Indicators, What-If Tool) hujjatlari.</a:t>
            </a:r>
          </a:p>
          <a:p/>
          <a:p>
            <a:r>
              <a:t>Regulation (EU) 2024/1689 of the European Parliament and of the Council (Artificial Intelligence Act). Official Journal of the European Union, 12 July 2024. https://eur-lex.europa.eu/eli/reg/2024/1689/oj</a:t>
            </a:r>
          </a:p>
          <a:p/>
          <a:p>
            <a:r>
              <a:t>ISO/IEC 42001:2023. Information technology — Artificial intelligence — Management system. International Organization for Standardization, 2023.</a:t>
            </a:r>
          </a:p>
          <a:p/>
          <a:p>
            <a:r>
              <a:t>ISO/IEC 23894:2023. Information technology — Artificial intelligence — Guidance on risk management. ISO, 2023.</a:t>
            </a:r>
          </a:p>
          <a:p/>
          <a:p>
            <a:r>
              <a:t>NIST AI 100-1. Artificial Intelligence Risk Management Framework (AI RMF 1.0). National Institute of Standards and Technology, January 2023.</a:t>
            </a:r>
          </a:p>
          <a:p/>
          <a:p>
            <a:r>
              <a:t>Hardt, M., Price, E., &amp; Srebro, N. Equality of Opportunity in Supervised Learning. Advances in Neural Information Processing Systems (NeurIPS), 2016.</a:t>
            </a:r>
          </a:p>
          <a:p/>
          <a:p>
            <a:r>
              <a:t>Chouldechova, A. Fair prediction with disparate impact: A study of bias in recidivism prediction instruments. Big Data, vol. 5, no. 2, 2017, pp. 153–163.</a:t>
            </a:r>
          </a:p>
          <a:p/>
          <a:p>
            <a:r>
              <a:t>Lundberg, S. M., &amp; Lee, S.-I. A Unified Approach to Interpreting Model Predictions. Advances in Neural Information Processing Systems (NeurIPS), 2017.</a:t>
            </a:r>
          </a:p>
          <a:p/>
          <a:p>
            <a:r>
              <a:t>Mitchell, M., et al. Model Cards for Model Reporting. Proceedings of the Conference on Fairness, Accountability, and Transparency (FAT), 2019, pp. 220–229.</a:t>
            </a:r>
          </a:p>
          <a:p/>
          <a:p>
            <a:r>
              <a:t>Fairlearn hujjatlari: https://fairlearn.org — metrikalar, yumshatish algoritmlari va foydalanuvchi qo'llanmasi.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SI mahsulotlarida etik va amaliy mulohazalar.</a:t>
            </a:r>
          </a:p>
          <a:p/>
          <a:p>
            <a:r>
              <a:t>[3] Amershi, S., et al. Machine Learning Engineering. MIT Press, 2025. — ML tizimlarida adolatlilik, hujjatlashtirish va mas'uliyatli ishlab chiqish jarayonlari.</a:t>
            </a:r>
          </a:p>
          <a:p/>
          <a:p>
            <a:r>
              <a:t>[7] https://pytorch.org — PyTorch hujjatlari (neyron tarmoqlar uchun Captum tushuntirish kutubxonasi shu ekotizimda).</a:t>
            </a:r>
          </a:p>
          <a:p/>
          <a:p>
            <a:r>
              <a:t>[8] https://www.tensorflow.org — TensorFlow Responsible AI vositalari (Fairness Indicators, What-If Tool) hujjatlari.</a:t>
            </a:r>
          </a:p>
          <a:p/>
          <a:p>
            <a:r>
              <a:t>Regulation (EU) 2024/1689 of the European Parliament and of the Council (Artificial Intelligence Act). Official Journal of the European Union, 12 July 2024. https://eur-lex.europa.eu/eli/reg/2024/1689/oj</a:t>
            </a:r>
          </a:p>
          <a:p/>
          <a:p>
            <a:r>
              <a:t>ISO/IEC 42001:2023. Information technology — Artificial intelligence — Management system. International Organization for Standardization, 2023.</a:t>
            </a:r>
          </a:p>
          <a:p/>
          <a:p>
            <a:r>
              <a:t>ISO/IEC 23894:2023. Information technology — Artificial intelligence — Guidance on risk management. ISO, 2023.</a:t>
            </a:r>
          </a:p>
          <a:p/>
          <a:p>
            <a:r>
              <a:t>NIST AI 100-1. Artificial Intelligence Risk Management Framework (AI RMF 1.0). National Institute of Standards and Technology, January 2023.</a:t>
            </a:r>
          </a:p>
          <a:p/>
          <a:p>
            <a:r>
              <a:t>Hardt, M., Price, E., &amp; Srebro, N. Equality of Opportunity in Supervised Learning. Advances in Neural Information Processing Systems (NeurIPS), 2016.</a:t>
            </a:r>
          </a:p>
          <a:p/>
          <a:p>
            <a:r>
              <a:t>Chouldechova, A. Fair prediction with disparate impact: A study of bias in recidivism prediction instruments. Big Data, vol. 5, no. 2, 2017, pp. 153–163.</a:t>
            </a:r>
          </a:p>
          <a:p/>
          <a:p>
            <a:r>
              <a:t>Lundberg, S. M., &amp; Lee, S.-I. A Unified Approach to Interpreting Model Predictions. Advances in Neural Information Processing Systems (NeurIPS), 2017.</a:t>
            </a:r>
          </a:p>
          <a:p/>
          <a:p>
            <a:r>
              <a:t>Mitchell, M., et al. Model Cards for Model Reporting. Proceedings of the Conference on Fairness, Accountability, and Transparency (FAT), 2019, pp. 220–229.</a:t>
            </a:r>
          </a:p>
          <a:p/>
          <a:p>
            <a:r>
              <a:t>Fairlearn hujjatlari: https://fairlearn.org — metrikalar, yumshatish algoritmlari va foydalanuvchi qo'llanmasi.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0000"/>
            <a:ext cx="12192000" cy="6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700000"/>
            <a:ext cx="108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5" name="TextBox 4"/>
          <p:cNvSpPr txBox="1"/>
          <p:nvPr/>
        </p:nvSpPr>
        <p:spPr>
          <a:xfrm>
            <a:off x="700000" y="1350000"/>
            <a:ext cx="10800000" cy="500000"/>
          </a:xfrm>
          <a:prstGeom prst="rect">
            <a:avLst/>
          </a:prstGeom>
          <a:noFill/>
        </p:spPr>
        <p:txBody>
          <a:bodyPr wrap="square" anchor="t" lIns="50800" rIns="50800">
            <a:spAutoFit/>
          </a:bodyPr>
          <a:lstStyle/>
          <a:p>
            <a:pPr algn="l"/>
            <a:r>
              <a:rPr sz="1600" b="1">
                <a:solidFill>
                  <a:srgbClr val="7FD6D7"/>
                </a:solidFill>
                <a:latin typeface="Calibri"/>
              </a:rPr>
              <a:t>MA'RUZA · M14 · 2 soat</a:t>
            </a:r>
          </a:p>
        </p:txBody>
      </p:sp>
      <p:sp>
        <p:nvSpPr>
          <p:cNvPr id="6" name="TextBox 5"/>
          <p:cNvSpPr txBox="1"/>
          <p:nvPr/>
        </p:nvSpPr>
        <p:spPr>
          <a:xfrm>
            <a:off x="700000" y="1950000"/>
            <a:ext cx="10800000" cy="2500000"/>
          </a:xfrm>
          <a:prstGeom prst="rect">
            <a:avLst/>
          </a:prstGeom>
          <a:noFill/>
        </p:spPr>
        <p:txBody>
          <a:bodyPr wrap="square" anchor="t" lIns="50800" rIns="50800">
            <a:spAutoFit/>
          </a:bodyPr>
          <a:lstStyle/>
          <a:p>
            <a:pPr algn="l"/>
            <a:r>
              <a:rPr sz="3000" b="1">
                <a:solidFill>
                  <a:srgbClr val="FFFFFF"/>
                </a:solidFill>
                <a:latin typeface="Calibri"/>
              </a:rPr>
              <a:t>Sun'iy intellekt tizimlarida etika, ishonchlilik va mas'uliyatli sun'iy intellekt tamoyillari</a:t>
            </a:r>
          </a:p>
        </p:txBody>
      </p:sp>
      <p:sp>
        <p:nvSpPr>
          <p:cNvPr id="7" name="TextBox 6"/>
          <p:cNvSpPr txBox="1"/>
          <p:nvPr/>
        </p:nvSpPr>
        <p:spPr>
          <a:xfrm>
            <a:off x="700000" y="4950000"/>
            <a:ext cx="108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Mavzuning maqsadi va o'rganish natijalari</a:t>
            </a:r>
          </a:p>
          <a:p>
            <a:pPr>
              <a:spcAft>
                <a:spcPts val="900"/>
              </a:spcAft>
            </a:pPr>
            <a:r>
              <a:rPr sz="2000" b="1">
                <a:solidFill>
                  <a:srgbClr val="0F8B8D"/>
                </a:solidFill>
              </a:rPr>
              <a:t>▪  </a:t>
            </a:r>
            <a:r>
              <a:rPr sz="2000">
                <a:solidFill>
                  <a:srgbClr val="1B2430"/>
                </a:solidFill>
                <a:latin typeface="Calibri"/>
              </a:rPr>
              <a:t>Kirish</a:t>
            </a:r>
          </a:p>
          <a:p>
            <a:pPr>
              <a:spcAft>
                <a:spcPts val="900"/>
              </a:spcAft>
            </a:pPr>
            <a:r>
              <a:rPr sz="2000" b="1">
                <a:solidFill>
                  <a:srgbClr val="0F8B8D"/>
                </a:solidFill>
              </a:rPr>
              <a:t>▪  </a:t>
            </a:r>
            <a:r>
              <a:rPr sz="2000">
                <a:solidFill>
                  <a:srgbClr val="1B2430"/>
                </a:solidFill>
                <a:latin typeface="Calibri"/>
              </a:rPr>
              <a:t>Nazariy asoslar</a:t>
            </a:r>
          </a:p>
          <a:p>
            <a:pPr>
              <a:spcAft>
                <a:spcPts val="900"/>
              </a:spcAft>
            </a:pPr>
            <a:r>
              <a:rPr sz="2000" b="1">
                <a:solidFill>
                  <a:srgbClr val="0F8B8D"/>
                </a:solidFill>
              </a:rPr>
              <a:t>▪  </a:t>
            </a:r>
            <a:r>
              <a:rPr sz="2000">
                <a:solidFill>
                  <a:srgbClr val="1B2430"/>
                </a:solidFill>
                <a:latin typeface="Calibri"/>
              </a:rPr>
              <a:t>Amaliy misol</a:t>
            </a:r>
          </a:p>
          <a:p>
            <a:pPr>
              <a:spcAft>
                <a:spcPts val="900"/>
              </a:spcAft>
            </a:pPr>
            <a:r>
              <a:rPr sz="2000" b="1">
                <a:solidFill>
                  <a:srgbClr val="0F8B8D"/>
                </a:solidFill>
              </a:rPr>
              <a:t>▪  </a:t>
            </a:r>
            <a:r>
              <a:rPr sz="2000">
                <a:solidFill>
                  <a:srgbClr val="1B2430"/>
                </a:solidFill>
                <a:latin typeface="Calibri"/>
              </a:rPr>
              <a:t>Natijalarni tahlil qilish</a:t>
            </a:r>
          </a:p>
          <a:p>
            <a:pPr>
              <a:spcAft>
                <a:spcPts val="900"/>
              </a:spcAft>
            </a:pPr>
            <a:r>
              <a:rPr sz="2000" b="1">
                <a:solidFill>
                  <a:srgbClr val="0F8B8D"/>
                </a:solidFill>
              </a:rPr>
              <a:t>▪  </a:t>
            </a:r>
            <a:r>
              <a:rPr sz="2000">
                <a:solidFill>
                  <a:srgbClr val="1B2430"/>
                </a:solidFill>
                <a:latin typeface="Calibri"/>
              </a:rPr>
              <a:t>Keng tarqalgan xatolar va amaliy tavsiyalar</a:t>
            </a:r>
          </a:p>
          <a:p>
            <a:pPr>
              <a:spcAft>
                <a:spcPts val="900"/>
              </a:spcAft>
            </a:pPr>
            <a:r>
              <a:rPr sz="2000" b="1">
                <a:solidFill>
                  <a:srgbClr val="0F8B8D"/>
                </a:solidFill>
              </a:rPr>
              <a:t>▪  </a:t>
            </a:r>
            <a:r>
              <a:rPr sz="2000">
                <a:solidFill>
                  <a:srgbClr val="1B2430"/>
                </a:solidFill>
                <a:latin typeface="Calibri"/>
              </a:rPr>
              <a:t>Nazorat savollari</a:t>
            </a:r>
          </a:p>
          <a:p>
            <a:pPr>
              <a:spcAft>
                <a:spcPts val="900"/>
              </a:spcAft>
            </a:pPr>
            <a:r>
              <a:rPr sz="2000" b="1">
                <a:solidFill>
                  <a:srgbClr val="0F8B8D"/>
                </a:solidFill>
              </a:rPr>
              <a:t>▪  </a:t>
            </a:r>
            <a:r>
              <a:rPr sz="2000">
                <a:solidFill>
                  <a:srgbClr val="1B2430"/>
                </a:solidFill>
                <a:latin typeface="Calibri"/>
              </a:rPr>
              <a:t>Mustaqil ish uchun topshiriq</a:t>
            </a:r>
          </a:p>
          <a:p>
            <a:pPr>
              <a:spcAft>
                <a:spcPts val="900"/>
              </a:spcAft>
            </a:pPr>
            <a:r>
              <a:rPr sz="2000" b="1">
                <a:solidFill>
                  <a:srgbClr val="0F8B8D"/>
                </a:solidFill>
              </a:rPr>
              <a:t>▪  </a:t>
            </a:r>
            <a:r>
              <a:rPr sz="2000">
                <a:solidFill>
                  <a:srgbClr val="1B2430"/>
                </a:solidFill>
                <a:latin typeface="Calibri"/>
              </a:rPr>
              <a:t>Foydalanilgan manbalar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Ushbu ma'ruzaning maqsadi — sun'iy intellekt (SI) tizimini loyihalash va ekspluatatsiya qilishda etik me'yorlar, xalqaro standartlar va huquqiy talablarni muhandislik amaliyotiga…</a:t>
            </a:r>
          </a:p>
          <a:p>
            <a:pPr>
              <a:spcAft>
                <a:spcPts val="900"/>
              </a:spcAft>
            </a:pPr>
            <a:r>
              <a:rPr sz="1600" b="1">
                <a:solidFill>
                  <a:srgbClr val="0F8B8D"/>
                </a:solidFill>
              </a:rPr>
              <a:t>▪  </a:t>
            </a:r>
            <a:r>
              <a:rPr sz="1600">
                <a:solidFill>
                  <a:srgbClr val="1B2430"/>
                </a:solidFill>
                <a:latin typeface="Calibri"/>
              </a:rPr>
              <a:t>Mavzuni o'zlashtirgach magistrant:</a:t>
            </a:r>
          </a:p>
          <a:p>
            <a:pPr>
              <a:spcAft>
                <a:spcPts val="900"/>
              </a:spcAft>
            </a:pPr>
            <a:r>
              <a:rPr sz="1600" b="1">
                <a:solidFill>
                  <a:srgbClr val="0F8B8D"/>
                </a:solidFill>
              </a:rPr>
              <a:t>▪  </a:t>
            </a:r>
            <a:r>
              <a:rPr sz="1600">
                <a:solidFill>
                  <a:srgbClr val="1B2430"/>
                </a:solidFill>
                <a:latin typeface="Calibri"/>
              </a:rPr>
              <a:t>Mas'uliyatli SI (Responsible AI) ning asosiy tamoyillarini (adolatlilik, shaffoflik, hisobdorlik, xavfsizlik, maxfiylik, inson nazorati) va ularning xalqaro hujjatlardagi (OECD, UNESCO,…</a:t>
            </a:r>
          </a:p>
          <a:p>
            <a:pPr>
              <a:spcAft>
                <a:spcPts val="900"/>
              </a:spcAft>
            </a:pPr>
            <a:r>
              <a:rPr sz="1600" b="1">
                <a:solidFill>
                  <a:srgbClr val="0F8B8D"/>
                </a:solidFill>
              </a:rPr>
              <a:t>▪  </a:t>
            </a:r>
            <a:r>
              <a:rPr sz="1600">
                <a:solidFill>
                  <a:srgbClr val="1B2430"/>
                </a:solidFill>
                <a:latin typeface="Calibri"/>
              </a:rPr>
              <a:t>Adolatlilik (fairness) ning guruh va individual ta'riflarini, ular orasidagi matematik ziddiyatni va qaysi vaziyatda qaysi metrika mos kelishini asoslay oladi.</a:t>
            </a:r>
          </a:p>
          <a:p>
            <a:pPr>
              <a:spcAft>
                <a:spcPts val="900"/>
              </a:spcAft>
            </a:pPr>
            <a:r>
              <a:rPr sz="1600" b="1">
                <a:solidFill>
                  <a:srgbClr val="0F8B8D"/>
                </a:solidFill>
              </a:rPr>
              <a:t>▪  </a:t>
            </a:r>
            <a:r>
              <a:rPr sz="1600">
                <a:solidFill>
                  <a:srgbClr val="1B2430"/>
                </a:solidFill>
                <a:latin typeface="Calibri"/>
              </a:rPr>
              <a:t>Shaffoflik (transparency) va tushuntiriladigan SI (Explainable AI, XAI) usullarini — model-agnostik (SHAP, LIME) va modelga xos usullarni — farqlay oladi, ularning cheklovlarini biladi.</a:t>
            </a:r>
          </a:p>
          <a:p>
            <a:pPr>
              <a:spcAft>
                <a:spcPts val="900"/>
              </a:spcAft>
            </a:pPr>
            <a:r>
              <a:rPr sz="1600" b="1">
                <a:solidFill>
                  <a:srgbClr val="0F8B8D"/>
                </a:solidFill>
              </a:rPr>
              <a:t>▪  </a:t>
            </a:r>
            <a:r>
              <a:rPr sz="1600">
                <a:solidFill>
                  <a:srgbClr val="1B2430"/>
                </a:solidFill>
                <a:latin typeface="Calibri"/>
              </a:rPr>
              <a:t>Fairlearn va SHAP kutubxonalari yordamida haqiqiy ma'lumotlar to'plamida adolatlilik auditini o'tkaza oladi, kamchilikni yumshatish (mitigation) usulini qo'llay oladi va natijani tushuntira…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ISO/IEC 42001 va EU AI Act ning yuqori xavfli tizimlarga qo'yadigan talablari asosida o'z loyihasi uchun muvofiqlik tekshiruv ro'yxatini tuza oladi.</a:t>
            </a:r>
          </a:p>
          <a:p>
            <a:pPr>
              <a:spcAft>
                <a:spcPts val="900"/>
              </a:spcAft>
            </a:pPr>
            <a:r>
              <a:rPr sz="2000" b="1">
                <a:solidFill>
                  <a:srgbClr val="0F8B8D"/>
                </a:solidFill>
              </a:rPr>
              <a:t>▪  </a:t>
            </a:r>
            <a:r>
              <a:rPr sz="2000">
                <a:solidFill>
                  <a:srgbClr val="1B2430"/>
                </a:solidFill>
                <a:latin typeface="Calibri"/>
              </a:rPr>
              <a:t>Mavzu fanning TN4 (SI tizimlarining ishonchliligi va xavfsizligini ta'minlash), TN6 (SI tizimlarini xalqaro standartlar asosida baholash) va TN7 (kompleks tizimni ijtimoiy mas'uliyat bilan…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2016-yilda ProPublica jurnalistlari AQSh sudlarida qo'llanilgan COMPAS retsidiv xavfini baholash tizimini tahlil qilib, qora tanli sudlanuvchilar orasida «yuqori xavf» deb noto'g'ri…</a:t>
            </a:r>
          </a:p>
          <a:p>
            <a:pPr>
              <a:spcAft>
                <a:spcPts val="900"/>
              </a:spcAft>
            </a:pPr>
            <a:r>
              <a:rPr sz="2000" b="1">
                <a:solidFill>
                  <a:srgbClr val="0F8B8D"/>
                </a:solidFill>
              </a:rPr>
              <a:t>▪  </a:t>
            </a:r>
            <a:r>
              <a:rPr sz="2000">
                <a:solidFill>
                  <a:srgbClr val="1B2430"/>
                </a:solidFill>
                <a:latin typeface="Calibri"/>
              </a:rPr>
              <a:t>Shu kabi voqealar ro'yxati uzun: 2018-yilda Amazon ichki ishga qabul qilish modelini bekor qildi, chunki model o'n yillik tarixiy ma'lumotdan «ayol» so'zi bor rezyumelarni past baholashni…</a:t>
            </a:r>
          </a:p>
          <a:p>
            <a:pPr>
              <a:spcAft>
                <a:spcPts val="900"/>
              </a:spcAft>
            </a:pPr>
            <a:r>
              <a:rPr sz="2000" b="1">
                <a:solidFill>
                  <a:srgbClr val="0F8B8D"/>
                </a:solidFill>
              </a:rPr>
              <a:t>▪  </a:t>
            </a:r>
            <a:r>
              <a:rPr sz="2000">
                <a:solidFill>
                  <a:srgbClr val="1B2430"/>
                </a:solidFill>
                <a:latin typeface="Calibri"/>
              </a:rPr>
              <a:t>Bu voqealar ikkita muhandislik xulosasiga olib keladi.</a:t>
            </a:r>
          </a:p>
          <a:p>
            <a:pPr>
              <a:spcAft>
                <a:spcPts val="900"/>
              </a:spcAft>
            </a:pPr>
            <a:r>
              <a:rPr sz="2000" b="1">
                <a:solidFill>
                  <a:srgbClr val="0F8B8D"/>
                </a:solidFill>
              </a:rPr>
              <a:t>▪  </a:t>
            </a:r>
            <a:r>
              <a:rPr sz="2000">
                <a:solidFill>
                  <a:srgbClr val="1B2430"/>
                </a:solidFill>
                <a:latin typeface="Calibri"/>
              </a:rPr>
              <a:t>2024-yildan boshlab bu talab ixtiyoriy bo'lmay qoldi.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Etik me'yorlar va xalqaro standartlar landshafti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SI etikasi bo'yicha hujjatlarni uch darajaga ajratish foydali: tamoyillar (nima qilish kerak), standartlar (qanday tashkil qilish kerak) va qonunlar (nima majburiy).</a:t>
            </a:r>
          </a:p>
          <a:p>
            <a:pPr>
              <a:spcAft>
                <a:spcPts val="900"/>
              </a:spcAft>
            </a:pPr>
            <a:r>
              <a:rPr sz="1800" b="1">
                <a:solidFill>
                  <a:srgbClr val="0F8B8D"/>
                </a:solidFill>
              </a:rPr>
              <a:t>▪  </a:t>
            </a:r>
            <a:r>
              <a:rPr sz="1800">
                <a:solidFill>
                  <a:srgbClr val="1B2430"/>
                </a:solidFill>
                <a:latin typeface="Calibri"/>
              </a:rPr>
              <a:t>Standartlar darajasida asosiy hujjatlar quyidagilar:</a:t>
            </a:r>
          </a:p>
          <a:p>
            <a:pPr>
              <a:spcAft>
                <a:spcPts val="900"/>
              </a:spcAft>
            </a:pPr>
            <a:r>
              <a:rPr sz="1800" b="1">
                <a:solidFill>
                  <a:srgbClr val="0F8B8D"/>
                </a:solidFill>
              </a:rPr>
              <a:t>▪  </a:t>
            </a:r>
            <a:r>
              <a:rPr sz="1800">
                <a:solidFill>
                  <a:srgbClr val="1B2430"/>
                </a:solidFill>
                <a:latin typeface="Calibri"/>
              </a:rPr>
              <a:t>ISO/IEC 42001 alohida e'tiborga loyiq, chunki u ISO 9001 (sifat) va ISO/IEC 27001 (axborot xavfsizligi) kabi «boshqaruv tizimi» standartidir: u modelning o'zini emas, balki tashkilotning SI…</a:t>
            </a:r>
          </a:p>
          <a:p>
            <a:pPr>
              <a:spcAft>
                <a:spcPts val="900"/>
              </a:spcAft>
            </a:pPr>
            <a:r>
              <a:rPr sz="1800" b="1">
                <a:solidFill>
                  <a:srgbClr val="0F8B8D"/>
                </a:solidFill>
              </a:rPr>
              <a:t>▪  </a:t>
            </a:r>
            <a:r>
              <a:rPr sz="1800">
                <a:solidFill>
                  <a:srgbClr val="1B2430"/>
                </a:solidFill>
                <a:latin typeface="Calibri"/>
              </a:rPr>
              <a:t>Qonunlar darajasida EU AI Act xavfga asoslangan yondashuvni qo'llaydi: taqiqlangan amaliyotlar (ijtimoiy reyting, ish joyida his-tuyg'ularni tanish, nozik belgilarga ko'ra biometrik…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Etik me'yorlar va xalqaro standartlar landshafti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Hujjat</a:t>
                      </a:r>
                    </a:p>
                  </a:txBody>
                  <a:tcPr>
                    <a:solidFill>
                      <a:srgbClr val="2D5C8F"/>
                    </a:solidFill>
                  </a:tcPr>
                </a:tc>
                <a:tc>
                  <a:txBody>
                    <a:bodyPr/>
                    <a:lstStyle/>
                    <a:p>
                      <a:r>
                        <a:rPr sz="1200" b="1">
                          <a:solidFill>
                            <a:srgbClr val="FFFFFF"/>
                          </a:solidFill>
                          <a:latin typeface="Calibri"/>
                        </a:rPr>
                        <a:t>Yili</a:t>
                      </a:r>
                    </a:p>
                  </a:txBody>
                  <a:tcPr>
                    <a:solidFill>
                      <a:srgbClr val="2D5C8F"/>
                    </a:solidFill>
                  </a:tcPr>
                </a:tc>
                <a:tc>
                  <a:txBody>
                    <a:bodyPr/>
                    <a:lstStyle/>
                    <a:p>
                      <a:r>
                        <a:rPr sz="1200" b="1">
                          <a:solidFill>
                            <a:srgbClr val="FFFFFF"/>
                          </a:solidFill>
                          <a:latin typeface="Calibri"/>
                        </a:rPr>
                        <a:t>Mohiyati</a:t>
                      </a:r>
                    </a:p>
                  </a:txBody>
                  <a:tcPr>
                    <a:solidFill>
                      <a:srgbClr val="2D5C8F"/>
                    </a:solidFill>
                  </a:tcPr>
                </a:tc>
                <a:tc>
                  <a:txBody>
                    <a:bodyPr/>
                    <a:lstStyle/>
                    <a:p>
                      <a:r>
                        <a:rPr sz="1200" b="1">
                          <a:solidFill>
                            <a:srgbClr val="FFFFFF"/>
                          </a:solidFill>
                          <a:latin typeface="Calibri"/>
                        </a:rPr>
                        <a:t>Muhandis uchun ma'nosi</a:t>
                      </a:r>
                    </a:p>
                  </a:txBody>
                  <a:tcPr>
                    <a:solidFill>
                      <a:srgbClr val="2D5C8F"/>
                    </a:solidFill>
                  </a:tcPr>
                </a:tc>
              </a:tr>
              <a:tr h="520000">
                <a:tc>
                  <a:txBody>
                    <a:bodyPr/>
                    <a:lstStyle/>
                    <a:p>
                      <a:r>
                        <a:rPr sz="1200" b="0">
                          <a:solidFill>
                            <a:srgbClr val="1B2430"/>
                          </a:solidFill>
                          <a:latin typeface="Calibri"/>
                        </a:rPr>
                        <a:t>ISO/IEC 22989</a:t>
                      </a:r>
                    </a:p>
                  </a:txBody>
                  <a:tcPr>
                    <a:solidFill>
                      <a:srgbClr val="F1F4F8"/>
                    </a:solidFill>
                  </a:tcPr>
                </a:tc>
                <a:tc>
                  <a:txBody>
                    <a:bodyPr/>
                    <a:lstStyle/>
                    <a:p>
                      <a:r>
                        <a:rPr sz="1200" b="0">
                          <a:solidFill>
                            <a:srgbClr val="1B2430"/>
                          </a:solidFill>
                          <a:latin typeface="Calibri"/>
                        </a:rPr>
                        <a:t>2022</a:t>
                      </a:r>
                    </a:p>
                  </a:txBody>
                  <a:tcPr>
                    <a:solidFill>
                      <a:srgbClr val="F1F4F8"/>
                    </a:solidFill>
                  </a:tcPr>
                </a:tc>
                <a:tc>
                  <a:txBody>
                    <a:bodyPr/>
                    <a:lstStyle/>
                    <a:p>
                      <a:r>
                        <a:rPr sz="1200" b="0">
                          <a:solidFill>
                            <a:srgbClr val="1B2430"/>
                          </a:solidFill>
                          <a:latin typeface="Calibri"/>
                        </a:rPr>
                        <a:t>SI tushunchalari va terminologiyasi</a:t>
                      </a:r>
                    </a:p>
                  </a:txBody>
                  <a:tcPr>
                    <a:solidFill>
                      <a:srgbClr val="F1F4F8"/>
                    </a:solidFill>
                  </a:tcPr>
                </a:tc>
                <a:tc>
                  <a:txBody>
                    <a:bodyPr/>
                    <a:lstStyle/>
                    <a:p>
                      <a:r>
                        <a:rPr sz="1200" b="0">
                          <a:solidFill>
                            <a:srgbClr val="1B2430"/>
                          </a:solidFill>
                          <a:latin typeface="Calibri"/>
                        </a:rPr>
                        <a:t>yagona lug'at, hujjatlarda izchil atamalar</a:t>
                      </a:r>
                    </a:p>
                  </a:txBody>
                  <a:tcPr>
                    <a:solidFill>
                      <a:srgbClr val="F1F4F8"/>
                    </a:solidFill>
                  </a:tcPr>
                </a:tc>
              </a:tr>
              <a:tr h="520000">
                <a:tc>
                  <a:txBody>
                    <a:bodyPr/>
                    <a:lstStyle/>
                    <a:p>
                      <a:r>
                        <a:rPr sz="1200" b="0">
                          <a:solidFill>
                            <a:srgbClr val="1B2430"/>
                          </a:solidFill>
                          <a:latin typeface="Calibri"/>
                        </a:rPr>
                        <a:t>ISO/IEC 23894</a:t>
                      </a:r>
                    </a:p>
                  </a:txBody>
                  <a:tcPr>
                    <a:solidFill>
                      <a:srgbClr val="FFFFFF"/>
                    </a:solidFill>
                  </a:tcPr>
                </a:tc>
                <a:tc>
                  <a:txBody>
                    <a:bodyPr/>
                    <a:lstStyle/>
                    <a:p>
                      <a:r>
                        <a:rPr sz="1200" b="0">
                          <a:solidFill>
                            <a:srgbClr val="1B2430"/>
                          </a:solidFill>
                          <a:latin typeface="Calibri"/>
                        </a:rPr>
                        <a:t>2023</a:t>
                      </a:r>
                    </a:p>
                  </a:txBody>
                  <a:tcPr>
                    <a:solidFill>
                      <a:srgbClr val="FFFFFF"/>
                    </a:solidFill>
                  </a:tcPr>
                </a:tc>
                <a:tc>
                  <a:txBody>
                    <a:bodyPr/>
                    <a:lstStyle/>
                    <a:p>
                      <a:r>
                        <a:rPr sz="1200" b="0">
                          <a:solidFill>
                            <a:srgbClr val="1B2430"/>
                          </a:solidFill>
                          <a:latin typeface="Calibri"/>
                        </a:rPr>
                        <a:t>SI uchun risklarni boshqarish bo'yicha yo'riqnoma (ISO 31000 asosida)</a:t>
                      </a:r>
                    </a:p>
                  </a:txBody>
                  <a:tcPr>
                    <a:solidFill>
                      <a:srgbClr val="FFFFFF"/>
                    </a:solidFill>
                  </a:tcPr>
                </a:tc>
                <a:tc>
                  <a:txBody>
                    <a:bodyPr/>
                    <a:lstStyle/>
                    <a:p>
                      <a:r>
                        <a:rPr sz="1200" b="0">
                          <a:solidFill>
                            <a:srgbClr val="1B2430"/>
                          </a:solidFill>
                          <a:latin typeface="Calibri"/>
                        </a:rPr>
                        <a:t>risk reestri, SI hayot sikli bo'ylab tahdidlar</a:t>
                      </a:r>
                    </a:p>
                  </a:txBody>
                  <a:tcPr>
                    <a:solidFill>
                      <a:srgbClr val="FFFFFF"/>
                    </a:solidFill>
                  </a:tcPr>
                </a:tc>
              </a:tr>
              <a:tr h="520000">
                <a:tc>
                  <a:txBody>
                    <a:bodyPr/>
                    <a:lstStyle/>
                    <a:p>
                      <a:r>
                        <a:rPr sz="1200" b="0">
                          <a:solidFill>
                            <a:srgbClr val="1B2430"/>
                          </a:solidFill>
                          <a:latin typeface="Calibri"/>
                        </a:rPr>
                        <a:t>ISO/IEC 42001</a:t>
                      </a:r>
                    </a:p>
                  </a:txBody>
                  <a:tcPr>
                    <a:solidFill>
                      <a:srgbClr val="F1F4F8"/>
                    </a:solidFill>
                  </a:tcPr>
                </a:tc>
                <a:tc>
                  <a:txBody>
                    <a:bodyPr/>
                    <a:lstStyle/>
                    <a:p>
                      <a:r>
                        <a:rPr sz="1200" b="0">
                          <a:solidFill>
                            <a:srgbClr val="1B2430"/>
                          </a:solidFill>
                          <a:latin typeface="Calibri"/>
                        </a:rPr>
                        <a:t>2023</a:t>
                      </a:r>
                    </a:p>
                  </a:txBody>
                  <a:tcPr>
                    <a:solidFill>
                      <a:srgbClr val="F1F4F8"/>
                    </a:solidFill>
                  </a:tcPr>
                </a:tc>
                <a:tc>
                  <a:txBody>
                    <a:bodyPr/>
                    <a:lstStyle/>
                    <a:p>
                      <a:r>
                        <a:rPr sz="1200" b="0">
                          <a:solidFill>
                            <a:srgbClr val="1B2430"/>
                          </a:solidFill>
                          <a:latin typeface="Calibri"/>
                        </a:rPr>
                        <a:t>SI boshqaruv tizimi (AI Management System, AIMS) — sertifikatlanadigan</a:t>
                      </a:r>
                    </a:p>
                  </a:txBody>
                  <a:tcPr>
                    <a:solidFill>
                      <a:srgbClr val="F1F4F8"/>
                    </a:solidFill>
                  </a:tcPr>
                </a:tc>
                <a:tc>
                  <a:txBody>
                    <a:bodyPr/>
                    <a:lstStyle/>
                    <a:p>
                      <a:r>
                        <a:rPr sz="1200" b="0">
                          <a:solidFill>
                            <a:srgbClr val="1B2430"/>
                          </a:solidFill>
                          <a:latin typeface="Calibri"/>
                        </a:rPr>
                        <a:t>tashkilot darajasida siyosat, rollar, audit, uzluksiz takomillashtirish</a:t>
                      </a:r>
                    </a:p>
                  </a:txBody>
                  <a:tcPr>
                    <a:solidFill>
                      <a:srgbClr val="F1F4F8"/>
                    </a:solidFill>
                  </a:tcPr>
                </a:tc>
              </a:tr>
              <a:tr h="520000">
                <a:tc>
                  <a:txBody>
                    <a:bodyPr/>
                    <a:lstStyle/>
                    <a:p>
                      <a:r>
                        <a:rPr sz="1200" b="0">
                          <a:solidFill>
                            <a:srgbClr val="1B2430"/>
                          </a:solidFill>
                          <a:latin typeface="Calibri"/>
                        </a:rPr>
                        <a:t>ISO/IEC TR 24027</a:t>
                      </a:r>
                    </a:p>
                  </a:txBody>
                  <a:tcPr>
                    <a:solidFill>
                      <a:srgbClr val="FFFFFF"/>
                    </a:solidFill>
                  </a:tcPr>
                </a:tc>
                <a:tc>
                  <a:txBody>
                    <a:bodyPr/>
                    <a:lstStyle/>
                    <a:p>
                      <a:r>
                        <a:rPr sz="1200" b="0">
                          <a:solidFill>
                            <a:srgbClr val="1B2430"/>
                          </a:solidFill>
                          <a:latin typeface="Calibri"/>
                        </a:rPr>
                        <a:t>2021</a:t>
                      </a:r>
                    </a:p>
                  </a:txBody>
                  <a:tcPr>
                    <a:solidFill>
                      <a:srgbClr val="FFFFFF"/>
                    </a:solidFill>
                  </a:tcPr>
                </a:tc>
                <a:tc>
                  <a:txBody>
                    <a:bodyPr/>
                    <a:lstStyle/>
                    <a:p>
                      <a:r>
                        <a:rPr sz="1200" b="0">
                          <a:solidFill>
                            <a:srgbClr val="1B2430"/>
                          </a:solidFill>
                          <a:latin typeface="Calibri"/>
                        </a:rPr>
                        <a:t>SI tizimlarida noxolislik (bias) va qarorlar</a:t>
                      </a:r>
                    </a:p>
                  </a:txBody>
                  <a:tcPr>
                    <a:solidFill>
                      <a:srgbClr val="FFFFFF"/>
                    </a:solidFill>
                  </a:tcPr>
                </a:tc>
                <a:tc>
                  <a:txBody>
                    <a:bodyPr/>
                    <a:lstStyle/>
                    <a:p>
                      <a:r>
                        <a:rPr sz="1200" b="0">
                          <a:solidFill>
                            <a:srgbClr val="1B2430"/>
                          </a:solidFill>
                          <a:latin typeface="Calibri"/>
                        </a:rPr>
                        <a:t>noxolislik manbalari tasnifi va o'lchash usullari</a:t>
                      </a:r>
                    </a:p>
                  </a:txBody>
                  <a:tcPr>
                    <a:solidFill>
                      <a:srgbClr val="FFFFFF"/>
                    </a:solidFill>
                  </a:tcPr>
                </a:tc>
              </a:tr>
              <a:tr h="520000">
                <a:tc>
                  <a:txBody>
                    <a:bodyPr/>
                    <a:lstStyle/>
                    <a:p>
                      <a:r>
                        <a:rPr sz="1200" b="0">
                          <a:solidFill>
                            <a:srgbClr val="1B2430"/>
                          </a:solidFill>
                          <a:latin typeface="Calibri"/>
                        </a:rPr>
                        <a:t>ISO/IEC TR 24028</a:t>
                      </a:r>
                    </a:p>
                  </a:txBody>
                  <a:tcPr>
                    <a:solidFill>
                      <a:srgbClr val="F1F4F8"/>
                    </a:solidFill>
                  </a:tcPr>
                </a:tc>
                <a:tc>
                  <a:txBody>
                    <a:bodyPr/>
                    <a:lstStyle/>
                    <a:p>
                      <a:r>
                        <a:rPr sz="1200" b="0">
                          <a:solidFill>
                            <a:srgbClr val="1B2430"/>
                          </a:solidFill>
                          <a:latin typeface="Calibri"/>
                        </a:rPr>
                        <a:t>2020</a:t>
                      </a:r>
                    </a:p>
                  </a:txBody>
                  <a:tcPr>
                    <a:solidFill>
                      <a:srgbClr val="F1F4F8"/>
                    </a:solidFill>
                  </a:tcPr>
                </a:tc>
                <a:tc>
                  <a:txBody>
                    <a:bodyPr/>
                    <a:lstStyle/>
                    <a:p>
                      <a:r>
                        <a:rPr sz="1200" b="0">
                          <a:solidFill>
                            <a:srgbClr val="1B2430"/>
                          </a:solidFill>
                          <a:latin typeface="Calibri"/>
                        </a:rPr>
                        <a:t>SI ishonchliligi (trustworthiness) umumiy ko'rinishi</a:t>
                      </a:r>
                    </a:p>
                  </a:txBody>
                  <a:tcPr>
                    <a:solidFill>
                      <a:srgbClr val="F1F4F8"/>
                    </a:solidFill>
                  </a:tcPr>
                </a:tc>
                <a:tc>
                  <a:txBody>
                    <a:bodyPr/>
                    <a:lstStyle/>
                    <a:p>
                      <a:r>
                        <a:rPr sz="1200" b="0">
                          <a:solidFill>
                            <a:srgbClr val="1B2430"/>
                          </a:solidFill>
                          <a:latin typeface="Calibri"/>
                        </a:rPr>
                        <a:t>ishonchlilik xususiyatlari ro'yxati</a:t>
                      </a:r>
                    </a:p>
                  </a:txBody>
                  <a:tcPr>
                    <a:solidFill>
                      <a:srgbClr val="F1F4F8"/>
                    </a:solidFill>
                  </a:tcPr>
                </a:tc>
              </a:tr>
              <a:tr h="520000">
                <a:tc>
                  <a:txBody>
                    <a:bodyPr/>
                    <a:lstStyle/>
                    <a:p>
                      <a:r>
                        <a:rPr sz="1200" b="0">
                          <a:solidFill>
                            <a:srgbClr val="1B2430"/>
                          </a:solidFill>
                          <a:latin typeface="Calibri"/>
                        </a:rPr>
                        <a:t>NIST AI RMF 1.0</a:t>
                      </a:r>
                    </a:p>
                  </a:txBody>
                  <a:tcPr>
                    <a:solidFill>
                      <a:srgbClr val="FFFFFF"/>
                    </a:solidFill>
                  </a:tcPr>
                </a:tc>
                <a:tc>
                  <a:txBody>
                    <a:bodyPr/>
                    <a:lstStyle/>
                    <a:p>
                      <a:r>
                        <a:rPr sz="1200" b="0">
                          <a:solidFill>
                            <a:srgbClr val="1B2430"/>
                          </a:solidFill>
                          <a:latin typeface="Calibri"/>
                        </a:rPr>
                        <a:t>2023</a:t>
                      </a:r>
                    </a:p>
                  </a:txBody>
                  <a:tcPr>
                    <a:solidFill>
                      <a:srgbClr val="FFFFFF"/>
                    </a:solidFill>
                  </a:tcPr>
                </a:tc>
                <a:tc>
                  <a:txBody>
                    <a:bodyPr/>
                    <a:lstStyle/>
                    <a:p>
                      <a:r>
                        <a:rPr sz="1200" b="0">
                          <a:solidFill>
                            <a:srgbClr val="1B2430"/>
                          </a:solidFill>
                          <a:latin typeface="Calibri"/>
                        </a:rPr>
                        <a:t>AQSh risk boshqaruv asosi: Govern, Map, Measure, Manage</a:t>
                      </a:r>
                    </a:p>
                  </a:txBody>
                  <a:tcPr>
                    <a:solidFill>
                      <a:srgbClr val="FFFFFF"/>
                    </a:solidFill>
                  </a:tcPr>
                </a:tc>
                <a:tc>
                  <a:txBody>
                    <a:bodyPr/>
                    <a:lstStyle/>
                    <a:p>
                      <a:r>
                        <a:rPr sz="1200" b="0">
                          <a:solidFill>
                            <a:srgbClr val="1B2430"/>
                          </a:solidFill>
                          <a:latin typeface="Calibri"/>
                        </a:rPr>
                        <a:t>ixtiyoriy, lekin amaliy «playbook» bilan</a:t>
                      </a:r>
                    </a:p>
                  </a:txBody>
                  <a:tcPr>
                    <a:solidFill>
                      <a:srgbClr val="FFFFFF"/>
                    </a:solidFill>
                  </a:tcPr>
                </a:tc>
              </a:tr>
              <a:tr h="520000">
                <a:tc>
                  <a:txBody>
                    <a:bodyPr/>
                    <a:lstStyle/>
                    <a:p>
                      <a:r>
                        <a:rPr sz="1200" b="0">
                          <a:solidFill>
                            <a:srgbClr val="1B2430"/>
                          </a:solidFill>
                          <a:latin typeface="Calibri"/>
                        </a:rPr>
                        <a:t>IEEE 7000 / 7001</a:t>
                      </a:r>
                    </a:p>
                  </a:txBody>
                  <a:tcPr>
                    <a:solidFill>
                      <a:srgbClr val="F1F4F8"/>
                    </a:solidFill>
                  </a:tcPr>
                </a:tc>
                <a:tc>
                  <a:txBody>
                    <a:bodyPr/>
                    <a:lstStyle/>
                    <a:p>
                      <a:r>
                        <a:rPr sz="1200" b="0">
                          <a:solidFill>
                            <a:srgbClr val="1B2430"/>
                          </a:solidFill>
                          <a:latin typeface="Calibri"/>
                        </a:rPr>
                        <a:t>2021</a:t>
                      </a:r>
                    </a:p>
                  </a:txBody>
                  <a:tcPr>
                    <a:solidFill>
                      <a:srgbClr val="F1F4F8"/>
                    </a:solidFill>
                  </a:tcPr>
                </a:tc>
                <a:tc>
                  <a:txBody>
                    <a:bodyPr/>
                    <a:lstStyle/>
                    <a:p>
                      <a:r>
                        <a:rPr sz="1200" b="0">
                          <a:solidFill>
                            <a:srgbClr val="1B2430"/>
                          </a:solidFill>
                          <a:latin typeface="Calibri"/>
                        </a:rPr>
                        <a:t>qadriyatlarga asoslangan loyihalash; avtonom tizimlar shaffofligi</a:t>
                      </a:r>
                    </a:p>
                  </a:txBody>
                  <a:tcPr>
                    <a:solidFill>
                      <a:srgbClr val="F1F4F8"/>
                    </a:solidFill>
                  </a:tcPr>
                </a:tc>
                <a:tc>
                  <a:txBody>
                    <a:bodyPr/>
                    <a:lstStyle/>
                    <a:p>
                      <a:r>
                        <a:rPr sz="1200" b="0">
                          <a:solidFill>
                            <a:srgbClr val="1B2430"/>
                          </a:solidFill>
                          <a:latin typeface="Calibri"/>
                        </a:rPr>
                        <a:t>shaffoflik darajalarini o'lchanadigan qilish</a:t>
                      </a:r>
                    </a:p>
                  </a:txBody>
                  <a:tcPr>
                    <a:solidFill>
                      <a:srgbClr val="F1F4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Mas'uliyatli sun'iy intellekt (Responsible AI) konsepsiyasi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Mas'uliyatli SI — bu tamoyillarni butun hayot sikli bo'ylab amalga oshiruvchi muhandislik va tashkiliy amaliyotlar to'plami. Uning yadrosi — SI tizimi texnik artefakt emas, balki ijtimoiy-texnik tizim (sociotechnical system) ekanini tan olish: model,…</a:t>
            </a:r>
          </a:p>
          <a:p>
            <a:pPr>
              <a:spcAft>
                <a:spcPts val="900"/>
              </a:spcAft>
            </a:pPr>
            <a:r>
              <a:rPr sz="1800" b="1">
                <a:solidFill>
                  <a:srgbClr val="0F8B8D"/>
                </a:solidFill>
              </a:rPr>
              <a:t>▪  </a:t>
            </a:r>
            <a:r>
              <a:rPr sz="1800">
                <a:solidFill>
                  <a:srgbClr val="1B2430"/>
                </a:solidFill>
                <a:latin typeface="Calibri"/>
              </a:rPr>
              <a:t>Amaliyotda Responsible AI quyidagi artefaktlar orqali moddiylashadi. Model kartasi (Model Card, Mitchell va boshq., 2019) — modelning maqsadi, o'qitish ma'lumoti, baholash natijalari (guruhlar kesimida), cheklovlar va etik mulohazalar haqida…</a:t>
            </a:r>
          </a:p>
          <a:p>
            <a:pPr>
              <a:spcAft>
                <a:spcPts val="900"/>
              </a:spcAft>
            </a:pPr>
            <a:r>
              <a:rPr sz="1800" b="1">
                <a:solidFill>
                  <a:srgbClr val="0F8B8D"/>
                </a:solidFill>
              </a:rPr>
              <a:t>▪  </a:t>
            </a:r>
            <a:r>
              <a:rPr sz="1800">
                <a:solidFill>
                  <a:srgbClr val="1B2430"/>
                </a:solidFill>
                <a:latin typeface="Calibri"/>
              </a:rPr>
              <a:t>Muhim nuqta: mas'uliyatli SI tizimning har bir bosqichida qaror nuqtalarini o'z ichiga oladi. Muammo qo'yilishida — «bu masalani SI bilan yechish to'g'rimi» (ba'zan eng mas'uliyatli qaror — tizimni qurmaslik).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Adolatlilik (Fairness): ta'riflar, metrikalar va ziddiyatlar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Adolatlilikning yagona ta'rifi yo'q — va bu matematik fakt, texnik kamchilik emas.</a:t>
            </a:r>
          </a:p>
          <a:p>
            <a:pPr>
              <a:spcAft>
                <a:spcPts val="900"/>
              </a:spcAft>
            </a:pPr>
            <a:r>
              <a:rPr sz="1800" b="1">
                <a:solidFill>
                  <a:srgbClr val="0F8B8D"/>
                </a:solidFill>
              </a:rPr>
              <a:t>▪  </a:t>
            </a:r>
            <a:r>
              <a:rPr sz="1800">
                <a:solidFill>
                  <a:srgbClr val="1B2430"/>
                </a:solidFill>
                <a:latin typeface="Calibri"/>
              </a:rPr>
              <a:t>Metrikalar odatda farq (difference, ideal 0) yoki nisbat (ratio, ideal 1) ko'rinishida hisoblanadi.</a:t>
            </a:r>
          </a:p>
          <a:p>
            <a:pPr>
              <a:spcAft>
                <a:spcPts val="900"/>
              </a:spcAft>
            </a:pPr>
            <a:r>
              <a:rPr sz="1800" b="1">
                <a:solidFill>
                  <a:srgbClr val="0F8B8D"/>
                </a:solidFill>
              </a:rPr>
              <a:t>▪  </a:t>
            </a:r>
            <a:r>
              <a:rPr sz="1800">
                <a:solidFill>
                  <a:srgbClr val="1B2430"/>
                </a:solidFill>
                <a:latin typeface="Calibri"/>
              </a:rPr>
              <a:t>Imkonsizlik teoremasi (Chouldechova, 2017; Kleinberg va boshq., 2016) shuni aytadiki, guruhlarda asosiy chastota farq qilganda va model mukammal bo'lmaganda, kalibrlash, teng yolg'on ijobiy…</a:t>
            </a:r>
          </a:p>
          <a:p>
            <a:pPr>
              <a:spcAft>
                <a:spcPts val="900"/>
              </a:spcAft>
            </a:pPr>
            <a:r>
              <a:rPr sz="1800" b="1">
                <a:solidFill>
                  <a:srgbClr val="0F8B8D"/>
                </a:solidFill>
              </a:rPr>
              <a:t>▪  </a:t>
            </a:r>
            <a:r>
              <a:rPr sz="1800">
                <a:solidFill>
                  <a:srgbClr val="1B2430"/>
                </a:solidFill>
                <a:latin typeface="Calibri"/>
              </a:rPr>
              <a:t>Noxolislikni yumshatish usullari uch bosqichga bo'linadi.</a:t>
            </a:r>
          </a:p>
          <a:p>
            <a:pPr>
              <a:spcAft>
                <a:spcPts val="900"/>
              </a:spcAft>
            </a:pPr>
            <a:r>
              <a:rPr sz="1800" b="1">
                <a:solidFill>
                  <a:srgbClr val="0F8B8D"/>
                </a:solidFill>
              </a:rPr>
              <a:t>▪  </a:t>
            </a:r>
            <a:r>
              <a:rPr sz="1800">
                <a:solidFill>
                  <a:srgbClr val="1B2430"/>
                </a:solidFill>
                <a:latin typeface="Calibri"/>
              </a:rPr>
              <a:t>Asosiy ochiq vositalar: Fairlearn (Microsoft tomonidan boshlangan, hozir mustaqil ochiq loyiha; metrikalar MetricFrame orqali, yumshatish algoritmlari, scikit-learn bilan mos) va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Adolatlilik (Fairness): ta'riflar, metrikalar va ziddiyatlar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Metrika</a:t>
                      </a:r>
                    </a:p>
                  </a:txBody>
                  <a:tcPr>
                    <a:solidFill>
                      <a:srgbClr val="2D5C8F"/>
                    </a:solidFill>
                  </a:tcPr>
                </a:tc>
                <a:tc>
                  <a:txBody>
                    <a:bodyPr/>
                    <a:lstStyle/>
                    <a:p>
                      <a:r>
                        <a:rPr sz="1200" b="1">
                          <a:solidFill>
                            <a:srgbClr val="FFFFFF"/>
                          </a:solidFill>
                          <a:latin typeface="Calibri"/>
                        </a:rPr>
                        <a:t>Shart</a:t>
                      </a:r>
                    </a:p>
                  </a:txBody>
                  <a:tcPr>
                    <a:solidFill>
                      <a:srgbClr val="2D5C8F"/>
                    </a:solidFill>
                  </a:tcPr>
                </a:tc>
                <a:tc>
                  <a:txBody>
                    <a:bodyPr/>
                    <a:lstStyle/>
                    <a:p>
                      <a:r>
                        <a:rPr sz="1200" b="1">
                          <a:solidFill>
                            <a:srgbClr val="FFFFFF"/>
                          </a:solidFill>
                          <a:latin typeface="Calibri"/>
                        </a:rPr>
                        <a:t>Ma'nosi</a:t>
                      </a:r>
                    </a:p>
                  </a:txBody>
                  <a:tcPr>
                    <a:solidFill>
                      <a:srgbClr val="2D5C8F"/>
                    </a:solidFill>
                  </a:tcPr>
                </a:tc>
                <a:tc>
                  <a:txBody>
                    <a:bodyPr/>
                    <a:lstStyle/>
                    <a:p>
                      <a:r>
                        <a:rPr sz="1200" b="1">
                          <a:solidFill>
                            <a:srgbClr val="FFFFFF"/>
                          </a:solidFill>
                          <a:latin typeface="Calibri"/>
                        </a:rPr>
                        <a:t>Qachon mos</a:t>
                      </a:r>
                    </a:p>
                  </a:txBody>
                  <a:tcPr>
                    <a:solidFill>
                      <a:srgbClr val="2D5C8F"/>
                    </a:solidFill>
                  </a:tcPr>
                </a:tc>
              </a:tr>
              <a:tr h="520000">
                <a:tc>
                  <a:txBody>
                    <a:bodyPr/>
                    <a:lstStyle/>
                    <a:p>
                      <a:r>
                        <a:rPr sz="1200" b="0">
                          <a:solidFill>
                            <a:srgbClr val="1B2430"/>
                          </a:solidFill>
                          <a:latin typeface="Calibri"/>
                        </a:rPr>
                        <a:t>Demografik paritet (demographic parity)</a:t>
                      </a:r>
                    </a:p>
                  </a:txBody>
                  <a:tcPr>
                    <a:solidFill>
                      <a:srgbClr val="F1F4F8"/>
                    </a:solidFill>
                  </a:tcPr>
                </a:tc>
                <a:tc>
                  <a:txBody>
                    <a:bodyPr/>
                    <a:lstStyle/>
                    <a:p>
                      <a:r>
                        <a:rPr sz="1200" b="0">
                          <a:solidFill>
                            <a:srgbClr val="1B2430"/>
                          </a:solidFill>
                          <a:latin typeface="Calibri"/>
                        </a:rPr>
                        <a:t>P(Ŷ=1 ∣ A=a) barcha a uchun teng</a:t>
                      </a:r>
                    </a:p>
                  </a:txBody>
                  <a:tcPr>
                    <a:solidFill>
                      <a:srgbClr val="F1F4F8"/>
                    </a:solidFill>
                  </a:tcPr>
                </a:tc>
                <a:tc>
                  <a:txBody>
                    <a:bodyPr/>
                    <a:lstStyle/>
                    <a:p>
                      <a:r>
                        <a:rPr sz="1200" b="0">
                          <a:solidFill>
                            <a:srgbClr val="1B2430"/>
                          </a:solidFill>
                          <a:latin typeface="Calibri"/>
                        </a:rPr>
                        <a:t>ijobiy qaror ulushi guruhlarda teng</a:t>
                      </a:r>
                    </a:p>
                  </a:txBody>
                  <a:tcPr>
                    <a:solidFill>
                      <a:srgbClr val="F1F4F8"/>
                    </a:solidFill>
                  </a:tcPr>
                </a:tc>
                <a:tc>
                  <a:txBody>
                    <a:bodyPr/>
                    <a:lstStyle/>
                    <a:p>
                      <a:r>
                        <a:rPr sz="1200" b="0">
                          <a:solidFill>
                            <a:srgbClr val="1B2430"/>
                          </a:solidFill>
                          <a:latin typeface="Calibri"/>
                        </a:rPr>
                        <a:t>tarixiy ma'lumotning o'zi noxolis deb hisoblansa (masalan, ishga qabul)</a:t>
                      </a:r>
                    </a:p>
                  </a:txBody>
                  <a:tcPr>
                    <a:solidFill>
                      <a:srgbClr val="F1F4F8"/>
                    </a:solidFill>
                  </a:tcPr>
                </a:tc>
              </a:tr>
              <a:tr h="520000">
                <a:tc>
                  <a:txBody>
                    <a:bodyPr/>
                    <a:lstStyle/>
                    <a:p>
                      <a:r>
                        <a:rPr sz="1200" b="0">
                          <a:solidFill>
                            <a:srgbClr val="1B2430"/>
                          </a:solidFill>
                          <a:latin typeface="Calibri"/>
                        </a:rPr>
                        <a:t>Tenglashtirilgan imkoniyatlar (equalized odds, Hardt va boshq., 2016)</a:t>
                      </a:r>
                    </a:p>
                  </a:txBody>
                  <a:tcPr>
                    <a:solidFill>
                      <a:srgbClr val="FFFFFF"/>
                    </a:solidFill>
                  </a:tcPr>
                </a:tc>
                <a:tc>
                  <a:txBody>
                    <a:bodyPr/>
                    <a:lstStyle/>
                    <a:p>
                      <a:r>
                        <a:rPr sz="1200" b="0">
                          <a:solidFill>
                            <a:srgbClr val="1B2430"/>
                          </a:solidFill>
                          <a:latin typeface="Calibri"/>
                        </a:rPr>
                        <a:t>P(Ŷ=1 ∣ Y=y, A=a) har y uchun teng</a:t>
                      </a:r>
                    </a:p>
                  </a:txBody>
                  <a:tcPr>
                    <a:solidFill>
                      <a:srgbClr val="FFFFFF"/>
                    </a:solidFill>
                  </a:tcPr>
                </a:tc>
                <a:tc>
                  <a:txBody>
                    <a:bodyPr/>
                    <a:lstStyle/>
                    <a:p>
                      <a:r>
                        <a:rPr sz="1200" b="0">
                          <a:solidFill>
                            <a:srgbClr val="1B2430"/>
                          </a:solidFill>
                          <a:latin typeface="Calibri"/>
                        </a:rPr>
                        <a:t>haqiqiy ijobiy va yolg'on ijobiy darajalari teng</a:t>
                      </a:r>
                    </a:p>
                  </a:txBody>
                  <a:tcPr>
                    <a:solidFill>
                      <a:srgbClr val="FFFFFF"/>
                    </a:solidFill>
                  </a:tcPr>
                </a:tc>
                <a:tc>
                  <a:txBody>
                    <a:bodyPr/>
                    <a:lstStyle/>
                    <a:p>
                      <a:r>
                        <a:rPr sz="1200" b="0">
                          <a:solidFill>
                            <a:srgbClr val="1B2430"/>
                          </a:solidFill>
                          <a:latin typeface="Calibri"/>
                        </a:rPr>
                        <a:t>yorliqlar ishonchli bo'lsa (tibbiy tashxis)</a:t>
                      </a:r>
                    </a:p>
                  </a:txBody>
                  <a:tcPr>
                    <a:solidFill>
                      <a:srgbClr val="FFFFFF"/>
                    </a:solidFill>
                  </a:tcPr>
                </a:tc>
              </a:tr>
              <a:tr h="520000">
                <a:tc>
                  <a:txBody>
                    <a:bodyPr/>
                    <a:lstStyle/>
                    <a:p>
                      <a:r>
                        <a:rPr sz="1200" b="0">
                          <a:solidFill>
                            <a:srgbClr val="1B2430"/>
                          </a:solidFill>
                          <a:latin typeface="Calibri"/>
                        </a:rPr>
                        <a:t>Teng imkoniyat (equal opportunity)</a:t>
                      </a:r>
                    </a:p>
                  </a:txBody>
                  <a:tcPr>
                    <a:solidFill>
                      <a:srgbClr val="F1F4F8"/>
                    </a:solidFill>
                  </a:tcPr>
                </a:tc>
                <a:tc>
                  <a:txBody>
                    <a:bodyPr/>
                    <a:lstStyle/>
                    <a:p>
                      <a:r>
                        <a:rPr sz="1200" b="0">
                          <a:solidFill>
                            <a:srgbClr val="1B2430"/>
                          </a:solidFill>
                          <a:latin typeface="Calibri"/>
                        </a:rPr>
                        <a:t>faqat Y=1 uchun P(Ŷ=1 ∣ Y=1, A=a) teng</a:t>
                      </a:r>
                    </a:p>
                  </a:txBody>
                  <a:tcPr>
                    <a:solidFill>
                      <a:srgbClr val="F1F4F8"/>
                    </a:solidFill>
                  </a:tcPr>
                </a:tc>
                <a:tc>
                  <a:txBody>
                    <a:bodyPr/>
                    <a:lstStyle/>
                    <a:p>
                      <a:r>
                        <a:rPr sz="1200" b="0">
                          <a:solidFill>
                            <a:srgbClr val="1B2430"/>
                          </a:solidFill>
                          <a:latin typeface="Calibri"/>
                        </a:rPr>
                        <a:t>loyiq bo'lganlarga teng imkoniyat</a:t>
                      </a:r>
                    </a:p>
                  </a:txBody>
                  <a:tcPr>
                    <a:solidFill>
                      <a:srgbClr val="F1F4F8"/>
                    </a:solidFill>
                  </a:tcPr>
                </a:tc>
                <a:tc>
                  <a:txBody>
                    <a:bodyPr/>
                    <a:lstStyle/>
                    <a:p>
                      <a:r>
                        <a:rPr sz="1200" b="0">
                          <a:solidFill>
                            <a:srgbClr val="1B2430"/>
                          </a:solidFill>
                          <a:latin typeface="Calibri"/>
                        </a:rPr>
                        <a:t>ijobiy qaror resurs taqsimoti bo'lsa (kredit, stipendiya)</a:t>
                      </a:r>
                    </a:p>
                  </a:txBody>
                  <a:tcPr>
                    <a:solidFill>
                      <a:srgbClr val="F1F4F8"/>
                    </a:solidFill>
                  </a:tcPr>
                </a:tc>
              </a:tr>
              <a:tr h="520000">
                <a:tc>
                  <a:txBody>
                    <a:bodyPr/>
                    <a:lstStyle/>
                    <a:p>
                      <a:r>
                        <a:rPr sz="1200" b="0">
                          <a:solidFill>
                            <a:srgbClr val="1B2430"/>
                          </a:solidFill>
                          <a:latin typeface="Calibri"/>
                        </a:rPr>
                        <a:t>Bashorat pariteti / kalibrlash</a:t>
                      </a:r>
                    </a:p>
                  </a:txBody>
                  <a:tcPr>
                    <a:solidFill>
                      <a:srgbClr val="FFFFFF"/>
                    </a:solidFill>
                  </a:tcPr>
                </a:tc>
                <a:tc>
                  <a:txBody>
                    <a:bodyPr/>
                    <a:lstStyle/>
                    <a:p>
                      <a:r>
                        <a:rPr sz="1200" b="0">
                          <a:solidFill>
                            <a:srgbClr val="1B2430"/>
                          </a:solidFill>
                          <a:latin typeface="Calibri"/>
                        </a:rPr>
                        <a:t>P(Y=1 ∣ Ŷ=1, A=a) teng</a:t>
                      </a:r>
                    </a:p>
                  </a:txBody>
                  <a:tcPr>
                    <a:solidFill>
                      <a:srgbClr val="FFFFFF"/>
                    </a:solidFill>
                  </a:tcPr>
                </a:tc>
                <a:tc>
                  <a:txBody>
                    <a:bodyPr/>
                    <a:lstStyle/>
                    <a:p>
                      <a:r>
                        <a:rPr sz="1200" b="0">
                          <a:solidFill>
                            <a:srgbClr val="1B2430"/>
                          </a:solidFill>
                          <a:latin typeface="Calibri"/>
                        </a:rPr>
                        <a:t>bir xil ball bir xil xavf degani</a:t>
                      </a:r>
                    </a:p>
                  </a:txBody>
                  <a:tcPr>
                    <a:solidFill>
                      <a:srgbClr val="FFFFFF"/>
                    </a:solidFill>
                  </a:tcPr>
                </a:tc>
                <a:tc>
                  <a:txBody>
                    <a:bodyPr/>
                    <a:lstStyle/>
                    <a:p>
                      <a:r>
                        <a:rPr sz="1200" b="0">
                          <a:solidFill>
                            <a:srgbClr val="1B2430"/>
                          </a:solidFill>
                          <a:latin typeface="Calibri"/>
                        </a:rPr>
                        <a:t>qaror qabul qiluvchi ballni to'g'ridan-to'g'ri ishlatsa</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Shaffoflik va tushuntiriladigan sun'iy intellekt (XAI)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Shaffoflik (transparency) va tushuntirilish (explainability) bir narsa emas. Shaffoflik — tizim haqida axborotning mavjudligi: u qanday ma'lumotda o'qitilgan, qaysi maqsadda, qanday cheklovlar bilan, foydalanuvchi SI bilan muloqot qilayotganini biladimi.</a:t>
            </a:r>
          </a:p>
          <a:p>
            <a:pPr>
              <a:spcAft>
                <a:spcPts val="900"/>
              </a:spcAft>
            </a:pPr>
            <a:r>
              <a:rPr sz="1600" b="1">
                <a:solidFill>
                  <a:srgbClr val="0F8B8D"/>
                </a:solidFill>
              </a:rPr>
              <a:t>▪  </a:t>
            </a:r>
            <a:r>
              <a:rPr sz="1600">
                <a:solidFill>
                  <a:srgbClr val="1B2430"/>
                </a:solidFill>
                <a:latin typeface="Calibri"/>
              </a:rPr>
              <a:t>XAI usullari bir nechta o'q bo'yicha tasniflanadi: lokal (bitta bashorat uchun) va global (butun model uchun); model-agnostik va modelga xos; ichki (intrinsic, model o'zi talqin qilinuvchan) va post-hoc. Eng ko'p qo'llaniladigan ikkita post-hoc model-agnostik…</a:t>
            </a:r>
          </a:p>
          <a:p>
            <a:pPr>
              <a:spcAft>
                <a:spcPts val="900"/>
              </a:spcAft>
            </a:pPr>
            <a:r>
              <a:rPr sz="1600" b="1">
                <a:solidFill>
                  <a:srgbClr val="0F8B8D"/>
                </a:solidFill>
              </a:rPr>
              <a:t>▪  </a:t>
            </a:r>
            <a:r>
              <a:rPr sz="1600">
                <a:solidFill>
                  <a:srgbClr val="1B2430"/>
                </a:solidFill>
                <a:latin typeface="Calibri"/>
              </a:rPr>
              <a:t>XAI ning cheklovlari jiddiy. Tushuntirish — bu modelning soddalashtirilgan tasviri, va u o'zi noto'g'ri bo'lishi mumkin; turli usullar bir xil bashorat uchun turlicha tushuntirish berishi mumkin; korrelyatsiyalangan belgilar SHAP qiymatlarini «bo'lishib»…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Ishonchlilik, mustahkamlik va hisobdorlik</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Ishonchli SI (trustworthy AI) tushunchasi adolatlilik va shaffoflikdan tashqari texnik mustahkamlik (robustness) — kirishning kichik o'zgarishiga chidamlilik, tarqatish siljishida barqarorlik, adversarial hujumlarga qarshilik (M9 da ko'rilgan), maxfiylik…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Quyida biz daromadni bashorat qiluvchi model misolida to'liq adolatlilik auditini o'tkazamiz. Ma'lumot to'plami — UCI «Adult» (1994-yilgi AQSh aholini ro'yxatga olish ma'lumotlari, 48 842 yozuv; maqsad — yillik daromad 50 ming dollardan oshadimi), u Fairlearn…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Ma'lumotni yuklash va himoyalangan belgilarni ajratish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34 ming o'qitish va 14,6 ming test yozuvi oldik. Ijobiy sinf ulushi taxminan 24 %, test to'plamida erkaklar taxminan 67 %.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Ma'lumotni yuklash va himoyalangan belgilarni ajratish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E2E8F0"/>
                </a:solidFill>
                <a:latin typeface="Consolas"/>
              </a:rPr>
              <a:t>import numpy as np, pandas as pd</a:t>
            </a:r>
          </a:p>
          <a:p>
            <a:r>
              <a:rPr sz="1200">
                <a:solidFill>
                  <a:srgbClr val="E2E8F0"/>
                </a:solidFill>
                <a:latin typeface="Consolas"/>
              </a:rPr>
              <a:t>from fairlearn.datasets import fetch_adult</a:t>
            </a:r>
          </a:p>
          <a:p>
            <a:r>
              <a:rPr sz="1200">
                <a:solidFill>
                  <a:srgbClr val="E2E8F0"/>
                </a:solidFill>
                <a:latin typeface="Consolas"/>
              </a:rPr>
              <a:t>from sklearn.model_selection import train_test_split</a:t>
            </a:r>
          </a:p>
          <a:p>
            <a:r>
              <a:rPr sz="1200">
                <a:solidFill>
                  <a:srgbClr val="E2E8F0"/>
                </a:solidFill>
                <a:latin typeface="Consolas"/>
              </a:rPr>
              <a:t> </a:t>
            </a:r>
          </a:p>
          <a:p>
            <a:r>
              <a:rPr sz="1200">
                <a:solidFill>
                  <a:srgbClr val="E2E8F0"/>
                </a:solidFill>
                <a:latin typeface="Consolas"/>
              </a:rPr>
              <a:t>data = fetch_adult(as_frame=True)</a:t>
            </a:r>
          </a:p>
          <a:p>
            <a:r>
              <a:rPr sz="1200">
                <a:solidFill>
                  <a:srgbClr val="E2E8F0"/>
                </a:solidFill>
                <a:latin typeface="Consolas"/>
              </a:rPr>
              <a:t>X_raw, y = data.data, (data.target == "&gt;50K").astype(int)</a:t>
            </a:r>
          </a:p>
          <a:p>
            <a:r>
              <a:rPr sz="1200">
                <a:solidFill>
                  <a:srgbClr val="E2E8F0"/>
                </a:solidFill>
                <a:latin typeface="Consolas"/>
              </a:rPr>
              <a:t>sex = X_raw["sex"].astype(str)                 # himoyalangan belgi</a:t>
            </a:r>
          </a:p>
          <a:p>
            <a:r>
              <a:rPr sz="1200">
                <a:solidFill>
                  <a:srgbClr val="E2E8F0"/>
                </a:solidFill>
                <a:latin typeface="Consolas"/>
              </a:rPr>
              <a:t>race = X_raw["race"].astype(str)</a:t>
            </a:r>
          </a:p>
          <a:p>
            <a:r>
              <a:rPr sz="1200">
                <a:solidFill>
                  <a:srgbClr val="E2E8F0"/>
                </a:solidFill>
                <a:latin typeface="Consolas"/>
              </a:rPr>
              <a:t> </a:t>
            </a:r>
          </a:p>
          <a:p>
            <a:r>
              <a:rPr sz="1200">
                <a:solidFill>
                  <a:srgbClr val="7FD6D7"/>
                </a:solidFill>
                <a:latin typeface="Consolas"/>
              </a:rPr>
              <a:t># himoyalangan belgini modeldan chiqaramiz (lekin audit uchun saqlaymiz)</a:t>
            </a:r>
          </a:p>
          <a:p>
            <a:r>
              <a:rPr sz="1200">
                <a:solidFill>
                  <a:srgbClr val="E2E8F0"/>
                </a:solidFill>
                <a:latin typeface="Consolas"/>
              </a:rPr>
              <a:t>X = X_raw.drop(columns=["sex", "race", "fnlwgt"])</a:t>
            </a:r>
          </a:p>
          <a:p>
            <a:r>
              <a:rPr sz="1200">
                <a:solidFill>
                  <a:srgbClr val="E2E8F0"/>
                </a:solidFill>
                <a:latin typeface="Consolas"/>
              </a:rPr>
              <a:t>X_tr, X_te, y_tr, y_te, s_tr, s_te = train_test_split(</a:t>
            </a:r>
          </a:p>
          <a:p>
            <a:r>
              <a:rPr sz="1200">
                <a:solidFill>
                  <a:srgbClr val="E2E8F0"/>
                </a:solidFill>
                <a:latin typeface="Consolas"/>
              </a:rPr>
              <a:t>    X, y, sex, test_size=0.3, stratify=y, random_state=0)</a:t>
            </a:r>
          </a:p>
          <a:p>
            <a:r>
              <a:rPr sz="1200">
                <a:solidFill>
                  <a:srgbClr val="E2E8F0"/>
                </a:solidFill>
                <a:latin typeface="Consolas"/>
              </a:rPr>
              <a:t>print(X_tr.shape, y.mean().round(3), s_te.value_counts(normalize=True).round(2).to_dict())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Bazaviy model va umumiy sifat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gradient boosting modeli taxminan 0,87 aniqlik va 0,92 AUC beradi (taxminiy; bo'linishga qarab ±0,005). Oddiy ML hisobotida ish shu yerda tugaydi — «model yaxshi».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Bazaviy model va umumiy sifat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from sklearn.compose import ColumnTransformer</a:t>
            </a:r>
          </a:p>
          <a:p>
            <a:r>
              <a:rPr sz="1000">
                <a:solidFill>
                  <a:srgbClr val="E2E8F0"/>
                </a:solidFill>
                <a:latin typeface="Consolas"/>
              </a:rPr>
              <a:t>from sklearn.preprocessing import OneHotEncoder</a:t>
            </a:r>
          </a:p>
          <a:p>
            <a:r>
              <a:rPr sz="1000">
                <a:solidFill>
                  <a:srgbClr val="E2E8F0"/>
                </a:solidFill>
                <a:latin typeface="Consolas"/>
              </a:rPr>
              <a:t>from sklearn.pipeline import Pipeline</a:t>
            </a:r>
          </a:p>
          <a:p>
            <a:r>
              <a:rPr sz="1000">
                <a:solidFill>
                  <a:srgbClr val="E2E8F0"/>
                </a:solidFill>
                <a:latin typeface="Consolas"/>
              </a:rPr>
              <a:t>from sklearn.ensemble import HistGradientBoostingClassifier</a:t>
            </a:r>
          </a:p>
          <a:p>
            <a:r>
              <a:rPr sz="1000">
                <a:solidFill>
                  <a:srgbClr val="E2E8F0"/>
                </a:solidFill>
                <a:latin typeface="Consolas"/>
              </a:rPr>
              <a:t>from sklearn.metrics import accuracy_score, roc_auc_score</a:t>
            </a:r>
          </a:p>
          <a:p>
            <a:r>
              <a:rPr sz="1000">
                <a:solidFill>
                  <a:srgbClr val="E2E8F0"/>
                </a:solidFill>
                <a:latin typeface="Consolas"/>
              </a:rPr>
              <a:t> </a:t>
            </a:r>
          </a:p>
          <a:p>
            <a:r>
              <a:rPr sz="1000">
                <a:solidFill>
                  <a:srgbClr val="E2E8F0"/>
                </a:solidFill>
                <a:latin typeface="Consolas"/>
              </a:rPr>
              <a:t>cat = X.select_dtypes(exclude="number").columns.tolist()</a:t>
            </a:r>
          </a:p>
          <a:p>
            <a:r>
              <a:rPr sz="1000">
                <a:solidFill>
                  <a:srgbClr val="E2E8F0"/>
                </a:solidFill>
                <a:latin typeface="Consolas"/>
              </a:rPr>
              <a:t>num = X.select_dtypes(include="number").columns.tolist()</a:t>
            </a:r>
          </a:p>
          <a:p>
            <a:r>
              <a:rPr sz="1000">
                <a:solidFill>
                  <a:srgbClr val="E2E8F0"/>
                </a:solidFill>
                <a:latin typeface="Consolas"/>
              </a:rPr>
              <a:t>pre = ColumnTransformer([("cat", OneHotEncoder(handle_unknown="ignore", sparse_output=False), cat)],</a:t>
            </a:r>
          </a:p>
          <a:p>
            <a:r>
              <a:rPr sz="1000">
                <a:solidFill>
                  <a:srgbClr val="E2E8F0"/>
                </a:solidFill>
                <a:latin typeface="Consolas"/>
              </a:rPr>
              <a:t>                        remainder="passthrough")</a:t>
            </a:r>
          </a:p>
          <a:p>
            <a:r>
              <a:rPr sz="1000">
                <a:solidFill>
                  <a:srgbClr val="E2E8F0"/>
                </a:solidFill>
                <a:latin typeface="Consolas"/>
              </a:rPr>
              <a:t>clf = Pipeline([("pre", pre),</a:t>
            </a:r>
          </a:p>
          <a:p>
            <a:r>
              <a:rPr sz="1000">
                <a:solidFill>
                  <a:srgbClr val="E2E8F0"/>
                </a:solidFill>
                <a:latin typeface="Consolas"/>
              </a:rPr>
              <a:t>                ("gb", HistGradientBoostingClassifier(max_iter=300, learning_rate=0.08, random_state=0))])</a:t>
            </a:r>
          </a:p>
          <a:p>
            <a:r>
              <a:rPr sz="1000">
                <a:solidFill>
                  <a:srgbClr val="E2E8F0"/>
                </a:solidFill>
                <a:latin typeface="Consolas"/>
              </a:rPr>
              <a:t>clf.fit(X_tr, y_tr)</a:t>
            </a:r>
          </a:p>
          <a:p>
            <a:r>
              <a:rPr sz="1000">
                <a:solidFill>
                  <a:srgbClr val="E2E8F0"/>
                </a:solidFill>
                <a:latin typeface="Consolas"/>
              </a:rPr>
              <a:t>proba = clf.predict_proba(X_te)[:, 1]</a:t>
            </a:r>
          </a:p>
          <a:p>
            <a:r>
              <a:rPr sz="1000">
                <a:solidFill>
                  <a:srgbClr val="E2E8F0"/>
                </a:solidFill>
                <a:latin typeface="Consolas"/>
              </a:rPr>
              <a:t>pred = (proba &gt;= 0.5).astype(int)</a:t>
            </a:r>
          </a:p>
          <a:p>
            <a:r>
              <a:rPr sz="1000">
                <a:solidFill>
                  <a:srgbClr val="E2E8F0"/>
                </a:solidFill>
                <a:latin typeface="Consolas"/>
              </a:rPr>
              <a:t>print("Accuracy:", round(accuracy_score(y_te, pred), 3), "AUC:", round(roc_auc_score(y_te, proba),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Fairlearn bilan guruhlar kesimida audit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tipik natija (taxminiy) quyidagicha: erkaklar uchun ijobiy qaror ulushi (selection rate) taxminan 0,26, ayollar uchun 0,07; demografik paritet farqi taxminan 0,19, nisbati 0,27 — «to'rtdan besh» chegarasidan (0,8) uch baravar past.…</a:t>
            </a:r>
          </a:p>
          <a:p>
            <a:pPr>
              <a:spcAft>
                <a:spcPts val="900"/>
              </a:spcAft>
            </a:pPr>
            <a:r>
              <a:rPr sz="2000" b="1">
                <a:solidFill>
                  <a:srgbClr val="0F8B8D"/>
                </a:solidFill>
              </a:rPr>
              <a:t>▪  </a:t>
            </a:r>
            <a:r>
              <a:rPr sz="2000">
                <a:solidFill>
                  <a:srgbClr val="1B2430"/>
                </a:solidFill>
                <a:latin typeface="Calibri"/>
              </a:rPr>
              <a:t>Shuni ham ta'kidlash kerakki, bu ma'lumotda asosiy chastotalar o'zi farq qiladi: 1994-yil AQShda yuqori daromadli ayollar ulushi erkaklarnikidan taxminan uch baravar kam. Demak, model qisman tarixiy tengsizlikni aks ettiradi.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Fairlearn bilan guruhlar kesimida audit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from fairlearn.metrics import (MetricFrame, selection_rate, true_positive_rate,</a:t>
            </a:r>
          </a:p>
          <a:p>
            <a:r>
              <a:rPr sz="1000">
                <a:solidFill>
                  <a:srgbClr val="E2E8F0"/>
                </a:solidFill>
                <a:latin typeface="Consolas"/>
              </a:rPr>
              <a:t>                               false_positive_rate, demographic_parity_difference,</a:t>
            </a:r>
          </a:p>
          <a:p>
            <a:r>
              <a:rPr sz="1000">
                <a:solidFill>
                  <a:srgbClr val="E2E8F0"/>
                </a:solidFill>
                <a:latin typeface="Consolas"/>
              </a:rPr>
              <a:t>                               demographic_parity_ratio, equalized_odds_difference)</a:t>
            </a:r>
          </a:p>
          <a:p>
            <a:r>
              <a:rPr sz="1000">
                <a:solidFill>
                  <a:srgbClr val="E2E8F0"/>
                </a:solidFill>
                <a:latin typeface="Consolas"/>
              </a:rPr>
              <a:t> </a:t>
            </a:r>
          </a:p>
          <a:p>
            <a:r>
              <a:rPr sz="1000">
                <a:solidFill>
                  <a:srgbClr val="E2E8F0"/>
                </a:solidFill>
                <a:latin typeface="Consolas"/>
              </a:rPr>
              <a:t>mf = MetricFrame(metrics={"accuracy": accuracy_score, "selection_rate": selection_rate,</a:t>
            </a:r>
          </a:p>
          <a:p>
            <a:r>
              <a:rPr sz="1000">
                <a:solidFill>
                  <a:srgbClr val="E2E8F0"/>
                </a:solidFill>
                <a:latin typeface="Consolas"/>
              </a:rPr>
              <a:t>                          "TPR": true_positive_rate, "FPR": false_positive_rate},</a:t>
            </a:r>
          </a:p>
          <a:p>
            <a:r>
              <a:rPr sz="1000">
                <a:solidFill>
                  <a:srgbClr val="E2E8F0"/>
                </a:solidFill>
                <a:latin typeface="Consolas"/>
              </a:rPr>
              <a:t>                 y_true=y_te, y_pred=pred, sensitive_features=s_te)</a:t>
            </a:r>
          </a:p>
          <a:p>
            <a:r>
              <a:rPr sz="1000">
                <a:solidFill>
                  <a:srgbClr val="E2E8F0"/>
                </a:solidFill>
                <a:latin typeface="Consolas"/>
              </a:rPr>
              <a:t>print(mf.by_group.round(3))</a:t>
            </a:r>
          </a:p>
          <a:p>
            <a:r>
              <a:rPr sz="1000">
                <a:solidFill>
                  <a:srgbClr val="E2E8F0"/>
                </a:solidFill>
                <a:latin typeface="Consolas"/>
              </a:rPr>
              <a:t>print("DP difference:", round(demographic_parity_difference(y_te, pred, sensitive_features=s_te), 3))</a:t>
            </a:r>
          </a:p>
          <a:p>
            <a:r>
              <a:rPr sz="1000">
                <a:solidFill>
                  <a:srgbClr val="E2E8F0"/>
                </a:solidFill>
                <a:latin typeface="Consolas"/>
              </a:rPr>
              <a:t>print("DP ratio     :", round(demographic_parity_ratio(y_te, pred, sensitive_features=s_te), 3))</a:t>
            </a:r>
          </a:p>
          <a:p>
            <a:r>
              <a:rPr sz="1000">
                <a:solidFill>
                  <a:srgbClr val="E2E8F0"/>
                </a:solidFill>
                <a:latin typeface="Consolas"/>
              </a:rPr>
              <a:t>print("EO difference:", round(equalized_odds_difference(y_te, pred, sensitive_features=s_te),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Noxolislikni yumshatish — post-processing va in-processing</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tipik natijalar (taxminiy) quyidagicha:</a:t>
            </a:r>
          </a:p>
          <a:p>
            <a:pPr>
              <a:spcAft>
                <a:spcPts val="900"/>
              </a:spcAft>
            </a:pPr>
            <a:r>
              <a:rPr sz="2000" b="1">
                <a:solidFill>
                  <a:srgbClr val="0F8B8D"/>
                </a:solidFill>
              </a:rPr>
              <a:t>▪  </a:t>
            </a:r>
            <a:r>
              <a:rPr sz="2000">
                <a:solidFill>
                  <a:srgbClr val="1B2430"/>
                </a:solidFill>
                <a:latin typeface="Calibri"/>
              </a:rPr>
              <a:t>Bu jadval adolatlilik va aniqlik o'rtasidagi klassik murosani ko'rsatadi: teng imkoniyatni ta'minlash 1–3 punkt aniqlikka tushadi. Ammo bu «yo'qotish» ni to'g'ri talqin qilish kerak — aniqlik tarixiy noxolis yorliqlarga nisbatan o'lchanmoqda, demak uning bir…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Noxolislikni yumshatish — post-processing va in-processing</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208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200" b="1">
                          <a:solidFill>
                            <a:srgbClr val="FFFFFF"/>
                          </a:solidFill>
                          <a:latin typeface="Calibri"/>
                        </a:rPr>
                        <a:t>Model</a:t>
                      </a:r>
                    </a:p>
                  </a:txBody>
                  <a:tcPr>
                    <a:solidFill>
                      <a:srgbClr val="2D5C8F"/>
                    </a:solidFill>
                  </a:tcPr>
                </a:tc>
                <a:tc>
                  <a:txBody>
                    <a:bodyPr/>
                    <a:lstStyle/>
                    <a:p>
                      <a:r>
                        <a:rPr sz="1200" b="1">
                          <a:solidFill>
                            <a:srgbClr val="FFFFFF"/>
                          </a:solidFill>
                          <a:latin typeface="Calibri"/>
                        </a:rPr>
                        <a:t>Aniqlik</a:t>
                      </a:r>
                    </a:p>
                  </a:txBody>
                  <a:tcPr>
                    <a:solidFill>
                      <a:srgbClr val="2D5C8F"/>
                    </a:solidFill>
                  </a:tcPr>
                </a:tc>
                <a:tc>
                  <a:txBody>
                    <a:bodyPr/>
                    <a:lstStyle/>
                    <a:p>
                      <a:r>
                        <a:rPr sz="1200" b="1">
                          <a:solidFill>
                            <a:srgbClr val="FFFFFF"/>
                          </a:solidFill>
                          <a:latin typeface="Calibri"/>
                        </a:rPr>
                        <a:t>DP farqi</a:t>
                      </a:r>
                    </a:p>
                  </a:txBody>
                  <a:tcPr>
                    <a:solidFill>
                      <a:srgbClr val="2D5C8F"/>
                    </a:solidFill>
                  </a:tcPr>
                </a:tc>
                <a:tc>
                  <a:txBody>
                    <a:bodyPr/>
                    <a:lstStyle/>
                    <a:p>
                      <a:r>
                        <a:rPr sz="1200" b="1">
                          <a:solidFill>
                            <a:srgbClr val="FFFFFF"/>
                          </a:solidFill>
                          <a:latin typeface="Calibri"/>
                        </a:rPr>
                        <a:t>EO farqi</a:t>
                      </a:r>
                    </a:p>
                  </a:txBody>
                  <a:tcPr>
                    <a:solidFill>
                      <a:srgbClr val="2D5C8F"/>
                    </a:solidFill>
                  </a:tcPr>
                </a:tc>
                <a:tc>
                  <a:txBody>
                    <a:bodyPr/>
                    <a:lstStyle/>
                    <a:p>
                      <a:r>
                        <a:rPr sz="1200" b="1">
                          <a:solidFill>
                            <a:srgbClr val="FFFFFF"/>
                          </a:solidFill>
                          <a:latin typeface="Calibri"/>
                        </a:rPr>
                        <a:t>Izoh</a:t>
                      </a:r>
                    </a:p>
                  </a:txBody>
                  <a:tcPr>
                    <a:solidFill>
                      <a:srgbClr val="2D5C8F"/>
                    </a:solidFill>
                  </a:tcPr>
                </a:tc>
              </a:tr>
              <a:tr h="520000">
                <a:tc>
                  <a:txBody>
                    <a:bodyPr/>
                    <a:lstStyle/>
                    <a:p>
                      <a:r>
                        <a:rPr sz="1200" b="0">
                          <a:solidFill>
                            <a:srgbClr val="1B2430"/>
                          </a:solidFill>
                          <a:latin typeface="Calibri"/>
                        </a:rPr>
                        <a:t>Bazaviy GB</a:t>
                      </a:r>
                    </a:p>
                  </a:txBody>
                  <a:tcPr>
                    <a:solidFill>
                      <a:srgbClr val="F1F4F8"/>
                    </a:solidFill>
                  </a:tcPr>
                </a:tc>
                <a:tc>
                  <a:txBody>
                    <a:bodyPr/>
                    <a:lstStyle/>
                    <a:p>
                      <a:r>
                        <a:rPr sz="1200" b="0">
                          <a:solidFill>
                            <a:srgbClr val="1B2430"/>
                          </a:solidFill>
                          <a:latin typeface="Calibri"/>
                        </a:rPr>
                        <a:t>0,870</a:t>
                      </a:r>
                    </a:p>
                  </a:txBody>
                  <a:tcPr>
                    <a:solidFill>
                      <a:srgbClr val="F1F4F8"/>
                    </a:solidFill>
                  </a:tcPr>
                </a:tc>
                <a:tc>
                  <a:txBody>
                    <a:bodyPr/>
                    <a:lstStyle/>
                    <a:p>
                      <a:r>
                        <a:rPr sz="1200" b="0">
                          <a:solidFill>
                            <a:srgbClr val="1B2430"/>
                          </a:solidFill>
                          <a:latin typeface="Calibri"/>
                        </a:rPr>
                        <a:t>0,19</a:t>
                      </a:r>
                    </a:p>
                  </a:txBody>
                  <a:tcPr>
                    <a:solidFill>
                      <a:srgbClr val="F1F4F8"/>
                    </a:solidFill>
                  </a:tcPr>
                </a:tc>
                <a:tc>
                  <a:txBody>
                    <a:bodyPr/>
                    <a:lstStyle/>
                    <a:p>
                      <a:r>
                        <a:rPr sz="1200" b="0">
                          <a:solidFill>
                            <a:srgbClr val="1B2430"/>
                          </a:solidFill>
                          <a:latin typeface="Calibri"/>
                        </a:rPr>
                        <a:t>0,15</a:t>
                      </a:r>
                    </a:p>
                  </a:txBody>
                  <a:tcPr>
                    <a:solidFill>
                      <a:srgbClr val="F1F4F8"/>
                    </a:solidFill>
                  </a:tcPr>
                </a:tc>
                <a:tc>
                  <a:txBody>
                    <a:bodyPr/>
                    <a:lstStyle/>
                    <a:p>
                      <a:r>
                        <a:rPr sz="1200" b="0">
                          <a:solidFill>
                            <a:srgbClr val="1B2430"/>
                          </a:solidFill>
                          <a:latin typeface="Calibri"/>
                        </a:rPr>
                        <a:t>yuqori sifat, sezilarli nomutanosiblik</a:t>
                      </a:r>
                    </a:p>
                  </a:txBody>
                  <a:tcPr>
                    <a:solidFill>
                      <a:srgbClr val="F1F4F8"/>
                    </a:solidFill>
                  </a:tcPr>
                </a:tc>
              </a:tr>
              <a:tr h="520000">
                <a:tc>
                  <a:txBody>
                    <a:bodyPr/>
                    <a:lstStyle/>
                    <a:p>
                      <a:r>
                        <a:rPr sz="1200" b="0">
                          <a:solidFill>
                            <a:srgbClr val="1B2430"/>
                          </a:solidFill>
                          <a:latin typeface="Calibri"/>
                        </a:rPr>
                        <a:t>ThresholdOptimizer (TPR pariteti)</a:t>
                      </a:r>
                    </a:p>
                  </a:txBody>
                  <a:tcPr>
                    <a:solidFill>
                      <a:srgbClr val="FFFFFF"/>
                    </a:solidFill>
                  </a:tcPr>
                </a:tc>
                <a:tc>
                  <a:txBody>
                    <a:bodyPr/>
                    <a:lstStyle/>
                    <a:p>
                      <a:r>
                        <a:rPr sz="1200" b="0">
                          <a:solidFill>
                            <a:srgbClr val="1B2430"/>
                          </a:solidFill>
                          <a:latin typeface="Calibri"/>
                        </a:rPr>
                        <a:t>0,855–0,860</a:t>
                      </a:r>
                    </a:p>
                  </a:txBody>
                  <a:tcPr>
                    <a:solidFill>
                      <a:srgbClr val="FFFFFF"/>
                    </a:solidFill>
                  </a:tcPr>
                </a:tc>
                <a:tc>
                  <a:txBody>
                    <a:bodyPr/>
                    <a:lstStyle/>
                    <a:p>
                      <a:r>
                        <a:rPr sz="1200" b="0">
                          <a:solidFill>
                            <a:srgbClr val="1B2430"/>
                          </a:solidFill>
                          <a:latin typeface="Calibri"/>
                        </a:rPr>
                        <a:t>0,12–0,14</a:t>
                      </a:r>
                    </a:p>
                  </a:txBody>
                  <a:tcPr>
                    <a:solidFill>
                      <a:srgbClr val="FFFFFF"/>
                    </a:solidFill>
                  </a:tcPr>
                </a:tc>
                <a:tc>
                  <a:txBody>
                    <a:bodyPr/>
                    <a:lstStyle/>
                    <a:p>
                      <a:r>
                        <a:rPr sz="1200" b="0">
                          <a:solidFill>
                            <a:srgbClr val="1B2430"/>
                          </a:solidFill>
                          <a:latin typeface="Calibri"/>
                        </a:rPr>
                        <a:t>0,03–0,05</a:t>
                      </a:r>
                    </a:p>
                  </a:txBody>
                  <a:tcPr>
                    <a:solidFill>
                      <a:srgbClr val="FFFFFF"/>
                    </a:solidFill>
                  </a:tcPr>
                </a:tc>
                <a:tc>
                  <a:txBody>
                    <a:bodyPr/>
                    <a:lstStyle/>
                    <a:p>
                      <a:r>
                        <a:rPr sz="1200" b="0">
                          <a:solidFill>
                            <a:srgbClr val="1B2430"/>
                          </a:solidFill>
                          <a:latin typeface="Calibri"/>
                        </a:rPr>
                        <a:t>TPR tenglashdi, DP qisman qoldi</a:t>
                      </a:r>
                    </a:p>
                  </a:txBody>
                  <a:tcPr>
                    <a:solidFill>
                      <a:srgbClr val="FFFFFF"/>
                    </a:solidFill>
                  </a:tcPr>
                </a:tc>
              </a:tr>
              <a:tr h="520000">
                <a:tc>
                  <a:txBody>
                    <a:bodyPr/>
                    <a:lstStyle/>
                    <a:p>
                      <a:r>
                        <a:rPr sz="1200" b="0">
                          <a:solidFill>
                            <a:srgbClr val="1B2430"/>
                          </a:solidFill>
                          <a:latin typeface="Calibri"/>
                        </a:rPr>
                        <a:t>ExponentiatedGradient (EO ≤ 0,02)</a:t>
                      </a:r>
                    </a:p>
                  </a:txBody>
                  <a:tcPr>
                    <a:solidFill>
                      <a:srgbClr val="F1F4F8"/>
                    </a:solidFill>
                  </a:tcPr>
                </a:tc>
                <a:tc>
                  <a:txBody>
                    <a:bodyPr/>
                    <a:lstStyle/>
                    <a:p>
                      <a:r>
                        <a:rPr sz="1200" b="0">
                          <a:solidFill>
                            <a:srgbClr val="1B2430"/>
                          </a:solidFill>
                          <a:latin typeface="Calibri"/>
                        </a:rPr>
                        <a:t>0,835–0,845</a:t>
                      </a:r>
                    </a:p>
                  </a:txBody>
                  <a:tcPr>
                    <a:solidFill>
                      <a:srgbClr val="F1F4F8"/>
                    </a:solidFill>
                  </a:tcPr>
                </a:tc>
                <a:tc>
                  <a:txBody>
                    <a:bodyPr/>
                    <a:lstStyle/>
                    <a:p>
                      <a:r>
                        <a:rPr sz="1200" b="0">
                          <a:solidFill>
                            <a:srgbClr val="1B2430"/>
                          </a:solidFill>
                          <a:latin typeface="Calibri"/>
                        </a:rPr>
                        <a:t>0,08–0,10</a:t>
                      </a:r>
                    </a:p>
                  </a:txBody>
                  <a:tcPr>
                    <a:solidFill>
                      <a:srgbClr val="F1F4F8"/>
                    </a:solidFill>
                  </a:tcPr>
                </a:tc>
                <a:tc>
                  <a:txBody>
                    <a:bodyPr/>
                    <a:lstStyle/>
                    <a:p>
                      <a:r>
                        <a:rPr sz="1200" b="0">
                          <a:solidFill>
                            <a:srgbClr val="1B2430"/>
                          </a:solidFill>
                          <a:latin typeface="Calibri"/>
                        </a:rPr>
                        <a:t>0,02–0,04</a:t>
                      </a:r>
                    </a:p>
                  </a:txBody>
                  <a:tcPr>
                    <a:solidFill>
                      <a:srgbClr val="F1F4F8"/>
                    </a:solidFill>
                  </a:tcPr>
                </a:tc>
                <a:tc>
                  <a:txBody>
                    <a:bodyPr/>
                    <a:lstStyle/>
                    <a:p>
                      <a:r>
                        <a:rPr sz="1200" b="0">
                          <a:solidFill>
                            <a:srgbClr val="1B2430"/>
                          </a:solidFill>
                          <a:latin typeface="Calibri"/>
                        </a:rPr>
                        <a:t>eng adolatli, aniqlik 2,5–3,5 punkt past</a:t>
                      </a:r>
                    </a:p>
                  </a:txBody>
                  <a:tcPr>
                    <a:solidFill>
                      <a:srgbClr val="F1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100" b="1">
                <a:solidFill>
                  <a:srgbClr val="FFFFFF"/>
                </a:solidFill>
                <a:latin typeface="Calibri"/>
              </a:rPr>
              <a:t>4-qadam. Noxolislikni yumshatish — post-processing va in-processing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from fairlearn.postprocessing import ThresholdOptimizer</a:t>
            </a:r>
          </a:p>
          <a:p>
            <a:r>
              <a:rPr sz="1000">
                <a:solidFill>
                  <a:srgbClr val="E2E8F0"/>
                </a:solidFill>
                <a:latin typeface="Consolas"/>
              </a:rPr>
              <a:t>from fairlearn.reductions import ExponentiatedGradient, EqualizedOdds</a:t>
            </a:r>
          </a:p>
          <a:p>
            <a:r>
              <a:rPr sz="1000">
                <a:solidFill>
                  <a:srgbClr val="E2E8F0"/>
                </a:solidFill>
                <a:latin typeface="Consolas"/>
              </a:rPr>
              <a:t> </a:t>
            </a:r>
          </a:p>
          <a:p>
            <a:r>
              <a:rPr sz="1000">
                <a:solidFill>
                  <a:srgbClr val="7FD6D7"/>
                </a:solidFill>
                <a:latin typeface="Consolas"/>
              </a:rPr>
              <a:t># (a) post-processing: guruhlar uchun turli chegaralar, teng imkoniyat sharti bilan</a:t>
            </a:r>
          </a:p>
          <a:p>
            <a:r>
              <a:rPr sz="1000">
                <a:solidFill>
                  <a:srgbClr val="E2E8F0"/>
                </a:solidFill>
                <a:latin typeface="Consolas"/>
              </a:rPr>
              <a:t>to = ThresholdOptimizer(estimator=clf, constraints="true_positive_rate_parity",</a:t>
            </a:r>
          </a:p>
          <a:p>
            <a:r>
              <a:rPr sz="1000">
                <a:solidFill>
                  <a:srgbClr val="E2E8F0"/>
                </a:solidFill>
                <a:latin typeface="Consolas"/>
              </a:rPr>
              <a:t>                        objective="balanced_accuracy_score", prefit=True, predict_method="predict_proba")</a:t>
            </a:r>
          </a:p>
          <a:p>
            <a:r>
              <a:rPr sz="1000">
                <a:solidFill>
                  <a:srgbClr val="E2E8F0"/>
                </a:solidFill>
                <a:latin typeface="Consolas"/>
              </a:rPr>
              <a:t>to.fit(X_tr, y_tr, sensitive_features=s_tr)</a:t>
            </a:r>
          </a:p>
          <a:p>
            <a:r>
              <a:rPr sz="1000">
                <a:solidFill>
                  <a:srgbClr val="E2E8F0"/>
                </a:solidFill>
                <a:latin typeface="Consolas"/>
              </a:rPr>
              <a:t>pred_to = to.predict(X_te, sensitive_features=s_te, random_state=0)</a:t>
            </a:r>
          </a:p>
          <a:p>
            <a:r>
              <a:rPr sz="1000">
                <a:solidFill>
                  <a:srgbClr val="E2E8F0"/>
                </a:solidFill>
                <a:latin typeface="Consolas"/>
              </a:rPr>
              <a:t> </a:t>
            </a:r>
          </a:p>
          <a:p>
            <a:r>
              <a:rPr sz="1000">
                <a:solidFill>
                  <a:srgbClr val="7FD6D7"/>
                </a:solidFill>
                <a:latin typeface="Consolas"/>
              </a:rPr>
              <a:t># (b) in-processing: reduksiya usuli, equalized odds cheklovi (logistik regressiya asosida — tezroq)</a:t>
            </a:r>
          </a:p>
          <a:p>
            <a:r>
              <a:rPr sz="1000">
                <a:solidFill>
                  <a:srgbClr val="E2E8F0"/>
                </a:solidFill>
                <a:latin typeface="Consolas"/>
              </a:rPr>
              <a:t>from sklearn.linear_model import LogisticRegression</a:t>
            </a:r>
          </a:p>
          <a:p>
            <a:r>
              <a:rPr sz="1000">
                <a:solidFill>
                  <a:srgbClr val="E2E8F0"/>
                </a:solidFill>
                <a:latin typeface="Consolas"/>
              </a:rPr>
              <a:t>from sklearn.preprocessing import StandardScaler</a:t>
            </a:r>
          </a:p>
          <a:p>
            <a:r>
              <a:rPr sz="1000">
                <a:solidFill>
                  <a:srgbClr val="E2E8F0"/>
                </a:solidFill>
                <a:latin typeface="Consolas"/>
              </a:rPr>
              <a:t>pre_lr = ColumnTransformer([("cat", OneHotEncoder(handle_unknown="ignore", sparse_output=False), cat),</a:t>
            </a:r>
          </a:p>
          <a:p>
            <a:r>
              <a:rPr sz="1000">
                <a:solidFill>
                  <a:srgbClr val="E2E8F0"/>
                </a:solidFill>
                <a:latin typeface="Consolas"/>
              </a:rPr>
              <a:t>                            ("num", StandardScaler(), num)])</a:t>
            </a:r>
          </a:p>
          <a:p>
            <a:r>
              <a:rPr sz="1000">
                <a:solidFill>
                  <a:srgbClr val="E2E8F0"/>
                </a:solidFill>
                <a:latin typeface="Consolas"/>
              </a:rPr>
              <a:t>Xtr_m, Xte_m = pre_lr.fit_transform(X_tr), pre_lr.transform(X_te)</a:t>
            </a:r>
          </a:p>
          <a:p>
            <a:r>
              <a:rPr sz="1000">
                <a:solidFill>
                  <a:srgbClr val="E2E8F0"/>
                </a:solidFill>
                <a:latin typeface="Consolas"/>
              </a:rPr>
              <a:t>eg = ExponentiatedGradient(LogisticRegression(max_iter=2000), constraints=EqualizedOdds(difference_bound=0.02))</a:t>
            </a:r>
          </a:p>
          <a:p>
            <a:r>
              <a:rPr sz="1000">
                <a:solidFill>
                  <a:srgbClr val="E2E8F0"/>
                </a:solidFill>
                <a:latin typeface="Consolas"/>
              </a:rPr>
              <a:t>eg.fit(Xtr_m, y_tr, sensitive_features=s_tr)</a:t>
            </a:r>
          </a:p>
          <a:p>
            <a:r>
              <a:rPr sz="1000">
                <a:solidFill>
                  <a:srgbClr val="E2E8F0"/>
                </a:solidFill>
                <a:latin typeface="Consolas"/>
              </a:rPr>
              <a:t>pred_eg = eg.predict(Xte_m, random_state=0)</a:t>
            </a:r>
          </a:p>
          <a:p>
            <a:r>
              <a:rPr sz="1000">
                <a:solidFill>
                  <a:srgbClr val="E2E8F0"/>
                </a:solidFill>
                <a:latin typeface="Consolas"/>
              </a:rPr>
              <a:t> </a:t>
            </a:r>
          </a:p>
          <a:p>
            <a:r>
              <a:rPr sz="1000">
                <a:solidFill>
                  <a:srgbClr val="E2E8F0"/>
                </a:solidFill>
                <a:latin typeface="Consolas"/>
              </a:rPr>
              <a:t>for name, p in [("baseline", pred), ("ThresholdOptimizer", pred_to), ("ExponentiatedGradient", pred_eg)]:</a:t>
            </a:r>
          </a:p>
          <a:p>
            <a:r>
              <a:rPr sz="1000">
                <a:solidFill>
                  <a:srgbClr val="7FD6D7"/>
                </a:solidFill>
                <a:latin typeface="Consolas"/>
              </a:rPr>
              <a:t># … (to‘liq kod — mavzu matnida / GitHub’da)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SHAP bilan tushuntirish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global darajada eng ta'sirli belgilar odatda relationship_Husband, marital-status_Married-civ-spouse, capital-gain, education-num, age va hours-per-week bo'ladi. Guruhlar farqi tahlili aynan relationship toifalarining erkaklar uchun…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SHAP bilan tushuntirish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E2E8F0"/>
                </a:solidFill>
                <a:latin typeface="Consolas"/>
              </a:rPr>
              <a:t>import shap</a:t>
            </a:r>
          </a:p>
          <a:p>
            <a:r>
              <a:rPr sz="1200">
                <a:solidFill>
                  <a:srgbClr val="E2E8F0"/>
                </a:solidFill>
                <a:latin typeface="Consolas"/>
              </a:rPr>
              <a:t>Xte_enc = clf.named_steps["pre"].transform(X_te)</a:t>
            </a:r>
          </a:p>
          <a:p>
            <a:r>
              <a:rPr sz="1200">
                <a:solidFill>
                  <a:srgbClr val="E2E8F0"/>
                </a:solidFill>
                <a:latin typeface="Consolas"/>
              </a:rPr>
              <a:t>feat_names = clf.named_steps["pre"].get_feature_names_out()</a:t>
            </a:r>
          </a:p>
          <a:p>
            <a:r>
              <a:rPr sz="1200">
                <a:solidFill>
                  <a:srgbClr val="E2E8F0"/>
                </a:solidFill>
                <a:latin typeface="Consolas"/>
              </a:rPr>
              <a:t>explainer = shap.TreeExplainer(clf.named_steps["gb"])</a:t>
            </a:r>
          </a:p>
          <a:p>
            <a:r>
              <a:rPr sz="1200">
                <a:solidFill>
                  <a:srgbClr val="E2E8F0"/>
                </a:solidFill>
                <a:latin typeface="Consolas"/>
              </a:rPr>
              <a:t>sv = explainer.shap_values(Xte_enc[:2000])          # 2000 ta namuna — tezlik uchun</a:t>
            </a:r>
          </a:p>
          <a:p>
            <a:r>
              <a:rPr sz="1200">
                <a:solidFill>
                  <a:srgbClr val="E2E8F0"/>
                </a:solidFill>
                <a:latin typeface="Consolas"/>
              </a:rPr>
              <a:t> </a:t>
            </a:r>
          </a:p>
          <a:p>
            <a:r>
              <a:rPr sz="1200">
                <a:solidFill>
                  <a:srgbClr val="7FD6D7"/>
                </a:solidFill>
                <a:latin typeface="Consolas"/>
              </a:rPr>
              <a:t># global: eng ta'sirli belgilar</a:t>
            </a:r>
          </a:p>
          <a:p>
            <a:r>
              <a:rPr sz="1200">
                <a:solidFill>
                  <a:srgbClr val="E2E8F0"/>
                </a:solidFill>
                <a:latin typeface="Consolas"/>
              </a:rPr>
              <a:t>imp = pd.Series(np.abs(sv).mean(0), index=feat_names).sort_values(ascending=False)</a:t>
            </a:r>
          </a:p>
          <a:p>
            <a:r>
              <a:rPr sz="1200">
                <a:solidFill>
                  <a:srgbClr val="E2E8F0"/>
                </a:solidFill>
                <a:latin typeface="Consolas"/>
              </a:rPr>
              <a:t>print(imp.head(10).round(3))</a:t>
            </a:r>
          </a:p>
          <a:p>
            <a:r>
              <a:rPr sz="1200">
                <a:solidFill>
                  <a:srgbClr val="E2E8F0"/>
                </a:solidFill>
                <a:latin typeface="Consolas"/>
              </a:rPr>
              <a:t> </a:t>
            </a:r>
          </a:p>
          <a:p>
            <a:r>
              <a:rPr sz="1200">
                <a:solidFill>
                  <a:srgbClr val="7FD6D7"/>
                </a:solidFill>
                <a:latin typeface="Consolas"/>
              </a:rPr>
              <a:t># guruhlar bo'yicha o'rtacha hissa: qaysi belgilar ayollar uchun bashoratni pasaytiradi?</a:t>
            </a:r>
          </a:p>
          <a:p>
            <a:r>
              <a:rPr sz="1200">
                <a:solidFill>
                  <a:srgbClr val="E2E8F0"/>
                </a:solidFill>
                <a:latin typeface="Consolas"/>
              </a:rPr>
              <a:t>g = s_te.iloc[:2000].values</a:t>
            </a:r>
          </a:p>
          <a:p>
            <a:r>
              <a:rPr sz="1200">
                <a:solidFill>
                  <a:srgbClr val="E2E8F0"/>
                </a:solidFill>
                <a:latin typeface="Consolas"/>
              </a:rPr>
              <a:t>diff = pd.Series(sv[g == "Male"].mean(0) - sv[g == "Female"].mean(0), index=feat_names)</a:t>
            </a:r>
          </a:p>
          <a:p>
            <a:r>
              <a:rPr sz="1200">
                <a:solidFill>
                  <a:srgbClr val="E2E8F0"/>
                </a:solidFill>
                <a:latin typeface="Consolas"/>
              </a:rPr>
              <a:t>print(diff.sort_values().head(5).round(3), diff.sort_values().tail(5).round(3))</a:t>
            </a:r>
          </a:p>
          <a:p>
            <a:r>
              <a:rPr sz="1200">
                <a:solidFill>
                  <a:srgbClr val="E2E8F0"/>
                </a:solidFill>
                <a:latin typeface="Consolas"/>
              </a:rPr>
              <a:t> </a:t>
            </a:r>
          </a:p>
          <a:p>
            <a:r>
              <a:rPr sz="1200">
                <a:solidFill>
                  <a:srgbClr val="7FD6D7"/>
                </a:solidFill>
                <a:latin typeface="Consolas"/>
              </a:rPr>
              <a:t># lokal: bitta rad etilgan ayol uchun tushuntirish</a:t>
            </a:r>
          </a:p>
          <a:p>
            <a:r>
              <a:rPr sz="1200">
                <a:solidFill>
                  <a:srgbClr val="E2E8F0"/>
                </a:solidFill>
                <a:latin typeface="Consolas"/>
              </a:rPr>
              <a:t>i = int(np.where((g == "Female") &amp; (pred[:2000] == 0) &amp; (y_te.values[:2000] == 1))[0][0])</a:t>
            </a:r>
          </a:p>
          <a:p>
            <a:r>
              <a:rPr sz="1200">
                <a:solidFill>
                  <a:srgbClr val="E2E8F0"/>
                </a:solidFill>
                <a:latin typeface="Consolas"/>
              </a:rPr>
              <a:t>contrib = pd.Series(sv[i], index=feat_names).sort_values()</a:t>
            </a:r>
          </a:p>
          <a:p>
            <a:r>
              <a:rPr sz="1200">
                <a:solidFill>
                  <a:srgbClr val="E2E8F0"/>
                </a:solidFill>
                <a:latin typeface="Consolas"/>
              </a:rPr>
              <a:t>print("Bazaviy log-odds:", round(float(explainer.expected_value), 3))</a:t>
            </a:r>
          </a:p>
          <a:p>
            <a:r>
              <a:rPr sz="1200">
                <a:solidFill>
                  <a:srgbClr val="E2E8F0"/>
                </a:solidFill>
                <a:latin typeface="Consolas"/>
              </a:rPr>
              <a:t>print(contrib.head(4).round(3)); print(contrib.tail(4).round(3))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6-qadam. ISO/IEC 42001 va EU AI Act bo'yicha tekshiruv ro'yxati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Yakunda texnik natijalarni muvofiqlik tiliga tarjima qilamiz. Quyidagi tekshiruv ro'yxati kredit skoringi kabi Annex III ga kiruvchi yuqori xavfli tizim uchun minimal to'plam bo'lib, har bir bandga mas'ul, dalil (artefakt) va holat biriktiriladi.</a:t>
            </a:r>
          </a:p>
          <a:p>
            <a:pPr>
              <a:spcAft>
                <a:spcPts val="900"/>
              </a:spcAft>
            </a:pPr>
            <a:r>
              <a:rPr sz="2000" b="1">
                <a:solidFill>
                  <a:srgbClr val="0F8B8D"/>
                </a:solidFill>
              </a:rPr>
              <a:t>▪  </a:t>
            </a:r>
            <a:r>
              <a:rPr sz="2000">
                <a:solidFill>
                  <a:srgbClr val="1B2430"/>
                </a:solidFill>
                <a:latin typeface="Calibri"/>
              </a:rPr>
              <a:t>Nima bo'ldi va nega: ro'yxat shuni ko'rsatadiki, texnik ish (metrikalar, yumshatish, SHAP) muvofiqlikning taxminan uchdan bir qismi; qolgani — jarayon va hujjat. ISO/IEC 42001 sertifikati aynan shu jarayonning mavjudligi va takrorlanishini tasdiqlaydi.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6-qadam. ISO/IEC 42001 va EU AI Act bo'yicha tekshiruv ro'yxati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Talab (manba)</a:t>
                      </a:r>
                    </a:p>
                  </a:txBody>
                  <a:tcPr>
                    <a:solidFill>
                      <a:srgbClr val="2D5C8F"/>
                    </a:solidFill>
                  </a:tcPr>
                </a:tc>
                <a:tc>
                  <a:txBody>
                    <a:bodyPr/>
                    <a:lstStyle/>
                    <a:p>
                      <a:r>
                        <a:rPr sz="1200" b="1">
                          <a:solidFill>
                            <a:srgbClr val="FFFFFF"/>
                          </a:solidFill>
                          <a:latin typeface="Calibri"/>
                        </a:rPr>
                        <a:t>Nima tekshiriladi</a:t>
                      </a:r>
                    </a:p>
                  </a:txBody>
                  <a:tcPr>
                    <a:solidFill>
                      <a:srgbClr val="2D5C8F"/>
                    </a:solidFill>
                  </a:tcPr>
                </a:tc>
                <a:tc>
                  <a:txBody>
                    <a:bodyPr/>
                    <a:lstStyle/>
                    <a:p>
                      <a:r>
                        <a:rPr sz="1200" b="1">
                          <a:solidFill>
                            <a:srgbClr val="FFFFFF"/>
                          </a:solidFill>
                          <a:latin typeface="Calibri"/>
                        </a:rPr>
                        <a:t>Bizning misoldagi dalil</a:t>
                      </a:r>
                    </a:p>
                  </a:txBody>
                  <a:tcPr>
                    <a:solidFill>
                      <a:srgbClr val="2D5C8F"/>
                    </a:solidFill>
                  </a:tcPr>
                </a:tc>
                <a:tc>
                  <a:txBody>
                    <a:bodyPr/>
                    <a:lstStyle/>
                    <a:p>
                      <a:r>
                        <a:rPr sz="1200" b="1">
                          <a:solidFill>
                            <a:srgbClr val="FFFFFF"/>
                          </a:solidFill>
                          <a:latin typeface="Calibri"/>
                        </a:rPr>
                        <a:t>Holat</a:t>
                      </a:r>
                    </a:p>
                  </a:txBody>
                  <a:tcPr>
                    <a:solidFill>
                      <a:srgbClr val="2D5C8F"/>
                    </a:solidFill>
                  </a:tcPr>
                </a:tc>
              </a:tr>
              <a:tr h="520000">
                <a:tc>
                  <a:txBody>
                    <a:bodyPr/>
                    <a:lstStyle/>
                    <a:p>
                      <a:r>
                        <a:rPr sz="1200" b="0">
                          <a:solidFill>
                            <a:srgbClr val="1B2430"/>
                          </a:solidFill>
                          <a:latin typeface="Calibri"/>
                        </a:rPr>
                        <a:t>Risk boshqaruv tizimi (AI Act 9-modda; ISO 42001 6.1, ISO 23894)</a:t>
                      </a:r>
                    </a:p>
                  </a:txBody>
                  <a:tcPr>
                    <a:solidFill>
                      <a:srgbClr val="F1F4F8"/>
                    </a:solidFill>
                  </a:tcPr>
                </a:tc>
                <a:tc>
                  <a:txBody>
                    <a:bodyPr/>
                    <a:lstStyle/>
                    <a:p>
                      <a:r>
                        <a:rPr sz="1200" b="0">
                          <a:solidFill>
                            <a:srgbClr val="1B2430"/>
                          </a:solidFill>
                          <a:latin typeface="Calibri"/>
                        </a:rPr>
                        <a:t>zararlar aniqlangan, baholangan, yumshatilgan, qoldiq risk hujjatlangan</a:t>
                      </a:r>
                    </a:p>
                  </a:txBody>
                  <a:tcPr>
                    <a:solidFill>
                      <a:srgbClr val="F1F4F8"/>
                    </a:solidFill>
                  </a:tcPr>
                </a:tc>
                <a:tc>
                  <a:txBody>
                    <a:bodyPr/>
                    <a:lstStyle/>
                    <a:p>
                      <a:r>
                        <a:rPr sz="1200" b="0">
                          <a:solidFill>
                            <a:srgbClr val="1B2430"/>
                          </a:solidFill>
                          <a:latin typeface="Calibri"/>
                        </a:rPr>
                        <a:t>risk reestri: nomutanosib rad etish, proksi orqali diskriminatsiya</a:t>
                      </a:r>
                    </a:p>
                  </a:txBody>
                  <a:tcPr>
                    <a:solidFill>
                      <a:srgbClr val="F1F4F8"/>
                    </a:solidFill>
                  </a:tcPr>
                </a:tc>
                <a:tc>
                  <a:txBody>
                    <a:bodyPr/>
                    <a:lstStyle/>
                    <a:p>
                      <a:r>
                        <a:rPr sz="1200" b="0">
                          <a:solidFill>
                            <a:srgbClr val="1B2430"/>
                          </a:solidFill>
                          <a:latin typeface="Calibri"/>
                        </a:rPr>
                        <a:t>qisman — reestr tuzilishi kerak</a:t>
                      </a:r>
                    </a:p>
                  </a:txBody>
                  <a:tcPr>
                    <a:solidFill>
                      <a:srgbClr val="F1F4F8"/>
                    </a:solidFill>
                  </a:tcPr>
                </a:tc>
              </a:tr>
              <a:tr h="520000">
                <a:tc>
                  <a:txBody>
                    <a:bodyPr/>
                    <a:lstStyle/>
                    <a:p>
                      <a:r>
                        <a:rPr sz="1200" b="0">
                          <a:solidFill>
                            <a:srgbClr val="1B2430"/>
                          </a:solidFill>
                          <a:latin typeface="Calibri"/>
                        </a:rPr>
                        <a:t>Ma'lumotlarni boshqarish (10-modda; ISO 42001 A.7)</a:t>
                      </a:r>
                    </a:p>
                  </a:txBody>
                  <a:tcPr>
                    <a:solidFill>
                      <a:srgbClr val="FFFFFF"/>
                    </a:solidFill>
                  </a:tcPr>
                </a:tc>
                <a:tc>
                  <a:txBody>
                    <a:bodyPr/>
                    <a:lstStyle/>
                    <a:p>
                      <a:r>
                        <a:rPr sz="1200" b="0">
                          <a:solidFill>
                            <a:srgbClr val="1B2430"/>
                          </a:solidFill>
                          <a:latin typeface="Calibri"/>
                        </a:rPr>
                        <a:t>vakillik, noxolislik tekshiruvi, kelib chiqish</a:t>
                      </a:r>
                    </a:p>
                  </a:txBody>
                  <a:tcPr>
                    <a:solidFill>
                      <a:srgbClr val="FFFFFF"/>
                    </a:solidFill>
                  </a:tcPr>
                </a:tc>
                <a:tc>
                  <a:txBody>
                    <a:bodyPr/>
                    <a:lstStyle/>
                    <a:p>
                      <a:r>
                        <a:rPr sz="1200" b="0">
                          <a:solidFill>
                            <a:srgbClr val="1B2430"/>
                          </a:solidFill>
                          <a:latin typeface="Calibri"/>
                        </a:rPr>
                        <a:t>Datasheet: 1994-yil AQSh, jins/irq taqsimoti, eskirgan kontekst</a:t>
                      </a:r>
                    </a:p>
                  </a:txBody>
                  <a:tcPr>
                    <a:solidFill>
                      <a:srgbClr val="FFFFFF"/>
                    </a:solidFill>
                  </a:tcPr>
                </a:tc>
                <a:tc>
                  <a:txBody>
                    <a:bodyPr/>
                    <a:lstStyle/>
                    <a:p>
                      <a:r>
                        <a:rPr sz="1200" b="0">
                          <a:solidFill>
                            <a:srgbClr val="1B2430"/>
                          </a:solidFill>
                          <a:latin typeface="Calibri"/>
                        </a:rPr>
                        <a:t>bajarildi — ma'lumot zamonaviy masala uchun yaroqsiz deb belgilandi</a:t>
                      </a:r>
                    </a:p>
                  </a:txBody>
                  <a:tcPr>
                    <a:solidFill>
                      <a:srgbClr val="FFFFFF"/>
                    </a:solidFill>
                  </a:tcPr>
                </a:tc>
              </a:tr>
              <a:tr h="520000">
                <a:tc>
                  <a:txBody>
                    <a:bodyPr/>
                    <a:lstStyle/>
                    <a:p>
                      <a:r>
                        <a:rPr sz="1200" b="0">
                          <a:solidFill>
                            <a:srgbClr val="1B2430"/>
                          </a:solidFill>
                          <a:latin typeface="Calibri"/>
                        </a:rPr>
                        <a:t>Texnik hujjatlar (11-modda; ISO 42001 A.6)</a:t>
                      </a:r>
                    </a:p>
                  </a:txBody>
                  <a:tcPr>
                    <a:solidFill>
                      <a:srgbClr val="F1F4F8"/>
                    </a:solidFill>
                  </a:tcPr>
                </a:tc>
                <a:tc>
                  <a:txBody>
                    <a:bodyPr/>
                    <a:lstStyle/>
                    <a:p>
                      <a:r>
                        <a:rPr sz="1200" b="0">
                          <a:solidFill>
                            <a:srgbClr val="1B2430"/>
                          </a:solidFill>
                          <a:latin typeface="Calibri"/>
                        </a:rPr>
                        <a:t>Model Card, arxitektura, o'qitish, baholash</a:t>
                      </a:r>
                    </a:p>
                  </a:txBody>
                  <a:tcPr>
                    <a:solidFill>
                      <a:srgbClr val="F1F4F8"/>
                    </a:solidFill>
                  </a:tcPr>
                </a:tc>
                <a:tc>
                  <a:txBody>
                    <a:bodyPr/>
                    <a:lstStyle/>
                    <a:p>
                      <a:r>
                        <a:rPr sz="1200" b="0">
                          <a:solidFill>
                            <a:srgbClr val="1B2430"/>
                          </a:solidFill>
                          <a:latin typeface="Calibri"/>
                        </a:rPr>
                        <a:t>Model Card: 3 model varianti, guruh metrikalari</a:t>
                      </a:r>
                    </a:p>
                  </a:txBody>
                  <a:tcPr>
                    <a:solidFill>
                      <a:srgbClr val="F1F4F8"/>
                    </a:solidFill>
                  </a:tcPr>
                </a:tc>
                <a:tc>
                  <a:txBody>
                    <a:bodyPr/>
                    <a:lstStyle/>
                    <a:p>
                      <a:r>
                        <a:rPr sz="1200" b="0">
                          <a:solidFill>
                            <a:srgbClr val="1B2430"/>
                          </a:solidFill>
                          <a:latin typeface="Calibri"/>
                        </a:rPr>
                        <a:t>bajarildi</a:t>
                      </a:r>
                    </a:p>
                  </a:txBody>
                  <a:tcPr>
                    <a:solidFill>
                      <a:srgbClr val="F1F4F8"/>
                    </a:solidFill>
                  </a:tcPr>
                </a:tc>
              </a:tr>
              <a:tr h="520000">
                <a:tc>
                  <a:txBody>
                    <a:bodyPr/>
                    <a:lstStyle/>
                    <a:p>
                      <a:r>
                        <a:rPr sz="1200" b="0">
                          <a:solidFill>
                            <a:srgbClr val="1B2430"/>
                          </a:solidFill>
                          <a:latin typeface="Calibri"/>
                        </a:rPr>
                        <a:t>Jurnallash (12-modda)</a:t>
                      </a:r>
                    </a:p>
                  </a:txBody>
                  <a:tcPr>
                    <a:solidFill>
                      <a:srgbClr val="FFFFFF"/>
                    </a:solidFill>
                  </a:tcPr>
                </a:tc>
                <a:tc>
                  <a:txBody>
                    <a:bodyPr/>
                    <a:lstStyle/>
                    <a:p>
                      <a:r>
                        <a:rPr sz="1200" b="0">
                          <a:solidFill>
                            <a:srgbClr val="1B2430"/>
                          </a:solidFill>
                          <a:latin typeface="Calibri"/>
                        </a:rPr>
                        <a:t>har qaror vaqt, versiya, kirish va tushuntirish bilan qayd etiladi</a:t>
                      </a:r>
                    </a:p>
                  </a:txBody>
                  <a:tcPr>
                    <a:solidFill>
                      <a:srgbClr val="FFFFFF"/>
                    </a:solidFill>
                  </a:tcPr>
                </a:tc>
                <a:tc>
                  <a:txBody>
                    <a:bodyPr/>
                    <a:lstStyle/>
                    <a:p>
                      <a:r>
                        <a:rPr sz="1200" b="0">
                          <a:solidFill>
                            <a:srgbClr val="1B2430"/>
                          </a:solidFill>
                          <a:latin typeface="Calibri"/>
                        </a:rPr>
                        <a:t>qaror jurnali sxemasi, SHAP hissasi saqlanadi</a:t>
                      </a:r>
                    </a:p>
                  </a:txBody>
                  <a:tcPr>
                    <a:solidFill>
                      <a:srgbClr val="FFFFFF"/>
                    </a:solidFill>
                  </a:tcPr>
                </a:tc>
                <a:tc>
                  <a:txBody>
                    <a:bodyPr/>
                    <a:lstStyle/>
                    <a:p>
                      <a:r>
                        <a:rPr sz="1200" b="0">
                          <a:solidFill>
                            <a:srgbClr val="1B2430"/>
                          </a:solidFill>
                          <a:latin typeface="Calibri"/>
                        </a:rPr>
                        <a:t>loyihalanmoqda</a:t>
                      </a:r>
                    </a:p>
                  </a:txBody>
                  <a:tcPr>
                    <a:solidFill>
                      <a:srgbClr val="FFFFFF"/>
                    </a:solidFill>
                  </a:tcPr>
                </a:tc>
              </a:tr>
              <a:tr h="520000">
                <a:tc>
                  <a:txBody>
                    <a:bodyPr/>
                    <a:lstStyle/>
                    <a:p>
                      <a:r>
                        <a:rPr sz="1200" b="0">
                          <a:solidFill>
                            <a:srgbClr val="1B2430"/>
                          </a:solidFill>
                          <a:latin typeface="Calibri"/>
                        </a:rPr>
                        <a:t>Shaffoflik (13-modda; ISO 42001 A.8)</a:t>
                      </a:r>
                    </a:p>
                  </a:txBody>
                  <a:tcPr>
                    <a:solidFill>
                      <a:srgbClr val="F1F4F8"/>
                    </a:solidFill>
                  </a:tcPr>
                </a:tc>
                <a:tc>
                  <a:txBody>
                    <a:bodyPr/>
                    <a:lstStyle/>
                    <a:p>
                      <a:r>
                        <a:rPr sz="1200" b="0">
                          <a:solidFill>
                            <a:srgbClr val="1B2430"/>
                          </a:solidFill>
                          <a:latin typeface="Calibri"/>
                        </a:rPr>
                        <a:t>foydalanuvchi va ta'sirlanuvchi shaxs uchun tushunarli axborot</a:t>
                      </a:r>
                    </a:p>
                  </a:txBody>
                  <a:tcPr>
                    <a:solidFill>
                      <a:srgbClr val="F1F4F8"/>
                    </a:solidFill>
                  </a:tcPr>
                </a:tc>
                <a:tc>
                  <a:txBody>
                    <a:bodyPr/>
                    <a:lstStyle/>
                    <a:p>
                      <a:r>
                        <a:rPr sz="1200" b="0">
                          <a:solidFill>
                            <a:srgbClr val="1B2430"/>
                          </a:solidFill>
                          <a:latin typeface="Calibri"/>
                        </a:rPr>
                        <a:t>lokal SHAP → matnli sabab («ish soati 40 dan kam»)</a:t>
                      </a:r>
                    </a:p>
                  </a:txBody>
                  <a:tcPr>
                    <a:solidFill>
                      <a:srgbClr val="F1F4F8"/>
                    </a:solidFill>
                  </a:tcPr>
                </a:tc>
                <a:tc>
                  <a:txBody>
                    <a:bodyPr/>
                    <a:lstStyle/>
                    <a:p>
                      <a:r>
                        <a:rPr sz="1200" b="0">
                          <a:solidFill>
                            <a:srgbClr val="1B2430"/>
                          </a:solidFill>
                          <a:latin typeface="Calibri"/>
                        </a:rPr>
                        <a:t>prototip</a:t>
                      </a:r>
                    </a:p>
                  </a:txBody>
                  <a:tcPr>
                    <a:solidFill>
                      <a:srgbClr val="F1F4F8"/>
                    </a:solidFill>
                  </a:tcPr>
                </a:tc>
              </a:tr>
              <a:tr h="520000">
                <a:tc>
                  <a:txBody>
                    <a:bodyPr/>
                    <a:lstStyle/>
                    <a:p>
                      <a:r>
                        <a:rPr sz="1200" b="0">
                          <a:solidFill>
                            <a:srgbClr val="1B2430"/>
                          </a:solidFill>
                          <a:latin typeface="Calibri"/>
                        </a:rPr>
                        <a:t>Inson nazorati (14-modda; ISO 42001 A.9)</a:t>
                      </a:r>
                    </a:p>
                  </a:txBody>
                  <a:tcPr>
                    <a:solidFill>
                      <a:srgbClr val="FFFFFF"/>
                    </a:solidFill>
                  </a:tcPr>
                </a:tc>
                <a:tc>
                  <a:txBody>
                    <a:bodyPr/>
                    <a:lstStyle/>
                    <a:p>
                      <a:r>
                        <a:rPr sz="1200" b="0">
                          <a:solidFill>
                            <a:srgbClr val="1B2430"/>
                          </a:solidFill>
                          <a:latin typeface="Calibri"/>
                        </a:rPr>
                        <a:t>operator qarorni bekor qila oladi, avtomatlashtirish noxolisligi kamaytirilgan</a:t>
                      </a:r>
                    </a:p>
                  </a:txBody>
                  <a:tcPr>
                    <a:solidFill>
                      <a:srgbClr val="FFFFFF"/>
                    </a:solidFill>
                  </a:tcPr>
                </a:tc>
                <a:tc>
                  <a:txBody>
                    <a:bodyPr/>
                    <a:lstStyle/>
                    <a:p>
                      <a:r>
                        <a:rPr sz="1200" b="0">
                          <a:solidFill>
                            <a:srgbClr val="1B2430"/>
                          </a:solidFill>
                          <a:latin typeface="Calibri"/>
                        </a:rPr>
                        <a:t>chegara yaqinidagi holatlar odam ko'rigiga yuboriladi</a:t>
                      </a:r>
                    </a:p>
                  </a:txBody>
                  <a:tcPr>
                    <a:solidFill>
                      <a:srgbClr val="FFFFFF"/>
                    </a:solidFill>
                  </a:tcPr>
                </a:tc>
                <a:tc>
                  <a:txBody>
                    <a:bodyPr/>
                    <a:lstStyle/>
                    <a:p>
                      <a:r>
                        <a:rPr sz="1200" b="0">
                          <a:solidFill>
                            <a:srgbClr val="1B2430"/>
                          </a:solidFill>
                          <a:latin typeface="Calibri"/>
                        </a:rPr>
                        <a:t>loyihalanmoqda</a:t>
                      </a:r>
                    </a:p>
                  </a:txBody>
                  <a:tcPr>
                    <a:solidFill>
                      <a:srgbClr val="FFFFFF"/>
                    </a:solidFill>
                  </a:tcPr>
                </a:tc>
              </a:tr>
              <a:tr h="520000">
                <a:tc>
                  <a:txBody>
                    <a:bodyPr/>
                    <a:lstStyle/>
                    <a:p>
                      <a:r>
                        <a:rPr sz="1200" b="0">
                          <a:solidFill>
                            <a:srgbClr val="1B2430"/>
                          </a:solidFill>
                          <a:latin typeface="Calibri"/>
                        </a:rPr>
                        <a:t>Aniqlik, mustahkamlik, kiberxavfsizlik (15-modda)</a:t>
                      </a:r>
                    </a:p>
                  </a:txBody>
                  <a:tcPr>
                    <a:solidFill>
                      <a:srgbClr val="F1F4F8"/>
                    </a:solidFill>
                  </a:tcPr>
                </a:tc>
                <a:tc>
                  <a:txBody>
                    <a:bodyPr/>
                    <a:lstStyle/>
                    <a:p>
                      <a:r>
                        <a:rPr sz="1200" b="0">
                          <a:solidFill>
                            <a:srgbClr val="1B2430"/>
                          </a:solidFill>
                          <a:latin typeface="Calibri"/>
                        </a:rPr>
                        <a:t>guruhlar kesimida aniqlik, drift, hujumlarga chidamlilik</a:t>
                      </a:r>
                    </a:p>
                  </a:txBody>
                  <a:tcPr>
                    <a:solidFill>
                      <a:srgbClr val="F1F4F8"/>
                    </a:solidFill>
                  </a:tcPr>
                </a:tc>
                <a:tc>
                  <a:txBody>
                    <a:bodyPr/>
                    <a:lstStyle/>
                    <a:p>
                      <a:r>
                        <a:rPr sz="1200" b="0">
                          <a:solidFill>
                            <a:srgbClr val="1B2430"/>
                          </a:solidFill>
                          <a:latin typeface="Calibri"/>
                        </a:rPr>
                        <a:t>guruh aniqliklari o'lchandi; drift monitoringi M12</a:t>
                      </a:r>
                    </a:p>
                  </a:txBody>
                  <a:tcPr>
                    <a:solidFill>
                      <a:srgbClr val="F1F4F8"/>
                    </a:solidFill>
                  </a:tcPr>
                </a:tc>
                <a:tc>
                  <a:txBody>
                    <a:bodyPr/>
                    <a:lstStyle/>
                    <a:p>
                      <a:r>
                        <a:rPr sz="1200" b="0">
                          <a:solidFill>
                            <a:srgbClr val="1B2430"/>
                          </a:solidFill>
                          <a:latin typeface="Calibri"/>
                        </a:rPr>
                        <a:t>qisman</a:t>
                      </a:r>
                    </a:p>
                  </a:txBody>
                  <a:tcPr>
                    <a:solidFill>
                      <a:srgbClr val="F1F4F8"/>
                    </a:solidFill>
                  </a:tcPr>
                </a:tc>
              </a:tr>
              <a:tr h="520000">
                <a:tc>
                  <a:txBody>
                    <a:bodyPr/>
                    <a:lstStyle/>
                    <a:p>
                      <a:r>
                        <a:rPr sz="1200" b="0">
                          <a:solidFill>
                            <a:srgbClr val="1B2430"/>
                          </a:solidFill>
                          <a:latin typeface="Calibri"/>
                        </a:rPr>
                        <a:t>Ta'sir baholash (ISO 42001 A.5; AI Act 27-modda — asosiy huquqlarga ta'sir)</a:t>
                      </a:r>
                    </a:p>
                  </a:txBody>
                  <a:tcPr>
                    <a:solidFill>
                      <a:srgbClr val="FFFFFF"/>
                    </a:solidFill>
                  </a:tcPr>
                </a:tc>
                <a:tc>
                  <a:txBody>
                    <a:bodyPr/>
                    <a:lstStyle/>
                    <a:p>
                      <a:r>
                        <a:rPr sz="1200" b="0">
                          <a:solidFill>
                            <a:srgbClr val="1B2430"/>
                          </a:solidFill>
                          <a:latin typeface="Calibri"/>
                        </a:rPr>
                        <a:t>ta'sirlanuvchi guruhlar, shikoyat yo'li</a:t>
                      </a:r>
                    </a:p>
                  </a:txBody>
                  <a:tcPr>
                    <a:solidFill>
                      <a:srgbClr val="FFFFFF"/>
                    </a:solidFill>
                  </a:tcPr>
                </a:tc>
                <a:tc>
                  <a:txBody>
                    <a:bodyPr/>
                    <a:lstStyle/>
                    <a:p>
                      <a:r>
                        <a:rPr sz="1200" b="0">
                          <a:solidFill>
                            <a:srgbClr val="1B2430"/>
                          </a:solidFill>
                          <a:latin typeface="Calibri"/>
                        </a:rPr>
                        <a:t>AIA hujjati shabloni</a:t>
                      </a:r>
                    </a:p>
                  </a:txBody>
                  <a:tcPr>
                    <a:solidFill>
                      <a:srgbClr val="FFFFFF"/>
                    </a:solidFill>
                  </a:tcPr>
                </a:tc>
                <a:tc>
                  <a:txBody>
                    <a:bodyPr/>
                    <a:lstStyle/>
                    <a:p>
                      <a:r>
                        <a:rPr sz="1200" b="0">
                          <a:solidFill>
                            <a:srgbClr val="1B2430"/>
                          </a:solidFill>
                          <a:latin typeface="Calibri"/>
                        </a:rPr>
                        <a:t>boshlanmagan</a:t>
                      </a:r>
                    </a:p>
                  </a:txBody>
                  <a:tcP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100" b="1">
                <a:solidFill>
                  <a:srgbClr val="FFFFFF"/>
                </a:solidFill>
                <a:latin typeface="Calibri"/>
              </a:rPr>
              <a:t>6-qadam. ISO/IEC 42001 va EU AI Act bo'yicha tekshiruv ro'yxati (davomi)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104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Talab (manba)</a:t>
                      </a:r>
                    </a:p>
                  </a:txBody>
                  <a:tcPr>
                    <a:solidFill>
                      <a:srgbClr val="2D5C8F"/>
                    </a:solidFill>
                  </a:tcPr>
                </a:tc>
                <a:tc>
                  <a:txBody>
                    <a:bodyPr/>
                    <a:lstStyle/>
                    <a:p>
                      <a:r>
                        <a:rPr sz="1200" b="1">
                          <a:solidFill>
                            <a:srgbClr val="FFFFFF"/>
                          </a:solidFill>
                          <a:latin typeface="Calibri"/>
                        </a:rPr>
                        <a:t>Nima tekshiriladi</a:t>
                      </a:r>
                    </a:p>
                  </a:txBody>
                  <a:tcPr>
                    <a:solidFill>
                      <a:srgbClr val="2D5C8F"/>
                    </a:solidFill>
                  </a:tcPr>
                </a:tc>
                <a:tc>
                  <a:txBody>
                    <a:bodyPr/>
                    <a:lstStyle/>
                    <a:p>
                      <a:r>
                        <a:rPr sz="1200" b="1">
                          <a:solidFill>
                            <a:srgbClr val="FFFFFF"/>
                          </a:solidFill>
                          <a:latin typeface="Calibri"/>
                        </a:rPr>
                        <a:t>Bizning misoldagi dalil</a:t>
                      </a:r>
                    </a:p>
                  </a:txBody>
                  <a:tcPr>
                    <a:solidFill>
                      <a:srgbClr val="2D5C8F"/>
                    </a:solidFill>
                  </a:tcPr>
                </a:tc>
                <a:tc>
                  <a:txBody>
                    <a:bodyPr/>
                    <a:lstStyle/>
                    <a:p>
                      <a:r>
                        <a:rPr sz="1200" b="1">
                          <a:solidFill>
                            <a:srgbClr val="FFFFFF"/>
                          </a:solidFill>
                          <a:latin typeface="Calibri"/>
                        </a:rPr>
                        <a:t>Holat</a:t>
                      </a:r>
                    </a:p>
                  </a:txBody>
                  <a:tcPr>
                    <a:solidFill>
                      <a:srgbClr val="2D5C8F"/>
                    </a:solidFill>
                  </a:tcPr>
                </a:tc>
              </a:tr>
              <a:tr h="520000">
                <a:tc>
                  <a:txBody>
                    <a:bodyPr/>
                    <a:lstStyle/>
                    <a:p>
                      <a:r>
                        <a:rPr sz="1200" b="0">
                          <a:solidFill>
                            <a:srgbClr val="1B2430"/>
                          </a:solidFill>
                          <a:latin typeface="Calibri"/>
                        </a:rPr>
                        <a:t>Yetkazib beruvchilar va uchinchi tomonlar (ISO 42001 A.10)</a:t>
                      </a:r>
                    </a:p>
                  </a:txBody>
                  <a:tcPr>
                    <a:solidFill>
                      <a:srgbClr val="F1F4F8"/>
                    </a:solidFill>
                  </a:tcPr>
                </a:tc>
                <a:tc>
                  <a:txBody>
                    <a:bodyPr/>
                    <a:lstStyle/>
                    <a:p>
                      <a:r>
                        <a:rPr sz="1200" b="0">
                          <a:solidFill>
                            <a:srgbClr val="1B2430"/>
                          </a:solidFill>
                          <a:latin typeface="Calibri"/>
                        </a:rPr>
                        <a:t>kutubxona va ma'lumot litsenziyalari, versiyalar</a:t>
                      </a:r>
                    </a:p>
                  </a:txBody>
                  <a:tcPr>
                    <a:solidFill>
                      <a:srgbClr val="F1F4F8"/>
                    </a:solidFill>
                  </a:tcPr>
                </a:tc>
                <a:tc>
                  <a:txBody>
                    <a:bodyPr/>
                    <a:lstStyle/>
                    <a:p>
                      <a:r>
                        <a:rPr sz="1200" b="0">
                          <a:solidFill>
                            <a:srgbClr val="1B2430"/>
                          </a:solidFill>
                          <a:latin typeface="Calibri"/>
                        </a:rPr>
                        <a:t>fairlearn/shap/sklearn versiyalari qayd etilgan</a:t>
                      </a:r>
                    </a:p>
                  </a:txBody>
                  <a:tcPr>
                    <a:solidFill>
                      <a:srgbClr val="F1F4F8"/>
                    </a:solidFill>
                  </a:tcPr>
                </a:tc>
                <a:tc>
                  <a:txBody>
                    <a:bodyPr/>
                    <a:lstStyle/>
                    <a:p>
                      <a:r>
                        <a:rPr sz="1200" b="0">
                          <a:solidFill>
                            <a:srgbClr val="1B2430"/>
                          </a:solidFill>
                          <a:latin typeface="Calibri"/>
                        </a:rPr>
                        <a:t>bajarildi</a:t>
                      </a:r>
                    </a:p>
                  </a:txBody>
                  <a:tcPr>
                    <a:solidFill>
                      <a:srgbClr val="F1F4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Misol bir nechta prinsipial xulosa beradi.</a:t>
            </a:r>
          </a:p>
          <a:p>
            <a:pPr>
              <a:spcAft>
                <a:spcPts val="900"/>
              </a:spcAft>
            </a:pPr>
            <a:r>
              <a:rPr sz="1800" b="1">
                <a:solidFill>
                  <a:srgbClr val="0F8B8D"/>
                </a:solidFill>
              </a:rPr>
              <a:t>▪  </a:t>
            </a:r>
            <a:r>
              <a:rPr sz="1800">
                <a:solidFill>
                  <a:srgbClr val="1B2430"/>
                </a:solidFill>
                <a:latin typeface="Calibri"/>
              </a:rPr>
              <a:t>Ikkinchidan, yumshatish usullari ishlaydi, lekin ular murosani yo'qotmaydi, faqat uni oshkor qiladi.</a:t>
            </a:r>
          </a:p>
          <a:p>
            <a:pPr>
              <a:spcAft>
                <a:spcPts val="900"/>
              </a:spcAft>
            </a:pPr>
            <a:r>
              <a:rPr sz="1800" b="1">
                <a:solidFill>
                  <a:srgbClr val="0F8B8D"/>
                </a:solidFill>
              </a:rPr>
              <a:t>▪  </a:t>
            </a:r>
            <a:r>
              <a:rPr sz="1800">
                <a:solidFill>
                  <a:srgbClr val="1B2430"/>
                </a:solidFill>
                <a:latin typeface="Calibri"/>
              </a:rPr>
              <a:t>Uchinchidan, natijalarning cheklovlari bor.</a:t>
            </a:r>
          </a:p>
          <a:p>
            <a:pPr>
              <a:spcAft>
                <a:spcPts val="900"/>
              </a:spcAft>
            </a:pPr>
            <a:r>
              <a:rPr sz="1800" b="1">
                <a:solidFill>
                  <a:srgbClr val="0F8B8D"/>
                </a:solidFill>
              </a:rPr>
              <a:t>▪  </a:t>
            </a:r>
            <a:r>
              <a:rPr sz="1800">
                <a:solidFill>
                  <a:srgbClr val="1B2430"/>
                </a:solidFill>
                <a:latin typeface="Calibri"/>
              </a:rPr>
              <a:t>To'rtinchidan, SHAP tushuntirishlari foydali, lekin ularni ehtiyotkorlik bilan talqin qilish kerak: korrelyatsiyalangan belgilar (relationship va marital-status) hissani bo'lishadi, shuning…</a:t>
            </a:r>
          </a:p>
          <a:p>
            <a:pPr>
              <a:spcAft>
                <a:spcPts val="900"/>
              </a:spcAft>
            </a:pPr>
            <a:r>
              <a:rPr sz="1800" b="1">
                <a:solidFill>
                  <a:srgbClr val="0F8B8D"/>
                </a:solidFill>
              </a:rPr>
              <a:t>▪  </a:t>
            </a:r>
            <a:r>
              <a:rPr sz="1800">
                <a:solidFill>
                  <a:srgbClr val="1B2430"/>
                </a:solidFill>
                <a:latin typeface="Calibri"/>
              </a:rPr>
              <a:t>Muqobil yondashuvlar: AIF360 kutubxonasi ko'proq metrika va yumshatish algoritmi beradi (masalan, Reweighing, Prejudice Remover, Calibrated Equalized Odds); talqin qilinuvchan modellar…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Himoyalangan belgini olib tashlash bilan cheklanish. Proksilar uni qayta tiklaydi. Tavsiya: belgini audit uchun saqlang va metrikalarni har doim guruhlar kesimida o'lchang;…</a:t>
            </a:r>
          </a:p>
          <a:p>
            <a:pPr>
              <a:spcAft>
                <a:spcPts val="900"/>
              </a:spcAft>
            </a:pPr>
            <a:r>
              <a:rPr sz="1600" b="1">
                <a:solidFill>
                  <a:srgbClr val="0F8B8D"/>
                </a:solidFill>
              </a:rPr>
              <a:t>▪  </a:t>
            </a:r>
            <a:r>
              <a:rPr sz="1600">
                <a:solidFill>
                  <a:srgbClr val="1B2430"/>
                </a:solidFill>
                <a:latin typeface="Calibri"/>
              </a:rPr>
              <a:t>Bitta «adolatlilik» metrikasini ko'r-ko'rona tanlash. Imkonsizlik teoremasi tufayli bitta metrika boshqasini buzadi. Tavsiya: masala konteksti (resurs taqsimoti, jazo, tashxis) bo'yicha…</a:t>
            </a:r>
          </a:p>
          <a:p>
            <a:pPr>
              <a:spcAft>
                <a:spcPts val="900"/>
              </a:spcAft>
            </a:pPr>
            <a:r>
              <a:rPr sz="1600" b="1">
                <a:solidFill>
                  <a:srgbClr val="0F8B8D"/>
                </a:solidFill>
              </a:rPr>
              <a:t>▪  </a:t>
            </a:r>
            <a:r>
              <a:rPr sz="1600">
                <a:solidFill>
                  <a:srgbClr val="1B2430"/>
                </a:solidFill>
                <a:latin typeface="Calibri"/>
              </a:rPr>
              <a:t>Adolatlilikni faqat ishga tushirishdan oldin o'lchash. Aholi tarkibi va xatti-harakat o'zgaradi. Tavsiya: guruhlar kesimidagi metrikalar monitoring panelining doimiy qismi bo'lsin,…</a:t>
            </a:r>
          </a:p>
          <a:p>
            <a:pPr>
              <a:spcAft>
                <a:spcPts val="900"/>
              </a:spcAft>
            </a:pPr>
            <a:r>
              <a:rPr sz="1600" b="1">
                <a:solidFill>
                  <a:srgbClr val="0F8B8D"/>
                </a:solidFill>
              </a:rPr>
              <a:t>▪  </a:t>
            </a:r>
            <a:r>
              <a:rPr sz="1600">
                <a:solidFill>
                  <a:srgbClr val="1B2430"/>
                </a:solidFill>
                <a:latin typeface="Calibri"/>
              </a:rPr>
              <a:t>Tushuntirishni «SHAP grafigini ko'rsatish» deb tushunish. Mutaxassis bo'lmagan foydalanuvchi uni o'qiy olmaydi. Tavsiya: auditoriyaga mos ko'rinish (matnli sabab, kontrfaktual tavsiya) va…</a:t>
            </a:r>
          </a:p>
          <a:p>
            <a:pPr>
              <a:spcAft>
                <a:spcPts val="900"/>
              </a:spcAft>
            </a:pPr>
            <a:r>
              <a:rPr sz="1600" b="1">
                <a:solidFill>
                  <a:srgbClr val="0F8B8D"/>
                </a:solidFill>
              </a:rPr>
              <a:t>▪  </a:t>
            </a:r>
            <a:r>
              <a:rPr sz="1600">
                <a:solidFill>
                  <a:srgbClr val="1B2430"/>
                </a:solidFill>
                <a:latin typeface="Calibri"/>
              </a:rPr>
              <a:t>Hujjatlarni loyiha oxirida yozish. Model Card va Datasheet loyihaning boshida shablon sifatida ochilib, har bosqichda to'ldirilishi kerak — aks holda ma'lumot kelib chiqishi va qarorlar…</a:t>
            </a:r>
          </a:p>
          <a:p>
            <a:pPr>
              <a:spcAft>
                <a:spcPts val="900"/>
              </a:spcAft>
            </a:pPr>
            <a:r>
              <a:rPr sz="1600" b="1">
                <a:solidFill>
                  <a:srgbClr val="0F8B8D"/>
                </a:solidFill>
              </a:rPr>
              <a:t>▪  </a:t>
            </a:r>
            <a:r>
              <a:rPr sz="1600">
                <a:solidFill>
                  <a:srgbClr val="1B2430"/>
                </a:solidFill>
                <a:latin typeface="Calibri"/>
              </a:rPr>
              <a:t>Kichik guruhlarda metrikalarga ortiqcha ishonish. 50 ta namunali guruhda TPR farqi tasodifiy bo'lishi mumkin. Tavsiya: ishonch oraliqlarini (bootstrap) hisoblang va kichik guruhlar uchun…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Yumshatishdan keyin umumiy sifatni qayta tekshirmaslik. Ba'zi usullar bir guruhda aniqlikni keskin pasaytirib, «tenglik»ka erishadi (leveling down). Tavsiya: har guruh uchun aniqlik, TPR va…</a:t>
            </a:r>
          </a:p>
          <a:p>
            <a:pPr>
              <a:spcAft>
                <a:spcPts val="900"/>
              </a:spcAft>
            </a:pPr>
            <a:r>
              <a:rPr sz="2000" b="1">
                <a:solidFill>
                  <a:srgbClr val="0F8B8D"/>
                </a:solidFill>
              </a:rPr>
              <a:t>▪  </a:t>
            </a:r>
            <a:r>
              <a:rPr sz="2000">
                <a:solidFill>
                  <a:srgbClr val="1B2430"/>
                </a:solidFill>
                <a:latin typeface="Calibri"/>
              </a:rPr>
              <a:t>Huquqiy talabni texnik jamoaga tegishli emas deb hisoblash. AI Act 9–15-moddalar aynan arxitektura talablari (jurnallash, inson nazorati interfeysi). Tavsiya: muvofiqlik tekshiruv…</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COMPAS bahsida ikki tomon ham matematik jihatdan haq edi. Qaysi adolatlilik ta'rifi sud tizimi uchun, qaysi biri kredit skoringi uchun ko'proq mos keladi va nega?</a:t>
            </a:r>
          </a:p>
          <a:p>
            <a:pPr>
              <a:spcAft>
                <a:spcPts val="900"/>
              </a:spcAft>
            </a:pPr>
            <a:r>
              <a:rPr sz="1600" b="1">
                <a:solidFill>
                  <a:srgbClr val="0F8B8D"/>
                </a:solidFill>
              </a:rPr>
              <a:t>▪  </a:t>
            </a:r>
            <a:r>
              <a:rPr sz="1600">
                <a:solidFill>
                  <a:srgbClr val="1B2430"/>
                </a:solidFill>
                <a:latin typeface="Calibri"/>
              </a:rPr>
              <a:t>Nega himoyalangan belgini modeldan olib tashlash adolatlilikni kafolatlamaydi? Misolimizda qaysi belgilar proksi vazifasini bajardi va buni qanday aniqlash mumkin?</a:t>
            </a:r>
          </a:p>
          <a:p>
            <a:pPr>
              <a:spcAft>
                <a:spcPts val="900"/>
              </a:spcAft>
            </a:pPr>
            <a:r>
              <a:rPr sz="1600" b="1">
                <a:solidFill>
                  <a:srgbClr val="0F8B8D"/>
                </a:solidFill>
              </a:rPr>
              <a:t>▪  </a:t>
            </a:r>
            <a:r>
              <a:rPr sz="1600">
                <a:solidFill>
                  <a:srgbClr val="1B2430"/>
                </a:solidFill>
                <a:latin typeface="Calibri"/>
              </a:rPr>
              <a:t>ThresholdOptimizer guruhlarga turli chegara qo'llaydi. Bu yondashuv qaysi vaziyatlarda huquqiy yoki etik jihatdan muammoli bo'lishi mumkin? Muqobil nima?</a:t>
            </a:r>
          </a:p>
          <a:p>
            <a:pPr>
              <a:spcAft>
                <a:spcPts val="900"/>
              </a:spcAft>
            </a:pPr>
            <a:r>
              <a:rPr sz="1600" b="1">
                <a:solidFill>
                  <a:srgbClr val="0F8B8D"/>
                </a:solidFill>
              </a:rPr>
              <a:t>▪  </a:t>
            </a:r>
            <a:r>
              <a:rPr sz="1600">
                <a:solidFill>
                  <a:srgbClr val="1B2430"/>
                </a:solidFill>
                <a:latin typeface="Calibri"/>
              </a:rPr>
              <a:t>Aniqlikning 3 punktga pasayishi hisobiga teng imkoniyatga erishish — bu «yo'qotish»mi? Aniqlik qaysi yorliqlarga nisbatan o'lchanganini hisobga olib javob bering.</a:t>
            </a:r>
          </a:p>
          <a:p>
            <a:pPr>
              <a:spcAft>
                <a:spcPts val="900"/>
              </a:spcAft>
            </a:pPr>
            <a:r>
              <a:rPr sz="1600" b="1">
                <a:solidFill>
                  <a:srgbClr val="0F8B8D"/>
                </a:solidFill>
              </a:rPr>
              <a:t>▪  </a:t>
            </a:r>
            <a:r>
              <a:rPr sz="1600">
                <a:solidFill>
                  <a:srgbClr val="1B2430"/>
                </a:solidFill>
                <a:latin typeface="Calibri"/>
              </a:rPr>
              <a:t>SHAP qiymati «model shu belgiga tayandi» deganimi yoki «bu belgi natijaning sababi» deganimi? Farq nima uchun regulyator uchun muhim?</a:t>
            </a:r>
          </a:p>
          <a:p>
            <a:pPr>
              <a:spcAft>
                <a:spcPts val="900"/>
              </a:spcAft>
            </a:pPr>
            <a:r>
              <a:rPr sz="1600" b="1">
                <a:solidFill>
                  <a:srgbClr val="0F8B8D"/>
                </a:solidFill>
              </a:rPr>
              <a:t>▪  </a:t>
            </a:r>
            <a:r>
              <a:rPr sz="1600">
                <a:solidFill>
                  <a:srgbClr val="1B2430"/>
                </a:solidFill>
                <a:latin typeface="Calibri"/>
              </a:rPr>
              <a:t>EU AI Act 14-moddasi inson nazoratini talab qiladi. Soniyasiga 1000 qaror qabul qiladigan tizimda inson nazorati qanday texnik shaklda amalga oshirilishi mumkin?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ISO/IEC 42001 modelni emas, jarayonni sertifikatlaydi. Bu yondashuvning kuchli va zaif tomonlari nimada? Sertifikatlangan tashkilot nohaq tizim chiqarishi mumkinmi?</a:t>
            </a:r>
          </a:p>
          <a:p>
            <a:pPr>
              <a:spcAft>
                <a:spcPts val="900"/>
              </a:spcAft>
            </a:pPr>
            <a:r>
              <a:rPr sz="1800" b="1">
                <a:solidFill>
                  <a:srgbClr val="0F8B8D"/>
                </a:solidFill>
              </a:rPr>
              <a:t>▪  </a:t>
            </a:r>
            <a:r>
              <a:rPr sz="1800">
                <a:solidFill>
                  <a:srgbClr val="1B2430"/>
                </a:solidFill>
                <a:latin typeface="Calibri"/>
              </a:rPr>
              <a:t>Adolatlilik metrikasi CI konveyerida avtomatik darvoza bo'lsa, qaysi chegaralarni va kim belgilashi kerak? Chegara buzilganda jarayon qanday davom etadi?</a:t>
            </a:r>
          </a:p>
          <a:p>
            <a:pPr>
              <a:spcAft>
                <a:spcPts val="900"/>
              </a:spcAft>
            </a:pPr>
            <a:r>
              <a:rPr sz="1800" b="1">
                <a:solidFill>
                  <a:srgbClr val="0F8B8D"/>
                </a:solidFill>
              </a:rPr>
              <a:t>▪  </a:t>
            </a:r>
            <a:r>
              <a:rPr sz="1800">
                <a:solidFill>
                  <a:srgbClr val="1B2430"/>
                </a:solidFill>
                <a:latin typeface="Calibri"/>
              </a:rPr>
              <a:t>Kesishuvchi (intersectional) guruhlar soni ko'payganda metrikalar beqaror bo'ladi. Statistik ishonchlilik va adolatlilik tahlilining to'liqligi o'rtasida murosani qanday topasiz?</a:t>
            </a:r>
          </a:p>
          <a:p>
            <a:pPr>
              <a:spcAft>
                <a:spcPts val="900"/>
              </a:spcAft>
            </a:pPr>
            <a:r>
              <a:rPr sz="1800" b="1">
                <a:solidFill>
                  <a:srgbClr val="0F8B8D"/>
                </a:solidFill>
              </a:rPr>
              <a:t>▪  </a:t>
            </a:r>
            <a:r>
              <a:rPr sz="1800">
                <a:solidFill>
                  <a:srgbClr val="1B2430"/>
                </a:solidFill>
                <a:latin typeface="Calibri"/>
              </a:rPr>
              <a:t>O'zbekiston sharoitida yuqori xavfli deb hisoblanishi kerak bo'lgan uchta SI qo'llanilishini ayting va har biri uchun eng muhim etik riskni asoslang.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1-topshiriq (sillabusdagi 6-mustaqil ta'lim topshirig'iga bog'langan). O'zingiz tanlagan yoki A7 loyihangizdagi SI tizimi uchun to'liq Responsible AI paketini tayyorlang: (a) Datasheet va Model Card; (b) kamida ikkita himoyalangan belgi bo'yicha Fairlearn…</a:t>
            </a:r>
          </a:p>
          <a:p>
            <a:pPr>
              <a:spcAft>
                <a:spcPts val="900"/>
              </a:spcAft>
            </a:pPr>
            <a:r>
              <a:rPr sz="2000" b="1">
                <a:solidFill>
                  <a:srgbClr val="0F8B8D"/>
                </a:solidFill>
              </a:rPr>
              <a:t>▪  </a:t>
            </a:r>
            <a:r>
              <a:rPr sz="2000">
                <a:solidFill>
                  <a:srgbClr val="1B2430"/>
                </a:solidFill>
                <a:latin typeface="Calibri"/>
              </a:rPr>
              <a:t>2-topshiriq. Fairlearn hujjatlaridagi GridSearch yordamida misoldagi model uchun 20–30 nuqtali Pareto frontini (aniqlik va demografik paritet farqi) quring; frontdagi uchta nuqtani tanlab, har biri qaysi manfaatdor tomon nuqtai nazaridan maqbul ekanini 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[2] Kneusel, R. T. Artificial Intelligence Engineering: A Practical Guide for AI Applications. No Starch Press, 2023. — SI mahsulotlarida etik va amaliy mulohazalar.</a:t>
            </a:r>
          </a:p>
          <a:p>
            <a:pPr>
              <a:spcAft>
                <a:spcPts val="900"/>
              </a:spcAft>
            </a:pPr>
            <a:r>
              <a:rPr sz="1600" b="1">
                <a:solidFill>
                  <a:srgbClr val="0F8B8D"/>
                </a:solidFill>
              </a:rPr>
              <a:t>▪  </a:t>
            </a:r>
            <a:r>
              <a:rPr sz="1600">
                <a:solidFill>
                  <a:srgbClr val="1B2430"/>
                </a:solidFill>
                <a:latin typeface="Calibri"/>
              </a:rPr>
              <a:t>[3] Amershi, S., et al. Machine Learning Engineering. MIT Press, 2025. — ML tizimlarida adolatlilik, hujjatlashtirish va mas'uliyatli ishlab chiqish jarayonlari.</a:t>
            </a:r>
          </a:p>
          <a:p>
            <a:pPr>
              <a:spcAft>
                <a:spcPts val="900"/>
              </a:spcAft>
            </a:pPr>
            <a:r>
              <a:rPr sz="1600" b="1">
                <a:solidFill>
                  <a:srgbClr val="0F8B8D"/>
                </a:solidFill>
              </a:rPr>
              <a:t>▪  </a:t>
            </a:r>
            <a:r>
              <a:rPr sz="1600">
                <a:solidFill>
                  <a:srgbClr val="1B2430"/>
                </a:solidFill>
                <a:latin typeface="Calibri"/>
              </a:rPr>
              <a:t>[7] https://pytorch.org — PyTorch hujjatlari (neyron tarmoqlar uchun Captum tushuntirish kutubxonasi shu ekotizimda).</a:t>
            </a:r>
          </a:p>
          <a:p>
            <a:pPr>
              <a:spcAft>
                <a:spcPts val="900"/>
              </a:spcAft>
            </a:pPr>
            <a:r>
              <a:rPr sz="1600" b="1">
                <a:solidFill>
                  <a:srgbClr val="0F8B8D"/>
                </a:solidFill>
              </a:rPr>
              <a:t>▪  </a:t>
            </a:r>
            <a:r>
              <a:rPr sz="1600">
                <a:solidFill>
                  <a:srgbClr val="1B2430"/>
                </a:solidFill>
                <a:latin typeface="Calibri"/>
              </a:rPr>
              <a:t>[8] https://www.tensorflow.org — TensorFlow Responsible AI vositalari (Fairness Indicators, What-If Tool) hujjatlari.</a:t>
            </a:r>
          </a:p>
          <a:p>
            <a:pPr>
              <a:spcAft>
                <a:spcPts val="900"/>
              </a:spcAft>
            </a:pPr>
            <a:r>
              <a:rPr sz="1600" b="1">
                <a:solidFill>
                  <a:srgbClr val="0F8B8D"/>
                </a:solidFill>
              </a:rPr>
              <a:t>▪  </a:t>
            </a:r>
            <a:r>
              <a:rPr sz="1600">
                <a:solidFill>
                  <a:srgbClr val="1B2430"/>
                </a:solidFill>
                <a:latin typeface="Calibri"/>
              </a:rPr>
              <a:t>Regulation (EU) 2024/1689 of the European Parliament and of the Council (Artificial Intelligence Act). Official Journal of the European Union, 12 July 2024.…</a:t>
            </a:r>
          </a:p>
          <a:p>
            <a:pPr>
              <a:spcAft>
                <a:spcPts val="900"/>
              </a:spcAft>
            </a:pPr>
            <a:r>
              <a:rPr sz="1600" b="1">
                <a:solidFill>
                  <a:srgbClr val="0F8B8D"/>
                </a:solidFill>
              </a:rPr>
              <a:t>▪  </a:t>
            </a:r>
            <a:r>
              <a:rPr sz="1600">
                <a:solidFill>
                  <a:srgbClr val="1B2430"/>
                </a:solidFill>
                <a:latin typeface="Calibri"/>
              </a:rPr>
              <a:t>ISO/IEC 42001:2023. Information technology — Artificial intelligence — Management system. International Organization for Standardization, 2023.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ISO/IEC 23894:2023. Information technology — Artificial intelligence — Guidance on risk management. ISO, 2023.</a:t>
            </a:r>
          </a:p>
          <a:p>
            <a:pPr>
              <a:spcAft>
                <a:spcPts val="900"/>
              </a:spcAft>
            </a:pPr>
            <a:r>
              <a:rPr sz="1600" b="1">
                <a:solidFill>
                  <a:srgbClr val="0F8B8D"/>
                </a:solidFill>
              </a:rPr>
              <a:t>▪  </a:t>
            </a:r>
            <a:r>
              <a:rPr sz="1600">
                <a:solidFill>
                  <a:srgbClr val="1B2430"/>
                </a:solidFill>
                <a:latin typeface="Calibri"/>
              </a:rPr>
              <a:t>NIST AI 100-1. Artificial Intelligence Risk Management Framework (AI RMF 1.0). National Institute of Standards and Technology, January 2023.</a:t>
            </a:r>
          </a:p>
          <a:p>
            <a:pPr>
              <a:spcAft>
                <a:spcPts val="900"/>
              </a:spcAft>
            </a:pPr>
            <a:r>
              <a:rPr sz="1600" b="1">
                <a:solidFill>
                  <a:srgbClr val="0F8B8D"/>
                </a:solidFill>
              </a:rPr>
              <a:t>▪  </a:t>
            </a:r>
            <a:r>
              <a:rPr sz="1600">
                <a:solidFill>
                  <a:srgbClr val="1B2430"/>
                </a:solidFill>
                <a:latin typeface="Calibri"/>
              </a:rPr>
              <a:t>Hardt, M., Price, E., &amp; Srebro, N. Equality of Opportunity in Supervised Learning. Advances in Neural Information Processing Systems (NeurIPS), 2016.</a:t>
            </a:r>
          </a:p>
          <a:p>
            <a:pPr>
              <a:spcAft>
                <a:spcPts val="900"/>
              </a:spcAft>
            </a:pPr>
            <a:r>
              <a:rPr sz="1600" b="1">
                <a:solidFill>
                  <a:srgbClr val="0F8B8D"/>
                </a:solidFill>
              </a:rPr>
              <a:t>▪  </a:t>
            </a:r>
            <a:r>
              <a:rPr sz="1600">
                <a:solidFill>
                  <a:srgbClr val="1B2430"/>
                </a:solidFill>
                <a:latin typeface="Calibri"/>
              </a:rPr>
              <a:t>Chouldechova, A. Fair prediction with disparate impact: A study of bias in recidivism prediction instruments. Big Data, vol. 5, no. 2, 2017, pp. 153–163.</a:t>
            </a:r>
          </a:p>
          <a:p>
            <a:pPr>
              <a:spcAft>
                <a:spcPts val="900"/>
              </a:spcAft>
            </a:pPr>
            <a:r>
              <a:rPr sz="1600" b="1">
                <a:solidFill>
                  <a:srgbClr val="0F8B8D"/>
                </a:solidFill>
              </a:rPr>
              <a:t>▪  </a:t>
            </a:r>
            <a:r>
              <a:rPr sz="1600">
                <a:solidFill>
                  <a:srgbClr val="1B2430"/>
                </a:solidFill>
                <a:latin typeface="Calibri"/>
              </a:rPr>
              <a:t>Lundberg, S. M., &amp; Lee, S.-I. A Unified Approach to Interpreting Model Predictions. Advances in Neural Information Processing Systems (NeurIPS), 2017.</a:t>
            </a:r>
          </a:p>
          <a:p>
            <a:pPr>
              <a:spcAft>
                <a:spcPts val="900"/>
              </a:spcAft>
            </a:pPr>
            <a:r>
              <a:rPr sz="1600" b="1">
                <a:solidFill>
                  <a:srgbClr val="0F8B8D"/>
                </a:solidFill>
              </a:rPr>
              <a:t>▪  </a:t>
            </a:r>
            <a:r>
              <a:rPr sz="1600">
                <a:solidFill>
                  <a:srgbClr val="1B2430"/>
                </a:solidFill>
                <a:latin typeface="Calibri"/>
              </a:rPr>
              <a:t>Mitchell, M., et al. Model Cards for Model Reporting. Proceedings of the Conference on Fairness, Accountability, and Transparency (FAT), 2019, pp. 220–229.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(3)</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Fairlearn hujjatlari: https://fairlearn.org — metrikalar, yumshatish algoritmlari va foydalanuvchi qo'llanmasi.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SAVOLLAR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E’tiboringiz uchun rahmat!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M14 · Sun'iy intellekt tizimlarida etika, ishonchlilik va mas'uliyatli sun'iy intellekt tamoyillari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2000000"/>
            <a:ext cx="11000000" cy="2500000"/>
          </a:xfrm>
          <a:prstGeom prst="rect">
            <a:avLst/>
          </a:prstGeom>
          <a:noFill/>
        </p:spPr>
        <p:txBody>
          <a:bodyPr wrap="square" anchor="t" lIns="50800" rIns="50800">
            <a:spAutoFit/>
          </a:bodyPr>
          <a:lstStyle/>
          <a:p>
            <a:pPr algn="l"/>
            <a:r>
              <a:rPr sz="2000" b="0">
                <a:solidFill>
                  <a:srgbClr val="1B2430"/>
                </a:solidFill>
                <a:latin typeface="Calibri"/>
              </a:rPr>
              <a:t>Mavzu matni va materiallar: https://aiscan.airi.uz/ktm/#/c/mis2104/mavzu/M14</a:t>
            </a:r>
          </a:p>
          <a:p>
            <a:pPr algn="l"/>
            <a:r>
              <a:rPr sz="2000" b="0">
                <a:solidFill>
                  <a:srgbClr val="1B2430"/>
                </a:solidFill>
                <a:latin typeface="Calibri"/>
              </a:rPr>
              <a:t>Nazorat savollari va mustaqil ish — mavzu matnining oxirida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
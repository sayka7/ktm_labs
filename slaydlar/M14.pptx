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etikasi bo'yicha hujjatlarni uch darajaga ajratish foydali: tamoyillar (nima qilish kerak), standartlar (qanday tashkil qilish kerak) va qonunlar (nima majburiy). Tamoyillar darajasida eng ta'sirlilari — OECD SI tamoyillari (2019, 2024-yilda yangilangan; 47 dan ortiq davlat qo'shilgan) va UNESCO ning SI etikasi bo'yicha tavsiyasi (2021, 193 a'zo davlat tomonidan qabul qilingan). Ikkalasi ham besh-oltita umumiy tamoyilga tayanadi: inson manfaati va barqaror rivojlanish, inson huquqlari va adolatlilik, shaffoflik va tushuntirilish, mustahkamlik va xavfsizlik, hisobdorlik.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etikasi bo'yicha hujjatlarni uch darajaga ajratish foydali: tamoyillar (nima qilish kerak), standartlar (qanday tashkil qilish kerak) va qonunlar (nima majburiy). Tamoyillar darajasida eng ta'sirlilari — OECD SI tamoyillari (2019, 2024-yilda yangilangan; 47 dan ortiq davlat qo'shilgan) va UNESCO ning SI etikasi bo'yicha tavsiyasi (2021, 193 a'zo davlat tomonidan qabul qilingan). Ikkalasi ham besh-oltita umumiy tamoyilga tayanadi: inson manfaati va barqaror rivojlanish, inson huquqlari va adolatlilik, shaffoflik va tushuntirilish, mustahkamlik va xavfsizlik, hisobdorlik.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ISO/IEC 42001 alohida e'tiborga loyiq, chunki u ISO 9001 (sifat) va ISO/IEC 27001 (axborot xavfsizligi) kabi «boshqaruv tizimi» standartidir: u modelning o'zini emas, balki tashkilotning SI ni ishlab chiqish va qo'llash jarayonini sertifikatlaydi. Standart Annex A da 38 ta nazorat chorasini (control) belgilaydi — SI siyosati, ichki tashkilot, SI tizimlari resurslari, ta'sirni baholash, hayot sikli, ma'lumotlar, manfaatdor tomonlar uchun axborot, foydalanish va uchinchi tomonlar bilan munosabatlar bo'yicha. Muhandis uchun bu shuni anglatadiki, har bir model uchun ta'sir baholash hisoboti, ma'lumotlar kelib chiqishi (provenance) jurnali va qaror jurnali (decision log) bo'lishi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Qonunlar darajasida EU AI Act xavfga asoslangan yondashuvni qo'llaydi: taqiqlangan amaliyotlar (ijtimoiy reyting, ish joyida his-tuyg'ularni tanish, nozik belgilarga ko'ra biometrik tasniflash — 2025-yil fevralidan taqiqlangan), yuqori xavfli tizimlar (Annex III: ta'lim, bandlik, kredit, davlat xizmatlari, huquqni muhofaza qilish, migratsiya, adliya, muhim infratuzilma), cheklangan xavf (shaffoflik majburiyati — chatbot va sintetik kontent belgilanishi) va minimal xavf. Yuqori xavfli tizimlar uchun 9–15-moddalar texnik talablarni belgilaydi: risk boshqaruv tizimi (9-modda), ma'lumotlar va ularni boshqarish (10), texnik hujjatlar (11), avtomatik jurnallash (12), shaffoflik va foydalanuvchiga axborot (13), inson nazorati (14), aniqlik, mustahkamlik va kiberxavfsizlik (15). Jarimalar taqiqlangan amaliyot uchun 35 million yevro yoki global aylanmaning 7 % igacha, boshqa buzilishlar uchun 15 million yevro yoki 3 % gacha yetadi.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Standartlar darajasida asosiy hujjatlar quyidagilar:</a:t>
            </a:r>
          </a:p>
          <a:p/>
          <a:p>
            <a:r>
              <a:t>ISO/IEC 42001 alohida e'tiborga loyiq, chunki u ISO 9001 (sifat) va ISO/IEC 27001 (axborot xavfsizligi) kabi «boshqaruv tizimi» standartidir: u modelning o'zini emas, balki tashkilotning SI ni ishlab chiqish va qo'llash jarayonini sertifikatlaydi. Standart Annex A da 38 ta nazorat chorasini (control) belgilaydi — SI siyosati, ichki tashkilot, SI tizimlari resurslari, ta'sirni baholash, hayot sikli, ma'lumotlar, manfaatdor tomonlar uchun axborot, foydalanish va uchinchi tomonlar bilan munosabatlar bo'yicha. Muhandis uchun bu shuni anglatadiki, har bir model uchun ta'sir baholash hisoboti, ma'lumotlar kelib chiqishi (provenance) jurnali va qaror jurnali (decision log) bo'lishi kerak.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Mas'uliyatli SI — bu tamoyillarni butun hayot sikli bo'ylab amalga oshiruvchi muhandislik va tashkiliy amaliyotlar to'plami. Uning yadrosi — SI tizimi texnik artefakt emas, balki ijtimoiy-texnik tizim (sociotechnical system) ekanini tan olish: model, ma'lumot, foydalanuvchi, operator, ta'sirlanuvchi shaxslar va tashkiliy jarayonlar birgalikda natijani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Mas'uliyatli SI — bu tamoyillarni butun hayot sikli bo'ylab amalga oshiruvchi muhandislik va tashkiliy amaliyotlar to'plami. Uning yadrosi — SI tizimi texnik artefakt emas, balki ijtimoiy-texnik tizim (sociotechnical system) ekanini tan olish: model, ma'lumot, foydalanuvchi, operator, ta'sirlanuvchi shaxslar va tashkiliy jarayonlar birgalikda natijani belgilaydi.</a:t>
            </a:r>
          </a:p>
          <a:p/>
          <a:p>
            <a:r>
              <a:t>Amaliyotda Responsible AI quyidagi artefaktlar orqali moddiylashadi. 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 Algoritmik ta'sir baholash (Algorithmic Impact Assessment) — tizim ishga tushirilishidan oldin ta'sirlanuvchi guruhlar, zarar stsenariylari va yumshatish choralari tahlili. Inson nazorati dizayni — qaror inson tomonidan tasdiqlanadimi (human-in-the-loop), kuzatiladimi (human-on-the-loop) yoki faqat auditda ko'riladimi, va insonning aralashish imkoniyati texnik jihatdan ta'minlanganmi.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Amaliyotda Responsible AI quyidagi artefaktlar orqali moddiylashadi. 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 Algoritmik ta'sir baholash (Algorithmic Impact Assessment) — tizim ishga tushirilishidan oldin ta'sirlanuvchi guruhlar, zarar stsenariylari va yumshatish choralari tahlili. Inson nazorati dizayni — qaror inson tomonidan tasdiqlanadimi (human-in-the-loop), kuzatiladimi (human-on-the-loop) yoki faqat auditda ko'riladimi, va insonning aralashish imkoniyati texnik jihatdan ta'minlanganmi.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Muhim nuqta: mas'uliyatli SI tizimning har bir bosqichida qaror nuqtalarini o'z ichiga oladi. Muammo qo'yilishida — «bu masalani SI bilan yechish to'g'rimi» (ba'zan eng mas'uliyatli qaror — tizimni qurmaslik). Ma'lumot yig'ishda — vakillik (representativeness), rozilik, tarixiy noxolislik. Modellashtirishda — maqsad funksiyasi kimning manfaatini optimallashtiradi. Baholashda — umumiy aniqlik emas, balki guruhlar kesimidagi natijalar. Joylashtirishda — tushuntirish, shikoyat mexanizmi, monitoring. Bu nuqtalarning har biri M12 da ko'rilgan MLOps konveyeriga «darvoza» (gate) sifatida kiritilishi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Shaffoflik (transparency) va tushuntirilish (explainability) bir narsa emas. 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Shaffoflik (transparency) va tushuntirilish (explainability) bir narsa emas. 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a:p/>
          <a:p>
            <a:r>
              <a:t>XAI usullari bir nechta o'q bo'yicha tasniflanadi: lokal (bitta bashorat uchun) va global (butun model uchun); model-agnostik va modelga xos; ichki (intrinsic, model o'zi talqin qilinuvchan) va post-hoc. Eng ko'p qo'llaniladigan ikkita post-hoc model-agnostik usul — LIME (Ribeiro va boshq., 2016), bashorat atrofida lokal chiziqli surrogat quradi, va SHAP (Lundberg va Lee, 2017), kooperativ o'yinlar nazariyasidagi Shapley qiymatlariga asoslanadi va har bir belgining bashoratga hissasini additiv tarzda taqsimlaydi: f(x) = φ0 + Σ φi, bu yerda φ0 — o'rtacha bashorat, φi — i-belgining hissasi. Daraxtli modellar uchun TreeExplainer aniq Shapley qiymatlarini polinomial vaqtda hisoblaydi, bu uni sanoatda standartga aylantirdi. Neyron tarmoqlar uchun gradientga asoslangan usullar (Integrated Gradients, Grad-CAM) qo'shimcha imkoniyat beradi.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usullari bir nechta o'q bo'yicha tasniflanadi: lokal (bitta bashorat uchun) va global (butun model uchun); model-agnostik va modelga xos; ichki (intrinsic, model o'zi talqin qilinuvchan) va post-hoc. Eng ko'p qo'llaniladigan ikkita post-hoc model-agnostik usul — LIME (Ribeiro va boshq., 2016), bashorat atrofida lokal chiziqli surrogat quradi, va SHAP (Lundberg va Lee, 2017), kooperativ o'yinlar nazariyasidagi Shapley qiymatlariga asoslanadi va har bir belgining bashoratga hissasini additiv tarzda taqsimlaydi: f(x) = φ0 + Σ φi, bu yerda φ0 — o'rtacha bashorat, φi — i-belgining hissasi. Daraxtli modellar uchun TreeExplainer aniq Shapley qiymatlarini polinomial vaqtda hisoblaydi, bu uni sanoatda standartga aylantirdi. Neyron tarmoqlar uchun gradientga asoslangan usullar (Integrated Gradients, Grad-CAM) qo'shimcha imkoniyat beradi.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ning cheklovlari jiddiy. 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 Shu sababli EU AI Act 13-moddasi «foydalanuvchi natijani to'g'ri talqin qila olishi» ni talab qiladi — bu SHAP grafigini ko'rsatish emas, balki tushuntirishni maqsadli auditoriyaga moslashtirish degani: kredit mutaxassisiga va kredit oluvchiga turli ko'rinish kerak.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SI (trustworthy AI) tushunchasi adolatlilik va shaffoflikdan tashqari texnik mustahkamlik (robustness) — kirishning kichik o'zgarishiga chidamlilik, tarqatish siljishida barqarorlik, adversarial hujumlarga qarshilik (M9 da ko'rilgan), maxfiylik (differensial maxfiylik, federativ o'qitish) va hisobdorlik (accountability) — har bir qaror uchun kim javobgar va qanday shikoyat qilish mumkinligini o'z ichiga oladi. Hisobdorlikning texnik tayanchi — jurnallash: EU AI Act 12-moddasi yuqori xavfli tizimdan foydalanish davomida hodisalarni avtomatik qayd etishni talab qiladi, bu esa M12 dagi monitoring infratuzilmasining to'g'ridan-to'g'ri davomidir. Shunday qilib, etik talablar oxir-oqibat arxitektura talablariga aylanadi: versiyalangan ma'lumot va model, qaror jurnali, tushuntirish xizmati, inson aralashuvi uchun interfeys va guruhlar kesimidagi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SI (trustworthy AI) tushunchasi adolatlilik va shaffoflikdan tashqari texnik mustahkamlik (robustness) — kirishning kichik o'zgarishiga chidamlilik, tarqatish siljishida barqarorlik, adversarial hujumlarga qarshilik (M9 da ko'rilgan), maxfiylik (differensial maxfiylik, federativ o'qitish) va hisobdorlik (accountability) — har bir qaror uchun kim javobgar va qanday shikoyat qilish mumkinligini o'z ichiga oladi. Hisobdorlikning texnik tayanchi — jurnallash: EU AI Act 12-moddasi yuqori xavfli tizimdan foydalanish davomida hodisalarni avtomatik qayd etishni talab qiladi, bu esa M12 dagi monitoring infratuzilmasining to'g'ridan-to'g'ri davomidir. Shunday qilib, etik talablar oxir-oqibat arxitektura talablariga aylanadi: versiyalangan ma'lumot va model, qaror jurnali, tushuntirish xizmati, inson aralashuvi uchun interfeys va guruhlar kesimidagi monitoring.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ce68c9738baab5db.jpg"/>
          <p:cNvPicPr>
            <a:picLocks noChangeAspect="1"/>
          </p:cNvPicPr>
          <p:nvPr/>
        </p:nvPicPr>
        <p:blipFill>
          <a:blip r:embed="rId2"/>
          <a:srcRect t="3437" b="3437"/>
          <a:stretch>
            <a:fillRect/>
          </a:stretch>
        </p:blipFill>
        <p:spPr>
          <a:xfrm>
            <a:off x="7850000" y="1500000"/>
            <a:ext cx="3300000" cy="3300000"/>
          </a:xfrm>
          <a:prstGeom prst="ellipse">
            <a:avLst/>
          </a:prstGeom>
          <a:ln w="19050">
            <a:solidFill>
              <a:srgbClr val="22D3EE"/>
            </a:solidFill>
          </a:ln>
        </p:spPr>
      </p:pic>
      <p:sp>
        <p:nvSpPr>
          <p:cNvPr id="60" name="TextBox 59"/>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Pearson Scott Foresman · Wikimedia Commons · Public domain</a:t>
            </a:r>
          </a:p>
        </p:txBody>
      </p:sp>
      <p:sp>
        <p:nvSpPr>
          <p:cNvPr id="61" name="Rounded Rectangle 60"/>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M14 · 2 soat</a:t>
            </a:r>
          </a:p>
        </p:txBody>
      </p:sp>
      <p:sp>
        <p:nvSpPr>
          <p:cNvPr id="62" name="TextBox 61"/>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3" name="TextBox 62"/>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tizimlarida etika, ishonchlilik va mas'uliyatli sun'iy intellekt tamoyillari</a:t>
            </a:r>
          </a:p>
        </p:txBody>
      </p:sp>
      <p:sp>
        <p:nvSpPr>
          <p:cNvPr id="64" name="Rectangle 63"/>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6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200"/>
                            </p:stCondLst>
                            <p:childTnLst>
                              <p:par>
                                <p:cTn id="220" presetID="53" presetClass="entr" presetSubtype="16" fill="hold" grpId="0" nodeType="afterEffect">
                                  <p:stCondLst>
                                    <p:cond delay="0"/>
                                  </p:stCondLst>
                                  <p:childTnLst>
                                    <p:set>
                                      <p:cBhvr>
                                        <p:cTn id="221" dur="1" fill="hold">
                                          <p:stCondLst>
                                            <p:cond delay="0"/>
                                          </p:stCondLst>
                                        </p:cTn>
                                        <p:tgtEl>
                                          <p:spTgt spid="58"/>
                                        </p:tgtEl>
                                        <p:attrNameLst>
                                          <p:attrName>style.visibility</p:attrName>
                                        </p:attrNameLst>
                                      </p:cBhvr>
                                      <p:to>
                                        <p:strVal val="visible"/>
                                      </p:to>
                                    </p:set>
                                    <p:animEffect transition="in" filter="fade">
                                      <p:cBhvr>
                                        <p:cTn id="222" dur="550"/>
                                        <p:tgtEl>
                                          <p:spTgt spid="58"/>
                                        </p:tgtEl>
                                      </p:cBhvr>
                                    </p:animEffect>
                                    <p:anim calcmode="lin" valueType="num">
                                      <p:cBhvr additive="base">
                                        <p:cTn id="223" dur="550" fill="hold"/>
                                        <p:tgtEl>
                                          <p:spTgt spid="58"/>
                                        </p:tgtEl>
                                        <p:attrNameLst>
                                          <p:attrName>ppt_w</p:attrName>
                                        </p:attrNameLst>
                                      </p:cBhvr>
                                      <p:tavLst>
                                        <p:tav tm="0">
                                          <p:val>
                                            <p:strVal val="0"/>
                                          </p:val>
                                        </p:tav>
                                        <p:tav tm="100000">
                                          <p:val>
                                            <p:strVal val="#ppt_w"/>
                                          </p:val>
                                        </p:tav>
                                      </p:tavLst>
                                    </p:anim>
                                    <p:anim calcmode="lin" valueType="num">
                                      <p:cBhvr additive="base">
                                        <p:cTn id="224" dur="550" fill="hold"/>
                                        <p:tgtEl>
                                          <p:spTgt spid="58"/>
                                        </p:tgtEl>
                                        <p:attrNameLst>
                                          <p:attrName>ppt_h</p:attrName>
                                        </p:attrNameLst>
                                      </p:cBhvr>
                                      <p:tavLst>
                                        <p:tav tm="0">
                                          <p:val>
                                            <p:strVal val="0"/>
                                          </p:val>
                                        </p:tav>
                                        <p:tav tm="100000">
                                          <p:val>
                                            <p:strVal val="#ppt_h"/>
                                          </p:val>
                                        </p:tav>
                                      </p:tavLst>
                                    </p:anim>
                                  </p:childTnLst>
                                </p:cTn>
                              </p:par>
                            </p:childTnLst>
                          </p:cTn>
                        </p:par>
                        <p:par>
                          <p:cTn id="225" fill="hold">
                            <p:stCondLst>
                              <p:cond delay="200"/>
                            </p:stCondLst>
                            <p:childTnLst>
                              <p:par>
                                <p:cTn id="226" presetID="53" presetClass="entr" presetSubtype="16" fill="hold" grpId="0" nodeType="afterEffect">
                                  <p:stCondLst>
                                    <p:cond delay="0"/>
                                  </p:stCondLst>
                                  <p:childTnLst>
                                    <p:set>
                                      <p:cBhvr>
                                        <p:cTn id="227" dur="1" fill="hold">
                                          <p:stCondLst>
                                            <p:cond delay="0"/>
                                          </p:stCondLst>
                                        </p:cTn>
                                        <p:tgtEl>
                                          <p:spTgt spid="57"/>
                                        </p:tgtEl>
                                        <p:attrNameLst>
                                          <p:attrName>style.visibility</p:attrName>
                                        </p:attrNameLst>
                                      </p:cBhvr>
                                      <p:to>
                                        <p:strVal val="visible"/>
                                      </p:to>
                                    </p:set>
                                    <p:animEffect transition="in" filter="fade">
                                      <p:cBhvr>
                                        <p:cTn id="228" dur="550"/>
                                        <p:tgtEl>
                                          <p:spTgt spid="57"/>
                                        </p:tgtEl>
                                      </p:cBhvr>
                                    </p:animEffect>
                                    <p:anim calcmode="lin" valueType="num">
                                      <p:cBhvr additive="base">
                                        <p:cTn id="229" dur="550" fill="hold"/>
                                        <p:tgtEl>
                                          <p:spTgt spid="57"/>
                                        </p:tgtEl>
                                        <p:attrNameLst>
                                          <p:attrName>ppt_w</p:attrName>
                                        </p:attrNameLst>
                                      </p:cBhvr>
                                      <p:tavLst>
                                        <p:tav tm="0">
                                          <p:val>
                                            <p:strVal val="0"/>
                                          </p:val>
                                        </p:tav>
                                        <p:tav tm="100000">
                                          <p:val>
                                            <p:strVal val="#ppt_w"/>
                                          </p:val>
                                        </p:tav>
                                      </p:tavLst>
                                    </p:anim>
                                    <p:anim calcmode="lin" valueType="num">
                                      <p:cBhvr additive="base">
                                        <p:cTn id="230" dur="550" fill="hold"/>
                                        <p:tgtEl>
                                          <p:spTgt spid="57"/>
                                        </p:tgtEl>
                                        <p:attrNameLst>
                                          <p:attrName>ppt_h</p:attrName>
                                        </p:attrNameLst>
                                      </p:cBhvr>
                                      <p:tavLst>
                                        <p:tav tm="0">
                                          <p:val>
                                            <p:strVal val="0"/>
                                          </p:val>
                                        </p:tav>
                                        <p:tav tm="100000">
                                          <p:val>
                                            <p:strVal val="#ppt_h"/>
                                          </p:val>
                                        </p:tav>
                                      </p:tavLst>
                                    </p:anim>
                                  </p:childTnLst>
                                </p:cTn>
                              </p:par>
                            </p:childTnLst>
                          </p:cTn>
                        </p:par>
                        <p:par>
                          <p:cTn id="231" fill="hold">
                            <p:stCondLst>
                              <p:cond delay="200"/>
                            </p:stCondLst>
                            <p:childTnLst>
                              <p:par>
                                <p:cTn id="232" presetID="53" presetClass="entr" presetSubtype="16" fill="hold" grpId="0" nodeType="afterEffect">
                                  <p:stCondLst>
                                    <p:cond delay="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550"/>
                                        <p:tgtEl>
                                          <p:spTgt spid="59"/>
                                        </p:tgtEl>
                                      </p:cBhvr>
                                    </p:animEffect>
                                    <p:anim calcmode="lin" valueType="num">
                                      <p:cBhvr additive="base">
                                        <p:cTn id="235" dur="550" fill="hold"/>
                                        <p:tgtEl>
                                          <p:spTgt spid="59"/>
                                        </p:tgtEl>
                                        <p:attrNameLst>
                                          <p:attrName>ppt_w</p:attrName>
                                        </p:attrNameLst>
                                      </p:cBhvr>
                                      <p:tavLst>
                                        <p:tav tm="0">
                                          <p:val>
                                            <p:strVal val="0"/>
                                          </p:val>
                                        </p:tav>
                                        <p:tav tm="100000">
                                          <p:val>
                                            <p:strVal val="#ppt_w"/>
                                          </p:val>
                                        </p:tav>
                                      </p:tavLst>
                                    </p:anim>
                                    <p:anim calcmode="lin" valueType="num">
                                      <p:cBhvr additive="base">
                                        <p:cTn id="236" dur="550" fill="hold"/>
                                        <p:tgtEl>
                                          <p:spTgt spid="59"/>
                                        </p:tgtEl>
                                        <p:attrNameLst>
                                          <p:attrName>ppt_h</p:attrName>
                                        </p:attrNameLst>
                                      </p:cBhvr>
                                      <p:tavLst>
                                        <p:tav tm="0">
                                          <p:val>
                                            <p:strVal val="0"/>
                                          </p:val>
                                        </p:tav>
                                        <p:tav tm="100000">
                                          <p:val>
                                            <p:strVal val="#ppt_h"/>
                                          </p:val>
                                        </p:tav>
                                      </p:tavLst>
                                    </p:anim>
                                  </p:childTnLst>
                                </p:cTn>
                              </p:par>
                            </p:childTnLst>
                          </p:cTn>
                        </p:par>
                        <p:par>
                          <p:cTn id="237" fill="hold">
                            <p:stCondLst>
                              <p:cond delay="200"/>
                            </p:stCondLst>
                            <p:childTnLst>
                              <p:par>
                                <p:cTn id="238" presetID="10" presetClass="entr" presetSubtype="0" fill="hold" grpId="0" nodeType="afterEffect">
                                  <p:stCondLst>
                                    <p:cond delay="0"/>
                                  </p:stCondLst>
                                  <p:childTnLst>
                                    <p:set>
                                      <p:cBhvr>
                                        <p:cTn id="239" dur="1" fill="hold">
                                          <p:stCondLst>
                                            <p:cond delay="0"/>
                                          </p:stCondLst>
                                        </p:cTn>
                                        <p:tgtEl>
                                          <p:spTgt spid="60"/>
                                        </p:tgtEl>
                                        <p:attrNameLst>
                                          <p:attrName>style.visibility</p:attrName>
                                        </p:attrNameLst>
                                      </p:cBhvr>
                                      <p:to>
                                        <p:strVal val="visible"/>
                                      </p:to>
                                    </p:set>
                                    <p:animEffect transition="in" filter="fade">
                                      <p:cBhvr>
                                        <p:cTn id="240" dur="550"/>
                                        <p:tgtEl>
                                          <p:spTgt spid="60"/>
                                        </p:tgtEl>
                                      </p:cBhvr>
                                    </p:animEffect>
                                  </p:childTnLst>
                                </p:cTn>
                              </p:par>
                            </p:childTnLst>
                          </p:cTn>
                        </p:par>
                        <p:par>
                          <p:cTn id="241" fill="hold">
                            <p:stCondLst>
                              <p:cond delay="350"/>
                            </p:stCondLst>
                            <p:childTnLst>
                              <p:par>
                                <p:cTn id="242" presetID="10" presetClass="entr" presetSubtype="0" fill="hold" grpId="0" nodeType="afterEffect">
                                  <p:stCondLst>
                                    <p:cond delay="0"/>
                                  </p:stCondLst>
                                  <p:childTnLst>
                                    <p:set>
                                      <p:cBhvr>
                                        <p:cTn id="243" dur="1" fill="hold">
                                          <p:stCondLst>
                                            <p:cond delay="0"/>
                                          </p:stCondLst>
                                        </p:cTn>
                                        <p:tgtEl>
                                          <p:spTgt spid="62"/>
                                        </p:tgtEl>
                                        <p:attrNameLst>
                                          <p:attrName>style.visibility</p:attrName>
                                        </p:attrNameLst>
                                      </p:cBhvr>
                                      <p:to>
                                        <p:strVal val="visible"/>
                                      </p:to>
                                    </p:set>
                                    <p:animEffect transition="in" filter="fade">
                                      <p:cBhvr>
                                        <p:cTn id="244" dur="550"/>
                                        <p:tgtEl>
                                          <p:spTgt spid="62"/>
                                        </p:tgtEl>
                                      </p:cBhvr>
                                    </p:animEffect>
                                  </p:childTnLst>
                                </p:cTn>
                              </p:par>
                            </p:childTnLst>
                          </p:cTn>
                        </p:par>
                        <p:par>
                          <p:cTn id="245" fill="hold">
                            <p:stCondLst>
                              <p:cond delay="500"/>
                            </p:stCondLst>
                            <p:childTnLst>
                              <p:par>
                                <p:cTn id="246" presetID="2" presetClass="entr" presetSubtype="8" fill="hold" grpId="0" nodeType="afterEffect">
                                  <p:stCondLst>
                                    <p:cond delay="0"/>
                                  </p:stCondLst>
                                  <p:childTnLst>
                                    <p:set>
                                      <p:cBhvr>
                                        <p:cTn id="247" dur="1" fill="hold">
                                          <p:stCondLst>
                                            <p:cond delay="0"/>
                                          </p:stCondLst>
                                        </p:cTn>
                                        <p:tgtEl>
                                          <p:spTgt spid="61"/>
                                        </p:tgtEl>
                                        <p:attrNameLst>
                                          <p:attrName>style.visibility</p:attrName>
                                        </p:attrNameLst>
                                      </p:cBhvr>
                                      <p:to>
                                        <p:strVal val="visible"/>
                                      </p:to>
                                    </p:set>
                                    <p:anim calcmode="lin" valueType="num">
                                      <p:cBhvr additive="base">
                                        <p:cTn id="249" dur="550" fill="hold"/>
                                        <p:tgtEl>
                                          <p:spTgt spid="61"/>
                                        </p:tgtEl>
                                        <p:attrNameLst>
                                          <p:attrName>ppt_x</p:attrName>
                                        </p:attrNameLst>
                                      </p:cBhvr>
                                      <p:tavLst>
                                        <p:tav tm="0">
                                          <p:val>
                                            <p:strVal val="0-#ppt_w/2"/>
                                          </p:val>
                                        </p:tav>
                                        <p:tav tm="100000">
                                          <p:val>
                                            <p:strVal val="#ppt_x"/>
                                          </p:val>
                                        </p:tav>
                                      </p:tavLst>
                                    </p:anim>
                                    <p:anim calcmode="lin" valueType="num">
                                      <p:cBhvr additive="base">
                                        <p:cTn id="250" dur="550" fill="hold"/>
                                        <p:tgtEl>
                                          <p:spTgt spid="61"/>
                                        </p:tgtEl>
                                        <p:attrNameLst>
                                          <p:attrName>ppt_y</p:attrName>
                                        </p:attrNameLst>
                                      </p:cBhvr>
                                      <p:tavLst>
                                        <p:tav tm="0">
                                          <p:val>
                                            <p:strVal val="#ppt_y"/>
                                          </p:val>
                                        </p:tav>
                                        <p:tav tm="100000">
                                          <p:val>
                                            <p:strVal val="#ppt_y"/>
                                          </p:val>
                                        </p:tav>
                                      </p:tavLst>
                                    </p:anim>
                                  </p:childTnLst>
                                </p:cTn>
                              </p:par>
                            </p:childTnLst>
                          </p:cTn>
                        </p:par>
                        <p:par>
                          <p:cTn id="251" fill="hold">
                            <p:stCondLst>
                              <p:cond delay="650"/>
                            </p:stCondLst>
                            <p:childTnLst>
                              <p:par>
                                <p:cTn id="252" presetID="42" presetClass="entr" presetSubtype="0" fill="hold" grpId="0" nodeType="afterEffect">
                                  <p:stCondLst>
                                    <p:cond delay="0"/>
                                  </p:stCondLst>
                                  <p:childTnLst>
                                    <p:set>
                                      <p:cBhvr>
                                        <p:cTn id="253" dur="1" fill="hold">
                                          <p:stCondLst>
                                            <p:cond delay="0"/>
                                          </p:stCondLst>
                                        </p:cTn>
                                        <p:tgtEl>
                                          <p:spTgt spid="63"/>
                                        </p:tgtEl>
                                        <p:attrNameLst>
                                          <p:attrName>style.visibility</p:attrName>
                                        </p:attrNameLst>
                                      </p:cBhvr>
                                      <p:to>
                                        <p:strVal val="visible"/>
                                      </p:to>
                                    </p:set>
                                    <p:animEffect transition="in" filter="fade">
                                      <p:cBhvr>
                                        <p:cTn id="254" dur="550"/>
                                        <p:tgtEl>
                                          <p:spTgt spid="63"/>
                                        </p:tgtEl>
                                      </p:cBhvr>
                                    </p:animEffect>
                                    <p:anim calcmode="lin" valueType="num">
                                      <p:cBhvr additive="base">
                                        <p:cTn id="255" dur="550" fill="hold"/>
                                        <p:tgtEl>
                                          <p:spTgt spid="63"/>
                                        </p:tgtEl>
                                        <p:attrNameLst>
                                          <p:attrName>ppt_x</p:attrName>
                                        </p:attrNameLst>
                                      </p:cBhvr>
                                      <p:tavLst>
                                        <p:tav tm="0">
                                          <p:val>
                                            <p:strVal val="#ppt_x"/>
                                          </p:val>
                                        </p:tav>
                                        <p:tav tm="100000">
                                          <p:val>
                                            <p:strVal val="#ppt_x"/>
                                          </p:val>
                                        </p:tav>
                                      </p:tavLst>
                                    </p:anim>
                                    <p:anim calcmode="lin" valueType="num">
                                      <p:cBhvr additive="base">
                                        <p:cTn id="256" dur="550" fill="hold"/>
                                        <p:tgtEl>
                                          <p:spTgt spid="63"/>
                                        </p:tgtEl>
                                        <p:attrNameLst>
                                          <p:attrName>ppt_y</p:attrName>
                                        </p:attrNameLst>
                                      </p:cBhvr>
                                      <p:tavLst>
                                        <p:tav tm="0">
                                          <p:val>
                                            <p:strVal val="#ppt_y+.08"/>
                                          </p:val>
                                        </p:tav>
                                        <p:tav tm="100000">
                                          <p:val>
                                            <p:strVal val="#ppt_y"/>
                                          </p:val>
                                        </p:tav>
                                      </p:tavLst>
                                    </p:anim>
                                  </p:childTnLst>
                                </p:cTn>
                              </p:par>
                            </p:childTnLst>
                          </p:cTn>
                        </p:par>
                        <p:par>
                          <p:cTn id="257" fill="hold">
                            <p:stCondLst>
                              <p:cond delay="800"/>
                            </p:stCondLst>
                            <p:childTnLst>
                              <p:par>
                                <p:cTn id="258" presetID="22" presetClass="entr" presetSubtype="8" fill="hold" grpId="0" nodeType="afterEffect">
                                  <p:stCondLst>
                                    <p:cond delay="0"/>
                                  </p:stCondLst>
                                  <p:childTnLst>
                                    <p:set>
                                      <p:cBhvr>
                                        <p:cTn id="259" dur="1" fill="hold">
                                          <p:stCondLst>
                                            <p:cond delay="0"/>
                                          </p:stCondLst>
                                        </p:cTn>
                                        <p:tgtEl>
                                          <p:spTgt spid="64"/>
                                        </p:tgtEl>
                                        <p:attrNameLst>
                                          <p:attrName>style.visibility</p:attrName>
                                        </p:attrNameLst>
                                      </p:cBhvr>
                                      <p:to>
                                        <p:strVal val="visible"/>
                                      </p:to>
                                    </p:set>
                                    <p:animEffect transition="in" filter="wipe(left)">
                                      <p:cBhvr>
                                        <p:cTn id="261" dur="800"/>
                                        <p:tgtEl>
                                          <p:spTgt spid="64"/>
                                        </p:tgtEl>
                                      </p:cBhvr>
                                    </p:animEffect>
                                  </p:childTnLst>
                                </p:cTn>
                              </p:par>
                            </p:childTnLst>
                          </p:cTn>
                        </p:par>
                        <p:par>
                          <p:cTn id="262" fill="hold">
                            <p:stCondLst>
                              <p:cond delay="950"/>
                            </p:stCondLst>
                            <p:childTnLst>
                              <p:par>
                                <p:cTn id="263" presetID="10" presetClass="entr" presetSubtype="0" fill="hold" grpId="0" nodeType="afterEffect">
                                  <p:stCondLst>
                                    <p:cond delay="0"/>
                                  </p:stCondLst>
                                  <p:childTnLst>
                                    <p:set>
                                      <p:cBhvr>
                                        <p:cTn id="264" dur="1" fill="hold">
                                          <p:stCondLst>
                                            <p:cond delay="0"/>
                                          </p:stCondLst>
                                        </p:cTn>
                                        <p:tgtEl>
                                          <p:spTgt spid="65"/>
                                        </p:tgtEl>
                                        <p:attrNameLst>
                                          <p:attrName>style.visibility</p:attrName>
                                        </p:attrNameLst>
                                      </p:cBhvr>
                                      <p:to>
                                        <p:strVal val="visible"/>
                                      </p:to>
                                    </p:set>
                                    <p:animEffect transition="in" filter="fade">
                                      <p:cBhvr>
                                        <p:cTn id="265" dur="55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8" grpId="0" animBg="1"/>
      <p:bldP spid="57" grpId="0" animBg="1"/>
      <p:bldP spid="60" grpId="0" animBg="1"/>
      <p:bldP spid="62" grpId="0" animBg="1"/>
      <p:bldP spid="61" grpId="0" animBg="1"/>
      <p:bldP spid="63" grpId="0" animBg="1"/>
      <p:bldP spid="64" grpId="0" animBg="1"/>
      <p:bldP spid="65"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Etik me'yorlar va xalqaro standartlar landshafti</a:t>
            </a:r>
          </a:p>
        </p:txBody>
      </p:sp>
      <p:sp>
        <p:nvSpPr>
          <p:cNvPr id="27" name="Rounded Rectangle 26"/>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Mas'uliyatli sun'iy intellekt (Responsible AI) konsepsiyasi</a:t>
            </a:r>
          </a:p>
        </p:txBody>
      </p:sp>
      <p:sp>
        <p:nvSpPr>
          <p:cNvPr id="31" name="Rounded Rectangle 30"/>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Adolatlilik (Fairness): ta'riflar, metrikalar va ziddiyatlar</a:t>
            </a:r>
          </a:p>
        </p:txBody>
      </p:sp>
      <p:sp>
        <p:nvSpPr>
          <p:cNvPr id="35" name="Rounded Rectangle 34"/>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Shaffoflik va tushuntiriladigan sun'iy intellekt (XAI)</a:t>
            </a:r>
          </a:p>
        </p:txBody>
      </p:sp>
      <p:sp>
        <p:nvSpPr>
          <p:cNvPr id="39" name="Rounded Rectangle 38"/>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Ishonchlilik, mustahkamlik va hisobdorlik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25f067dc154b7849.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Celsoazevedo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Etik me'yorlar va xalqaro standartlar landshafti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me'yorlar va xalqaro standartlar landshafti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SI etikasi bo'yicha hujjatlarni uch darajaga ajratish foydali: tamoyillar (nima qilish kerak), standartlar (qanday tashkil qilish kerak) va qonunlar (nima majburiy).</a:t>
            </a:r>
          </a:p>
          <a:p>
            <a:pPr>
              <a:spcBef>
                <a:spcPts val="400"/>
              </a:spcBef>
            </a:pPr>
            <a:r>
              <a:rPr sz="1600">
                <a:solidFill>
                  <a:srgbClr val="AEBBD9"/>
                </a:solidFill>
                <a:latin typeface="Segoe UI"/>
              </a:rPr>
              <a:t>Tamoyillar darajasida eng ta'sirlilari — OECD SI tamoyillari (2019, 2024-yilda yangilangan; 47 dan ortiq davlat qo'shilgan) va UNESCO ning SI etikasi bo'yicha tavsiyasi (2021, 193 a'zo davlat tomonidan qabul qilingan).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me'yorlar va xalqaro standartlar landshafti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aeb42d11be26d827.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Psthaker10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531520"/>
            <a:ext cx="50000" cy="25169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ISO/IEC 42001 alohida e'tiborga loyiq, chunki u ISO 9001 (sifat) va ISO/IEC 27001 (axborot xavfsizligi) kabi «boshqaruv tizimi» standartidir: u modelning o'zini emas, balki tashkilotning SI ni ishlab chiqish va qo'llash jarayonini sertifikatlaydi.</a:t>
            </a:r>
          </a:p>
          <a:p>
            <a:pPr>
              <a:spcBef>
                <a:spcPts val="400"/>
              </a:spcBef>
            </a:pPr>
            <a:r>
              <a:rPr sz="1400">
                <a:solidFill>
                  <a:srgbClr val="AEBBD9"/>
                </a:solidFill>
                <a:latin typeface="Segoe UI"/>
              </a:rPr>
              <a:t>Standart Annex A da 38 ta nazorat chorasini (control) belgilaydi — SI siyosati, ichki tashkilot, SI tizimlari resurslari, ta'sirni baholash, hayot sikli, ma'lumotlar, manfaatdor tomonlar uchun axborot, foydalanish va uchinchi tomonlar bilan munosabatlar bo'yicha.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me'yorlar va xalqaro standartlar landshafti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Qonunlar darajasida EU AI Act xavfga asoslangan yondashuvni qo'llaydi: taqiqlangan amaliyotlar (ijtimoiy reyting, ish joyida his-tuyg'ularni tanish, nozik belgilarga ko'ra biometrik tasniflash — 2025-yil fevralidan taqiqlangan), yuqori xavfli tizimlar (Annex…</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Yuqori xavfli tizimlar uchun 9–15-moddalar texnik talablarni belgilaydi: risk boshqaruv tizimi (9-modda), ma'lumotlar va ularni boshqarish (10), texnik hujjatlar (11), avtomatik jurnallash (12), shaffoflik va foydalanuvchiga axborot (13), inson nazorati (14)…</a:t>
            </a:r>
          </a:p>
          <a:p>
            <a:pPr>
              <a:spcBef>
                <a:spcPts val="400"/>
              </a:spcBef>
            </a:pPr>
            <a:r>
              <a:rPr sz="1400">
                <a:solidFill>
                  <a:srgbClr val="AEBBD9"/>
                </a:solidFill>
                <a:latin typeface="Segoe UI"/>
              </a:rPr>
              <a:t>Jarimalar taqiqlangan amaliyot uchun 35 million yevro yoki global aylanmaning 7 % igacha, boshqa buzilishlar uchun 15 million yevro yoki 3 % gacha yetadi.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me'yorlar va xalqaro standartlar landshafti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graphicFrame>
        <p:nvGraphicFramePr>
          <p:cNvPr id="23" name="Table 22"/>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Hujjat</a:t>
                      </a:r>
                    </a:p>
                  </a:txBody>
                  <a:tcPr>
                    <a:solidFill>
                      <a:srgbClr val="1C2755"/>
                    </a:solidFill>
                  </a:tcPr>
                </a:tc>
                <a:tc>
                  <a:txBody>
                    <a:bodyPr/>
                    <a:lstStyle/>
                    <a:p>
                      <a:r>
                        <a:rPr sz="1200" b="1">
                          <a:solidFill>
                            <a:srgbClr val="22D3EE"/>
                          </a:solidFill>
                          <a:latin typeface="Segoe UI"/>
                        </a:rPr>
                        <a:t>Yili</a:t>
                      </a:r>
                    </a:p>
                  </a:txBody>
                  <a:tcPr>
                    <a:solidFill>
                      <a:srgbClr val="1C2755"/>
                    </a:solidFill>
                  </a:tcPr>
                </a:tc>
                <a:tc>
                  <a:txBody>
                    <a:bodyPr/>
                    <a:lstStyle/>
                    <a:p>
                      <a:r>
                        <a:rPr sz="1200" b="1">
                          <a:solidFill>
                            <a:srgbClr val="22D3EE"/>
                          </a:solidFill>
                          <a:latin typeface="Segoe UI"/>
                        </a:rPr>
                        <a:t>Mohiyati</a:t>
                      </a:r>
                    </a:p>
                  </a:txBody>
                  <a:tcPr>
                    <a:solidFill>
                      <a:srgbClr val="1C2755"/>
                    </a:solidFill>
                  </a:tcPr>
                </a:tc>
                <a:tc>
                  <a:txBody>
                    <a:bodyPr/>
                    <a:lstStyle/>
                    <a:p>
                      <a:r>
                        <a:rPr sz="1200" b="1">
                          <a:solidFill>
                            <a:srgbClr val="22D3EE"/>
                          </a:solidFill>
                          <a:latin typeface="Segoe UI"/>
                        </a:rPr>
                        <a:t>Muhandis uchun ma'nosi</a:t>
                      </a:r>
                    </a:p>
                  </a:txBody>
                  <a:tcPr>
                    <a:solidFill>
                      <a:srgbClr val="1C2755"/>
                    </a:solidFill>
                  </a:tcPr>
                </a:tc>
              </a:tr>
              <a:tr h="520000">
                <a:tc>
                  <a:txBody>
                    <a:bodyPr/>
                    <a:lstStyle/>
                    <a:p>
                      <a:r>
                        <a:rPr sz="1200" b="0">
                          <a:solidFill>
                            <a:srgbClr val="E8EEFA"/>
                          </a:solidFill>
                          <a:latin typeface="Segoe UI"/>
                        </a:rPr>
                        <a:t>ISO/IEC 22989</a:t>
                      </a:r>
                    </a:p>
                  </a:txBody>
                  <a:tcPr>
                    <a:solidFill>
                      <a:srgbClr val="111834"/>
                    </a:solidFill>
                  </a:tcPr>
                </a:tc>
                <a:tc>
                  <a:txBody>
                    <a:bodyPr/>
                    <a:lstStyle/>
                    <a:p>
                      <a:r>
                        <a:rPr sz="1200" b="0">
                          <a:solidFill>
                            <a:srgbClr val="E8EEFA"/>
                          </a:solidFill>
                          <a:latin typeface="Segoe UI"/>
                        </a:rPr>
                        <a:t>2022</a:t>
                      </a:r>
                    </a:p>
                  </a:txBody>
                  <a:tcPr>
                    <a:solidFill>
                      <a:srgbClr val="111834"/>
                    </a:solidFill>
                  </a:tcPr>
                </a:tc>
                <a:tc>
                  <a:txBody>
                    <a:bodyPr/>
                    <a:lstStyle/>
                    <a:p>
                      <a:r>
                        <a:rPr sz="1200" b="0">
                          <a:solidFill>
                            <a:srgbClr val="E8EEFA"/>
                          </a:solidFill>
                          <a:latin typeface="Segoe UI"/>
                        </a:rPr>
                        <a:t>SI tushunchalari va terminologiyasi</a:t>
                      </a:r>
                    </a:p>
                  </a:txBody>
                  <a:tcPr>
                    <a:solidFill>
                      <a:srgbClr val="111834"/>
                    </a:solidFill>
                  </a:tcPr>
                </a:tc>
                <a:tc>
                  <a:txBody>
                    <a:bodyPr/>
                    <a:lstStyle/>
                    <a:p>
                      <a:r>
                        <a:rPr sz="1200" b="0">
                          <a:solidFill>
                            <a:srgbClr val="E8EEFA"/>
                          </a:solidFill>
                          <a:latin typeface="Segoe UI"/>
                        </a:rPr>
                        <a:t>yagona lug'at, hujjatlarda izchil atamalar</a:t>
                      </a:r>
                    </a:p>
                  </a:txBody>
                  <a:tcPr>
                    <a:solidFill>
                      <a:srgbClr val="111834"/>
                    </a:solidFill>
                  </a:tcPr>
                </a:tc>
              </a:tr>
              <a:tr h="520000">
                <a:tc>
                  <a:txBody>
                    <a:bodyPr/>
                    <a:lstStyle/>
                    <a:p>
                      <a:r>
                        <a:rPr sz="1200" b="0">
                          <a:solidFill>
                            <a:srgbClr val="E8EEFA"/>
                          </a:solidFill>
                          <a:latin typeface="Segoe UI"/>
                        </a:rPr>
                        <a:t>ISO/IEC 23894</a:t>
                      </a:r>
                    </a:p>
                  </a:txBody>
                  <a:tcPr>
                    <a:solidFill>
                      <a:srgbClr val="161F40"/>
                    </a:solidFill>
                  </a:tcPr>
                </a:tc>
                <a:tc>
                  <a:txBody>
                    <a:bodyPr/>
                    <a:lstStyle/>
                    <a:p>
                      <a:r>
                        <a:rPr sz="1200" b="0">
                          <a:solidFill>
                            <a:srgbClr val="E8EEFA"/>
                          </a:solidFill>
                          <a:latin typeface="Segoe UI"/>
                        </a:rPr>
                        <a:t>2023</a:t>
                      </a:r>
                    </a:p>
                  </a:txBody>
                  <a:tcPr>
                    <a:solidFill>
                      <a:srgbClr val="161F40"/>
                    </a:solidFill>
                  </a:tcPr>
                </a:tc>
                <a:tc>
                  <a:txBody>
                    <a:bodyPr/>
                    <a:lstStyle/>
                    <a:p>
                      <a:r>
                        <a:rPr sz="1200" b="0">
                          <a:solidFill>
                            <a:srgbClr val="E8EEFA"/>
                          </a:solidFill>
                          <a:latin typeface="Segoe UI"/>
                        </a:rPr>
                        <a:t>SI uchun risklarni boshqarish bo'yicha yo'riqnoma (ISO 31000 asosida)</a:t>
                      </a:r>
                    </a:p>
                  </a:txBody>
                  <a:tcPr>
                    <a:solidFill>
                      <a:srgbClr val="161F40"/>
                    </a:solidFill>
                  </a:tcPr>
                </a:tc>
                <a:tc>
                  <a:txBody>
                    <a:bodyPr/>
                    <a:lstStyle/>
                    <a:p>
                      <a:r>
                        <a:rPr sz="1200" b="0">
                          <a:solidFill>
                            <a:srgbClr val="E8EEFA"/>
                          </a:solidFill>
                          <a:latin typeface="Segoe UI"/>
                        </a:rPr>
                        <a:t>risk reestri, SI hayot sikli bo'ylab tahdidlar</a:t>
                      </a:r>
                    </a:p>
                  </a:txBody>
                  <a:tcPr>
                    <a:solidFill>
                      <a:srgbClr val="161F40"/>
                    </a:solidFill>
                  </a:tcPr>
                </a:tc>
              </a:tr>
              <a:tr h="520000">
                <a:tc>
                  <a:txBody>
                    <a:bodyPr/>
                    <a:lstStyle/>
                    <a:p>
                      <a:r>
                        <a:rPr sz="1200" b="0">
                          <a:solidFill>
                            <a:srgbClr val="E8EEFA"/>
                          </a:solidFill>
                          <a:latin typeface="Segoe UI"/>
                        </a:rPr>
                        <a:t>ISO/IEC 42001</a:t>
                      </a:r>
                    </a:p>
                  </a:txBody>
                  <a:tcPr>
                    <a:solidFill>
                      <a:srgbClr val="111834"/>
                    </a:solidFill>
                  </a:tcPr>
                </a:tc>
                <a:tc>
                  <a:txBody>
                    <a:bodyPr/>
                    <a:lstStyle/>
                    <a:p>
                      <a:r>
                        <a:rPr sz="1200" b="0">
                          <a:solidFill>
                            <a:srgbClr val="E8EEFA"/>
                          </a:solidFill>
                          <a:latin typeface="Segoe UI"/>
                        </a:rPr>
                        <a:t>2023</a:t>
                      </a:r>
                    </a:p>
                  </a:txBody>
                  <a:tcPr>
                    <a:solidFill>
                      <a:srgbClr val="111834"/>
                    </a:solidFill>
                  </a:tcPr>
                </a:tc>
                <a:tc>
                  <a:txBody>
                    <a:bodyPr/>
                    <a:lstStyle/>
                    <a:p>
                      <a:r>
                        <a:rPr sz="1200" b="0">
                          <a:solidFill>
                            <a:srgbClr val="E8EEFA"/>
                          </a:solidFill>
                          <a:latin typeface="Segoe UI"/>
                        </a:rPr>
                        <a:t>SI boshqaruv tizimi (AI Management System, AIMS) — sertifikatlanadigan</a:t>
                      </a:r>
                    </a:p>
                  </a:txBody>
                  <a:tcPr>
                    <a:solidFill>
                      <a:srgbClr val="111834"/>
                    </a:solidFill>
                  </a:tcPr>
                </a:tc>
                <a:tc>
                  <a:txBody>
                    <a:bodyPr/>
                    <a:lstStyle/>
                    <a:p>
                      <a:r>
                        <a:rPr sz="1200" b="0">
                          <a:solidFill>
                            <a:srgbClr val="E8EEFA"/>
                          </a:solidFill>
                          <a:latin typeface="Segoe UI"/>
                        </a:rPr>
                        <a:t>tashkilot darajasida siyosat, rollar, audit, uzluksiz takomillashtirish</a:t>
                      </a:r>
                    </a:p>
                  </a:txBody>
                  <a:tcPr>
                    <a:solidFill>
                      <a:srgbClr val="111834"/>
                    </a:solidFill>
                  </a:tcPr>
                </a:tc>
              </a:tr>
              <a:tr h="520000">
                <a:tc>
                  <a:txBody>
                    <a:bodyPr/>
                    <a:lstStyle/>
                    <a:p>
                      <a:r>
                        <a:rPr sz="1200" b="0">
                          <a:solidFill>
                            <a:srgbClr val="E8EEFA"/>
                          </a:solidFill>
                          <a:latin typeface="Segoe UI"/>
                        </a:rPr>
                        <a:t>ISO/IEC TR 24027</a:t>
                      </a:r>
                    </a:p>
                  </a:txBody>
                  <a:tcPr>
                    <a:solidFill>
                      <a:srgbClr val="161F40"/>
                    </a:solidFill>
                  </a:tcPr>
                </a:tc>
                <a:tc>
                  <a:txBody>
                    <a:bodyPr/>
                    <a:lstStyle/>
                    <a:p>
                      <a:r>
                        <a:rPr sz="1200" b="0">
                          <a:solidFill>
                            <a:srgbClr val="E8EEFA"/>
                          </a:solidFill>
                          <a:latin typeface="Segoe UI"/>
                        </a:rPr>
                        <a:t>2021</a:t>
                      </a:r>
                    </a:p>
                  </a:txBody>
                  <a:tcPr>
                    <a:solidFill>
                      <a:srgbClr val="161F40"/>
                    </a:solidFill>
                  </a:tcPr>
                </a:tc>
                <a:tc>
                  <a:txBody>
                    <a:bodyPr/>
                    <a:lstStyle/>
                    <a:p>
                      <a:r>
                        <a:rPr sz="1200" b="0">
                          <a:solidFill>
                            <a:srgbClr val="E8EEFA"/>
                          </a:solidFill>
                          <a:latin typeface="Segoe UI"/>
                        </a:rPr>
                        <a:t>SI tizimlarida noxolislik (bias) va qarorlar</a:t>
                      </a:r>
                    </a:p>
                  </a:txBody>
                  <a:tcPr>
                    <a:solidFill>
                      <a:srgbClr val="161F40"/>
                    </a:solidFill>
                  </a:tcPr>
                </a:tc>
                <a:tc>
                  <a:txBody>
                    <a:bodyPr/>
                    <a:lstStyle/>
                    <a:p>
                      <a:r>
                        <a:rPr sz="1200" b="0">
                          <a:solidFill>
                            <a:srgbClr val="E8EEFA"/>
                          </a:solidFill>
                          <a:latin typeface="Segoe UI"/>
                        </a:rPr>
                        <a:t>noxolislik manbalari tasnifi va o'lchash usullari</a:t>
                      </a:r>
                    </a:p>
                  </a:txBody>
                  <a:tcPr>
                    <a:solidFill>
                      <a:srgbClr val="161F40"/>
                    </a:solidFill>
                  </a:tcPr>
                </a:tc>
              </a:tr>
              <a:tr h="520000">
                <a:tc>
                  <a:txBody>
                    <a:bodyPr/>
                    <a:lstStyle/>
                    <a:p>
                      <a:r>
                        <a:rPr sz="1200" b="0">
                          <a:solidFill>
                            <a:srgbClr val="E8EEFA"/>
                          </a:solidFill>
                          <a:latin typeface="Segoe UI"/>
                        </a:rPr>
                        <a:t>ISO/IEC TR 24028</a:t>
                      </a:r>
                    </a:p>
                  </a:txBody>
                  <a:tcPr>
                    <a:solidFill>
                      <a:srgbClr val="111834"/>
                    </a:solidFill>
                  </a:tcPr>
                </a:tc>
                <a:tc>
                  <a:txBody>
                    <a:bodyPr/>
                    <a:lstStyle/>
                    <a:p>
                      <a:r>
                        <a:rPr sz="1200" b="0">
                          <a:solidFill>
                            <a:srgbClr val="E8EEFA"/>
                          </a:solidFill>
                          <a:latin typeface="Segoe UI"/>
                        </a:rPr>
                        <a:t>2020</a:t>
                      </a:r>
                    </a:p>
                  </a:txBody>
                  <a:tcPr>
                    <a:solidFill>
                      <a:srgbClr val="111834"/>
                    </a:solidFill>
                  </a:tcPr>
                </a:tc>
                <a:tc>
                  <a:txBody>
                    <a:bodyPr/>
                    <a:lstStyle/>
                    <a:p>
                      <a:r>
                        <a:rPr sz="1200" b="0">
                          <a:solidFill>
                            <a:srgbClr val="E8EEFA"/>
                          </a:solidFill>
                          <a:latin typeface="Segoe UI"/>
                        </a:rPr>
                        <a:t>SI ishonchliligi (trustworthiness) umumiy ko'rinishi</a:t>
                      </a:r>
                    </a:p>
                  </a:txBody>
                  <a:tcPr>
                    <a:solidFill>
                      <a:srgbClr val="111834"/>
                    </a:solidFill>
                  </a:tcPr>
                </a:tc>
                <a:tc>
                  <a:txBody>
                    <a:bodyPr/>
                    <a:lstStyle/>
                    <a:p>
                      <a:r>
                        <a:rPr sz="1200" b="0">
                          <a:solidFill>
                            <a:srgbClr val="E8EEFA"/>
                          </a:solidFill>
                          <a:latin typeface="Segoe UI"/>
                        </a:rPr>
                        <a:t>ishonchlilik xususiyatlari ro'yxati</a:t>
                      </a:r>
                    </a:p>
                  </a:txBody>
                  <a:tcPr>
                    <a:solidFill>
                      <a:srgbClr val="111834"/>
                    </a:solidFill>
                  </a:tcPr>
                </a:tc>
              </a:tr>
              <a:tr h="520000">
                <a:tc>
                  <a:txBody>
                    <a:bodyPr/>
                    <a:lstStyle/>
                    <a:p>
                      <a:r>
                        <a:rPr sz="1200" b="0">
                          <a:solidFill>
                            <a:srgbClr val="E8EEFA"/>
                          </a:solidFill>
                          <a:latin typeface="Segoe UI"/>
                        </a:rPr>
                        <a:t>NIST AI RMF 1.0</a:t>
                      </a:r>
                    </a:p>
                  </a:txBody>
                  <a:tcPr>
                    <a:solidFill>
                      <a:srgbClr val="161F40"/>
                    </a:solidFill>
                  </a:tcPr>
                </a:tc>
                <a:tc>
                  <a:txBody>
                    <a:bodyPr/>
                    <a:lstStyle/>
                    <a:p>
                      <a:r>
                        <a:rPr sz="1200" b="0">
                          <a:solidFill>
                            <a:srgbClr val="E8EEFA"/>
                          </a:solidFill>
                          <a:latin typeface="Segoe UI"/>
                        </a:rPr>
                        <a:t>2023</a:t>
                      </a:r>
                    </a:p>
                  </a:txBody>
                  <a:tcPr>
                    <a:solidFill>
                      <a:srgbClr val="161F40"/>
                    </a:solidFill>
                  </a:tcPr>
                </a:tc>
                <a:tc>
                  <a:txBody>
                    <a:bodyPr/>
                    <a:lstStyle/>
                    <a:p>
                      <a:r>
                        <a:rPr sz="1200" b="0">
                          <a:solidFill>
                            <a:srgbClr val="E8EEFA"/>
                          </a:solidFill>
                          <a:latin typeface="Segoe UI"/>
                        </a:rPr>
                        <a:t>AQSh risk boshqaruv asosi: Govern, Map, Measure, Manage</a:t>
                      </a:r>
                    </a:p>
                  </a:txBody>
                  <a:tcPr>
                    <a:solidFill>
                      <a:srgbClr val="161F40"/>
                    </a:solidFill>
                  </a:tcPr>
                </a:tc>
                <a:tc>
                  <a:txBody>
                    <a:bodyPr/>
                    <a:lstStyle/>
                    <a:p>
                      <a:r>
                        <a:rPr sz="1200" b="0">
                          <a:solidFill>
                            <a:srgbClr val="E8EEFA"/>
                          </a:solidFill>
                          <a:latin typeface="Segoe UI"/>
                        </a:rPr>
                        <a:t>ixtiyoriy, lekin amaliy «playbook» bilan</a:t>
                      </a:r>
                    </a:p>
                  </a:txBody>
                  <a:tcPr>
                    <a:solidFill>
                      <a:srgbClr val="161F40"/>
                    </a:solidFill>
                  </a:tcPr>
                </a:tc>
              </a:tr>
              <a:tr h="520000">
                <a:tc>
                  <a:txBody>
                    <a:bodyPr/>
                    <a:lstStyle/>
                    <a:p>
                      <a:r>
                        <a:rPr sz="1200" b="0">
                          <a:solidFill>
                            <a:srgbClr val="E8EEFA"/>
                          </a:solidFill>
                          <a:latin typeface="Segoe UI"/>
                        </a:rPr>
                        <a:t>IEEE 7000 / 7001</a:t>
                      </a:r>
                    </a:p>
                  </a:txBody>
                  <a:tcPr>
                    <a:solidFill>
                      <a:srgbClr val="111834"/>
                    </a:solidFill>
                  </a:tcPr>
                </a:tc>
                <a:tc>
                  <a:txBody>
                    <a:bodyPr/>
                    <a:lstStyle/>
                    <a:p>
                      <a:r>
                        <a:rPr sz="1200" b="0">
                          <a:solidFill>
                            <a:srgbClr val="E8EEFA"/>
                          </a:solidFill>
                          <a:latin typeface="Segoe UI"/>
                        </a:rPr>
                        <a:t>2021</a:t>
                      </a:r>
                    </a:p>
                  </a:txBody>
                  <a:tcPr>
                    <a:solidFill>
                      <a:srgbClr val="111834"/>
                    </a:solidFill>
                  </a:tcPr>
                </a:tc>
                <a:tc>
                  <a:txBody>
                    <a:bodyPr/>
                    <a:lstStyle/>
                    <a:p>
                      <a:r>
                        <a:rPr sz="1200" b="0">
                          <a:solidFill>
                            <a:srgbClr val="E8EEFA"/>
                          </a:solidFill>
                          <a:latin typeface="Segoe UI"/>
                        </a:rPr>
                        <a:t>qadriyatlarga asoslangan loyihalash; avtonom tizimlar shaffofligi</a:t>
                      </a:r>
                    </a:p>
                  </a:txBody>
                  <a:tcPr>
                    <a:solidFill>
                      <a:srgbClr val="111834"/>
                    </a:solidFill>
                  </a:tcPr>
                </a:tc>
                <a:tc>
                  <a:txBody>
                    <a:bodyPr/>
                    <a:lstStyle/>
                    <a:p>
                      <a:r>
                        <a:rPr sz="1200" b="0">
                          <a:solidFill>
                            <a:srgbClr val="E8EEFA"/>
                          </a:solidFill>
                          <a:latin typeface="Segoe UI"/>
                        </a:rPr>
                        <a:t>shaffoflik darajalarini o'lchanadigan qilish</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e18bba9a674daa6a.jpg"/>
          <p:cNvPicPr>
            <a:picLocks noChangeAspect="1"/>
          </p:cNvPicPr>
          <p:nvPr/>
        </p:nvPicPr>
        <p:blipFill>
          <a:blip r:embed="rId2"/>
          <a:srcRect l="25951" r="25951"/>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Authors of the study:     Nicholas Kluge Corrêa     Camila Galvão     James Will · Wikimedia Commons · CC BY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Mas'uliyatli sun'iy intellekt (Responsible AI) konsepsiyasi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Mas'uliyatli sun'iy intellekt (Responsible AI) konsepsiyasi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66df2df515d545ff.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Noah Wulf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Mas'uliyatli SI — bu tamoyillarni butun hayot sikli bo'ylab amalga oshiruvchi muhandislik va tashkiliy amaliyotlar to'plami.</a:t>
            </a:r>
          </a:p>
          <a:p>
            <a:pPr>
              <a:spcBef>
                <a:spcPts val="400"/>
              </a:spcBef>
            </a:pPr>
            <a:r>
              <a:rPr sz="1300">
                <a:solidFill>
                  <a:srgbClr val="AEBBD9"/>
                </a:solidFill>
                <a:latin typeface="Segoe UI"/>
              </a:rPr>
              <a:t>Uning yadrosi — SI tizimi texnik artefakt emas, balki ijtimoiy-texnik tizim (sociotechnical system) ekanini tan olish: model, ma'lumot, foydalanuvchi, operator, ta'sirlanuvchi shaxslar va tashkiliy jarayonlar birgalikda natijani belgilaydi.</a:t>
            </a:r>
          </a:p>
        </p:txBody>
      </p:sp>
      <p:sp>
        <p:nvSpPr>
          <p:cNvPr id="32" name="Rounded Rectangle 31"/>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Amaliyotda Responsible AI quyidagi artefaktlar orqali moddiylashadi.</a:t>
            </a:r>
          </a:p>
          <a:p>
            <a:pPr>
              <a:spcBef>
                <a:spcPts val="400"/>
              </a:spcBef>
            </a:pPr>
            <a:r>
              <a:rPr sz="1300">
                <a:solidFill>
                  <a:srgbClr val="AEBBD9"/>
                </a:solidFill>
                <a:latin typeface="Segoe UI"/>
              </a:rPr>
              <a:t>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Mas'uliyatli sun'iy intellekt (Responsible AI) konsepsiyasi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175734a0e242255.jpg"/>
          <p:cNvPicPr>
            <a:picLocks noChangeAspect="1"/>
          </p:cNvPicPr>
          <p:nvPr/>
        </p:nvPicPr>
        <p:blipFill>
          <a:blip r:embed="rId2"/>
          <a:srcRect l="1520" r="1520"/>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Wilfredor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Algoritmik ta'sir baholash (Algorithmic Impact Assessment) — tizim ishga tushirilishidan oldin ta'sirlanuvchi guruhlar, zarar stsenariylari va yumshatish choralari tahlili.</a:t>
            </a:r>
          </a:p>
          <a:p>
            <a:pPr>
              <a:spcBef>
                <a:spcPts val="400"/>
              </a:spcBef>
            </a:pPr>
            <a:r>
              <a:rPr sz="1600">
                <a:solidFill>
                  <a:srgbClr val="AEBBD9"/>
                </a:solidFill>
                <a:latin typeface="Segoe UI"/>
              </a:rPr>
              <a:t>Inson nazorati dizayni — qaror inson tomonidan tasdiqlanadimi (human-in-the-loop), kuzatiladimi (human-on-the-loop) yoki faqat auditda ko'riladimi, va insonning aralashish imkoniyati texnik jihatdan ta'minlanganmi.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Mas'uliyatli sun'iy intellekt (Responsible AI) konsepsiyasi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f6038acf0757ad6.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OpenCatMap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Muhim nuqta: mas'uliyatli SI tizimning har bir bosqichida qaror nuqtalarini o'z ichiga oladi.</a:t>
            </a:r>
          </a:p>
          <a:p>
            <a:pPr>
              <a:spcBef>
                <a:spcPts val="400"/>
              </a:spcBef>
            </a:pPr>
            <a:r>
              <a:rPr sz="1400">
                <a:solidFill>
                  <a:srgbClr val="AEBBD9"/>
                </a:solidFill>
                <a:latin typeface="Segoe UI"/>
              </a:rPr>
              <a:t>Muammo qo'yilishida — «bu masalani SI bilan yechish to'g'rimi» (ba'zan eng mas'uliyatli qaror — tizimni qurmaslik). Ma'lumot yig'ishda — vakillik (representativeness), rozilik, tarixiy noxolislik. Modellashtirishda — maqsad funksiyasi kimning manfaatini optimallashtiradi. Baholashda — umumiy aniqlik emas, balki guruhlar kesimidagi natijalar. Joylashtirishda — tushuntirish, shikoyat mexanizmi, monitoring.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704647d698882c1b.jpg"/>
          <p:cNvPicPr>
            <a:picLocks noChangeAspect="1"/>
          </p:cNvPicPr>
          <p:nvPr/>
        </p:nvPicPr>
        <p:blipFill>
          <a:blip r:embed="rId2"/>
          <a:srcRect l="10141" r="10141"/>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Nikodem Nijaki · Wikimedia Commons · CC BY-SA 3.0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Adolatlilik (Fairness): ta'riflar, metrikalar va ziddiyatlar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Adolatlilikning yagona ta'rifi yo'q — va bu matematik fakt, texnik kamchilik emas.</a:t>
            </a:r>
          </a:p>
          <a:p>
            <a:pPr>
              <a:spcBef>
                <a:spcPts val="400"/>
              </a:spcBef>
            </a:pPr>
            <a:r>
              <a:rPr sz="1400">
                <a:solidFill>
                  <a:srgbClr val="AEBBD9"/>
                </a:solidFill>
                <a:latin typeface="Segoe UI"/>
              </a:rPr>
              <a:t>Ikkilik tasniflash uchun asosiy guruh metrikalari quyidagilar (bu yerda Y — haqiqiy yorliq, Ŷ — bashorat, A — himoyalangan belgi, masalan jins yoki yosh guruhi):</a:t>
            </a:r>
          </a:p>
        </p:txBody>
      </p:sp>
      <p:sp>
        <p:nvSpPr>
          <p:cNvPr id="30" name="Rounded Rectangle 29"/>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Metrikalar odatda farq (difference, ideal 0) yoki nisbat (ratio, ideal 1) ko'rinishida hisoblanadi.</a:t>
            </a:r>
          </a:p>
          <a:p>
            <a:pPr>
              <a:spcBef>
                <a:spcPts val="400"/>
              </a:spcBef>
            </a:pPr>
            <a:r>
              <a:rPr sz="1400">
                <a:solidFill>
                  <a:srgbClr val="AEBBD9"/>
                </a:solidFill>
                <a:latin typeface="Segoe UI"/>
              </a:rPr>
              <a:t>AQSh bandlik amaliyotidan kelgan «to'rtdan besh qoidasi» (four-fifths rule) ga ko'ra, ijobiy qaror ulushlari nisbati 0,8 dan past bo'lsa, bu nomutanosib ta'sir (disparate impact) belgisi hisoblanadi — ko'p auditlarda shu chegara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eb42d11be26d827.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Psthaker10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959476"/>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0723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Imkonsizlik teoremasi (Chouldechova, 2017; Kleinberg va boshq., 2016) shuni aytadiki, guruhlarda asosiy chastota farq qilganda va model mukammal bo'lmaganda, kalibrlash, teng yolg'on ijobiy va teng yolg'on salbiy darajalarini bir vaqtda ta'minlab bo'lmaydi.</a:t>
            </a:r>
          </a:p>
          <a:p>
            <a:pPr>
              <a:spcBef>
                <a:spcPts val="400"/>
              </a:spcBef>
            </a:pPr>
            <a:r>
              <a:rPr sz="1300">
                <a:solidFill>
                  <a:srgbClr val="AEBBD9"/>
                </a:solidFill>
                <a:latin typeface="Segoe UI"/>
              </a:rPr>
              <a:t>Demak, metrika tanlovi — bu qiymat tanlovi, va u hujjatlashtirilishi, manfaatdor tomonlar bilan kelishilishi kerak.</a:t>
            </a:r>
          </a:p>
        </p:txBody>
      </p:sp>
      <p:sp>
        <p:nvSpPr>
          <p:cNvPr id="31" name="Rounded Rectangle 30"/>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69552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7276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Noxolislikni yumshatish usullari uch bosqichga bo'linadi.</a:t>
            </a:r>
          </a:p>
          <a:p>
            <a:pPr>
              <a:spcBef>
                <a:spcPts val="400"/>
              </a:spcBef>
            </a:pPr>
            <a:r>
              <a:rPr sz="1300">
                <a:solidFill>
                  <a:srgbClr val="AEBBD9"/>
                </a:solidFill>
                <a:latin typeface="Segoe UI"/>
              </a:rPr>
              <a:t>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607432"/>
            <a:ext cx="50000" cy="20475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431216"/>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8" name="TextBox 27"/>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Keyingi ishlov (post-processing): guruhlar uchun turli qaror chegaralari — Fairlearn dagi ThresholdOptimizer (Hardt va boshq., 2016).</a:t>
            </a:r>
          </a:p>
          <a:p>
            <a:pPr>
              <a:spcBef>
                <a:spcPts val="400"/>
              </a:spcBef>
            </a:pPr>
            <a:r>
              <a:rPr sz="1400">
                <a:solidFill>
                  <a:srgbClr val="AEBBD9"/>
                </a:solidFill>
                <a:latin typeface="Segoe UI"/>
              </a:rPr>
              <a:t>Muhim ogohlantirish: himoyalangan belgini shunchaki modeldan olib tashlash («adolatlilik ko'rmaslik orqali», fairness through unawareness) ishlamaydi, chunki boshqa belgilar (pochta indeksi, ism, ta'lim muassasasi) u bilan kuchli korrelyatsiyalangan proksi bo'lib xizmat qiladi.</a:t>
            </a:r>
          </a:p>
        </p:txBody>
      </p:sp>
      <p:sp>
        <p:nvSpPr>
          <p:cNvPr id="29" name="Rounded Rectangle 28"/>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204756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74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2" name="TextBox 31"/>
          <p:cNvSpPr txBox="1"/>
          <p:nvPr/>
        </p:nvSpPr>
        <p:spPr>
          <a:xfrm>
            <a:off x="1300000" y="3885000"/>
            <a:ext cx="5900000" cy="2127568"/>
          </a:xfrm>
          <a:prstGeom prst="rect">
            <a:avLst/>
          </a:prstGeom>
          <a:noFill/>
        </p:spPr>
        <p:txBody>
          <a:bodyPr wrap="square" anchor="ctr">
            <a:spAutoFit/>
          </a:bodyPr>
          <a:lstStyle/>
          <a:p>
            <a:r>
              <a:rPr sz="1400" b="0">
                <a:solidFill>
                  <a:srgbClr val="E8EEFA"/>
                </a:solidFill>
                <a:latin typeface="Segoe UI"/>
              </a:rPr>
              <a:t>Asosiy ochiq vositalar: Fairlearn (Microsoft tomonidan boshlangan, hozir mustaqil ochiq loyiha; metrikalar MetricFrame orqali, yumshatish algoritmlari, scikit-learn bilan mos) va AI Fairness 360 (IBM, 2018; 70 dan ortiq metrika va 10 dan ortiq yumshatish…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graphicFrame>
        <p:nvGraphicFramePr>
          <p:cNvPr id="22" name="Table 21"/>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Metrika</a:t>
                      </a:r>
                    </a:p>
                  </a:txBody>
                  <a:tcPr>
                    <a:solidFill>
                      <a:srgbClr val="1C2755"/>
                    </a:solidFill>
                  </a:tcPr>
                </a:tc>
                <a:tc>
                  <a:txBody>
                    <a:bodyPr/>
                    <a:lstStyle/>
                    <a:p>
                      <a:r>
                        <a:rPr sz="1200" b="1">
                          <a:solidFill>
                            <a:srgbClr val="22D3EE"/>
                          </a:solidFill>
                          <a:latin typeface="Segoe UI"/>
                        </a:rPr>
                        <a:t>Shart</a:t>
                      </a:r>
                    </a:p>
                  </a:txBody>
                  <a:tcPr>
                    <a:solidFill>
                      <a:srgbClr val="1C2755"/>
                    </a:solidFill>
                  </a:tcPr>
                </a:tc>
                <a:tc>
                  <a:txBody>
                    <a:bodyPr/>
                    <a:lstStyle/>
                    <a:p>
                      <a:r>
                        <a:rPr sz="1200" b="1">
                          <a:solidFill>
                            <a:srgbClr val="22D3EE"/>
                          </a:solidFill>
                          <a:latin typeface="Segoe UI"/>
                        </a:rPr>
                        <a:t>Ma'nosi</a:t>
                      </a:r>
                    </a:p>
                  </a:txBody>
                  <a:tcPr>
                    <a:solidFill>
                      <a:srgbClr val="1C2755"/>
                    </a:solidFill>
                  </a:tcPr>
                </a:tc>
                <a:tc>
                  <a:txBody>
                    <a:bodyPr/>
                    <a:lstStyle/>
                    <a:p>
                      <a:r>
                        <a:rPr sz="1200" b="1">
                          <a:solidFill>
                            <a:srgbClr val="22D3EE"/>
                          </a:solidFill>
                          <a:latin typeface="Segoe UI"/>
                        </a:rPr>
                        <a:t>Qachon mos</a:t>
                      </a:r>
                    </a:p>
                  </a:txBody>
                  <a:tcPr>
                    <a:solidFill>
                      <a:srgbClr val="1C2755"/>
                    </a:solidFill>
                  </a:tcPr>
                </a:tc>
              </a:tr>
              <a:tr h="520000">
                <a:tc>
                  <a:txBody>
                    <a:bodyPr/>
                    <a:lstStyle/>
                    <a:p>
                      <a:r>
                        <a:rPr sz="1200" b="0">
                          <a:solidFill>
                            <a:srgbClr val="E8EEFA"/>
                          </a:solidFill>
                          <a:latin typeface="Segoe UI"/>
                        </a:rPr>
                        <a:t>Demografik paritet (demographic parity)</a:t>
                      </a:r>
                    </a:p>
                  </a:txBody>
                  <a:tcPr>
                    <a:solidFill>
                      <a:srgbClr val="111834"/>
                    </a:solidFill>
                  </a:tcPr>
                </a:tc>
                <a:tc>
                  <a:txBody>
                    <a:bodyPr/>
                    <a:lstStyle/>
                    <a:p>
                      <a:r>
                        <a:rPr sz="1200" b="0">
                          <a:solidFill>
                            <a:srgbClr val="E8EEFA"/>
                          </a:solidFill>
                          <a:latin typeface="Segoe UI"/>
                        </a:rPr>
                        <a:t>P(Ŷ=1 ∣ A=a) barcha a uchun teng</a:t>
                      </a:r>
                    </a:p>
                  </a:txBody>
                  <a:tcPr>
                    <a:solidFill>
                      <a:srgbClr val="111834"/>
                    </a:solidFill>
                  </a:tcPr>
                </a:tc>
                <a:tc>
                  <a:txBody>
                    <a:bodyPr/>
                    <a:lstStyle/>
                    <a:p>
                      <a:r>
                        <a:rPr sz="1200" b="0">
                          <a:solidFill>
                            <a:srgbClr val="E8EEFA"/>
                          </a:solidFill>
                          <a:latin typeface="Segoe UI"/>
                        </a:rPr>
                        <a:t>ijobiy qaror ulushi guruhlarda teng</a:t>
                      </a:r>
                    </a:p>
                  </a:txBody>
                  <a:tcPr>
                    <a:solidFill>
                      <a:srgbClr val="111834"/>
                    </a:solidFill>
                  </a:tcPr>
                </a:tc>
                <a:tc>
                  <a:txBody>
                    <a:bodyPr/>
                    <a:lstStyle/>
                    <a:p>
                      <a:r>
                        <a:rPr sz="1200" b="0">
                          <a:solidFill>
                            <a:srgbClr val="E8EEFA"/>
                          </a:solidFill>
                          <a:latin typeface="Segoe UI"/>
                        </a:rPr>
                        <a:t>tarixiy ma'lumotning o'zi noxolis deb hisoblansa (masalan, ishga qabul)</a:t>
                      </a:r>
                    </a:p>
                  </a:txBody>
                  <a:tcPr>
                    <a:solidFill>
                      <a:srgbClr val="111834"/>
                    </a:solidFill>
                  </a:tcPr>
                </a:tc>
              </a:tr>
              <a:tr h="520000">
                <a:tc>
                  <a:txBody>
                    <a:bodyPr/>
                    <a:lstStyle/>
                    <a:p>
                      <a:r>
                        <a:rPr sz="1200" b="0">
                          <a:solidFill>
                            <a:srgbClr val="E8EEFA"/>
                          </a:solidFill>
                          <a:latin typeface="Segoe UI"/>
                        </a:rPr>
                        <a:t>Tenglashtirilgan imkoniyatlar (equalized odds, Hardt va boshq., 2016)</a:t>
                      </a:r>
                    </a:p>
                  </a:txBody>
                  <a:tcPr>
                    <a:solidFill>
                      <a:srgbClr val="161F40"/>
                    </a:solidFill>
                  </a:tcPr>
                </a:tc>
                <a:tc>
                  <a:txBody>
                    <a:bodyPr/>
                    <a:lstStyle/>
                    <a:p>
                      <a:r>
                        <a:rPr sz="1200" b="0">
                          <a:solidFill>
                            <a:srgbClr val="E8EEFA"/>
                          </a:solidFill>
                          <a:latin typeface="Segoe UI"/>
                        </a:rPr>
                        <a:t>P(Ŷ=1 ∣ Y=y, A=a) har y uchun teng</a:t>
                      </a:r>
                    </a:p>
                  </a:txBody>
                  <a:tcPr>
                    <a:solidFill>
                      <a:srgbClr val="161F40"/>
                    </a:solidFill>
                  </a:tcPr>
                </a:tc>
                <a:tc>
                  <a:txBody>
                    <a:bodyPr/>
                    <a:lstStyle/>
                    <a:p>
                      <a:r>
                        <a:rPr sz="1200" b="0">
                          <a:solidFill>
                            <a:srgbClr val="E8EEFA"/>
                          </a:solidFill>
                          <a:latin typeface="Segoe UI"/>
                        </a:rPr>
                        <a:t>haqiqiy ijobiy va yolg'on ijobiy darajalari teng</a:t>
                      </a:r>
                    </a:p>
                  </a:txBody>
                  <a:tcPr>
                    <a:solidFill>
                      <a:srgbClr val="161F40"/>
                    </a:solidFill>
                  </a:tcPr>
                </a:tc>
                <a:tc>
                  <a:txBody>
                    <a:bodyPr/>
                    <a:lstStyle/>
                    <a:p>
                      <a:r>
                        <a:rPr sz="1200" b="0">
                          <a:solidFill>
                            <a:srgbClr val="E8EEFA"/>
                          </a:solidFill>
                          <a:latin typeface="Segoe UI"/>
                        </a:rPr>
                        <a:t>yorliqlar ishonchli bo'lsa (tibbiy tashxis)</a:t>
                      </a:r>
                    </a:p>
                  </a:txBody>
                  <a:tcPr>
                    <a:solidFill>
                      <a:srgbClr val="161F40"/>
                    </a:solidFill>
                  </a:tcPr>
                </a:tc>
              </a:tr>
              <a:tr h="520000">
                <a:tc>
                  <a:txBody>
                    <a:bodyPr/>
                    <a:lstStyle/>
                    <a:p>
                      <a:r>
                        <a:rPr sz="1200" b="0">
                          <a:solidFill>
                            <a:srgbClr val="E8EEFA"/>
                          </a:solidFill>
                          <a:latin typeface="Segoe UI"/>
                        </a:rPr>
                        <a:t>Teng imkoniyat (equal opportunity)</a:t>
                      </a:r>
                    </a:p>
                  </a:txBody>
                  <a:tcPr>
                    <a:solidFill>
                      <a:srgbClr val="111834"/>
                    </a:solidFill>
                  </a:tcPr>
                </a:tc>
                <a:tc>
                  <a:txBody>
                    <a:bodyPr/>
                    <a:lstStyle/>
                    <a:p>
                      <a:r>
                        <a:rPr sz="1200" b="0">
                          <a:solidFill>
                            <a:srgbClr val="E8EEFA"/>
                          </a:solidFill>
                          <a:latin typeface="Segoe UI"/>
                        </a:rPr>
                        <a:t>faqat Y=1 uchun P(Ŷ=1 ∣ Y=1, A=a) teng</a:t>
                      </a:r>
                    </a:p>
                  </a:txBody>
                  <a:tcPr>
                    <a:solidFill>
                      <a:srgbClr val="111834"/>
                    </a:solidFill>
                  </a:tcPr>
                </a:tc>
                <a:tc>
                  <a:txBody>
                    <a:bodyPr/>
                    <a:lstStyle/>
                    <a:p>
                      <a:r>
                        <a:rPr sz="1200" b="0">
                          <a:solidFill>
                            <a:srgbClr val="E8EEFA"/>
                          </a:solidFill>
                          <a:latin typeface="Segoe UI"/>
                        </a:rPr>
                        <a:t>loyiq bo'lganlarga teng imkoniyat</a:t>
                      </a:r>
                    </a:p>
                  </a:txBody>
                  <a:tcPr>
                    <a:solidFill>
                      <a:srgbClr val="111834"/>
                    </a:solidFill>
                  </a:tcPr>
                </a:tc>
                <a:tc>
                  <a:txBody>
                    <a:bodyPr/>
                    <a:lstStyle/>
                    <a:p>
                      <a:r>
                        <a:rPr sz="1200" b="0">
                          <a:solidFill>
                            <a:srgbClr val="E8EEFA"/>
                          </a:solidFill>
                          <a:latin typeface="Segoe UI"/>
                        </a:rPr>
                        <a:t>ijobiy qaror resurs taqsimoti bo'lsa (kredit, stipendiya)</a:t>
                      </a:r>
                    </a:p>
                  </a:txBody>
                  <a:tcPr>
                    <a:solidFill>
                      <a:srgbClr val="111834"/>
                    </a:solidFill>
                  </a:tcPr>
                </a:tc>
              </a:tr>
              <a:tr h="520000">
                <a:tc>
                  <a:txBody>
                    <a:bodyPr/>
                    <a:lstStyle/>
                    <a:p>
                      <a:r>
                        <a:rPr sz="1200" b="0">
                          <a:solidFill>
                            <a:srgbClr val="E8EEFA"/>
                          </a:solidFill>
                          <a:latin typeface="Segoe UI"/>
                        </a:rPr>
                        <a:t>Bashorat pariteti / kalibrlash</a:t>
                      </a:r>
                    </a:p>
                  </a:txBody>
                  <a:tcPr>
                    <a:solidFill>
                      <a:srgbClr val="161F40"/>
                    </a:solidFill>
                  </a:tcPr>
                </a:tc>
                <a:tc>
                  <a:txBody>
                    <a:bodyPr/>
                    <a:lstStyle/>
                    <a:p>
                      <a:r>
                        <a:rPr sz="1200" b="0">
                          <a:solidFill>
                            <a:srgbClr val="E8EEFA"/>
                          </a:solidFill>
                          <a:latin typeface="Segoe UI"/>
                        </a:rPr>
                        <a:t>P(Y=1 ∣ Ŷ=1, A=a) teng</a:t>
                      </a:r>
                    </a:p>
                  </a:txBody>
                  <a:tcPr>
                    <a:solidFill>
                      <a:srgbClr val="161F40"/>
                    </a:solidFill>
                  </a:tcPr>
                </a:tc>
                <a:tc>
                  <a:txBody>
                    <a:bodyPr/>
                    <a:lstStyle/>
                    <a:p>
                      <a:r>
                        <a:rPr sz="1200" b="0">
                          <a:solidFill>
                            <a:srgbClr val="E8EEFA"/>
                          </a:solidFill>
                          <a:latin typeface="Segoe UI"/>
                        </a:rPr>
                        <a:t>bir xil ball bir xil xavf degani</a:t>
                      </a:r>
                    </a:p>
                  </a:txBody>
                  <a:tcPr>
                    <a:solidFill>
                      <a:srgbClr val="161F40"/>
                    </a:solidFill>
                  </a:tcPr>
                </a:tc>
                <a:tc>
                  <a:txBody>
                    <a:bodyPr/>
                    <a:lstStyle/>
                    <a:p>
                      <a:r>
                        <a:rPr sz="1200" b="0">
                          <a:solidFill>
                            <a:srgbClr val="E8EEFA"/>
                          </a:solidFill>
                          <a:latin typeface="Segoe UI"/>
                        </a:rPr>
                        <a:t>qaror qabul qiluvchi ballni to'g'ridan-to'g'ri ishlatsa</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8a8221a9eb5b3f1f.jpg"/>
          <p:cNvPicPr>
            <a:picLocks noChangeAspect="1"/>
          </p:cNvPicPr>
          <p:nvPr/>
        </p:nvPicPr>
        <p:blipFill>
          <a:blip r:embed="rId2"/>
          <a:srcRect l="16685" r="16685"/>
          <a:stretch>
            <a:fillRect/>
          </a:stretch>
        </p:blipFill>
        <p:spPr>
          <a:xfrm>
            <a:off x="6300000" y="800000"/>
            <a:ext cx="5300000" cy="4950000"/>
          </a:xfrm>
          <a:prstGeom prst="roundRect">
            <a:avLst/>
          </a:prstGeom>
          <a:ln w="19050">
            <a:solidFill>
              <a:srgbClr val="22D3EE"/>
            </a:solidFill>
          </a:ln>
        </p:spPr>
      </p:pic>
      <p:sp>
        <p:nvSpPr>
          <p:cNvPr id="36" name="TextBox 3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Kwan-Liu Ma · Wikimedia Commons · CC BY-SA 4.0</a:t>
            </a:r>
          </a:p>
        </p:txBody>
      </p:sp>
      <p:sp>
        <p:nvSpPr>
          <p:cNvPr id="37" name="TextBox 3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8" name="TextBox 3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39" name="TextBox 38"/>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Shaffoflik va tushuntiriladigan sun'iy intellekt (XAI)</a:t>
            </a:r>
          </a:p>
        </p:txBody>
      </p:sp>
      <p:sp>
        <p:nvSpPr>
          <p:cNvPr id="40" name="Rectangle 3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150"/>
                            </p:stCondLst>
                            <p:childTnLst>
                              <p:par>
                                <p:cTn id="128" presetID="53" presetClass="entr" presetSubtype="16"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anim calcmode="lin" valueType="num">
                                      <p:cBhvr additive="base">
                                        <p:cTn id="131" dur="550" fill="hold"/>
                                        <p:tgtEl>
                                          <p:spTgt spid="34"/>
                                        </p:tgtEl>
                                        <p:attrNameLst>
                                          <p:attrName>ppt_w</p:attrName>
                                        </p:attrNameLst>
                                      </p:cBhvr>
                                      <p:tavLst>
                                        <p:tav tm="0">
                                          <p:val>
                                            <p:strVal val="0"/>
                                          </p:val>
                                        </p:tav>
                                        <p:tav tm="100000">
                                          <p:val>
                                            <p:strVal val="#ppt_w"/>
                                          </p:val>
                                        </p:tav>
                                      </p:tavLst>
                                    </p:anim>
                                    <p:anim calcmode="lin" valueType="num">
                                      <p:cBhvr additive="base">
                                        <p:cTn id="132" dur="550" fill="hold"/>
                                        <p:tgtEl>
                                          <p:spTgt spid="34"/>
                                        </p:tgtEl>
                                        <p:attrNameLst>
                                          <p:attrName>ppt_h</p:attrName>
                                        </p:attrNameLst>
                                      </p:cBhvr>
                                      <p:tavLst>
                                        <p:tav tm="0">
                                          <p:val>
                                            <p:strVal val="0"/>
                                          </p:val>
                                        </p:tav>
                                        <p:tav tm="100000">
                                          <p:val>
                                            <p:strVal val="#ppt_h"/>
                                          </p:val>
                                        </p:tav>
                                      </p:tavLst>
                                    </p:anim>
                                  </p:childTnLst>
                                </p:cTn>
                              </p:par>
                            </p:childTnLst>
                          </p:cTn>
                        </p:par>
                        <p:par>
                          <p:cTn id="133" fill="hold">
                            <p:stCondLst>
                              <p:cond delay="150"/>
                            </p:stCondLst>
                            <p:childTnLst>
                              <p:par>
                                <p:cTn id="134" presetID="53" presetClass="entr" presetSubtype="16" fill="hold" grpId="0" nodeType="afterEffect">
                                  <p:stCondLst>
                                    <p:cond delay="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additive="base">
                                        <p:cTn id="137" dur="550" fill="hold"/>
                                        <p:tgtEl>
                                          <p:spTgt spid="35"/>
                                        </p:tgtEl>
                                        <p:attrNameLst>
                                          <p:attrName>ppt_w</p:attrName>
                                        </p:attrNameLst>
                                      </p:cBhvr>
                                      <p:tavLst>
                                        <p:tav tm="0">
                                          <p:val>
                                            <p:strVal val="0"/>
                                          </p:val>
                                        </p:tav>
                                        <p:tav tm="100000">
                                          <p:val>
                                            <p:strVal val="#ppt_w"/>
                                          </p:val>
                                        </p:tav>
                                      </p:tavLst>
                                    </p:anim>
                                    <p:anim calcmode="lin" valueType="num">
                                      <p:cBhvr additive="base">
                                        <p:cTn id="138" dur="550" fill="hold"/>
                                        <p:tgtEl>
                                          <p:spTgt spid="35"/>
                                        </p:tgtEl>
                                        <p:attrNameLst>
                                          <p:attrName>ppt_h</p:attrName>
                                        </p:attrNameLst>
                                      </p:cBhvr>
                                      <p:tavLst>
                                        <p:tav tm="0">
                                          <p:val>
                                            <p:strVal val="0"/>
                                          </p:val>
                                        </p:tav>
                                        <p:tav tm="100000">
                                          <p:val>
                                            <p:strVal val="#ppt_h"/>
                                          </p:val>
                                        </p:tav>
                                      </p:tavLst>
                                    </p:anim>
                                  </p:childTnLst>
                                </p:cTn>
                              </p:par>
                            </p:childTnLst>
                          </p:cTn>
                        </p:par>
                        <p:par>
                          <p:cTn id="139" fill="hold">
                            <p:stCondLst>
                              <p:cond delay="150"/>
                            </p:stCondLst>
                            <p:childTnLst>
                              <p:par>
                                <p:cTn id="140" presetID="10" presetClass="entr" presetSubtype="0"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childTnLst>
                                </p:cTn>
                              </p:par>
                            </p:childTnLst>
                          </p:cTn>
                        </p:par>
                        <p:par>
                          <p:cTn id="143" fill="hold">
                            <p:stCondLst>
                              <p:cond delay="350"/>
                            </p:stCondLst>
                            <p:childTnLst>
                              <p:par>
                                <p:cTn id="144" presetID="53" presetClass="entr" presetSubtype="16"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additive="base">
                                        <p:cTn id="147" dur="550" fill="hold"/>
                                        <p:tgtEl>
                                          <p:spTgt spid="37"/>
                                        </p:tgtEl>
                                        <p:attrNameLst>
                                          <p:attrName>ppt_w</p:attrName>
                                        </p:attrNameLst>
                                      </p:cBhvr>
                                      <p:tavLst>
                                        <p:tav tm="0">
                                          <p:val>
                                            <p:strVal val="0"/>
                                          </p:val>
                                        </p:tav>
                                        <p:tav tm="100000">
                                          <p:val>
                                            <p:strVal val="#ppt_w"/>
                                          </p:val>
                                        </p:tav>
                                      </p:tavLst>
                                    </p:anim>
                                    <p:anim calcmode="lin" valueType="num">
                                      <p:cBhvr additive="base">
                                        <p:cTn id="148" dur="550" fill="hold"/>
                                        <p:tgtEl>
                                          <p:spTgt spid="37"/>
                                        </p:tgtEl>
                                        <p:attrNameLst>
                                          <p:attrName>ppt_h</p:attrName>
                                        </p:attrNameLst>
                                      </p:cBhvr>
                                      <p:tavLst>
                                        <p:tav tm="0">
                                          <p:val>
                                            <p:strVal val="0"/>
                                          </p:val>
                                        </p:tav>
                                        <p:tav tm="100000">
                                          <p:val>
                                            <p:strVal val="#ppt_h"/>
                                          </p:val>
                                        </p:tav>
                                      </p:tavLst>
                                    </p:anim>
                                  </p:childTnLst>
                                </p:cTn>
                              </p:par>
                            </p:childTnLst>
                          </p:cTn>
                        </p:par>
                        <p:par>
                          <p:cTn id="149" fill="hold">
                            <p:stCondLst>
                              <p:cond delay="450"/>
                            </p:stCondLst>
                            <p:childTnLst>
                              <p:par>
                                <p:cTn id="150" presetID="10" presetClass="entr" presetSubtype="0"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Effect transition="in" filter="fade">
                                      <p:cBhvr>
                                        <p:cTn id="152" dur="550"/>
                                        <p:tgtEl>
                                          <p:spTgt spid="38"/>
                                        </p:tgtEl>
                                      </p:cBhvr>
                                    </p:animEffect>
                                  </p:childTnLst>
                                </p:cTn>
                              </p:par>
                            </p:childTnLst>
                          </p:cTn>
                        </p:par>
                        <p:par>
                          <p:cTn id="153" fill="hold">
                            <p:stCondLst>
                              <p:cond delay="550"/>
                            </p:stCondLst>
                            <p:childTnLst>
                              <p:par>
                                <p:cTn id="154" presetID="2" presetClass="entr" presetSubtype="8"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7" dur="550" fill="hold"/>
                                        <p:tgtEl>
                                          <p:spTgt spid="39"/>
                                        </p:tgtEl>
                                        <p:attrNameLst>
                                          <p:attrName>ppt_x</p:attrName>
                                        </p:attrNameLst>
                                      </p:cBhvr>
                                      <p:tavLst>
                                        <p:tav tm="0">
                                          <p:val>
                                            <p:strVal val="0-#ppt_w/2"/>
                                          </p:val>
                                        </p:tav>
                                        <p:tav tm="100000">
                                          <p:val>
                                            <p:strVal val="#ppt_x"/>
                                          </p:val>
                                        </p:tav>
                                      </p:tavLst>
                                    </p:anim>
                                    <p:anim calcmode="lin" valueType="num">
                                      <p:cBhvr additive="base">
                                        <p:cTn id="158" dur="550" fill="hold"/>
                                        <p:tgtEl>
                                          <p:spTgt spid="39"/>
                                        </p:tgtEl>
                                        <p:attrNameLst>
                                          <p:attrName>ppt_y</p:attrName>
                                        </p:attrNameLst>
                                      </p:cBhvr>
                                      <p:tavLst>
                                        <p:tav tm="0">
                                          <p:val>
                                            <p:strVal val="#ppt_y"/>
                                          </p:val>
                                        </p:tav>
                                        <p:tav tm="100000">
                                          <p:val>
                                            <p:strVal val="#ppt_y"/>
                                          </p:val>
                                        </p:tav>
                                      </p:tavLst>
                                    </p:anim>
                                  </p:childTnLst>
                                </p:cTn>
                              </p:par>
                            </p:childTnLst>
                          </p:cTn>
                        </p:par>
                        <p:par>
                          <p:cTn id="159" fill="hold">
                            <p:stCondLst>
                              <p:cond delay="650"/>
                            </p:stCondLst>
                            <p:childTnLst>
                              <p:par>
                                <p:cTn id="160" presetID="22" presetClass="entr" presetSubtype="8" fill="hold" grpId="0" nodeType="afterEffect">
                                  <p:stCondLst>
                                    <p:cond delay="0"/>
                                  </p:stCondLst>
                                  <p:childTnLst>
                                    <p:set>
                                      <p:cBhvr>
                                        <p:cTn id="161" dur="1" fill="hold">
                                          <p:stCondLst>
                                            <p:cond delay="0"/>
                                          </p:stCondLst>
                                        </p:cTn>
                                        <p:tgtEl>
                                          <p:spTgt spid="40"/>
                                        </p:tgtEl>
                                        <p:attrNameLst>
                                          <p:attrName>style.visibility</p:attrName>
                                        </p:attrNameLst>
                                      </p:cBhvr>
                                      <p:to>
                                        <p:strVal val="visible"/>
                                      </p:to>
                                    </p:set>
                                    <p:animEffect transition="in" filter="wipe(left)">
                                      <p:cBhvr>
                                        <p:cTn id="163" dur="8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Shaffoflik va tushuntiriladigan sun'iy intellekt (XAI)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6df2df515d545ff.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Noah Wulf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523612"/>
            <a:ext cx="50000" cy="21313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38930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Shaffoflik (transparency) va tushuntirilish (explainability) bir narsa emas.</a:t>
            </a:r>
          </a:p>
          <a:p>
            <a:pPr>
              <a:spcBef>
                <a:spcPts val="400"/>
              </a:spcBef>
            </a:pPr>
            <a:r>
              <a:rPr sz="1300">
                <a:solidFill>
                  <a:srgbClr val="AEBBD9"/>
                </a:solidFill>
                <a:latin typeface="Segoe UI"/>
              </a:rPr>
              <a:t>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p:txBody>
      </p:sp>
      <p:sp>
        <p:nvSpPr>
          <p:cNvPr id="33" name="Rounded Rectangle 32"/>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13138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9069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211388"/>
          </a:xfrm>
          <a:prstGeom prst="rect">
            <a:avLst/>
          </a:prstGeom>
          <a:noFill/>
        </p:spPr>
        <p:txBody>
          <a:bodyPr wrap="square" anchor="ctr">
            <a:spAutoFit/>
          </a:bodyPr>
          <a:lstStyle/>
          <a:p>
            <a:r>
              <a:rPr sz="1300" b="0">
                <a:solidFill>
                  <a:srgbClr val="E8EEFA"/>
                </a:solidFill>
                <a:latin typeface="Segoe UI"/>
              </a:rPr>
              <a:t>XAI usullari bir nechta o'q bo'yicha tasniflanadi: lokal (bitta bashorat uchun) va global (butun model uchun); model-agnostik va modelga xos; ichki (intrinsic, model o'zi talqin qilinuvchan) va post-hoc.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Shaffoflik va tushuntiriladigan sun'iy intellekt (XAI)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175734a0e242255.jpg"/>
          <p:cNvPicPr>
            <a:picLocks noChangeAspect="1"/>
          </p:cNvPicPr>
          <p:nvPr/>
        </p:nvPicPr>
        <p:blipFill>
          <a:blip r:embed="rId2"/>
          <a:srcRect l="1520" r="1520"/>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Wilfredor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Eng ko'p qo'llaniladigan ikkita post-hoc model-agnostik usul — LIME (Ribeiro va boshq., 2016), bashorat atrofida lokal chiziqli surrogat quradi, va SHAP (Lundberg va Lee, 2017), kooperativ o'yinlar nazariyasidagi Shapley qiymatlariga asoslanadi va har bir…</a:t>
            </a:r>
          </a:p>
          <a:p>
            <a:pPr>
              <a:spcBef>
                <a:spcPts val="400"/>
              </a:spcBef>
            </a:pPr>
            <a:r>
              <a:rPr sz="1400">
                <a:solidFill>
                  <a:srgbClr val="AEBBD9"/>
                </a:solidFill>
                <a:latin typeface="Segoe UI"/>
              </a:rPr>
              <a:t>Daraxtli modellar uchun TreeExplainer aniq Shapley qiymatlarini polinomial vaqtda hisoblaydi, bu uni sanoatda standartga aylantirdi. Neyron tarmoqlar uchun gradientga asoslangan usullar (Integrated Gradients, Grad-CAM) qo'shimcha imkoniyat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Shaffoflik va tushuntiriladigan sun'iy intellekt (XAI)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f6038acf0757ad6.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OpenCatMap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XAI ning cheklovlari jiddiy.</a:t>
            </a:r>
          </a:p>
          <a:p>
            <a:pPr>
              <a:spcBef>
                <a:spcPts val="400"/>
              </a:spcBef>
            </a:pPr>
            <a:r>
              <a:rPr sz="1600">
                <a:solidFill>
                  <a:srgbClr val="AEBBD9"/>
                </a:solidFill>
                <a:latin typeface="Segoe UI"/>
              </a:rPr>
              <a:t>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dc6eea4c85ca163c.jpg"/>
          <p:cNvPicPr>
            <a:picLocks noChangeAspect="1"/>
          </p:cNvPicPr>
          <p:nvPr/>
        </p:nvPicPr>
        <p:blipFill>
          <a:blip r:embed="rId2"/>
          <a:srcRect l="15118" r="15118"/>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USEPA Environmental-Protection-Agency · Wikimedia Commons · Public domain</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Ishonchlilik, mustahkamlik va hisobdorlik</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Ishonchlilik, mustahkamlik va hisobdorlik</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Ishonchli SI (trustworthy AI) tushunchasi adolatlilik va shaffoflikdan tashqari texnik mustahkamlik (robustness) — kirishning kichik o'zgarishiga chidamlilik, tarqatish siljishida barqarorlik, adversarial hujumlarga qarshilik (M9 da ko'rilgan), maxfiylik…</a:t>
            </a:r>
          </a:p>
          <a:p>
            <a:pPr>
              <a:spcBef>
                <a:spcPts val="400"/>
              </a:spcBef>
            </a:pPr>
            <a:r>
              <a:rPr sz="1400">
                <a:solidFill>
                  <a:srgbClr val="AEBBD9"/>
                </a:solidFill>
                <a:latin typeface="Segoe UI"/>
              </a:rPr>
              <a:t>Hisobdorlikning texnik tayanchi — jurnallash: EU AI Act 12-moddasi yuqori xavfli tizimdan foydalanish davomida hodisalarni avtomatik qayd etishni talab qiladi, bu esa M12 dagi monitoring infratuzilmasining to'g'ridan-to'g'ri davomidir.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6" name="Rectangle 95"/>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8" name="TextBox 97"/>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200"/>
                            </p:stCondLst>
                            <p:childTnLst>
                              <p:par>
                                <p:cTn id="372" presetID="53" presetClass="entr" presetSubtype="16"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anim calcmode="lin" valueType="num">
                                      <p:cBhvr additive="base">
                                        <p:cTn id="375" dur="550" fill="hold"/>
                                        <p:tgtEl>
                                          <p:spTgt spid="95"/>
                                        </p:tgtEl>
                                        <p:attrNameLst>
                                          <p:attrName>ppt_w</p:attrName>
                                        </p:attrNameLst>
                                      </p:cBhvr>
                                      <p:tavLst>
                                        <p:tav tm="0">
                                          <p:val>
                                            <p:strVal val="0"/>
                                          </p:val>
                                        </p:tav>
                                        <p:tav tm="100000">
                                          <p:val>
                                            <p:strVal val="#ppt_w"/>
                                          </p:val>
                                        </p:tav>
                                      </p:tavLst>
                                    </p:anim>
                                    <p:anim calcmode="lin" valueType="num">
                                      <p:cBhvr additive="base">
                                        <p:cTn id="376" dur="550" fill="hold"/>
                                        <p:tgtEl>
                                          <p:spTgt spid="95"/>
                                        </p:tgtEl>
                                        <p:attrNameLst>
                                          <p:attrName>ppt_h</p:attrName>
                                        </p:attrNameLst>
                                      </p:cBhvr>
                                      <p:tavLst>
                                        <p:tav tm="0">
                                          <p:val>
                                            <p:strVal val="0"/>
                                          </p:val>
                                        </p:tav>
                                        <p:tav tm="100000">
                                          <p:val>
                                            <p:strVal val="#ppt_h"/>
                                          </p:val>
                                        </p:tav>
                                      </p:tavLst>
                                    </p:anim>
                                  </p:childTnLst>
                                </p:cTn>
                              </p:par>
                            </p:childTnLst>
                          </p:cTn>
                        </p:par>
                        <p:par>
                          <p:cTn id="377" fill="hold">
                            <p:stCondLst>
                              <p:cond delay="350"/>
                            </p:stCondLst>
                            <p:childTnLst>
                              <p:par>
                                <p:cTn id="378" presetID="22" presetClass="entr" presetSubtype="8" fill="hold" grpId="0" nodeType="afterEffect">
                                  <p:stCondLst>
                                    <p:cond delay="0"/>
                                  </p:stCondLst>
                                  <p:childTnLst>
                                    <p:set>
                                      <p:cBhvr>
                                        <p:cTn id="379" dur="1" fill="hold">
                                          <p:stCondLst>
                                            <p:cond delay="0"/>
                                          </p:stCondLst>
                                        </p:cTn>
                                        <p:tgtEl>
                                          <p:spTgt spid="96"/>
                                        </p:tgtEl>
                                        <p:attrNameLst>
                                          <p:attrName>style.visibility</p:attrName>
                                        </p:attrNameLst>
                                      </p:cBhvr>
                                      <p:to>
                                        <p:strVal val="visible"/>
                                      </p:to>
                                    </p:set>
                                    <p:animEffect transition="in" filter="wipe(left)">
                                      <p:cBhvr>
                                        <p:cTn id="381" dur="800"/>
                                        <p:tgtEl>
                                          <p:spTgt spid="96"/>
                                        </p:tgtEl>
                                      </p:cBhvr>
                                    </p:animEffect>
                                  </p:childTnLst>
                                </p:cTn>
                              </p:par>
                            </p:childTnLst>
                          </p:cTn>
                        </p:par>
                        <p:par>
                          <p:cTn id="382" fill="hold">
                            <p:stCondLst>
                              <p:cond delay="500"/>
                            </p:stCondLst>
                            <p:childTnLst>
                              <p:par>
                                <p:cTn id="383" presetID="42" presetClass="entr" presetSubtype="0" fill="hold" grpId="0" nodeType="afterEffect">
                                  <p:stCondLst>
                                    <p:cond delay="0"/>
                                  </p:stCondLst>
                                  <p:childTnLst>
                                    <p:set>
                                      <p:cBhvr>
                                        <p:cTn id="384" dur="1" fill="hold">
                                          <p:stCondLst>
                                            <p:cond delay="0"/>
                                          </p:stCondLst>
                                        </p:cTn>
                                        <p:tgtEl>
                                          <p:spTgt spid="97"/>
                                        </p:tgtEl>
                                        <p:attrNameLst>
                                          <p:attrName>style.visibility</p:attrName>
                                        </p:attrNameLst>
                                      </p:cBhvr>
                                      <p:to>
                                        <p:strVal val="visible"/>
                                      </p:to>
                                    </p:set>
                                    <p:animEffect transition="in" filter="fade">
                                      <p:cBhvr>
                                        <p:cTn id="385" dur="550"/>
                                        <p:tgtEl>
                                          <p:spTgt spid="97"/>
                                        </p:tgtEl>
                                      </p:cBhvr>
                                    </p:animEffect>
                                    <p:anim calcmode="lin" valueType="num">
                                      <p:cBhvr additive="base">
                                        <p:cTn id="386" dur="550" fill="hold"/>
                                        <p:tgtEl>
                                          <p:spTgt spid="97"/>
                                        </p:tgtEl>
                                        <p:attrNameLst>
                                          <p:attrName>ppt_x</p:attrName>
                                        </p:attrNameLst>
                                      </p:cBhvr>
                                      <p:tavLst>
                                        <p:tav tm="0">
                                          <p:val>
                                            <p:strVal val="#ppt_x"/>
                                          </p:val>
                                        </p:tav>
                                        <p:tav tm="100000">
                                          <p:val>
                                            <p:strVal val="#ppt_x"/>
                                          </p:val>
                                        </p:tav>
                                      </p:tavLst>
                                    </p:anim>
                                    <p:anim calcmode="lin" valueType="num">
                                      <p:cBhvr additive="base">
                                        <p:cTn id="387" dur="550" fill="hold"/>
                                        <p:tgtEl>
                                          <p:spTgt spid="97"/>
                                        </p:tgtEl>
                                        <p:attrNameLst>
                                          <p:attrName>ppt_y</p:attrName>
                                        </p:attrNameLst>
                                      </p:cBhvr>
                                      <p:tavLst>
                                        <p:tav tm="0">
                                          <p:val>
                                            <p:strVal val="#ppt_y+.08"/>
                                          </p:val>
                                        </p:tav>
                                        <p:tav tm="100000">
                                          <p:val>
                                            <p:strVal val="#ppt_y"/>
                                          </p:val>
                                        </p:tav>
                                      </p:tavLst>
                                    </p:anim>
                                  </p:childTnLst>
                                </p:cTn>
                              </p:par>
                            </p:childTnLst>
                          </p:cTn>
                        </p:par>
                        <p:par>
                          <p:cTn id="388" fill="hold">
                            <p:stCondLst>
                              <p:cond delay="650"/>
                            </p:stCondLst>
                            <p:childTnLst>
                              <p:par>
                                <p:cTn id="389" presetID="10" presetClass="entr" presetSubtype="0" fill="hold" grpId="0" nodeType="afterEffect">
                                  <p:stCondLst>
                                    <p:cond delay="0"/>
                                  </p:stCondLst>
                                  <p:childTnLst>
                                    <p:set>
                                      <p:cBhvr>
                                        <p:cTn id="390" dur="1" fill="hold">
                                          <p:stCondLst>
                                            <p:cond delay="0"/>
                                          </p:stCondLst>
                                        </p:cTn>
                                        <p:tgtEl>
                                          <p:spTgt spid="98"/>
                                        </p:tgtEl>
                                        <p:attrNameLst>
                                          <p:attrName>style.visibility</p:attrName>
                                        </p:attrNameLst>
                                      </p:cBhvr>
                                      <p:to>
                                        <p:strVal val="visible"/>
                                      </p:to>
                                    </p:set>
                                    <p:animEffect transition="in" filter="fade">
                                      <p:cBhvr>
                                        <p:cTn id="391" dur="55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
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a:p/>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a:p/>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a:p/>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a:p/>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a:p/>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a:p/>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a:p/>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a:p/>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ce68c9738baab5db.jpg"/>
          <p:cNvPicPr>
            <a:picLocks noChangeAspect="1"/>
          </p:cNvPicPr>
          <p:nvPr/>
        </p:nvPicPr>
        <p:blipFill>
          <a:blip r:embed="rId2"/>
          <a:srcRect t="3437" b="3437"/>
          <a:stretch>
            <a:fillRect/>
          </a:stretch>
        </p:blipFill>
        <p:spPr>
          <a:xfrm>
            <a:off x="7850000" y="1500000"/>
            <a:ext cx="3300000" cy="3300000"/>
          </a:xfrm>
          <a:prstGeom prst="ellipse">
            <a:avLst/>
          </a:prstGeom>
          <a:ln w="19050">
            <a:solidFill>
              <a:srgbClr val="22D3EE"/>
            </a:solidFill>
          </a:ln>
        </p:spPr>
      </p:pic>
      <p:sp>
        <p:nvSpPr>
          <p:cNvPr id="60" name="TextBox 59"/>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Pearson Scott Foresman · Wikimedia Commons · Public domain</a:t>
            </a:r>
          </a:p>
        </p:txBody>
      </p:sp>
      <p:sp>
        <p:nvSpPr>
          <p:cNvPr id="61" name="Rounded Rectangle 60"/>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M14 · 2 soat</a:t>
            </a:r>
          </a:p>
        </p:txBody>
      </p:sp>
      <p:sp>
        <p:nvSpPr>
          <p:cNvPr id="62" name="TextBox 61"/>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3" name="TextBox 62"/>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tizimlarida etika, ishonchlilik va mas'uliyatli sun'iy intellekt tamoyillari</a:t>
            </a:r>
          </a:p>
        </p:txBody>
      </p:sp>
      <p:sp>
        <p:nvSpPr>
          <p:cNvPr id="64" name="Rectangle 63"/>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6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200"/>
                            </p:stCondLst>
                            <p:childTnLst>
                              <p:par>
                                <p:cTn id="220" presetID="53" presetClass="entr" presetSubtype="16" fill="hold" grpId="0" nodeType="after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2" dur="550"/>
                                        <p:tgtEl>
                                          <p:spTgt spid="58"/>
                                        </p:tgtEl>
                                      </p:cBhvr>
                                    </p:animEffect>
                                    <p:anim calcmode="lin" valueType="num">
                                      <p:cBhvr additive="base">
                                        <p:cTn id="223" dur="550" fill="hold"/>
                                        <p:tgtEl>
                                          <p:spTgt spid="58"/>
                                        </p:tgtEl>
                                        <p:attrNameLst>
                                          <p:attrName>ppt_w</p:attrName>
                                        </p:attrNameLst>
                                      </p:cBhvr>
                                      <p:tavLst>
                                        <p:tav tm="0">
                                          <p:val>
                                            <p:strVal val="0"/>
                                          </p:val>
                                        </p:tav>
                                        <p:tav tm="100000">
                                          <p:val>
                                            <p:strVal val="#ppt_w"/>
                                          </p:val>
                                        </p:tav>
                                      </p:tavLst>
                                    </p:anim>
                                    <p:anim calcmode="lin" valueType="num">
                                      <p:cBhvr additive="base">
                                        <p:cTn id="224" dur="550" fill="hold"/>
                                        <p:tgtEl>
                                          <p:spTgt spid="58"/>
                                        </p:tgtEl>
                                        <p:attrNameLst>
                                          <p:attrName>ppt_h</p:attrName>
                                        </p:attrNameLst>
                                      </p:cBhvr>
                                      <p:tavLst>
                                        <p:tav tm="0">
                                          <p:val>
                                            <p:strVal val="0"/>
                                          </p:val>
                                        </p:tav>
                                        <p:tav tm="100000">
                                          <p:val>
                                            <p:strVal val="#ppt_h"/>
                                          </p:val>
                                        </p:tav>
                                      </p:tavLst>
                                    </p:anim>
                                  </p:childTnLst>
                                </p:cTn>
                              </p:par>
                            </p:childTnLst>
                          </p:cTn>
                        </p:par>
                        <p:par>
                          <p:cTn id="225" fill="hold">
                            <p:stCondLst>
                              <p:cond delay="200"/>
                            </p:stCondLst>
                            <p:childTnLst>
                              <p:par>
                                <p:cTn id="226" presetID="53" presetClass="entr" presetSubtype="16" fill="hold" grpId="0" nodeType="afterEffect">
                                  <p:stCondLst>
                                    <p:cond delay="0"/>
                                  </p:stCondLst>
                                  <p:childTnLst>
                                    <p:set>
                                      <p:cBhvr>
                                        <p:cTn id="227" dur="1" fill="hold">
                                          <p:stCondLst>
                                            <p:cond delay="0"/>
                                          </p:stCondLst>
                                        </p:cTn>
                                        <p:tgtEl>
                                          <p:spTgt spid="57"/>
                                        </p:tgtEl>
                                        <p:attrNameLst>
                                          <p:attrName>style.visibility</p:attrName>
                                        </p:attrNameLst>
                                      </p:cBhvr>
                                      <p:to>
                                        <p:strVal val="visible"/>
                                      </p:to>
                                    </p:set>
                                    <p:animEffect transition="in" filter="fade">
                                      <p:cBhvr>
                                        <p:cTn id="228" dur="550"/>
                                        <p:tgtEl>
                                          <p:spTgt spid="57"/>
                                        </p:tgtEl>
                                      </p:cBhvr>
                                    </p:animEffect>
                                    <p:anim calcmode="lin" valueType="num">
                                      <p:cBhvr additive="base">
                                        <p:cTn id="229" dur="550" fill="hold"/>
                                        <p:tgtEl>
                                          <p:spTgt spid="57"/>
                                        </p:tgtEl>
                                        <p:attrNameLst>
                                          <p:attrName>ppt_w</p:attrName>
                                        </p:attrNameLst>
                                      </p:cBhvr>
                                      <p:tavLst>
                                        <p:tav tm="0">
                                          <p:val>
                                            <p:strVal val="0"/>
                                          </p:val>
                                        </p:tav>
                                        <p:tav tm="100000">
                                          <p:val>
                                            <p:strVal val="#ppt_w"/>
                                          </p:val>
                                        </p:tav>
                                      </p:tavLst>
                                    </p:anim>
                                    <p:anim calcmode="lin" valueType="num">
                                      <p:cBhvr additive="base">
                                        <p:cTn id="230" dur="550" fill="hold"/>
                                        <p:tgtEl>
                                          <p:spTgt spid="57"/>
                                        </p:tgtEl>
                                        <p:attrNameLst>
                                          <p:attrName>ppt_h</p:attrName>
                                        </p:attrNameLst>
                                      </p:cBhvr>
                                      <p:tavLst>
                                        <p:tav tm="0">
                                          <p:val>
                                            <p:strVal val="0"/>
                                          </p:val>
                                        </p:tav>
                                        <p:tav tm="100000">
                                          <p:val>
                                            <p:strVal val="#ppt_h"/>
                                          </p:val>
                                        </p:tav>
                                      </p:tavLst>
                                    </p:anim>
                                  </p:childTnLst>
                                </p:cTn>
                              </p:par>
                            </p:childTnLst>
                          </p:cTn>
                        </p:par>
                        <p:par>
                          <p:cTn id="231" fill="hold">
                            <p:stCondLst>
                              <p:cond delay="200"/>
                            </p:stCondLst>
                            <p:childTnLst>
                              <p:par>
                                <p:cTn id="232" presetID="53" presetClass="entr" presetSubtype="16" fill="hold" grpId="0" nodeType="afterEffect">
                                  <p:stCondLst>
                                    <p:cond delay="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550"/>
                                        <p:tgtEl>
                                          <p:spTgt spid="59"/>
                                        </p:tgtEl>
                                      </p:cBhvr>
                                    </p:animEffect>
                                    <p:anim calcmode="lin" valueType="num">
                                      <p:cBhvr additive="base">
                                        <p:cTn id="235" dur="550" fill="hold"/>
                                        <p:tgtEl>
                                          <p:spTgt spid="59"/>
                                        </p:tgtEl>
                                        <p:attrNameLst>
                                          <p:attrName>ppt_w</p:attrName>
                                        </p:attrNameLst>
                                      </p:cBhvr>
                                      <p:tavLst>
                                        <p:tav tm="0">
                                          <p:val>
                                            <p:strVal val="0"/>
                                          </p:val>
                                        </p:tav>
                                        <p:tav tm="100000">
                                          <p:val>
                                            <p:strVal val="#ppt_w"/>
                                          </p:val>
                                        </p:tav>
                                      </p:tavLst>
                                    </p:anim>
                                    <p:anim calcmode="lin" valueType="num">
                                      <p:cBhvr additive="base">
                                        <p:cTn id="236" dur="550" fill="hold"/>
                                        <p:tgtEl>
                                          <p:spTgt spid="59"/>
                                        </p:tgtEl>
                                        <p:attrNameLst>
                                          <p:attrName>ppt_h</p:attrName>
                                        </p:attrNameLst>
                                      </p:cBhvr>
                                      <p:tavLst>
                                        <p:tav tm="0">
                                          <p:val>
                                            <p:strVal val="0"/>
                                          </p:val>
                                        </p:tav>
                                        <p:tav tm="100000">
                                          <p:val>
                                            <p:strVal val="#ppt_h"/>
                                          </p:val>
                                        </p:tav>
                                      </p:tavLst>
                                    </p:anim>
                                  </p:childTnLst>
                                </p:cTn>
                              </p:par>
                            </p:childTnLst>
                          </p:cTn>
                        </p:par>
                        <p:par>
                          <p:cTn id="237" fill="hold">
                            <p:stCondLst>
                              <p:cond delay="200"/>
                            </p:stCondLst>
                            <p:childTnLst>
                              <p:par>
                                <p:cTn id="238" presetID="10" presetClass="entr" presetSubtype="0" fill="hold" grpId="0" nodeType="afterEffect">
                                  <p:stCondLst>
                                    <p:cond delay="0"/>
                                  </p:stCondLst>
                                  <p:childTnLst>
                                    <p:set>
                                      <p:cBhvr>
                                        <p:cTn id="239" dur="1" fill="hold">
                                          <p:stCondLst>
                                            <p:cond delay="0"/>
                                          </p:stCondLst>
                                        </p:cTn>
                                        <p:tgtEl>
                                          <p:spTgt spid="60"/>
                                        </p:tgtEl>
                                        <p:attrNameLst>
                                          <p:attrName>style.visibility</p:attrName>
                                        </p:attrNameLst>
                                      </p:cBhvr>
                                      <p:to>
                                        <p:strVal val="visible"/>
                                      </p:to>
                                    </p:set>
                                    <p:animEffect transition="in" filter="fade">
                                      <p:cBhvr>
                                        <p:cTn id="240" dur="550"/>
                                        <p:tgtEl>
                                          <p:spTgt spid="60"/>
                                        </p:tgtEl>
                                      </p:cBhvr>
                                    </p:animEffect>
                                  </p:childTnLst>
                                </p:cTn>
                              </p:par>
                            </p:childTnLst>
                          </p:cTn>
                        </p:par>
                        <p:par>
                          <p:cTn id="241" fill="hold">
                            <p:stCondLst>
                              <p:cond delay="350"/>
                            </p:stCondLst>
                            <p:childTnLst>
                              <p:par>
                                <p:cTn id="242" presetID="10" presetClass="entr" presetSubtype="0" fill="hold" grpId="0" nodeType="afterEffect">
                                  <p:stCondLst>
                                    <p:cond delay="0"/>
                                  </p:stCondLst>
                                  <p:childTnLst>
                                    <p:set>
                                      <p:cBhvr>
                                        <p:cTn id="243" dur="1" fill="hold">
                                          <p:stCondLst>
                                            <p:cond delay="0"/>
                                          </p:stCondLst>
                                        </p:cTn>
                                        <p:tgtEl>
                                          <p:spTgt spid="62"/>
                                        </p:tgtEl>
                                        <p:attrNameLst>
                                          <p:attrName>style.visibility</p:attrName>
                                        </p:attrNameLst>
                                      </p:cBhvr>
                                      <p:to>
                                        <p:strVal val="visible"/>
                                      </p:to>
                                    </p:set>
                                    <p:animEffect transition="in" filter="fade">
                                      <p:cBhvr>
                                        <p:cTn id="244" dur="550"/>
                                        <p:tgtEl>
                                          <p:spTgt spid="62"/>
                                        </p:tgtEl>
                                      </p:cBhvr>
                                    </p:animEffect>
                                  </p:childTnLst>
                                </p:cTn>
                              </p:par>
                            </p:childTnLst>
                          </p:cTn>
                        </p:par>
                        <p:par>
                          <p:cTn id="245" fill="hold">
                            <p:stCondLst>
                              <p:cond delay="500"/>
                            </p:stCondLst>
                            <p:childTnLst>
                              <p:par>
                                <p:cTn id="246" presetID="2" presetClass="entr" presetSubtype="8" fill="hold" grpId="0" nodeType="afterEffect">
                                  <p:stCondLst>
                                    <p:cond delay="0"/>
                                  </p:stCondLst>
                                  <p:childTnLst>
                                    <p:set>
                                      <p:cBhvr>
                                        <p:cTn id="247" dur="1" fill="hold">
                                          <p:stCondLst>
                                            <p:cond delay="0"/>
                                          </p:stCondLst>
                                        </p:cTn>
                                        <p:tgtEl>
                                          <p:spTgt spid="61"/>
                                        </p:tgtEl>
                                        <p:attrNameLst>
                                          <p:attrName>style.visibility</p:attrName>
                                        </p:attrNameLst>
                                      </p:cBhvr>
                                      <p:to>
                                        <p:strVal val="visible"/>
                                      </p:to>
                                    </p:set>
                                    <p:anim calcmode="lin" valueType="num">
                                      <p:cBhvr additive="base">
                                        <p:cTn id="249" dur="550" fill="hold"/>
                                        <p:tgtEl>
                                          <p:spTgt spid="61"/>
                                        </p:tgtEl>
                                        <p:attrNameLst>
                                          <p:attrName>ppt_x</p:attrName>
                                        </p:attrNameLst>
                                      </p:cBhvr>
                                      <p:tavLst>
                                        <p:tav tm="0">
                                          <p:val>
                                            <p:strVal val="0-#ppt_w/2"/>
                                          </p:val>
                                        </p:tav>
                                        <p:tav tm="100000">
                                          <p:val>
                                            <p:strVal val="#ppt_x"/>
                                          </p:val>
                                        </p:tav>
                                      </p:tavLst>
                                    </p:anim>
                                    <p:anim calcmode="lin" valueType="num">
                                      <p:cBhvr additive="base">
                                        <p:cTn id="250" dur="550" fill="hold"/>
                                        <p:tgtEl>
                                          <p:spTgt spid="61"/>
                                        </p:tgtEl>
                                        <p:attrNameLst>
                                          <p:attrName>ppt_y</p:attrName>
                                        </p:attrNameLst>
                                      </p:cBhvr>
                                      <p:tavLst>
                                        <p:tav tm="0">
                                          <p:val>
                                            <p:strVal val="#ppt_y"/>
                                          </p:val>
                                        </p:tav>
                                        <p:tav tm="100000">
                                          <p:val>
                                            <p:strVal val="#ppt_y"/>
                                          </p:val>
                                        </p:tav>
                                      </p:tavLst>
                                    </p:anim>
                                  </p:childTnLst>
                                </p:cTn>
                              </p:par>
                            </p:childTnLst>
                          </p:cTn>
                        </p:par>
                        <p:par>
                          <p:cTn id="251" fill="hold">
                            <p:stCondLst>
                              <p:cond delay="650"/>
                            </p:stCondLst>
                            <p:childTnLst>
                              <p:par>
                                <p:cTn id="252" presetID="42" presetClass="entr" presetSubtype="0" fill="hold" grpId="0" nodeType="afterEffect">
                                  <p:stCondLst>
                                    <p:cond delay="0"/>
                                  </p:stCondLst>
                                  <p:childTnLst>
                                    <p:set>
                                      <p:cBhvr>
                                        <p:cTn id="253" dur="1" fill="hold">
                                          <p:stCondLst>
                                            <p:cond delay="0"/>
                                          </p:stCondLst>
                                        </p:cTn>
                                        <p:tgtEl>
                                          <p:spTgt spid="63"/>
                                        </p:tgtEl>
                                        <p:attrNameLst>
                                          <p:attrName>style.visibility</p:attrName>
                                        </p:attrNameLst>
                                      </p:cBhvr>
                                      <p:to>
                                        <p:strVal val="visible"/>
                                      </p:to>
                                    </p:set>
                                    <p:animEffect transition="in" filter="fade">
                                      <p:cBhvr>
                                        <p:cTn id="254" dur="550"/>
                                        <p:tgtEl>
                                          <p:spTgt spid="63"/>
                                        </p:tgtEl>
                                      </p:cBhvr>
                                    </p:animEffect>
                                    <p:anim calcmode="lin" valueType="num">
                                      <p:cBhvr additive="base">
                                        <p:cTn id="255" dur="550" fill="hold"/>
                                        <p:tgtEl>
                                          <p:spTgt spid="63"/>
                                        </p:tgtEl>
                                        <p:attrNameLst>
                                          <p:attrName>ppt_x</p:attrName>
                                        </p:attrNameLst>
                                      </p:cBhvr>
                                      <p:tavLst>
                                        <p:tav tm="0">
                                          <p:val>
                                            <p:strVal val="#ppt_x"/>
                                          </p:val>
                                        </p:tav>
                                        <p:tav tm="100000">
                                          <p:val>
                                            <p:strVal val="#ppt_x"/>
                                          </p:val>
                                        </p:tav>
                                      </p:tavLst>
                                    </p:anim>
                                    <p:anim calcmode="lin" valueType="num">
                                      <p:cBhvr additive="base">
                                        <p:cTn id="256" dur="550" fill="hold"/>
                                        <p:tgtEl>
                                          <p:spTgt spid="63"/>
                                        </p:tgtEl>
                                        <p:attrNameLst>
                                          <p:attrName>ppt_y</p:attrName>
                                        </p:attrNameLst>
                                      </p:cBhvr>
                                      <p:tavLst>
                                        <p:tav tm="0">
                                          <p:val>
                                            <p:strVal val="#ppt_y+.08"/>
                                          </p:val>
                                        </p:tav>
                                        <p:tav tm="100000">
                                          <p:val>
                                            <p:strVal val="#ppt_y"/>
                                          </p:val>
                                        </p:tav>
                                      </p:tavLst>
                                    </p:anim>
                                  </p:childTnLst>
                                </p:cTn>
                              </p:par>
                            </p:childTnLst>
                          </p:cTn>
                        </p:par>
                        <p:par>
                          <p:cTn id="257" fill="hold">
                            <p:stCondLst>
                              <p:cond delay="800"/>
                            </p:stCondLst>
                            <p:childTnLst>
                              <p:par>
                                <p:cTn id="258" presetID="22" presetClass="entr" presetSubtype="8" fill="hold" grpId="0" nodeType="afterEffect">
                                  <p:stCondLst>
                                    <p:cond delay="0"/>
                                  </p:stCondLst>
                                  <p:childTnLst>
                                    <p:set>
                                      <p:cBhvr>
                                        <p:cTn id="259" dur="1" fill="hold">
                                          <p:stCondLst>
                                            <p:cond delay="0"/>
                                          </p:stCondLst>
                                        </p:cTn>
                                        <p:tgtEl>
                                          <p:spTgt spid="64"/>
                                        </p:tgtEl>
                                        <p:attrNameLst>
                                          <p:attrName>style.visibility</p:attrName>
                                        </p:attrNameLst>
                                      </p:cBhvr>
                                      <p:to>
                                        <p:strVal val="visible"/>
                                      </p:to>
                                    </p:set>
                                    <p:animEffect transition="in" filter="wipe(left)">
                                      <p:cBhvr>
                                        <p:cTn id="261" dur="800"/>
                                        <p:tgtEl>
                                          <p:spTgt spid="64"/>
                                        </p:tgtEl>
                                      </p:cBhvr>
                                    </p:animEffect>
                                  </p:childTnLst>
                                </p:cTn>
                              </p:par>
                            </p:childTnLst>
                          </p:cTn>
                        </p:par>
                        <p:par>
                          <p:cTn id="262" fill="hold">
                            <p:stCondLst>
                              <p:cond delay="950"/>
                            </p:stCondLst>
                            <p:childTnLst>
                              <p:par>
                                <p:cTn id="263" presetID="10" presetClass="entr" presetSubtype="0" fill="hold" grpId="0" nodeType="afterEffect">
                                  <p:stCondLst>
                                    <p:cond delay="0"/>
                                  </p:stCondLst>
                                  <p:childTnLst>
                                    <p:set>
                                      <p:cBhvr>
                                        <p:cTn id="264" dur="1" fill="hold">
                                          <p:stCondLst>
                                            <p:cond delay="0"/>
                                          </p:stCondLst>
                                        </p:cTn>
                                        <p:tgtEl>
                                          <p:spTgt spid="65"/>
                                        </p:tgtEl>
                                        <p:attrNameLst>
                                          <p:attrName>style.visibility</p:attrName>
                                        </p:attrNameLst>
                                      </p:cBhvr>
                                      <p:to>
                                        <p:strVal val="visible"/>
                                      </p:to>
                                    </p:set>
                                    <p:animEffect transition="in" filter="fade">
                                      <p:cBhvr>
                                        <p:cTn id="265" dur="55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8" grpId="0" animBg="1"/>
      <p:bldP spid="57" grpId="0" animBg="1"/>
      <p:bldP spid="60" grpId="0" animBg="1"/>
      <p:bldP spid="62" grpId="0" animBg="1"/>
      <p:bldP spid="61" grpId="0" animBg="1"/>
      <p:bldP spid="63" grpId="0" animBg="1"/>
      <p:bldP spid="64" grpId="0" animBg="1"/>
      <p:bldP spid="65"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Etik me'yorlar va xalqaro standartlar landshafti</a:t>
            </a:r>
          </a:p>
        </p:txBody>
      </p:sp>
      <p:sp>
        <p:nvSpPr>
          <p:cNvPr id="27" name="Rounded Rectangle 26"/>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Mas'uliyatli sun'iy intellekt (Responsible AI) konsepsiyasi</a:t>
            </a:r>
          </a:p>
        </p:txBody>
      </p:sp>
      <p:sp>
        <p:nvSpPr>
          <p:cNvPr id="31" name="Rounded Rectangle 3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Adolatlilik (Fairness): ta'riflar, metrikalar va ziddiyatlar</a:t>
            </a:r>
          </a:p>
        </p:txBody>
      </p:sp>
      <p:sp>
        <p:nvSpPr>
          <p:cNvPr id="35" name="Rounded Rectangle 34"/>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Shaffoflik va tushuntiriladigan sun'iy intellekt (XAI)</a:t>
            </a:r>
          </a:p>
        </p:txBody>
      </p:sp>
      <p:sp>
        <p:nvSpPr>
          <p:cNvPr id="39" name="Rounded Rectangle 38"/>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Ishonchlilik, mustahkamlik va hisobdorlik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25f067dc154b7849.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Celsoazevedo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Etik me'yorlar va xalqaro standartlar landshafti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SI etikasi bo'yicha hujjatlarni uch darajaga ajratish foydali: tamoyillar (nima qilish kerak), standartlar (qanday tashkil qilish kerak) va qonunlar (nima majburiy).</a:t>
            </a:r>
          </a:p>
          <a:p>
            <a:pPr>
              <a:spcBef>
                <a:spcPts val="400"/>
              </a:spcBef>
            </a:pPr>
            <a:r>
              <a:rPr sz="1400">
                <a:solidFill>
                  <a:srgbClr val="AEBBD9"/>
                </a:solidFill>
                <a:latin typeface="Segoe UI"/>
              </a:rPr>
              <a:t>Tamoyillar darajasida eng ta'sirlilari — OECD SI tamoyillari (2019, 2024-yilda yangilangan; 47 dan ortiq davlat qo'shilgan) va UNESCO ning SI etikasi bo'yicha tavsiyasi (2021, 193 a'zo davlat tomonidan qabul qilingan).</a:t>
            </a:r>
          </a:p>
        </p:txBody>
      </p:sp>
      <p:sp>
        <p:nvSpPr>
          <p:cNvPr id="31" name="Rounded Rectangle 30"/>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Standartlar darajasida asosiy hujjatlar quyidagilar:</a:t>
            </a:r>
          </a:p>
        </p:txBody>
      </p:sp>
      <p:sp>
        <p:nvSpPr>
          <p:cNvPr id="35" name="Rounded Rectangle 34"/>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723333"/>
            <a:ext cx="5900000" cy="1486666"/>
          </a:xfrm>
          <a:prstGeom prst="rect">
            <a:avLst/>
          </a:prstGeom>
          <a:noFill/>
        </p:spPr>
        <p:txBody>
          <a:bodyPr wrap="square" anchor="ctr">
            <a:spAutoFit/>
          </a:bodyPr>
          <a:lstStyle/>
          <a:p>
            <a:r>
              <a:rPr sz="1400" b="0">
                <a:solidFill>
                  <a:srgbClr val="E8EEFA"/>
                </a:solidFill>
                <a:latin typeface="Segoe UI"/>
              </a:rPr>
              <a:t>ISO/IEC 42001 alohida e'tiborga loyiq, chunki u ISO 9001 (sifat) va ISO/IEC 27001 (axborot xavfsizligi) kabi «boshqaruv tizimi» standartidir: u modelning o'zini emas, balki tashkilotning SI ni ishlab chiqish va qo'llash jarayonini sertifikatlaydi.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aeb42d11be26d827.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Psthaker10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03444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Qonunlar darajasida EU AI Act xavfga asoslangan yondashuvni qo'llaydi: taqiqlangan amaliyotlar (ijtimoiy reyting, ish joyida his-tuyg'ularni tanish, nozik belgilarga ko'ra biometrik tasniflash — 2025-yil fevralidan taqiqlangan), yuqori xavfli tizimlar (Annex…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me'yorlar va xalqaro standartlar landshafti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5" name="Table 24"/>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Hujjat</a:t>
                      </a:r>
                    </a:p>
                  </a:txBody>
                  <a:tcPr>
                    <a:solidFill>
                      <a:srgbClr val="1C2755"/>
                    </a:solidFill>
                  </a:tcPr>
                </a:tc>
                <a:tc>
                  <a:txBody>
                    <a:bodyPr/>
                    <a:lstStyle/>
                    <a:p>
                      <a:r>
                        <a:rPr sz="1200" b="1">
                          <a:solidFill>
                            <a:srgbClr val="22D3EE"/>
                          </a:solidFill>
                          <a:latin typeface="Segoe UI"/>
                        </a:rPr>
                        <a:t>Yili</a:t>
                      </a:r>
                    </a:p>
                  </a:txBody>
                  <a:tcPr>
                    <a:solidFill>
                      <a:srgbClr val="1C2755"/>
                    </a:solidFill>
                  </a:tcPr>
                </a:tc>
                <a:tc>
                  <a:txBody>
                    <a:bodyPr/>
                    <a:lstStyle/>
                    <a:p>
                      <a:r>
                        <a:rPr sz="1200" b="1">
                          <a:solidFill>
                            <a:srgbClr val="22D3EE"/>
                          </a:solidFill>
                          <a:latin typeface="Segoe UI"/>
                        </a:rPr>
                        <a:t>Mohiyati</a:t>
                      </a:r>
                    </a:p>
                  </a:txBody>
                  <a:tcPr>
                    <a:solidFill>
                      <a:srgbClr val="1C2755"/>
                    </a:solidFill>
                  </a:tcPr>
                </a:tc>
                <a:tc>
                  <a:txBody>
                    <a:bodyPr/>
                    <a:lstStyle/>
                    <a:p>
                      <a:r>
                        <a:rPr sz="1200" b="1">
                          <a:solidFill>
                            <a:srgbClr val="22D3EE"/>
                          </a:solidFill>
                          <a:latin typeface="Segoe UI"/>
                        </a:rPr>
                        <a:t>Muhandis uchun ma'nosi</a:t>
                      </a:r>
                    </a:p>
                  </a:txBody>
                  <a:tcPr>
                    <a:solidFill>
                      <a:srgbClr val="1C2755"/>
                    </a:solidFill>
                  </a:tcPr>
                </a:tc>
              </a:tr>
              <a:tr h="520000">
                <a:tc>
                  <a:txBody>
                    <a:bodyPr/>
                    <a:lstStyle/>
                    <a:p>
                      <a:r>
                        <a:rPr sz="1200" b="0">
                          <a:solidFill>
                            <a:srgbClr val="E8EEFA"/>
                          </a:solidFill>
                          <a:latin typeface="Segoe UI"/>
                        </a:rPr>
                        <a:t>ISO/IEC 22989</a:t>
                      </a:r>
                    </a:p>
                  </a:txBody>
                  <a:tcPr>
                    <a:solidFill>
                      <a:srgbClr val="111834"/>
                    </a:solidFill>
                  </a:tcPr>
                </a:tc>
                <a:tc>
                  <a:txBody>
                    <a:bodyPr/>
                    <a:lstStyle/>
                    <a:p>
                      <a:r>
                        <a:rPr sz="1200" b="0">
                          <a:solidFill>
                            <a:srgbClr val="E8EEFA"/>
                          </a:solidFill>
                          <a:latin typeface="Segoe UI"/>
                        </a:rPr>
                        <a:t>2022</a:t>
                      </a:r>
                    </a:p>
                  </a:txBody>
                  <a:tcPr>
                    <a:solidFill>
                      <a:srgbClr val="111834"/>
                    </a:solidFill>
                  </a:tcPr>
                </a:tc>
                <a:tc>
                  <a:txBody>
                    <a:bodyPr/>
                    <a:lstStyle/>
                    <a:p>
                      <a:r>
                        <a:rPr sz="1200" b="0">
                          <a:solidFill>
                            <a:srgbClr val="E8EEFA"/>
                          </a:solidFill>
                          <a:latin typeface="Segoe UI"/>
                        </a:rPr>
                        <a:t>SI tushunchalari va terminologiyasi</a:t>
                      </a:r>
                    </a:p>
                  </a:txBody>
                  <a:tcPr>
                    <a:solidFill>
                      <a:srgbClr val="111834"/>
                    </a:solidFill>
                  </a:tcPr>
                </a:tc>
                <a:tc>
                  <a:txBody>
                    <a:bodyPr/>
                    <a:lstStyle/>
                    <a:p>
                      <a:r>
                        <a:rPr sz="1200" b="0">
                          <a:solidFill>
                            <a:srgbClr val="E8EEFA"/>
                          </a:solidFill>
                          <a:latin typeface="Segoe UI"/>
                        </a:rPr>
                        <a:t>yagona lug'at, hujjatlarda izchil atamalar</a:t>
                      </a:r>
                    </a:p>
                  </a:txBody>
                  <a:tcPr>
                    <a:solidFill>
                      <a:srgbClr val="111834"/>
                    </a:solidFill>
                  </a:tcPr>
                </a:tc>
              </a:tr>
              <a:tr h="520000">
                <a:tc>
                  <a:txBody>
                    <a:bodyPr/>
                    <a:lstStyle/>
                    <a:p>
                      <a:r>
                        <a:rPr sz="1200" b="0">
                          <a:solidFill>
                            <a:srgbClr val="E8EEFA"/>
                          </a:solidFill>
                          <a:latin typeface="Segoe UI"/>
                        </a:rPr>
                        <a:t>ISO/IEC 23894</a:t>
                      </a:r>
                    </a:p>
                  </a:txBody>
                  <a:tcPr>
                    <a:solidFill>
                      <a:srgbClr val="161F40"/>
                    </a:solidFill>
                  </a:tcPr>
                </a:tc>
                <a:tc>
                  <a:txBody>
                    <a:bodyPr/>
                    <a:lstStyle/>
                    <a:p>
                      <a:r>
                        <a:rPr sz="1200" b="0">
                          <a:solidFill>
                            <a:srgbClr val="E8EEFA"/>
                          </a:solidFill>
                          <a:latin typeface="Segoe UI"/>
                        </a:rPr>
                        <a:t>2023</a:t>
                      </a:r>
                    </a:p>
                  </a:txBody>
                  <a:tcPr>
                    <a:solidFill>
                      <a:srgbClr val="161F40"/>
                    </a:solidFill>
                  </a:tcPr>
                </a:tc>
                <a:tc>
                  <a:txBody>
                    <a:bodyPr/>
                    <a:lstStyle/>
                    <a:p>
                      <a:r>
                        <a:rPr sz="1200" b="0">
                          <a:solidFill>
                            <a:srgbClr val="E8EEFA"/>
                          </a:solidFill>
                          <a:latin typeface="Segoe UI"/>
                        </a:rPr>
                        <a:t>SI uchun risklarni boshqarish bo'yicha yo'riqnoma (ISO 31000 asosida)</a:t>
                      </a:r>
                    </a:p>
                  </a:txBody>
                  <a:tcPr>
                    <a:solidFill>
                      <a:srgbClr val="161F40"/>
                    </a:solidFill>
                  </a:tcPr>
                </a:tc>
                <a:tc>
                  <a:txBody>
                    <a:bodyPr/>
                    <a:lstStyle/>
                    <a:p>
                      <a:r>
                        <a:rPr sz="1200" b="0">
                          <a:solidFill>
                            <a:srgbClr val="E8EEFA"/>
                          </a:solidFill>
                          <a:latin typeface="Segoe UI"/>
                        </a:rPr>
                        <a:t>risk reestri, SI hayot sikli bo'ylab tahdidlar</a:t>
                      </a:r>
                    </a:p>
                  </a:txBody>
                  <a:tcPr>
                    <a:solidFill>
                      <a:srgbClr val="161F40"/>
                    </a:solidFill>
                  </a:tcPr>
                </a:tc>
              </a:tr>
              <a:tr h="520000">
                <a:tc>
                  <a:txBody>
                    <a:bodyPr/>
                    <a:lstStyle/>
                    <a:p>
                      <a:r>
                        <a:rPr sz="1200" b="0">
                          <a:solidFill>
                            <a:srgbClr val="E8EEFA"/>
                          </a:solidFill>
                          <a:latin typeface="Segoe UI"/>
                        </a:rPr>
                        <a:t>ISO/IEC 42001</a:t>
                      </a:r>
                    </a:p>
                  </a:txBody>
                  <a:tcPr>
                    <a:solidFill>
                      <a:srgbClr val="111834"/>
                    </a:solidFill>
                  </a:tcPr>
                </a:tc>
                <a:tc>
                  <a:txBody>
                    <a:bodyPr/>
                    <a:lstStyle/>
                    <a:p>
                      <a:r>
                        <a:rPr sz="1200" b="0">
                          <a:solidFill>
                            <a:srgbClr val="E8EEFA"/>
                          </a:solidFill>
                          <a:latin typeface="Segoe UI"/>
                        </a:rPr>
                        <a:t>2023</a:t>
                      </a:r>
                    </a:p>
                  </a:txBody>
                  <a:tcPr>
                    <a:solidFill>
                      <a:srgbClr val="111834"/>
                    </a:solidFill>
                  </a:tcPr>
                </a:tc>
                <a:tc>
                  <a:txBody>
                    <a:bodyPr/>
                    <a:lstStyle/>
                    <a:p>
                      <a:r>
                        <a:rPr sz="1200" b="0">
                          <a:solidFill>
                            <a:srgbClr val="E8EEFA"/>
                          </a:solidFill>
                          <a:latin typeface="Segoe UI"/>
                        </a:rPr>
                        <a:t>SI boshqaruv tizimi (AI Management System, AIMS) — sertifikatlanadigan</a:t>
                      </a:r>
                    </a:p>
                  </a:txBody>
                  <a:tcPr>
                    <a:solidFill>
                      <a:srgbClr val="111834"/>
                    </a:solidFill>
                  </a:tcPr>
                </a:tc>
                <a:tc>
                  <a:txBody>
                    <a:bodyPr/>
                    <a:lstStyle/>
                    <a:p>
                      <a:r>
                        <a:rPr sz="1200" b="0">
                          <a:solidFill>
                            <a:srgbClr val="E8EEFA"/>
                          </a:solidFill>
                          <a:latin typeface="Segoe UI"/>
                        </a:rPr>
                        <a:t>tashkilot darajasida siyosat, rollar, audit, uzluksiz takomillashtirish</a:t>
                      </a:r>
                    </a:p>
                  </a:txBody>
                  <a:tcPr>
                    <a:solidFill>
                      <a:srgbClr val="111834"/>
                    </a:solidFill>
                  </a:tcPr>
                </a:tc>
              </a:tr>
              <a:tr h="520000">
                <a:tc>
                  <a:txBody>
                    <a:bodyPr/>
                    <a:lstStyle/>
                    <a:p>
                      <a:r>
                        <a:rPr sz="1200" b="0">
                          <a:solidFill>
                            <a:srgbClr val="E8EEFA"/>
                          </a:solidFill>
                          <a:latin typeface="Segoe UI"/>
                        </a:rPr>
                        <a:t>ISO/IEC TR 24027</a:t>
                      </a:r>
                    </a:p>
                  </a:txBody>
                  <a:tcPr>
                    <a:solidFill>
                      <a:srgbClr val="161F40"/>
                    </a:solidFill>
                  </a:tcPr>
                </a:tc>
                <a:tc>
                  <a:txBody>
                    <a:bodyPr/>
                    <a:lstStyle/>
                    <a:p>
                      <a:r>
                        <a:rPr sz="1200" b="0">
                          <a:solidFill>
                            <a:srgbClr val="E8EEFA"/>
                          </a:solidFill>
                          <a:latin typeface="Segoe UI"/>
                        </a:rPr>
                        <a:t>2021</a:t>
                      </a:r>
                    </a:p>
                  </a:txBody>
                  <a:tcPr>
                    <a:solidFill>
                      <a:srgbClr val="161F40"/>
                    </a:solidFill>
                  </a:tcPr>
                </a:tc>
                <a:tc>
                  <a:txBody>
                    <a:bodyPr/>
                    <a:lstStyle/>
                    <a:p>
                      <a:r>
                        <a:rPr sz="1200" b="0">
                          <a:solidFill>
                            <a:srgbClr val="E8EEFA"/>
                          </a:solidFill>
                          <a:latin typeface="Segoe UI"/>
                        </a:rPr>
                        <a:t>SI tizimlarida noxolislik (bias) va qarorlar</a:t>
                      </a:r>
                    </a:p>
                  </a:txBody>
                  <a:tcPr>
                    <a:solidFill>
                      <a:srgbClr val="161F40"/>
                    </a:solidFill>
                  </a:tcPr>
                </a:tc>
                <a:tc>
                  <a:txBody>
                    <a:bodyPr/>
                    <a:lstStyle/>
                    <a:p>
                      <a:r>
                        <a:rPr sz="1200" b="0">
                          <a:solidFill>
                            <a:srgbClr val="E8EEFA"/>
                          </a:solidFill>
                          <a:latin typeface="Segoe UI"/>
                        </a:rPr>
                        <a:t>noxolislik manbalari tasnifi va o'lchash usullari</a:t>
                      </a:r>
                    </a:p>
                  </a:txBody>
                  <a:tcPr>
                    <a:solidFill>
                      <a:srgbClr val="161F40"/>
                    </a:solidFill>
                  </a:tcPr>
                </a:tc>
              </a:tr>
              <a:tr h="520000">
                <a:tc>
                  <a:txBody>
                    <a:bodyPr/>
                    <a:lstStyle/>
                    <a:p>
                      <a:r>
                        <a:rPr sz="1200" b="0">
                          <a:solidFill>
                            <a:srgbClr val="E8EEFA"/>
                          </a:solidFill>
                          <a:latin typeface="Segoe UI"/>
                        </a:rPr>
                        <a:t>ISO/IEC TR 24028</a:t>
                      </a:r>
                    </a:p>
                  </a:txBody>
                  <a:tcPr>
                    <a:solidFill>
                      <a:srgbClr val="111834"/>
                    </a:solidFill>
                  </a:tcPr>
                </a:tc>
                <a:tc>
                  <a:txBody>
                    <a:bodyPr/>
                    <a:lstStyle/>
                    <a:p>
                      <a:r>
                        <a:rPr sz="1200" b="0">
                          <a:solidFill>
                            <a:srgbClr val="E8EEFA"/>
                          </a:solidFill>
                          <a:latin typeface="Segoe UI"/>
                        </a:rPr>
                        <a:t>2020</a:t>
                      </a:r>
                    </a:p>
                  </a:txBody>
                  <a:tcPr>
                    <a:solidFill>
                      <a:srgbClr val="111834"/>
                    </a:solidFill>
                  </a:tcPr>
                </a:tc>
                <a:tc>
                  <a:txBody>
                    <a:bodyPr/>
                    <a:lstStyle/>
                    <a:p>
                      <a:r>
                        <a:rPr sz="1200" b="0">
                          <a:solidFill>
                            <a:srgbClr val="E8EEFA"/>
                          </a:solidFill>
                          <a:latin typeface="Segoe UI"/>
                        </a:rPr>
                        <a:t>SI ishonchliligi (trustworthiness) umumiy ko'rinishi</a:t>
                      </a:r>
                    </a:p>
                  </a:txBody>
                  <a:tcPr>
                    <a:solidFill>
                      <a:srgbClr val="111834"/>
                    </a:solidFill>
                  </a:tcPr>
                </a:tc>
                <a:tc>
                  <a:txBody>
                    <a:bodyPr/>
                    <a:lstStyle/>
                    <a:p>
                      <a:r>
                        <a:rPr sz="1200" b="0">
                          <a:solidFill>
                            <a:srgbClr val="E8EEFA"/>
                          </a:solidFill>
                          <a:latin typeface="Segoe UI"/>
                        </a:rPr>
                        <a:t>ishonchlilik xususiyatlari ro'yxati</a:t>
                      </a:r>
                    </a:p>
                  </a:txBody>
                  <a:tcPr>
                    <a:solidFill>
                      <a:srgbClr val="111834"/>
                    </a:solidFill>
                  </a:tcPr>
                </a:tc>
              </a:tr>
              <a:tr h="520000">
                <a:tc>
                  <a:txBody>
                    <a:bodyPr/>
                    <a:lstStyle/>
                    <a:p>
                      <a:r>
                        <a:rPr sz="1200" b="0">
                          <a:solidFill>
                            <a:srgbClr val="E8EEFA"/>
                          </a:solidFill>
                          <a:latin typeface="Segoe UI"/>
                        </a:rPr>
                        <a:t>NIST AI RMF 1.0</a:t>
                      </a:r>
                    </a:p>
                  </a:txBody>
                  <a:tcPr>
                    <a:solidFill>
                      <a:srgbClr val="161F40"/>
                    </a:solidFill>
                  </a:tcPr>
                </a:tc>
                <a:tc>
                  <a:txBody>
                    <a:bodyPr/>
                    <a:lstStyle/>
                    <a:p>
                      <a:r>
                        <a:rPr sz="1200" b="0">
                          <a:solidFill>
                            <a:srgbClr val="E8EEFA"/>
                          </a:solidFill>
                          <a:latin typeface="Segoe UI"/>
                        </a:rPr>
                        <a:t>2023</a:t>
                      </a:r>
                    </a:p>
                  </a:txBody>
                  <a:tcPr>
                    <a:solidFill>
                      <a:srgbClr val="161F40"/>
                    </a:solidFill>
                  </a:tcPr>
                </a:tc>
                <a:tc>
                  <a:txBody>
                    <a:bodyPr/>
                    <a:lstStyle/>
                    <a:p>
                      <a:r>
                        <a:rPr sz="1200" b="0">
                          <a:solidFill>
                            <a:srgbClr val="E8EEFA"/>
                          </a:solidFill>
                          <a:latin typeface="Segoe UI"/>
                        </a:rPr>
                        <a:t>AQSh risk boshqaruv asosi: Govern, Map, Measure, Manage</a:t>
                      </a:r>
                    </a:p>
                  </a:txBody>
                  <a:tcPr>
                    <a:solidFill>
                      <a:srgbClr val="161F40"/>
                    </a:solidFill>
                  </a:tcPr>
                </a:tc>
                <a:tc>
                  <a:txBody>
                    <a:bodyPr/>
                    <a:lstStyle/>
                    <a:p>
                      <a:r>
                        <a:rPr sz="1200" b="0">
                          <a:solidFill>
                            <a:srgbClr val="E8EEFA"/>
                          </a:solidFill>
                          <a:latin typeface="Segoe UI"/>
                        </a:rPr>
                        <a:t>ixtiyoriy, lekin amaliy «playbook» bilan</a:t>
                      </a:r>
                    </a:p>
                  </a:txBody>
                  <a:tcPr>
                    <a:solidFill>
                      <a:srgbClr val="161F40"/>
                    </a:solidFill>
                  </a:tcPr>
                </a:tc>
              </a:tr>
              <a:tr h="520000">
                <a:tc>
                  <a:txBody>
                    <a:bodyPr/>
                    <a:lstStyle/>
                    <a:p>
                      <a:r>
                        <a:rPr sz="1200" b="0">
                          <a:solidFill>
                            <a:srgbClr val="E8EEFA"/>
                          </a:solidFill>
                          <a:latin typeface="Segoe UI"/>
                        </a:rPr>
                        <a:t>IEEE 7000 / 7001</a:t>
                      </a:r>
                    </a:p>
                  </a:txBody>
                  <a:tcPr>
                    <a:solidFill>
                      <a:srgbClr val="111834"/>
                    </a:solidFill>
                  </a:tcPr>
                </a:tc>
                <a:tc>
                  <a:txBody>
                    <a:bodyPr/>
                    <a:lstStyle/>
                    <a:p>
                      <a:r>
                        <a:rPr sz="1200" b="0">
                          <a:solidFill>
                            <a:srgbClr val="E8EEFA"/>
                          </a:solidFill>
                          <a:latin typeface="Segoe UI"/>
                        </a:rPr>
                        <a:t>2021</a:t>
                      </a:r>
                    </a:p>
                  </a:txBody>
                  <a:tcPr>
                    <a:solidFill>
                      <a:srgbClr val="111834"/>
                    </a:solidFill>
                  </a:tcPr>
                </a:tc>
                <a:tc>
                  <a:txBody>
                    <a:bodyPr/>
                    <a:lstStyle/>
                    <a:p>
                      <a:r>
                        <a:rPr sz="1200" b="0">
                          <a:solidFill>
                            <a:srgbClr val="E8EEFA"/>
                          </a:solidFill>
                          <a:latin typeface="Segoe UI"/>
                        </a:rPr>
                        <a:t>qadriyatlarga asoslangan loyihalash; avtonom tizimlar shaffofligi</a:t>
                      </a:r>
                    </a:p>
                  </a:txBody>
                  <a:tcPr>
                    <a:solidFill>
                      <a:srgbClr val="111834"/>
                    </a:solidFill>
                  </a:tcPr>
                </a:tc>
                <a:tc>
                  <a:txBody>
                    <a:bodyPr/>
                    <a:lstStyle/>
                    <a:p>
                      <a:r>
                        <a:rPr sz="1200" b="0">
                          <a:solidFill>
                            <a:srgbClr val="E8EEFA"/>
                          </a:solidFill>
                          <a:latin typeface="Segoe UI"/>
                        </a:rPr>
                        <a:t>shaffoflik darajalarini o'lchanadigan qilish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e18bba9a674daa6a.jpg"/>
          <p:cNvPicPr>
            <a:picLocks noChangeAspect="1"/>
          </p:cNvPicPr>
          <p:nvPr/>
        </p:nvPicPr>
        <p:blipFill>
          <a:blip r:embed="rId2"/>
          <a:srcRect l="25951" r="25951"/>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Authors of the study:     Nicholas Kluge Corrêa     Camila Galvão     James Will · Wikimedia Commons · CC BY 4.0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Mas'uliyatli sun'iy intellekt (Responsible AI) konsepsiyasi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Mas'uliyatli sun'iy intellekt (Responsible AI)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Mas'uliyatli SI — bu tamoyillarni butun hayot sikli bo'ylab amalga oshiruvchi muhandislik va tashkiliy amaliyotlar to'plami.</a:t>
            </a:r>
          </a:p>
          <a:p>
            <a:pPr>
              <a:spcBef>
                <a:spcPts val="400"/>
              </a:spcBef>
            </a:pPr>
            <a:r>
              <a:rPr sz="1400">
                <a:solidFill>
                  <a:srgbClr val="AEBBD9"/>
                </a:solidFill>
                <a:latin typeface="Segoe UI"/>
              </a:rPr>
              <a:t>Uning yadrosi — SI tizimi texnik artefakt emas, balki ijtimoiy-texnik tizim (sociotechnical system) ekanini tan olish: model, ma'lumot, foydalanuvchi, operator, ta'sirlanuvchi shaxslar va tashkiliy jarayonlar birgalikda natijani belgilaydi.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Amaliyotda Responsible AI quyidagi artefaktlar orqali moddiylashadi.</a:t>
            </a:r>
          </a:p>
          <a:p>
            <a:pPr>
              <a:spcBef>
                <a:spcPts val="400"/>
              </a:spcBef>
            </a:pPr>
            <a:r>
              <a:rPr sz="1400">
                <a:solidFill>
                  <a:srgbClr val="AEBBD9"/>
                </a:solidFill>
                <a:latin typeface="Segoe UI"/>
              </a:rPr>
              <a:t>Model kartasi (Model Card, Mitchell va boshq., 2019) — modelning maqsadi, o'qitish ma'lumoti, baholash natijalari (guruhlar kesimida), cheklovlar va etik mulohazalar haqida standartlashtirilgan hujjat.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Mas'uliyatli sun'iy intellekt (Responsible AI)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6df2df515d545ff.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Noah Wulf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Muhim nuqta: mas'uliyatli SI tizimning har bir bosqichida qaror nuqtalarini o'z ichiga oladi.</a:t>
            </a:r>
          </a:p>
          <a:p>
            <a:pPr>
              <a:spcBef>
                <a:spcPts val="400"/>
              </a:spcBef>
            </a:pPr>
            <a:r>
              <a:rPr sz="1600">
                <a:solidFill>
                  <a:srgbClr val="AEBBD9"/>
                </a:solidFill>
                <a:latin typeface="Segoe UI"/>
              </a:rPr>
              <a:t>Muammo qo'yilishida — «bu masalani SI bilan yechish to'g'rimi» (ba'zan eng mas'uliyatli qaror — tizimni qurmaslik). Ma'lumot yig'ishda — vakillik (representativeness), rozilik, tarixiy noxolislik. Modellashtirishda — maqsad funksiyasi kimning manfaatini optimallashtiradi.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704647d698882c1b.jpg"/>
          <p:cNvPicPr>
            <a:picLocks noChangeAspect="1"/>
          </p:cNvPicPr>
          <p:nvPr/>
        </p:nvPicPr>
        <p:blipFill>
          <a:blip r:embed="rId2"/>
          <a:srcRect l="10141" r="10141"/>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Nikodem Nijaki · Wikimedia Commons · CC BY-SA 3.0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Adolatlilik (Fairness): ta'riflar, metrikalar va ziddiyatlar</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175734a0e242255.jpg"/>
          <p:cNvPicPr>
            <a:picLocks noChangeAspect="1"/>
          </p:cNvPicPr>
          <p:nvPr/>
        </p:nvPicPr>
        <p:blipFill>
          <a:blip r:embed="rId2"/>
          <a:srcRect l="1520" r="1520"/>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Wilfredor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Adolatlilikning yagona ta'rifi yo'q — va bu matematik fakt, texnik kamchilik emas.</a:t>
            </a:r>
          </a:p>
          <a:p>
            <a:pPr>
              <a:spcBef>
                <a:spcPts val="400"/>
              </a:spcBef>
            </a:pPr>
            <a:r>
              <a:rPr sz="1400">
                <a:solidFill>
                  <a:srgbClr val="AEBBD9"/>
                </a:solidFill>
                <a:latin typeface="Segoe UI"/>
              </a:rPr>
              <a:t>Ikkilik tasniflash uchun asosiy guruh metrikalari quyidagilar (bu yerda Y — haqiqiy yorliq, Ŷ — bashorat, A — himoyalangan belgi, masalan jins yoki yosh guruhi):</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Metrikalar odatda farq (difference, ideal 0) yoki nisbat (ratio, ideal 1) ko'rinishida hisoblanadi.</a:t>
            </a:r>
          </a:p>
          <a:p>
            <a:pPr>
              <a:spcBef>
                <a:spcPts val="400"/>
              </a:spcBef>
            </a:pPr>
            <a:r>
              <a:rPr sz="1400">
                <a:solidFill>
                  <a:srgbClr val="AEBBD9"/>
                </a:solidFill>
                <a:latin typeface="Segoe UI"/>
              </a:rPr>
              <a:t>AQSh bandlik amaliyotidan kelgan «to'rtdan besh qoidasi» (four-fifths rule) ga ko'ra, ijobiy qaror ulushlari nisbati 0,8 dan past bo'lsa, bu nomutanosib ta'sir (disparate impact) belgisi hisoblanadi — ko'p auditlarda shu chegara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f6038acf0757ad6.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OpenCatMap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Imkonsizlik teoremasi (Chouldechova, 2017; Kleinberg va boshq., 2016) shuni aytadiki, guruhlarda asosiy chastota farq qilganda va model mukammal bo'lmaganda, kalibrlash, teng yolg'on ijobiy va teng yolg'on salbiy darajalarini bir vaqtda ta'minlab bo'lmaydi.</a:t>
            </a:r>
          </a:p>
          <a:p>
            <a:pPr>
              <a:spcBef>
                <a:spcPts val="400"/>
              </a:spcBef>
            </a:pPr>
            <a:r>
              <a:rPr sz="1600">
                <a:solidFill>
                  <a:srgbClr val="AEBBD9"/>
                </a:solidFill>
                <a:latin typeface="Segoe UI"/>
              </a:rPr>
              <a:t>Demak, metrika tanlovi — bu qiymat tanlovi, va u hujjatlashtirilishi, manfaatdor tomonlar bilan kelishilishi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Noxolislikni yumshatish usullari uch bosqichga bo'linadi.</a:t>
            </a:r>
          </a:p>
          <a:p>
            <a:pPr>
              <a:spcBef>
                <a:spcPts val="400"/>
              </a:spcBef>
            </a:pPr>
            <a:r>
              <a:rPr sz="1400">
                <a:solidFill>
                  <a:srgbClr val="AEBBD9"/>
                </a:solidFill>
                <a:latin typeface="Segoe UI"/>
              </a:rPr>
              <a:t>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Asosiy ochiq vositalar: Fairlearn (Microsoft tomonidan boshlangan, hozir mustaqil ochiq loyiha; metrikalar MetricFrame orqali, yumshatish algoritmlari, scikit-learn bilan mos) va AI Fairness 360 (IBM, 2018; 70 dan ortiq metrika va 10 dan ortiq yumshatish…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Adolatlilik (Fairness): ta'riflar, metrikalar va ziddiyatlar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3" name="Table 22"/>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Metrika</a:t>
                      </a:r>
                    </a:p>
                  </a:txBody>
                  <a:tcPr>
                    <a:solidFill>
                      <a:srgbClr val="1C2755"/>
                    </a:solidFill>
                  </a:tcPr>
                </a:tc>
                <a:tc>
                  <a:txBody>
                    <a:bodyPr/>
                    <a:lstStyle/>
                    <a:p>
                      <a:r>
                        <a:rPr sz="1200" b="1">
                          <a:solidFill>
                            <a:srgbClr val="22D3EE"/>
                          </a:solidFill>
                          <a:latin typeface="Segoe UI"/>
                        </a:rPr>
                        <a:t>Shart</a:t>
                      </a:r>
                    </a:p>
                  </a:txBody>
                  <a:tcPr>
                    <a:solidFill>
                      <a:srgbClr val="1C2755"/>
                    </a:solidFill>
                  </a:tcPr>
                </a:tc>
                <a:tc>
                  <a:txBody>
                    <a:bodyPr/>
                    <a:lstStyle/>
                    <a:p>
                      <a:r>
                        <a:rPr sz="1200" b="1">
                          <a:solidFill>
                            <a:srgbClr val="22D3EE"/>
                          </a:solidFill>
                          <a:latin typeface="Segoe UI"/>
                        </a:rPr>
                        <a:t>Ma'nosi</a:t>
                      </a:r>
                    </a:p>
                  </a:txBody>
                  <a:tcPr>
                    <a:solidFill>
                      <a:srgbClr val="1C2755"/>
                    </a:solidFill>
                  </a:tcPr>
                </a:tc>
                <a:tc>
                  <a:txBody>
                    <a:bodyPr/>
                    <a:lstStyle/>
                    <a:p>
                      <a:r>
                        <a:rPr sz="1200" b="1">
                          <a:solidFill>
                            <a:srgbClr val="22D3EE"/>
                          </a:solidFill>
                          <a:latin typeface="Segoe UI"/>
                        </a:rPr>
                        <a:t>Qachon mos</a:t>
                      </a:r>
                    </a:p>
                  </a:txBody>
                  <a:tcPr>
                    <a:solidFill>
                      <a:srgbClr val="1C2755"/>
                    </a:solidFill>
                  </a:tcPr>
                </a:tc>
              </a:tr>
              <a:tr h="520000">
                <a:tc>
                  <a:txBody>
                    <a:bodyPr/>
                    <a:lstStyle/>
                    <a:p>
                      <a:r>
                        <a:rPr sz="1200" b="0">
                          <a:solidFill>
                            <a:srgbClr val="E8EEFA"/>
                          </a:solidFill>
                          <a:latin typeface="Segoe UI"/>
                        </a:rPr>
                        <a:t>Demografik paritet (demographic parity)</a:t>
                      </a:r>
                    </a:p>
                  </a:txBody>
                  <a:tcPr>
                    <a:solidFill>
                      <a:srgbClr val="111834"/>
                    </a:solidFill>
                  </a:tcPr>
                </a:tc>
                <a:tc>
                  <a:txBody>
                    <a:bodyPr/>
                    <a:lstStyle/>
                    <a:p>
                      <a:r>
                        <a:rPr sz="1200" b="0">
                          <a:solidFill>
                            <a:srgbClr val="E8EEFA"/>
                          </a:solidFill>
                          <a:latin typeface="Segoe UI"/>
                        </a:rPr>
                        <a:t>P(Ŷ=1 ∣ A=a) barcha a uchun teng</a:t>
                      </a:r>
                    </a:p>
                  </a:txBody>
                  <a:tcPr>
                    <a:solidFill>
                      <a:srgbClr val="111834"/>
                    </a:solidFill>
                  </a:tcPr>
                </a:tc>
                <a:tc>
                  <a:txBody>
                    <a:bodyPr/>
                    <a:lstStyle/>
                    <a:p>
                      <a:r>
                        <a:rPr sz="1200" b="0">
                          <a:solidFill>
                            <a:srgbClr val="E8EEFA"/>
                          </a:solidFill>
                          <a:latin typeface="Segoe UI"/>
                        </a:rPr>
                        <a:t>ijobiy qaror ulushi guruhlarda teng</a:t>
                      </a:r>
                    </a:p>
                  </a:txBody>
                  <a:tcPr>
                    <a:solidFill>
                      <a:srgbClr val="111834"/>
                    </a:solidFill>
                  </a:tcPr>
                </a:tc>
                <a:tc>
                  <a:txBody>
                    <a:bodyPr/>
                    <a:lstStyle/>
                    <a:p>
                      <a:r>
                        <a:rPr sz="1200" b="0">
                          <a:solidFill>
                            <a:srgbClr val="E8EEFA"/>
                          </a:solidFill>
                          <a:latin typeface="Segoe UI"/>
                        </a:rPr>
                        <a:t>tarixiy ma'lumotning o'zi noxolis deb hisoblansa (masalan, ishga qabul)</a:t>
                      </a:r>
                    </a:p>
                  </a:txBody>
                  <a:tcPr>
                    <a:solidFill>
                      <a:srgbClr val="111834"/>
                    </a:solidFill>
                  </a:tcPr>
                </a:tc>
              </a:tr>
              <a:tr h="520000">
                <a:tc>
                  <a:txBody>
                    <a:bodyPr/>
                    <a:lstStyle/>
                    <a:p>
                      <a:r>
                        <a:rPr sz="1200" b="0">
                          <a:solidFill>
                            <a:srgbClr val="E8EEFA"/>
                          </a:solidFill>
                          <a:latin typeface="Segoe UI"/>
                        </a:rPr>
                        <a:t>Tenglashtirilgan imkoniyatlar (equalized odds, Hardt va boshq., 2016)</a:t>
                      </a:r>
                    </a:p>
                  </a:txBody>
                  <a:tcPr>
                    <a:solidFill>
                      <a:srgbClr val="161F40"/>
                    </a:solidFill>
                  </a:tcPr>
                </a:tc>
                <a:tc>
                  <a:txBody>
                    <a:bodyPr/>
                    <a:lstStyle/>
                    <a:p>
                      <a:r>
                        <a:rPr sz="1200" b="0">
                          <a:solidFill>
                            <a:srgbClr val="E8EEFA"/>
                          </a:solidFill>
                          <a:latin typeface="Segoe UI"/>
                        </a:rPr>
                        <a:t>P(Ŷ=1 ∣ Y=y, A=a) har y uchun teng</a:t>
                      </a:r>
                    </a:p>
                  </a:txBody>
                  <a:tcPr>
                    <a:solidFill>
                      <a:srgbClr val="161F40"/>
                    </a:solidFill>
                  </a:tcPr>
                </a:tc>
                <a:tc>
                  <a:txBody>
                    <a:bodyPr/>
                    <a:lstStyle/>
                    <a:p>
                      <a:r>
                        <a:rPr sz="1200" b="0">
                          <a:solidFill>
                            <a:srgbClr val="E8EEFA"/>
                          </a:solidFill>
                          <a:latin typeface="Segoe UI"/>
                        </a:rPr>
                        <a:t>haqiqiy ijobiy va yolg'on ijobiy darajalari teng</a:t>
                      </a:r>
                    </a:p>
                  </a:txBody>
                  <a:tcPr>
                    <a:solidFill>
                      <a:srgbClr val="161F40"/>
                    </a:solidFill>
                  </a:tcPr>
                </a:tc>
                <a:tc>
                  <a:txBody>
                    <a:bodyPr/>
                    <a:lstStyle/>
                    <a:p>
                      <a:r>
                        <a:rPr sz="1200" b="0">
                          <a:solidFill>
                            <a:srgbClr val="E8EEFA"/>
                          </a:solidFill>
                          <a:latin typeface="Segoe UI"/>
                        </a:rPr>
                        <a:t>yorliqlar ishonchli bo'lsa (tibbiy tashxis)</a:t>
                      </a:r>
                    </a:p>
                  </a:txBody>
                  <a:tcPr>
                    <a:solidFill>
                      <a:srgbClr val="161F40"/>
                    </a:solidFill>
                  </a:tcPr>
                </a:tc>
              </a:tr>
              <a:tr h="520000">
                <a:tc>
                  <a:txBody>
                    <a:bodyPr/>
                    <a:lstStyle/>
                    <a:p>
                      <a:r>
                        <a:rPr sz="1200" b="0">
                          <a:solidFill>
                            <a:srgbClr val="E8EEFA"/>
                          </a:solidFill>
                          <a:latin typeface="Segoe UI"/>
                        </a:rPr>
                        <a:t>Teng imkoniyat (equal opportunity)</a:t>
                      </a:r>
                    </a:p>
                  </a:txBody>
                  <a:tcPr>
                    <a:solidFill>
                      <a:srgbClr val="111834"/>
                    </a:solidFill>
                  </a:tcPr>
                </a:tc>
                <a:tc>
                  <a:txBody>
                    <a:bodyPr/>
                    <a:lstStyle/>
                    <a:p>
                      <a:r>
                        <a:rPr sz="1200" b="0">
                          <a:solidFill>
                            <a:srgbClr val="E8EEFA"/>
                          </a:solidFill>
                          <a:latin typeface="Segoe UI"/>
                        </a:rPr>
                        <a:t>faqat Y=1 uchun P(Ŷ=1 ∣ Y=1, A=a) teng</a:t>
                      </a:r>
                    </a:p>
                  </a:txBody>
                  <a:tcPr>
                    <a:solidFill>
                      <a:srgbClr val="111834"/>
                    </a:solidFill>
                  </a:tcPr>
                </a:tc>
                <a:tc>
                  <a:txBody>
                    <a:bodyPr/>
                    <a:lstStyle/>
                    <a:p>
                      <a:r>
                        <a:rPr sz="1200" b="0">
                          <a:solidFill>
                            <a:srgbClr val="E8EEFA"/>
                          </a:solidFill>
                          <a:latin typeface="Segoe UI"/>
                        </a:rPr>
                        <a:t>loyiq bo'lganlarga teng imkoniyat</a:t>
                      </a:r>
                    </a:p>
                  </a:txBody>
                  <a:tcPr>
                    <a:solidFill>
                      <a:srgbClr val="111834"/>
                    </a:solidFill>
                  </a:tcPr>
                </a:tc>
                <a:tc>
                  <a:txBody>
                    <a:bodyPr/>
                    <a:lstStyle/>
                    <a:p>
                      <a:r>
                        <a:rPr sz="1200" b="0">
                          <a:solidFill>
                            <a:srgbClr val="E8EEFA"/>
                          </a:solidFill>
                          <a:latin typeface="Segoe UI"/>
                        </a:rPr>
                        <a:t>ijobiy qaror resurs taqsimoti bo'lsa (kredit, stipendiya)</a:t>
                      </a:r>
                    </a:p>
                  </a:txBody>
                  <a:tcPr>
                    <a:solidFill>
                      <a:srgbClr val="111834"/>
                    </a:solidFill>
                  </a:tcPr>
                </a:tc>
              </a:tr>
              <a:tr h="520000">
                <a:tc>
                  <a:txBody>
                    <a:bodyPr/>
                    <a:lstStyle/>
                    <a:p>
                      <a:r>
                        <a:rPr sz="1200" b="0">
                          <a:solidFill>
                            <a:srgbClr val="E8EEFA"/>
                          </a:solidFill>
                          <a:latin typeface="Segoe UI"/>
                        </a:rPr>
                        <a:t>Bashorat pariteti / kalibrlash</a:t>
                      </a:r>
                    </a:p>
                  </a:txBody>
                  <a:tcPr>
                    <a:solidFill>
                      <a:srgbClr val="161F40"/>
                    </a:solidFill>
                  </a:tcPr>
                </a:tc>
                <a:tc>
                  <a:txBody>
                    <a:bodyPr/>
                    <a:lstStyle/>
                    <a:p>
                      <a:r>
                        <a:rPr sz="1200" b="0">
                          <a:solidFill>
                            <a:srgbClr val="E8EEFA"/>
                          </a:solidFill>
                          <a:latin typeface="Segoe UI"/>
                        </a:rPr>
                        <a:t>P(Y=1 ∣ Ŷ=1, A=a) teng</a:t>
                      </a:r>
                    </a:p>
                  </a:txBody>
                  <a:tcPr>
                    <a:solidFill>
                      <a:srgbClr val="161F40"/>
                    </a:solidFill>
                  </a:tcPr>
                </a:tc>
                <a:tc>
                  <a:txBody>
                    <a:bodyPr/>
                    <a:lstStyle/>
                    <a:p>
                      <a:r>
                        <a:rPr sz="1200" b="0">
                          <a:solidFill>
                            <a:srgbClr val="E8EEFA"/>
                          </a:solidFill>
                          <a:latin typeface="Segoe UI"/>
                        </a:rPr>
                        <a:t>bir xil ball bir xil xavf degani</a:t>
                      </a:r>
                    </a:p>
                  </a:txBody>
                  <a:tcPr>
                    <a:solidFill>
                      <a:srgbClr val="161F40"/>
                    </a:solidFill>
                  </a:tcPr>
                </a:tc>
                <a:tc>
                  <a:txBody>
                    <a:bodyPr/>
                    <a:lstStyle/>
                    <a:p>
                      <a:r>
                        <a:rPr sz="1200" b="0">
                          <a:solidFill>
                            <a:srgbClr val="E8EEFA"/>
                          </a:solidFill>
                          <a:latin typeface="Segoe UI"/>
                        </a:rPr>
                        <a:t>qaror qabul qiluvchi ballni to'g'ridan-to'g'ri ishlatsa</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8a8221a9eb5b3f1f.jpg"/>
          <p:cNvPicPr>
            <a:picLocks noChangeAspect="1"/>
          </p:cNvPicPr>
          <p:nvPr/>
        </p:nvPicPr>
        <p:blipFill>
          <a:blip r:embed="rId2"/>
          <a:srcRect l="16685" r="16685"/>
          <a:stretch>
            <a:fillRect/>
          </a:stretch>
        </p:blipFill>
        <p:spPr>
          <a:xfrm>
            <a:off x="6300000" y="800000"/>
            <a:ext cx="5300000" cy="4950000"/>
          </a:xfrm>
          <a:prstGeom prst="roundRect">
            <a:avLst/>
          </a:prstGeom>
          <a:ln w="19050">
            <a:solidFill>
              <a:srgbClr val="22D3EE"/>
            </a:solidFill>
          </a:ln>
        </p:spPr>
      </p:pic>
      <p:sp>
        <p:nvSpPr>
          <p:cNvPr id="35" name="TextBox 3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Kwan-Liu Ma · Wikimedia Commons · CC BY-SA 4.0</a:t>
            </a:r>
          </a:p>
        </p:txBody>
      </p:sp>
      <p:sp>
        <p:nvSpPr>
          <p:cNvPr id="36" name="TextBox 3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7" name="TextBox 3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8" name="TextBox 37"/>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Shaffoflik va tushuntiriladigan sun'iy intellekt (XAI)</a:t>
            </a:r>
          </a:p>
        </p:txBody>
      </p:sp>
      <p:sp>
        <p:nvSpPr>
          <p:cNvPr id="39" name="Rectangle 3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150"/>
                            </p:stCondLst>
                            <p:childTnLst>
                              <p:par>
                                <p:cTn id="124" presetID="53" presetClass="entr" presetSubtype="16"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additive="base">
                                        <p:cTn id="127" dur="550" fill="hold"/>
                                        <p:tgtEl>
                                          <p:spTgt spid="33"/>
                                        </p:tgtEl>
                                        <p:attrNameLst>
                                          <p:attrName>ppt_w</p:attrName>
                                        </p:attrNameLst>
                                      </p:cBhvr>
                                      <p:tavLst>
                                        <p:tav tm="0">
                                          <p:val>
                                            <p:strVal val="0"/>
                                          </p:val>
                                        </p:tav>
                                        <p:tav tm="100000">
                                          <p:val>
                                            <p:strVal val="#ppt_w"/>
                                          </p:val>
                                        </p:tav>
                                      </p:tavLst>
                                    </p:anim>
                                    <p:anim calcmode="lin" valueType="num">
                                      <p:cBhvr additive="base">
                                        <p:cTn id="128" dur="550" fill="hold"/>
                                        <p:tgtEl>
                                          <p:spTgt spid="33"/>
                                        </p:tgtEl>
                                        <p:attrNameLst>
                                          <p:attrName>ppt_h</p:attrName>
                                        </p:attrNameLst>
                                      </p:cBhvr>
                                      <p:tavLst>
                                        <p:tav tm="0">
                                          <p:val>
                                            <p:strVal val="0"/>
                                          </p:val>
                                        </p:tav>
                                        <p:tav tm="100000">
                                          <p:val>
                                            <p:strVal val="#ppt_h"/>
                                          </p:val>
                                        </p:tav>
                                      </p:tavLst>
                                    </p:anim>
                                  </p:childTnLst>
                                </p:cTn>
                              </p:par>
                            </p:childTnLst>
                          </p:cTn>
                        </p:par>
                        <p:par>
                          <p:cTn id="129" fill="hold">
                            <p:stCondLst>
                              <p:cond delay="150"/>
                            </p:stCondLst>
                            <p:childTnLst>
                              <p:par>
                                <p:cTn id="130" presetID="53" presetClass="entr" presetSubtype="16" fill="hold" grpId="0" nodeType="afterEffect">
                                  <p:stCondLst>
                                    <p:cond delay="0"/>
                                  </p:stCondLst>
                                  <p:childTnLst>
                                    <p:set>
                                      <p:cBhvr>
                                        <p:cTn id="131" dur="1" fill="hold">
                                          <p:stCondLst>
                                            <p:cond delay="0"/>
                                          </p:stCondLst>
                                        </p:cTn>
                                        <p:tgtEl>
                                          <p:spTgt spid="34"/>
                                        </p:tgtEl>
                                        <p:attrNameLst>
                                          <p:attrName>style.visibility</p:attrName>
                                        </p:attrNameLst>
                                      </p:cBhvr>
                                      <p:to>
                                        <p:strVal val="visible"/>
                                      </p:to>
                                    </p:set>
                                    <p:animEffect transition="in" filter="fade">
                                      <p:cBhvr>
                                        <p:cTn id="132" dur="550"/>
                                        <p:tgtEl>
                                          <p:spTgt spid="34"/>
                                        </p:tgtEl>
                                      </p:cBhvr>
                                    </p:animEffect>
                                    <p:anim calcmode="lin" valueType="num">
                                      <p:cBhvr additive="base">
                                        <p:cTn id="133" dur="550" fill="hold"/>
                                        <p:tgtEl>
                                          <p:spTgt spid="34"/>
                                        </p:tgtEl>
                                        <p:attrNameLst>
                                          <p:attrName>ppt_w</p:attrName>
                                        </p:attrNameLst>
                                      </p:cBhvr>
                                      <p:tavLst>
                                        <p:tav tm="0">
                                          <p:val>
                                            <p:strVal val="0"/>
                                          </p:val>
                                        </p:tav>
                                        <p:tav tm="100000">
                                          <p:val>
                                            <p:strVal val="#ppt_w"/>
                                          </p:val>
                                        </p:tav>
                                      </p:tavLst>
                                    </p:anim>
                                    <p:anim calcmode="lin" valueType="num">
                                      <p:cBhvr additive="base">
                                        <p:cTn id="134" dur="550" fill="hold"/>
                                        <p:tgtEl>
                                          <p:spTgt spid="34"/>
                                        </p:tgtEl>
                                        <p:attrNameLst>
                                          <p:attrName>ppt_h</p:attrName>
                                        </p:attrNameLst>
                                      </p:cBhvr>
                                      <p:tavLst>
                                        <p:tav tm="0">
                                          <p:val>
                                            <p:strVal val="0"/>
                                          </p:val>
                                        </p:tav>
                                        <p:tav tm="100000">
                                          <p:val>
                                            <p:strVal val="#ppt_h"/>
                                          </p:val>
                                        </p:tav>
                                      </p:tavLst>
                                    </p:anim>
                                  </p:childTnLst>
                                </p:cTn>
                              </p:par>
                            </p:childTnLst>
                          </p:cTn>
                        </p:par>
                        <p:par>
                          <p:cTn id="135" fill="hold">
                            <p:stCondLst>
                              <p:cond delay="150"/>
                            </p:stCondLst>
                            <p:childTnLst>
                              <p:par>
                                <p:cTn id="136" presetID="10" presetClass="entr" presetSubtype="0" fill="hold" grpId="0" nodeType="afterEffect">
                                  <p:stCondLst>
                                    <p:cond delay="0"/>
                                  </p:stCondLst>
                                  <p:childTnLst>
                                    <p:set>
                                      <p:cBhvr>
                                        <p:cTn id="137" dur="1" fill="hold">
                                          <p:stCondLst>
                                            <p:cond delay="0"/>
                                          </p:stCondLst>
                                        </p:cTn>
                                        <p:tgtEl>
                                          <p:spTgt spid="35"/>
                                        </p:tgtEl>
                                        <p:attrNameLst>
                                          <p:attrName>style.visibility</p:attrName>
                                        </p:attrNameLst>
                                      </p:cBhvr>
                                      <p:to>
                                        <p:strVal val="visible"/>
                                      </p:to>
                                    </p:set>
                                    <p:animEffect transition="in" filter="fade">
                                      <p:cBhvr>
                                        <p:cTn id="138" dur="550"/>
                                        <p:tgtEl>
                                          <p:spTgt spid="35"/>
                                        </p:tgtEl>
                                      </p:cBhvr>
                                    </p:animEffect>
                                  </p:childTnLst>
                                </p:cTn>
                              </p:par>
                            </p:childTnLst>
                          </p:cTn>
                        </p:par>
                        <p:par>
                          <p:cTn id="139" fill="hold">
                            <p:stCondLst>
                              <p:cond delay="350"/>
                            </p:stCondLst>
                            <p:childTnLst>
                              <p:par>
                                <p:cTn id="140" presetID="53" presetClass="entr" presetSubtype="16"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anim calcmode="lin" valueType="num">
                                      <p:cBhvr additive="base">
                                        <p:cTn id="143" dur="550" fill="hold"/>
                                        <p:tgtEl>
                                          <p:spTgt spid="36"/>
                                        </p:tgtEl>
                                        <p:attrNameLst>
                                          <p:attrName>ppt_w</p:attrName>
                                        </p:attrNameLst>
                                      </p:cBhvr>
                                      <p:tavLst>
                                        <p:tav tm="0">
                                          <p:val>
                                            <p:strVal val="0"/>
                                          </p:val>
                                        </p:tav>
                                        <p:tav tm="100000">
                                          <p:val>
                                            <p:strVal val="#ppt_w"/>
                                          </p:val>
                                        </p:tav>
                                      </p:tavLst>
                                    </p:anim>
                                    <p:anim calcmode="lin" valueType="num">
                                      <p:cBhvr additive="base">
                                        <p:cTn id="144" dur="550" fill="hold"/>
                                        <p:tgtEl>
                                          <p:spTgt spid="36"/>
                                        </p:tgtEl>
                                        <p:attrNameLst>
                                          <p:attrName>ppt_h</p:attrName>
                                        </p:attrNameLst>
                                      </p:cBhvr>
                                      <p:tavLst>
                                        <p:tav tm="0">
                                          <p:val>
                                            <p:strVal val="0"/>
                                          </p:val>
                                        </p:tav>
                                        <p:tav tm="100000">
                                          <p:val>
                                            <p:strVal val="#ppt_h"/>
                                          </p:val>
                                        </p:tav>
                                      </p:tavLst>
                                    </p:anim>
                                  </p:childTnLst>
                                </p:cTn>
                              </p:par>
                            </p:childTnLst>
                          </p:cTn>
                        </p:par>
                        <p:par>
                          <p:cTn id="145" fill="hold">
                            <p:stCondLst>
                              <p:cond delay="450"/>
                            </p:stCondLst>
                            <p:childTnLst>
                              <p:par>
                                <p:cTn id="146" presetID="10" presetClass="entr" presetSubtype="0" fill="hold" grpId="0" nodeType="after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8" dur="550"/>
                                        <p:tgtEl>
                                          <p:spTgt spid="37"/>
                                        </p:tgtEl>
                                      </p:cBhvr>
                                    </p:animEffect>
                                  </p:childTnLst>
                                </p:cTn>
                              </p:par>
                            </p:childTnLst>
                          </p:cTn>
                        </p:par>
                        <p:par>
                          <p:cTn id="149" fill="hold">
                            <p:stCondLst>
                              <p:cond delay="550"/>
                            </p:stCondLst>
                            <p:childTnLst>
                              <p:par>
                                <p:cTn id="150" presetID="2" presetClass="entr" presetSubtype="8"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 calcmode="lin" valueType="num">
                                      <p:cBhvr additive="base">
                                        <p:cTn id="153" dur="550" fill="hold"/>
                                        <p:tgtEl>
                                          <p:spTgt spid="38"/>
                                        </p:tgtEl>
                                        <p:attrNameLst>
                                          <p:attrName>ppt_x</p:attrName>
                                        </p:attrNameLst>
                                      </p:cBhvr>
                                      <p:tavLst>
                                        <p:tav tm="0">
                                          <p:val>
                                            <p:strVal val="0-#ppt_w/2"/>
                                          </p:val>
                                        </p:tav>
                                        <p:tav tm="100000">
                                          <p:val>
                                            <p:strVal val="#ppt_x"/>
                                          </p:val>
                                        </p:tav>
                                      </p:tavLst>
                                    </p:anim>
                                    <p:anim calcmode="lin" valueType="num">
                                      <p:cBhvr additive="base">
                                        <p:cTn id="154" dur="550" fill="hold"/>
                                        <p:tgtEl>
                                          <p:spTgt spid="38"/>
                                        </p:tgtEl>
                                        <p:attrNameLst>
                                          <p:attrName>ppt_y</p:attrName>
                                        </p:attrNameLst>
                                      </p:cBhvr>
                                      <p:tavLst>
                                        <p:tav tm="0">
                                          <p:val>
                                            <p:strVal val="#ppt_y"/>
                                          </p:val>
                                        </p:tav>
                                        <p:tav tm="100000">
                                          <p:val>
                                            <p:strVal val="#ppt_y"/>
                                          </p:val>
                                        </p:tav>
                                      </p:tavLst>
                                    </p:anim>
                                  </p:childTnLst>
                                </p:cTn>
                              </p:par>
                            </p:childTnLst>
                          </p:cTn>
                        </p:par>
                        <p:par>
                          <p:cTn id="155" fill="hold">
                            <p:stCondLst>
                              <p:cond delay="650"/>
                            </p:stCondLst>
                            <p:childTnLst>
                              <p:par>
                                <p:cTn id="156" presetID="22" presetClass="entr" presetSubtype="8" fill="hold" grpId="0" nodeType="afterEffect">
                                  <p:stCondLst>
                                    <p:cond delay="0"/>
                                  </p:stCondLst>
                                  <p:childTnLst>
                                    <p:set>
                                      <p:cBhvr>
                                        <p:cTn id="157" dur="1" fill="hold">
                                          <p:stCondLst>
                                            <p:cond delay="0"/>
                                          </p:stCondLst>
                                        </p:cTn>
                                        <p:tgtEl>
                                          <p:spTgt spid="39"/>
                                        </p:tgtEl>
                                        <p:attrNameLst>
                                          <p:attrName>style.visibility</p:attrName>
                                        </p:attrNameLst>
                                      </p:cBhvr>
                                      <p:to>
                                        <p:strVal val="visible"/>
                                      </p:to>
                                    </p:set>
                                    <p:animEffect transition="in" filter="wipe(left)">
                                      <p:cBhvr>
                                        <p:cTn id="159" dur="8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Shaffoflik va tushuntiriladigan sun'iy intellekt (XAI)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aeb42d11be26d827.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Psthaker10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Shaffoflik (transparency) va tushuntirilish (explainability) bir narsa emas.</a:t>
            </a:r>
          </a:p>
          <a:p>
            <a:pPr>
              <a:spcBef>
                <a:spcPts val="400"/>
              </a:spcBef>
            </a:pPr>
            <a:r>
              <a:rPr sz="1400">
                <a:solidFill>
                  <a:srgbClr val="AEBBD9"/>
                </a:solidFill>
                <a:latin typeface="Segoe UI"/>
              </a:rPr>
              <a:t>Shaffoflik — tizim haqida axborotning mavjudligi: u qanday ma'lumotda o'qitilgan, qaysi maqsadda, qanday cheklovlar bilan, foydalanuvchi SI bilan muloqot qilayotganini biladimi. Tushuntirilish — aniq bir qaror yoki model xatti-harakati uchun inson tushunadigan sabab berish qobiliyati.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XAI usullari bir nechta o'q bo'yicha tasniflanadi: lokal (bitta bashorat uchun) va global (butun model uchun); model-agnostik va modelga xos; ichki (intrinsic, model o'zi talqin qilinuvchan) va post-hoc.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Shaffoflik va tushuntiriladigan sun'iy intellekt (XAI)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XAI ning cheklovlari jiddiy.</a:t>
            </a:r>
          </a:p>
          <a:p>
            <a:pPr>
              <a:spcBef>
                <a:spcPts val="400"/>
              </a:spcBef>
            </a:pPr>
            <a:r>
              <a:rPr sz="1600">
                <a:solidFill>
                  <a:srgbClr val="AEBBD9"/>
                </a:solidFill>
                <a:latin typeface="Segoe UI"/>
              </a:rPr>
              <a:t>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dc6eea4c85ca163c.jpg"/>
          <p:cNvPicPr>
            <a:picLocks noChangeAspect="1"/>
          </p:cNvPicPr>
          <p:nvPr/>
        </p:nvPicPr>
        <p:blipFill>
          <a:blip r:embed="rId2"/>
          <a:srcRect l="15118" r="1511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USEPA Environmental-Protection-Agency · Wikimedia Commons · Public domain</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Ishonchlilik, mustahkamlik va hisobdorlik</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mustahkamlik va hisobdorlik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M14 · Sun'iy intellekt tizimlarida etika, ishonchlilik va mas'uliyatli sun'iy intellekt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Ishonchli SI (trustworthy AI) tushunchasi adolatlilik va shaffoflikdan tashqari texnik mustahkamlik (robustness) — kirishning kichik o'zgarishiga chidamlilik, tarqatish siljishida barqarorlik, adversarial hujumlarga qarshilik (M9 da ko'rilgan), maxfiylik…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8" name="Rectangle 97"/>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0" name="TextBox 99"/>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200"/>
                            </p:stCondLst>
                            <p:childTnLst>
                              <p:par>
                                <p:cTn id="380" presetID="53" presetClass="entr" presetSubtype="16"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anim calcmode="lin" valueType="num">
                                      <p:cBhvr additive="base">
                                        <p:cTn id="383" dur="550" fill="hold"/>
                                        <p:tgtEl>
                                          <p:spTgt spid="97"/>
                                        </p:tgtEl>
                                        <p:attrNameLst>
                                          <p:attrName>ppt_w</p:attrName>
                                        </p:attrNameLst>
                                      </p:cBhvr>
                                      <p:tavLst>
                                        <p:tav tm="0">
                                          <p:val>
                                            <p:strVal val="0"/>
                                          </p:val>
                                        </p:tav>
                                        <p:tav tm="100000">
                                          <p:val>
                                            <p:strVal val="#ppt_w"/>
                                          </p:val>
                                        </p:tav>
                                      </p:tavLst>
                                    </p:anim>
                                    <p:anim calcmode="lin" valueType="num">
                                      <p:cBhvr additive="base">
                                        <p:cTn id="384" dur="550" fill="hold"/>
                                        <p:tgtEl>
                                          <p:spTgt spid="97"/>
                                        </p:tgtEl>
                                        <p:attrNameLst>
                                          <p:attrName>ppt_h</p:attrName>
                                        </p:attrNameLst>
                                      </p:cBhvr>
                                      <p:tavLst>
                                        <p:tav tm="0">
                                          <p:val>
                                            <p:strVal val="0"/>
                                          </p:val>
                                        </p:tav>
                                        <p:tav tm="100000">
                                          <p:val>
                                            <p:strVal val="#ppt_h"/>
                                          </p:val>
                                        </p:tav>
                                      </p:tavLst>
                                    </p:anim>
                                  </p:childTnLst>
                                </p:cTn>
                              </p:par>
                            </p:childTnLst>
                          </p:cTn>
                        </p:par>
                        <p:par>
                          <p:cTn id="385" fill="hold">
                            <p:stCondLst>
                              <p:cond delay="350"/>
                            </p:stCondLst>
                            <p:childTnLst>
                              <p:par>
                                <p:cTn id="386" presetID="22" presetClass="entr" presetSubtype="8" fill="hold" grpId="0" nodeType="afterEffect">
                                  <p:stCondLst>
                                    <p:cond delay="0"/>
                                  </p:stCondLst>
                                  <p:childTnLst>
                                    <p:set>
                                      <p:cBhvr>
                                        <p:cTn id="387" dur="1" fill="hold">
                                          <p:stCondLst>
                                            <p:cond delay="0"/>
                                          </p:stCondLst>
                                        </p:cTn>
                                        <p:tgtEl>
                                          <p:spTgt spid="98"/>
                                        </p:tgtEl>
                                        <p:attrNameLst>
                                          <p:attrName>style.visibility</p:attrName>
                                        </p:attrNameLst>
                                      </p:cBhvr>
                                      <p:to>
                                        <p:strVal val="visible"/>
                                      </p:to>
                                    </p:set>
                                    <p:animEffect transition="in" filter="wipe(left)">
                                      <p:cBhvr>
                                        <p:cTn id="389" dur="800"/>
                                        <p:tgtEl>
                                          <p:spTgt spid="98"/>
                                        </p:tgtEl>
                                      </p:cBhvr>
                                    </p:animEffect>
                                  </p:childTnLst>
                                </p:cTn>
                              </p:par>
                            </p:childTnLst>
                          </p:cTn>
                        </p:par>
                        <p:par>
                          <p:cTn id="390" fill="hold">
                            <p:stCondLst>
                              <p:cond delay="500"/>
                            </p:stCondLst>
                            <p:childTnLst>
                              <p:par>
                                <p:cTn id="391" presetID="42" presetClass="entr" presetSubtype="0" fill="hold" grpId="0" nodeType="afterEffect">
                                  <p:stCondLst>
                                    <p:cond delay="0"/>
                                  </p:stCondLst>
                                  <p:childTnLst>
                                    <p:set>
                                      <p:cBhvr>
                                        <p:cTn id="392" dur="1" fill="hold">
                                          <p:stCondLst>
                                            <p:cond delay="0"/>
                                          </p:stCondLst>
                                        </p:cTn>
                                        <p:tgtEl>
                                          <p:spTgt spid="99"/>
                                        </p:tgtEl>
                                        <p:attrNameLst>
                                          <p:attrName>style.visibility</p:attrName>
                                        </p:attrNameLst>
                                      </p:cBhvr>
                                      <p:to>
                                        <p:strVal val="visible"/>
                                      </p:to>
                                    </p:set>
                                    <p:animEffect transition="in" filter="fade">
                                      <p:cBhvr>
                                        <p:cTn id="393" dur="550"/>
                                        <p:tgtEl>
                                          <p:spTgt spid="99"/>
                                        </p:tgtEl>
                                      </p:cBhvr>
                                    </p:animEffect>
                                    <p:anim calcmode="lin" valueType="num">
                                      <p:cBhvr additive="base">
                                        <p:cTn id="394" dur="550" fill="hold"/>
                                        <p:tgtEl>
                                          <p:spTgt spid="99"/>
                                        </p:tgtEl>
                                        <p:attrNameLst>
                                          <p:attrName>ppt_x</p:attrName>
                                        </p:attrNameLst>
                                      </p:cBhvr>
                                      <p:tavLst>
                                        <p:tav tm="0">
                                          <p:val>
                                            <p:strVal val="#ppt_x"/>
                                          </p:val>
                                        </p:tav>
                                        <p:tav tm="100000">
                                          <p:val>
                                            <p:strVal val="#ppt_x"/>
                                          </p:val>
                                        </p:tav>
                                      </p:tavLst>
                                    </p:anim>
                                    <p:anim calcmode="lin" valueType="num">
                                      <p:cBhvr additive="base">
                                        <p:cTn id="395" dur="550" fill="hold"/>
                                        <p:tgtEl>
                                          <p:spTgt spid="99"/>
                                        </p:tgtEl>
                                        <p:attrNameLst>
                                          <p:attrName>ppt_y</p:attrName>
                                        </p:attrNameLst>
                                      </p:cBhvr>
                                      <p:tavLst>
                                        <p:tav tm="0">
                                          <p:val>
                                            <p:strVal val="#ppt_y+.08"/>
                                          </p:val>
                                        </p:tav>
                                        <p:tav tm="100000">
                                          <p:val>
                                            <p:strVal val="#ppt_y"/>
                                          </p:val>
                                        </p:tav>
                                      </p:tavLst>
                                    </p:anim>
                                  </p:childTnLst>
                                </p:cTn>
                              </p:par>
                            </p:childTnLst>
                          </p:cTn>
                        </p:par>
                        <p:par>
                          <p:cTn id="396" fill="hold">
                            <p:stCondLst>
                              <p:cond delay="650"/>
                            </p:stCondLst>
                            <p:childTnLst>
                              <p:par>
                                <p:cTn id="397" presetID="10" presetClass="entr" presetSubtype="0" fill="hold" grpId="0" nodeType="afterEffect">
                                  <p:stCondLst>
                                    <p:cond delay="0"/>
                                  </p:stCondLst>
                                  <p:childTnLst>
                                    <p:set>
                                      <p:cBhvr>
                                        <p:cTn id="398" dur="1" fill="hold">
                                          <p:stCondLst>
                                            <p:cond delay="0"/>
                                          </p:stCondLst>
                                        </p:cTn>
                                        <p:tgtEl>
                                          <p:spTgt spid="100"/>
                                        </p:tgtEl>
                                        <p:attrNameLst>
                                          <p:attrName>style.visibility</p:attrName>
                                        </p:attrNameLst>
                                      </p:cBhvr>
                                      <p:to>
                                        <p:strVal val="visible"/>
                                      </p:to>
                                    </p:set>
                                    <p:animEffect transition="in" filter="fade">
                                      <p:cBhvr>
                                        <p:cTn id="399" dur="550"/>
                                        <p:tgtEl>
                                          <p:spTgt spid="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
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a:p/>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325ad21a692d683b.jpg"/>
          <p:cNvPicPr>
            <a:picLocks noChangeAspect="1"/>
          </p:cNvPicPr>
          <p:nvPr/>
        </p:nvPicPr>
        <p:blipFill>
          <a:blip r:embed="rId2"/>
          <a:srcRect l="14727" r="14727"/>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Timothy Borkowski · Wikimedia Commons · CC BY-SA 3.0</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M2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Sun'iy intellekt tizimlari uchun zamonaviy kompyuter arxitekturalari</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13300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410000"/>
            <a:ext cx="50000" cy="3587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1409375"/>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370000"/>
            <a:ext cx="10250000" cy="438750"/>
          </a:xfrm>
          <a:prstGeom prst="rect">
            <a:avLst/>
          </a:prstGeom>
          <a:noFill/>
        </p:spPr>
        <p:txBody>
          <a:bodyPr wrap="square" anchor="ctr">
            <a:spAutoFit/>
          </a:bodyPr>
          <a:lstStyle/>
          <a:p>
            <a:r>
              <a:rPr sz="1600" b="0">
                <a:solidFill>
                  <a:srgbClr val="E8EEFA"/>
                </a:solidFill>
                <a:latin typeface="Segoe UI"/>
              </a:rPr>
              <a:t>CPU: kechikishga optimallashtirilgan arxitektura</a:t>
            </a:r>
          </a:p>
        </p:txBody>
      </p:sp>
      <p:sp>
        <p:nvSpPr>
          <p:cNvPr id="30" name="Rounded Rectangle 29"/>
          <p:cNvSpPr/>
          <p:nvPr/>
        </p:nvSpPr>
        <p:spPr>
          <a:xfrm>
            <a:off x="550000" y="19587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38750"/>
            <a:ext cx="50000" cy="35875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038125"/>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1998750"/>
            <a:ext cx="10250000" cy="438750"/>
          </a:xfrm>
          <a:prstGeom prst="rect">
            <a:avLst/>
          </a:prstGeom>
          <a:noFill/>
        </p:spPr>
        <p:txBody>
          <a:bodyPr wrap="square" anchor="ctr">
            <a:spAutoFit/>
          </a:bodyPr>
          <a:lstStyle/>
          <a:p>
            <a:r>
              <a:rPr sz="1600" b="0">
                <a:solidFill>
                  <a:srgbClr val="E8EEFA"/>
                </a:solidFill>
                <a:latin typeface="Segoe UI"/>
              </a:rPr>
              <a:t>GPU: o'tkazuvchanlikka optimallashtirilgan arxitektura</a:t>
            </a:r>
          </a:p>
        </p:txBody>
      </p:sp>
      <p:sp>
        <p:nvSpPr>
          <p:cNvPr id="34" name="Rounded Rectangle 33"/>
          <p:cNvSpPr/>
          <p:nvPr/>
        </p:nvSpPr>
        <p:spPr>
          <a:xfrm>
            <a:off x="550000" y="25875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2667500"/>
            <a:ext cx="50000" cy="35875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2666875"/>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2627500"/>
            <a:ext cx="10250000" cy="438750"/>
          </a:xfrm>
          <a:prstGeom prst="rect">
            <a:avLst/>
          </a:prstGeom>
          <a:noFill/>
        </p:spPr>
        <p:txBody>
          <a:bodyPr wrap="square" anchor="ctr">
            <a:spAutoFit/>
          </a:bodyPr>
          <a:lstStyle/>
          <a:p>
            <a:r>
              <a:rPr sz="1600" b="0">
                <a:solidFill>
                  <a:srgbClr val="E8EEFA"/>
                </a:solidFill>
                <a:latin typeface="Segoe UI"/>
              </a:rPr>
              <a:t>TPU va sistolik massiv</a:t>
            </a:r>
          </a:p>
        </p:txBody>
      </p:sp>
      <p:sp>
        <p:nvSpPr>
          <p:cNvPr id="38" name="Rounded Rectangle 37"/>
          <p:cNvSpPr/>
          <p:nvPr/>
        </p:nvSpPr>
        <p:spPr>
          <a:xfrm>
            <a:off x="550000" y="32162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3296250"/>
            <a:ext cx="50000" cy="3587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3295625"/>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3256250"/>
            <a:ext cx="10250000" cy="438750"/>
          </a:xfrm>
          <a:prstGeom prst="rect">
            <a:avLst/>
          </a:prstGeom>
          <a:noFill/>
        </p:spPr>
        <p:txBody>
          <a:bodyPr wrap="square" anchor="ctr">
            <a:spAutoFit/>
          </a:bodyPr>
          <a:lstStyle/>
          <a:p>
            <a:r>
              <a:rPr sz="1600" b="0">
                <a:solidFill>
                  <a:srgbClr val="E8EEFA"/>
                </a:solidFill>
                <a:latin typeface="Segoe UI"/>
              </a:rPr>
              <a:t>NPU: chekka va iste'mol qurilmalaridagi tezlatkichlar</a:t>
            </a:r>
          </a:p>
        </p:txBody>
      </p:sp>
      <p:sp>
        <p:nvSpPr>
          <p:cNvPr id="42" name="Rounded Rectangle 41"/>
          <p:cNvSpPr/>
          <p:nvPr/>
        </p:nvSpPr>
        <p:spPr>
          <a:xfrm>
            <a:off x="550000" y="38450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3925000"/>
            <a:ext cx="50000" cy="35875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3924375"/>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3885000"/>
            <a:ext cx="10250000" cy="438750"/>
          </a:xfrm>
          <a:prstGeom prst="rect">
            <a:avLst/>
          </a:prstGeom>
          <a:noFill/>
        </p:spPr>
        <p:txBody>
          <a:bodyPr wrap="square" anchor="ctr">
            <a:spAutoFit/>
          </a:bodyPr>
          <a:lstStyle/>
          <a:p>
            <a:r>
              <a:rPr sz="1600" b="0">
                <a:solidFill>
                  <a:srgbClr val="E8EEFA"/>
                </a:solidFill>
                <a:latin typeface="Segoe UI"/>
              </a:rPr>
              <a:t>FPGA: qayta dasturlanadigan apparat</a:t>
            </a:r>
          </a:p>
        </p:txBody>
      </p:sp>
      <p:sp>
        <p:nvSpPr>
          <p:cNvPr id="46" name="Rounded Rectangle 45"/>
          <p:cNvSpPr/>
          <p:nvPr/>
        </p:nvSpPr>
        <p:spPr>
          <a:xfrm>
            <a:off x="550000" y="44737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4553750"/>
            <a:ext cx="50000" cy="35875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0000" y="4553125"/>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9" name="TextBox 48"/>
          <p:cNvSpPr txBox="1"/>
          <p:nvPr/>
        </p:nvSpPr>
        <p:spPr>
          <a:xfrm>
            <a:off x="1300000" y="4513750"/>
            <a:ext cx="10250000" cy="438750"/>
          </a:xfrm>
          <a:prstGeom prst="rect">
            <a:avLst/>
          </a:prstGeom>
          <a:noFill/>
        </p:spPr>
        <p:txBody>
          <a:bodyPr wrap="square" anchor="ctr">
            <a:spAutoFit/>
          </a:bodyPr>
          <a:lstStyle/>
          <a:p>
            <a:r>
              <a:rPr sz="1600" b="0">
                <a:solidFill>
                  <a:srgbClr val="E8EEFA"/>
                </a:solidFill>
                <a:latin typeface="Segoe UI"/>
              </a:rPr>
              <a:t>Arxitekturalarni qiyosiy tahlil qilish</a:t>
            </a:r>
          </a:p>
        </p:txBody>
      </p:sp>
      <p:sp>
        <p:nvSpPr>
          <p:cNvPr id="50" name="Rounded Rectangle 49"/>
          <p:cNvSpPr/>
          <p:nvPr/>
        </p:nvSpPr>
        <p:spPr>
          <a:xfrm>
            <a:off x="550000" y="51025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50000" y="5182500"/>
            <a:ext cx="50000" cy="3587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60000" y="5181875"/>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53" name="TextBox 52"/>
          <p:cNvSpPr txBox="1"/>
          <p:nvPr/>
        </p:nvSpPr>
        <p:spPr>
          <a:xfrm>
            <a:off x="1300000" y="5142500"/>
            <a:ext cx="10250000" cy="438750"/>
          </a:xfrm>
          <a:prstGeom prst="rect">
            <a:avLst/>
          </a:prstGeom>
          <a:noFill/>
        </p:spPr>
        <p:txBody>
          <a:bodyPr wrap="square" anchor="ctr">
            <a:spAutoFit/>
          </a:bodyPr>
          <a:lstStyle/>
          <a:p>
            <a:r>
              <a:rPr sz="1600" b="0">
                <a:solidFill>
                  <a:srgbClr val="E8EEFA"/>
                </a:solidFill>
                <a:latin typeface="Segoe UI"/>
              </a:rPr>
              <a:t>Geterogen hisoblash tizimlari</a:t>
            </a:r>
          </a:p>
        </p:txBody>
      </p:sp>
      <p:sp>
        <p:nvSpPr>
          <p:cNvPr id="54" name="Rounded Rectangle 53"/>
          <p:cNvSpPr/>
          <p:nvPr/>
        </p:nvSpPr>
        <p:spPr>
          <a:xfrm>
            <a:off x="550000" y="57312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50000" y="5811250"/>
            <a:ext cx="50000" cy="35875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60000" y="5810625"/>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57" name="TextBox 56"/>
          <p:cNvSpPr txBox="1"/>
          <p:nvPr/>
        </p:nvSpPr>
        <p:spPr>
          <a:xfrm>
            <a:off x="1300000" y="5771250"/>
            <a:ext cx="10250000" cy="438750"/>
          </a:xfrm>
          <a:prstGeom prst="rect">
            <a:avLst/>
          </a:prstGeom>
          <a:noFill/>
        </p:spPr>
        <p:txBody>
          <a:bodyPr wrap="square" anchor="ctr">
            <a:spAutoFit/>
          </a:bodyPr>
          <a:lstStyle/>
          <a:p>
            <a:r>
              <a:rPr sz="1600" b="0">
                <a:solidFill>
                  <a:srgbClr val="E8EEFA"/>
                </a:solidFill>
                <a:latin typeface="Segoe UI"/>
              </a:rPr>
              <a:t>Zamonaviy AI serverlari va superkompyuterlar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50"/>
                                        <p:tgtEl>
                                          <p:spTgt spid="46"/>
                                        </p:tgtEl>
                                      </p:cBhvr>
                                    </p:animEffect>
                                    <p:anim calcmode="lin" valueType="num">
                                      <p:cBhvr additive="base">
                                        <p:cTn id="136" dur="550" fill="hold"/>
                                        <p:tgtEl>
                                          <p:spTgt spid="46"/>
                                        </p:tgtEl>
                                        <p:attrNameLst>
                                          <p:attrName>ppt_x</p:attrName>
                                        </p:attrNameLst>
                                      </p:cBhvr>
                                      <p:tavLst>
                                        <p:tav tm="0">
                                          <p:val>
                                            <p:strVal val="#ppt_x"/>
                                          </p:val>
                                        </p:tav>
                                        <p:tav tm="100000">
                                          <p:val>
                                            <p:strVal val="#ppt_x"/>
                                          </p:val>
                                        </p:tav>
                                      </p:tavLst>
                                    </p:anim>
                                    <p:anim calcmode="lin" valueType="num">
                                      <p:cBhvr additive="base">
                                        <p:cTn id="137" dur="550" fill="hold"/>
                                        <p:tgtEl>
                                          <p:spTgt spid="46"/>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50"/>
                                        <p:tgtEl>
                                          <p:spTgt spid="47"/>
                                        </p:tgtEl>
                                      </p:cBhvr>
                                    </p:animEffect>
                                    <p:anim calcmode="lin" valueType="num">
                                      <p:cBhvr additive="base">
                                        <p:cTn id="142" dur="550" fill="hold"/>
                                        <p:tgtEl>
                                          <p:spTgt spid="47"/>
                                        </p:tgtEl>
                                        <p:attrNameLst>
                                          <p:attrName>ppt_x</p:attrName>
                                        </p:attrNameLst>
                                      </p:cBhvr>
                                      <p:tavLst>
                                        <p:tav tm="0">
                                          <p:val>
                                            <p:strVal val="#ppt_x"/>
                                          </p:val>
                                        </p:tav>
                                        <p:tav tm="100000">
                                          <p:val>
                                            <p:strVal val="#ppt_x"/>
                                          </p:val>
                                        </p:tav>
                                      </p:tavLst>
                                    </p:anim>
                                    <p:anim calcmode="lin" valueType="num">
                                      <p:cBhvr additive="base">
                                        <p:cTn id="143" dur="550" fill="hold"/>
                                        <p:tgtEl>
                                          <p:spTgt spid="47"/>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550"/>
                                        <p:tgtEl>
                                          <p:spTgt spid="48"/>
                                        </p:tgtEl>
                                      </p:cBhvr>
                                    </p:animEffect>
                                    <p:anim calcmode="lin" valueType="num">
                                      <p:cBhvr additive="base">
                                        <p:cTn id="148" dur="550" fill="hold"/>
                                        <p:tgtEl>
                                          <p:spTgt spid="48"/>
                                        </p:tgtEl>
                                        <p:attrNameLst>
                                          <p:attrName>ppt_w</p:attrName>
                                        </p:attrNameLst>
                                      </p:cBhvr>
                                      <p:tavLst>
                                        <p:tav tm="0">
                                          <p:val>
                                            <p:strVal val="0"/>
                                          </p:val>
                                        </p:tav>
                                        <p:tav tm="100000">
                                          <p:val>
                                            <p:strVal val="#ppt_w"/>
                                          </p:val>
                                        </p:tav>
                                      </p:tavLst>
                                    </p:anim>
                                    <p:anim calcmode="lin" valueType="num">
                                      <p:cBhvr additive="base">
                                        <p:cTn id="149" dur="550" fill="hold"/>
                                        <p:tgtEl>
                                          <p:spTgt spid="48"/>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9"/>
                                        </p:tgtEl>
                                        <p:attrNameLst>
                                          <p:attrName>style.visibility</p:attrName>
                                        </p:attrNameLst>
                                      </p:cBhvr>
                                      <p:to>
                                        <p:strVal val="visible"/>
                                      </p:to>
                                    </p:set>
                                    <p:animEffect transition="in" filter="fade">
                                      <p:cBhvr>
                                        <p:cTn id="153" dur="550"/>
                                        <p:tgtEl>
                                          <p:spTgt spid="49"/>
                                        </p:tgtEl>
                                      </p:cBhvr>
                                    </p:animEffect>
                                    <p:anim calcmode="lin" valueType="num">
                                      <p:cBhvr additive="base">
                                        <p:cTn id="154" dur="550" fill="hold"/>
                                        <p:tgtEl>
                                          <p:spTgt spid="49"/>
                                        </p:tgtEl>
                                        <p:attrNameLst>
                                          <p:attrName>ppt_x</p:attrName>
                                        </p:attrNameLst>
                                      </p:cBhvr>
                                      <p:tavLst>
                                        <p:tav tm="0">
                                          <p:val>
                                            <p:strVal val="#ppt_x"/>
                                          </p:val>
                                        </p:tav>
                                        <p:tav tm="100000">
                                          <p:val>
                                            <p:strVal val="#ppt_x"/>
                                          </p:val>
                                        </p:tav>
                                      </p:tavLst>
                                    </p:anim>
                                    <p:anim calcmode="lin" valueType="num">
                                      <p:cBhvr additive="base">
                                        <p:cTn id="155" dur="550" fill="hold"/>
                                        <p:tgtEl>
                                          <p:spTgt spid="49"/>
                                        </p:tgtEl>
                                        <p:attrNameLst>
                                          <p:attrName>ppt_y</p:attrName>
                                        </p:attrNameLst>
                                      </p:cBhvr>
                                      <p:tavLst>
                                        <p:tav tm="0">
                                          <p:val>
                                            <p:strVal val="#ppt_y+.08"/>
                                          </p:val>
                                        </p:tav>
                                        <p:tav tm="100000">
                                          <p:val>
                                            <p:strVal val="#ppt_y"/>
                                          </p:val>
                                        </p:tav>
                                      </p:tavLst>
                                    </p:anim>
                                  </p:childTnLst>
                                </p:cTn>
                              </p:par>
                            </p:childTnLst>
                          </p:cTn>
                        </p:par>
                        <p:par>
                          <p:cTn id="156" fill="hold">
                            <p:stCondLst>
                              <p:cond delay="1400"/>
                            </p:stCondLst>
                            <p:childTnLst>
                              <p:par>
                                <p:cTn id="157" presetID="42" presetClass="entr" presetSubtype="0" fill="hold" grpId="0" nodeType="afterEffect">
                                  <p:stCondLst>
                                    <p:cond delay="0"/>
                                  </p:stCondLst>
                                  <p:childTnLst>
                                    <p:set>
                                      <p:cBhvr>
                                        <p:cTn id="158" dur="1" fill="hold">
                                          <p:stCondLst>
                                            <p:cond delay="0"/>
                                          </p:stCondLst>
                                        </p:cTn>
                                        <p:tgtEl>
                                          <p:spTgt spid="50"/>
                                        </p:tgtEl>
                                        <p:attrNameLst>
                                          <p:attrName>style.visibility</p:attrName>
                                        </p:attrNameLst>
                                      </p:cBhvr>
                                      <p:to>
                                        <p:strVal val="visible"/>
                                      </p:to>
                                    </p:set>
                                    <p:animEffect transition="in" filter="fade">
                                      <p:cBhvr>
                                        <p:cTn id="159" dur="550"/>
                                        <p:tgtEl>
                                          <p:spTgt spid="50"/>
                                        </p:tgtEl>
                                      </p:cBhvr>
                                    </p:animEffect>
                                    <p:anim calcmode="lin" valueType="num">
                                      <p:cBhvr additive="base">
                                        <p:cTn id="160" dur="550" fill="hold"/>
                                        <p:tgtEl>
                                          <p:spTgt spid="50"/>
                                        </p:tgtEl>
                                        <p:attrNameLst>
                                          <p:attrName>ppt_x</p:attrName>
                                        </p:attrNameLst>
                                      </p:cBhvr>
                                      <p:tavLst>
                                        <p:tav tm="0">
                                          <p:val>
                                            <p:strVal val="#ppt_x"/>
                                          </p:val>
                                        </p:tav>
                                        <p:tav tm="100000">
                                          <p:val>
                                            <p:strVal val="#ppt_x"/>
                                          </p:val>
                                        </p:tav>
                                      </p:tavLst>
                                    </p:anim>
                                    <p:anim calcmode="lin" valueType="num">
                                      <p:cBhvr additive="base">
                                        <p:cTn id="161" dur="550" fill="hold"/>
                                        <p:tgtEl>
                                          <p:spTgt spid="50"/>
                                        </p:tgtEl>
                                        <p:attrNameLst>
                                          <p:attrName>ppt_y</p:attrName>
                                        </p:attrNameLst>
                                      </p:cBhvr>
                                      <p:tavLst>
                                        <p:tav tm="0">
                                          <p:val>
                                            <p:strVal val="#ppt_y+.08"/>
                                          </p:val>
                                        </p:tav>
                                        <p:tav tm="100000">
                                          <p:val>
                                            <p:strVal val="#ppt_y"/>
                                          </p:val>
                                        </p:tav>
                                      </p:tavLst>
                                    </p:anim>
                                  </p:childTnLst>
                                </p:cTn>
                              </p:par>
                            </p:childTnLst>
                          </p:cTn>
                        </p:par>
                        <p:par>
                          <p:cTn id="162" fill="hold">
                            <p:stCondLst>
                              <p:cond delay="1400"/>
                            </p:stCondLst>
                            <p:childTnLst>
                              <p:par>
                                <p:cTn id="163" presetID="42" presetClass="entr" presetSubtype="0" fill="hold" grpId="0" nodeType="afterEffect">
                                  <p:stCondLst>
                                    <p:cond delay="0"/>
                                  </p:stCondLst>
                                  <p:childTnLst>
                                    <p:set>
                                      <p:cBhvr>
                                        <p:cTn id="164" dur="1" fill="hold">
                                          <p:stCondLst>
                                            <p:cond delay="0"/>
                                          </p:stCondLst>
                                        </p:cTn>
                                        <p:tgtEl>
                                          <p:spTgt spid="51"/>
                                        </p:tgtEl>
                                        <p:attrNameLst>
                                          <p:attrName>style.visibility</p:attrName>
                                        </p:attrNameLst>
                                      </p:cBhvr>
                                      <p:to>
                                        <p:strVal val="visible"/>
                                      </p:to>
                                    </p:set>
                                    <p:animEffect transition="in" filter="fade">
                                      <p:cBhvr>
                                        <p:cTn id="165" dur="550"/>
                                        <p:tgtEl>
                                          <p:spTgt spid="51"/>
                                        </p:tgtEl>
                                      </p:cBhvr>
                                    </p:animEffect>
                                    <p:anim calcmode="lin" valueType="num">
                                      <p:cBhvr additive="base">
                                        <p:cTn id="166" dur="550" fill="hold"/>
                                        <p:tgtEl>
                                          <p:spTgt spid="51"/>
                                        </p:tgtEl>
                                        <p:attrNameLst>
                                          <p:attrName>ppt_x</p:attrName>
                                        </p:attrNameLst>
                                      </p:cBhvr>
                                      <p:tavLst>
                                        <p:tav tm="0">
                                          <p:val>
                                            <p:strVal val="#ppt_x"/>
                                          </p:val>
                                        </p:tav>
                                        <p:tav tm="100000">
                                          <p:val>
                                            <p:strVal val="#ppt_x"/>
                                          </p:val>
                                        </p:tav>
                                      </p:tavLst>
                                    </p:anim>
                                    <p:anim calcmode="lin" valueType="num">
                                      <p:cBhvr additive="base">
                                        <p:cTn id="167" dur="550" fill="hold"/>
                                        <p:tgtEl>
                                          <p:spTgt spid="51"/>
                                        </p:tgtEl>
                                        <p:attrNameLst>
                                          <p:attrName>ppt_y</p:attrName>
                                        </p:attrNameLst>
                                      </p:cBhvr>
                                      <p:tavLst>
                                        <p:tav tm="0">
                                          <p:val>
                                            <p:strVal val="#ppt_y+.08"/>
                                          </p:val>
                                        </p:tav>
                                        <p:tav tm="100000">
                                          <p:val>
                                            <p:strVal val="#ppt_y"/>
                                          </p:val>
                                        </p:tav>
                                      </p:tavLst>
                                    </p:anim>
                                  </p:childTnLst>
                                </p:cTn>
                              </p:par>
                            </p:childTnLst>
                          </p:cTn>
                        </p:par>
                        <p:par>
                          <p:cTn id="168" fill="hold">
                            <p:stCondLst>
                              <p:cond delay="1400"/>
                            </p:stCondLst>
                            <p:childTnLst>
                              <p:par>
                                <p:cTn id="169" presetID="53" presetClass="entr" presetSubtype="16" fill="hold" grpId="0" nodeType="afterEffect">
                                  <p:stCondLst>
                                    <p:cond delay="0"/>
                                  </p:stCondLst>
                                  <p:childTnLst>
                                    <p:set>
                                      <p:cBhvr>
                                        <p:cTn id="170" dur="1" fill="hold">
                                          <p:stCondLst>
                                            <p:cond delay="0"/>
                                          </p:stCondLst>
                                        </p:cTn>
                                        <p:tgtEl>
                                          <p:spTgt spid="52"/>
                                        </p:tgtEl>
                                        <p:attrNameLst>
                                          <p:attrName>style.visibility</p:attrName>
                                        </p:attrNameLst>
                                      </p:cBhvr>
                                      <p:to>
                                        <p:strVal val="visible"/>
                                      </p:to>
                                    </p:set>
                                    <p:animEffect transition="in" filter="fade">
                                      <p:cBhvr>
                                        <p:cTn id="171" dur="550"/>
                                        <p:tgtEl>
                                          <p:spTgt spid="52"/>
                                        </p:tgtEl>
                                      </p:cBhvr>
                                    </p:animEffect>
                                    <p:anim calcmode="lin" valueType="num">
                                      <p:cBhvr additive="base">
                                        <p:cTn id="172" dur="550" fill="hold"/>
                                        <p:tgtEl>
                                          <p:spTgt spid="52"/>
                                        </p:tgtEl>
                                        <p:attrNameLst>
                                          <p:attrName>ppt_w</p:attrName>
                                        </p:attrNameLst>
                                      </p:cBhvr>
                                      <p:tavLst>
                                        <p:tav tm="0">
                                          <p:val>
                                            <p:strVal val="0"/>
                                          </p:val>
                                        </p:tav>
                                        <p:tav tm="100000">
                                          <p:val>
                                            <p:strVal val="#ppt_w"/>
                                          </p:val>
                                        </p:tav>
                                      </p:tavLst>
                                    </p:anim>
                                    <p:anim calcmode="lin" valueType="num">
                                      <p:cBhvr additive="base">
                                        <p:cTn id="173" dur="550" fill="hold"/>
                                        <p:tgtEl>
                                          <p:spTgt spid="52"/>
                                        </p:tgtEl>
                                        <p:attrNameLst>
                                          <p:attrName>ppt_h</p:attrName>
                                        </p:attrNameLst>
                                      </p:cBhvr>
                                      <p:tavLst>
                                        <p:tav tm="0">
                                          <p:val>
                                            <p:strVal val="0"/>
                                          </p:val>
                                        </p:tav>
                                        <p:tav tm="100000">
                                          <p:val>
                                            <p:strVal val="#ppt_h"/>
                                          </p:val>
                                        </p:tav>
                                      </p:tavLst>
                                    </p:anim>
                                  </p:childTnLst>
                                </p:cTn>
                              </p:par>
                            </p:childTnLst>
                          </p:cTn>
                        </p:par>
                        <p:par>
                          <p:cTn id="174" fill="hold">
                            <p:stCondLst>
                              <p:cond delay="1400"/>
                            </p:stCondLst>
                            <p:childTnLst>
                              <p:par>
                                <p:cTn id="175" presetID="42" presetClass="entr" presetSubtype="0" fill="hold" grpId="0" nodeType="afterEffect">
                                  <p:stCondLst>
                                    <p:cond delay="0"/>
                                  </p:stCondLst>
                                  <p:childTnLst>
                                    <p:set>
                                      <p:cBhvr>
                                        <p:cTn id="176" dur="1" fill="hold">
                                          <p:stCondLst>
                                            <p:cond delay="0"/>
                                          </p:stCondLst>
                                        </p:cTn>
                                        <p:tgtEl>
                                          <p:spTgt spid="53"/>
                                        </p:tgtEl>
                                        <p:attrNameLst>
                                          <p:attrName>style.visibility</p:attrName>
                                        </p:attrNameLst>
                                      </p:cBhvr>
                                      <p:to>
                                        <p:strVal val="visible"/>
                                      </p:to>
                                    </p:set>
                                    <p:animEffect transition="in" filter="fade">
                                      <p:cBhvr>
                                        <p:cTn id="177" dur="550"/>
                                        <p:tgtEl>
                                          <p:spTgt spid="53"/>
                                        </p:tgtEl>
                                      </p:cBhvr>
                                    </p:animEffect>
                                    <p:anim calcmode="lin" valueType="num">
                                      <p:cBhvr additive="base">
                                        <p:cTn id="178" dur="550" fill="hold"/>
                                        <p:tgtEl>
                                          <p:spTgt spid="53"/>
                                        </p:tgtEl>
                                        <p:attrNameLst>
                                          <p:attrName>ppt_x</p:attrName>
                                        </p:attrNameLst>
                                      </p:cBhvr>
                                      <p:tavLst>
                                        <p:tav tm="0">
                                          <p:val>
                                            <p:strVal val="#ppt_x"/>
                                          </p:val>
                                        </p:tav>
                                        <p:tav tm="100000">
                                          <p:val>
                                            <p:strVal val="#ppt_x"/>
                                          </p:val>
                                        </p:tav>
                                      </p:tavLst>
                                    </p:anim>
                                    <p:anim calcmode="lin" valueType="num">
                                      <p:cBhvr additive="base">
                                        <p:cTn id="179" dur="550" fill="hold"/>
                                        <p:tgtEl>
                                          <p:spTgt spid="53"/>
                                        </p:tgtEl>
                                        <p:attrNameLst>
                                          <p:attrName>ppt_y</p:attrName>
                                        </p:attrNameLst>
                                      </p:cBhvr>
                                      <p:tavLst>
                                        <p:tav tm="0">
                                          <p:val>
                                            <p:strVal val="#ppt_y+.08"/>
                                          </p:val>
                                        </p:tav>
                                        <p:tav tm="100000">
                                          <p:val>
                                            <p:strVal val="#ppt_y"/>
                                          </p:val>
                                        </p:tav>
                                      </p:tavLst>
                                    </p:anim>
                                  </p:childTnLst>
                                </p:cTn>
                              </p:par>
                            </p:childTnLst>
                          </p:cTn>
                        </p:par>
                        <p:par>
                          <p:cTn id="180" fill="hold">
                            <p:stCondLst>
                              <p:cond delay="1600"/>
                            </p:stCondLst>
                            <p:childTnLst>
                              <p:par>
                                <p:cTn id="181" presetID="42" presetClass="entr" presetSubtype="0" fill="hold" grpId="0" nodeType="afterEffect">
                                  <p:stCondLst>
                                    <p:cond delay="0"/>
                                  </p:stCondLst>
                                  <p:childTnLst>
                                    <p:set>
                                      <p:cBhvr>
                                        <p:cTn id="182" dur="1" fill="hold">
                                          <p:stCondLst>
                                            <p:cond delay="0"/>
                                          </p:stCondLst>
                                        </p:cTn>
                                        <p:tgtEl>
                                          <p:spTgt spid="54"/>
                                        </p:tgtEl>
                                        <p:attrNameLst>
                                          <p:attrName>style.visibility</p:attrName>
                                        </p:attrNameLst>
                                      </p:cBhvr>
                                      <p:to>
                                        <p:strVal val="visible"/>
                                      </p:to>
                                    </p:set>
                                    <p:animEffect transition="in" filter="fade">
                                      <p:cBhvr>
                                        <p:cTn id="183" dur="550"/>
                                        <p:tgtEl>
                                          <p:spTgt spid="54"/>
                                        </p:tgtEl>
                                      </p:cBhvr>
                                    </p:animEffect>
                                    <p:anim calcmode="lin" valueType="num">
                                      <p:cBhvr additive="base">
                                        <p:cTn id="184" dur="550" fill="hold"/>
                                        <p:tgtEl>
                                          <p:spTgt spid="54"/>
                                        </p:tgtEl>
                                        <p:attrNameLst>
                                          <p:attrName>ppt_x</p:attrName>
                                        </p:attrNameLst>
                                      </p:cBhvr>
                                      <p:tavLst>
                                        <p:tav tm="0">
                                          <p:val>
                                            <p:strVal val="#ppt_x"/>
                                          </p:val>
                                        </p:tav>
                                        <p:tav tm="100000">
                                          <p:val>
                                            <p:strVal val="#ppt_x"/>
                                          </p:val>
                                        </p:tav>
                                      </p:tavLst>
                                    </p:anim>
                                    <p:anim calcmode="lin" valueType="num">
                                      <p:cBhvr additive="base">
                                        <p:cTn id="185" dur="550" fill="hold"/>
                                        <p:tgtEl>
                                          <p:spTgt spid="54"/>
                                        </p:tgtEl>
                                        <p:attrNameLst>
                                          <p:attrName>ppt_y</p:attrName>
                                        </p:attrNameLst>
                                      </p:cBhvr>
                                      <p:tavLst>
                                        <p:tav tm="0">
                                          <p:val>
                                            <p:strVal val="#ppt_y+.08"/>
                                          </p:val>
                                        </p:tav>
                                        <p:tav tm="100000">
                                          <p:val>
                                            <p:strVal val="#ppt_y"/>
                                          </p:val>
                                        </p:tav>
                                      </p:tavLst>
                                    </p:anim>
                                  </p:childTnLst>
                                </p:cTn>
                              </p:par>
                            </p:childTnLst>
                          </p:cTn>
                        </p:par>
                        <p:par>
                          <p:cTn id="186" fill="hold">
                            <p:stCondLst>
                              <p:cond delay="1600"/>
                            </p:stCondLst>
                            <p:childTnLst>
                              <p:par>
                                <p:cTn id="187" presetID="42" presetClass="entr" presetSubtype="0" fill="hold" grpId="0" nodeType="afterEffect">
                                  <p:stCondLst>
                                    <p:cond delay="0"/>
                                  </p:stCondLst>
                                  <p:childTnLst>
                                    <p:set>
                                      <p:cBhvr>
                                        <p:cTn id="188" dur="1" fill="hold">
                                          <p:stCondLst>
                                            <p:cond delay="0"/>
                                          </p:stCondLst>
                                        </p:cTn>
                                        <p:tgtEl>
                                          <p:spTgt spid="55"/>
                                        </p:tgtEl>
                                        <p:attrNameLst>
                                          <p:attrName>style.visibility</p:attrName>
                                        </p:attrNameLst>
                                      </p:cBhvr>
                                      <p:to>
                                        <p:strVal val="visible"/>
                                      </p:to>
                                    </p:set>
                                    <p:animEffect transition="in" filter="fade">
                                      <p:cBhvr>
                                        <p:cTn id="189" dur="550"/>
                                        <p:tgtEl>
                                          <p:spTgt spid="55"/>
                                        </p:tgtEl>
                                      </p:cBhvr>
                                    </p:animEffect>
                                    <p:anim calcmode="lin" valueType="num">
                                      <p:cBhvr additive="base">
                                        <p:cTn id="190" dur="550" fill="hold"/>
                                        <p:tgtEl>
                                          <p:spTgt spid="55"/>
                                        </p:tgtEl>
                                        <p:attrNameLst>
                                          <p:attrName>ppt_x</p:attrName>
                                        </p:attrNameLst>
                                      </p:cBhvr>
                                      <p:tavLst>
                                        <p:tav tm="0">
                                          <p:val>
                                            <p:strVal val="#ppt_x"/>
                                          </p:val>
                                        </p:tav>
                                        <p:tav tm="100000">
                                          <p:val>
                                            <p:strVal val="#ppt_x"/>
                                          </p:val>
                                        </p:tav>
                                      </p:tavLst>
                                    </p:anim>
                                    <p:anim calcmode="lin" valueType="num">
                                      <p:cBhvr additive="base">
                                        <p:cTn id="191" dur="550" fill="hold"/>
                                        <p:tgtEl>
                                          <p:spTgt spid="55"/>
                                        </p:tgtEl>
                                        <p:attrNameLst>
                                          <p:attrName>ppt_y</p:attrName>
                                        </p:attrNameLst>
                                      </p:cBhvr>
                                      <p:tavLst>
                                        <p:tav tm="0">
                                          <p:val>
                                            <p:strVal val="#ppt_y+.08"/>
                                          </p:val>
                                        </p:tav>
                                        <p:tav tm="100000">
                                          <p:val>
                                            <p:strVal val="#ppt_y"/>
                                          </p:val>
                                        </p:tav>
                                      </p:tavLst>
                                    </p:anim>
                                  </p:childTnLst>
                                </p:cTn>
                              </p:par>
                            </p:childTnLst>
                          </p:cTn>
                        </p:par>
                        <p:par>
                          <p:cTn id="192" fill="hold">
                            <p:stCondLst>
                              <p:cond delay="1600"/>
                            </p:stCondLst>
                            <p:childTnLst>
                              <p:par>
                                <p:cTn id="193" presetID="53" presetClass="entr" presetSubtype="16" fill="hold" grpId="0" nodeType="afterEffect">
                                  <p:stCondLst>
                                    <p:cond delay="0"/>
                                  </p:stCondLst>
                                  <p:childTnLst>
                                    <p:set>
                                      <p:cBhvr>
                                        <p:cTn id="194" dur="1" fill="hold">
                                          <p:stCondLst>
                                            <p:cond delay="0"/>
                                          </p:stCondLst>
                                        </p:cTn>
                                        <p:tgtEl>
                                          <p:spTgt spid="56"/>
                                        </p:tgtEl>
                                        <p:attrNameLst>
                                          <p:attrName>style.visibility</p:attrName>
                                        </p:attrNameLst>
                                      </p:cBhvr>
                                      <p:to>
                                        <p:strVal val="visible"/>
                                      </p:to>
                                    </p:set>
                                    <p:animEffect transition="in" filter="fade">
                                      <p:cBhvr>
                                        <p:cTn id="195" dur="550"/>
                                        <p:tgtEl>
                                          <p:spTgt spid="56"/>
                                        </p:tgtEl>
                                      </p:cBhvr>
                                    </p:animEffect>
                                    <p:anim calcmode="lin" valueType="num">
                                      <p:cBhvr additive="base">
                                        <p:cTn id="196" dur="550" fill="hold"/>
                                        <p:tgtEl>
                                          <p:spTgt spid="56"/>
                                        </p:tgtEl>
                                        <p:attrNameLst>
                                          <p:attrName>ppt_w</p:attrName>
                                        </p:attrNameLst>
                                      </p:cBhvr>
                                      <p:tavLst>
                                        <p:tav tm="0">
                                          <p:val>
                                            <p:strVal val="0"/>
                                          </p:val>
                                        </p:tav>
                                        <p:tav tm="100000">
                                          <p:val>
                                            <p:strVal val="#ppt_w"/>
                                          </p:val>
                                        </p:tav>
                                      </p:tavLst>
                                    </p:anim>
                                    <p:anim calcmode="lin" valueType="num">
                                      <p:cBhvr additive="base">
                                        <p:cTn id="197" dur="550" fill="hold"/>
                                        <p:tgtEl>
                                          <p:spTgt spid="56"/>
                                        </p:tgtEl>
                                        <p:attrNameLst>
                                          <p:attrName>ppt_h</p:attrName>
                                        </p:attrNameLst>
                                      </p:cBhvr>
                                      <p:tavLst>
                                        <p:tav tm="0">
                                          <p:val>
                                            <p:strVal val="0"/>
                                          </p:val>
                                        </p:tav>
                                        <p:tav tm="100000">
                                          <p:val>
                                            <p:strVal val="#ppt_h"/>
                                          </p:val>
                                        </p:tav>
                                      </p:tavLst>
                                    </p:anim>
                                  </p:childTnLst>
                                </p:cTn>
                              </p:par>
                            </p:childTnLst>
                          </p:cTn>
                        </p:par>
                        <p:par>
                          <p:cTn id="198" fill="hold">
                            <p:stCondLst>
                              <p:cond delay="1600"/>
                            </p:stCondLst>
                            <p:childTnLst>
                              <p:par>
                                <p:cTn id="199" presetID="42" presetClass="entr" presetSubtype="0" fill="hold" grpId="0" nodeType="afterEffect">
                                  <p:stCondLst>
                                    <p:cond delay="0"/>
                                  </p:stCondLst>
                                  <p:childTnLst>
                                    <p:set>
                                      <p:cBhvr>
                                        <p:cTn id="200" dur="1" fill="hold">
                                          <p:stCondLst>
                                            <p:cond delay="0"/>
                                          </p:stCondLst>
                                        </p:cTn>
                                        <p:tgtEl>
                                          <p:spTgt spid="57"/>
                                        </p:tgtEl>
                                        <p:attrNameLst>
                                          <p:attrName>style.visibility</p:attrName>
                                        </p:attrNameLst>
                                      </p:cBhvr>
                                      <p:to>
                                        <p:strVal val="visible"/>
                                      </p:to>
                                    </p:set>
                                    <p:animEffect transition="in" filter="fade">
                                      <p:cBhvr>
                                        <p:cTn id="201" dur="550"/>
                                        <p:tgtEl>
                                          <p:spTgt spid="57"/>
                                        </p:tgtEl>
                                      </p:cBhvr>
                                    </p:animEffect>
                                    <p:anim calcmode="lin" valueType="num">
                                      <p:cBhvr additive="base">
                                        <p:cTn id="202" dur="550" fill="hold"/>
                                        <p:tgtEl>
                                          <p:spTgt spid="57"/>
                                        </p:tgtEl>
                                        <p:attrNameLst>
                                          <p:attrName>ppt_x</p:attrName>
                                        </p:attrNameLst>
                                      </p:cBhvr>
                                      <p:tavLst>
                                        <p:tav tm="0">
                                          <p:val>
                                            <p:strVal val="#ppt_x"/>
                                          </p:val>
                                        </p:tav>
                                        <p:tav tm="100000">
                                          <p:val>
                                            <p:strVal val="#ppt_x"/>
                                          </p:val>
                                        </p:tav>
                                      </p:tavLst>
                                    </p:anim>
                                    <p:anim calcmode="lin" valueType="num">
                                      <p:cBhvr additive="base">
                                        <p:cTn id="203" dur="550" fill="hold"/>
                                        <p:tgtEl>
                                          <p:spTgt spid="5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b65a074a50e157c.jpg"/>
          <p:cNvPicPr>
            <a:picLocks noChangeAspect="1"/>
          </p:cNvPicPr>
          <p:nvPr/>
        </p:nvPicPr>
        <p:blipFill>
          <a:blip r:embed="rId2"/>
          <a:srcRect l="14449" r="14449"/>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Intel in Deutschland · Wikimedia Commons · CC BY-SA 2.0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CPU: kechikishga optimallashtirilgan arxitektura</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CPU: kechikishga optimallashtirilgan arxitektura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Zamonaviy server CPU si (masalan, AMD EPYC 9004 «Genoa» 96 yadroli yoki Intel Xeon 4-avlod «Sapphire Rapids» 60 yadroli) — bu kechikishni (latency) minimallashtirishga qaratilgan mashina.</a:t>
            </a:r>
          </a:p>
          <a:p>
            <a:pPr>
              <a:spcBef>
                <a:spcPts val="400"/>
              </a:spcBef>
            </a:pPr>
            <a:r>
              <a:rPr sz="1400">
                <a:solidFill>
                  <a:srgbClr val="AEBBD9"/>
                </a:solidFill>
                <a:latin typeface="Segoe UI"/>
              </a:rPr>
              <a:t>Har bir yadro superskalyar bo'lib, bir taktda 4–6 buyruqni dekodlaydi, ularni tartibsiz bajaradi, tarmoqlanishni 95 % dan yuqori aniqlikda bashorat qiladi va uch darajali kesh (L1 32–48 KB, L2 1–2 MB, L3 yadrolar orasida umumiy 32–384 MB) orqali xotira kechikishini yashiradi.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CPU: kechikishga optimallashtirilgan arxitektura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CPU da SI yukini tezlashtirishning asosiy vositasi — SIMD (Single Instruction, Multiple Data) kengaytmalari: AVX2 (256 bit, 8 ta FP32), AVX-512 (512 bit, 16 ta FP32) va ARM da SVE/SVE2.</a:t>
            </a:r>
          </a:p>
          <a:p>
            <a:pPr>
              <a:spcBef>
                <a:spcPts val="400"/>
              </a:spcBef>
            </a:pPr>
            <a:r>
              <a:rPr sz="1400">
                <a:solidFill>
                  <a:srgbClr val="AEBBD9"/>
                </a:solidFill>
                <a:latin typeface="Segoe UI"/>
              </a:rPr>
              <a:t>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CPU: kechikishga optimallashtirilgan arxitektura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CPU ning SI tizimidagi o'rni shunga qaramay muhim: u ma'lumotni yuklaydi va oldindan ishlov beradi, tezlatkichlarni boshqaradi, kichik modellar va past yukdagi inferensni bajaradi, tavsiya tizimlarida embedding jadvallarini qidiradi (xotira sig'imi muhim…</a:t>
            </a:r>
          </a:p>
          <a:p>
            <a:pPr>
              <a:spcBef>
                <a:spcPts val="400"/>
              </a:spcBef>
            </a:pPr>
            <a:r>
              <a:rPr sz="1400">
                <a:solidFill>
                  <a:srgbClr val="AEBBD9"/>
                </a:solidFill>
                <a:latin typeface="Segoe UI"/>
              </a:rPr>
              <a:t>Ko'p yadrolilik (multi-core) — bir kristalda o'nlab yadro — va ko'p protsessorlilik (multi-processor) — bir serverda 2–8 soket, UPI yoki Infinity Fabric bilan ulangan — CPU ni ma'lumot tayyorlash va orkestratsiya uchun kuchli platformaga aylantiradi.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1ad84d55f0a755a6.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Phiarc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GPU: o'tkazuvchanlikka optimallashtirilgan arxitektura</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3f824eafe067fe7.jpg"/>
          <p:cNvPicPr>
            <a:picLocks noChangeAspect="1"/>
          </p:cNvPicPr>
          <p:nvPr/>
        </p:nvPicPr>
        <p:blipFill>
          <a:blip r:embed="rId2"/>
          <a:srcRect l="31648" r="31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Popolon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GPU qarama-qarshi falsafaga asoslangan: kechikishni yashirish uchun murakkab boshqaruv o'rniga minglab oddiy oqimlar (thread) ishlatiladi; bir oqim xotira kutayotganda boshqasi hisoblaydi.</a:t>
            </a:r>
          </a:p>
          <a:p>
            <a:pPr>
              <a:spcBef>
                <a:spcPts val="400"/>
              </a:spcBef>
            </a:pPr>
            <a:r>
              <a:rPr sz="1400">
                <a:solidFill>
                  <a:srgbClr val="AEBBD9"/>
                </a:solidFill>
                <a:latin typeface="Segoe UI"/>
              </a:rPr>
              <a:t>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GPU ning tuzilmaviy birligi — oqimli multiprotsessor (Streaming Multiprocessor, SM).</a:t>
            </a:r>
          </a:p>
          <a:p>
            <a:pPr>
              <a:spcBef>
                <a:spcPts val="400"/>
              </a:spcBef>
            </a:pPr>
            <a:r>
              <a:rPr sz="1400">
                <a:solidFill>
                  <a:srgbClr val="AEBBD9"/>
                </a:solidFill>
                <a:latin typeface="Segoe UI"/>
              </a:rPr>
              <a:t>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Tensor Core — GPU ichidagi ixtisoslashgan matritsa bloki (M4 da batafsil): bir taktda kichik matritsa fragmentini (masalan 4×4×4 yoki undan katta) aralash aniqlikda (FP16/BF16 kirish, FP32 to'plash) ko'paytirib qo'shadi.</a:t>
            </a:r>
          </a:p>
          <a:p>
            <a:pPr>
              <a:spcBef>
                <a:spcPts val="400"/>
              </a:spcBef>
            </a:pPr>
            <a:r>
              <a:rPr sz="1600">
                <a:solidFill>
                  <a:srgbClr val="AEBBD9"/>
                </a:solidFill>
                <a:latin typeface="Segoe UI"/>
              </a:rPr>
              <a:t>H100 uchun zich FP16 Tensor Core unumdorligi taxminan 990 TFLOPS, FP8 da taxminan 1 980 TFLOPS, oddiy FP32 CUDA yadrolari esa 67 TFLOPS beradi — ya'ni Tensor Core dan foydalanish 15 baravar farq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GPU ning yana bir asosiy xususiyati — xotira iyerarxiyasi dasturchiga ochiq: registrlar, umumiy xotira (shared memory, dasturchi boshqaradigan kesh), L2 va global HBM.</a:t>
            </a:r>
          </a:p>
          <a:p>
            <a:pPr>
              <a:spcBef>
                <a:spcPts val="400"/>
              </a:spcBef>
            </a:pPr>
            <a:r>
              <a:rPr sz="1600">
                <a:solidFill>
                  <a:srgbClr val="AEBBD9"/>
                </a:solidFill>
                <a:latin typeface="Segoe UI"/>
              </a:rPr>
              <a:t>Samarali CUDA yadrosi (kernel) ma'lumotni umumiy xotiraga yuklab, ko'p marta qayta ishlatadi — bu Sze va hammualliflar [4] ta'kidlagan «ma'lumotni qayta ishlatish» tamoyilining dasturiy ifodasi.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8b16a40a0eaa5c0f.jpg"/>
          <p:cNvPicPr>
            <a:picLocks noChangeAspect="1"/>
          </p:cNvPicPr>
          <p:nvPr/>
        </p:nvPicPr>
        <p:blipFill>
          <a:blip r:embed="rId2"/>
          <a:srcRect l="11814" r="11814"/>
          <a:stretch>
            <a:fillRect/>
          </a:stretch>
        </p:blipFill>
        <p:spPr>
          <a:xfrm>
            <a:off x="6300000" y="800000"/>
            <a:ext cx="5300000" cy="4950000"/>
          </a:xfrm>
          <a:prstGeom prst="roundRect">
            <a:avLst/>
          </a:prstGeom>
          <a:ln w="19050">
            <a:solidFill>
              <a:srgbClr val="22D3EE"/>
            </a:solidFill>
          </a:ln>
        </p:spPr>
      </p:pic>
      <p:sp>
        <p:nvSpPr>
          <p:cNvPr id="47" name="TextBox 4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Zinskauf · Wikimedia Commons · CC BY-SA 4.0</a:t>
            </a:r>
          </a:p>
        </p:txBody>
      </p:sp>
      <p:sp>
        <p:nvSpPr>
          <p:cNvPr id="48" name="TextBox 4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9" name="TextBox 4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50" name="TextBox 4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TPU va sistolik massiv</a:t>
            </a:r>
          </a:p>
        </p:txBody>
      </p:sp>
      <p:sp>
        <p:nvSpPr>
          <p:cNvPr id="51" name="Rectangle 5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150"/>
                            </p:stCondLst>
                            <p:childTnLst>
                              <p:par>
                                <p:cTn id="172" presetID="53" presetClass="entr" presetSubtype="16"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anim calcmode="lin" valueType="num">
                                      <p:cBhvr additive="base">
                                        <p:cTn id="175" dur="550" fill="hold"/>
                                        <p:tgtEl>
                                          <p:spTgt spid="45"/>
                                        </p:tgtEl>
                                        <p:attrNameLst>
                                          <p:attrName>ppt_w</p:attrName>
                                        </p:attrNameLst>
                                      </p:cBhvr>
                                      <p:tavLst>
                                        <p:tav tm="0">
                                          <p:val>
                                            <p:strVal val="0"/>
                                          </p:val>
                                        </p:tav>
                                        <p:tav tm="100000">
                                          <p:val>
                                            <p:strVal val="#ppt_w"/>
                                          </p:val>
                                        </p:tav>
                                      </p:tavLst>
                                    </p:anim>
                                    <p:anim calcmode="lin" valueType="num">
                                      <p:cBhvr additive="base">
                                        <p:cTn id="176" dur="550" fill="hold"/>
                                        <p:tgtEl>
                                          <p:spTgt spid="45"/>
                                        </p:tgtEl>
                                        <p:attrNameLst>
                                          <p:attrName>ppt_h</p:attrName>
                                        </p:attrNameLst>
                                      </p:cBhvr>
                                      <p:tavLst>
                                        <p:tav tm="0">
                                          <p:val>
                                            <p:strVal val="0"/>
                                          </p:val>
                                        </p:tav>
                                        <p:tav tm="100000">
                                          <p:val>
                                            <p:strVal val="#ppt_h"/>
                                          </p:val>
                                        </p:tav>
                                      </p:tavLst>
                                    </p:anim>
                                  </p:childTnLst>
                                </p:cTn>
                              </p:par>
                            </p:childTnLst>
                          </p:cTn>
                        </p:par>
                        <p:par>
                          <p:cTn id="177" fill="hold">
                            <p:stCondLst>
                              <p:cond delay="150"/>
                            </p:stCondLst>
                            <p:childTnLst>
                              <p:par>
                                <p:cTn id="178" presetID="53" presetClass="entr" presetSubtype="16" fill="hold" grpId="0" nodeType="afterEffect">
                                  <p:stCondLst>
                                    <p:cond delay="0"/>
                                  </p:stCondLst>
                                  <p:childTnLst>
                                    <p:set>
                                      <p:cBhvr>
                                        <p:cTn id="179" dur="1" fill="hold">
                                          <p:stCondLst>
                                            <p:cond delay="0"/>
                                          </p:stCondLst>
                                        </p:cTn>
                                        <p:tgtEl>
                                          <p:spTgt spid="46"/>
                                        </p:tgtEl>
                                        <p:attrNameLst>
                                          <p:attrName>style.visibility</p:attrName>
                                        </p:attrNameLst>
                                      </p:cBhvr>
                                      <p:to>
                                        <p:strVal val="visible"/>
                                      </p:to>
                                    </p:set>
                                    <p:animEffect transition="in" filter="fade">
                                      <p:cBhvr>
                                        <p:cTn id="180" dur="550"/>
                                        <p:tgtEl>
                                          <p:spTgt spid="46"/>
                                        </p:tgtEl>
                                      </p:cBhvr>
                                    </p:animEffect>
                                    <p:anim calcmode="lin" valueType="num">
                                      <p:cBhvr additive="base">
                                        <p:cTn id="181" dur="550" fill="hold"/>
                                        <p:tgtEl>
                                          <p:spTgt spid="46"/>
                                        </p:tgtEl>
                                        <p:attrNameLst>
                                          <p:attrName>ppt_w</p:attrName>
                                        </p:attrNameLst>
                                      </p:cBhvr>
                                      <p:tavLst>
                                        <p:tav tm="0">
                                          <p:val>
                                            <p:strVal val="0"/>
                                          </p:val>
                                        </p:tav>
                                        <p:tav tm="100000">
                                          <p:val>
                                            <p:strVal val="#ppt_w"/>
                                          </p:val>
                                        </p:tav>
                                      </p:tavLst>
                                    </p:anim>
                                    <p:anim calcmode="lin" valueType="num">
                                      <p:cBhvr additive="base">
                                        <p:cTn id="182" dur="550" fill="hold"/>
                                        <p:tgtEl>
                                          <p:spTgt spid="46"/>
                                        </p:tgtEl>
                                        <p:attrNameLst>
                                          <p:attrName>ppt_h</p:attrName>
                                        </p:attrNameLst>
                                      </p:cBhvr>
                                      <p:tavLst>
                                        <p:tav tm="0">
                                          <p:val>
                                            <p:strVal val="0"/>
                                          </p:val>
                                        </p:tav>
                                        <p:tav tm="100000">
                                          <p:val>
                                            <p:strVal val="#ppt_h"/>
                                          </p:val>
                                        </p:tav>
                                      </p:tavLst>
                                    </p:anim>
                                  </p:childTnLst>
                                </p:cTn>
                              </p:par>
                            </p:childTnLst>
                          </p:cTn>
                        </p:par>
                        <p:par>
                          <p:cTn id="183" fill="hold">
                            <p:stCondLst>
                              <p:cond delay="150"/>
                            </p:stCondLst>
                            <p:childTnLst>
                              <p:par>
                                <p:cTn id="184" presetID="10" presetClass="entr" presetSubtype="0"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childTnLst>
                                </p:cTn>
                              </p:par>
                            </p:childTnLst>
                          </p:cTn>
                        </p:par>
                        <p:par>
                          <p:cTn id="187" fill="hold">
                            <p:stCondLst>
                              <p:cond delay="350"/>
                            </p:stCondLst>
                            <p:childTnLst>
                              <p:par>
                                <p:cTn id="188" presetID="53" presetClass="entr" presetSubtype="16" fill="hold" grpId="0" nodeType="afterEffect">
                                  <p:stCondLst>
                                    <p:cond delay="0"/>
                                  </p:stCondLst>
                                  <p:childTnLst>
                                    <p:set>
                                      <p:cBhvr>
                                        <p:cTn id="189" dur="1" fill="hold">
                                          <p:stCondLst>
                                            <p:cond delay="0"/>
                                          </p:stCondLst>
                                        </p:cTn>
                                        <p:tgtEl>
                                          <p:spTgt spid="48"/>
                                        </p:tgtEl>
                                        <p:attrNameLst>
                                          <p:attrName>style.visibility</p:attrName>
                                        </p:attrNameLst>
                                      </p:cBhvr>
                                      <p:to>
                                        <p:strVal val="visible"/>
                                      </p:to>
                                    </p:set>
                                    <p:animEffect transition="in" filter="fade">
                                      <p:cBhvr>
                                        <p:cTn id="190" dur="550"/>
                                        <p:tgtEl>
                                          <p:spTgt spid="48"/>
                                        </p:tgtEl>
                                      </p:cBhvr>
                                    </p:animEffect>
                                    <p:anim calcmode="lin" valueType="num">
                                      <p:cBhvr additive="base">
                                        <p:cTn id="191" dur="550" fill="hold"/>
                                        <p:tgtEl>
                                          <p:spTgt spid="48"/>
                                        </p:tgtEl>
                                        <p:attrNameLst>
                                          <p:attrName>ppt_w</p:attrName>
                                        </p:attrNameLst>
                                      </p:cBhvr>
                                      <p:tavLst>
                                        <p:tav tm="0">
                                          <p:val>
                                            <p:strVal val="0"/>
                                          </p:val>
                                        </p:tav>
                                        <p:tav tm="100000">
                                          <p:val>
                                            <p:strVal val="#ppt_w"/>
                                          </p:val>
                                        </p:tav>
                                      </p:tavLst>
                                    </p:anim>
                                    <p:anim calcmode="lin" valueType="num">
                                      <p:cBhvr additive="base">
                                        <p:cTn id="192" dur="550" fill="hold"/>
                                        <p:tgtEl>
                                          <p:spTgt spid="48"/>
                                        </p:tgtEl>
                                        <p:attrNameLst>
                                          <p:attrName>ppt_h</p:attrName>
                                        </p:attrNameLst>
                                      </p:cBhvr>
                                      <p:tavLst>
                                        <p:tav tm="0">
                                          <p:val>
                                            <p:strVal val="0"/>
                                          </p:val>
                                        </p:tav>
                                        <p:tav tm="100000">
                                          <p:val>
                                            <p:strVal val="#ppt_h"/>
                                          </p:val>
                                        </p:tav>
                                      </p:tavLst>
                                    </p:anim>
                                  </p:childTnLst>
                                </p:cTn>
                              </p:par>
                            </p:childTnLst>
                          </p:cTn>
                        </p:par>
                        <p:par>
                          <p:cTn id="193" fill="hold">
                            <p:stCondLst>
                              <p:cond delay="450"/>
                            </p:stCondLst>
                            <p:childTnLst>
                              <p:par>
                                <p:cTn id="194" presetID="10" presetClass="entr" presetSubtype="0"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Effect transition="in" filter="fade">
                                      <p:cBhvr>
                                        <p:cTn id="196" dur="550"/>
                                        <p:tgtEl>
                                          <p:spTgt spid="49"/>
                                        </p:tgtEl>
                                      </p:cBhvr>
                                    </p:animEffect>
                                  </p:childTnLst>
                                </p:cTn>
                              </p:par>
                            </p:childTnLst>
                          </p:cTn>
                        </p:par>
                        <p:par>
                          <p:cTn id="197" fill="hold">
                            <p:stCondLst>
                              <p:cond delay="550"/>
                            </p:stCondLst>
                            <p:childTnLst>
                              <p:par>
                                <p:cTn id="198" presetID="2" presetClass="entr" presetSubtype="8" fill="hold" grpId="0" nodeType="afterEffect">
                                  <p:stCondLst>
                                    <p:cond delay="0"/>
                                  </p:stCondLst>
                                  <p:childTnLst>
                                    <p:set>
                                      <p:cBhvr>
                                        <p:cTn id="199" dur="1" fill="hold">
                                          <p:stCondLst>
                                            <p:cond delay="0"/>
                                          </p:stCondLst>
                                        </p:cTn>
                                        <p:tgtEl>
                                          <p:spTgt spid="50"/>
                                        </p:tgtEl>
                                        <p:attrNameLst>
                                          <p:attrName>style.visibility</p:attrName>
                                        </p:attrNameLst>
                                      </p:cBhvr>
                                      <p:to>
                                        <p:strVal val="visible"/>
                                      </p:to>
                                    </p:set>
                                    <p:anim calcmode="lin" valueType="num">
                                      <p:cBhvr additive="base">
                                        <p:cTn id="201" dur="550" fill="hold"/>
                                        <p:tgtEl>
                                          <p:spTgt spid="50"/>
                                        </p:tgtEl>
                                        <p:attrNameLst>
                                          <p:attrName>ppt_x</p:attrName>
                                        </p:attrNameLst>
                                      </p:cBhvr>
                                      <p:tavLst>
                                        <p:tav tm="0">
                                          <p:val>
                                            <p:strVal val="0-#ppt_w/2"/>
                                          </p:val>
                                        </p:tav>
                                        <p:tav tm="100000">
                                          <p:val>
                                            <p:strVal val="#ppt_x"/>
                                          </p:val>
                                        </p:tav>
                                      </p:tavLst>
                                    </p:anim>
                                    <p:anim calcmode="lin" valueType="num">
                                      <p:cBhvr additive="base">
                                        <p:cTn id="202" dur="550" fill="hold"/>
                                        <p:tgtEl>
                                          <p:spTgt spid="50"/>
                                        </p:tgtEl>
                                        <p:attrNameLst>
                                          <p:attrName>ppt_y</p:attrName>
                                        </p:attrNameLst>
                                      </p:cBhvr>
                                      <p:tavLst>
                                        <p:tav tm="0">
                                          <p:val>
                                            <p:strVal val="#ppt_y"/>
                                          </p:val>
                                        </p:tav>
                                        <p:tav tm="100000">
                                          <p:val>
                                            <p:strVal val="#ppt_y"/>
                                          </p:val>
                                        </p:tav>
                                      </p:tavLst>
                                    </p:anim>
                                  </p:childTnLst>
                                </p:cTn>
                              </p:par>
                            </p:childTnLst>
                          </p:cTn>
                        </p:par>
                        <p:par>
                          <p:cTn id="203" fill="hold">
                            <p:stCondLst>
                              <p:cond delay="650"/>
                            </p:stCondLst>
                            <p:childTnLst>
                              <p:par>
                                <p:cTn id="204" presetID="22" presetClass="entr" presetSubtype="8" fill="hold" grpId="0" nodeType="afterEffect">
                                  <p:stCondLst>
                                    <p:cond delay="0"/>
                                  </p:stCondLst>
                                  <p:childTnLst>
                                    <p:set>
                                      <p:cBhvr>
                                        <p:cTn id="205" dur="1" fill="hold">
                                          <p:stCondLst>
                                            <p:cond delay="0"/>
                                          </p:stCondLst>
                                        </p:cTn>
                                        <p:tgtEl>
                                          <p:spTgt spid="51"/>
                                        </p:tgtEl>
                                        <p:attrNameLst>
                                          <p:attrName>style.visibility</p:attrName>
                                        </p:attrNameLst>
                                      </p:cBhvr>
                                      <p:to>
                                        <p:strVal val="visible"/>
                                      </p:to>
                                    </p:set>
                                    <p:animEffect transition="in" filter="wipe(left)">
                                      <p:cBhvr>
                                        <p:cTn id="207" dur="8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7" grpId="0" animBg="1"/>
      <p:bldP spid="48" grpId="0" animBg="1"/>
      <p:bldP spid="49" grpId="0" animBg="1"/>
      <p:bldP spid="50" grpId="0" animBg="1"/>
      <p:bldP spid="5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TPU va sistolik massiv</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Google TPU (Tensor Processing Unit) — neyron tarmoq uchun noldan loyihalangan ASIC.</a:t>
            </a:r>
          </a:p>
          <a:p>
            <a:pPr>
              <a:spcBef>
                <a:spcPts val="400"/>
              </a:spcBef>
            </a:pPr>
            <a:r>
              <a:rPr sz="1400">
                <a:solidFill>
                  <a:srgbClr val="AEBBD9"/>
                </a:solidFill>
                <a:latin typeface="Segoe UI"/>
              </a:rPr>
              <a:t>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Har bir MAC natijani qo'shnisiga uzatadi, registr fayliga yoki keshga murojaat qilmaydi — shuning uchun energiya sarfi juda past.</a:t>
            </a:r>
          </a:p>
          <a:p>
            <a:pPr>
              <a:spcBef>
                <a:spcPts val="400"/>
              </a:spcBef>
            </a:pPr>
            <a:r>
              <a:rPr sz="1400">
                <a:solidFill>
                  <a:srgbClr val="AEBBD9"/>
                </a:solidFill>
                <a:latin typeface="Segoe UI"/>
              </a:rPr>
              <a:t>TPU v1 700 MGs da 92 TOPS INT8 berib, o'sha davrdagi GPU dan vatt boshiga 30–80 baravar samaraliroq edi.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TPU va sistolik massiv</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Keyingi avlodlar o'qitish uchun BF16 qo'llab-quvvatlashi, HBM xotira va chiplararo tarmoq (Inter-Core Interconnect, ICI) qo'shdi.</a:t>
            </a:r>
          </a:p>
          <a:p>
            <a:pPr>
              <a:spcBef>
                <a:spcPts val="400"/>
              </a:spcBef>
            </a:pPr>
            <a:r>
              <a:rPr sz="1600">
                <a:solidFill>
                  <a:srgbClr val="AEBBD9"/>
                </a:solidFill>
                <a:latin typeface="Segoe UI"/>
              </a:rPr>
              <a:t>TPU v4 chipi ikkita TensorCore, har birida to'rtta 128×128 li MXU (matritsa bloki) ga ega bo'lib, 275 TFLOPS BF16 beradi; 4 096 chip 3D torus topologiyasida bitta «pod» ga birlashadi.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TPU va sistolik massiv</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3f824eafe067fe7.jpg"/>
          <p:cNvPicPr>
            <a:picLocks noChangeAspect="1"/>
          </p:cNvPicPr>
          <p:nvPr/>
        </p:nvPicPr>
        <p:blipFill>
          <a:blip r:embed="rId2"/>
          <a:srcRect l="31648" r="316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Popolon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TPU v5e (197 TFLOPS BF16, 16 GB HBM2, 819 GB/s) inferens va narx-samaradorlik uchun, v5p (459 TFLOPS BF16, 95 GB HBM, 2,76 TB/s) o'qitish uchun mo'ljallangan; 2024-yilgi Trillium (v6e) 918 TFLOPS BF16 va 32 GB HBM e'lon qilingan.</a:t>
            </a:r>
          </a:p>
          <a:p>
            <a:pPr>
              <a:spcBef>
                <a:spcPts val="400"/>
              </a:spcBef>
            </a:pPr>
            <a:r>
              <a:rPr sz="1400">
                <a:solidFill>
                  <a:srgbClr val="AEBBD9"/>
                </a:solidFill>
                <a:latin typeface="Segoe UI"/>
              </a:rPr>
              <a:t>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540def6ae279e7ed.jpg"/>
          <p:cNvPicPr>
            <a:picLocks noChangeAspect="1"/>
          </p:cNvPicPr>
          <p:nvPr/>
        </p:nvPicPr>
        <p:blipFill>
          <a:blip r:embed="rId2"/>
          <a:srcRect l="16164" r="1616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European Space Agency · Wikimedia Commons · CC BY-SA 3.0 igo</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NPU: chekka va iste'mol qurilmalaridagi tezlatkichlar</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NPU: chekka va iste'mol qurilmalaridagi tezlatkichlar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NPU (Neural Processing Unit) — umumiy nom bo'lib, tizim-kristal (SoC) tarkibidagi neyron tarmoq blokini bildiradi.</a:t>
            </a:r>
          </a:p>
          <a:p>
            <a:pPr>
              <a:spcBef>
                <a:spcPts val="400"/>
              </a:spcBef>
            </a:pPr>
            <a:r>
              <a:rPr sz="1300">
                <a:solidFill>
                  <a:srgbClr val="AEBBD9"/>
                </a:solidFill>
                <a:latin typeface="Segoe UI"/>
              </a:rPr>
              <a:t>Arxitektura jihatidan NPU lar ko'pincha kichik sistolik massivlar yoki vektor-matritsa bloklari, katta on-chip SRAM va INT8/INT4 aniqlikka urg'u bilan quriladi. Ularning asosiy loyihalash mezoni — vatt boshiga TOPS, chunki ular batareyali qurilmada ishlaydi.</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Namunalar: Apple Neural Engine (A17 Pro va M4 da 35–38 TOPS), Qualcomm Hexagon (Snapdragon X Elite da 45 TOPS), Intel NPU (Core Ultra «Lunar Lake» da 48 TOPS), AMD XDNA 2 (Ryzen AI 300 da 50 TOPS).</a:t>
            </a:r>
          </a:p>
          <a:p>
            <a:pPr>
              <a:spcBef>
                <a:spcPts val="400"/>
              </a:spcBef>
            </a:pPr>
            <a:r>
              <a:rPr sz="1300">
                <a:solidFill>
                  <a:srgbClr val="AEBBD9"/>
                </a:solidFill>
                <a:latin typeface="Segoe UI"/>
              </a:rPr>
              <a:t>Ma'lumotlar markazi miqyosidagi NPU lar ham bor — Huawei Ascend 910B, AWS Inferentia2 va Trainium — ular TPU ga o'xshash ixtisoslashgan ASIC lardir.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NPU: chekka va iste'mol qurilmalaridagi tezlatkichlar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NPU ning cheklovlari: qo'llab-quvvatlanadigan operatorlar to'plami tor (yangi arxitekturadagi noodatiy qatlam NPU da ishlamay CPU ga tushishi mumkin), dasturlash faqat ishlab chiqaruvchi SDK si orqali (Core ML, Qualcomm AI Engine, OpenVINO), aniqlik asosan…</a:t>
            </a:r>
          </a:p>
          <a:p>
            <a:pPr>
              <a:spcBef>
                <a:spcPts val="400"/>
              </a:spcBef>
            </a:pPr>
            <a:r>
              <a:rPr sz="1600">
                <a:solidFill>
                  <a:srgbClr val="AEBBD9"/>
                </a:solidFill>
                <a:latin typeface="Segoe UI"/>
              </a:rPr>
              <a:t>Shu sababli NPU uchun model tayyorlash — kvantlash, operatorlarni almashtirish, grafni kompilyatsiya qilish — alohida muhandislik bosqichi (M6 va M8 da ko'riladi).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662553146f2c8b02.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Pedant01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FPGA: qayta dasturlanadigan apparat</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FPGA: qayta dasturlanadigan apparat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FPGA (Field-Programmable Gate Array) — ishlab chiqarilgandan keyin mantiqiy sxemasi o'zgartirilishi mumkin bo'lgan chip.</a:t>
            </a:r>
          </a:p>
          <a:p>
            <a:pPr>
              <a:spcBef>
                <a:spcPts val="400"/>
              </a:spcBef>
            </a:pPr>
            <a:r>
              <a:rPr sz="1300">
                <a:solidFill>
                  <a:srgbClr val="AEBBD9"/>
                </a:solidFill>
                <a:latin typeface="Segoe UI"/>
              </a:rPr>
              <a:t>Uning tarkibida yuz minglab qidiruv jadvallari (LUT), triggerlar, DSP bloklari (apparat ko'paytirgichlar) va bloklangan xotira (BRAM) bo'lib, ular dasturlanadigan ulanish to'ri orqali bog'lanadi.</a:t>
            </a:r>
          </a:p>
        </p:txBody>
      </p:sp>
      <p:sp>
        <p:nvSpPr>
          <p:cNvPr id="32" name="Rounded Rectangle 31"/>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FPGA ning afzalliklari: juda past va bashoratlanadigan kechikish (mikrosekundlar, chunki operatsion tizim va drayver yo'q), ixtiyoriy aniqlik, kiritish-chiqarish bilan to'g'ridan-to'g'ri integratsiya (kamera, tarmoq, radar).</a:t>
            </a:r>
          </a:p>
          <a:p>
            <a:pPr>
              <a:spcBef>
                <a:spcPts val="400"/>
              </a:spcBef>
            </a:pPr>
            <a:r>
              <a:rPr sz="1300">
                <a:solidFill>
                  <a:srgbClr val="AEBBD9"/>
                </a:solidFill>
                <a:latin typeface="Segoe UI"/>
              </a:rPr>
              <a:t>Kamchiliklari: bir xil texnologik jarayonda ASIC dan 5–10 baravar kam samarali (dasturlanadigan ulanishlar maydoni va energiyasi), rivojlantirish sikli uzun (sintez soatlar oladi), yuqori malaka talab 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FPGA: qayta dasturlanadigan apparat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Zamonaviy «moslashuvchan SoC» lar — AMD Versal AI Core (dasturlanadigan mantiq + ARM yadrolari + AI Engine vektor protsessorlari massivi) va Intel Agilex — FPGA bilan ASIC o'rtasidagi oraliq yechim.</a:t>
            </a:r>
          </a:p>
          <a:p>
            <a:pPr>
              <a:spcBef>
                <a:spcPts val="400"/>
              </a:spcBef>
            </a:pPr>
            <a:r>
              <a:rPr sz="1400">
                <a:solidFill>
                  <a:srgbClr val="AEBBD9"/>
                </a:solidFill>
                <a:latin typeface="Segoe UI"/>
              </a:rPr>
              <a:t>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6c93aa2b82fecd83.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Martijn Boer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Arxitekturalarni qiyosiy tahlil qilish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Arxitekturalarni qiyosiy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Jadval umumiy qonuniyatni ko'rsatadi: ixtisoslashuv oshgan sari samaradorlik oshadi, moslashuvchanlik kamayadi.</a:t>
            </a:r>
          </a:p>
          <a:p>
            <a:pPr>
              <a:spcBef>
                <a:spcPts val="400"/>
              </a:spcBef>
            </a:pPr>
            <a:r>
              <a:rPr sz="1600">
                <a:solidFill>
                  <a:srgbClr val="AEBBD9"/>
                </a:solidFill>
                <a:latin typeface="Segoe UI"/>
              </a:rPr>
              <a:t>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Arxitekturalarni qiyosiy tahlil qilish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CPU</a:t>
                      </a:r>
                    </a:p>
                  </a:txBody>
                  <a:tcPr>
                    <a:solidFill>
                      <a:srgbClr val="1C2755"/>
                    </a:solidFill>
                  </a:tcPr>
                </a:tc>
                <a:tc>
                  <a:txBody>
                    <a:bodyPr/>
                    <a:lstStyle/>
                    <a:p>
                      <a:r>
                        <a:rPr sz="1200" b="1">
                          <a:solidFill>
                            <a:srgbClr val="22D3EE"/>
                          </a:solidFill>
                          <a:latin typeface="Segoe UI"/>
                        </a:rPr>
                        <a:t>GPU</a:t>
                      </a:r>
                    </a:p>
                  </a:txBody>
                  <a:tcPr>
                    <a:solidFill>
                      <a:srgbClr val="1C2755"/>
                    </a:solidFill>
                  </a:tcPr>
                </a:tc>
                <a:tc>
                  <a:txBody>
                    <a:bodyPr/>
                    <a:lstStyle/>
                    <a:p>
                      <a:r>
                        <a:rPr sz="1200" b="1">
                          <a:solidFill>
                            <a:srgbClr val="22D3EE"/>
                          </a:solidFill>
                          <a:latin typeface="Segoe UI"/>
                        </a:rPr>
                        <a:t>TPU (ASIC)</a:t>
                      </a:r>
                    </a:p>
                  </a:txBody>
                  <a:tcPr>
                    <a:solidFill>
                      <a:srgbClr val="1C2755"/>
                    </a:solidFill>
                  </a:tcPr>
                </a:tc>
                <a:tc>
                  <a:txBody>
                    <a:bodyPr/>
                    <a:lstStyle/>
                    <a:p>
                      <a:r>
                        <a:rPr sz="1200" b="1">
                          <a:solidFill>
                            <a:srgbClr val="22D3EE"/>
                          </a:solidFill>
                          <a:latin typeface="Segoe UI"/>
                        </a:rPr>
                        <a:t>NPU (SoC)</a:t>
                      </a:r>
                    </a:p>
                  </a:txBody>
                  <a:tcPr>
                    <a:solidFill>
                      <a:srgbClr val="1C2755"/>
                    </a:solidFill>
                  </a:tcPr>
                </a:tc>
                <a:tc>
                  <a:txBody>
                    <a:bodyPr/>
                    <a:lstStyle/>
                    <a:p>
                      <a:r>
                        <a:rPr sz="1200" b="1">
                          <a:solidFill>
                            <a:srgbClr val="22D3EE"/>
                          </a:solidFill>
                          <a:latin typeface="Segoe UI"/>
                        </a:rPr>
                        <a:t>FPGA</a:t>
                      </a:r>
                    </a:p>
                  </a:txBody>
                  <a:tcPr>
                    <a:solidFill>
                      <a:srgbClr val="1C2755"/>
                    </a:solidFill>
                  </a:tcPr>
                </a:tc>
              </a:tr>
              <a:tr h="520000">
                <a:tc>
                  <a:txBody>
                    <a:bodyPr/>
                    <a:lstStyle/>
                    <a:p>
                      <a:r>
                        <a:rPr sz="1200" b="0">
                          <a:solidFill>
                            <a:srgbClr val="E8EEFA"/>
                          </a:solidFill>
                          <a:latin typeface="Segoe UI"/>
                        </a:rPr>
                        <a:t>Parallellik modeli</a:t>
                      </a:r>
                    </a:p>
                  </a:txBody>
                  <a:tcPr>
                    <a:solidFill>
                      <a:srgbClr val="111834"/>
                    </a:solidFill>
                  </a:tcPr>
                </a:tc>
                <a:tc>
                  <a:txBody>
                    <a:bodyPr/>
                    <a:lstStyle/>
                    <a:p>
                      <a:r>
                        <a:rPr sz="1200" b="0">
                          <a:solidFill>
                            <a:srgbClr val="E8EEFA"/>
                          </a:solidFill>
                          <a:latin typeface="Segoe UI"/>
                        </a:rPr>
                        <a:t>Ko'p yadro + SIMD/AMX</a:t>
                      </a:r>
                    </a:p>
                  </a:txBody>
                  <a:tcPr>
                    <a:solidFill>
                      <a:srgbClr val="111834"/>
                    </a:solidFill>
                  </a:tcPr>
                </a:tc>
                <a:tc>
                  <a:txBody>
                    <a:bodyPr/>
                    <a:lstStyle/>
                    <a:p>
                      <a:r>
                        <a:rPr sz="1200" b="0">
                          <a:solidFill>
                            <a:srgbClr val="E8EEFA"/>
                          </a:solidFill>
                          <a:latin typeface="Segoe UI"/>
                        </a:rPr>
                        <a:t>SIMT, minglab oqim</a:t>
                      </a:r>
                    </a:p>
                  </a:txBody>
                  <a:tcPr>
                    <a:solidFill>
                      <a:srgbClr val="111834"/>
                    </a:solidFill>
                  </a:tcPr>
                </a:tc>
                <a:tc>
                  <a:txBody>
                    <a:bodyPr/>
                    <a:lstStyle/>
                    <a:p>
                      <a:r>
                        <a:rPr sz="1200" b="0">
                          <a:solidFill>
                            <a:srgbClr val="E8EEFA"/>
                          </a:solidFill>
                          <a:latin typeface="Segoe UI"/>
                        </a:rPr>
                        <a:t>Sistolik massiv, kompilyator rejalashtiradi</a:t>
                      </a:r>
                    </a:p>
                  </a:txBody>
                  <a:tcPr>
                    <a:solidFill>
                      <a:srgbClr val="111834"/>
                    </a:solidFill>
                  </a:tcPr>
                </a:tc>
                <a:tc>
                  <a:txBody>
                    <a:bodyPr/>
                    <a:lstStyle/>
                    <a:p>
                      <a:r>
                        <a:rPr sz="1200" b="0">
                          <a:solidFill>
                            <a:srgbClr val="E8EEFA"/>
                          </a:solidFill>
                          <a:latin typeface="Segoe UI"/>
                        </a:rPr>
                        <a:t>Kichik matritsa bloklari</a:t>
                      </a:r>
                    </a:p>
                  </a:txBody>
                  <a:tcPr>
                    <a:solidFill>
                      <a:srgbClr val="111834"/>
                    </a:solidFill>
                  </a:tcPr>
                </a:tc>
                <a:tc>
                  <a:txBody>
                    <a:bodyPr/>
                    <a:lstStyle/>
                    <a:p>
                      <a:r>
                        <a:rPr sz="1200" b="0">
                          <a:solidFill>
                            <a:srgbClr val="E8EEFA"/>
                          </a:solidFill>
                          <a:latin typeface="Segoe UI"/>
                        </a:rPr>
                        <a:t>Ixtiyoriy, dasturchi quradi</a:t>
                      </a:r>
                    </a:p>
                  </a:txBody>
                  <a:tcPr>
                    <a:solidFill>
                      <a:srgbClr val="111834"/>
                    </a:solidFill>
                  </a:tcPr>
                </a:tc>
              </a:tr>
              <a:tr h="520000">
                <a:tc>
                  <a:txBody>
                    <a:bodyPr/>
                    <a:lstStyle/>
                    <a:p>
                      <a:r>
                        <a:rPr sz="1200" b="0">
                          <a:solidFill>
                            <a:srgbClr val="E8EEFA"/>
                          </a:solidFill>
                          <a:latin typeface="Segoe UI"/>
                        </a:rPr>
                        <a:t>Tipik aniqlik</a:t>
                      </a:r>
                    </a:p>
                  </a:txBody>
                  <a:tcPr>
                    <a:solidFill>
                      <a:srgbClr val="161F40"/>
                    </a:solidFill>
                  </a:tcPr>
                </a:tc>
                <a:tc>
                  <a:txBody>
                    <a:bodyPr/>
                    <a:lstStyle/>
                    <a:p>
                      <a:r>
                        <a:rPr sz="1200" b="0">
                          <a:solidFill>
                            <a:srgbClr val="E8EEFA"/>
                          </a:solidFill>
                          <a:latin typeface="Segoe UI"/>
                        </a:rPr>
                        <a:t>FP64/FP32/BF16/INT8</a:t>
                      </a:r>
                    </a:p>
                  </a:txBody>
                  <a:tcPr>
                    <a:solidFill>
                      <a:srgbClr val="161F40"/>
                    </a:solidFill>
                  </a:tcPr>
                </a:tc>
                <a:tc>
                  <a:txBody>
                    <a:bodyPr/>
                    <a:lstStyle/>
                    <a:p>
                      <a:r>
                        <a:rPr sz="1200" b="0">
                          <a:solidFill>
                            <a:srgbClr val="E8EEFA"/>
                          </a:solidFill>
                          <a:latin typeface="Segoe UI"/>
                        </a:rPr>
                        <a:t>FP64…FP8/INT8</a:t>
                      </a:r>
                    </a:p>
                  </a:txBody>
                  <a:tcPr>
                    <a:solidFill>
                      <a:srgbClr val="161F40"/>
                    </a:solidFill>
                  </a:tcPr>
                </a:tc>
                <a:tc>
                  <a:txBody>
                    <a:bodyPr/>
                    <a:lstStyle/>
                    <a:p>
                      <a:r>
                        <a:rPr sz="1200" b="0">
                          <a:solidFill>
                            <a:srgbClr val="E8EEFA"/>
                          </a:solidFill>
                          <a:latin typeface="Segoe UI"/>
                        </a:rPr>
                        <a:t>BF16/INT8</a:t>
                      </a:r>
                    </a:p>
                  </a:txBody>
                  <a:tcPr>
                    <a:solidFill>
                      <a:srgbClr val="161F40"/>
                    </a:solidFill>
                  </a:tcPr>
                </a:tc>
                <a:tc>
                  <a:txBody>
                    <a:bodyPr/>
                    <a:lstStyle/>
                    <a:p>
                      <a:r>
                        <a:rPr sz="1200" b="0">
                          <a:solidFill>
                            <a:srgbClr val="E8EEFA"/>
                          </a:solidFill>
                          <a:latin typeface="Segoe UI"/>
                        </a:rPr>
                        <a:t>INT8/INT4/FP16</a:t>
                      </a:r>
                    </a:p>
                  </a:txBody>
                  <a:tcPr>
                    <a:solidFill>
                      <a:srgbClr val="161F40"/>
                    </a:solidFill>
                  </a:tcPr>
                </a:tc>
                <a:tc>
                  <a:txBody>
                    <a:bodyPr/>
                    <a:lstStyle/>
                    <a:p>
                      <a:r>
                        <a:rPr sz="1200" b="0">
                          <a:solidFill>
                            <a:srgbClr val="E8EEFA"/>
                          </a:solidFill>
                          <a:latin typeface="Segoe UI"/>
                        </a:rPr>
                        <a:t>Ixtiyoriy (1–32 bit)</a:t>
                      </a:r>
                    </a:p>
                  </a:txBody>
                  <a:tcPr>
                    <a:solidFill>
                      <a:srgbClr val="161F40"/>
                    </a:solidFill>
                  </a:tcPr>
                </a:tc>
              </a:tr>
              <a:tr h="520000">
                <a:tc>
                  <a:txBody>
                    <a:bodyPr/>
                    <a:lstStyle/>
                    <a:p>
                      <a:r>
                        <a:rPr sz="1200" b="0">
                          <a:solidFill>
                            <a:srgbClr val="E8EEFA"/>
                          </a:solidFill>
                          <a:latin typeface="Segoe UI"/>
                        </a:rPr>
                        <a:t>Xotira o'tkazuvchanligi</a:t>
                      </a:r>
                    </a:p>
                  </a:txBody>
                  <a:tcPr>
                    <a:solidFill>
                      <a:srgbClr val="111834"/>
                    </a:solidFill>
                  </a:tcPr>
                </a:tc>
                <a:tc>
                  <a:txBody>
                    <a:bodyPr/>
                    <a:lstStyle/>
                    <a:p>
                      <a:r>
                        <a:rPr sz="1200" b="0">
                          <a:solidFill>
                            <a:srgbClr val="E8EEFA"/>
                          </a:solidFill>
                          <a:latin typeface="Segoe UI"/>
                        </a:rPr>
                        <a:t>0,3–0,5 TB/s (DDR5)</a:t>
                      </a:r>
                    </a:p>
                  </a:txBody>
                  <a:tcPr>
                    <a:solidFill>
                      <a:srgbClr val="111834"/>
                    </a:solidFill>
                  </a:tcPr>
                </a:tc>
                <a:tc>
                  <a:txBody>
                    <a:bodyPr/>
                    <a:lstStyle/>
                    <a:p>
                      <a:r>
                        <a:rPr sz="1200" b="0">
                          <a:solidFill>
                            <a:srgbClr val="E8EEFA"/>
                          </a:solidFill>
                          <a:latin typeface="Segoe UI"/>
                        </a:rPr>
                        <a:t>2–8 TB/s (HBM)</a:t>
                      </a:r>
                    </a:p>
                  </a:txBody>
                  <a:tcPr>
                    <a:solidFill>
                      <a:srgbClr val="111834"/>
                    </a:solidFill>
                  </a:tcPr>
                </a:tc>
                <a:tc>
                  <a:txBody>
                    <a:bodyPr/>
                    <a:lstStyle/>
                    <a:p>
                      <a:r>
                        <a:rPr sz="1200" b="0">
                          <a:solidFill>
                            <a:srgbClr val="E8EEFA"/>
                          </a:solidFill>
                          <a:latin typeface="Segoe UI"/>
                        </a:rPr>
                        <a:t>0,8–2,8 TB/s (HBM)</a:t>
                      </a:r>
                    </a:p>
                  </a:txBody>
                  <a:tcPr>
                    <a:solidFill>
                      <a:srgbClr val="111834"/>
                    </a:solidFill>
                  </a:tcPr>
                </a:tc>
                <a:tc>
                  <a:txBody>
                    <a:bodyPr/>
                    <a:lstStyle/>
                    <a:p>
                      <a:r>
                        <a:rPr sz="1200" b="0">
                          <a:solidFill>
                            <a:srgbClr val="E8EEFA"/>
                          </a:solidFill>
                          <a:latin typeface="Segoe UI"/>
                        </a:rPr>
                        <a:t>0,05–0,2 TB/s (LPDDR)</a:t>
                      </a:r>
                    </a:p>
                  </a:txBody>
                  <a:tcPr>
                    <a:solidFill>
                      <a:srgbClr val="111834"/>
                    </a:solidFill>
                  </a:tcPr>
                </a:tc>
                <a:tc>
                  <a:txBody>
                    <a:bodyPr/>
                    <a:lstStyle/>
                    <a:p>
                      <a:r>
                        <a:rPr sz="1200" b="0">
                          <a:solidFill>
                            <a:srgbClr val="E8EEFA"/>
                          </a:solidFill>
                          <a:latin typeface="Segoe UI"/>
                        </a:rPr>
                        <a:t>On-chip BRAM + DDR</a:t>
                      </a:r>
                    </a:p>
                  </a:txBody>
                  <a:tcPr>
                    <a:solidFill>
                      <a:srgbClr val="111834"/>
                    </a:solidFill>
                  </a:tcPr>
                </a:tc>
              </a:tr>
              <a:tr h="520000">
                <a:tc>
                  <a:txBody>
                    <a:bodyPr/>
                    <a:lstStyle/>
                    <a:p>
                      <a:r>
                        <a:rPr sz="1200" b="0">
                          <a:solidFill>
                            <a:srgbClr val="E8EEFA"/>
                          </a:solidFill>
                          <a:latin typeface="Segoe UI"/>
                        </a:rPr>
                        <a:t>Dasturlanuvchanlik</a:t>
                      </a:r>
                    </a:p>
                  </a:txBody>
                  <a:tcPr>
                    <a:solidFill>
                      <a:srgbClr val="161F40"/>
                    </a:solidFill>
                  </a:tcPr>
                </a:tc>
                <a:tc>
                  <a:txBody>
                    <a:bodyPr/>
                    <a:lstStyle/>
                    <a:p>
                      <a:r>
                        <a:rPr sz="1200" b="0">
                          <a:solidFill>
                            <a:srgbClr val="E8EEFA"/>
                          </a:solidFill>
                          <a:latin typeface="Segoe UI"/>
                        </a:rPr>
                        <a:t>Eng yuqori</a:t>
                      </a:r>
                    </a:p>
                  </a:txBody>
                  <a:tcPr>
                    <a:solidFill>
                      <a:srgbClr val="161F40"/>
                    </a:solidFill>
                  </a:tcPr>
                </a:tc>
                <a:tc>
                  <a:txBody>
                    <a:bodyPr/>
                    <a:lstStyle/>
                    <a:p>
                      <a:r>
                        <a:rPr sz="1200" b="0">
                          <a:solidFill>
                            <a:srgbClr val="E8EEFA"/>
                          </a:solidFill>
                          <a:latin typeface="Segoe UI"/>
                        </a:rPr>
                        <a:t>Yuqori (CUDA, ROCm)</a:t>
                      </a:r>
                    </a:p>
                  </a:txBody>
                  <a:tcPr>
                    <a:solidFill>
                      <a:srgbClr val="161F40"/>
                    </a:solidFill>
                  </a:tcPr>
                </a:tc>
                <a:tc>
                  <a:txBody>
                    <a:bodyPr/>
                    <a:lstStyle/>
                    <a:p>
                      <a:r>
                        <a:rPr sz="1200" b="0">
                          <a:solidFill>
                            <a:srgbClr val="E8EEFA"/>
                          </a:solidFill>
                          <a:latin typeface="Segoe UI"/>
                        </a:rPr>
                        <a:t>Kompilyator orqali (XLA)</a:t>
                      </a:r>
                    </a:p>
                  </a:txBody>
                  <a:tcPr>
                    <a:solidFill>
                      <a:srgbClr val="161F40"/>
                    </a:solidFill>
                  </a:tcPr>
                </a:tc>
                <a:tc>
                  <a:txBody>
                    <a:bodyPr/>
                    <a:lstStyle/>
                    <a:p>
                      <a:r>
                        <a:rPr sz="1200" b="0">
                          <a:solidFill>
                            <a:srgbClr val="E8EEFA"/>
                          </a:solidFill>
                          <a:latin typeface="Segoe UI"/>
                        </a:rPr>
                        <a:t>Faqat SDK</a:t>
                      </a:r>
                    </a:p>
                  </a:txBody>
                  <a:tcPr>
                    <a:solidFill>
                      <a:srgbClr val="161F40"/>
                    </a:solidFill>
                  </a:tcPr>
                </a:tc>
                <a:tc>
                  <a:txBody>
                    <a:bodyPr/>
                    <a:lstStyle/>
                    <a:p>
                      <a:r>
                        <a:rPr sz="1200" b="0">
                          <a:solidFill>
                            <a:srgbClr val="E8EEFA"/>
                          </a:solidFill>
                          <a:latin typeface="Segoe UI"/>
                        </a:rPr>
                        <a:t>Past (HDL/HLS)</a:t>
                      </a:r>
                    </a:p>
                  </a:txBody>
                  <a:tcPr>
                    <a:solidFill>
                      <a:srgbClr val="161F40"/>
                    </a:solidFill>
                  </a:tcPr>
                </a:tc>
              </a:tr>
              <a:tr h="520000">
                <a:tc>
                  <a:txBody>
                    <a:bodyPr/>
                    <a:lstStyle/>
                    <a:p>
                      <a:r>
                        <a:rPr sz="1200" b="0">
                          <a:solidFill>
                            <a:srgbClr val="E8EEFA"/>
                          </a:solidFill>
                          <a:latin typeface="Segoe UI"/>
                        </a:rPr>
                        <a:t>Energiya samaradorligi</a:t>
                      </a:r>
                    </a:p>
                  </a:txBody>
                  <a:tcPr>
                    <a:solidFill>
                      <a:srgbClr val="111834"/>
                    </a:solidFill>
                  </a:tcPr>
                </a:tc>
                <a:tc>
                  <a:txBody>
                    <a:bodyPr/>
                    <a:lstStyle/>
                    <a:p>
                      <a:r>
                        <a:rPr sz="1200" b="0">
                          <a:solidFill>
                            <a:srgbClr val="E8EEFA"/>
                          </a:solidFill>
                          <a:latin typeface="Segoe UI"/>
                        </a:rPr>
                        <a:t>Past</a:t>
                      </a:r>
                    </a:p>
                  </a:txBody>
                  <a:tcPr>
                    <a:solidFill>
                      <a:srgbClr val="111834"/>
                    </a:solidFill>
                  </a:tcPr>
                </a:tc>
                <a:tc>
                  <a:txBody>
                    <a:bodyPr/>
                    <a:lstStyle/>
                    <a:p>
                      <a:r>
                        <a:rPr sz="1200" b="0">
                          <a:solidFill>
                            <a:srgbClr val="E8EEFA"/>
                          </a:solidFill>
                          <a:latin typeface="Segoe UI"/>
                        </a:rPr>
                        <a:t>O'rta</a:t>
                      </a:r>
                    </a:p>
                  </a:txBody>
                  <a:tcPr>
                    <a:solidFill>
                      <a:srgbClr val="111834"/>
                    </a:solidFill>
                  </a:tcPr>
                </a:tc>
                <a:tc>
                  <a:txBody>
                    <a:bodyPr/>
                    <a:lstStyle/>
                    <a:p>
                      <a:r>
                        <a:rPr sz="1200" b="0">
                          <a:solidFill>
                            <a:srgbClr val="E8EEFA"/>
                          </a:solidFill>
                          <a:latin typeface="Segoe UI"/>
                        </a:rPr>
                        <a:t>Yuqori</a:t>
                      </a:r>
                    </a:p>
                  </a:txBody>
                  <a:tcPr>
                    <a:solidFill>
                      <a:srgbClr val="111834"/>
                    </a:solidFill>
                  </a:tcPr>
                </a:tc>
                <a:tc>
                  <a:txBody>
                    <a:bodyPr/>
                    <a:lstStyle/>
                    <a:p>
                      <a:r>
                        <a:rPr sz="1200" b="0">
                          <a:solidFill>
                            <a:srgbClr val="E8EEFA"/>
                          </a:solidFill>
                          <a:latin typeface="Segoe UI"/>
                        </a:rPr>
                        <a:t>Juda yuqori (vatt boshiga)</a:t>
                      </a:r>
                    </a:p>
                  </a:txBody>
                  <a:tcPr>
                    <a:solidFill>
                      <a:srgbClr val="111834"/>
                    </a:solidFill>
                  </a:tcPr>
                </a:tc>
                <a:tc>
                  <a:txBody>
                    <a:bodyPr/>
                    <a:lstStyle/>
                    <a:p>
                      <a:r>
                        <a:rPr sz="1200" b="0">
                          <a:solidFill>
                            <a:srgbClr val="E8EEFA"/>
                          </a:solidFill>
                          <a:latin typeface="Segoe UI"/>
                        </a:rPr>
                        <a:t>Yuqori, ASIC dan past</a:t>
                      </a:r>
                    </a:p>
                  </a:txBody>
                  <a:tcPr>
                    <a:solidFill>
                      <a:srgbClr val="111834"/>
                    </a:solidFill>
                  </a:tcPr>
                </a:tc>
              </a:tr>
              <a:tr h="520000">
                <a:tc>
                  <a:txBody>
                    <a:bodyPr/>
                    <a:lstStyle/>
                    <a:p>
                      <a:r>
                        <a:rPr sz="1200" b="0">
                          <a:solidFill>
                            <a:srgbClr val="E8EEFA"/>
                          </a:solidFill>
                          <a:latin typeface="Segoe UI"/>
                        </a:rPr>
                        <a:t>Kechikish (kichik paket)</a:t>
                      </a:r>
                    </a:p>
                  </a:txBody>
                  <a:tcPr>
                    <a:solidFill>
                      <a:srgbClr val="161F40"/>
                    </a:solidFill>
                  </a:tcPr>
                </a:tc>
                <a:tc>
                  <a:txBody>
                    <a:bodyPr/>
                    <a:lstStyle/>
                    <a:p>
                      <a:r>
                        <a:rPr sz="1200" b="0">
                          <a:solidFill>
                            <a:srgbClr val="E8EEFA"/>
                          </a:solidFill>
                          <a:latin typeface="Segoe UI"/>
                        </a:rPr>
                        <a:t>Yaxshi</a:t>
                      </a:r>
                    </a:p>
                  </a:txBody>
                  <a:tcPr>
                    <a:solidFill>
                      <a:srgbClr val="161F40"/>
                    </a:solidFill>
                  </a:tcPr>
                </a:tc>
                <a:tc>
                  <a:txBody>
                    <a:bodyPr/>
                    <a:lstStyle/>
                    <a:p>
                      <a:r>
                        <a:rPr sz="1200" b="0">
                          <a:solidFill>
                            <a:srgbClr val="E8EEFA"/>
                          </a:solidFill>
                          <a:latin typeface="Segoe UI"/>
                        </a:rPr>
                        <a:t>O'rta (ishga tushirish xarajati)</a:t>
                      </a:r>
                    </a:p>
                  </a:txBody>
                  <a:tcPr>
                    <a:solidFill>
                      <a:srgbClr val="161F40"/>
                    </a:solidFill>
                  </a:tcPr>
                </a:tc>
                <a:tc>
                  <a:txBody>
                    <a:bodyPr/>
                    <a:lstStyle/>
                    <a:p>
                      <a:r>
                        <a:rPr sz="1200" b="0">
                          <a:solidFill>
                            <a:srgbClr val="E8EEFA"/>
                          </a:solidFill>
                          <a:latin typeface="Segoe UI"/>
                        </a:rPr>
                        <a:t>O'rta</a:t>
                      </a:r>
                    </a:p>
                  </a:txBody>
                  <a:tcPr>
                    <a:solidFill>
                      <a:srgbClr val="161F40"/>
                    </a:solidFill>
                  </a:tcPr>
                </a:tc>
                <a:tc>
                  <a:txBody>
                    <a:bodyPr/>
                    <a:lstStyle/>
                    <a:p>
                      <a:r>
                        <a:rPr sz="1200" b="0">
                          <a:solidFill>
                            <a:srgbClr val="E8EEFA"/>
                          </a:solidFill>
                          <a:latin typeface="Segoe UI"/>
                        </a:rPr>
                        <a:t>Yaxshi</a:t>
                      </a:r>
                    </a:p>
                  </a:txBody>
                  <a:tcPr>
                    <a:solidFill>
                      <a:srgbClr val="161F40"/>
                    </a:solidFill>
                  </a:tcPr>
                </a:tc>
                <a:tc>
                  <a:txBody>
                    <a:bodyPr/>
                    <a:lstStyle/>
                    <a:p>
                      <a:r>
                        <a:rPr sz="1200" b="0">
                          <a:solidFill>
                            <a:srgbClr val="E8EEFA"/>
                          </a:solidFill>
                          <a:latin typeface="Segoe UI"/>
                        </a:rPr>
                        <a:t>Eng yaxshi, deterministik</a:t>
                      </a:r>
                    </a:p>
                  </a:txBody>
                  <a:tcPr>
                    <a:solidFill>
                      <a:srgbClr val="161F40"/>
                    </a:solidFill>
                  </a:tcPr>
                </a:tc>
              </a:tr>
              <a:tr h="520000">
                <a:tc>
                  <a:txBody>
                    <a:bodyPr/>
                    <a:lstStyle/>
                    <a:p>
                      <a:r>
                        <a:rPr sz="1200" b="0">
                          <a:solidFill>
                            <a:srgbClr val="E8EEFA"/>
                          </a:solidFill>
                          <a:latin typeface="Segoe UI"/>
                        </a:rPr>
                        <a:t>Masshtab</a:t>
                      </a:r>
                    </a:p>
                  </a:txBody>
                  <a:tcPr>
                    <a:solidFill>
                      <a:srgbClr val="111834"/>
                    </a:solidFill>
                  </a:tcPr>
                </a:tc>
                <a:tc>
                  <a:txBody>
                    <a:bodyPr/>
                    <a:lstStyle/>
                    <a:p>
                      <a:r>
                        <a:rPr sz="1200" b="0">
                          <a:solidFill>
                            <a:srgbClr val="E8EEFA"/>
                          </a:solidFill>
                          <a:latin typeface="Segoe UI"/>
                        </a:rPr>
                        <a:t>1–8 soket</a:t>
                      </a:r>
                    </a:p>
                  </a:txBody>
                  <a:tcPr>
                    <a:solidFill>
                      <a:srgbClr val="111834"/>
                    </a:solidFill>
                  </a:tcPr>
                </a:tc>
                <a:tc>
                  <a:txBody>
                    <a:bodyPr/>
                    <a:lstStyle/>
                    <a:p>
                      <a:r>
                        <a:rPr sz="1200" b="0">
                          <a:solidFill>
                            <a:srgbClr val="E8EEFA"/>
                          </a:solidFill>
                          <a:latin typeface="Segoe UI"/>
                        </a:rPr>
                        <a:t>8 GPU/server, minglab GPU klaster</a:t>
                      </a:r>
                    </a:p>
                  </a:txBody>
                  <a:tcPr>
                    <a:solidFill>
                      <a:srgbClr val="111834"/>
                    </a:solidFill>
                  </a:tcPr>
                </a:tc>
                <a:tc>
                  <a:txBody>
                    <a:bodyPr/>
                    <a:lstStyle/>
                    <a:p>
                      <a:r>
                        <a:rPr sz="1200" b="0">
                          <a:solidFill>
                            <a:srgbClr val="E8EEFA"/>
                          </a:solidFill>
                          <a:latin typeface="Segoe UI"/>
                        </a:rPr>
                        <a:t>4 096–9 000 chip/pod</a:t>
                      </a:r>
                    </a:p>
                  </a:txBody>
                  <a:tcPr>
                    <a:solidFill>
                      <a:srgbClr val="111834"/>
                    </a:solidFill>
                  </a:tcPr>
                </a:tc>
                <a:tc>
                  <a:txBody>
                    <a:bodyPr/>
                    <a:lstStyle/>
                    <a:p>
                      <a:r>
                        <a:rPr sz="1200" b="0">
                          <a:solidFill>
                            <a:srgbClr val="E8EEFA"/>
                          </a:solidFill>
                          <a:latin typeface="Segoe UI"/>
                        </a:rPr>
                        <a:t>Bitta qurilma</a:t>
                      </a:r>
                    </a:p>
                  </a:txBody>
                  <a:tcPr>
                    <a:solidFill>
                      <a:srgbClr val="111834"/>
                    </a:solidFill>
                  </a:tcPr>
                </a:tc>
                <a:tc>
                  <a:txBody>
                    <a:bodyPr/>
                    <a:lstStyle/>
                    <a:p>
                      <a:r>
                        <a:rPr sz="1200" b="0">
                          <a:solidFill>
                            <a:srgbClr val="E8EEFA"/>
                          </a:solidFill>
                          <a:latin typeface="Segoe UI"/>
                        </a:rPr>
                        <a:t>1–bir necha karta</a:t>
                      </a:r>
                    </a:p>
                  </a:txBody>
                  <a:tcPr>
                    <a:solidFill>
                      <a:srgbClr val="111834"/>
                    </a:solidFill>
                  </a:tcPr>
                </a:tc>
              </a:tr>
              <a:tr h="520000">
                <a:tc>
                  <a:txBody>
                    <a:bodyPr/>
                    <a:lstStyle/>
                    <a:p>
                      <a:r>
                        <a:rPr sz="1200" b="0">
                          <a:solidFill>
                            <a:srgbClr val="E8EEFA"/>
                          </a:solidFill>
                          <a:latin typeface="Segoe UI"/>
                        </a:rPr>
                        <a:t>Asosiy soha</a:t>
                      </a:r>
                    </a:p>
                  </a:txBody>
                  <a:tcPr>
                    <a:solidFill>
                      <a:srgbClr val="161F40"/>
                    </a:solidFill>
                  </a:tcPr>
                </a:tc>
                <a:tc>
                  <a:txBody>
                    <a:bodyPr/>
                    <a:lstStyle/>
                    <a:p>
                      <a:r>
                        <a:rPr sz="1200" b="0">
                          <a:solidFill>
                            <a:srgbClr val="E8EEFA"/>
                          </a:solidFill>
                          <a:latin typeface="Segoe UI"/>
                        </a:rPr>
                        <a:t>Tayyorlash, orkestratsiya, kichik inferens</a:t>
                      </a:r>
                    </a:p>
                  </a:txBody>
                  <a:tcPr>
                    <a:solidFill>
                      <a:srgbClr val="161F40"/>
                    </a:solidFill>
                  </a:tcPr>
                </a:tc>
                <a:tc>
                  <a:txBody>
                    <a:bodyPr/>
                    <a:lstStyle/>
                    <a:p>
                      <a:r>
                        <a:rPr sz="1200" b="0">
                          <a:solidFill>
                            <a:srgbClr val="E8EEFA"/>
                          </a:solidFill>
                          <a:latin typeface="Segoe UI"/>
                        </a:rPr>
                        <a:t>O'qitish, katta inferens</a:t>
                      </a:r>
                    </a:p>
                  </a:txBody>
                  <a:tcPr>
                    <a:solidFill>
                      <a:srgbClr val="161F40"/>
                    </a:solidFill>
                  </a:tcPr>
                </a:tc>
                <a:tc>
                  <a:txBody>
                    <a:bodyPr/>
                    <a:lstStyle/>
                    <a:p>
                      <a:r>
                        <a:rPr sz="1200" b="0">
                          <a:solidFill>
                            <a:srgbClr val="E8EEFA"/>
                          </a:solidFill>
                          <a:latin typeface="Segoe UI"/>
                        </a:rPr>
                        <a:t>Bulutda o'qitish/inferens</a:t>
                      </a:r>
                    </a:p>
                  </a:txBody>
                  <a:tcPr>
                    <a:solidFill>
                      <a:srgbClr val="161F40"/>
                    </a:solidFill>
                  </a:tcPr>
                </a:tc>
                <a:tc>
                  <a:txBody>
                    <a:bodyPr/>
                    <a:lstStyle/>
                    <a:p>
                      <a:r>
                        <a:rPr sz="1200" b="0">
                          <a:solidFill>
                            <a:srgbClr val="E8EEFA"/>
                          </a:solidFill>
                          <a:latin typeface="Segoe UI"/>
                        </a:rPr>
                        <a:t>Telefon, noutbuk, avtomobil</a:t>
                      </a:r>
                    </a:p>
                  </a:txBody>
                  <a:tcPr>
                    <a:solidFill>
                      <a:srgbClr val="161F40"/>
                    </a:solidFill>
                  </a:tcPr>
                </a:tc>
                <a:tc>
                  <a:txBody>
                    <a:bodyPr/>
                    <a:lstStyle/>
                    <a:p>
                      <a:r>
                        <a:rPr sz="1200" b="0">
                          <a:solidFill>
                            <a:srgbClr val="E8EEFA"/>
                          </a:solidFill>
                          <a:latin typeface="Segoe UI"/>
                        </a:rPr>
                        <a:t>Sanoat, tarmoq, real vaqt</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07c90ebf62c7ca6c.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Мой Компьютер · Wikimedia Commons · CC BY 3.0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07</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Geterogen hisoblash tizimlari</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Geterogen hisoblash tizimlari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3f824eafe067fe7.jpg"/>
          <p:cNvPicPr>
            <a:picLocks noChangeAspect="1"/>
          </p:cNvPicPr>
          <p:nvPr/>
        </p:nvPicPr>
        <p:blipFill>
          <a:blip r:embed="rId2"/>
          <a:srcRect l="31648" r="316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Popolon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726216"/>
            <a:ext cx="5900000" cy="2127568"/>
          </a:xfrm>
          <a:prstGeom prst="rect">
            <a:avLst/>
          </a:prstGeom>
          <a:noFill/>
        </p:spPr>
        <p:txBody>
          <a:bodyPr wrap="square" anchor="ctr">
            <a:spAutoFit/>
          </a:bodyPr>
          <a:lstStyle/>
          <a:p>
            <a:r>
              <a:rPr sz="1500" b="1">
                <a:solidFill>
                  <a:srgbClr val="E8EEFA"/>
                </a:solidFill>
                <a:latin typeface="Segoe UI"/>
              </a:rPr>
              <a:t>Geterogen tizim — turli arxitekturali protsessorlarni bir vazifa ustida birgalikda ishlatadigan tizim.</a:t>
            </a:r>
          </a:p>
          <a:p>
            <a:pPr>
              <a:spcBef>
                <a:spcPts val="400"/>
              </a:spcBef>
            </a:pPr>
            <a:r>
              <a:rPr sz="1400">
                <a:solidFill>
                  <a:srgbClr val="AEBBD9"/>
                </a:solidFill>
                <a:latin typeface="Segoe UI"/>
              </a:rPr>
              <a:t>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15" name="TextBox 14"/>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Geterogen hisoblash tizimlari</a:t>
            </a:r>
          </a:p>
        </p:txBody>
      </p:sp>
      <p:sp>
        <p:nvSpPr>
          <p:cNvPr id="16" name="Rectangle 15"/>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18" name="Rounded Rectangle 17"/>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19" name="Rounded Rectangle 18"/>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1" name="TextBox 20"/>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2" name="Rounded Rectangle 21"/>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3" name="Rounded Rectangle 22"/>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1842128"/>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54856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6" name="TextBox 25"/>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So'nggi yillarda birlashgan xotira (unified memory) yondashuvi kuchaydi.</a:t>
            </a:r>
          </a:p>
          <a:p>
            <a:pPr>
              <a:spcBef>
                <a:spcPts val="400"/>
              </a:spcBef>
            </a:pPr>
            <a:r>
              <a:rPr sz="1400">
                <a:solidFill>
                  <a:srgbClr val="AEBBD9"/>
                </a:solidFill>
                <a:latin typeface="Segoe UI"/>
              </a:rPr>
              <a:t>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a:t>
            </a:r>
          </a:p>
        </p:txBody>
      </p:sp>
      <p:sp>
        <p:nvSpPr>
          <p:cNvPr id="27" name="Rounded Rectangle 26"/>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925000"/>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463143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AMD MI300A esa 24 ta Zen 4 yadrosi va CDNA 3 GPU ni bitta paketda 128 GB umumiy HBM3 bilan birlashtiradi (bu chip El Capitan superkompyuterining asosi).</a:t>
            </a:r>
          </a:p>
          <a:p>
            <a:pPr>
              <a:spcBef>
                <a:spcPts val="400"/>
              </a:spcBef>
            </a:pPr>
            <a:r>
              <a:rPr sz="1400">
                <a:solidFill>
                  <a:srgbClr val="AEBBD9"/>
                </a:solidFill>
                <a:latin typeface="Segoe UI"/>
              </a:rPr>
              <a:t>Apple M-seriyali chiplarda CPU, GPU va NPU bir xil LPDDR xotiradan foydalanadi, bu esa modelni nusxalamasdan bloklar o'rtasida almashishga imkon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550"/>
                                        <p:tgtEl>
                                          <p:spTgt spid="15"/>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1" dur="800"/>
                                        <p:tgtEl>
                                          <p:spTgt spid="16"/>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50"/>
                                        <p:tgtEl>
                                          <p:spTgt spid="19"/>
                                        </p:tgtEl>
                                      </p:cBhvr>
                                    </p:animEffect>
                                    <p:anim calcmode="lin" valueType="num">
                                      <p:cBhvr additive="base">
                                        <p:cTn id="16" dur="550" fill="hold"/>
                                        <p:tgtEl>
                                          <p:spTgt spid="19"/>
                                        </p:tgtEl>
                                        <p:attrNameLst>
                                          <p:attrName>ppt_w</p:attrName>
                                        </p:attrNameLst>
                                      </p:cBhvr>
                                      <p:tavLst>
                                        <p:tav tm="0">
                                          <p:val>
                                            <p:strVal val="0"/>
                                          </p:val>
                                        </p:tav>
                                        <p:tav tm="100000">
                                          <p:val>
                                            <p:strVal val="#ppt_w"/>
                                          </p:val>
                                        </p:tav>
                                      </p:tavLst>
                                    </p:anim>
                                    <p:anim calcmode="lin" valueType="num">
                                      <p:cBhvr additive="base">
                                        <p:cTn id="17" dur="550" fill="hold"/>
                                        <p:tgtEl>
                                          <p:spTgt spid="19"/>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50"/>
                                        <p:tgtEl>
                                          <p:spTgt spid="20"/>
                                        </p:tgtEl>
                                      </p:cBhvr>
                                    </p:animEffect>
                                    <p:anim calcmode="lin" valueType="num">
                                      <p:cBhvr additive="base">
                                        <p:cTn id="22" dur="550" fill="hold"/>
                                        <p:tgtEl>
                                          <p:spTgt spid="20"/>
                                        </p:tgtEl>
                                        <p:attrNameLst>
                                          <p:attrName>ppt_w</p:attrName>
                                        </p:attrNameLst>
                                      </p:cBhvr>
                                      <p:tavLst>
                                        <p:tav tm="0">
                                          <p:val>
                                            <p:strVal val="0"/>
                                          </p:val>
                                        </p:tav>
                                        <p:tav tm="100000">
                                          <p:val>
                                            <p:strVal val="#ppt_w"/>
                                          </p:val>
                                        </p:tav>
                                      </p:tavLst>
                                    </p:anim>
                                    <p:anim calcmode="lin" valueType="num">
                                      <p:cBhvr additive="base">
                                        <p:cTn id="23" dur="550" fill="hold"/>
                                        <p:tgtEl>
                                          <p:spTgt spid="20"/>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50"/>
                                        <p:tgtEl>
                                          <p:spTgt spid="21"/>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50"/>
                                        <p:tgtEl>
                                          <p:spTgt spid="23"/>
                                        </p:tgtEl>
                                      </p:cBhvr>
                                    </p:animEffect>
                                    <p:anim calcmode="lin" valueType="num">
                                      <p:cBhvr additive="base">
                                        <p:cTn id="36" dur="550" fill="hold"/>
                                        <p:tgtEl>
                                          <p:spTgt spid="23"/>
                                        </p:tgtEl>
                                        <p:attrNameLst>
                                          <p:attrName>ppt_x</p:attrName>
                                        </p:attrNameLst>
                                      </p:cBhvr>
                                      <p:tavLst>
                                        <p:tav tm="0">
                                          <p:val>
                                            <p:strVal val="#ppt_x"/>
                                          </p:val>
                                        </p:tav>
                                        <p:tav tm="100000">
                                          <p:val>
                                            <p:strVal val="#ppt_x"/>
                                          </p:val>
                                        </p:tav>
                                      </p:tavLst>
                                    </p:anim>
                                    <p:anim calcmode="lin" valueType="num">
                                      <p:cBhvr additive="base">
                                        <p:cTn id="37" dur="550" fill="hold"/>
                                        <p:tgtEl>
                                          <p:spTgt spid="23"/>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50"/>
                                        <p:tgtEl>
                                          <p:spTgt spid="24"/>
                                        </p:tgtEl>
                                      </p:cBhvr>
                                    </p:animEffect>
                                    <p:anim calcmode="lin" valueType="num">
                                      <p:cBhvr additive="base">
                                        <p:cTn id="42" dur="550" fill="hold"/>
                                        <p:tgtEl>
                                          <p:spTgt spid="24"/>
                                        </p:tgtEl>
                                        <p:attrNameLst>
                                          <p:attrName>ppt_x</p:attrName>
                                        </p:attrNameLst>
                                      </p:cBhvr>
                                      <p:tavLst>
                                        <p:tav tm="0">
                                          <p:val>
                                            <p:strVal val="#ppt_x"/>
                                          </p:val>
                                        </p:tav>
                                        <p:tav tm="100000">
                                          <p:val>
                                            <p:strVal val="#ppt_x"/>
                                          </p:val>
                                        </p:tav>
                                      </p:tavLst>
                                    </p:anim>
                                    <p:anim calcmode="lin" valueType="num">
                                      <p:cBhvr additive="base">
                                        <p:cTn id="43" dur="550" fill="hold"/>
                                        <p:tgtEl>
                                          <p:spTgt spid="24"/>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50"/>
                                        <p:tgtEl>
                                          <p:spTgt spid="25"/>
                                        </p:tgtEl>
                                      </p:cBhvr>
                                    </p:animEffect>
                                    <p:anim calcmode="lin" valueType="num">
                                      <p:cBhvr additive="base">
                                        <p:cTn id="48" dur="550" fill="hold"/>
                                        <p:tgtEl>
                                          <p:spTgt spid="25"/>
                                        </p:tgtEl>
                                        <p:attrNameLst>
                                          <p:attrName>ppt_w</p:attrName>
                                        </p:attrNameLst>
                                      </p:cBhvr>
                                      <p:tavLst>
                                        <p:tav tm="0">
                                          <p:val>
                                            <p:strVal val="0"/>
                                          </p:val>
                                        </p:tav>
                                        <p:tav tm="100000">
                                          <p:val>
                                            <p:strVal val="#ppt_w"/>
                                          </p:val>
                                        </p:tav>
                                      </p:tavLst>
                                    </p:anim>
                                    <p:anim calcmode="lin" valueType="num">
                                      <p:cBhvr additive="base">
                                        <p:cTn id="49" dur="550" fill="hold"/>
                                        <p:tgtEl>
                                          <p:spTgt spid="25"/>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50"/>
                                        <p:tgtEl>
                                          <p:spTgt spid="26"/>
                                        </p:tgtEl>
                                      </p:cBhvr>
                                    </p:animEffect>
                                    <p:anim calcmode="lin" valueType="num">
                                      <p:cBhvr additive="base">
                                        <p:cTn id="54" dur="550" fill="hold"/>
                                        <p:tgtEl>
                                          <p:spTgt spid="26"/>
                                        </p:tgtEl>
                                        <p:attrNameLst>
                                          <p:attrName>ppt_x</p:attrName>
                                        </p:attrNameLst>
                                      </p:cBhvr>
                                      <p:tavLst>
                                        <p:tav tm="0">
                                          <p:val>
                                            <p:strVal val="#ppt_x"/>
                                          </p:val>
                                        </p:tav>
                                        <p:tav tm="100000">
                                          <p:val>
                                            <p:strVal val="#ppt_x"/>
                                          </p:val>
                                        </p:tav>
                                      </p:tavLst>
                                    </p:anim>
                                    <p:anim calcmode="lin" valueType="num">
                                      <p:cBhvr additive="base">
                                        <p:cTn id="55" dur="550" fill="hold"/>
                                        <p:tgtEl>
                                          <p:spTgt spid="26"/>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50"/>
                                        <p:tgtEl>
                                          <p:spTgt spid="27"/>
                                        </p:tgtEl>
                                      </p:cBhvr>
                                    </p:animEffect>
                                    <p:anim calcmode="lin" valueType="num">
                                      <p:cBhvr additive="base">
                                        <p:cTn id="60" dur="550" fill="hold"/>
                                        <p:tgtEl>
                                          <p:spTgt spid="27"/>
                                        </p:tgtEl>
                                        <p:attrNameLst>
                                          <p:attrName>ppt_x</p:attrName>
                                        </p:attrNameLst>
                                      </p:cBhvr>
                                      <p:tavLst>
                                        <p:tav tm="0">
                                          <p:val>
                                            <p:strVal val="#ppt_x"/>
                                          </p:val>
                                        </p:tav>
                                        <p:tav tm="100000">
                                          <p:val>
                                            <p:strVal val="#ppt_x"/>
                                          </p:val>
                                        </p:tav>
                                      </p:tavLst>
                                    </p:anim>
                                    <p:anim calcmode="lin" valueType="num">
                                      <p:cBhvr additive="base">
                                        <p:cTn id="61" dur="550" fill="hold"/>
                                        <p:tgtEl>
                                          <p:spTgt spid="27"/>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50"/>
                                        <p:tgtEl>
                                          <p:spTgt spid="28"/>
                                        </p:tgtEl>
                                      </p:cBhvr>
                                    </p:animEffect>
                                    <p:anim calcmode="lin" valueType="num">
                                      <p:cBhvr additive="base">
                                        <p:cTn id="66" dur="550" fill="hold"/>
                                        <p:tgtEl>
                                          <p:spTgt spid="28"/>
                                        </p:tgtEl>
                                        <p:attrNameLst>
                                          <p:attrName>ppt_x</p:attrName>
                                        </p:attrNameLst>
                                      </p:cBhvr>
                                      <p:tavLst>
                                        <p:tav tm="0">
                                          <p:val>
                                            <p:strVal val="#ppt_x"/>
                                          </p:val>
                                        </p:tav>
                                        <p:tav tm="100000">
                                          <p:val>
                                            <p:strVal val="#ppt_x"/>
                                          </p:val>
                                        </p:tav>
                                      </p:tavLst>
                                    </p:anim>
                                    <p:anim calcmode="lin" valueType="num">
                                      <p:cBhvr additive="base">
                                        <p:cTn id="67" dur="550" fill="hold"/>
                                        <p:tgtEl>
                                          <p:spTgt spid="28"/>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50"/>
                                        <p:tgtEl>
                                          <p:spTgt spid="29"/>
                                        </p:tgtEl>
                                      </p:cBhvr>
                                    </p:animEffect>
                                    <p:anim calcmode="lin" valueType="num">
                                      <p:cBhvr additive="base">
                                        <p:cTn id="72" dur="550" fill="hold"/>
                                        <p:tgtEl>
                                          <p:spTgt spid="29"/>
                                        </p:tgtEl>
                                        <p:attrNameLst>
                                          <p:attrName>ppt_w</p:attrName>
                                        </p:attrNameLst>
                                      </p:cBhvr>
                                      <p:tavLst>
                                        <p:tav tm="0">
                                          <p:val>
                                            <p:strVal val="0"/>
                                          </p:val>
                                        </p:tav>
                                        <p:tav tm="100000">
                                          <p:val>
                                            <p:strVal val="#ppt_w"/>
                                          </p:val>
                                        </p:tav>
                                      </p:tavLst>
                                    </p:anim>
                                    <p:anim calcmode="lin" valueType="num">
                                      <p:cBhvr additive="base">
                                        <p:cTn id="73" dur="550" fill="hold"/>
                                        <p:tgtEl>
                                          <p:spTgt spid="29"/>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550"/>
                                        <p:tgtEl>
                                          <p:spTgt spid="30"/>
                                        </p:tgtEl>
                                      </p:cBhvr>
                                    </p:animEffect>
                                    <p:anim calcmode="lin" valueType="num">
                                      <p:cBhvr additive="base">
                                        <p:cTn id="78" dur="550" fill="hold"/>
                                        <p:tgtEl>
                                          <p:spTgt spid="30"/>
                                        </p:tgtEl>
                                        <p:attrNameLst>
                                          <p:attrName>ppt_x</p:attrName>
                                        </p:attrNameLst>
                                      </p:cBhvr>
                                      <p:tavLst>
                                        <p:tav tm="0">
                                          <p:val>
                                            <p:strVal val="#ppt_x"/>
                                          </p:val>
                                        </p:tav>
                                        <p:tav tm="100000">
                                          <p:val>
                                            <p:strVal val="#ppt_x"/>
                                          </p:val>
                                        </p:tav>
                                      </p:tavLst>
                                    </p:anim>
                                    <p:anim calcmode="lin" valueType="num">
                                      <p:cBhvr additive="base">
                                        <p:cTn id="79"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2" grpId="0" animBg="1"/>
      <p:bldP spid="21"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Geterogen hisoblash tizimlari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Geterogen tizimni loyihalashda asosiy savol — vazifani kim bajaradi.</a:t>
            </a:r>
          </a:p>
          <a:p>
            <a:pPr>
              <a:spcBef>
                <a:spcPts val="400"/>
              </a:spcBef>
            </a:pPr>
            <a:r>
              <a:rPr sz="1600">
                <a:solidFill>
                  <a:srgbClr val="AEBBD9"/>
                </a:solidFill>
                <a:latin typeface="Segoe UI"/>
              </a:rPr>
              <a:t>Umumiy qoida: muntazam, katta hajmli, parallel hisob (matritsa, konvolyutsiya) — tezlatkichga; tarmoqlanishli, ketma-ket, tizim chaqiruvlari bilan bog'liq ish (fayl o'qish, dekodlash, tarmoq, mantiq) — CPU ga; kiritish-chiqarish bilan bog'liq doimiy quvur (paket tahlili, shifrlash) — DPU yoki FPGA 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21101a96eb0d69a.jpg"/>
          <p:cNvPicPr>
            <a:picLocks noChangeAspect="1"/>
          </p:cNvPicPr>
          <p:nvPr/>
        </p:nvPicPr>
        <p:blipFill>
          <a:blip r:embed="rId2"/>
          <a:srcRect l="6084" r="6084"/>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OLCF at ORNL · Wikimedia Commons · CC BY 2.0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08</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Zamonaviy AI serverlari va superkompyuterlar</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Standart AI o'qitish serveri 8 ta tezlatkichli konfiguratsiya atrofida shakllangan.</a:t>
            </a:r>
          </a:p>
          <a:p>
            <a:pPr>
              <a:spcBef>
                <a:spcPts val="400"/>
              </a:spcBef>
            </a:pPr>
            <a:r>
              <a:rPr sz="1400">
                <a:solidFill>
                  <a:srgbClr val="AEBBD9"/>
                </a:solidFill>
                <a:latin typeface="Segoe UI"/>
              </a:rPr>
              <a:t>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Serverlardan yuqorida klaster (tugunlar InfiniBand yoki RoCE Ethernet bilan ulanadi) va SuperPOD (NVIDIA da 32 DGX = 256 GPU asosiy birlik, «fat-tree» topologiya) turadi.</a:t>
            </a:r>
          </a:p>
          <a:p>
            <a:pPr>
              <a:spcBef>
                <a:spcPts val="400"/>
              </a:spcBef>
            </a:pPr>
            <a:r>
              <a:rPr sz="1600">
                <a:solidFill>
                  <a:srgbClr val="AEBBD9"/>
                </a:solidFill>
                <a:latin typeface="Segoe UI"/>
              </a:rPr>
              <a:t>Masshtab oshgan sari tor joy hisoblashdan tarmoqqa ko'chadi: 400 Gbit/s adapter sekundiga 50 GB uzatadi — bu GPU ichidagi HBM dan 70 baravar sekin. Shuning uchun taqsimlangan o'qitish algoritmlari (M3) aloqani hisoblash bilan ustma-ust qo'yishga qaratilgan.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741544"/>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982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Superkompyuterlar bu tamoyillarni eng katta miqyosda aks ettiradi.</a:t>
            </a:r>
          </a:p>
          <a:p>
            <a:pPr>
              <a:spcBef>
                <a:spcPts val="400"/>
              </a:spcBef>
            </a:pPr>
            <a:r>
              <a:rPr sz="1300">
                <a:solidFill>
                  <a:srgbClr val="AEBBD9"/>
                </a:solidFill>
                <a:latin typeface="Segoe UI"/>
              </a:rPr>
              <a:t>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a:t>
            </a:r>
          </a:p>
        </p:txBody>
      </p:sp>
      <p:sp>
        <p:nvSpPr>
          <p:cNvPr id="32" name="Rounded Rectangle 31"/>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817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5" name="TextBox 34"/>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Shu bilan birga sanoat AI superkompyuterlari paydo bo'ldi: NVIDIA Eos (576 DGX H100, 4 608 GPU), Meta ning ikkita 24 576 GPU li klasteri (2024), xAI Colossus (100 000 dan ortiq H100, 2024).</a:t>
            </a:r>
          </a:p>
          <a:p>
            <a:pPr>
              <a:spcBef>
                <a:spcPts val="400"/>
              </a:spcBef>
            </a:pPr>
            <a:r>
              <a:rPr sz="1300">
                <a:solidFill>
                  <a:srgbClr val="AEBBD9"/>
                </a:solidFill>
                <a:latin typeface="Segoe UI"/>
              </a:rPr>
              <a:t>Ularning HPC superkompyuterlaridan farqi — FP64 emas, FP16/FP8 unumdorlik ustuvor, demak «eksaflops» so'zi qaysi aniqlikda ekanini doim aniqlashtirish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6" name="Rectangle 95"/>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8" name="TextBox 97"/>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200"/>
                            </p:stCondLst>
                            <p:childTnLst>
                              <p:par>
                                <p:cTn id="372" presetID="53" presetClass="entr" presetSubtype="16"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anim calcmode="lin" valueType="num">
                                      <p:cBhvr additive="base">
                                        <p:cTn id="375" dur="550" fill="hold"/>
                                        <p:tgtEl>
                                          <p:spTgt spid="95"/>
                                        </p:tgtEl>
                                        <p:attrNameLst>
                                          <p:attrName>ppt_w</p:attrName>
                                        </p:attrNameLst>
                                      </p:cBhvr>
                                      <p:tavLst>
                                        <p:tav tm="0">
                                          <p:val>
                                            <p:strVal val="0"/>
                                          </p:val>
                                        </p:tav>
                                        <p:tav tm="100000">
                                          <p:val>
                                            <p:strVal val="#ppt_w"/>
                                          </p:val>
                                        </p:tav>
                                      </p:tavLst>
                                    </p:anim>
                                    <p:anim calcmode="lin" valueType="num">
                                      <p:cBhvr additive="base">
                                        <p:cTn id="376" dur="550" fill="hold"/>
                                        <p:tgtEl>
                                          <p:spTgt spid="95"/>
                                        </p:tgtEl>
                                        <p:attrNameLst>
                                          <p:attrName>ppt_h</p:attrName>
                                        </p:attrNameLst>
                                      </p:cBhvr>
                                      <p:tavLst>
                                        <p:tav tm="0">
                                          <p:val>
                                            <p:strVal val="0"/>
                                          </p:val>
                                        </p:tav>
                                        <p:tav tm="100000">
                                          <p:val>
                                            <p:strVal val="#ppt_h"/>
                                          </p:val>
                                        </p:tav>
                                      </p:tavLst>
                                    </p:anim>
                                  </p:childTnLst>
                                </p:cTn>
                              </p:par>
                            </p:childTnLst>
                          </p:cTn>
                        </p:par>
                        <p:par>
                          <p:cTn id="377" fill="hold">
                            <p:stCondLst>
                              <p:cond delay="350"/>
                            </p:stCondLst>
                            <p:childTnLst>
                              <p:par>
                                <p:cTn id="378" presetID="22" presetClass="entr" presetSubtype="8" fill="hold" grpId="0" nodeType="afterEffect">
                                  <p:stCondLst>
                                    <p:cond delay="0"/>
                                  </p:stCondLst>
                                  <p:childTnLst>
                                    <p:set>
                                      <p:cBhvr>
                                        <p:cTn id="379" dur="1" fill="hold">
                                          <p:stCondLst>
                                            <p:cond delay="0"/>
                                          </p:stCondLst>
                                        </p:cTn>
                                        <p:tgtEl>
                                          <p:spTgt spid="96"/>
                                        </p:tgtEl>
                                        <p:attrNameLst>
                                          <p:attrName>style.visibility</p:attrName>
                                        </p:attrNameLst>
                                      </p:cBhvr>
                                      <p:to>
                                        <p:strVal val="visible"/>
                                      </p:to>
                                    </p:set>
                                    <p:animEffect transition="in" filter="wipe(left)">
                                      <p:cBhvr>
                                        <p:cTn id="381" dur="800"/>
                                        <p:tgtEl>
                                          <p:spTgt spid="96"/>
                                        </p:tgtEl>
                                      </p:cBhvr>
                                    </p:animEffect>
                                  </p:childTnLst>
                                </p:cTn>
                              </p:par>
                            </p:childTnLst>
                          </p:cTn>
                        </p:par>
                        <p:par>
                          <p:cTn id="382" fill="hold">
                            <p:stCondLst>
                              <p:cond delay="500"/>
                            </p:stCondLst>
                            <p:childTnLst>
                              <p:par>
                                <p:cTn id="383" presetID="42" presetClass="entr" presetSubtype="0" fill="hold" grpId="0" nodeType="afterEffect">
                                  <p:stCondLst>
                                    <p:cond delay="0"/>
                                  </p:stCondLst>
                                  <p:childTnLst>
                                    <p:set>
                                      <p:cBhvr>
                                        <p:cTn id="384" dur="1" fill="hold">
                                          <p:stCondLst>
                                            <p:cond delay="0"/>
                                          </p:stCondLst>
                                        </p:cTn>
                                        <p:tgtEl>
                                          <p:spTgt spid="97"/>
                                        </p:tgtEl>
                                        <p:attrNameLst>
                                          <p:attrName>style.visibility</p:attrName>
                                        </p:attrNameLst>
                                      </p:cBhvr>
                                      <p:to>
                                        <p:strVal val="visible"/>
                                      </p:to>
                                    </p:set>
                                    <p:animEffect transition="in" filter="fade">
                                      <p:cBhvr>
                                        <p:cTn id="385" dur="550"/>
                                        <p:tgtEl>
                                          <p:spTgt spid="97"/>
                                        </p:tgtEl>
                                      </p:cBhvr>
                                    </p:animEffect>
                                    <p:anim calcmode="lin" valueType="num">
                                      <p:cBhvr additive="base">
                                        <p:cTn id="386" dur="550" fill="hold"/>
                                        <p:tgtEl>
                                          <p:spTgt spid="97"/>
                                        </p:tgtEl>
                                        <p:attrNameLst>
                                          <p:attrName>ppt_x</p:attrName>
                                        </p:attrNameLst>
                                      </p:cBhvr>
                                      <p:tavLst>
                                        <p:tav tm="0">
                                          <p:val>
                                            <p:strVal val="#ppt_x"/>
                                          </p:val>
                                        </p:tav>
                                        <p:tav tm="100000">
                                          <p:val>
                                            <p:strVal val="#ppt_x"/>
                                          </p:val>
                                        </p:tav>
                                      </p:tavLst>
                                    </p:anim>
                                    <p:anim calcmode="lin" valueType="num">
                                      <p:cBhvr additive="base">
                                        <p:cTn id="387" dur="550" fill="hold"/>
                                        <p:tgtEl>
                                          <p:spTgt spid="97"/>
                                        </p:tgtEl>
                                        <p:attrNameLst>
                                          <p:attrName>ppt_y</p:attrName>
                                        </p:attrNameLst>
                                      </p:cBhvr>
                                      <p:tavLst>
                                        <p:tav tm="0">
                                          <p:val>
                                            <p:strVal val="#ppt_y+.08"/>
                                          </p:val>
                                        </p:tav>
                                        <p:tav tm="100000">
                                          <p:val>
                                            <p:strVal val="#ppt_y"/>
                                          </p:val>
                                        </p:tav>
                                      </p:tavLst>
                                    </p:anim>
                                  </p:childTnLst>
                                </p:cTn>
                              </p:par>
                            </p:childTnLst>
                          </p:cTn>
                        </p:par>
                        <p:par>
                          <p:cTn id="388" fill="hold">
                            <p:stCondLst>
                              <p:cond delay="650"/>
                            </p:stCondLst>
                            <p:childTnLst>
                              <p:par>
                                <p:cTn id="389" presetID="10" presetClass="entr" presetSubtype="0" fill="hold" grpId="0" nodeType="afterEffect">
                                  <p:stCondLst>
                                    <p:cond delay="0"/>
                                  </p:stCondLst>
                                  <p:childTnLst>
                                    <p:set>
                                      <p:cBhvr>
                                        <p:cTn id="390" dur="1" fill="hold">
                                          <p:stCondLst>
                                            <p:cond delay="0"/>
                                          </p:stCondLst>
                                        </p:cTn>
                                        <p:tgtEl>
                                          <p:spTgt spid="98"/>
                                        </p:tgtEl>
                                        <p:attrNameLst>
                                          <p:attrName>style.visibility</p:attrName>
                                        </p:attrNameLst>
                                      </p:cBhvr>
                                      <p:to>
                                        <p:strVal val="visible"/>
                                      </p:to>
                                    </p:set>
                                    <p:animEffect transition="in" filter="fade">
                                      <p:cBhvr>
                                        <p:cTn id="391" dur="55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
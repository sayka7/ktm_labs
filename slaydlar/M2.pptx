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server CPU si (masalan, AMD EPYC 9004 «Genoa» 96 yadroli yoki Intel Xeon 4-avlod «Sapphire Rapids» 60 yadroli) — bu kechikishni (latency) minimallashtirishga qaratilgan mashina. Har bir yadro superskalyar bo'lib, bir taktda 4–6 buyruqni dekodlaydi, ularni tartibsiz bajaradi, tarmoqlanishni 95 % dan yuqori aniqlikda bashorat qiladi va uch darajali kesh (L1 32–48 KB, L2 1–2 MB, L3 yadrolar orasida umumiy 32–384 MB) orqali xotira kechikishini yashiradi. Bu mexanizmlar yakka oqimli dasturni tez bajaradi, lekin kristall maydoni va energiyaning katta qismini oladi: Hennessy va Patterson [1] ta'kidlaganidek, oddiy ADD buyrug'ini bajarish uchun sarflanadigan energiyaning 90 % dan ortig'i buyruqni olish, dekodlash, rejalashtirish va natijani registrga yozishga, faqat qolgan qismi arifmetikaning o'ziga ketadi.</a:t>
            </a:r>
          </a:p>
          <a:p/>
          <a:p>
            <a:r>
              <a:t>CPU da SI yukini tezlashtirishning asosiy vositasi — SIMD (Single Instruction, Multiple Data) kengaytmalari: AVX2 (256 bit, 8 ta FP32), AVX-512 (512 bit, 16 ta FP32) va ARM da SVE/SVE2. Yangi Intel Xeon larda AMX (Advanced Matrix Extensions) bloki qo'shilgan — u 16×64 baytli «plitka» registrlarida INT8 va BF16 matritsa ko'paytirishni bajarib, yadro boshiga 2048 INT8 amal/takt beradi. 56 yadroli Xeon 8480+ uchun bu nazariy jihatdan 200 TOPS dan ortiq INT8 degani — bir necha yil avvalgi GPU darajasi. Shunga qaramay, CPU ning xotira o'tkazuvchanligi (8–12 kanalli DDR5, 300–460 GB/s) GPU ning HBM xotirasidan 5–10 baravar past, shuning uchun CPU katta matritsalarda hisoblash bilan emas, xotira bilan cheklanadi.</a:t>
            </a:r>
          </a:p>
          <a:p/>
          <a:p>
            <a:r>
              <a:t>CPU ning SI tizimidagi o'rni shunga qaramay muhim: u ma'lumotni yuklaydi va oldindan ishlov beradi, tezlatkichlarni boshqaradi, kichik modellar va past yukdagi inferensni bajaradi, tavsiya tizimlarida embedding jadvallarini qidiradi (xotira sig'imi muhim bo'lgan yuk). Ko'p yadrolilik (multi-core) — bir kristalda o'nlab yadro — va ko'p protsessorlilik (multi-processor) — bir serverda 2–8 soket, UPI yoki Infinity Fabric bilan ulangan — CPU ni ma'lumot tayyorlash va orkestratsiya uchun kuchli platformaga aylantiradi. Ikki soketli server NUMA (Non-Uniform Memory Access) tizimi bo'lib, har soket o'z xotirasiga tez, qo'shnisining xotirasiga sekin murojaat qiladi — bu M5 da batafsil ko'riladi.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server CPU si (masalan, AMD EPYC 9004 «Genoa» 96 yadroli yoki Intel Xeon 4-avlod «Sapphire Rapids» 60 yadroli) — bu kechikishni (latency) minimallashtirishga qaratilgan mashina. Har bir yadro superskalyar bo'lib, bir taktda 4–6 buyruqni dekodlaydi, ularni tartibsiz bajaradi, tarmoqlanishni 95 % dan yuqori aniqlikda bashorat qiladi va uch darajali kesh (L1 32–48 KB, L2 1–2 MB, L3 yadrolar orasida umumiy 32–384 MB) orqali xotira kechikishini yashiradi. Bu mexanizmlar yakka oqimli dasturni tez bajaradi, lekin kristall maydoni va energiyaning katta qismini oladi: Hennessy va Patterson [1] ta'kidlaganidek, oddiy ADD buyrug'ini bajarish uchun sarflanadigan energiyaning 90 % dan ortig'i buyruqni olish, dekodlash, rejalashtirish va natijani registrga yozishga, faqat qolgan qismi arifmetikaning o'ziga ketadi.</a:t>
            </a:r>
          </a:p>
          <a:p/>
          <a:p>
            <a:r>
              <a:t>CPU da SI yukini tezlashtirishning asosiy vositasi — SIMD (Single Instruction, Multiple Data) kengaytmalari: AVX2 (256 bit, 8 ta FP32), AVX-512 (512 bit, 16 ta FP32) va ARM da SVE/SVE2. Yangi Intel Xeon larda AMX (Advanced Matrix Extensions) bloki qo'shilgan — u 16×64 baytli «plitka» registrlarida INT8 va BF16 matritsa ko'paytirishni bajarib, yadro boshiga 2048 INT8 amal/takt beradi. 56 yadroli Xeon 8480+ uchun bu nazariy jihatdan 200 TOPS dan ortiq INT8 degani — bir necha yil avvalgi GPU darajasi. Shunga qaramay, CPU ning xotira o'tkazuvchanligi (8–12 kanalli DDR5, 300–460 GB/s) GPU ning HBM xotirasidan 5–10 baravar past, shuning uchun CPU katta matritsalarda hisoblash bilan emas, xotira bilan cheklanadi.</a:t>
            </a:r>
          </a:p>
          <a:p/>
          <a:p>
            <a:r>
              <a:t>CPU ning SI tizimidagi o'rni shunga qaramay muhim: u ma'lumotni yuklaydi va oldindan ishlov beradi, tezlatkichlarni boshqaradi, kichik modellar va past yukdagi inferensni bajaradi, tavsiya tizimlarida embedding jadvallarini qidiradi (xotira sig'imi muhim bo'lgan yuk). Ko'p yadrolilik (multi-core) — bir kristalda o'nlab yadro — va ko'p protsessorlilik (multi-processor) — bir serverda 2–8 soket, UPI yoki Infinity Fabric bilan ulangan — CPU ni ma'lumot tayyorlash va orkestratsiya uchun kuchli platformaga aylantiradi. Ikki soketli server NUMA (Non-Uniform Memory Access) tizimi bo'lib, har soket o'z xotirasiga tez, qo'shnisining xotirasiga sekin murojaat qiladi — bu M5 da batafsil ko'riladi.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qarama-qarshi falsafaga asoslangan: kechikishni yashirish uchun murakkab boshqaruv o'rniga minglab oddiy oqimlar (thread) ishlatiladi; bir oqim xotira kutayotganda boshqasi hisoblaydi. NVIDIA terminologiyasida bu SIMT (Single Instruction, Multiple Threads) modeli: 32 oqimdan iborat «warp» bitta buyruqni bir vaqtda bajaradi. Kirk va Hwu [5] bu modelni dasturchi nuqtai nazaridan batafsil tushuntiradilar: dasturchi skalyar kod yozadi, apparat uni minglab oqimda parallel bajaradi.</a:t>
            </a:r>
          </a:p>
          <a:p/>
          <a:p>
            <a:r>
              <a:t>GPU ning tuzilmaviy birligi — oqimli multiprotsessor (Streaming Multiprocessor, SM). NVIDIA H100 (Hopper) da 132 ta SM, har birida 128 ta FP32 CUDA yadrosi, 4 ta to'rtinchi avlod Tensor Core, 256 KB birlashgan L1/umumiy xotira va 64 K ta 32-bitli registr bor. Jami: 16 896 CUDA yadrosi, 528 Tensor Core, 50 MB L2 kesh, 80 GB HBM3 xotira 3,35 TB/s o'tkazuvchanlik bilan. Taqqoslash uchun A100 (Ampere): 108 SM, 6 912 CUDA yadrosi, 432 Tensor Core, 40 MB L2, 80 GB HBM2e, ~2 TB/s. Yangi Blackwell (B200) ikki kristalni bitta paketda birlashtirib 192 GB HBM3e va 8 TB/s ga ega.</a:t>
            </a:r>
          </a:p>
          <a:p/>
          <a:p>
            <a:r>
              <a:t>Tensor Core — GPU ichidagi ixtisoslashgan matritsa bloki (M4 da batafsil): bir taktda kichik matritsa fragmentini (masalan 4×4×4 yoki undan katta) aralash aniqlikda (FP16/BF16 kirish, FP32 to'plash) ko'paytirib qo'shadi. H100 uchun zich FP16 Tensor Core unumdorligi taxminan 990 TFLOPS, FP8 da taxminan 1 980 TFLOPS, oddiy FP32 CUDA yadrolari esa 67 TFLOPS beradi — ya'ni Tensor Core dan foydalanish 15 baravar farq qiladi. Bu raqam co-design uchun hal qiluvchi: model aniqligi va tensor o'lchamlari Tensor Core ga mos bo'lmasa, GPU imkoniyatining katta qismi ishlatilmaydi.</a:t>
            </a:r>
          </a:p>
          <a:p/>
          <a:p>
            <a:r>
              <a:t>GPU ning yana bir asosiy xususiyati — xotira iyerarxiyasi dasturchiga ochiq: registrlar, umumiy xotira (shared memory, dasturchi boshqaradigan kesh), L2 va global HBM. Samarali CUDA yadrosi (kernel) ma'lumotni umumiy xotiraga yuklab, ko'p marta qayta ishlatadi — bu Sze va hammualliflar [4] ta'kidlagan «ma'lumotni qayta ishlatish» tamoyilining dasturiy ifodasi. GPU lar o'zaro NVLink (H100 da to'rtinchi avlod, GPU boshiga 900 GB/s) va NVSwitch orqali ulanadi, bu PCIe 5.0 x16 (taxminan 64 GB/s ikki tomonlama) dan ancha tez.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qarama-qarshi falsafaga asoslangan: kechikishni yashirish uchun murakkab boshqaruv o'rniga minglab oddiy oqimlar (thread) ishlatiladi; bir oqim xotira kutayotganda boshqasi hisoblaydi. NVIDIA terminologiyasida bu SIMT (Single Instruction, Multiple Threads) modeli: 32 oqimdan iborat «warp» bitta buyruqni bir vaqtda bajaradi. Kirk va Hwu [5] bu modelni dasturchi nuqtai nazaridan batafsil tushuntiradilar: dasturchi skalyar kod yozadi, apparat uni minglab oqimda parallel bajaradi.</a:t>
            </a:r>
          </a:p>
          <a:p/>
          <a:p>
            <a:r>
              <a:t>GPU ning tuzilmaviy birligi — oqimli multiprotsessor (Streaming Multiprocessor, SM). NVIDIA H100 (Hopper) da 132 ta SM, har birida 128 ta FP32 CUDA yadrosi, 4 ta to'rtinchi avlod Tensor Core, 256 KB birlashgan L1/umumiy xotira va 64 K ta 32-bitli registr bor. Jami: 16 896 CUDA yadrosi, 528 Tensor Core, 50 MB L2 kesh, 80 GB HBM3 xotira 3,35 TB/s o'tkazuvchanlik bilan. Taqqoslash uchun A100 (Ampere): 108 SM, 6 912 CUDA yadrosi, 432 Tensor Core, 40 MB L2, 80 GB HBM2e, ~2 TB/s. Yangi Blackwell (B200) ikki kristalni bitta paketda birlashtirib 192 GB HBM3e va 8 TB/s ga ega.</a:t>
            </a:r>
          </a:p>
          <a:p/>
          <a:p>
            <a:r>
              <a:t>Tensor Core — GPU ichidagi ixtisoslashgan matritsa bloki (M4 da batafsil): bir taktda kichik matritsa fragmentini (masalan 4×4×4 yoki undan katta) aralash aniqlikda (FP16/BF16 kirish, FP32 to'plash) ko'paytirib qo'shadi. H100 uchun zich FP16 Tensor Core unumdorligi taxminan 990 TFLOPS, FP8 da taxminan 1 980 TFLOPS, oddiy FP32 CUDA yadrolari esa 67 TFLOPS beradi — ya'ni Tensor Core dan foydalanish 15 baravar farq qiladi. Bu raqam co-design uchun hal qiluvchi: model aniqligi va tensor o'lchamlari Tensor Core ga mos bo'lmasa, GPU imkoniyatining katta qismi ishlatilmaydi.</a:t>
            </a:r>
          </a:p>
          <a:p/>
          <a:p>
            <a:r>
              <a:t>GPU ning yana bir asosiy xususiyati — xotira iyerarxiyasi dasturchiga ochiq: registrlar, umumiy xotira (shared memory, dasturchi boshqaradigan kesh), L2 va global HBM. Samarali CUDA yadrosi (kernel) ma'lumotni umumiy xotiraga yuklab, ko'p marta qayta ishlatadi — bu Sze va hammualliflar [4] ta'kidlagan «ma'lumotni qayta ishlatish» tamoyilining dasturiy ifodasi. GPU lar o'zaro NVLink (H100 da to'rtinchi avlod, GPU boshiga 900 GB/s) va NVSwitch orqali ulanadi, bu PCIe 5.0 x16 (taxminan 64 GB/s ikki tomonlama) dan ancha tez.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qarama-qarshi falsafaga asoslangan: kechikishni yashirish uchun murakkab boshqaruv o'rniga minglab oddiy oqimlar (thread) ishlatiladi; bir oqim xotira kutayotganda boshqasi hisoblaydi. NVIDIA terminologiyasida bu SIMT (Single Instruction, Multiple Threads) modeli: 32 oqimdan iborat «warp» bitta buyruqni bir vaqtda bajaradi. Kirk va Hwu [5] bu modelni dasturchi nuqtai nazaridan batafsil tushuntiradilar: dasturchi skalyar kod yozadi, apparat uni minglab oqimda parallel bajaradi.</a:t>
            </a:r>
          </a:p>
          <a:p/>
          <a:p>
            <a:r>
              <a:t>GPU ning tuzilmaviy birligi — oqimli multiprotsessor (Streaming Multiprocessor, SM). NVIDIA H100 (Hopper) da 132 ta SM, har birida 128 ta FP32 CUDA yadrosi, 4 ta to'rtinchi avlod Tensor Core, 256 KB birlashgan L1/umumiy xotira va 64 K ta 32-bitli registr bor. Jami: 16 896 CUDA yadrosi, 528 Tensor Core, 50 MB L2 kesh, 80 GB HBM3 xotira 3,35 TB/s o'tkazuvchanlik bilan. Taqqoslash uchun A100 (Ampere): 108 SM, 6 912 CUDA yadrosi, 432 Tensor Core, 40 MB L2, 80 GB HBM2e, ~2 TB/s. Yangi Blackwell (B200) ikki kristalni bitta paketda birlashtirib 192 GB HBM3e va 8 TB/s ga ega.</a:t>
            </a:r>
          </a:p>
          <a:p/>
          <a:p>
            <a:r>
              <a:t>Tensor Core — GPU ichidagi ixtisoslashgan matritsa bloki (M4 da batafsil): bir taktda kichik matritsa fragmentini (masalan 4×4×4 yoki undan katta) aralash aniqlikda (FP16/BF16 kirish, FP32 to'plash) ko'paytirib qo'shadi. H100 uchun zich FP16 Tensor Core unumdorligi taxminan 990 TFLOPS, FP8 da taxminan 1 980 TFLOPS, oddiy FP32 CUDA yadrolari esa 67 TFLOPS beradi — ya'ni Tensor Core dan foydalanish 15 baravar farq qiladi. Bu raqam co-design uchun hal qiluvchi: model aniqligi va tensor o'lchamlari Tensor Core ga mos bo'lmasa, GPU imkoniyatining katta qismi ishlatilmaydi.</a:t>
            </a:r>
          </a:p>
          <a:p/>
          <a:p>
            <a:r>
              <a:t>GPU ning yana bir asosiy xususiyati — xotira iyerarxiyasi dasturchiga ochiq: registrlar, umumiy xotira (shared memory, dasturchi boshqaradigan kesh), L2 va global HBM. Samarali CUDA yadrosi (kernel) ma'lumotni umumiy xotiraga yuklab, ko'p marta qayta ishlatadi — bu Sze va hammualliflar [4] ta'kidlagan «ma'lumotni qayta ishlatish» tamoyilining dasturiy ifodasi. GPU lar o'zaro NVLink (H100 da to'rtinchi avlod, GPU boshiga 900 GB/s) va NVSwitch orqali ulanadi, bu PCIe 5.0 x16 (taxminan 64 GB/s ikki tomonlama) dan ancha tez.</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 TPU (Tensor Processing Unit) — neyron tarmoq uchun noldan loyihalangan ASIC. Jouppi va hammualliflarning 2017-yilgi ISCA maqolasida tavsiflangan birinchi avlod TPU ning yuragi 256×256 li sistolik massiv (systolic array) edi: 65 536 ta 8-bitli MAC bloki ikki o'lchovli to'rda joylashgan, og'irliklar massivga yuklanadi, kirish ma'lumotlari chapdan o'ngga, qisman yig'indilar yuqoridan pastga «yurak urishi» kabi takt sayin oqadi. Har bir MAC natijani qo'shnisiga uzatadi, registr fayliga yoki keshga murojaat qilmaydi — shuning uchun energiya sarfi juda past. TPU v1 700 MGs da 92 TOPS INT8 berib, o'sha davrdagi GPU dan vatt boshiga 30–80 baravar samaraliroq edi.</a:t>
            </a:r>
          </a:p>
          <a:p/>
          <a:p>
            <a:r>
              <a:t>Keyingi avlodlar o'qitish uchun BF16 qo'llab-quvvatlashi, HBM xotira va chiplararo tarmoq (Inter-Core Interconnect, ICI) qo'shdi. TPU v4 chipi ikkita TensorCore, har birida to'rtta 128×128 li MXU (matritsa bloki) ga ega bo'lib, 275 TFLOPS BF16 beradi; 4 096 chip 3D torus topologiyasida bitta «pod» ga birlashadi. TPU v5e (197 TFLOPS BF16, 16 GB HBM2, 819 GB/s) inferens va narx-samaradorlik uchun, v5p (459 TFLOPS BF16, 95 GB HBM, 2,76 TB/s) o'qitish uchun mo'ljallangan; 2024-yilgi Trillium (v6e) 918 TFLOPS BF16 va 32 GB HBM e'lon qilingan. TPU ning muhim xususiyati — kompilyator (XLA) ga tayanish: apparatda dinamik rejalashtirish deyarli yo'q, barcha ma'lumot harakati kompilyatsiya vaqtida rejalashtiriladi. Bu samaradorlikni oshiradi, lekin dinamik shaklli yoki notekis modellarda qiyinchilik tug'diradi.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NPU (Neural Processing Unit) — umumiy nom bo'lib, tizim-kristal (SoC) tarkibidagi neyron tarmoq blokini bildiradi. Arxitektura jihatidan NPU lar ko'pincha kichik sistolik massivlar yoki vektor-matritsa bloklari, katta on-chip SRAM va INT8/INT4 aniqlikka urg'u bilan quriladi. Ularning asosiy loyihalash mezoni — vatt boshiga TOPS, chunki ular batareyali qurilmada ishlaydi. Namunalar: Apple Neural Engine (A17 Pro va M4 da 35–38 TOPS), Qualcomm Hexagon (Snapdragon X Elite da 45 TOPS), Intel NPU (Core Ultra «Lunar Lake» da 48 TOPS), AMD XDNA 2 (Ryzen AI 300 da 50 TOPS). Ma'lumotlar markazi miqyosidagi NPU lar ham bor — Huawei Ascend 910B, AWS Inferentia2 va Trainium — ular TPU ga o'xshash ixtisoslashgan ASIC lardir.</a:t>
            </a:r>
          </a:p>
          <a:p/>
          <a:p>
            <a:r>
              <a:t>NPU ning cheklovlari: qo'llab-quvvatlanadigan operatorlar to'plami tor (yangi arxitekturadagi noodatiy qatlam NPU da ishlamay CPU ga tushishi mumkin), dasturlash faqat ishlab chiqaruvchi SDK si orqali (Core ML, Qualcomm AI Engine, OpenVINO), aniqlik asosan INT8. Shu sababli NPU uchun model tayyorlash — kvantlash, operatorlarni almashtirish, grafni kompilyatsiya qilish — alohida muhandislik bosqichi (M6 va M8 da ko'riladi).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NPU (Neural Processing Unit) — umumiy nom bo'lib, tizim-kristal (SoC) tarkibidagi neyron tarmoq blokini bildiradi. Arxitektura jihatidan NPU lar ko'pincha kichik sistolik massivlar yoki vektor-matritsa bloklari, katta on-chip SRAM va INT8/INT4 aniqlikka urg'u bilan quriladi. Ularning asosiy loyihalash mezoni — vatt boshiga TOPS, chunki ular batareyali qurilmada ishlaydi. Namunalar: Apple Neural Engine (A17 Pro va M4 da 35–38 TOPS), Qualcomm Hexagon (Snapdragon X Elite da 45 TOPS), Intel NPU (Core Ultra «Lunar Lake» da 48 TOPS), AMD XDNA 2 (Ryzen AI 300 da 50 TOPS). Ma'lumotlar markazi miqyosidagi NPU lar ham bor — Huawei Ascend 910B, AWS Inferentia2 va Trainium — ular TPU ga o'xshash ixtisoslashgan ASIC lardir.</a:t>
            </a:r>
          </a:p>
          <a:p/>
          <a:p>
            <a:r>
              <a:t>NPU ning cheklovlari: qo'llab-quvvatlanadigan operatorlar to'plami tor (yangi arxitekturadagi noodatiy qatlam NPU da ishlamay CPU ga tushishi mumkin), dasturlash faqat ishlab chiqaruvchi SDK si orqali (Core ML, Qualcomm AI Engine, OpenVINO), aniqlik asosan INT8. Shu sababli NPU uchun model tayyorlash — kvantlash, operatorlarni almashtirish, grafni kompilyatsiya qilish — alohida muhandislik bosqichi (M6 va M8 da ko'riladi).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FPGA (Field-Programmable Gate Array) — ishlab chiqarilgandan keyin mantiqiy sxemasi o'zgartirilishi mumkin bo'lgan chip. Uning tarkibida yuz minglab qidiruv jadvallari (LUT), triggerlar, DSP bloklari (apparat ko'paytirgichlar) va bloklangan xotira (BRAM) bo'lib, ular dasturlanadigan ulanish to'ri orqali bog'lanadi. Dasturchi VHDL/Verilog yoki yuqori darajali sintez (HLS, C++ dan) yordamida aynan o'z modeli uchun hisoblash quvurini quradi: kerakli bit kenglik (masalan 6-bitli og'irliklar), kerakli parallellik, kerakli xotira joylashuvi.</a:t>
            </a:r>
          </a:p>
          <a:p/>
          <a:p>
            <a:r>
              <a:t>FPGA ning afzalliklari: juda past va bashoratlanadigan kechikish (mikrosekundlar, chunki operatsion tizim va drayver yo'q), ixtiyoriy aniqlik, kiritish-chiqarish bilan to'g'ridan-to'g'ri integratsiya (kamera, tarmoq, radar). Kamchiliklari: bir xil texnologik jarayonda ASIC dan 5–10 baravar kam samarali (dasturlanadigan ulanishlar maydoni va energiyasi), rivojlantirish sikli uzun (sintez soatlar oladi), yuqori malaka talab etadi. Zamonaviy «moslashuvchan SoC» lar — AMD Versal AI Core (dasturlanadigan mantiq + ARM yadrolari + AI Engine vektor protsessorlari massivi) va Intel Agilex — FPGA bilan ASIC o'rtasidagi oraliq yechim. FPGA lar sanoatda real vaqtli sensor birlashtirish, 5G baza stansiyalari, moliyaviy savdo va tarmoq funksiyalarini tezlashtirishda (SmartNIC) qo'llaniladi; Microsoft Project Brainwave (2018) Intel Stratix 10 FPGA larida Bing qidiruvi uchun past kechikishli inferensni namoyish etgan.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Jadval umumiy qonuniyatni ko'rsatadi: ixtisoslashuv oshgan sari samaradorlik oshadi, moslashuvchanlik kamayadi. Hennessy va Patterson [1] sohaga xos arxitekturalar samaradorligining beshta manbasini sanaydilar: sohaga xos parallellikdan foydalanish, xotira iyerarxiyasini dasturchi boshqarishi, keraksiz aniqlikdan voz kechish, sohaga xos dasturlash tili va kesh/bashorat kabi umumiy mexanizmlardan voz kechish. Tezlatkichning ichki tuzilishi aynan shu beshta tamoyilning moddiy ifodasidir: MAC lar massivi (parallellik), katta SRAM va skretchped (boshqariladigan xotira), INT8/BF16 (aniqlik), XLA yoki TensorRT (til), nazorat mantig'ining minimalligi.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Geterogen tizim — turli arxitekturali protsessorlarni bir vazifa ustida birgalikda ishlatadigan tizim. Klassik ko'rinishda xost (CPU) dasturni boshqaradi, ma'lumotni tayyorlaydi va qurilma (GPU/tezlatkich) ga og'ir hisobni yuboradi. Ikki protsessor alohida xotira maydoniga ega va ma'lumot PCIe orqali nusxalanadi — bu kechikish (10–20 mks ishga tushirish) va o'tkazuvchanlik (PCIe 4.0 x16: ~32 GB/s bir tomonga, PCIe 5.0: ~64 GB/s) cheklovlarini keltirib chiqaradi.</a:t>
            </a:r>
          </a:p>
          <a:p/>
          <a:p>
            <a:r>
              <a:t>So'nggi yillarda birlashgan xotira (unified memory) yondashuvi kuchaydi. NVIDIA GH200 Grace Hopper «superchip» da 72 yadroli ARM Neoverse V2 protsessori (Grace, 480 GB LPDDR5X) va H100 GPU (96–144 GB HBM3/HBM3e) NVLink-C2C orqali 900 GB/s tezlikda bog'langan va bitta kogerent manzil maydonini tashkil etadi — GPU xost xotirasiga PCIe dan 7 baravar tezroq murojaat qiladi. AMD MI300A esa 24 ta Zen 4 yadrosi va CDNA 3 GPU ni bitta paketda 128 GB umumiy HBM3 bilan birlashtiradi (bu chip El Capitan superkompyuterining asosi). Apple M-seriyali chiplarda CPU, GPU va NPU bir xil LPDDR xotiradan foydalanadi, bu esa modelni nusxalamasdan bloklar o'rtasida almashishga imkon beradi.</a:t>
            </a:r>
          </a:p>
          <a:p/>
          <a:p>
            <a:r>
              <a:t>Geterogen tizimni loyihalashda asosiy savol — vazifani kim bajaradi. Umumiy qoida: muntazam, katta hajmli, parallel hisob (matritsa, konvolyutsiya) — tezlatkichga; tarmoqlanishli, ketma-ket, tizim chaqiruvlari bilan bog'liq ish (fayl o'qish, dekodlash, tarmoq, mantiq) — CPU ga; kiritish-chiqarish bilan bog'liq doimiy quvur (paket tahlili, shifrlash) — DPU yoki FPGA ga. Amalda eng ko'p uchraydigan xato — tezlatkich ma'lumot kutib bo'sh turishi, chunki CPU tomonidagi tayyorlash yetib bermaydi; bu muammoni M5 va M10 da profillash orqali aniqlashni o'rganamiz.</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Geterogen tizim — turli arxitekturali protsessorlarni bir vazifa ustida birgalikda ishlatadigan tizim. Klassik ko'rinishda xost (CPU) dasturni boshqaradi, ma'lumotni tayyorlaydi va qurilma (GPU/tezlatkich) ga og'ir hisobni yuboradi. Ikki protsessor alohida xotira maydoniga ega va ma'lumot PCIe orqali nusxalanadi — bu kechikish (10–20 mks ishga tushirish) va o'tkazuvchanlik (PCIe 4.0 x16: ~32 GB/s bir tomonga, PCIe 5.0: ~64 GB/s) cheklovlarini keltirib chiqaradi.</a:t>
            </a:r>
          </a:p>
          <a:p/>
          <a:p>
            <a:r>
              <a:t>So'nggi yillarda birlashgan xotira (unified memory) yondashuvi kuchaydi. NVIDIA GH200 Grace Hopper «superchip» da 72 yadroli ARM Neoverse V2 protsessori (Grace, 480 GB LPDDR5X) va H100 GPU (96–144 GB HBM3/HBM3e) NVLink-C2C orqali 900 GB/s tezlikda bog'langan va bitta kogerent manzil maydonini tashkil etadi — GPU xost xotirasiga PCIe dan 7 baravar tezroq murojaat qiladi. AMD MI300A esa 24 ta Zen 4 yadrosi va CDNA 3 GPU ni bitta paketda 128 GB umumiy HBM3 bilan birlashtiradi (bu chip El Capitan superkompyuterining asosi). Apple M-seriyali chiplarda CPU, GPU va NPU bir xil LPDDR xotiradan foydalanadi, bu esa modelni nusxalamasdan bloklar o'rtasida almashishga imkon beradi.</a:t>
            </a:r>
          </a:p>
          <a:p/>
          <a:p>
            <a:r>
              <a:t>Geterogen tizimni loyihalashda asosiy savol — vazifani kim bajaradi. Umumiy qoida: muntazam, katta hajmli, parallel hisob (matritsa, konvolyutsiya) — tezlatkichga; tarmoqlanishli, ketma-ket, tizim chaqiruvlari bilan bog'liq ish (fayl o'qish, dekodlash, tarmoq, mantiq) — CPU ga; kiritish-chiqarish bilan bog'liq doimiy quvur (paket tahlili, shifrlash) — DPU yoki FPGA ga. Amalda eng ko'p uchraydigan xato — tezlatkich ma'lumot kutib bo'sh turishi, chunki CPU tomonidagi tayyorlash yetib bermaydi; bu muammoni M5 va M10 da profillash orqali aniqlashni o'rganamiz.</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Standart AI o'qitish serveri 8 ta tezlatkichli konfiguratsiya atrofida shakllangan. NVIDIA DGX H100: 8 × H100 SXM (jami 640 GB HBM3), 4 ta NVSwitch orqali har qanday GPU juftligi 900 GB/s bilan bog'langan, 2 ta Intel Xeon 8480C (112 yadro), 2 TB DDR5, 8 ta ConnectX-7 (400 Gbit/s InfiniBand NDR) tarmoq adapteri, 30 TB NVMe va 10,2 kVt quvvat. Shunga o'xshash serverlarni AMD MI300X (8 × 192 GB = 1,5 TB HBM3, 5,3 TB/s har biri), Intel Gaudi 3 va Supermicro, Dell, HPE kabi ishlab chiqaruvchilar taklif qiladi. 2024–2025-yillardagi yangi qadam — stoyka miqyosidagi tizim: NVIDIA GB200 NVL72 bitta suyuqlik bilan sovitiladigan stoykada 72 ta Blackwell GPU va 36 ta Grace CPU ni 130 TB/s umumiy NVLink o'tkazuvchanlikli yagona domenga birlashtiradi, quvvati taxminan 120 kVt.</a:t>
            </a:r>
          </a:p>
          <a:p/>
          <a:p>
            <a:r>
              <a:t>Serverlardan yuqorida klaster (tugunlar InfiniBand yoki RoCE Ethernet bilan ulanadi) va SuperPOD (NVIDIA da 32 DGX = 256 GPU asosiy birlik, «fat-tree» topologiya) turadi. Masshtab oshgan sari tor joy hisoblashdan tarmoqqa ko'chadi: 400 Gbit/s adapter sekundiga 50 GB uzatadi — bu GPU ichidagi HBM dan 70 baravar sekin. Shuning uchun taqsimlangan o'qitish algoritmlari (M3) aloqani hisoblash bilan ustma-ust qo'yishga qaratilgan.</a:t>
            </a:r>
          </a:p>
          <a:p/>
          <a:p>
            <a:r>
              <a:t>Superkompyuterlar bu tamoyillarni eng katta miqyosda aks ettiradi. 2025-yil holatiga TOP500 ro'yxatining birinchi o'rni — El Capitan (Lawrence Livermore, AMD MI300A, 1,74 eksaflops HPL), ikkinchi — Frontier (Oak Ridge, AMD EPYC + MI250X, 1,35 eksaflops), uchinchi — Aurora (Argonne, Intel Xeon Max + Data Center GPU Max). Ularning barchasi geterogen: har tugunda CPU va 4–6 GPU, tugunlar HPE Slingshot tarmog'i bilan ulangan. Shu bilan birga sanoat AI superkompyuterlari paydo bo'ldi: NVIDIA Eos (576 DGX H100, 4 608 GPU), Meta ning ikkita 24 576 GPU li klasteri (2024), xAI Colossus (100 000 dan ortiq H100, 2024). Ularning HPC superkompyuterlaridan farqi — FP64 emas, FP16/FP8 unumdorlik ustuvor, demak «eksaflops» so'zi qaysi aniqlikda ekanini doim aniqlashtirish kerak.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Standart AI o'qitish serveri 8 ta tezlatkichli konfiguratsiya atrofida shakllangan. NVIDIA DGX H100: 8 × H100 SXM (jami 640 GB HBM3), 4 ta NVSwitch orqali har qanday GPU juftligi 900 GB/s bilan bog'langan, 2 ta Intel Xeon 8480C (112 yadro), 2 TB DDR5, 8 ta ConnectX-7 (400 Gbit/s InfiniBand NDR) tarmoq adapteri, 30 TB NVMe va 10,2 kVt quvvat. Shunga o'xshash serverlarni AMD MI300X (8 × 192 GB = 1,5 TB HBM3, 5,3 TB/s har biri), Intel Gaudi 3 va Supermicro, Dell, HPE kabi ishlab chiqaruvchilar taklif qiladi. 2024–2025-yillardagi yangi qadam — stoyka miqyosidagi tizim: NVIDIA GB200 NVL72 bitta suyuqlik bilan sovitiladigan stoykada 72 ta Blackwell GPU va 36 ta Grace CPU ni 130 TB/s umumiy NVLink o'tkazuvchanlikli yagona domenga birlashtiradi, quvvati taxminan 120 kVt.</a:t>
            </a:r>
          </a:p>
          <a:p/>
          <a:p>
            <a:r>
              <a:t>Serverlardan yuqorida klaster (tugunlar InfiniBand yoki RoCE Ethernet bilan ulanadi) va SuperPOD (NVIDIA da 32 DGX = 256 GPU asosiy birlik, «fat-tree» topologiya) turadi. Masshtab oshgan sari tor joy hisoblashdan tarmoqqa ko'chadi: 400 Gbit/s adapter sekundiga 50 GB uzatadi — bu GPU ichidagi HBM dan 70 baravar sekin. Shuning uchun taqsimlangan o'qitish algoritmlari (M3) aloqani hisoblash bilan ustma-ust qo'yishga qaratilgan.</a:t>
            </a:r>
          </a:p>
          <a:p/>
          <a:p>
            <a:r>
              <a:t>Superkompyuterlar bu tamoyillarni eng katta miqyosda aks ettiradi. 2025-yil holatiga TOP500 ro'yxatining birinchi o'rni — El Capitan (Lawrence Livermore, AMD MI300A, 1,74 eksaflops HPL), ikkinchi — Frontier (Oak Ridge, AMD EPYC + MI250X, 1,35 eksaflops), uchinchi — Aurora (Argonne, Intel Xeon Max + Data Center GPU Max). Ularning barchasi geterogen: har tugunda CPU va 4–6 GPU, tugunlar HPE Slingshot tarmog'i bilan ulangan. Shu bilan birga sanoat AI superkompyuterlari paydo bo'ldi: NVIDIA Eos (576 DGX H100, 4 608 GPU), Meta ning ikkita 24 576 GPU li klasteri (2024), xAI Colossus (100 000 dan ortiq H100, 2024). Ularning HPC superkompyuterlaridan farqi — FP64 emas, FP16/FP8 unumdorlik ustuvor, demak «eksaflops» so'zi qaysi aniqlikda ekanini doim aniqlashtirish kerak.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Standart AI o'qitish serveri 8 ta tezlatkichli konfiguratsiya atrofida shakllangan. NVIDIA DGX H100: 8 × H100 SXM (jami 640 GB HBM3), 4 ta NVSwitch orqali har qanday GPU juftligi 900 GB/s bilan bog'langan, 2 ta Intel Xeon 8480C (112 yadro), 2 TB DDR5, 8 ta ConnectX-7 (400 Gbit/s InfiniBand NDR) tarmoq adapteri, 30 TB NVMe va 10,2 kVt quvvat. Shunga o'xshash serverlarni AMD MI300X (8 × 192 GB = 1,5 TB HBM3, 5,3 TB/s har biri), Intel Gaudi 3 va Supermicro, Dell, HPE kabi ishlab chiqaruvchilar taklif qiladi. 2024–2025-yillardagi yangi qadam — stoyka miqyosidagi tizim: NVIDIA GB200 NVL72 bitta suyuqlik bilan sovitiladigan stoykada 72 ta Blackwell GPU va 36 ta Grace CPU ni 130 TB/s umumiy NVLink o'tkazuvchanlikli yagona domenga birlashtiradi, quvvati taxminan 120 kVt.</a:t>
            </a:r>
          </a:p>
          <a:p/>
          <a:p>
            <a:r>
              <a:t>Serverlardan yuqorida klaster (tugunlar InfiniBand yoki RoCE Ethernet bilan ulanadi) va SuperPOD (NVIDIA da 32 DGX = 256 GPU asosiy birlik, «fat-tree» topologiya) turadi. Masshtab oshgan sari tor joy hisoblashdan tarmoqqa ko'chadi: 400 Gbit/s adapter sekundiga 50 GB uzatadi — bu GPU ichidagi HBM dan 70 baravar sekin. Shuning uchun taqsimlangan o'qitish algoritmlari (M3) aloqani hisoblash bilan ustma-ust qo'yishga qaratilgan.</a:t>
            </a:r>
          </a:p>
          <a:p/>
          <a:p>
            <a:r>
              <a:t>Superkompyuterlar bu tamoyillarni eng katta miqyosda aks ettiradi. 2025-yil holatiga TOP500 ro'yxatining birinchi o'rni — El Capitan (Lawrence Livermore, AMD MI300A, 1,74 eksaflops HPL), ikkinchi — Frontier (Oak Ridge, AMD EPYC + MI250X, 1,35 eksaflops), uchinchi — Aurora (Argonne, Intel Xeon Max + Data Center GPU Max). Ularning barchasi geterogen: har tugunda CPU va 4–6 GPU, tugunlar HPE Slingshot tarmog'i bilan ulangan. Shu bilan birga sanoat AI superkompyuterlari paydo bo'ldi: NVIDIA Eos (576 DGX H100, 4 608 GPU), Meta ning ikkita 24 576 GPU li klasteri (2024), xAI Colossus (100 000 dan ortiq H100, 2024). Ularning HPC superkompyuterlaridan farqi — FP64 emas, FP16/FP8 unumdorlik ustuvor, demak «eksaflops» so'zi qaysi aniqlikda ekanini doim aniqlashtirish kerak.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4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6900000" y="1466666"/>
            <a:ext cx="1633333"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6900000" y="19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900000" y="195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6900000" y="1950000"/>
            <a:ext cx="1633333"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900000" y="1950000"/>
            <a:ext cx="1633333"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900000"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00000"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0000"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00000" y="1466666"/>
            <a:ext cx="1633333" cy="33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6900000" y="3400000"/>
            <a:ext cx="1633333"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00000" y="4850000"/>
            <a:ext cx="1633333"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533333" y="14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533333" y="2433333"/>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8533333" y="1466666"/>
            <a:ext cx="1633333" cy="193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533333" y="2433333"/>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533333" y="3400000"/>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8533333" y="1466666"/>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8533333" y="2433333"/>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8533333" y="3400000"/>
            <a:ext cx="1633333" cy="96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533333" y="4366666"/>
            <a:ext cx="1633333"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33333" y="4366666"/>
            <a:ext cx="1633333" cy="9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533333" y="1466666"/>
            <a:ext cx="1633333" cy="386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8533333" y="2433333"/>
            <a:ext cx="1633333" cy="290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8533333" y="3400000"/>
            <a:ext cx="1633333"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66666" y="1466666"/>
            <a:ext cx="1633334" cy="483334"/>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0166666" y="19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166666" y="2433333"/>
            <a:ext cx="1633334" cy="2416667"/>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0166666" y="1950000"/>
            <a:ext cx="1633334" cy="145000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166666" y="3400000"/>
            <a:ext cx="1633334" cy="0"/>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0166666" y="1950000"/>
            <a:ext cx="1633334" cy="2416666"/>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0166666" y="1950000"/>
            <a:ext cx="1633334" cy="33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0166666" y="3400000"/>
            <a:ext cx="1633334" cy="193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0166666" y="4850000"/>
            <a:ext cx="1633334" cy="483333"/>
          </a:xfrm>
          <a:prstGeom prst="line">
            <a:avLst/>
          </a:prstGeom>
          <a:ln w="9525">
            <a:solidFill>
              <a:srgbClr val="2E4A8A"/>
            </a:solidFill>
          </a:ln>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68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8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8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438333" y="13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438333" y="23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438333" y="3305000"/>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438333" y="4271666"/>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438333" y="5238333"/>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071666" y="1371666"/>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071666" y="2338333"/>
            <a:ext cx="190000" cy="190000"/>
          </a:xfrm>
          <a:prstGeom prst="ellipse">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071666" y="330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071666" y="4271666"/>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071666" y="5238333"/>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1705000" y="185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1705000" y="3305000"/>
            <a:ext cx="190000" cy="190000"/>
          </a:xfrm>
          <a:prstGeom prst="ellipse">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1705000" y="4755000"/>
            <a:ext cx="190000" cy="190000"/>
          </a:xfrm>
          <a:prstGeom prst="ellipse">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7700000" y="1350000"/>
            <a:ext cx="3600000" cy="3600000"/>
          </a:xfrm>
          <a:prstGeom prst="ellipse">
            <a:avLst/>
          </a:prstGeom>
          <a:noFill/>
          <a:ln w="381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550000" y="1200000"/>
            <a:ext cx="3900000" cy="3900000"/>
          </a:xfrm>
          <a:prstGeom prst="ellipse">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1" name="Picture 60" descr="325ad21a692d683b.jpg"/>
          <p:cNvPicPr>
            <a:picLocks noChangeAspect="1"/>
          </p:cNvPicPr>
          <p:nvPr/>
        </p:nvPicPr>
        <p:blipFill>
          <a:blip r:embed="rId2"/>
          <a:srcRect l="14727" r="14727"/>
          <a:stretch>
            <a:fillRect/>
          </a:stretch>
        </p:blipFill>
        <p:spPr>
          <a:xfrm>
            <a:off x="7850000" y="1500000"/>
            <a:ext cx="3300000" cy="3300000"/>
          </a:xfrm>
          <a:prstGeom prst="ellipse">
            <a:avLst/>
          </a:prstGeom>
          <a:ln w="19050">
            <a:solidFill>
              <a:srgbClr val="22D3EE"/>
            </a:solidFill>
          </a:ln>
        </p:spPr>
      </p:pic>
      <p:sp>
        <p:nvSpPr>
          <p:cNvPr id="62" name="TextBox 61"/>
          <p:cNvSpPr txBox="1"/>
          <p:nvPr/>
        </p:nvSpPr>
        <p:spPr>
          <a:xfrm>
            <a:off x="6900000" y="6350000"/>
            <a:ext cx="5000000" cy="260000"/>
          </a:xfrm>
          <a:prstGeom prst="rect">
            <a:avLst/>
          </a:prstGeom>
          <a:noFill/>
        </p:spPr>
        <p:txBody>
          <a:bodyPr wrap="square" anchor="t" lIns="50800" rIns="50800">
            <a:spAutoFit/>
          </a:bodyPr>
          <a:lstStyle/>
          <a:p>
            <a:pPr algn="r"/>
            <a:r>
              <a:rPr sz="800" b="0">
                <a:solidFill>
                  <a:srgbClr val="707EAA"/>
                </a:solidFill>
                <a:latin typeface="Segoe UI"/>
              </a:rPr>
              <a:t>Rasm: Timothy Borkowski · Wikimedia Commons · CC BY-SA 3.0</a:t>
            </a:r>
          </a:p>
        </p:txBody>
      </p:sp>
      <p:sp>
        <p:nvSpPr>
          <p:cNvPr id="63" name="Rounded Rectangle 62"/>
          <p:cNvSpPr/>
          <p:nvPr/>
        </p:nvSpPr>
        <p:spPr>
          <a:xfrm>
            <a:off x="700000" y="1250000"/>
            <a:ext cx="3400000" cy="400000"/>
          </a:xfrm>
          <a:prstGeom prst="roundRect">
            <a:avLst/>
          </a:prstGeom>
          <a:noFill/>
          <a:ln w="15875">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22D3EE"/>
                </a:solidFill>
                <a:latin typeface="Segoe UI"/>
              </a:rPr>
              <a:t>MA'RUZA · M2 · 2 soat</a:t>
            </a:r>
          </a:p>
        </p:txBody>
      </p:sp>
      <p:sp>
        <p:nvSpPr>
          <p:cNvPr id="64" name="TextBox 63"/>
          <p:cNvSpPr txBox="1"/>
          <p:nvPr/>
        </p:nvSpPr>
        <p:spPr>
          <a:xfrm>
            <a:off x="700000" y="650000"/>
            <a:ext cx="6400000" cy="500000"/>
          </a:xfrm>
          <a:prstGeom prst="rect">
            <a:avLst/>
          </a:prstGeom>
          <a:noFill/>
        </p:spPr>
        <p:txBody>
          <a:bodyPr wrap="square" anchor="t" lIns="50800" rIns="50800">
            <a:spAutoFit/>
          </a:bodyPr>
          <a:lstStyle/>
          <a:p>
            <a:pPr algn="l"/>
            <a:r>
              <a:rPr sz="1400" b="0">
                <a:solidFill>
                  <a:srgbClr val="AEBBD9"/>
                </a:solidFill>
                <a:latin typeface="Segoe UI"/>
              </a:rPr>
              <a:t>Sun'iy intellektga asoslangan kompyuter tizimlari muhandisligi</a:t>
            </a:r>
          </a:p>
        </p:txBody>
      </p:sp>
      <p:sp>
        <p:nvSpPr>
          <p:cNvPr id="65" name="TextBox 64"/>
          <p:cNvSpPr txBox="1"/>
          <p:nvPr/>
        </p:nvSpPr>
        <p:spPr>
          <a:xfrm>
            <a:off x="700000" y="1850000"/>
            <a:ext cx="6400000" cy="2700000"/>
          </a:xfrm>
          <a:prstGeom prst="rect">
            <a:avLst/>
          </a:prstGeom>
          <a:noFill/>
        </p:spPr>
        <p:txBody>
          <a:bodyPr wrap="square" anchor="t" lIns="50800" rIns="50800">
            <a:spAutoFit/>
          </a:bodyPr>
          <a:lstStyle/>
          <a:p>
            <a:pPr algn="l"/>
            <a:r>
              <a:rPr sz="3600" b="1">
                <a:solidFill>
                  <a:srgbClr val="E8EEFA"/>
                </a:solidFill>
                <a:latin typeface="Segoe UI"/>
              </a:rPr>
              <a:t>Sun'iy intellekt tizimlari uchun zamonaviy kompyuter arxitekturalari</a:t>
            </a:r>
          </a:p>
        </p:txBody>
      </p:sp>
      <p:sp>
        <p:nvSpPr>
          <p:cNvPr id="66" name="Rectangle 65"/>
          <p:cNvSpPr/>
          <p:nvPr/>
        </p:nvSpPr>
        <p:spPr>
          <a:xfrm>
            <a:off x="760000" y="4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00000" y="4850000"/>
            <a:ext cx="6400000" cy="1200000"/>
          </a:xfrm>
          <a:prstGeom prst="rect">
            <a:avLst/>
          </a:prstGeom>
          <a:noFill/>
        </p:spPr>
        <p:txBody>
          <a:bodyPr wrap="square" anchor="t" lIns="50800" rIns="50800">
            <a:spAutoFit/>
          </a:bodyPr>
          <a:lstStyle/>
          <a:p>
            <a:pPr algn="l"/>
            <a:r>
              <a:rPr sz="1400" b="0">
                <a:solidFill>
                  <a:srgbClr val="AEBBD9"/>
                </a:solidFill>
                <a:latin typeface="Segoe UI"/>
              </a:rPr>
              <a:t>O‘qituvchi: S.Iskandarova, t.f.f.d. (PhD), dotsent</a:t>
            </a:r>
          </a:p>
          <a:p>
            <a:pPr algn="l"/>
            <a:r>
              <a:rPr sz="1400" b="0">
                <a:solidFill>
                  <a:srgbClr val="AEBBD9"/>
                </a:solidFill>
                <a:latin typeface="Segoe UI"/>
              </a:rPr>
              <a:t>2026-2027 o‘quv yili</a:t>
            </a:r>
          </a:p>
          <a:p>
            <a:pPr algn="l"/>
            <a:r>
              <a:rPr sz="1400" b="0">
                <a:solidFill>
                  <a:srgbClr val="AEBBD9"/>
                </a:solidFill>
                <a:latin typeface="Segoe U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200"/>
                            </p:stCondLst>
                            <p:childTnLst>
                              <p:par>
                                <p:cTn id="228" presetID="53" presetClass="entr" presetSubtype="16" fill="hold" grpId="0" nodeType="afterEffect">
                                  <p:stCondLst>
                                    <p:cond delay="0"/>
                                  </p:stCondLst>
                                  <p:childTnLst>
                                    <p:set>
                                      <p:cBhvr>
                                        <p:cTn id="229" dur="1" fill="hold">
                                          <p:stCondLst>
                                            <p:cond delay="0"/>
                                          </p:stCondLst>
                                        </p:cTn>
                                        <p:tgtEl>
                                          <p:spTgt spid="60"/>
                                        </p:tgtEl>
                                        <p:attrNameLst>
                                          <p:attrName>style.visibility</p:attrName>
                                        </p:attrNameLst>
                                      </p:cBhvr>
                                      <p:to>
                                        <p:strVal val="visible"/>
                                      </p:to>
                                    </p:set>
                                    <p:animEffect transition="in" filter="fade">
                                      <p:cBhvr>
                                        <p:cTn id="230" dur="550"/>
                                        <p:tgtEl>
                                          <p:spTgt spid="60"/>
                                        </p:tgtEl>
                                      </p:cBhvr>
                                    </p:animEffect>
                                    <p:anim calcmode="lin" valueType="num">
                                      <p:cBhvr additive="base">
                                        <p:cTn id="231" dur="550" fill="hold"/>
                                        <p:tgtEl>
                                          <p:spTgt spid="60"/>
                                        </p:tgtEl>
                                        <p:attrNameLst>
                                          <p:attrName>ppt_w</p:attrName>
                                        </p:attrNameLst>
                                      </p:cBhvr>
                                      <p:tavLst>
                                        <p:tav tm="0">
                                          <p:val>
                                            <p:strVal val="0"/>
                                          </p:val>
                                        </p:tav>
                                        <p:tav tm="100000">
                                          <p:val>
                                            <p:strVal val="#ppt_w"/>
                                          </p:val>
                                        </p:tav>
                                      </p:tavLst>
                                    </p:anim>
                                    <p:anim calcmode="lin" valueType="num">
                                      <p:cBhvr additive="base">
                                        <p:cTn id="232" dur="550" fill="hold"/>
                                        <p:tgtEl>
                                          <p:spTgt spid="60"/>
                                        </p:tgtEl>
                                        <p:attrNameLst>
                                          <p:attrName>ppt_h</p:attrName>
                                        </p:attrNameLst>
                                      </p:cBhvr>
                                      <p:tavLst>
                                        <p:tav tm="0">
                                          <p:val>
                                            <p:strVal val="0"/>
                                          </p:val>
                                        </p:tav>
                                        <p:tav tm="100000">
                                          <p:val>
                                            <p:strVal val="#ppt_h"/>
                                          </p:val>
                                        </p:tav>
                                      </p:tavLst>
                                    </p:anim>
                                  </p:childTnLst>
                                </p:cTn>
                              </p:par>
                            </p:childTnLst>
                          </p:cTn>
                        </p:par>
                        <p:par>
                          <p:cTn id="233" fill="hold">
                            <p:stCondLst>
                              <p:cond delay="200"/>
                            </p:stCondLst>
                            <p:childTnLst>
                              <p:par>
                                <p:cTn id="234" presetID="53" presetClass="entr" presetSubtype="16" fill="hold" grpId="0" nodeType="afterEffect">
                                  <p:stCondLst>
                                    <p:cond delay="0"/>
                                  </p:stCondLst>
                                  <p:childTnLst>
                                    <p:set>
                                      <p:cBhvr>
                                        <p:cTn id="235" dur="1" fill="hold">
                                          <p:stCondLst>
                                            <p:cond delay="0"/>
                                          </p:stCondLst>
                                        </p:cTn>
                                        <p:tgtEl>
                                          <p:spTgt spid="59"/>
                                        </p:tgtEl>
                                        <p:attrNameLst>
                                          <p:attrName>style.visibility</p:attrName>
                                        </p:attrNameLst>
                                      </p:cBhvr>
                                      <p:to>
                                        <p:strVal val="visible"/>
                                      </p:to>
                                    </p:set>
                                    <p:animEffect transition="in" filter="fade">
                                      <p:cBhvr>
                                        <p:cTn id="236" dur="550"/>
                                        <p:tgtEl>
                                          <p:spTgt spid="59"/>
                                        </p:tgtEl>
                                      </p:cBhvr>
                                    </p:animEffect>
                                    <p:anim calcmode="lin" valueType="num">
                                      <p:cBhvr additive="base">
                                        <p:cTn id="237" dur="550" fill="hold"/>
                                        <p:tgtEl>
                                          <p:spTgt spid="59"/>
                                        </p:tgtEl>
                                        <p:attrNameLst>
                                          <p:attrName>ppt_w</p:attrName>
                                        </p:attrNameLst>
                                      </p:cBhvr>
                                      <p:tavLst>
                                        <p:tav tm="0">
                                          <p:val>
                                            <p:strVal val="0"/>
                                          </p:val>
                                        </p:tav>
                                        <p:tav tm="100000">
                                          <p:val>
                                            <p:strVal val="#ppt_w"/>
                                          </p:val>
                                        </p:tav>
                                      </p:tavLst>
                                    </p:anim>
                                    <p:anim calcmode="lin" valueType="num">
                                      <p:cBhvr additive="base">
                                        <p:cTn id="238" dur="550" fill="hold"/>
                                        <p:tgtEl>
                                          <p:spTgt spid="59"/>
                                        </p:tgtEl>
                                        <p:attrNameLst>
                                          <p:attrName>ppt_h</p:attrName>
                                        </p:attrNameLst>
                                      </p:cBhvr>
                                      <p:tavLst>
                                        <p:tav tm="0">
                                          <p:val>
                                            <p:strVal val="0"/>
                                          </p:val>
                                        </p:tav>
                                        <p:tav tm="100000">
                                          <p:val>
                                            <p:strVal val="#ppt_h"/>
                                          </p:val>
                                        </p:tav>
                                      </p:tavLst>
                                    </p:anim>
                                  </p:childTnLst>
                                </p:cTn>
                              </p:par>
                            </p:childTnLst>
                          </p:cTn>
                        </p:par>
                        <p:par>
                          <p:cTn id="239" fill="hold">
                            <p:stCondLst>
                              <p:cond delay="200"/>
                            </p:stCondLst>
                            <p:childTnLst>
                              <p:par>
                                <p:cTn id="240" presetID="53" presetClass="entr" presetSubtype="16" fill="hold" grpId="0" nodeType="afterEffect">
                                  <p:stCondLst>
                                    <p:cond delay="0"/>
                                  </p:stCondLst>
                                  <p:childTnLst>
                                    <p:set>
                                      <p:cBhvr>
                                        <p:cTn id="241" dur="1" fill="hold">
                                          <p:stCondLst>
                                            <p:cond delay="0"/>
                                          </p:stCondLst>
                                        </p:cTn>
                                        <p:tgtEl>
                                          <p:spTgt spid="61"/>
                                        </p:tgtEl>
                                        <p:attrNameLst>
                                          <p:attrName>style.visibility</p:attrName>
                                        </p:attrNameLst>
                                      </p:cBhvr>
                                      <p:to>
                                        <p:strVal val="visible"/>
                                      </p:to>
                                    </p:set>
                                    <p:animEffect transition="in" filter="fade">
                                      <p:cBhvr>
                                        <p:cTn id="242" dur="550"/>
                                        <p:tgtEl>
                                          <p:spTgt spid="61"/>
                                        </p:tgtEl>
                                      </p:cBhvr>
                                    </p:animEffect>
                                    <p:anim calcmode="lin" valueType="num">
                                      <p:cBhvr additive="base">
                                        <p:cTn id="243" dur="550" fill="hold"/>
                                        <p:tgtEl>
                                          <p:spTgt spid="61"/>
                                        </p:tgtEl>
                                        <p:attrNameLst>
                                          <p:attrName>ppt_w</p:attrName>
                                        </p:attrNameLst>
                                      </p:cBhvr>
                                      <p:tavLst>
                                        <p:tav tm="0">
                                          <p:val>
                                            <p:strVal val="0"/>
                                          </p:val>
                                        </p:tav>
                                        <p:tav tm="100000">
                                          <p:val>
                                            <p:strVal val="#ppt_w"/>
                                          </p:val>
                                        </p:tav>
                                      </p:tavLst>
                                    </p:anim>
                                    <p:anim calcmode="lin" valueType="num">
                                      <p:cBhvr additive="base">
                                        <p:cTn id="244" dur="550" fill="hold"/>
                                        <p:tgtEl>
                                          <p:spTgt spid="61"/>
                                        </p:tgtEl>
                                        <p:attrNameLst>
                                          <p:attrName>ppt_h</p:attrName>
                                        </p:attrNameLst>
                                      </p:cBhvr>
                                      <p:tavLst>
                                        <p:tav tm="0">
                                          <p:val>
                                            <p:strVal val="0"/>
                                          </p:val>
                                        </p:tav>
                                        <p:tav tm="100000">
                                          <p:val>
                                            <p:strVal val="#ppt_h"/>
                                          </p:val>
                                        </p:tav>
                                      </p:tavLst>
                                    </p:anim>
                                  </p:childTnLst>
                                </p:cTn>
                              </p:par>
                            </p:childTnLst>
                          </p:cTn>
                        </p:par>
                        <p:par>
                          <p:cTn id="245" fill="hold">
                            <p:stCondLst>
                              <p:cond delay="200"/>
                            </p:stCondLst>
                            <p:childTnLst>
                              <p:par>
                                <p:cTn id="246" presetID="10" presetClass="entr" presetSubtype="0" fill="hold" grpId="0" nodeType="afterEffect">
                                  <p:stCondLst>
                                    <p:cond delay="0"/>
                                  </p:stCondLst>
                                  <p:childTnLst>
                                    <p:set>
                                      <p:cBhvr>
                                        <p:cTn id="247" dur="1" fill="hold">
                                          <p:stCondLst>
                                            <p:cond delay="0"/>
                                          </p:stCondLst>
                                        </p:cTn>
                                        <p:tgtEl>
                                          <p:spTgt spid="62"/>
                                        </p:tgtEl>
                                        <p:attrNameLst>
                                          <p:attrName>style.visibility</p:attrName>
                                        </p:attrNameLst>
                                      </p:cBhvr>
                                      <p:to>
                                        <p:strVal val="visible"/>
                                      </p:to>
                                    </p:set>
                                    <p:animEffect transition="in" filter="fade">
                                      <p:cBhvr>
                                        <p:cTn id="248" dur="550"/>
                                        <p:tgtEl>
                                          <p:spTgt spid="62"/>
                                        </p:tgtEl>
                                      </p:cBhvr>
                                    </p:animEffect>
                                  </p:childTnLst>
                                </p:cTn>
                              </p:par>
                            </p:childTnLst>
                          </p:cTn>
                        </p:par>
                        <p:par>
                          <p:cTn id="249" fill="hold">
                            <p:stCondLst>
                              <p:cond delay="350"/>
                            </p:stCondLst>
                            <p:childTnLst>
                              <p:par>
                                <p:cTn id="250" presetID="10" presetClass="entr" presetSubtype="0" fill="hold" grpId="0" nodeType="afterEffect">
                                  <p:stCondLst>
                                    <p:cond delay="0"/>
                                  </p:stCondLst>
                                  <p:childTnLst>
                                    <p:set>
                                      <p:cBhvr>
                                        <p:cTn id="251" dur="1" fill="hold">
                                          <p:stCondLst>
                                            <p:cond delay="0"/>
                                          </p:stCondLst>
                                        </p:cTn>
                                        <p:tgtEl>
                                          <p:spTgt spid="64"/>
                                        </p:tgtEl>
                                        <p:attrNameLst>
                                          <p:attrName>style.visibility</p:attrName>
                                        </p:attrNameLst>
                                      </p:cBhvr>
                                      <p:to>
                                        <p:strVal val="visible"/>
                                      </p:to>
                                    </p:set>
                                    <p:animEffect transition="in" filter="fade">
                                      <p:cBhvr>
                                        <p:cTn id="252" dur="550"/>
                                        <p:tgtEl>
                                          <p:spTgt spid="64"/>
                                        </p:tgtEl>
                                      </p:cBhvr>
                                    </p:animEffect>
                                  </p:childTnLst>
                                </p:cTn>
                              </p:par>
                            </p:childTnLst>
                          </p:cTn>
                        </p:par>
                        <p:par>
                          <p:cTn id="253" fill="hold">
                            <p:stCondLst>
                              <p:cond delay="500"/>
                            </p:stCondLst>
                            <p:childTnLst>
                              <p:par>
                                <p:cTn id="254" presetID="2" presetClass="entr" presetSubtype="8" fill="hold" grpId="0" nodeType="afterEffect">
                                  <p:stCondLst>
                                    <p:cond delay="0"/>
                                  </p:stCondLst>
                                  <p:childTnLst>
                                    <p:set>
                                      <p:cBhvr>
                                        <p:cTn id="255" dur="1" fill="hold">
                                          <p:stCondLst>
                                            <p:cond delay="0"/>
                                          </p:stCondLst>
                                        </p:cTn>
                                        <p:tgtEl>
                                          <p:spTgt spid="63"/>
                                        </p:tgtEl>
                                        <p:attrNameLst>
                                          <p:attrName>style.visibility</p:attrName>
                                        </p:attrNameLst>
                                      </p:cBhvr>
                                      <p:to>
                                        <p:strVal val="visible"/>
                                      </p:to>
                                    </p:set>
                                    <p:anim calcmode="lin" valueType="num">
                                      <p:cBhvr additive="base">
                                        <p:cTn id="257" dur="550" fill="hold"/>
                                        <p:tgtEl>
                                          <p:spTgt spid="63"/>
                                        </p:tgtEl>
                                        <p:attrNameLst>
                                          <p:attrName>ppt_x</p:attrName>
                                        </p:attrNameLst>
                                      </p:cBhvr>
                                      <p:tavLst>
                                        <p:tav tm="0">
                                          <p:val>
                                            <p:strVal val="0-#ppt_w/2"/>
                                          </p:val>
                                        </p:tav>
                                        <p:tav tm="100000">
                                          <p:val>
                                            <p:strVal val="#ppt_x"/>
                                          </p:val>
                                        </p:tav>
                                      </p:tavLst>
                                    </p:anim>
                                    <p:anim calcmode="lin" valueType="num">
                                      <p:cBhvr additive="base">
                                        <p:cTn id="258" dur="550" fill="hold"/>
                                        <p:tgtEl>
                                          <p:spTgt spid="63"/>
                                        </p:tgtEl>
                                        <p:attrNameLst>
                                          <p:attrName>ppt_y</p:attrName>
                                        </p:attrNameLst>
                                      </p:cBhvr>
                                      <p:tavLst>
                                        <p:tav tm="0">
                                          <p:val>
                                            <p:strVal val="#ppt_y"/>
                                          </p:val>
                                        </p:tav>
                                        <p:tav tm="100000">
                                          <p:val>
                                            <p:strVal val="#ppt_y"/>
                                          </p:val>
                                        </p:tav>
                                      </p:tavLst>
                                    </p:anim>
                                  </p:childTnLst>
                                </p:cTn>
                              </p:par>
                            </p:childTnLst>
                          </p:cTn>
                        </p:par>
                        <p:par>
                          <p:cTn id="259" fill="hold">
                            <p:stCondLst>
                              <p:cond delay="650"/>
                            </p:stCondLst>
                            <p:childTnLst>
                              <p:par>
                                <p:cTn id="260" presetID="42" presetClass="entr" presetSubtype="0" fill="hold" grpId="0" nodeType="afterEffect">
                                  <p:stCondLst>
                                    <p:cond delay="0"/>
                                  </p:stCondLst>
                                  <p:childTnLst>
                                    <p:set>
                                      <p:cBhvr>
                                        <p:cTn id="261" dur="1" fill="hold">
                                          <p:stCondLst>
                                            <p:cond delay="0"/>
                                          </p:stCondLst>
                                        </p:cTn>
                                        <p:tgtEl>
                                          <p:spTgt spid="65"/>
                                        </p:tgtEl>
                                        <p:attrNameLst>
                                          <p:attrName>style.visibility</p:attrName>
                                        </p:attrNameLst>
                                      </p:cBhvr>
                                      <p:to>
                                        <p:strVal val="visible"/>
                                      </p:to>
                                    </p:set>
                                    <p:animEffect transition="in" filter="fade">
                                      <p:cBhvr>
                                        <p:cTn id="262" dur="550"/>
                                        <p:tgtEl>
                                          <p:spTgt spid="65"/>
                                        </p:tgtEl>
                                      </p:cBhvr>
                                    </p:animEffect>
                                    <p:anim calcmode="lin" valueType="num">
                                      <p:cBhvr additive="base">
                                        <p:cTn id="263" dur="550" fill="hold"/>
                                        <p:tgtEl>
                                          <p:spTgt spid="65"/>
                                        </p:tgtEl>
                                        <p:attrNameLst>
                                          <p:attrName>ppt_x</p:attrName>
                                        </p:attrNameLst>
                                      </p:cBhvr>
                                      <p:tavLst>
                                        <p:tav tm="0">
                                          <p:val>
                                            <p:strVal val="#ppt_x"/>
                                          </p:val>
                                        </p:tav>
                                        <p:tav tm="100000">
                                          <p:val>
                                            <p:strVal val="#ppt_x"/>
                                          </p:val>
                                        </p:tav>
                                      </p:tavLst>
                                    </p:anim>
                                    <p:anim calcmode="lin" valueType="num">
                                      <p:cBhvr additive="base">
                                        <p:cTn id="264" dur="550" fill="hold"/>
                                        <p:tgtEl>
                                          <p:spTgt spid="65"/>
                                        </p:tgtEl>
                                        <p:attrNameLst>
                                          <p:attrName>ppt_y</p:attrName>
                                        </p:attrNameLst>
                                      </p:cBhvr>
                                      <p:tavLst>
                                        <p:tav tm="0">
                                          <p:val>
                                            <p:strVal val="#ppt_y+.08"/>
                                          </p:val>
                                        </p:tav>
                                        <p:tav tm="100000">
                                          <p:val>
                                            <p:strVal val="#ppt_y"/>
                                          </p:val>
                                        </p:tav>
                                      </p:tavLst>
                                    </p:anim>
                                  </p:childTnLst>
                                </p:cTn>
                              </p:par>
                            </p:childTnLst>
                          </p:cTn>
                        </p:par>
                        <p:par>
                          <p:cTn id="265" fill="hold">
                            <p:stCondLst>
                              <p:cond delay="800"/>
                            </p:stCondLst>
                            <p:childTnLst>
                              <p:par>
                                <p:cTn id="266" presetID="22" presetClass="entr" presetSubtype="8" fill="hold" grpId="0" nodeType="afterEffect">
                                  <p:stCondLst>
                                    <p:cond delay="0"/>
                                  </p:stCondLst>
                                  <p:childTnLst>
                                    <p:set>
                                      <p:cBhvr>
                                        <p:cTn id="267" dur="1" fill="hold">
                                          <p:stCondLst>
                                            <p:cond delay="0"/>
                                          </p:stCondLst>
                                        </p:cTn>
                                        <p:tgtEl>
                                          <p:spTgt spid="66"/>
                                        </p:tgtEl>
                                        <p:attrNameLst>
                                          <p:attrName>style.visibility</p:attrName>
                                        </p:attrNameLst>
                                      </p:cBhvr>
                                      <p:to>
                                        <p:strVal val="visible"/>
                                      </p:to>
                                    </p:set>
                                    <p:animEffect transition="in" filter="wipe(left)">
                                      <p:cBhvr>
                                        <p:cTn id="269" dur="800"/>
                                        <p:tgtEl>
                                          <p:spTgt spid="66"/>
                                        </p:tgtEl>
                                      </p:cBhvr>
                                    </p:animEffect>
                                  </p:childTnLst>
                                </p:cTn>
                              </p:par>
                            </p:childTnLst>
                          </p:cTn>
                        </p:par>
                        <p:par>
                          <p:cTn id="270" fill="hold">
                            <p:stCondLst>
                              <p:cond delay="950"/>
                            </p:stCondLst>
                            <p:childTnLst>
                              <p:par>
                                <p:cTn id="271" presetID="10" presetClass="entr" presetSubtype="0" fill="hold" grpId="0" nodeType="afterEffect">
                                  <p:stCondLst>
                                    <p:cond delay="0"/>
                                  </p:stCondLst>
                                  <p:childTnLst>
                                    <p:set>
                                      <p:cBhvr>
                                        <p:cTn id="272" dur="1" fill="hold">
                                          <p:stCondLst>
                                            <p:cond delay="0"/>
                                          </p:stCondLst>
                                        </p:cTn>
                                        <p:tgtEl>
                                          <p:spTgt spid="67"/>
                                        </p:tgtEl>
                                        <p:attrNameLst>
                                          <p:attrName>style.visibility</p:attrName>
                                        </p:attrNameLst>
                                      </p:cBhvr>
                                      <p:to>
                                        <p:strVal val="visible"/>
                                      </p:to>
                                    </p:set>
                                    <p:animEffect transition="in" filter="fade">
                                      <p:cBhvr>
                                        <p:cTn id="273" dur="55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60" grpId="0" animBg="1"/>
      <p:bldP spid="59" grpId="0" animBg="1"/>
      <p:bldP spid="62" grpId="0" animBg="1"/>
      <p:bldP spid="64" grpId="0" animBg="1"/>
      <p:bldP spid="63" grpId="0" animBg="1"/>
      <p:bldP spid="65" grpId="0" animBg="1"/>
      <p:bldP spid="66" grpId="0" animBg="1"/>
      <p:bldP spid="67"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MA’RUZA REJASI</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Reja</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a:t>
            </a:r>
          </a:p>
        </p:txBody>
      </p:sp>
      <p:sp>
        <p:nvSpPr>
          <p:cNvPr id="26" name="Rounded Rectangle 25"/>
          <p:cNvSpPr/>
          <p:nvPr/>
        </p:nvSpPr>
        <p:spPr>
          <a:xfrm>
            <a:off x="550000" y="1330000"/>
            <a:ext cx="11100000" cy="51875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410000"/>
            <a:ext cx="50000" cy="3587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1409375"/>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1370000"/>
            <a:ext cx="10250000" cy="438750"/>
          </a:xfrm>
          <a:prstGeom prst="rect">
            <a:avLst/>
          </a:prstGeom>
          <a:noFill/>
        </p:spPr>
        <p:txBody>
          <a:bodyPr wrap="square" anchor="ctr">
            <a:spAutoFit/>
          </a:bodyPr>
          <a:lstStyle/>
          <a:p>
            <a:r>
              <a:rPr sz="1600" b="0">
                <a:solidFill>
                  <a:srgbClr val="E8EEFA"/>
                </a:solidFill>
                <a:latin typeface="Segoe UI"/>
              </a:rPr>
              <a:t>CPU: kechikishga optimallashtirilgan arxitektura</a:t>
            </a:r>
          </a:p>
        </p:txBody>
      </p:sp>
      <p:sp>
        <p:nvSpPr>
          <p:cNvPr id="30" name="Rounded Rectangle 29"/>
          <p:cNvSpPr/>
          <p:nvPr/>
        </p:nvSpPr>
        <p:spPr>
          <a:xfrm>
            <a:off x="550000" y="1958750"/>
            <a:ext cx="11100000" cy="51875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038750"/>
            <a:ext cx="50000" cy="35875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2038125"/>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1998750"/>
            <a:ext cx="10250000" cy="438750"/>
          </a:xfrm>
          <a:prstGeom prst="rect">
            <a:avLst/>
          </a:prstGeom>
          <a:noFill/>
        </p:spPr>
        <p:txBody>
          <a:bodyPr wrap="square" anchor="ctr">
            <a:spAutoFit/>
          </a:bodyPr>
          <a:lstStyle/>
          <a:p>
            <a:r>
              <a:rPr sz="1600" b="0">
                <a:solidFill>
                  <a:srgbClr val="E8EEFA"/>
                </a:solidFill>
                <a:latin typeface="Segoe UI"/>
              </a:rPr>
              <a:t>GPU: o'tkazuvchanlikka optimallashtirilgan arxitektura</a:t>
            </a:r>
          </a:p>
        </p:txBody>
      </p:sp>
      <p:sp>
        <p:nvSpPr>
          <p:cNvPr id="34" name="Rounded Rectangle 33"/>
          <p:cNvSpPr/>
          <p:nvPr/>
        </p:nvSpPr>
        <p:spPr>
          <a:xfrm>
            <a:off x="550000" y="2587500"/>
            <a:ext cx="11100000" cy="51875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2667500"/>
            <a:ext cx="50000" cy="35875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60000" y="2666875"/>
            <a:ext cx="360000" cy="36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7" name="TextBox 36"/>
          <p:cNvSpPr txBox="1"/>
          <p:nvPr/>
        </p:nvSpPr>
        <p:spPr>
          <a:xfrm>
            <a:off x="1300000" y="2627500"/>
            <a:ext cx="10250000" cy="438750"/>
          </a:xfrm>
          <a:prstGeom prst="rect">
            <a:avLst/>
          </a:prstGeom>
          <a:noFill/>
        </p:spPr>
        <p:txBody>
          <a:bodyPr wrap="square" anchor="ctr">
            <a:spAutoFit/>
          </a:bodyPr>
          <a:lstStyle/>
          <a:p>
            <a:r>
              <a:rPr sz="1600" b="0">
                <a:solidFill>
                  <a:srgbClr val="E8EEFA"/>
                </a:solidFill>
                <a:latin typeface="Segoe UI"/>
              </a:rPr>
              <a:t>TPU va sistolik massiv</a:t>
            </a:r>
          </a:p>
        </p:txBody>
      </p:sp>
      <p:sp>
        <p:nvSpPr>
          <p:cNvPr id="38" name="Rounded Rectangle 37"/>
          <p:cNvSpPr/>
          <p:nvPr/>
        </p:nvSpPr>
        <p:spPr>
          <a:xfrm>
            <a:off x="550000" y="3216250"/>
            <a:ext cx="11100000" cy="51875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3296250"/>
            <a:ext cx="50000" cy="3587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60000" y="3295625"/>
            <a:ext cx="360000" cy="36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41" name="TextBox 40"/>
          <p:cNvSpPr txBox="1"/>
          <p:nvPr/>
        </p:nvSpPr>
        <p:spPr>
          <a:xfrm>
            <a:off x="1300000" y="3256250"/>
            <a:ext cx="10250000" cy="438750"/>
          </a:xfrm>
          <a:prstGeom prst="rect">
            <a:avLst/>
          </a:prstGeom>
          <a:noFill/>
        </p:spPr>
        <p:txBody>
          <a:bodyPr wrap="square" anchor="ctr">
            <a:spAutoFit/>
          </a:bodyPr>
          <a:lstStyle/>
          <a:p>
            <a:r>
              <a:rPr sz="1600" b="0">
                <a:solidFill>
                  <a:srgbClr val="E8EEFA"/>
                </a:solidFill>
                <a:latin typeface="Segoe UI"/>
              </a:rPr>
              <a:t>NPU: chekka va iste'mol qurilmalaridagi tezlatkichlar</a:t>
            </a:r>
          </a:p>
        </p:txBody>
      </p:sp>
      <p:sp>
        <p:nvSpPr>
          <p:cNvPr id="42" name="Rounded Rectangle 41"/>
          <p:cNvSpPr/>
          <p:nvPr/>
        </p:nvSpPr>
        <p:spPr>
          <a:xfrm>
            <a:off x="550000" y="3845000"/>
            <a:ext cx="11100000" cy="51875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3925000"/>
            <a:ext cx="50000" cy="35875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60000" y="3924375"/>
            <a:ext cx="360000" cy="360000"/>
          </a:xfrm>
          <a:prstGeom prst="ellipse">
            <a:avLst/>
          </a:prstGeom>
          <a:noFill/>
          <a:ln w="254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F59E0B"/>
                </a:solidFill>
                <a:latin typeface="Segoe UI"/>
              </a:rPr>
              <a:t>05</a:t>
            </a:r>
          </a:p>
        </p:txBody>
      </p:sp>
      <p:sp>
        <p:nvSpPr>
          <p:cNvPr id="45" name="TextBox 44"/>
          <p:cNvSpPr txBox="1"/>
          <p:nvPr/>
        </p:nvSpPr>
        <p:spPr>
          <a:xfrm>
            <a:off x="1300000" y="3885000"/>
            <a:ext cx="10250000" cy="438750"/>
          </a:xfrm>
          <a:prstGeom prst="rect">
            <a:avLst/>
          </a:prstGeom>
          <a:noFill/>
        </p:spPr>
        <p:txBody>
          <a:bodyPr wrap="square" anchor="ctr">
            <a:spAutoFit/>
          </a:bodyPr>
          <a:lstStyle/>
          <a:p>
            <a:r>
              <a:rPr sz="1600" b="0">
                <a:solidFill>
                  <a:srgbClr val="E8EEFA"/>
                </a:solidFill>
                <a:latin typeface="Segoe UI"/>
              </a:rPr>
              <a:t>FPGA: qayta dasturlanadigan apparat</a:t>
            </a:r>
          </a:p>
        </p:txBody>
      </p:sp>
      <p:sp>
        <p:nvSpPr>
          <p:cNvPr id="46" name="Rounded Rectangle 45"/>
          <p:cNvSpPr/>
          <p:nvPr/>
        </p:nvSpPr>
        <p:spPr>
          <a:xfrm>
            <a:off x="550000" y="4473750"/>
            <a:ext cx="11100000" cy="51875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50000" y="4553750"/>
            <a:ext cx="50000" cy="358750"/>
          </a:xfrm>
          <a:prstGeom prst="rect">
            <a:avLst/>
          </a:prstGeom>
          <a:solidFill>
            <a:srgbClr val="60A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60000" y="4553125"/>
            <a:ext cx="360000" cy="360000"/>
          </a:xfrm>
          <a:prstGeom prst="ellipse">
            <a:avLst/>
          </a:prstGeom>
          <a:noFill/>
          <a:ln w="25400">
            <a:solidFill>
              <a:srgbClr val="60A5FA"/>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60A5FA"/>
                </a:solidFill>
                <a:latin typeface="Segoe UI"/>
              </a:rPr>
              <a:t>06</a:t>
            </a:r>
          </a:p>
        </p:txBody>
      </p:sp>
      <p:sp>
        <p:nvSpPr>
          <p:cNvPr id="49" name="TextBox 48"/>
          <p:cNvSpPr txBox="1"/>
          <p:nvPr/>
        </p:nvSpPr>
        <p:spPr>
          <a:xfrm>
            <a:off x="1300000" y="4513750"/>
            <a:ext cx="10250000" cy="438750"/>
          </a:xfrm>
          <a:prstGeom prst="rect">
            <a:avLst/>
          </a:prstGeom>
          <a:noFill/>
        </p:spPr>
        <p:txBody>
          <a:bodyPr wrap="square" anchor="ctr">
            <a:spAutoFit/>
          </a:bodyPr>
          <a:lstStyle/>
          <a:p>
            <a:r>
              <a:rPr sz="1600" b="0">
                <a:solidFill>
                  <a:srgbClr val="E8EEFA"/>
                </a:solidFill>
                <a:latin typeface="Segoe UI"/>
              </a:rPr>
              <a:t>Arxitekturalarni qiyosiy tahlil qilish</a:t>
            </a:r>
          </a:p>
        </p:txBody>
      </p:sp>
      <p:sp>
        <p:nvSpPr>
          <p:cNvPr id="50" name="Rounded Rectangle 49"/>
          <p:cNvSpPr/>
          <p:nvPr/>
        </p:nvSpPr>
        <p:spPr>
          <a:xfrm>
            <a:off x="550000" y="5102500"/>
            <a:ext cx="11100000" cy="51875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50000" y="5182500"/>
            <a:ext cx="50000" cy="3587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760000" y="5181875"/>
            <a:ext cx="360000" cy="36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07</a:t>
            </a:r>
          </a:p>
        </p:txBody>
      </p:sp>
      <p:sp>
        <p:nvSpPr>
          <p:cNvPr id="53" name="TextBox 52"/>
          <p:cNvSpPr txBox="1"/>
          <p:nvPr/>
        </p:nvSpPr>
        <p:spPr>
          <a:xfrm>
            <a:off x="1300000" y="5142500"/>
            <a:ext cx="10250000" cy="438750"/>
          </a:xfrm>
          <a:prstGeom prst="rect">
            <a:avLst/>
          </a:prstGeom>
          <a:noFill/>
        </p:spPr>
        <p:txBody>
          <a:bodyPr wrap="square" anchor="ctr">
            <a:spAutoFit/>
          </a:bodyPr>
          <a:lstStyle/>
          <a:p>
            <a:r>
              <a:rPr sz="1600" b="0">
                <a:solidFill>
                  <a:srgbClr val="E8EEFA"/>
                </a:solidFill>
                <a:latin typeface="Segoe UI"/>
              </a:rPr>
              <a:t>Geterogen hisoblash tizimlari</a:t>
            </a:r>
          </a:p>
        </p:txBody>
      </p:sp>
      <p:sp>
        <p:nvSpPr>
          <p:cNvPr id="54" name="Rounded Rectangle 53"/>
          <p:cNvSpPr/>
          <p:nvPr/>
        </p:nvSpPr>
        <p:spPr>
          <a:xfrm>
            <a:off x="550000" y="5731250"/>
            <a:ext cx="11100000" cy="518750"/>
          </a:xfrm>
          <a:prstGeom prst="roundRect">
            <a:avLst>
              <a:gd name="adj" fmla="val 25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50000" y="5811250"/>
            <a:ext cx="50000" cy="358750"/>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760000" y="5810625"/>
            <a:ext cx="360000" cy="36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08</a:t>
            </a:r>
          </a:p>
        </p:txBody>
      </p:sp>
      <p:sp>
        <p:nvSpPr>
          <p:cNvPr id="57" name="TextBox 56"/>
          <p:cNvSpPr txBox="1"/>
          <p:nvPr/>
        </p:nvSpPr>
        <p:spPr>
          <a:xfrm>
            <a:off x="1300000" y="5771250"/>
            <a:ext cx="10250000" cy="438750"/>
          </a:xfrm>
          <a:prstGeom prst="rect">
            <a:avLst/>
          </a:prstGeom>
          <a:noFill/>
        </p:spPr>
        <p:txBody>
          <a:bodyPr wrap="square" anchor="ctr">
            <a:spAutoFit/>
          </a:bodyPr>
          <a:lstStyle/>
          <a:p>
            <a:r>
              <a:rPr sz="1600" b="0">
                <a:solidFill>
                  <a:srgbClr val="E8EEFA"/>
                </a:solidFill>
                <a:latin typeface="Segoe UI"/>
              </a:rPr>
              <a:t>Zamonaviy AI serverlari va superkompyuterlar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200"/>
                            </p:stCondLst>
                            <p:childTnLst>
                              <p:par>
                                <p:cTn id="13" presetID="42" presetClass="entr" presetSubtype="0"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ppt_x</p:attrName>
                                        </p:attrNameLst>
                                      </p:cBhvr>
                                      <p:tavLst>
                                        <p:tav tm="0">
                                          <p:val>
                                            <p:strVal val="#ppt_x"/>
                                          </p:val>
                                        </p:tav>
                                        <p:tav tm="100000">
                                          <p:val>
                                            <p:strVal val="#ppt_x"/>
                                          </p:val>
                                        </p:tav>
                                      </p:tavLst>
                                    </p:anim>
                                    <p:anim calcmode="lin" valueType="num">
                                      <p:cBhvr additive="base">
                                        <p:cTn id="17" dur="550" fill="hold"/>
                                        <p:tgtEl>
                                          <p:spTgt spid="26"/>
                                        </p:tgtEl>
                                        <p:attrNameLst>
                                          <p:attrName>ppt_y</p:attrName>
                                        </p:attrNameLst>
                                      </p:cBhvr>
                                      <p:tavLst>
                                        <p:tav tm="0">
                                          <p:val>
                                            <p:strVal val="#ppt_y+.08"/>
                                          </p:val>
                                        </p:tav>
                                        <p:tav tm="100000">
                                          <p:val>
                                            <p:strVal val="#ppt_y"/>
                                          </p:val>
                                        </p:tav>
                                      </p:tavLst>
                                    </p:anim>
                                  </p:childTnLst>
                                </p:cTn>
                              </p:par>
                            </p:childTnLst>
                          </p:cTn>
                        </p:par>
                        <p:par>
                          <p:cTn id="18" fill="hold">
                            <p:stCondLst>
                              <p:cond delay="200"/>
                            </p:stCondLst>
                            <p:childTnLst>
                              <p:par>
                                <p:cTn id="19" presetID="42" presetClass="entr" presetSubtype="0"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ppt_x</p:attrName>
                                        </p:attrNameLst>
                                      </p:cBhvr>
                                      <p:tavLst>
                                        <p:tav tm="0">
                                          <p:val>
                                            <p:strVal val="#ppt_x"/>
                                          </p:val>
                                        </p:tav>
                                        <p:tav tm="100000">
                                          <p:val>
                                            <p:strVal val="#ppt_x"/>
                                          </p:val>
                                        </p:tav>
                                      </p:tavLst>
                                    </p:anim>
                                    <p:anim calcmode="lin" valueType="num">
                                      <p:cBhvr additive="base">
                                        <p:cTn id="23" dur="550" fill="hold"/>
                                        <p:tgtEl>
                                          <p:spTgt spid="27"/>
                                        </p:tgtEl>
                                        <p:attrNameLst>
                                          <p:attrName>ppt_y</p:attrName>
                                        </p:attrNameLst>
                                      </p:cBhvr>
                                      <p:tavLst>
                                        <p:tav tm="0">
                                          <p:val>
                                            <p:strVal val="#ppt_y+.08"/>
                                          </p:val>
                                        </p:tav>
                                        <p:tav tm="100000">
                                          <p:val>
                                            <p:strVal val="#ppt_y"/>
                                          </p:val>
                                        </p:tav>
                                      </p:tavLst>
                                    </p:anim>
                                  </p:childTnLst>
                                </p:cTn>
                              </p:par>
                            </p:childTnLst>
                          </p:cTn>
                        </p:par>
                        <p:par>
                          <p:cTn id="24" fill="hold">
                            <p:stCondLst>
                              <p:cond delay="200"/>
                            </p:stCondLst>
                            <p:childTnLst>
                              <p:par>
                                <p:cTn id="25" presetID="53" presetClass="entr" presetSubtype="16"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anim calcmode="lin" valueType="num">
                                      <p:cBhvr additive="base">
                                        <p:cTn id="28" dur="550" fill="hold"/>
                                        <p:tgtEl>
                                          <p:spTgt spid="28"/>
                                        </p:tgtEl>
                                        <p:attrNameLst>
                                          <p:attrName>ppt_w</p:attrName>
                                        </p:attrNameLst>
                                      </p:cBhvr>
                                      <p:tavLst>
                                        <p:tav tm="0">
                                          <p:val>
                                            <p:strVal val="0"/>
                                          </p:val>
                                        </p:tav>
                                        <p:tav tm="100000">
                                          <p:val>
                                            <p:strVal val="#ppt_w"/>
                                          </p:val>
                                        </p:tav>
                                      </p:tavLst>
                                    </p:anim>
                                    <p:anim calcmode="lin" valueType="num">
                                      <p:cBhvr additive="base">
                                        <p:cTn id="29" dur="550" fill="hold"/>
                                        <p:tgtEl>
                                          <p:spTgt spid="28"/>
                                        </p:tgtEl>
                                        <p:attrNameLst>
                                          <p:attrName>ppt_h</p:attrName>
                                        </p:attrNameLst>
                                      </p:cBhvr>
                                      <p:tavLst>
                                        <p:tav tm="0">
                                          <p:val>
                                            <p:strVal val="0"/>
                                          </p:val>
                                        </p:tav>
                                        <p:tav tm="100000">
                                          <p:val>
                                            <p:strVal val="#ppt_h"/>
                                          </p:val>
                                        </p:tav>
                                      </p:tavLst>
                                    </p:anim>
                                  </p:childTnLst>
                                </p:cTn>
                              </p:par>
                            </p:childTnLst>
                          </p:cTn>
                        </p:par>
                        <p:par>
                          <p:cTn id="30" fill="hold">
                            <p:stCondLst>
                              <p:cond delay="200"/>
                            </p:stCondLst>
                            <p:childTnLst>
                              <p:par>
                                <p:cTn id="31" presetID="42" presetClass="entr" presetSubtype="0" fill="hold" grpId="0" nodeType="after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550"/>
                                        <p:tgtEl>
                                          <p:spTgt spid="29"/>
                                        </p:tgtEl>
                                      </p:cBhvr>
                                    </p:animEffect>
                                    <p:anim calcmode="lin" valueType="num">
                                      <p:cBhvr additive="base">
                                        <p:cTn id="34" dur="550" fill="hold"/>
                                        <p:tgtEl>
                                          <p:spTgt spid="29"/>
                                        </p:tgtEl>
                                        <p:attrNameLst>
                                          <p:attrName>ppt_x</p:attrName>
                                        </p:attrNameLst>
                                      </p:cBhvr>
                                      <p:tavLst>
                                        <p:tav tm="0">
                                          <p:val>
                                            <p:strVal val="#ppt_x"/>
                                          </p:val>
                                        </p:tav>
                                        <p:tav tm="100000">
                                          <p:val>
                                            <p:strVal val="#ppt_x"/>
                                          </p:val>
                                        </p:tav>
                                      </p:tavLst>
                                    </p:anim>
                                    <p:anim calcmode="lin" valueType="num">
                                      <p:cBhvr additive="base">
                                        <p:cTn id="35" dur="550" fill="hold"/>
                                        <p:tgtEl>
                                          <p:spTgt spid="29"/>
                                        </p:tgtEl>
                                        <p:attrNameLst>
                                          <p:attrName>ppt_y</p:attrName>
                                        </p:attrNameLst>
                                      </p:cBhvr>
                                      <p:tavLst>
                                        <p:tav tm="0">
                                          <p:val>
                                            <p:strVal val="#ppt_y+.08"/>
                                          </p:val>
                                        </p:tav>
                                        <p:tav tm="100000">
                                          <p:val>
                                            <p:strVal val="#ppt_y"/>
                                          </p:val>
                                        </p:tav>
                                      </p:tavLst>
                                    </p:anim>
                                  </p:childTnLst>
                                </p:cTn>
                              </p:par>
                            </p:childTnLst>
                          </p:cTn>
                        </p:par>
                        <p:par>
                          <p:cTn id="36" fill="hold">
                            <p:stCondLst>
                              <p:cond delay="400"/>
                            </p:stCondLst>
                            <p:childTnLst>
                              <p:par>
                                <p:cTn id="37" presetID="42" presetClass="entr" presetSubtype="0" fill="hold" grpId="0" nodeType="afterEffect">
                                  <p:stCondLst>
                                    <p:cond delay="0"/>
                                  </p:stCondLst>
                                  <p:childTnLst>
                                    <p:set>
                                      <p:cBhvr>
                                        <p:cTn id="38" dur="1" fill="hold">
                                          <p:stCondLst>
                                            <p:cond delay="0"/>
                                          </p:stCondLst>
                                        </p:cTn>
                                        <p:tgtEl>
                                          <p:spTgt spid="30"/>
                                        </p:tgtEl>
                                        <p:attrNameLst>
                                          <p:attrName>style.visibility</p:attrName>
                                        </p:attrNameLst>
                                      </p:cBhvr>
                                      <p:to>
                                        <p:strVal val="visible"/>
                                      </p:to>
                                    </p:set>
                                    <p:animEffect transition="in" filter="fade">
                                      <p:cBhvr>
                                        <p:cTn id="39" dur="550"/>
                                        <p:tgtEl>
                                          <p:spTgt spid="30"/>
                                        </p:tgtEl>
                                      </p:cBhvr>
                                    </p:animEffect>
                                    <p:anim calcmode="lin" valueType="num">
                                      <p:cBhvr additive="base">
                                        <p:cTn id="40" dur="550" fill="hold"/>
                                        <p:tgtEl>
                                          <p:spTgt spid="30"/>
                                        </p:tgtEl>
                                        <p:attrNameLst>
                                          <p:attrName>ppt_x</p:attrName>
                                        </p:attrNameLst>
                                      </p:cBhvr>
                                      <p:tavLst>
                                        <p:tav tm="0">
                                          <p:val>
                                            <p:strVal val="#ppt_x"/>
                                          </p:val>
                                        </p:tav>
                                        <p:tav tm="100000">
                                          <p:val>
                                            <p:strVal val="#ppt_x"/>
                                          </p:val>
                                        </p:tav>
                                      </p:tavLst>
                                    </p:anim>
                                    <p:anim calcmode="lin" valueType="num">
                                      <p:cBhvr additive="base">
                                        <p:cTn id="41" dur="550" fill="hold"/>
                                        <p:tgtEl>
                                          <p:spTgt spid="30"/>
                                        </p:tgtEl>
                                        <p:attrNameLst>
                                          <p:attrName>ppt_y</p:attrName>
                                        </p:attrNameLst>
                                      </p:cBhvr>
                                      <p:tavLst>
                                        <p:tav tm="0">
                                          <p:val>
                                            <p:strVal val="#ppt_y+.08"/>
                                          </p:val>
                                        </p:tav>
                                        <p:tav tm="100000">
                                          <p:val>
                                            <p:strVal val="#ppt_y"/>
                                          </p:val>
                                        </p:tav>
                                      </p:tavLst>
                                    </p:anim>
                                  </p:childTnLst>
                                </p:cTn>
                              </p:par>
                            </p:childTnLst>
                          </p:cTn>
                        </p:par>
                        <p:par>
                          <p:cTn id="42" fill="hold">
                            <p:stCondLst>
                              <p:cond delay="400"/>
                            </p:stCondLst>
                            <p:childTnLst>
                              <p:par>
                                <p:cTn id="43" presetID="42" presetClass="entr" presetSubtype="0" fill="hold" grpId="0" nodeType="after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550"/>
                                        <p:tgtEl>
                                          <p:spTgt spid="31"/>
                                        </p:tgtEl>
                                      </p:cBhvr>
                                    </p:animEffect>
                                    <p:anim calcmode="lin" valueType="num">
                                      <p:cBhvr additive="base">
                                        <p:cTn id="46" dur="550" fill="hold"/>
                                        <p:tgtEl>
                                          <p:spTgt spid="31"/>
                                        </p:tgtEl>
                                        <p:attrNameLst>
                                          <p:attrName>ppt_x</p:attrName>
                                        </p:attrNameLst>
                                      </p:cBhvr>
                                      <p:tavLst>
                                        <p:tav tm="0">
                                          <p:val>
                                            <p:strVal val="#ppt_x"/>
                                          </p:val>
                                        </p:tav>
                                        <p:tav tm="100000">
                                          <p:val>
                                            <p:strVal val="#ppt_x"/>
                                          </p:val>
                                        </p:tav>
                                      </p:tavLst>
                                    </p:anim>
                                    <p:anim calcmode="lin" valueType="num">
                                      <p:cBhvr additive="base">
                                        <p:cTn id="47" dur="550" fill="hold"/>
                                        <p:tgtEl>
                                          <p:spTgt spid="31"/>
                                        </p:tgtEl>
                                        <p:attrNameLst>
                                          <p:attrName>ppt_y</p:attrName>
                                        </p:attrNameLst>
                                      </p:cBhvr>
                                      <p:tavLst>
                                        <p:tav tm="0">
                                          <p:val>
                                            <p:strVal val="#ppt_y+.08"/>
                                          </p:val>
                                        </p:tav>
                                        <p:tav tm="100000">
                                          <p:val>
                                            <p:strVal val="#ppt_y"/>
                                          </p:val>
                                        </p:tav>
                                      </p:tavLst>
                                    </p:anim>
                                  </p:childTnLst>
                                </p:cTn>
                              </p:par>
                            </p:childTnLst>
                          </p:cTn>
                        </p:par>
                        <p:par>
                          <p:cTn id="48" fill="hold">
                            <p:stCondLst>
                              <p:cond delay="400"/>
                            </p:stCondLst>
                            <p:childTnLst>
                              <p:par>
                                <p:cTn id="49" presetID="53" presetClass="entr" presetSubtype="16" fill="hold" grpId="0" nodeType="after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550"/>
                                        <p:tgtEl>
                                          <p:spTgt spid="32"/>
                                        </p:tgtEl>
                                      </p:cBhvr>
                                    </p:animEffect>
                                    <p:anim calcmode="lin" valueType="num">
                                      <p:cBhvr additive="base">
                                        <p:cTn id="52" dur="550" fill="hold"/>
                                        <p:tgtEl>
                                          <p:spTgt spid="32"/>
                                        </p:tgtEl>
                                        <p:attrNameLst>
                                          <p:attrName>ppt_w</p:attrName>
                                        </p:attrNameLst>
                                      </p:cBhvr>
                                      <p:tavLst>
                                        <p:tav tm="0">
                                          <p:val>
                                            <p:strVal val="0"/>
                                          </p:val>
                                        </p:tav>
                                        <p:tav tm="100000">
                                          <p:val>
                                            <p:strVal val="#ppt_w"/>
                                          </p:val>
                                        </p:tav>
                                      </p:tavLst>
                                    </p:anim>
                                    <p:anim calcmode="lin" valueType="num">
                                      <p:cBhvr additive="base">
                                        <p:cTn id="53" dur="550" fill="hold"/>
                                        <p:tgtEl>
                                          <p:spTgt spid="32"/>
                                        </p:tgtEl>
                                        <p:attrNameLst>
                                          <p:attrName>ppt_h</p:attrName>
                                        </p:attrNameLst>
                                      </p:cBhvr>
                                      <p:tavLst>
                                        <p:tav tm="0">
                                          <p:val>
                                            <p:strVal val="0"/>
                                          </p:val>
                                        </p:tav>
                                        <p:tav tm="100000">
                                          <p:val>
                                            <p:strVal val="#ppt_h"/>
                                          </p:val>
                                        </p:tav>
                                      </p:tavLst>
                                    </p:anim>
                                  </p:childTnLst>
                                </p:cTn>
                              </p:par>
                            </p:childTnLst>
                          </p:cTn>
                        </p:par>
                        <p:par>
                          <p:cTn id="54" fill="hold">
                            <p:stCondLst>
                              <p:cond delay="400"/>
                            </p:stCondLst>
                            <p:childTnLst>
                              <p:par>
                                <p:cTn id="55" presetID="42" presetClass="entr" presetSubtype="0" fill="hold" grpId="0" nodeType="afterEffect">
                                  <p:stCondLst>
                                    <p:cond delay="0"/>
                                  </p:stCondLst>
                                  <p:childTnLst>
                                    <p:set>
                                      <p:cBhvr>
                                        <p:cTn id="56" dur="1" fill="hold">
                                          <p:stCondLst>
                                            <p:cond delay="0"/>
                                          </p:stCondLst>
                                        </p:cTn>
                                        <p:tgtEl>
                                          <p:spTgt spid="33"/>
                                        </p:tgtEl>
                                        <p:attrNameLst>
                                          <p:attrName>style.visibility</p:attrName>
                                        </p:attrNameLst>
                                      </p:cBhvr>
                                      <p:to>
                                        <p:strVal val="visible"/>
                                      </p:to>
                                    </p:set>
                                    <p:animEffect transition="in" filter="fade">
                                      <p:cBhvr>
                                        <p:cTn id="57" dur="550"/>
                                        <p:tgtEl>
                                          <p:spTgt spid="33"/>
                                        </p:tgtEl>
                                      </p:cBhvr>
                                    </p:animEffect>
                                    <p:anim calcmode="lin" valueType="num">
                                      <p:cBhvr additive="base">
                                        <p:cTn id="58" dur="550" fill="hold"/>
                                        <p:tgtEl>
                                          <p:spTgt spid="33"/>
                                        </p:tgtEl>
                                        <p:attrNameLst>
                                          <p:attrName>ppt_x</p:attrName>
                                        </p:attrNameLst>
                                      </p:cBhvr>
                                      <p:tavLst>
                                        <p:tav tm="0">
                                          <p:val>
                                            <p:strVal val="#ppt_x"/>
                                          </p:val>
                                        </p:tav>
                                        <p:tav tm="100000">
                                          <p:val>
                                            <p:strVal val="#ppt_x"/>
                                          </p:val>
                                        </p:tav>
                                      </p:tavLst>
                                    </p:anim>
                                    <p:anim calcmode="lin" valueType="num">
                                      <p:cBhvr additive="base">
                                        <p:cTn id="59" dur="550" fill="hold"/>
                                        <p:tgtEl>
                                          <p:spTgt spid="33"/>
                                        </p:tgtEl>
                                        <p:attrNameLst>
                                          <p:attrName>ppt_y</p:attrName>
                                        </p:attrNameLst>
                                      </p:cBhvr>
                                      <p:tavLst>
                                        <p:tav tm="0">
                                          <p:val>
                                            <p:strVal val="#ppt_y+.08"/>
                                          </p:val>
                                        </p:tav>
                                        <p:tav tm="100000">
                                          <p:val>
                                            <p:strVal val="#ppt_y"/>
                                          </p:val>
                                        </p:tav>
                                      </p:tavLst>
                                    </p:anim>
                                  </p:childTnLst>
                                </p:cTn>
                              </p:par>
                            </p:childTnLst>
                          </p:cTn>
                        </p:par>
                        <p:par>
                          <p:cTn id="60" fill="hold">
                            <p:stCondLst>
                              <p:cond delay="600"/>
                            </p:stCondLst>
                            <p:childTnLst>
                              <p:par>
                                <p:cTn id="61" presetID="42" presetClass="entr" presetSubtype="0" fill="hold" grpId="0" nodeType="afterEffect">
                                  <p:stCondLst>
                                    <p:cond delay="0"/>
                                  </p:stCondLst>
                                  <p:childTnLst>
                                    <p:set>
                                      <p:cBhvr>
                                        <p:cTn id="62" dur="1" fill="hold">
                                          <p:stCondLst>
                                            <p:cond delay="0"/>
                                          </p:stCondLst>
                                        </p:cTn>
                                        <p:tgtEl>
                                          <p:spTgt spid="34"/>
                                        </p:tgtEl>
                                        <p:attrNameLst>
                                          <p:attrName>style.visibility</p:attrName>
                                        </p:attrNameLst>
                                      </p:cBhvr>
                                      <p:to>
                                        <p:strVal val="visible"/>
                                      </p:to>
                                    </p:set>
                                    <p:animEffect transition="in" filter="fade">
                                      <p:cBhvr>
                                        <p:cTn id="63" dur="550"/>
                                        <p:tgtEl>
                                          <p:spTgt spid="34"/>
                                        </p:tgtEl>
                                      </p:cBhvr>
                                    </p:animEffect>
                                    <p:anim calcmode="lin" valueType="num">
                                      <p:cBhvr additive="base">
                                        <p:cTn id="64" dur="550" fill="hold"/>
                                        <p:tgtEl>
                                          <p:spTgt spid="34"/>
                                        </p:tgtEl>
                                        <p:attrNameLst>
                                          <p:attrName>ppt_x</p:attrName>
                                        </p:attrNameLst>
                                      </p:cBhvr>
                                      <p:tavLst>
                                        <p:tav tm="0">
                                          <p:val>
                                            <p:strVal val="#ppt_x"/>
                                          </p:val>
                                        </p:tav>
                                        <p:tav tm="100000">
                                          <p:val>
                                            <p:strVal val="#ppt_x"/>
                                          </p:val>
                                        </p:tav>
                                      </p:tavLst>
                                    </p:anim>
                                    <p:anim calcmode="lin" valueType="num">
                                      <p:cBhvr additive="base">
                                        <p:cTn id="65" dur="550" fill="hold"/>
                                        <p:tgtEl>
                                          <p:spTgt spid="34"/>
                                        </p:tgtEl>
                                        <p:attrNameLst>
                                          <p:attrName>ppt_y</p:attrName>
                                        </p:attrNameLst>
                                      </p:cBhvr>
                                      <p:tavLst>
                                        <p:tav tm="0">
                                          <p:val>
                                            <p:strVal val="#ppt_y+.08"/>
                                          </p:val>
                                        </p:tav>
                                        <p:tav tm="100000">
                                          <p:val>
                                            <p:strVal val="#ppt_y"/>
                                          </p:val>
                                        </p:tav>
                                      </p:tavLst>
                                    </p:anim>
                                  </p:childTnLst>
                                </p:cTn>
                              </p:par>
                            </p:childTnLst>
                          </p:cTn>
                        </p:par>
                        <p:par>
                          <p:cTn id="66" fill="hold">
                            <p:stCondLst>
                              <p:cond delay="600"/>
                            </p:stCondLst>
                            <p:childTnLst>
                              <p:par>
                                <p:cTn id="67" presetID="42" presetClass="entr" presetSubtype="0"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fade">
                                      <p:cBhvr>
                                        <p:cTn id="69" dur="550"/>
                                        <p:tgtEl>
                                          <p:spTgt spid="35"/>
                                        </p:tgtEl>
                                      </p:cBhvr>
                                    </p:animEffect>
                                    <p:anim calcmode="lin" valueType="num">
                                      <p:cBhvr additive="base">
                                        <p:cTn id="70" dur="550" fill="hold"/>
                                        <p:tgtEl>
                                          <p:spTgt spid="35"/>
                                        </p:tgtEl>
                                        <p:attrNameLst>
                                          <p:attrName>ppt_x</p:attrName>
                                        </p:attrNameLst>
                                      </p:cBhvr>
                                      <p:tavLst>
                                        <p:tav tm="0">
                                          <p:val>
                                            <p:strVal val="#ppt_x"/>
                                          </p:val>
                                        </p:tav>
                                        <p:tav tm="100000">
                                          <p:val>
                                            <p:strVal val="#ppt_x"/>
                                          </p:val>
                                        </p:tav>
                                      </p:tavLst>
                                    </p:anim>
                                    <p:anim calcmode="lin" valueType="num">
                                      <p:cBhvr additive="base">
                                        <p:cTn id="71" dur="550" fill="hold"/>
                                        <p:tgtEl>
                                          <p:spTgt spid="35"/>
                                        </p:tgtEl>
                                        <p:attrNameLst>
                                          <p:attrName>ppt_y</p:attrName>
                                        </p:attrNameLst>
                                      </p:cBhvr>
                                      <p:tavLst>
                                        <p:tav tm="0">
                                          <p:val>
                                            <p:strVal val="#ppt_y+.08"/>
                                          </p:val>
                                        </p:tav>
                                        <p:tav tm="100000">
                                          <p:val>
                                            <p:strVal val="#ppt_y"/>
                                          </p:val>
                                        </p:tav>
                                      </p:tavLst>
                                    </p:anim>
                                  </p:childTnLst>
                                </p:cTn>
                              </p:par>
                            </p:childTnLst>
                          </p:cTn>
                        </p:par>
                        <p:par>
                          <p:cTn id="72" fill="hold">
                            <p:stCondLst>
                              <p:cond delay="600"/>
                            </p:stCondLst>
                            <p:childTnLst>
                              <p:par>
                                <p:cTn id="73" presetID="53" presetClass="entr" presetSubtype="16" fill="hold" grpId="0" nodeType="after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550"/>
                                        <p:tgtEl>
                                          <p:spTgt spid="36"/>
                                        </p:tgtEl>
                                      </p:cBhvr>
                                    </p:animEffect>
                                    <p:anim calcmode="lin" valueType="num">
                                      <p:cBhvr additive="base">
                                        <p:cTn id="76" dur="550" fill="hold"/>
                                        <p:tgtEl>
                                          <p:spTgt spid="36"/>
                                        </p:tgtEl>
                                        <p:attrNameLst>
                                          <p:attrName>ppt_w</p:attrName>
                                        </p:attrNameLst>
                                      </p:cBhvr>
                                      <p:tavLst>
                                        <p:tav tm="0">
                                          <p:val>
                                            <p:strVal val="0"/>
                                          </p:val>
                                        </p:tav>
                                        <p:tav tm="100000">
                                          <p:val>
                                            <p:strVal val="#ppt_w"/>
                                          </p:val>
                                        </p:tav>
                                      </p:tavLst>
                                    </p:anim>
                                    <p:anim calcmode="lin" valueType="num">
                                      <p:cBhvr additive="base">
                                        <p:cTn id="77" dur="550" fill="hold"/>
                                        <p:tgtEl>
                                          <p:spTgt spid="36"/>
                                        </p:tgtEl>
                                        <p:attrNameLst>
                                          <p:attrName>ppt_h</p:attrName>
                                        </p:attrNameLst>
                                      </p:cBhvr>
                                      <p:tavLst>
                                        <p:tav tm="0">
                                          <p:val>
                                            <p:strVal val="0"/>
                                          </p:val>
                                        </p:tav>
                                        <p:tav tm="100000">
                                          <p:val>
                                            <p:strVal val="#ppt_h"/>
                                          </p:val>
                                        </p:tav>
                                      </p:tavLst>
                                    </p:anim>
                                  </p:childTnLst>
                                </p:cTn>
                              </p:par>
                            </p:childTnLst>
                          </p:cTn>
                        </p:par>
                        <p:par>
                          <p:cTn id="78" fill="hold">
                            <p:stCondLst>
                              <p:cond delay="600"/>
                            </p:stCondLst>
                            <p:childTnLst>
                              <p:par>
                                <p:cTn id="79" presetID="42" presetClass="entr" presetSubtype="0" fill="hold" grpId="0" nodeType="afterEffect">
                                  <p:stCondLst>
                                    <p:cond delay="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550"/>
                                        <p:tgtEl>
                                          <p:spTgt spid="37"/>
                                        </p:tgtEl>
                                      </p:cBhvr>
                                    </p:animEffect>
                                    <p:anim calcmode="lin" valueType="num">
                                      <p:cBhvr additive="base">
                                        <p:cTn id="82" dur="550" fill="hold"/>
                                        <p:tgtEl>
                                          <p:spTgt spid="37"/>
                                        </p:tgtEl>
                                        <p:attrNameLst>
                                          <p:attrName>ppt_x</p:attrName>
                                        </p:attrNameLst>
                                      </p:cBhvr>
                                      <p:tavLst>
                                        <p:tav tm="0">
                                          <p:val>
                                            <p:strVal val="#ppt_x"/>
                                          </p:val>
                                        </p:tav>
                                        <p:tav tm="100000">
                                          <p:val>
                                            <p:strVal val="#ppt_x"/>
                                          </p:val>
                                        </p:tav>
                                      </p:tavLst>
                                    </p:anim>
                                    <p:anim calcmode="lin" valueType="num">
                                      <p:cBhvr additive="base">
                                        <p:cTn id="83" dur="550" fill="hold"/>
                                        <p:tgtEl>
                                          <p:spTgt spid="37"/>
                                        </p:tgtEl>
                                        <p:attrNameLst>
                                          <p:attrName>ppt_y</p:attrName>
                                        </p:attrNameLst>
                                      </p:cBhvr>
                                      <p:tavLst>
                                        <p:tav tm="0">
                                          <p:val>
                                            <p:strVal val="#ppt_y+.08"/>
                                          </p:val>
                                        </p:tav>
                                        <p:tav tm="100000">
                                          <p:val>
                                            <p:strVal val="#ppt_y"/>
                                          </p:val>
                                        </p:tav>
                                      </p:tavLst>
                                    </p:anim>
                                  </p:childTnLst>
                                </p:cTn>
                              </p:par>
                            </p:childTnLst>
                          </p:cTn>
                        </p:par>
                        <p:par>
                          <p:cTn id="84" fill="hold">
                            <p:stCondLst>
                              <p:cond delay="800"/>
                            </p:stCondLst>
                            <p:childTnLst>
                              <p:par>
                                <p:cTn id="85" presetID="42" presetClass="entr" presetSubtype="0" fill="hold" grpId="0" nodeType="after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550"/>
                                        <p:tgtEl>
                                          <p:spTgt spid="38"/>
                                        </p:tgtEl>
                                      </p:cBhvr>
                                    </p:animEffect>
                                    <p:anim calcmode="lin" valueType="num">
                                      <p:cBhvr additive="base">
                                        <p:cTn id="88" dur="550" fill="hold"/>
                                        <p:tgtEl>
                                          <p:spTgt spid="38"/>
                                        </p:tgtEl>
                                        <p:attrNameLst>
                                          <p:attrName>ppt_x</p:attrName>
                                        </p:attrNameLst>
                                      </p:cBhvr>
                                      <p:tavLst>
                                        <p:tav tm="0">
                                          <p:val>
                                            <p:strVal val="#ppt_x"/>
                                          </p:val>
                                        </p:tav>
                                        <p:tav tm="100000">
                                          <p:val>
                                            <p:strVal val="#ppt_x"/>
                                          </p:val>
                                        </p:tav>
                                      </p:tavLst>
                                    </p:anim>
                                    <p:anim calcmode="lin" valueType="num">
                                      <p:cBhvr additive="base">
                                        <p:cTn id="89" dur="550" fill="hold"/>
                                        <p:tgtEl>
                                          <p:spTgt spid="38"/>
                                        </p:tgtEl>
                                        <p:attrNameLst>
                                          <p:attrName>ppt_y</p:attrName>
                                        </p:attrNameLst>
                                      </p:cBhvr>
                                      <p:tavLst>
                                        <p:tav tm="0">
                                          <p:val>
                                            <p:strVal val="#ppt_y+.08"/>
                                          </p:val>
                                        </p:tav>
                                        <p:tav tm="100000">
                                          <p:val>
                                            <p:strVal val="#ppt_y"/>
                                          </p:val>
                                        </p:tav>
                                      </p:tavLst>
                                    </p:anim>
                                  </p:childTnLst>
                                </p:cTn>
                              </p:par>
                            </p:childTnLst>
                          </p:cTn>
                        </p:par>
                        <p:par>
                          <p:cTn id="90" fill="hold">
                            <p:stCondLst>
                              <p:cond delay="800"/>
                            </p:stCondLst>
                            <p:childTnLst>
                              <p:par>
                                <p:cTn id="91" presetID="42" presetClass="entr" presetSubtype="0" fill="hold" grpId="0" nodeType="afterEffect">
                                  <p:stCondLst>
                                    <p:cond delay="0"/>
                                  </p:stCondLst>
                                  <p:childTnLst>
                                    <p:set>
                                      <p:cBhvr>
                                        <p:cTn id="92" dur="1" fill="hold">
                                          <p:stCondLst>
                                            <p:cond delay="0"/>
                                          </p:stCondLst>
                                        </p:cTn>
                                        <p:tgtEl>
                                          <p:spTgt spid="39"/>
                                        </p:tgtEl>
                                        <p:attrNameLst>
                                          <p:attrName>style.visibility</p:attrName>
                                        </p:attrNameLst>
                                      </p:cBhvr>
                                      <p:to>
                                        <p:strVal val="visible"/>
                                      </p:to>
                                    </p:set>
                                    <p:animEffect transition="in" filter="fade">
                                      <p:cBhvr>
                                        <p:cTn id="93" dur="550"/>
                                        <p:tgtEl>
                                          <p:spTgt spid="39"/>
                                        </p:tgtEl>
                                      </p:cBhvr>
                                    </p:animEffect>
                                    <p:anim calcmode="lin" valueType="num">
                                      <p:cBhvr additive="base">
                                        <p:cTn id="94" dur="550" fill="hold"/>
                                        <p:tgtEl>
                                          <p:spTgt spid="39"/>
                                        </p:tgtEl>
                                        <p:attrNameLst>
                                          <p:attrName>ppt_x</p:attrName>
                                        </p:attrNameLst>
                                      </p:cBhvr>
                                      <p:tavLst>
                                        <p:tav tm="0">
                                          <p:val>
                                            <p:strVal val="#ppt_x"/>
                                          </p:val>
                                        </p:tav>
                                        <p:tav tm="100000">
                                          <p:val>
                                            <p:strVal val="#ppt_x"/>
                                          </p:val>
                                        </p:tav>
                                      </p:tavLst>
                                    </p:anim>
                                    <p:anim calcmode="lin" valueType="num">
                                      <p:cBhvr additive="base">
                                        <p:cTn id="95" dur="550" fill="hold"/>
                                        <p:tgtEl>
                                          <p:spTgt spid="39"/>
                                        </p:tgtEl>
                                        <p:attrNameLst>
                                          <p:attrName>ppt_y</p:attrName>
                                        </p:attrNameLst>
                                      </p:cBhvr>
                                      <p:tavLst>
                                        <p:tav tm="0">
                                          <p:val>
                                            <p:strVal val="#ppt_y+.08"/>
                                          </p:val>
                                        </p:tav>
                                        <p:tav tm="100000">
                                          <p:val>
                                            <p:strVal val="#ppt_y"/>
                                          </p:val>
                                        </p:tav>
                                      </p:tavLst>
                                    </p:anim>
                                  </p:childTnLst>
                                </p:cTn>
                              </p:par>
                            </p:childTnLst>
                          </p:cTn>
                        </p:par>
                        <p:par>
                          <p:cTn id="96" fill="hold">
                            <p:stCondLst>
                              <p:cond delay="800"/>
                            </p:stCondLst>
                            <p:childTnLst>
                              <p:par>
                                <p:cTn id="97" presetID="53" presetClass="entr" presetSubtype="16" fill="hold" grpId="0" nodeType="afterEffect">
                                  <p:stCondLst>
                                    <p:cond delay="0"/>
                                  </p:stCondLst>
                                  <p:childTnLst>
                                    <p:set>
                                      <p:cBhvr>
                                        <p:cTn id="98" dur="1" fill="hold">
                                          <p:stCondLst>
                                            <p:cond delay="0"/>
                                          </p:stCondLst>
                                        </p:cTn>
                                        <p:tgtEl>
                                          <p:spTgt spid="40"/>
                                        </p:tgtEl>
                                        <p:attrNameLst>
                                          <p:attrName>style.visibility</p:attrName>
                                        </p:attrNameLst>
                                      </p:cBhvr>
                                      <p:to>
                                        <p:strVal val="visible"/>
                                      </p:to>
                                    </p:set>
                                    <p:animEffect transition="in" filter="fade">
                                      <p:cBhvr>
                                        <p:cTn id="99" dur="550"/>
                                        <p:tgtEl>
                                          <p:spTgt spid="40"/>
                                        </p:tgtEl>
                                      </p:cBhvr>
                                    </p:animEffect>
                                    <p:anim calcmode="lin" valueType="num">
                                      <p:cBhvr additive="base">
                                        <p:cTn id="100" dur="550" fill="hold"/>
                                        <p:tgtEl>
                                          <p:spTgt spid="40"/>
                                        </p:tgtEl>
                                        <p:attrNameLst>
                                          <p:attrName>ppt_w</p:attrName>
                                        </p:attrNameLst>
                                      </p:cBhvr>
                                      <p:tavLst>
                                        <p:tav tm="0">
                                          <p:val>
                                            <p:strVal val="0"/>
                                          </p:val>
                                        </p:tav>
                                        <p:tav tm="100000">
                                          <p:val>
                                            <p:strVal val="#ppt_w"/>
                                          </p:val>
                                        </p:tav>
                                      </p:tavLst>
                                    </p:anim>
                                    <p:anim calcmode="lin" valueType="num">
                                      <p:cBhvr additive="base">
                                        <p:cTn id="101" dur="550" fill="hold"/>
                                        <p:tgtEl>
                                          <p:spTgt spid="40"/>
                                        </p:tgtEl>
                                        <p:attrNameLst>
                                          <p:attrName>ppt_h</p:attrName>
                                        </p:attrNameLst>
                                      </p:cBhvr>
                                      <p:tavLst>
                                        <p:tav tm="0">
                                          <p:val>
                                            <p:strVal val="0"/>
                                          </p:val>
                                        </p:tav>
                                        <p:tav tm="100000">
                                          <p:val>
                                            <p:strVal val="#ppt_h"/>
                                          </p:val>
                                        </p:tav>
                                      </p:tavLst>
                                    </p:anim>
                                  </p:childTnLst>
                                </p:cTn>
                              </p:par>
                            </p:childTnLst>
                          </p:cTn>
                        </p:par>
                        <p:par>
                          <p:cTn id="102" fill="hold">
                            <p:stCondLst>
                              <p:cond delay="800"/>
                            </p:stCondLst>
                            <p:childTnLst>
                              <p:par>
                                <p:cTn id="103" presetID="42" presetClass="entr" presetSubtype="0" fill="hold" grpId="0" nodeType="afterEffect">
                                  <p:stCondLst>
                                    <p:cond delay="0"/>
                                  </p:stCondLst>
                                  <p:childTnLst>
                                    <p:set>
                                      <p:cBhvr>
                                        <p:cTn id="104" dur="1" fill="hold">
                                          <p:stCondLst>
                                            <p:cond delay="0"/>
                                          </p:stCondLst>
                                        </p:cTn>
                                        <p:tgtEl>
                                          <p:spTgt spid="41"/>
                                        </p:tgtEl>
                                        <p:attrNameLst>
                                          <p:attrName>style.visibility</p:attrName>
                                        </p:attrNameLst>
                                      </p:cBhvr>
                                      <p:to>
                                        <p:strVal val="visible"/>
                                      </p:to>
                                    </p:set>
                                    <p:animEffect transition="in" filter="fade">
                                      <p:cBhvr>
                                        <p:cTn id="105" dur="550"/>
                                        <p:tgtEl>
                                          <p:spTgt spid="41"/>
                                        </p:tgtEl>
                                      </p:cBhvr>
                                    </p:animEffect>
                                    <p:anim calcmode="lin" valueType="num">
                                      <p:cBhvr additive="base">
                                        <p:cTn id="106" dur="550" fill="hold"/>
                                        <p:tgtEl>
                                          <p:spTgt spid="41"/>
                                        </p:tgtEl>
                                        <p:attrNameLst>
                                          <p:attrName>ppt_x</p:attrName>
                                        </p:attrNameLst>
                                      </p:cBhvr>
                                      <p:tavLst>
                                        <p:tav tm="0">
                                          <p:val>
                                            <p:strVal val="#ppt_x"/>
                                          </p:val>
                                        </p:tav>
                                        <p:tav tm="100000">
                                          <p:val>
                                            <p:strVal val="#ppt_x"/>
                                          </p:val>
                                        </p:tav>
                                      </p:tavLst>
                                    </p:anim>
                                    <p:anim calcmode="lin" valueType="num">
                                      <p:cBhvr additive="base">
                                        <p:cTn id="107" dur="550" fill="hold"/>
                                        <p:tgtEl>
                                          <p:spTgt spid="41"/>
                                        </p:tgtEl>
                                        <p:attrNameLst>
                                          <p:attrName>ppt_y</p:attrName>
                                        </p:attrNameLst>
                                      </p:cBhvr>
                                      <p:tavLst>
                                        <p:tav tm="0">
                                          <p:val>
                                            <p:strVal val="#ppt_y+.08"/>
                                          </p:val>
                                        </p:tav>
                                        <p:tav tm="100000">
                                          <p:val>
                                            <p:strVal val="#ppt_y"/>
                                          </p:val>
                                        </p:tav>
                                      </p:tavLst>
                                    </p:anim>
                                  </p:childTnLst>
                                </p:cTn>
                              </p:par>
                            </p:childTnLst>
                          </p:cTn>
                        </p:par>
                        <p:par>
                          <p:cTn id="108" fill="hold">
                            <p:stCondLst>
                              <p:cond delay="1000"/>
                            </p:stCondLst>
                            <p:childTnLst>
                              <p:par>
                                <p:cTn id="109" presetID="42" presetClass="entr" presetSubtype="0" fill="hold" grpId="0" nodeType="afterEffect">
                                  <p:stCondLst>
                                    <p:cond delay="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550"/>
                                        <p:tgtEl>
                                          <p:spTgt spid="42"/>
                                        </p:tgtEl>
                                      </p:cBhvr>
                                    </p:animEffect>
                                    <p:anim calcmode="lin" valueType="num">
                                      <p:cBhvr additive="base">
                                        <p:cTn id="112" dur="550" fill="hold"/>
                                        <p:tgtEl>
                                          <p:spTgt spid="42"/>
                                        </p:tgtEl>
                                        <p:attrNameLst>
                                          <p:attrName>ppt_x</p:attrName>
                                        </p:attrNameLst>
                                      </p:cBhvr>
                                      <p:tavLst>
                                        <p:tav tm="0">
                                          <p:val>
                                            <p:strVal val="#ppt_x"/>
                                          </p:val>
                                        </p:tav>
                                        <p:tav tm="100000">
                                          <p:val>
                                            <p:strVal val="#ppt_x"/>
                                          </p:val>
                                        </p:tav>
                                      </p:tavLst>
                                    </p:anim>
                                    <p:anim calcmode="lin" valueType="num">
                                      <p:cBhvr additive="base">
                                        <p:cTn id="113" dur="550" fill="hold"/>
                                        <p:tgtEl>
                                          <p:spTgt spid="42"/>
                                        </p:tgtEl>
                                        <p:attrNameLst>
                                          <p:attrName>ppt_y</p:attrName>
                                        </p:attrNameLst>
                                      </p:cBhvr>
                                      <p:tavLst>
                                        <p:tav tm="0">
                                          <p:val>
                                            <p:strVal val="#ppt_y+.08"/>
                                          </p:val>
                                        </p:tav>
                                        <p:tav tm="100000">
                                          <p:val>
                                            <p:strVal val="#ppt_y"/>
                                          </p:val>
                                        </p:tav>
                                      </p:tavLst>
                                    </p:anim>
                                  </p:childTnLst>
                                </p:cTn>
                              </p:par>
                            </p:childTnLst>
                          </p:cTn>
                        </p:par>
                        <p:par>
                          <p:cTn id="114" fill="hold">
                            <p:stCondLst>
                              <p:cond delay="1000"/>
                            </p:stCondLst>
                            <p:childTnLst>
                              <p:par>
                                <p:cTn id="115" presetID="42" presetClass="entr" presetSubtype="0" fill="hold" grpId="0" nodeType="afterEffect">
                                  <p:stCondLst>
                                    <p:cond delay="0"/>
                                  </p:stCondLst>
                                  <p:childTnLst>
                                    <p:set>
                                      <p:cBhvr>
                                        <p:cTn id="116" dur="1" fill="hold">
                                          <p:stCondLst>
                                            <p:cond delay="0"/>
                                          </p:stCondLst>
                                        </p:cTn>
                                        <p:tgtEl>
                                          <p:spTgt spid="43"/>
                                        </p:tgtEl>
                                        <p:attrNameLst>
                                          <p:attrName>style.visibility</p:attrName>
                                        </p:attrNameLst>
                                      </p:cBhvr>
                                      <p:to>
                                        <p:strVal val="visible"/>
                                      </p:to>
                                    </p:set>
                                    <p:animEffect transition="in" filter="fade">
                                      <p:cBhvr>
                                        <p:cTn id="117" dur="550"/>
                                        <p:tgtEl>
                                          <p:spTgt spid="43"/>
                                        </p:tgtEl>
                                      </p:cBhvr>
                                    </p:animEffect>
                                    <p:anim calcmode="lin" valueType="num">
                                      <p:cBhvr additive="base">
                                        <p:cTn id="118" dur="550" fill="hold"/>
                                        <p:tgtEl>
                                          <p:spTgt spid="43"/>
                                        </p:tgtEl>
                                        <p:attrNameLst>
                                          <p:attrName>ppt_x</p:attrName>
                                        </p:attrNameLst>
                                      </p:cBhvr>
                                      <p:tavLst>
                                        <p:tav tm="0">
                                          <p:val>
                                            <p:strVal val="#ppt_x"/>
                                          </p:val>
                                        </p:tav>
                                        <p:tav tm="100000">
                                          <p:val>
                                            <p:strVal val="#ppt_x"/>
                                          </p:val>
                                        </p:tav>
                                      </p:tavLst>
                                    </p:anim>
                                    <p:anim calcmode="lin" valueType="num">
                                      <p:cBhvr additive="base">
                                        <p:cTn id="119" dur="550" fill="hold"/>
                                        <p:tgtEl>
                                          <p:spTgt spid="43"/>
                                        </p:tgtEl>
                                        <p:attrNameLst>
                                          <p:attrName>ppt_y</p:attrName>
                                        </p:attrNameLst>
                                      </p:cBhvr>
                                      <p:tavLst>
                                        <p:tav tm="0">
                                          <p:val>
                                            <p:strVal val="#ppt_y+.08"/>
                                          </p:val>
                                        </p:tav>
                                        <p:tav tm="100000">
                                          <p:val>
                                            <p:strVal val="#ppt_y"/>
                                          </p:val>
                                        </p:tav>
                                      </p:tavLst>
                                    </p:anim>
                                  </p:childTnLst>
                                </p:cTn>
                              </p:par>
                            </p:childTnLst>
                          </p:cTn>
                        </p:par>
                        <p:par>
                          <p:cTn id="120" fill="hold">
                            <p:stCondLst>
                              <p:cond delay="1000"/>
                            </p:stCondLst>
                            <p:childTnLst>
                              <p:par>
                                <p:cTn id="121" presetID="53" presetClass="entr" presetSubtype="16" fill="hold" grpId="0" nodeType="afterEffect">
                                  <p:stCondLst>
                                    <p:cond delay="0"/>
                                  </p:stCondLst>
                                  <p:childTnLst>
                                    <p:set>
                                      <p:cBhvr>
                                        <p:cTn id="122" dur="1" fill="hold">
                                          <p:stCondLst>
                                            <p:cond delay="0"/>
                                          </p:stCondLst>
                                        </p:cTn>
                                        <p:tgtEl>
                                          <p:spTgt spid="44"/>
                                        </p:tgtEl>
                                        <p:attrNameLst>
                                          <p:attrName>style.visibility</p:attrName>
                                        </p:attrNameLst>
                                      </p:cBhvr>
                                      <p:to>
                                        <p:strVal val="visible"/>
                                      </p:to>
                                    </p:set>
                                    <p:animEffect transition="in" filter="fade">
                                      <p:cBhvr>
                                        <p:cTn id="123" dur="550"/>
                                        <p:tgtEl>
                                          <p:spTgt spid="44"/>
                                        </p:tgtEl>
                                      </p:cBhvr>
                                    </p:animEffect>
                                    <p:anim calcmode="lin" valueType="num">
                                      <p:cBhvr additive="base">
                                        <p:cTn id="124" dur="550" fill="hold"/>
                                        <p:tgtEl>
                                          <p:spTgt spid="44"/>
                                        </p:tgtEl>
                                        <p:attrNameLst>
                                          <p:attrName>ppt_w</p:attrName>
                                        </p:attrNameLst>
                                      </p:cBhvr>
                                      <p:tavLst>
                                        <p:tav tm="0">
                                          <p:val>
                                            <p:strVal val="0"/>
                                          </p:val>
                                        </p:tav>
                                        <p:tav tm="100000">
                                          <p:val>
                                            <p:strVal val="#ppt_w"/>
                                          </p:val>
                                        </p:tav>
                                      </p:tavLst>
                                    </p:anim>
                                    <p:anim calcmode="lin" valueType="num">
                                      <p:cBhvr additive="base">
                                        <p:cTn id="125" dur="550" fill="hold"/>
                                        <p:tgtEl>
                                          <p:spTgt spid="44"/>
                                        </p:tgtEl>
                                        <p:attrNameLst>
                                          <p:attrName>ppt_h</p:attrName>
                                        </p:attrNameLst>
                                      </p:cBhvr>
                                      <p:tavLst>
                                        <p:tav tm="0">
                                          <p:val>
                                            <p:strVal val="0"/>
                                          </p:val>
                                        </p:tav>
                                        <p:tav tm="100000">
                                          <p:val>
                                            <p:strVal val="#ppt_h"/>
                                          </p:val>
                                        </p:tav>
                                      </p:tavLst>
                                    </p:anim>
                                  </p:childTnLst>
                                </p:cTn>
                              </p:par>
                            </p:childTnLst>
                          </p:cTn>
                        </p:par>
                        <p:par>
                          <p:cTn id="126" fill="hold">
                            <p:stCondLst>
                              <p:cond delay="1000"/>
                            </p:stCondLst>
                            <p:childTnLst>
                              <p:par>
                                <p:cTn id="127" presetID="42" presetClass="entr" presetSubtype="0" fill="hold" grpId="0" nodeType="afterEffect">
                                  <p:stCondLst>
                                    <p:cond delay="0"/>
                                  </p:stCondLst>
                                  <p:childTnLst>
                                    <p:set>
                                      <p:cBhvr>
                                        <p:cTn id="128" dur="1" fill="hold">
                                          <p:stCondLst>
                                            <p:cond delay="0"/>
                                          </p:stCondLst>
                                        </p:cTn>
                                        <p:tgtEl>
                                          <p:spTgt spid="45"/>
                                        </p:tgtEl>
                                        <p:attrNameLst>
                                          <p:attrName>style.visibility</p:attrName>
                                        </p:attrNameLst>
                                      </p:cBhvr>
                                      <p:to>
                                        <p:strVal val="visible"/>
                                      </p:to>
                                    </p:set>
                                    <p:animEffect transition="in" filter="fade">
                                      <p:cBhvr>
                                        <p:cTn id="129" dur="550"/>
                                        <p:tgtEl>
                                          <p:spTgt spid="45"/>
                                        </p:tgtEl>
                                      </p:cBhvr>
                                    </p:animEffect>
                                    <p:anim calcmode="lin" valueType="num">
                                      <p:cBhvr additive="base">
                                        <p:cTn id="130" dur="550" fill="hold"/>
                                        <p:tgtEl>
                                          <p:spTgt spid="45"/>
                                        </p:tgtEl>
                                        <p:attrNameLst>
                                          <p:attrName>ppt_x</p:attrName>
                                        </p:attrNameLst>
                                      </p:cBhvr>
                                      <p:tavLst>
                                        <p:tav tm="0">
                                          <p:val>
                                            <p:strVal val="#ppt_x"/>
                                          </p:val>
                                        </p:tav>
                                        <p:tav tm="100000">
                                          <p:val>
                                            <p:strVal val="#ppt_x"/>
                                          </p:val>
                                        </p:tav>
                                      </p:tavLst>
                                    </p:anim>
                                    <p:anim calcmode="lin" valueType="num">
                                      <p:cBhvr additive="base">
                                        <p:cTn id="131" dur="550" fill="hold"/>
                                        <p:tgtEl>
                                          <p:spTgt spid="45"/>
                                        </p:tgtEl>
                                        <p:attrNameLst>
                                          <p:attrName>ppt_y</p:attrName>
                                        </p:attrNameLst>
                                      </p:cBhvr>
                                      <p:tavLst>
                                        <p:tav tm="0">
                                          <p:val>
                                            <p:strVal val="#ppt_y+.08"/>
                                          </p:val>
                                        </p:tav>
                                        <p:tav tm="100000">
                                          <p:val>
                                            <p:strVal val="#ppt_y"/>
                                          </p:val>
                                        </p:tav>
                                      </p:tavLst>
                                    </p:anim>
                                  </p:childTnLst>
                                </p:cTn>
                              </p:par>
                            </p:childTnLst>
                          </p:cTn>
                        </p:par>
                        <p:par>
                          <p:cTn id="132" fill="hold">
                            <p:stCondLst>
                              <p:cond delay="1200"/>
                            </p:stCondLst>
                            <p:childTnLst>
                              <p:par>
                                <p:cTn id="133" presetID="42" presetClass="entr" presetSubtype="0" fill="hold" grpId="0" nodeType="afterEffect">
                                  <p:stCondLst>
                                    <p:cond delay="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550"/>
                                        <p:tgtEl>
                                          <p:spTgt spid="46"/>
                                        </p:tgtEl>
                                      </p:cBhvr>
                                    </p:animEffect>
                                    <p:anim calcmode="lin" valueType="num">
                                      <p:cBhvr additive="base">
                                        <p:cTn id="136" dur="550" fill="hold"/>
                                        <p:tgtEl>
                                          <p:spTgt spid="46"/>
                                        </p:tgtEl>
                                        <p:attrNameLst>
                                          <p:attrName>ppt_x</p:attrName>
                                        </p:attrNameLst>
                                      </p:cBhvr>
                                      <p:tavLst>
                                        <p:tav tm="0">
                                          <p:val>
                                            <p:strVal val="#ppt_x"/>
                                          </p:val>
                                        </p:tav>
                                        <p:tav tm="100000">
                                          <p:val>
                                            <p:strVal val="#ppt_x"/>
                                          </p:val>
                                        </p:tav>
                                      </p:tavLst>
                                    </p:anim>
                                    <p:anim calcmode="lin" valueType="num">
                                      <p:cBhvr additive="base">
                                        <p:cTn id="137" dur="550" fill="hold"/>
                                        <p:tgtEl>
                                          <p:spTgt spid="46"/>
                                        </p:tgtEl>
                                        <p:attrNameLst>
                                          <p:attrName>ppt_y</p:attrName>
                                        </p:attrNameLst>
                                      </p:cBhvr>
                                      <p:tavLst>
                                        <p:tav tm="0">
                                          <p:val>
                                            <p:strVal val="#ppt_y+.08"/>
                                          </p:val>
                                        </p:tav>
                                        <p:tav tm="100000">
                                          <p:val>
                                            <p:strVal val="#ppt_y"/>
                                          </p:val>
                                        </p:tav>
                                      </p:tavLst>
                                    </p:anim>
                                  </p:childTnLst>
                                </p:cTn>
                              </p:par>
                            </p:childTnLst>
                          </p:cTn>
                        </p:par>
                        <p:par>
                          <p:cTn id="138" fill="hold">
                            <p:stCondLst>
                              <p:cond delay="1200"/>
                            </p:stCondLst>
                            <p:childTnLst>
                              <p:par>
                                <p:cTn id="139" presetID="42" presetClass="entr" presetSubtype="0" fill="hold" grpId="0" nodeType="afterEffect">
                                  <p:stCondLst>
                                    <p:cond delay="0"/>
                                  </p:stCondLst>
                                  <p:childTnLst>
                                    <p:set>
                                      <p:cBhvr>
                                        <p:cTn id="140" dur="1" fill="hold">
                                          <p:stCondLst>
                                            <p:cond delay="0"/>
                                          </p:stCondLst>
                                        </p:cTn>
                                        <p:tgtEl>
                                          <p:spTgt spid="47"/>
                                        </p:tgtEl>
                                        <p:attrNameLst>
                                          <p:attrName>style.visibility</p:attrName>
                                        </p:attrNameLst>
                                      </p:cBhvr>
                                      <p:to>
                                        <p:strVal val="visible"/>
                                      </p:to>
                                    </p:set>
                                    <p:animEffect transition="in" filter="fade">
                                      <p:cBhvr>
                                        <p:cTn id="141" dur="550"/>
                                        <p:tgtEl>
                                          <p:spTgt spid="47"/>
                                        </p:tgtEl>
                                      </p:cBhvr>
                                    </p:animEffect>
                                    <p:anim calcmode="lin" valueType="num">
                                      <p:cBhvr additive="base">
                                        <p:cTn id="142" dur="550" fill="hold"/>
                                        <p:tgtEl>
                                          <p:spTgt spid="47"/>
                                        </p:tgtEl>
                                        <p:attrNameLst>
                                          <p:attrName>ppt_x</p:attrName>
                                        </p:attrNameLst>
                                      </p:cBhvr>
                                      <p:tavLst>
                                        <p:tav tm="0">
                                          <p:val>
                                            <p:strVal val="#ppt_x"/>
                                          </p:val>
                                        </p:tav>
                                        <p:tav tm="100000">
                                          <p:val>
                                            <p:strVal val="#ppt_x"/>
                                          </p:val>
                                        </p:tav>
                                      </p:tavLst>
                                    </p:anim>
                                    <p:anim calcmode="lin" valueType="num">
                                      <p:cBhvr additive="base">
                                        <p:cTn id="143" dur="550" fill="hold"/>
                                        <p:tgtEl>
                                          <p:spTgt spid="47"/>
                                        </p:tgtEl>
                                        <p:attrNameLst>
                                          <p:attrName>ppt_y</p:attrName>
                                        </p:attrNameLst>
                                      </p:cBhvr>
                                      <p:tavLst>
                                        <p:tav tm="0">
                                          <p:val>
                                            <p:strVal val="#ppt_y+.08"/>
                                          </p:val>
                                        </p:tav>
                                        <p:tav tm="100000">
                                          <p:val>
                                            <p:strVal val="#ppt_y"/>
                                          </p:val>
                                        </p:tav>
                                      </p:tavLst>
                                    </p:anim>
                                  </p:childTnLst>
                                </p:cTn>
                              </p:par>
                            </p:childTnLst>
                          </p:cTn>
                        </p:par>
                        <p:par>
                          <p:cTn id="144" fill="hold">
                            <p:stCondLst>
                              <p:cond delay="1200"/>
                            </p:stCondLst>
                            <p:childTnLst>
                              <p:par>
                                <p:cTn id="145" presetID="53" presetClass="entr" presetSubtype="16" fill="hold" grpId="0" nodeType="afterEffect">
                                  <p:stCondLst>
                                    <p:cond delay="0"/>
                                  </p:stCondLst>
                                  <p:childTnLst>
                                    <p:set>
                                      <p:cBhvr>
                                        <p:cTn id="146" dur="1" fill="hold">
                                          <p:stCondLst>
                                            <p:cond delay="0"/>
                                          </p:stCondLst>
                                        </p:cTn>
                                        <p:tgtEl>
                                          <p:spTgt spid="48"/>
                                        </p:tgtEl>
                                        <p:attrNameLst>
                                          <p:attrName>style.visibility</p:attrName>
                                        </p:attrNameLst>
                                      </p:cBhvr>
                                      <p:to>
                                        <p:strVal val="visible"/>
                                      </p:to>
                                    </p:set>
                                    <p:animEffect transition="in" filter="fade">
                                      <p:cBhvr>
                                        <p:cTn id="147" dur="550"/>
                                        <p:tgtEl>
                                          <p:spTgt spid="48"/>
                                        </p:tgtEl>
                                      </p:cBhvr>
                                    </p:animEffect>
                                    <p:anim calcmode="lin" valueType="num">
                                      <p:cBhvr additive="base">
                                        <p:cTn id="148" dur="550" fill="hold"/>
                                        <p:tgtEl>
                                          <p:spTgt spid="48"/>
                                        </p:tgtEl>
                                        <p:attrNameLst>
                                          <p:attrName>ppt_w</p:attrName>
                                        </p:attrNameLst>
                                      </p:cBhvr>
                                      <p:tavLst>
                                        <p:tav tm="0">
                                          <p:val>
                                            <p:strVal val="0"/>
                                          </p:val>
                                        </p:tav>
                                        <p:tav tm="100000">
                                          <p:val>
                                            <p:strVal val="#ppt_w"/>
                                          </p:val>
                                        </p:tav>
                                      </p:tavLst>
                                    </p:anim>
                                    <p:anim calcmode="lin" valueType="num">
                                      <p:cBhvr additive="base">
                                        <p:cTn id="149" dur="550" fill="hold"/>
                                        <p:tgtEl>
                                          <p:spTgt spid="48"/>
                                        </p:tgtEl>
                                        <p:attrNameLst>
                                          <p:attrName>ppt_h</p:attrName>
                                        </p:attrNameLst>
                                      </p:cBhvr>
                                      <p:tavLst>
                                        <p:tav tm="0">
                                          <p:val>
                                            <p:strVal val="0"/>
                                          </p:val>
                                        </p:tav>
                                        <p:tav tm="100000">
                                          <p:val>
                                            <p:strVal val="#ppt_h"/>
                                          </p:val>
                                        </p:tav>
                                      </p:tavLst>
                                    </p:anim>
                                  </p:childTnLst>
                                </p:cTn>
                              </p:par>
                            </p:childTnLst>
                          </p:cTn>
                        </p:par>
                        <p:par>
                          <p:cTn id="150" fill="hold">
                            <p:stCondLst>
                              <p:cond delay="1200"/>
                            </p:stCondLst>
                            <p:childTnLst>
                              <p:par>
                                <p:cTn id="151" presetID="42" presetClass="entr" presetSubtype="0" fill="hold" grpId="0" nodeType="afterEffect">
                                  <p:stCondLst>
                                    <p:cond delay="0"/>
                                  </p:stCondLst>
                                  <p:childTnLst>
                                    <p:set>
                                      <p:cBhvr>
                                        <p:cTn id="152" dur="1" fill="hold">
                                          <p:stCondLst>
                                            <p:cond delay="0"/>
                                          </p:stCondLst>
                                        </p:cTn>
                                        <p:tgtEl>
                                          <p:spTgt spid="49"/>
                                        </p:tgtEl>
                                        <p:attrNameLst>
                                          <p:attrName>style.visibility</p:attrName>
                                        </p:attrNameLst>
                                      </p:cBhvr>
                                      <p:to>
                                        <p:strVal val="visible"/>
                                      </p:to>
                                    </p:set>
                                    <p:animEffect transition="in" filter="fade">
                                      <p:cBhvr>
                                        <p:cTn id="153" dur="550"/>
                                        <p:tgtEl>
                                          <p:spTgt spid="49"/>
                                        </p:tgtEl>
                                      </p:cBhvr>
                                    </p:animEffect>
                                    <p:anim calcmode="lin" valueType="num">
                                      <p:cBhvr additive="base">
                                        <p:cTn id="154" dur="550" fill="hold"/>
                                        <p:tgtEl>
                                          <p:spTgt spid="49"/>
                                        </p:tgtEl>
                                        <p:attrNameLst>
                                          <p:attrName>ppt_x</p:attrName>
                                        </p:attrNameLst>
                                      </p:cBhvr>
                                      <p:tavLst>
                                        <p:tav tm="0">
                                          <p:val>
                                            <p:strVal val="#ppt_x"/>
                                          </p:val>
                                        </p:tav>
                                        <p:tav tm="100000">
                                          <p:val>
                                            <p:strVal val="#ppt_x"/>
                                          </p:val>
                                        </p:tav>
                                      </p:tavLst>
                                    </p:anim>
                                    <p:anim calcmode="lin" valueType="num">
                                      <p:cBhvr additive="base">
                                        <p:cTn id="155" dur="550" fill="hold"/>
                                        <p:tgtEl>
                                          <p:spTgt spid="49"/>
                                        </p:tgtEl>
                                        <p:attrNameLst>
                                          <p:attrName>ppt_y</p:attrName>
                                        </p:attrNameLst>
                                      </p:cBhvr>
                                      <p:tavLst>
                                        <p:tav tm="0">
                                          <p:val>
                                            <p:strVal val="#ppt_y+.08"/>
                                          </p:val>
                                        </p:tav>
                                        <p:tav tm="100000">
                                          <p:val>
                                            <p:strVal val="#ppt_y"/>
                                          </p:val>
                                        </p:tav>
                                      </p:tavLst>
                                    </p:anim>
                                  </p:childTnLst>
                                </p:cTn>
                              </p:par>
                            </p:childTnLst>
                          </p:cTn>
                        </p:par>
                        <p:par>
                          <p:cTn id="156" fill="hold">
                            <p:stCondLst>
                              <p:cond delay="1400"/>
                            </p:stCondLst>
                            <p:childTnLst>
                              <p:par>
                                <p:cTn id="157" presetID="42" presetClass="entr" presetSubtype="0" fill="hold" grpId="0" nodeType="afterEffect">
                                  <p:stCondLst>
                                    <p:cond delay="0"/>
                                  </p:stCondLst>
                                  <p:childTnLst>
                                    <p:set>
                                      <p:cBhvr>
                                        <p:cTn id="158" dur="1" fill="hold">
                                          <p:stCondLst>
                                            <p:cond delay="0"/>
                                          </p:stCondLst>
                                        </p:cTn>
                                        <p:tgtEl>
                                          <p:spTgt spid="50"/>
                                        </p:tgtEl>
                                        <p:attrNameLst>
                                          <p:attrName>style.visibility</p:attrName>
                                        </p:attrNameLst>
                                      </p:cBhvr>
                                      <p:to>
                                        <p:strVal val="visible"/>
                                      </p:to>
                                    </p:set>
                                    <p:animEffect transition="in" filter="fade">
                                      <p:cBhvr>
                                        <p:cTn id="159" dur="550"/>
                                        <p:tgtEl>
                                          <p:spTgt spid="50"/>
                                        </p:tgtEl>
                                      </p:cBhvr>
                                    </p:animEffect>
                                    <p:anim calcmode="lin" valueType="num">
                                      <p:cBhvr additive="base">
                                        <p:cTn id="160" dur="550" fill="hold"/>
                                        <p:tgtEl>
                                          <p:spTgt spid="50"/>
                                        </p:tgtEl>
                                        <p:attrNameLst>
                                          <p:attrName>ppt_x</p:attrName>
                                        </p:attrNameLst>
                                      </p:cBhvr>
                                      <p:tavLst>
                                        <p:tav tm="0">
                                          <p:val>
                                            <p:strVal val="#ppt_x"/>
                                          </p:val>
                                        </p:tav>
                                        <p:tav tm="100000">
                                          <p:val>
                                            <p:strVal val="#ppt_x"/>
                                          </p:val>
                                        </p:tav>
                                      </p:tavLst>
                                    </p:anim>
                                    <p:anim calcmode="lin" valueType="num">
                                      <p:cBhvr additive="base">
                                        <p:cTn id="161" dur="550" fill="hold"/>
                                        <p:tgtEl>
                                          <p:spTgt spid="50"/>
                                        </p:tgtEl>
                                        <p:attrNameLst>
                                          <p:attrName>ppt_y</p:attrName>
                                        </p:attrNameLst>
                                      </p:cBhvr>
                                      <p:tavLst>
                                        <p:tav tm="0">
                                          <p:val>
                                            <p:strVal val="#ppt_y+.08"/>
                                          </p:val>
                                        </p:tav>
                                        <p:tav tm="100000">
                                          <p:val>
                                            <p:strVal val="#ppt_y"/>
                                          </p:val>
                                        </p:tav>
                                      </p:tavLst>
                                    </p:anim>
                                  </p:childTnLst>
                                </p:cTn>
                              </p:par>
                            </p:childTnLst>
                          </p:cTn>
                        </p:par>
                        <p:par>
                          <p:cTn id="162" fill="hold">
                            <p:stCondLst>
                              <p:cond delay="1400"/>
                            </p:stCondLst>
                            <p:childTnLst>
                              <p:par>
                                <p:cTn id="163" presetID="42" presetClass="entr" presetSubtype="0" fill="hold" grpId="0" nodeType="afterEffect">
                                  <p:stCondLst>
                                    <p:cond delay="0"/>
                                  </p:stCondLst>
                                  <p:childTnLst>
                                    <p:set>
                                      <p:cBhvr>
                                        <p:cTn id="164" dur="1" fill="hold">
                                          <p:stCondLst>
                                            <p:cond delay="0"/>
                                          </p:stCondLst>
                                        </p:cTn>
                                        <p:tgtEl>
                                          <p:spTgt spid="51"/>
                                        </p:tgtEl>
                                        <p:attrNameLst>
                                          <p:attrName>style.visibility</p:attrName>
                                        </p:attrNameLst>
                                      </p:cBhvr>
                                      <p:to>
                                        <p:strVal val="visible"/>
                                      </p:to>
                                    </p:set>
                                    <p:animEffect transition="in" filter="fade">
                                      <p:cBhvr>
                                        <p:cTn id="165" dur="550"/>
                                        <p:tgtEl>
                                          <p:spTgt spid="51"/>
                                        </p:tgtEl>
                                      </p:cBhvr>
                                    </p:animEffect>
                                    <p:anim calcmode="lin" valueType="num">
                                      <p:cBhvr additive="base">
                                        <p:cTn id="166" dur="550" fill="hold"/>
                                        <p:tgtEl>
                                          <p:spTgt spid="51"/>
                                        </p:tgtEl>
                                        <p:attrNameLst>
                                          <p:attrName>ppt_x</p:attrName>
                                        </p:attrNameLst>
                                      </p:cBhvr>
                                      <p:tavLst>
                                        <p:tav tm="0">
                                          <p:val>
                                            <p:strVal val="#ppt_x"/>
                                          </p:val>
                                        </p:tav>
                                        <p:tav tm="100000">
                                          <p:val>
                                            <p:strVal val="#ppt_x"/>
                                          </p:val>
                                        </p:tav>
                                      </p:tavLst>
                                    </p:anim>
                                    <p:anim calcmode="lin" valueType="num">
                                      <p:cBhvr additive="base">
                                        <p:cTn id="167" dur="550" fill="hold"/>
                                        <p:tgtEl>
                                          <p:spTgt spid="51"/>
                                        </p:tgtEl>
                                        <p:attrNameLst>
                                          <p:attrName>ppt_y</p:attrName>
                                        </p:attrNameLst>
                                      </p:cBhvr>
                                      <p:tavLst>
                                        <p:tav tm="0">
                                          <p:val>
                                            <p:strVal val="#ppt_y+.08"/>
                                          </p:val>
                                        </p:tav>
                                        <p:tav tm="100000">
                                          <p:val>
                                            <p:strVal val="#ppt_y"/>
                                          </p:val>
                                        </p:tav>
                                      </p:tavLst>
                                    </p:anim>
                                  </p:childTnLst>
                                </p:cTn>
                              </p:par>
                            </p:childTnLst>
                          </p:cTn>
                        </p:par>
                        <p:par>
                          <p:cTn id="168" fill="hold">
                            <p:stCondLst>
                              <p:cond delay="1400"/>
                            </p:stCondLst>
                            <p:childTnLst>
                              <p:par>
                                <p:cTn id="169" presetID="53" presetClass="entr" presetSubtype="16" fill="hold" grpId="0" nodeType="afterEffect">
                                  <p:stCondLst>
                                    <p:cond delay="0"/>
                                  </p:stCondLst>
                                  <p:childTnLst>
                                    <p:set>
                                      <p:cBhvr>
                                        <p:cTn id="170" dur="1" fill="hold">
                                          <p:stCondLst>
                                            <p:cond delay="0"/>
                                          </p:stCondLst>
                                        </p:cTn>
                                        <p:tgtEl>
                                          <p:spTgt spid="52"/>
                                        </p:tgtEl>
                                        <p:attrNameLst>
                                          <p:attrName>style.visibility</p:attrName>
                                        </p:attrNameLst>
                                      </p:cBhvr>
                                      <p:to>
                                        <p:strVal val="visible"/>
                                      </p:to>
                                    </p:set>
                                    <p:animEffect transition="in" filter="fade">
                                      <p:cBhvr>
                                        <p:cTn id="171" dur="550"/>
                                        <p:tgtEl>
                                          <p:spTgt spid="52"/>
                                        </p:tgtEl>
                                      </p:cBhvr>
                                    </p:animEffect>
                                    <p:anim calcmode="lin" valueType="num">
                                      <p:cBhvr additive="base">
                                        <p:cTn id="172" dur="550" fill="hold"/>
                                        <p:tgtEl>
                                          <p:spTgt spid="52"/>
                                        </p:tgtEl>
                                        <p:attrNameLst>
                                          <p:attrName>ppt_w</p:attrName>
                                        </p:attrNameLst>
                                      </p:cBhvr>
                                      <p:tavLst>
                                        <p:tav tm="0">
                                          <p:val>
                                            <p:strVal val="0"/>
                                          </p:val>
                                        </p:tav>
                                        <p:tav tm="100000">
                                          <p:val>
                                            <p:strVal val="#ppt_w"/>
                                          </p:val>
                                        </p:tav>
                                      </p:tavLst>
                                    </p:anim>
                                    <p:anim calcmode="lin" valueType="num">
                                      <p:cBhvr additive="base">
                                        <p:cTn id="173" dur="550" fill="hold"/>
                                        <p:tgtEl>
                                          <p:spTgt spid="52"/>
                                        </p:tgtEl>
                                        <p:attrNameLst>
                                          <p:attrName>ppt_h</p:attrName>
                                        </p:attrNameLst>
                                      </p:cBhvr>
                                      <p:tavLst>
                                        <p:tav tm="0">
                                          <p:val>
                                            <p:strVal val="0"/>
                                          </p:val>
                                        </p:tav>
                                        <p:tav tm="100000">
                                          <p:val>
                                            <p:strVal val="#ppt_h"/>
                                          </p:val>
                                        </p:tav>
                                      </p:tavLst>
                                    </p:anim>
                                  </p:childTnLst>
                                </p:cTn>
                              </p:par>
                            </p:childTnLst>
                          </p:cTn>
                        </p:par>
                        <p:par>
                          <p:cTn id="174" fill="hold">
                            <p:stCondLst>
                              <p:cond delay="1400"/>
                            </p:stCondLst>
                            <p:childTnLst>
                              <p:par>
                                <p:cTn id="175" presetID="42" presetClass="entr" presetSubtype="0" fill="hold" grpId="0" nodeType="afterEffect">
                                  <p:stCondLst>
                                    <p:cond delay="0"/>
                                  </p:stCondLst>
                                  <p:childTnLst>
                                    <p:set>
                                      <p:cBhvr>
                                        <p:cTn id="176" dur="1" fill="hold">
                                          <p:stCondLst>
                                            <p:cond delay="0"/>
                                          </p:stCondLst>
                                        </p:cTn>
                                        <p:tgtEl>
                                          <p:spTgt spid="53"/>
                                        </p:tgtEl>
                                        <p:attrNameLst>
                                          <p:attrName>style.visibility</p:attrName>
                                        </p:attrNameLst>
                                      </p:cBhvr>
                                      <p:to>
                                        <p:strVal val="visible"/>
                                      </p:to>
                                    </p:set>
                                    <p:animEffect transition="in" filter="fade">
                                      <p:cBhvr>
                                        <p:cTn id="177" dur="550"/>
                                        <p:tgtEl>
                                          <p:spTgt spid="53"/>
                                        </p:tgtEl>
                                      </p:cBhvr>
                                    </p:animEffect>
                                    <p:anim calcmode="lin" valueType="num">
                                      <p:cBhvr additive="base">
                                        <p:cTn id="178" dur="550" fill="hold"/>
                                        <p:tgtEl>
                                          <p:spTgt spid="53"/>
                                        </p:tgtEl>
                                        <p:attrNameLst>
                                          <p:attrName>ppt_x</p:attrName>
                                        </p:attrNameLst>
                                      </p:cBhvr>
                                      <p:tavLst>
                                        <p:tav tm="0">
                                          <p:val>
                                            <p:strVal val="#ppt_x"/>
                                          </p:val>
                                        </p:tav>
                                        <p:tav tm="100000">
                                          <p:val>
                                            <p:strVal val="#ppt_x"/>
                                          </p:val>
                                        </p:tav>
                                      </p:tavLst>
                                    </p:anim>
                                    <p:anim calcmode="lin" valueType="num">
                                      <p:cBhvr additive="base">
                                        <p:cTn id="179" dur="550" fill="hold"/>
                                        <p:tgtEl>
                                          <p:spTgt spid="53"/>
                                        </p:tgtEl>
                                        <p:attrNameLst>
                                          <p:attrName>ppt_y</p:attrName>
                                        </p:attrNameLst>
                                      </p:cBhvr>
                                      <p:tavLst>
                                        <p:tav tm="0">
                                          <p:val>
                                            <p:strVal val="#ppt_y+.08"/>
                                          </p:val>
                                        </p:tav>
                                        <p:tav tm="100000">
                                          <p:val>
                                            <p:strVal val="#ppt_y"/>
                                          </p:val>
                                        </p:tav>
                                      </p:tavLst>
                                    </p:anim>
                                  </p:childTnLst>
                                </p:cTn>
                              </p:par>
                            </p:childTnLst>
                          </p:cTn>
                        </p:par>
                        <p:par>
                          <p:cTn id="180" fill="hold">
                            <p:stCondLst>
                              <p:cond delay="1600"/>
                            </p:stCondLst>
                            <p:childTnLst>
                              <p:par>
                                <p:cTn id="181" presetID="42" presetClass="entr" presetSubtype="0" fill="hold" grpId="0" nodeType="afterEffect">
                                  <p:stCondLst>
                                    <p:cond delay="0"/>
                                  </p:stCondLst>
                                  <p:childTnLst>
                                    <p:set>
                                      <p:cBhvr>
                                        <p:cTn id="182" dur="1" fill="hold">
                                          <p:stCondLst>
                                            <p:cond delay="0"/>
                                          </p:stCondLst>
                                        </p:cTn>
                                        <p:tgtEl>
                                          <p:spTgt spid="54"/>
                                        </p:tgtEl>
                                        <p:attrNameLst>
                                          <p:attrName>style.visibility</p:attrName>
                                        </p:attrNameLst>
                                      </p:cBhvr>
                                      <p:to>
                                        <p:strVal val="visible"/>
                                      </p:to>
                                    </p:set>
                                    <p:animEffect transition="in" filter="fade">
                                      <p:cBhvr>
                                        <p:cTn id="183" dur="550"/>
                                        <p:tgtEl>
                                          <p:spTgt spid="54"/>
                                        </p:tgtEl>
                                      </p:cBhvr>
                                    </p:animEffect>
                                    <p:anim calcmode="lin" valueType="num">
                                      <p:cBhvr additive="base">
                                        <p:cTn id="184" dur="550" fill="hold"/>
                                        <p:tgtEl>
                                          <p:spTgt spid="54"/>
                                        </p:tgtEl>
                                        <p:attrNameLst>
                                          <p:attrName>ppt_x</p:attrName>
                                        </p:attrNameLst>
                                      </p:cBhvr>
                                      <p:tavLst>
                                        <p:tav tm="0">
                                          <p:val>
                                            <p:strVal val="#ppt_x"/>
                                          </p:val>
                                        </p:tav>
                                        <p:tav tm="100000">
                                          <p:val>
                                            <p:strVal val="#ppt_x"/>
                                          </p:val>
                                        </p:tav>
                                      </p:tavLst>
                                    </p:anim>
                                    <p:anim calcmode="lin" valueType="num">
                                      <p:cBhvr additive="base">
                                        <p:cTn id="185" dur="550" fill="hold"/>
                                        <p:tgtEl>
                                          <p:spTgt spid="54"/>
                                        </p:tgtEl>
                                        <p:attrNameLst>
                                          <p:attrName>ppt_y</p:attrName>
                                        </p:attrNameLst>
                                      </p:cBhvr>
                                      <p:tavLst>
                                        <p:tav tm="0">
                                          <p:val>
                                            <p:strVal val="#ppt_y+.08"/>
                                          </p:val>
                                        </p:tav>
                                        <p:tav tm="100000">
                                          <p:val>
                                            <p:strVal val="#ppt_y"/>
                                          </p:val>
                                        </p:tav>
                                      </p:tavLst>
                                    </p:anim>
                                  </p:childTnLst>
                                </p:cTn>
                              </p:par>
                            </p:childTnLst>
                          </p:cTn>
                        </p:par>
                        <p:par>
                          <p:cTn id="186" fill="hold">
                            <p:stCondLst>
                              <p:cond delay="1600"/>
                            </p:stCondLst>
                            <p:childTnLst>
                              <p:par>
                                <p:cTn id="187" presetID="42" presetClass="entr" presetSubtype="0" fill="hold" grpId="0" nodeType="afterEffect">
                                  <p:stCondLst>
                                    <p:cond delay="0"/>
                                  </p:stCondLst>
                                  <p:childTnLst>
                                    <p:set>
                                      <p:cBhvr>
                                        <p:cTn id="188" dur="1" fill="hold">
                                          <p:stCondLst>
                                            <p:cond delay="0"/>
                                          </p:stCondLst>
                                        </p:cTn>
                                        <p:tgtEl>
                                          <p:spTgt spid="55"/>
                                        </p:tgtEl>
                                        <p:attrNameLst>
                                          <p:attrName>style.visibility</p:attrName>
                                        </p:attrNameLst>
                                      </p:cBhvr>
                                      <p:to>
                                        <p:strVal val="visible"/>
                                      </p:to>
                                    </p:set>
                                    <p:animEffect transition="in" filter="fade">
                                      <p:cBhvr>
                                        <p:cTn id="189" dur="550"/>
                                        <p:tgtEl>
                                          <p:spTgt spid="55"/>
                                        </p:tgtEl>
                                      </p:cBhvr>
                                    </p:animEffect>
                                    <p:anim calcmode="lin" valueType="num">
                                      <p:cBhvr additive="base">
                                        <p:cTn id="190" dur="550" fill="hold"/>
                                        <p:tgtEl>
                                          <p:spTgt spid="55"/>
                                        </p:tgtEl>
                                        <p:attrNameLst>
                                          <p:attrName>ppt_x</p:attrName>
                                        </p:attrNameLst>
                                      </p:cBhvr>
                                      <p:tavLst>
                                        <p:tav tm="0">
                                          <p:val>
                                            <p:strVal val="#ppt_x"/>
                                          </p:val>
                                        </p:tav>
                                        <p:tav tm="100000">
                                          <p:val>
                                            <p:strVal val="#ppt_x"/>
                                          </p:val>
                                        </p:tav>
                                      </p:tavLst>
                                    </p:anim>
                                    <p:anim calcmode="lin" valueType="num">
                                      <p:cBhvr additive="base">
                                        <p:cTn id="191" dur="550" fill="hold"/>
                                        <p:tgtEl>
                                          <p:spTgt spid="55"/>
                                        </p:tgtEl>
                                        <p:attrNameLst>
                                          <p:attrName>ppt_y</p:attrName>
                                        </p:attrNameLst>
                                      </p:cBhvr>
                                      <p:tavLst>
                                        <p:tav tm="0">
                                          <p:val>
                                            <p:strVal val="#ppt_y+.08"/>
                                          </p:val>
                                        </p:tav>
                                        <p:tav tm="100000">
                                          <p:val>
                                            <p:strVal val="#ppt_y"/>
                                          </p:val>
                                        </p:tav>
                                      </p:tavLst>
                                    </p:anim>
                                  </p:childTnLst>
                                </p:cTn>
                              </p:par>
                            </p:childTnLst>
                          </p:cTn>
                        </p:par>
                        <p:par>
                          <p:cTn id="192" fill="hold">
                            <p:stCondLst>
                              <p:cond delay="1600"/>
                            </p:stCondLst>
                            <p:childTnLst>
                              <p:par>
                                <p:cTn id="193" presetID="53" presetClass="entr" presetSubtype="16" fill="hold" grpId="0" nodeType="afterEffect">
                                  <p:stCondLst>
                                    <p:cond delay="0"/>
                                  </p:stCondLst>
                                  <p:childTnLst>
                                    <p:set>
                                      <p:cBhvr>
                                        <p:cTn id="194" dur="1" fill="hold">
                                          <p:stCondLst>
                                            <p:cond delay="0"/>
                                          </p:stCondLst>
                                        </p:cTn>
                                        <p:tgtEl>
                                          <p:spTgt spid="56"/>
                                        </p:tgtEl>
                                        <p:attrNameLst>
                                          <p:attrName>style.visibility</p:attrName>
                                        </p:attrNameLst>
                                      </p:cBhvr>
                                      <p:to>
                                        <p:strVal val="visible"/>
                                      </p:to>
                                    </p:set>
                                    <p:animEffect transition="in" filter="fade">
                                      <p:cBhvr>
                                        <p:cTn id="195" dur="550"/>
                                        <p:tgtEl>
                                          <p:spTgt spid="56"/>
                                        </p:tgtEl>
                                      </p:cBhvr>
                                    </p:animEffect>
                                    <p:anim calcmode="lin" valueType="num">
                                      <p:cBhvr additive="base">
                                        <p:cTn id="196" dur="550" fill="hold"/>
                                        <p:tgtEl>
                                          <p:spTgt spid="56"/>
                                        </p:tgtEl>
                                        <p:attrNameLst>
                                          <p:attrName>ppt_w</p:attrName>
                                        </p:attrNameLst>
                                      </p:cBhvr>
                                      <p:tavLst>
                                        <p:tav tm="0">
                                          <p:val>
                                            <p:strVal val="0"/>
                                          </p:val>
                                        </p:tav>
                                        <p:tav tm="100000">
                                          <p:val>
                                            <p:strVal val="#ppt_w"/>
                                          </p:val>
                                        </p:tav>
                                      </p:tavLst>
                                    </p:anim>
                                    <p:anim calcmode="lin" valueType="num">
                                      <p:cBhvr additive="base">
                                        <p:cTn id="197" dur="550" fill="hold"/>
                                        <p:tgtEl>
                                          <p:spTgt spid="56"/>
                                        </p:tgtEl>
                                        <p:attrNameLst>
                                          <p:attrName>ppt_h</p:attrName>
                                        </p:attrNameLst>
                                      </p:cBhvr>
                                      <p:tavLst>
                                        <p:tav tm="0">
                                          <p:val>
                                            <p:strVal val="0"/>
                                          </p:val>
                                        </p:tav>
                                        <p:tav tm="100000">
                                          <p:val>
                                            <p:strVal val="#ppt_h"/>
                                          </p:val>
                                        </p:tav>
                                      </p:tavLst>
                                    </p:anim>
                                  </p:childTnLst>
                                </p:cTn>
                              </p:par>
                            </p:childTnLst>
                          </p:cTn>
                        </p:par>
                        <p:par>
                          <p:cTn id="198" fill="hold">
                            <p:stCondLst>
                              <p:cond delay="1600"/>
                            </p:stCondLst>
                            <p:childTnLst>
                              <p:par>
                                <p:cTn id="199" presetID="42" presetClass="entr" presetSubtype="0" fill="hold" grpId="0" nodeType="afterEffect">
                                  <p:stCondLst>
                                    <p:cond delay="0"/>
                                  </p:stCondLst>
                                  <p:childTnLst>
                                    <p:set>
                                      <p:cBhvr>
                                        <p:cTn id="200" dur="1" fill="hold">
                                          <p:stCondLst>
                                            <p:cond delay="0"/>
                                          </p:stCondLst>
                                        </p:cTn>
                                        <p:tgtEl>
                                          <p:spTgt spid="57"/>
                                        </p:tgtEl>
                                        <p:attrNameLst>
                                          <p:attrName>style.visibility</p:attrName>
                                        </p:attrNameLst>
                                      </p:cBhvr>
                                      <p:to>
                                        <p:strVal val="visible"/>
                                      </p:to>
                                    </p:set>
                                    <p:animEffect transition="in" filter="fade">
                                      <p:cBhvr>
                                        <p:cTn id="201" dur="550"/>
                                        <p:tgtEl>
                                          <p:spTgt spid="57"/>
                                        </p:tgtEl>
                                      </p:cBhvr>
                                    </p:animEffect>
                                    <p:anim calcmode="lin" valueType="num">
                                      <p:cBhvr additive="base">
                                        <p:cTn id="202" dur="550" fill="hold"/>
                                        <p:tgtEl>
                                          <p:spTgt spid="57"/>
                                        </p:tgtEl>
                                        <p:attrNameLst>
                                          <p:attrName>ppt_x</p:attrName>
                                        </p:attrNameLst>
                                      </p:cBhvr>
                                      <p:tavLst>
                                        <p:tav tm="0">
                                          <p:val>
                                            <p:strVal val="#ppt_x"/>
                                          </p:val>
                                        </p:tav>
                                        <p:tav tm="100000">
                                          <p:val>
                                            <p:strVal val="#ppt_x"/>
                                          </p:val>
                                        </p:tav>
                                      </p:tavLst>
                                    </p:anim>
                                    <p:anim calcmode="lin" valueType="num">
                                      <p:cBhvr additive="base">
                                        <p:cTn id="203" dur="550" fill="hold"/>
                                        <p:tgtEl>
                                          <p:spTgt spid="5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bb65a074a50e157c.jpg"/>
          <p:cNvPicPr>
            <a:picLocks noChangeAspect="1"/>
          </p:cNvPicPr>
          <p:nvPr/>
        </p:nvPicPr>
        <p:blipFill>
          <a:blip r:embed="rId2"/>
          <a:srcRect l="14449" r="14449"/>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Intel in Deutschland · Wikimedia Commons · CC BY-SA 2.0</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01</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CPU: kechikishga optimallashtirilgan arxitektura</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CPU: kechikishga optimallashtirilgan arxitektura</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4</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6b4d8b5ed199029.jpg"/>
          <p:cNvPicPr>
            <a:picLocks noChangeAspect="1"/>
          </p:cNvPicPr>
          <p:nvPr/>
        </p:nvPicPr>
        <p:blipFill>
          <a:blip r:embed="rId2"/>
          <a:srcRect l="4289" r="4289"/>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Teewurzler · Wikimedia Commons · CC BY-SA 4.0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29" name="TextBox 28"/>
          <p:cNvSpPr txBox="1"/>
          <p:nvPr/>
        </p:nvSpPr>
        <p:spPr>
          <a:xfrm>
            <a:off x="1300000" y="1802128"/>
            <a:ext cx="5900000" cy="1892872"/>
          </a:xfrm>
          <a:prstGeom prst="rect">
            <a:avLst/>
          </a:prstGeom>
          <a:noFill/>
        </p:spPr>
        <p:txBody>
          <a:bodyPr wrap="square" anchor="ctr">
            <a:spAutoFit/>
          </a:bodyPr>
          <a:lstStyle/>
          <a:p>
            <a:r>
              <a:rPr sz="1400" b="0">
                <a:solidFill>
                  <a:srgbClr val="E8EEFA"/>
                </a:solidFill>
                <a:latin typeface="Segoe UI"/>
              </a:rPr>
              <a:t>Zamonaviy server CPU si (masalan, AMD EPYC 9004 «Genoa» 96 yadroli yoki Intel Xeon 4-avlod «Sapphire Rapids» 60 yadroli) — bu kechikishni (latency) minimallashtirishga qaratilgan mashina.</a:t>
            </a:r>
          </a:p>
        </p:txBody>
      </p:sp>
      <p:sp>
        <p:nvSpPr>
          <p:cNvPr id="30" name="Rounded Rectangle 29"/>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CPU da SI yukini tezlashtirishning asosiy vositasi — SIMD (Single Instruction, Multiple Data) kengaytmalari: AVX2 (256 bit, 8 ta FP32), AVX-512 (512 bit, 16 ta FP32) va ARM da SVE/SVE2.</a:t>
            </a:r>
          </a:p>
          <a:p>
            <a:pPr>
              <a:spcBef>
                <a:spcPts val="400"/>
              </a:spcBef>
            </a:pPr>
            <a:r>
              <a:rPr sz="1400">
                <a:solidFill>
                  <a:srgbClr val="AEBBD9"/>
                </a:solidFill>
                <a:latin typeface="Segoe UI"/>
              </a:rPr>
              <a:t>Yangi Intel Xeon larda AMX (Advanced Matrix Extensions) bloki qo'shilgan — u 16×64 baytli «plitka» registrlarida INT8 va BF16 matritsa ko'paytirishni bajarib, yadro boshiga 2048 INT8 amal/takt beradi.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0"/>
                                        </p:tgtEl>
                                        <p:attrNameLst>
                                          <p:attrName>style.visibility</p:attrName>
                                        </p:attrNameLst>
                                      </p:cBhvr>
                                      <p:to>
                                        <p:strVal val="visible"/>
                                      </p:to>
                                    </p:set>
                                    <p:animEffect transition="in" filter="fade">
                                      <p:cBhvr>
                                        <p:cTn id="59" dur="550"/>
                                        <p:tgtEl>
                                          <p:spTgt spid="30"/>
                                        </p:tgtEl>
                                      </p:cBhvr>
                                    </p:animEffect>
                                    <p:anim calcmode="lin" valueType="num">
                                      <p:cBhvr additive="base">
                                        <p:cTn id="60" dur="550" fill="hold"/>
                                        <p:tgtEl>
                                          <p:spTgt spid="30"/>
                                        </p:tgtEl>
                                        <p:attrNameLst>
                                          <p:attrName>ppt_x</p:attrName>
                                        </p:attrNameLst>
                                      </p:cBhvr>
                                      <p:tavLst>
                                        <p:tav tm="0">
                                          <p:val>
                                            <p:strVal val="#ppt_x"/>
                                          </p:val>
                                        </p:tav>
                                        <p:tav tm="100000">
                                          <p:val>
                                            <p:strVal val="#ppt_x"/>
                                          </p:val>
                                        </p:tav>
                                      </p:tavLst>
                                    </p:anim>
                                    <p:anim calcmode="lin" valueType="num">
                                      <p:cBhvr additive="base">
                                        <p:cTn id="61" dur="550" fill="hold"/>
                                        <p:tgtEl>
                                          <p:spTgt spid="30"/>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1"/>
                                        </p:tgtEl>
                                        <p:attrNameLst>
                                          <p:attrName>style.visibility</p:attrName>
                                        </p:attrNameLst>
                                      </p:cBhvr>
                                      <p:to>
                                        <p:strVal val="visible"/>
                                      </p:to>
                                    </p:set>
                                    <p:animEffect transition="in" filter="fade">
                                      <p:cBhvr>
                                        <p:cTn id="65" dur="550"/>
                                        <p:tgtEl>
                                          <p:spTgt spid="31"/>
                                        </p:tgtEl>
                                      </p:cBhvr>
                                    </p:animEffect>
                                    <p:anim calcmode="lin" valueType="num">
                                      <p:cBhvr additive="base">
                                        <p:cTn id="66" dur="550" fill="hold"/>
                                        <p:tgtEl>
                                          <p:spTgt spid="31"/>
                                        </p:tgtEl>
                                        <p:attrNameLst>
                                          <p:attrName>ppt_x</p:attrName>
                                        </p:attrNameLst>
                                      </p:cBhvr>
                                      <p:tavLst>
                                        <p:tav tm="0">
                                          <p:val>
                                            <p:strVal val="#ppt_x"/>
                                          </p:val>
                                        </p:tav>
                                        <p:tav tm="100000">
                                          <p:val>
                                            <p:strVal val="#ppt_x"/>
                                          </p:val>
                                        </p:tav>
                                      </p:tavLst>
                                    </p:anim>
                                    <p:anim calcmode="lin" valueType="num">
                                      <p:cBhvr additive="base">
                                        <p:cTn id="67" dur="550" fill="hold"/>
                                        <p:tgtEl>
                                          <p:spTgt spid="31"/>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2"/>
                                        </p:tgtEl>
                                        <p:attrNameLst>
                                          <p:attrName>style.visibility</p:attrName>
                                        </p:attrNameLst>
                                      </p:cBhvr>
                                      <p:to>
                                        <p:strVal val="visible"/>
                                      </p:to>
                                    </p:set>
                                    <p:animEffect transition="in" filter="fade">
                                      <p:cBhvr>
                                        <p:cTn id="71" dur="550"/>
                                        <p:tgtEl>
                                          <p:spTgt spid="32"/>
                                        </p:tgtEl>
                                      </p:cBhvr>
                                    </p:animEffect>
                                    <p:anim calcmode="lin" valueType="num">
                                      <p:cBhvr additive="base">
                                        <p:cTn id="72" dur="550" fill="hold"/>
                                        <p:tgtEl>
                                          <p:spTgt spid="32"/>
                                        </p:tgtEl>
                                        <p:attrNameLst>
                                          <p:attrName>ppt_w</p:attrName>
                                        </p:attrNameLst>
                                      </p:cBhvr>
                                      <p:tavLst>
                                        <p:tav tm="0">
                                          <p:val>
                                            <p:strVal val="0"/>
                                          </p:val>
                                        </p:tav>
                                        <p:tav tm="100000">
                                          <p:val>
                                            <p:strVal val="#ppt_w"/>
                                          </p:val>
                                        </p:tav>
                                      </p:tavLst>
                                    </p:anim>
                                    <p:anim calcmode="lin" valueType="num">
                                      <p:cBhvr additive="base">
                                        <p:cTn id="73" dur="550" fill="hold"/>
                                        <p:tgtEl>
                                          <p:spTgt spid="32"/>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550"/>
                                        <p:tgtEl>
                                          <p:spTgt spid="33"/>
                                        </p:tgtEl>
                                      </p:cBhvr>
                                    </p:animEffect>
                                    <p:anim calcmode="lin" valueType="num">
                                      <p:cBhvr additive="base">
                                        <p:cTn id="78" dur="550" fill="hold"/>
                                        <p:tgtEl>
                                          <p:spTgt spid="33"/>
                                        </p:tgtEl>
                                        <p:attrNameLst>
                                          <p:attrName>ppt_x</p:attrName>
                                        </p:attrNameLst>
                                      </p:cBhvr>
                                      <p:tavLst>
                                        <p:tav tm="0">
                                          <p:val>
                                            <p:strVal val="#ppt_x"/>
                                          </p:val>
                                        </p:tav>
                                        <p:tav tm="100000">
                                          <p:val>
                                            <p:strVal val="#ppt_x"/>
                                          </p:val>
                                        </p:tav>
                                      </p:tavLst>
                                    </p:anim>
                                    <p:anim calcmode="lin" valueType="num">
                                      <p:cBhvr additive="base">
                                        <p:cTn id="79"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1-REJA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CPU: kechikishga optimallashtirilgan arxitektura</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5</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094242e6af70016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Evan-Amos · Wikimedia Commons · Public domain</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954440"/>
            <a:ext cx="6750000" cy="1671120"/>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3034440"/>
            <a:ext cx="50000" cy="1511120"/>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1" name="TextBox 30"/>
          <p:cNvSpPr txBox="1"/>
          <p:nvPr/>
        </p:nvSpPr>
        <p:spPr>
          <a:xfrm>
            <a:off x="1300000" y="2994440"/>
            <a:ext cx="5900000" cy="1591120"/>
          </a:xfrm>
          <a:prstGeom prst="rect">
            <a:avLst/>
          </a:prstGeom>
          <a:noFill/>
        </p:spPr>
        <p:txBody>
          <a:bodyPr wrap="square" anchor="ctr">
            <a:spAutoFit/>
          </a:bodyPr>
          <a:lstStyle/>
          <a:p>
            <a:r>
              <a:rPr sz="1600" b="0">
                <a:solidFill>
                  <a:srgbClr val="E8EEFA"/>
                </a:solidFill>
                <a:latin typeface="Segoe UI"/>
              </a:rPr>
              <a:t>CPU ning SI tizimidagi o'rni shunga qaramay muhim: u ma'lumotni yuklaydi va oldindan ishlov beradi, tezlatkichlarni boshqaradi, kichik modellar va past yukdagi inferensni bajaradi, tavsiya tizimlarida embedding jadvallarini qidiradi (xotira sig'imi muhim…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1ad84d55f0a755a6.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46" name="TextBox 45"/>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Phiarc · Wikimedia Commons · CC BY-SA 4.0</a:t>
            </a:r>
          </a:p>
        </p:txBody>
      </p:sp>
      <p:sp>
        <p:nvSpPr>
          <p:cNvPr id="47" name="TextBox 46"/>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02</a:t>
            </a:r>
          </a:p>
        </p:txBody>
      </p:sp>
      <p:sp>
        <p:nvSpPr>
          <p:cNvPr id="48" name="TextBox 47"/>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9" name="TextBox 48"/>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GPU: o'tkazuvchanlikka optimallashtirilgan arxitektura</a:t>
            </a:r>
          </a:p>
        </p:txBody>
      </p:sp>
      <p:sp>
        <p:nvSpPr>
          <p:cNvPr id="50" name="Rectangle 49"/>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4"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150"/>
                            </p:stCondLst>
                            <p:childTnLst>
                              <p:par>
                                <p:cTn id="168" presetID="53" presetClass="entr" presetSubtype="16"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anim calcmode="lin" valueType="num">
                                      <p:cBhvr additive="base">
                                        <p:cTn id="171" dur="550" fill="hold"/>
                                        <p:tgtEl>
                                          <p:spTgt spid="44"/>
                                        </p:tgtEl>
                                        <p:attrNameLst>
                                          <p:attrName>ppt_w</p:attrName>
                                        </p:attrNameLst>
                                      </p:cBhvr>
                                      <p:tavLst>
                                        <p:tav tm="0">
                                          <p:val>
                                            <p:strVal val="0"/>
                                          </p:val>
                                        </p:tav>
                                        <p:tav tm="100000">
                                          <p:val>
                                            <p:strVal val="#ppt_w"/>
                                          </p:val>
                                        </p:tav>
                                      </p:tavLst>
                                    </p:anim>
                                    <p:anim calcmode="lin" valueType="num">
                                      <p:cBhvr additive="base">
                                        <p:cTn id="172" dur="550" fill="hold"/>
                                        <p:tgtEl>
                                          <p:spTgt spid="44"/>
                                        </p:tgtEl>
                                        <p:attrNameLst>
                                          <p:attrName>ppt_h</p:attrName>
                                        </p:attrNameLst>
                                      </p:cBhvr>
                                      <p:tavLst>
                                        <p:tav tm="0">
                                          <p:val>
                                            <p:strVal val="0"/>
                                          </p:val>
                                        </p:tav>
                                        <p:tav tm="100000">
                                          <p:val>
                                            <p:strVal val="#ppt_h"/>
                                          </p:val>
                                        </p:tav>
                                      </p:tavLst>
                                    </p:anim>
                                  </p:childTnLst>
                                </p:cTn>
                              </p:par>
                            </p:childTnLst>
                          </p:cTn>
                        </p:par>
                        <p:par>
                          <p:cTn id="173" fill="hold">
                            <p:stCondLst>
                              <p:cond delay="150"/>
                            </p:stCondLst>
                            <p:childTnLst>
                              <p:par>
                                <p:cTn id="174" presetID="53" presetClass="entr" presetSubtype="16" fill="hold" grpId="0" nodeType="afterEffect">
                                  <p:stCondLst>
                                    <p:cond delay="0"/>
                                  </p:stCondLst>
                                  <p:childTnLst>
                                    <p:set>
                                      <p:cBhvr>
                                        <p:cTn id="175" dur="1" fill="hold">
                                          <p:stCondLst>
                                            <p:cond delay="0"/>
                                          </p:stCondLst>
                                        </p:cTn>
                                        <p:tgtEl>
                                          <p:spTgt spid="45"/>
                                        </p:tgtEl>
                                        <p:attrNameLst>
                                          <p:attrName>style.visibility</p:attrName>
                                        </p:attrNameLst>
                                      </p:cBhvr>
                                      <p:to>
                                        <p:strVal val="visible"/>
                                      </p:to>
                                    </p:set>
                                    <p:animEffect transition="in" filter="fade">
                                      <p:cBhvr>
                                        <p:cTn id="176" dur="550"/>
                                        <p:tgtEl>
                                          <p:spTgt spid="45"/>
                                        </p:tgtEl>
                                      </p:cBhvr>
                                    </p:animEffect>
                                    <p:anim calcmode="lin" valueType="num">
                                      <p:cBhvr additive="base">
                                        <p:cTn id="177" dur="550" fill="hold"/>
                                        <p:tgtEl>
                                          <p:spTgt spid="45"/>
                                        </p:tgtEl>
                                        <p:attrNameLst>
                                          <p:attrName>ppt_w</p:attrName>
                                        </p:attrNameLst>
                                      </p:cBhvr>
                                      <p:tavLst>
                                        <p:tav tm="0">
                                          <p:val>
                                            <p:strVal val="0"/>
                                          </p:val>
                                        </p:tav>
                                        <p:tav tm="100000">
                                          <p:val>
                                            <p:strVal val="#ppt_w"/>
                                          </p:val>
                                        </p:tav>
                                      </p:tavLst>
                                    </p:anim>
                                    <p:anim calcmode="lin" valueType="num">
                                      <p:cBhvr additive="base">
                                        <p:cTn id="178" dur="550" fill="hold"/>
                                        <p:tgtEl>
                                          <p:spTgt spid="45"/>
                                        </p:tgtEl>
                                        <p:attrNameLst>
                                          <p:attrName>ppt_h</p:attrName>
                                        </p:attrNameLst>
                                      </p:cBhvr>
                                      <p:tavLst>
                                        <p:tav tm="0">
                                          <p:val>
                                            <p:strVal val="0"/>
                                          </p:val>
                                        </p:tav>
                                        <p:tav tm="100000">
                                          <p:val>
                                            <p:strVal val="#ppt_h"/>
                                          </p:val>
                                        </p:tav>
                                      </p:tavLst>
                                    </p:anim>
                                  </p:childTnLst>
                                </p:cTn>
                              </p:par>
                            </p:childTnLst>
                          </p:cTn>
                        </p:par>
                        <p:par>
                          <p:cTn id="179" fill="hold">
                            <p:stCondLst>
                              <p:cond delay="150"/>
                            </p:stCondLst>
                            <p:childTnLst>
                              <p:par>
                                <p:cTn id="180" presetID="10" presetClass="entr" presetSubtype="0"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childTnLst>
                                </p:cTn>
                              </p:par>
                            </p:childTnLst>
                          </p:cTn>
                        </p:par>
                        <p:par>
                          <p:cTn id="183" fill="hold">
                            <p:stCondLst>
                              <p:cond delay="350"/>
                            </p:stCondLst>
                            <p:childTnLst>
                              <p:par>
                                <p:cTn id="184" presetID="53" presetClass="entr" presetSubtype="16" fill="hold" grpId="0" nodeType="afterEffect">
                                  <p:stCondLst>
                                    <p:cond delay="0"/>
                                  </p:stCondLst>
                                  <p:childTnLst>
                                    <p:set>
                                      <p:cBhvr>
                                        <p:cTn id="185" dur="1" fill="hold">
                                          <p:stCondLst>
                                            <p:cond delay="0"/>
                                          </p:stCondLst>
                                        </p:cTn>
                                        <p:tgtEl>
                                          <p:spTgt spid="47"/>
                                        </p:tgtEl>
                                        <p:attrNameLst>
                                          <p:attrName>style.visibility</p:attrName>
                                        </p:attrNameLst>
                                      </p:cBhvr>
                                      <p:to>
                                        <p:strVal val="visible"/>
                                      </p:to>
                                    </p:set>
                                    <p:animEffect transition="in" filter="fade">
                                      <p:cBhvr>
                                        <p:cTn id="186" dur="550"/>
                                        <p:tgtEl>
                                          <p:spTgt spid="47"/>
                                        </p:tgtEl>
                                      </p:cBhvr>
                                    </p:animEffect>
                                    <p:anim calcmode="lin" valueType="num">
                                      <p:cBhvr additive="base">
                                        <p:cTn id="187" dur="550" fill="hold"/>
                                        <p:tgtEl>
                                          <p:spTgt spid="47"/>
                                        </p:tgtEl>
                                        <p:attrNameLst>
                                          <p:attrName>ppt_w</p:attrName>
                                        </p:attrNameLst>
                                      </p:cBhvr>
                                      <p:tavLst>
                                        <p:tav tm="0">
                                          <p:val>
                                            <p:strVal val="0"/>
                                          </p:val>
                                        </p:tav>
                                        <p:tav tm="100000">
                                          <p:val>
                                            <p:strVal val="#ppt_w"/>
                                          </p:val>
                                        </p:tav>
                                      </p:tavLst>
                                    </p:anim>
                                    <p:anim calcmode="lin" valueType="num">
                                      <p:cBhvr additive="base">
                                        <p:cTn id="188" dur="550" fill="hold"/>
                                        <p:tgtEl>
                                          <p:spTgt spid="47"/>
                                        </p:tgtEl>
                                        <p:attrNameLst>
                                          <p:attrName>ppt_h</p:attrName>
                                        </p:attrNameLst>
                                      </p:cBhvr>
                                      <p:tavLst>
                                        <p:tav tm="0">
                                          <p:val>
                                            <p:strVal val="0"/>
                                          </p:val>
                                        </p:tav>
                                        <p:tav tm="100000">
                                          <p:val>
                                            <p:strVal val="#ppt_h"/>
                                          </p:val>
                                        </p:tav>
                                      </p:tavLst>
                                    </p:anim>
                                  </p:childTnLst>
                                </p:cTn>
                              </p:par>
                            </p:childTnLst>
                          </p:cTn>
                        </p:par>
                        <p:par>
                          <p:cTn id="189" fill="hold">
                            <p:stCondLst>
                              <p:cond delay="450"/>
                            </p:stCondLst>
                            <p:childTnLst>
                              <p:par>
                                <p:cTn id="190" presetID="10" presetClass="entr" presetSubtype="0"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Effect transition="in" filter="fade">
                                      <p:cBhvr>
                                        <p:cTn id="192" dur="550"/>
                                        <p:tgtEl>
                                          <p:spTgt spid="48"/>
                                        </p:tgtEl>
                                      </p:cBhvr>
                                    </p:animEffect>
                                  </p:childTnLst>
                                </p:cTn>
                              </p:par>
                            </p:childTnLst>
                          </p:cTn>
                        </p:par>
                        <p:par>
                          <p:cTn id="193" fill="hold">
                            <p:stCondLst>
                              <p:cond delay="550"/>
                            </p:stCondLst>
                            <p:childTnLst>
                              <p:par>
                                <p:cTn id="194" presetID="2" presetClass="entr" presetSubtype="8" fill="hold" grpId="0" nodeType="afterEffect">
                                  <p:stCondLst>
                                    <p:cond delay="0"/>
                                  </p:stCondLst>
                                  <p:childTnLst>
                                    <p:set>
                                      <p:cBhvr>
                                        <p:cTn id="195" dur="1" fill="hold">
                                          <p:stCondLst>
                                            <p:cond delay="0"/>
                                          </p:stCondLst>
                                        </p:cTn>
                                        <p:tgtEl>
                                          <p:spTgt spid="49"/>
                                        </p:tgtEl>
                                        <p:attrNameLst>
                                          <p:attrName>style.visibility</p:attrName>
                                        </p:attrNameLst>
                                      </p:cBhvr>
                                      <p:to>
                                        <p:strVal val="visible"/>
                                      </p:to>
                                    </p:set>
                                    <p:anim calcmode="lin" valueType="num">
                                      <p:cBhvr additive="base">
                                        <p:cTn id="197" dur="550" fill="hold"/>
                                        <p:tgtEl>
                                          <p:spTgt spid="49"/>
                                        </p:tgtEl>
                                        <p:attrNameLst>
                                          <p:attrName>ppt_x</p:attrName>
                                        </p:attrNameLst>
                                      </p:cBhvr>
                                      <p:tavLst>
                                        <p:tav tm="0">
                                          <p:val>
                                            <p:strVal val="0-#ppt_w/2"/>
                                          </p:val>
                                        </p:tav>
                                        <p:tav tm="100000">
                                          <p:val>
                                            <p:strVal val="#ppt_x"/>
                                          </p:val>
                                        </p:tav>
                                      </p:tavLst>
                                    </p:anim>
                                    <p:anim calcmode="lin" valueType="num">
                                      <p:cBhvr additive="base">
                                        <p:cTn id="198" dur="550" fill="hold"/>
                                        <p:tgtEl>
                                          <p:spTgt spid="49"/>
                                        </p:tgtEl>
                                        <p:attrNameLst>
                                          <p:attrName>ppt_y</p:attrName>
                                        </p:attrNameLst>
                                      </p:cBhvr>
                                      <p:tavLst>
                                        <p:tav tm="0">
                                          <p:val>
                                            <p:strVal val="#ppt_y"/>
                                          </p:val>
                                        </p:tav>
                                        <p:tav tm="100000">
                                          <p:val>
                                            <p:strVal val="#ppt_y"/>
                                          </p:val>
                                        </p:tav>
                                      </p:tavLst>
                                    </p:anim>
                                  </p:childTnLst>
                                </p:cTn>
                              </p:par>
                            </p:childTnLst>
                          </p:cTn>
                        </p:par>
                        <p:par>
                          <p:cTn id="199" fill="hold">
                            <p:stCondLst>
                              <p:cond delay="650"/>
                            </p:stCondLst>
                            <p:childTnLst>
                              <p:par>
                                <p:cTn id="200" presetID="22" presetClass="entr" presetSubtype="8" fill="hold" grpId="0" nodeType="afterEffect">
                                  <p:stCondLst>
                                    <p:cond delay="0"/>
                                  </p:stCondLst>
                                  <p:childTnLst>
                                    <p:set>
                                      <p:cBhvr>
                                        <p:cTn id="201" dur="1" fill="hold">
                                          <p:stCondLst>
                                            <p:cond delay="0"/>
                                          </p:stCondLst>
                                        </p:cTn>
                                        <p:tgtEl>
                                          <p:spTgt spid="50"/>
                                        </p:tgtEl>
                                        <p:attrNameLst>
                                          <p:attrName>style.visibility</p:attrName>
                                        </p:attrNameLst>
                                      </p:cBhvr>
                                      <p:to>
                                        <p:strVal val="visible"/>
                                      </p:to>
                                    </p:set>
                                    <p:animEffect transition="in" filter="wipe(left)">
                                      <p:cBhvr>
                                        <p:cTn id="203" dur="8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6" grpId="0" animBg="1"/>
      <p:bldP spid="47" grpId="0" animBg="1"/>
      <p:bldP spid="48" grpId="0" animBg="1"/>
      <p:bldP spid="49" grpId="0" animBg="1"/>
      <p:bldP spid="5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GPU: o'tkazuvchanlikka optimallashtirilgan arxitektura</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7</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GPU qarama-qarshi falsafaga asoslangan: kechikishni yashirish uchun murakkab boshqaruv o'rniga minglab oddiy oqimlar (thread) ishlatiladi; bir oqim xotira kutayotganda boshqasi hisoblaydi.</a:t>
            </a:r>
          </a:p>
          <a:p>
            <a:pPr>
              <a:spcBef>
                <a:spcPts val="400"/>
              </a:spcBef>
            </a:pPr>
            <a:r>
              <a:rPr sz="1400">
                <a:solidFill>
                  <a:srgbClr val="AEBBD9"/>
                </a:solidFill>
                <a:latin typeface="Segoe UI"/>
              </a:rPr>
              <a:t>NVIDIA terminologiyasida bu SIMT (Single Instruction, Multiple Threads) modeli: 32 oqimdan iborat «warp» bitta buyruqni bir vaqtda bajaradi.</a:t>
            </a:r>
          </a:p>
        </p:txBody>
      </p:sp>
      <p:sp>
        <p:nvSpPr>
          <p:cNvPr id="31" name="Rounded Rectangle 30"/>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GPU ning tuzilmaviy birligi — oqimli multiprotsessor (Streaming Multiprocessor, SM).</a:t>
            </a:r>
          </a:p>
          <a:p>
            <a:pPr>
              <a:spcBef>
                <a:spcPts val="400"/>
              </a:spcBef>
            </a:pPr>
            <a:r>
              <a:rPr sz="1400">
                <a:solidFill>
                  <a:srgbClr val="AEBBD9"/>
                </a:solidFill>
                <a:latin typeface="Segoe UI"/>
              </a:rPr>
              <a:t>NVIDIA H100 (Hopper) da 132 ta SM, har birida 128 ta FP32 CUDA yadrosi, 4 ta to'rtinchi avlod Tensor Core, 256 KB birlashgan L1/umumiy xotira va 64 K ta 32-bitli registr bor. Jami: 16 896 CUDA yadrosi, 528 Tensor Core, 50 MB L2 kesh, 80 GB HBM3 xotira 3,35 TB/s o'tkazuvchanlik bilan.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GPU: o'tkazuvchanlikka optimallashtirilgan arxitektura</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63f824eafe067fe7.jpg"/>
          <p:cNvPicPr>
            <a:picLocks noChangeAspect="1"/>
          </p:cNvPicPr>
          <p:nvPr/>
        </p:nvPicPr>
        <p:blipFill>
          <a:blip r:embed="rId2"/>
          <a:srcRect l="31648" r="316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Popolon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Tensor Core — GPU ichidagi ixtisoslashgan matritsa bloki (M4 da batafsil): bir taktda kichik matritsa fragmentini (masalan 4×4×4 yoki undan katta) aralash aniqlikda (FP16/BF16 kirish, FP32 to'plash) ko'paytirib qo'shadi.</a:t>
            </a:r>
          </a:p>
          <a:p>
            <a:pPr>
              <a:spcBef>
                <a:spcPts val="400"/>
              </a:spcBef>
            </a:pPr>
            <a:r>
              <a:rPr sz="1600">
                <a:solidFill>
                  <a:srgbClr val="AEBBD9"/>
                </a:solidFill>
                <a:latin typeface="Segoe UI"/>
              </a:rPr>
              <a:t>H100 uchun zich FP16 Tensor Core unumdorligi taxminan 990 TFLOPS, FP8 da taxminan 1 980 TFLOPS, oddiy FP32 CUDA yadrolari esa 67 TFLOPS beradi — ya'ni Tensor Core dan foydalanish 15 baravar farq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2-REJA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GPU: o'tkazuvchanlikka optimallashtirilgan arxitektura</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9</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eb3731d874c22f7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Raimond Spekking · Wikimedia Commons · CC BY-SA 4.0</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2632104"/>
            <a:ext cx="50000" cy="2315792"/>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3590000"/>
            <a:ext cx="400000" cy="400000"/>
          </a:xfrm>
          <a:prstGeom prst="ellipse">
            <a:avLst/>
          </a:prstGeom>
          <a:noFill/>
          <a:ln w="254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34D399"/>
                </a:solidFill>
                <a:latin typeface="Segoe UI"/>
              </a:rPr>
              <a:t>04</a:t>
            </a:r>
          </a:p>
        </p:txBody>
      </p:sp>
      <p:sp>
        <p:nvSpPr>
          <p:cNvPr id="34" name="TextBox 33"/>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GPU ning yana bir asosiy xususiyati — xotira iyerarxiyasi dasturchiga ochiq: registrlar, umumiy xotira (shared memory, dasturchi boshqaradigan kesh), L2 va global HBM.</a:t>
            </a:r>
          </a:p>
          <a:p>
            <a:pPr>
              <a:spcBef>
                <a:spcPts val="400"/>
              </a:spcBef>
            </a:pPr>
            <a:r>
              <a:rPr sz="1600">
                <a:solidFill>
                  <a:srgbClr val="AEBBD9"/>
                </a:solidFill>
                <a:latin typeface="Segoe UI"/>
              </a:rPr>
              <a:t>Samarali CUDA yadrosi (kernel) ma'lumotni umumiy xotiraga yuklab, ko'p marta qayta ishlatadi — bu Sze va hammualliflar [4] ta'kidlagan «ma'lumotni qayta ishlatish» tamoyilining dasturiy ifodasi.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8b16a40a0eaa5c0f.jpg"/>
          <p:cNvPicPr>
            <a:picLocks noChangeAspect="1"/>
          </p:cNvPicPr>
          <p:nvPr/>
        </p:nvPicPr>
        <p:blipFill>
          <a:blip r:embed="rId2"/>
          <a:srcRect l="11814" r="11814"/>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Zinskauf · Wikimedia Commons · CC BY-SA 4.0</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03</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TPU va sistolik massiv</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3-REJA</a:t>
            </a:r>
          </a:p>
        </p:txBody>
      </p:sp>
      <p:sp>
        <p:nvSpPr>
          <p:cNvPr id="23" name="TextBox 22"/>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TPU va sistolik massiv</a:t>
            </a:r>
          </a:p>
        </p:txBody>
      </p:sp>
      <p:sp>
        <p:nvSpPr>
          <p:cNvPr id="24" name="Rectangle 23"/>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6" name="Rounded Rectangle 25"/>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11</a:t>
            </a:r>
          </a:p>
        </p:txBody>
      </p:sp>
      <p:sp>
        <p:nvSpPr>
          <p:cNvPr id="27" name="Rounded Rectangle 26"/>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9" name="TextBox 28"/>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30" name="Rounded Rectangle 29"/>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1" name="Rounded Rectangle 30"/>
          <p:cNvSpPr/>
          <p:nvPr/>
        </p:nvSpPr>
        <p:spPr>
          <a:xfrm>
            <a:off x="550000" y="1527432"/>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1607432"/>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2431216"/>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4" name="TextBox 33"/>
          <p:cNvSpPr txBox="1"/>
          <p:nvPr/>
        </p:nvSpPr>
        <p:spPr>
          <a:xfrm>
            <a:off x="1300000" y="1567432"/>
            <a:ext cx="5900000" cy="2127568"/>
          </a:xfrm>
          <a:prstGeom prst="rect">
            <a:avLst/>
          </a:prstGeom>
          <a:noFill/>
        </p:spPr>
        <p:txBody>
          <a:bodyPr wrap="square" anchor="ctr">
            <a:spAutoFit/>
          </a:bodyPr>
          <a:lstStyle/>
          <a:p>
            <a:r>
              <a:rPr sz="1600" b="0">
                <a:solidFill>
                  <a:srgbClr val="E8EEFA"/>
                </a:solidFill>
                <a:latin typeface="Segoe UI"/>
              </a:rPr>
              <a:t>Google TPU (Tensor Processing Unit) — neyron tarmoq uchun noldan loyihalangan ASIC.</a:t>
            </a:r>
          </a:p>
        </p:txBody>
      </p:sp>
      <p:sp>
        <p:nvSpPr>
          <p:cNvPr id="35" name="Rounded Rectangle 34"/>
          <p:cNvSpPr/>
          <p:nvPr/>
        </p:nvSpPr>
        <p:spPr>
          <a:xfrm>
            <a:off x="550000" y="3845000"/>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50000" y="3925000"/>
            <a:ext cx="50000" cy="2047568"/>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60000" y="4748784"/>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8" name="TextBox 37"/>
          <p:cNvSpPr txBox="1"/>
          <p:nvPr/>
        </p:nvSpPr>
        <p:spPr>
          <a:xfrm>
            <a:off x="1300000" y="3885000"/>
            <a:ext cx="5900000" cy="2127568"/>
          </a:xfrm>
          <a:prstGeom prst="rect">
            <a:avLst/>
          </a:prstGeom>
          <a:noFill/>
        </p:spPr>
        <p:txBody>
          <a:bodyPr wrap="square" anchor="ctr">
            <a:spAutoFit/>
          </a:bodyPr>
          <a:lstStyle/>
          <a:p>
            <a:r>
              <a:rPr sz="1700" b="1">
                <a:solidFill>
                  <a:srgbClr val="E8EEFA"/>
                </a:solidFill>
                <a:latin typeface="Segoe UI"/>
              </a:rPr>
              <a:t>Keyingi avlodlar o'qitish uchun BF16 qo'llab-quvvatlashi, HBM xotira va chiplararo tarmoq (Inter-Core Interconnect, ICI) qo'shdi.</a:t>
            </a:r>
          </a:p>
          <a:p>
            <a:pPr>
              <a:spcBef>
                <a:spcPts val="400"/>
              </a:spcBef>
            </a:pPr>
            <a:r>
              <a:rPr sz="1600">
                <a:solidFill>
                  <a:srgbClr val="AEBBD9"/>
                </a:solidFill>
                <a:latin typeface="Segoe UI"/>
              </a:rPr>
              <a:t>TPU v4 chipi ikkita TensorCore, har birida to'rtta 128×128 li MXU (matritsa bloki) ga ega bo'lib, 275 TFLOPS BF16 beradi; 4 096 chip 3D torus topologiyasida bitta «pod» ga birlashadi.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6" dur="550"/>
                                        <p:tgtEl>
                                          <p:spTgt spid="2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4"/>
                                        </p:tgtEl>
                                        <p:attrNameLst>
                                          <p:attrName>style.visibility</p:attrName>
                                        </p:attrNameLst>
                                      </p:cBhvr>
                                      <p:to>
                                        <p:strVal val="visible"/>
                                      </p:to>
                                    </p:set>
                                    <p:animEffect transition="in" filter="wipe(left)">
                                      <p:cBhvr>
                                        <p:cTn id="11" dur="800"/>
                                        <p:tgtEl>
                                          <p:spTgt spid="24"/>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50"/>
                                        <p:tgtEl>
                                          <p:spTgt spid="27"/>
                                        </p:tgtEl>
                                      </p:cBhvr>
                                    </p:animEffect>
                                    <p:anim calcmode="lin" valueType="num">
                                      <p:cBhvr additive="base">
                                        <p:cTn id="16" dur="550" fill="hold"/>
                                        <p:tgtEl>
                                          <p:spTgt spid="27"/>
                                        </p:tgtEl>
                                        <p:attrNameLst>
                                          <p:attrName>ppt_w</p:attrName>
                                        </p:attrNameLst>
                                      </p:cBhvr>
                                      <p:tavLst>
                                        <p:tav tm="0">
                                          <p:val>
                                            <p:strVal val="0"/>
                                          </p:val>
                                        </p:tav>
                                        <p:tav tm="100000">
                                          <p:val>
                                            <p:strVal val="#ppt_w"/>
                                          </p:val>
                                        </p:tav>
                                      </p:tavLst>
                                    </p:anim>
                                    <p:anim calcmode="lin" valueType="num">
                                      <p:cBhvr additive="base">
                                        <p:cTn id="17" dur="550" fill="hold"/>
                                        <p:tgtEl>
                                          <p:spTgt spid="27"/>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8"/>
                                        </p:tgtEl>
                                        <p:attrNameLst>
                                          <p:attrName>style.visibility</p:attrName>
                                        </p:attrNameLst>
                                      </p:cBhvr>
                                      <p:to>
                                        <p:strVal val="visible"/>
                                      </p:to>
                                    </p:set>
                                    <p:animEffect transition="in" filter="fade">
                                      <p:cBhvr>
                                        <p:cTn id="21" dur="550"/>
                                        <p:tgtEl>
                                          <p:spTgt spid="28"/>
                                        </p:tgtEl>
                                      </p:cBhvr>
                                    </p:animEffect>
                                    <p:anim calcmode="lin" valueType="num">
                                      <p:cBhvr additive="base">
                                        <p:cTn id="22" dur="550" fill="hold"/>
                                        <p:tgtEl>
                                          <p:spTgt spid="28"/>
                                        </p:tgtEl>
                                        <p:attrNameLst>
                                          <p:attrName>ppt_w</p:attrName>
                                        </p:attrNameLst>
                                      </p:cBhvr>
                                      <p:tavLst>
                                        <p:tav tm="0">
                                          <p:val>
                                            <p:strVal val="0"/>
                                          </p:val>
                                        </p:tav>
                                        <p:tav tm="100000">
                                          <p:val>
                                            <p:strVal val="#ppt_w"/>
                                          </p:val>
                                        </p:tav>
                                      </p:tavLst>
                                    </p:anim>
                                    <p:anim calcmode="lin" valueType="num">
                                      <p:cBhvr additive="base">
                                        <p:cTn id="23" dur="550" fill="hold"/>
                                        <p:tgtEl>
                                          <p:spTgt spid="28"/>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550"/>
                                        <p:tgtEl>
                                          <p:spTgt spid="30"/>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50"/>
                                        <p:tgtEl>
                                          <p:spTgt spid="29"/>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50"/>
                                        <p:tgtEl>
                                          <p:spTgt spid="31"/>
                                        </p:tgtEl>
                                      </p:cBhvr>
                                    </p:animEffect>
                                    <p:anim calcmode="lin" valueType="num">
                                      <p:cBhvr additive="base">
                                        <p:cTn id="36" dur="550" fill="hold"/>
                                        <p:tgtEl>
                                          <p:spTgt spid="31"/>
                                        </p:tgtEl>
                                        <p:attrNameLst>
                                          <p:attrName>ppt_x</p:attrName>
                                        </p:attrNameLst>
                                      </p:cBhvr>
                                      <p:tavLst>
                                        <p:tav tm="0">
                                          <p:val>
                                            <p:strVal val="#ppt_x"/>
                                          </p:val>
                                        </p:tav>
                                        <p:tav tm="100000">
                                          <p:val>
                                            <p:strVal val="#ppt_x"/>
                                          </p:val>
                                        </p:tav>
                                      </p:tavLst>
                                    </p:anim>
                                    <p:anim calcmode="lin" valueType="num">
                                      <p:cBhvr additive="base">
                                        <p:cTn id="37" dur="550" fill="hold"/>
                                        <p:tgtEl>
                                          <p:spTgt spid="31"/>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2"/>
                                        </p:tgtEl>
                                        <p:attrNameLst>
                                          <p:attrName>style.visibility</p:attrName>
                                        </p:attrNameLst>
                                      </p:cBhvr>
                                      <p:to>
                                        <p:strVal val="visible"/>
                                      </p:to>
                                    </p:set>
                                    <p:animEffect transition="in" filter="fade">
                                      <p:cBhvr>
                                        <p:cTn id="41" dur="550"/>
                                        <p:tgtEl>
                                          <p:spTgt spid="32"/>
                                        </p:tgtEl>
                                      </p:cBhvr>
                                    </p:animEffect>
                                    <p:anim calcmode="lin" valueType="num">
                                      <p:cBhvr additive="base">
                                        <p:cTn id="42" dur="550" fill="hold"/>
                                        <p:tgtEl>
                                          <p:spTgt spid="32"/>
                                        </p:tgtEl>
                                        <p:attrNameLst>
                                          <p:attrName>ppt_x</p:attrName>
                                        </p:attrNameLst>
                                      </p:cBhvr>
                                      <p:tavLst>
                                        <p:tav tm="0">
                                          <p:val>
                                            <p:strVal val="#ppt_x"/>
                                          </p:val>
                                        </p:tav>
                                        <p:tav tm="100000">
                                          <p:val>
                                            <p:strVal val="#ppt_x"/>
                                          </p:val>
                                        </p:tav>
                                      </p:tavLst>
                                    </p:anim>
                                    <p:anim calcmode="lin" valueType="num">
                                      <p:cBhvr additive="base">
                                        <p:cTn id="43" dur="550" fill="hold"/>
                                        <p:tgtEl>
                                          <p:spTgt spid="32"/>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550"/>
                                        <p:tgtEl>
                                          <p:spTgt spid="33"/>
                                        </p:tgtEl>
                                      </p:cBhvr>
                                    </p:animEffect>
                                    <p:anim calcmode="lin" valueType="num">
                                      <p:cBhvr additive="base">
                                        <p:cTn id="48" dur="550" fill="hold"/>
                                        <p:tgtEl>
                                          <p:spTgt spid="33"/>
                                        </p:tgtEl>
                                        <p:attrNameLst>
                                          <p:attrName>ppt_w</p:attrName>
                                        </p:attrNameLst>
                                      </p:cBhvr>
                                      <p:tavLst>
                                        <p:tav tm="0">
                                          <p:val>
                                            <p:strVal val="0"/>
                                          </p:val>
                                        </p:tav>
                                        <p:tav tm="100000">
                                          <p:val>
                                            <p:strVal val="#ppt_w"/>
                                          </p:val>
                                        </p:tav>
                                      </p:tavLst>
                                    </p:anim>
                                    <p:anim calcmode="lin" valueType="num">
                                      <p:cBhvr additive="base">
                                        <p:cTn id="49" dur="550" fill="hold"/>
                                        <p:tgtEl>
                                          <p:spTgt spid="33"/>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4"/>
                                        </p:tgtEl>
                                        <p:attrNameLst>
                                          <p:attrName>style.visibility</p:attrName>
                                        </p:attrNameLst>
                                      </p:cBhvr>
                                      <p:to>
                                        <p:strVal val="visible"/>
                                      </p:to>
                                    </p:set>
                                    <p:animEffect transition="in" filter="fade">
                                      <p:cBhvr>
                                        <p:cTn id="53" dur="550"/>
                                        <p:tgtEl>
                                          <p:spTgt spid="34"/>
                                        </p:tgtEl>
                                      </p:cBhvr>
                                    </p:animEffect>
                                    <p:anim calcmode="lin" valueType="num">
                                      <p:cBhvr additive="base">
                                        <p:cTn id="54" dur="550" fill="hold"/>
                                        <p:tgtEl>
                                          <p:spTgt spid="34"/>
                                        </p:tgtEl>
                                        <p:attrNameLst>
                                          <p:attrName>ppt_x</p:attrName>
                                        </p:attrNameLst>
                                      </p:cBhvr>
                                      <p:tavLst>
                                        <p:tav tm="0">
                                          <p:val>
                                            <p:strVal val="#ppt_x"/>
                                          </p:val>
                                        </p:tav>
                                        <p:tav tm="100000">
                                          <p:val>
                                            <p:strVal val="#ppt_x"/>
                                          </p:val>
                                        </p:tav>
                                      </p:tavLst>
                                    </p:anim>
                                    <p:anim calcmode="lin" valueType="num">
                                      <p:cBhvr additive="base">
                                        <p:cTn id="55" dur="550" fill="hold"/>
                                        <p:tgtEl>
                                          <p:spTgt spid="34"/>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5"/>
                                        </p:tgtEl>
                                        <p:attrNameLst>
                                          <p:attrName>style.visibility</p:attrName>
                                        </p:attrNameLst>
                                      </p:cBhvr>
                                      <p:to>
                                        <p:strVal val="visible"/>
                                      </p:to>
                                    </p:set>
                                    <p:animEffect transition="in" filter="fade">
                                      <p:cBhvr>
                                        <p:cTn id="59" dur="550"/>
                                        <p:tgtEl>
                                          <p:spTgt spid="35"/>
                                        </p:tgtEl>
                                      </p:cBhvr>
                                    </p:animEffect>
                                    <p:anim calcmode="lin" valueType="num">
                                      <p:cBhvr additive="base">
                                        <p:cTn id="60" dur="550" fill="hold"/>
                                        <p:tgtEl>
                                          <p:spTgt spid="35"/>
                                        </p:tgtEl>
                                        <p:attrNameLst>
                                          <p:attrName>ppt_x</p:attrName>
                                        </p:attrNameLst>
                                      </p:cBhvr>
                                      <p:tavLst>
                                        <p:tav tm="0">
                                          <p:val>
                                            <p:strVal val="#ppt_x"/>
                                          </p:val>
                                        </p:tav>
                                        <p:tav tm="100000">
                                          <p:val>
                                            <p:strVal val="#ppt_x"/>
                                          </p:val>
                                        </p:tav>
                                      </p:tavLst>
                                    </p:anim>
                                    <p:anim calcmode="lin" valueType="num">
                                      <p:cBhvr additive="base">
                                        <p:cTn id="61" dur="550" fill="hold"/>
                                        <p:tgtEl>
                                          <p:spTgt spid="35"/>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550"/>
                                        <p:tgtEl>
                                          <p:spTgt spid="36"/>
                                        </p:tgtEl>
                                      </p:cBhvr>
                                    </p:animEffect>
                                    <p:anim calcmode="lin" valueType="num">
                                      <p:cBhvr additive="base">
                                        <p:cTn id="66" dur="550" fill="hold"/>
                                        <p:tgtEl>
                                          <p:spTgt spid="36"/>
                                        </p:tgtEl>
                                        <p:attrNameLst>
                                          <p:attrName>ppt_x</p:attrName>
                                        </p:attrNameLst>
                                      </p:cBhvr>
                                      <p:tavLst>
                                        <p:tav tm="0">
                                          <p:val>
                                            <p:strVal val="#ppt_x"/>
                                          </p:val>
                                        </p:tav>
                                        <p:tav tm="100000">
                                          <p:val>
                                            <p:strVal val="#ppt_x"/>
                                          </p:val>
                                        </p:tav>
                                      </p:tavLst>
                                    </p:anim>
                                    <p:anim calcmode="lin" valueType="num">
                                      <p:cBhvr additive="base">
                                        <p:cTn id="67" dur="550" fill="hold"/>
                                        <p:tgtEl>
                                          <p:spTgt spid="36"/>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7"/>
                                        </p:tgtEl>
                                        <p:attrNameLst>
                                          <p:attrName>style.visibility</p:attrName>
                                        </p:attrNameLst>
                                      </p:cBhvr>
                                      <p:to>
                                        <p:strVal val="visible"/>
                                      </p:to>
                                    </p:set>
                                    <p:animEffect transition="in" filter="fade">
                                      <p:cBhvr>
                                        <p:cTn id="71" dur="550"/>
                                        <p:tgtEl>
                                          <p:spTgt spid="37"/>
                                        </p:tgtEl>
                                      </p:cBhvr>
                                    </p:animEffect>
                                    <p:anim calcmode="lin" valueType="num">
                                      <p:cBhvr additive="base">
                                        <p:cTn id="72" dur="550" fill="hold"/>
                                        <p:tgtEl>
                                          <p:spTgt spid="37"/>
                                        </p:tgtEl>
                                        <p:attrNameLst>
                                          <p:attrName>ppt_w</p:attrName>
                                        </p:attrNameLst>
                                      </p:cBhvr>
                                      <p:tavLst>
                                        <p:tav tm="0">
                                          <p:val>
                                            <p:strVal val="0"/>
                                          </p:val>
                                        </p:tav>
                                        <p:tav tm="100000">
                                          <p:val>
                                            <p:strVal val="#ppt_w"/>
                                          </p:val>
                                        </p:tav>
                                      </p:tavLst>
                                    </p:anim>
                                    <p:anim calcmode="lin" valueType="num">
                                      <p:cBhvr additive="base">
                                        <p:cTn id="73" dur="550" fill="hold"/>
                                        <p:tgtEl>
                                          <p:spTgt spid="37"/>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8"/>
                                        </p:tgtEl>
                                        <p:attrNameLst>
                                          <p:attrName>style.visibility</p:attrName>
                                        </p:attrNameLst>
                                      </p:cBhvr>
                                      <p:to>
                                        <p:strVal val="visible"/>
                                      </p:to>
                                    </p:set>
                                    <p:animEffect transition="in" filter="fade">
                                      <p:cBhvr>
                                        <p:cTn id="77" dur="550"/>
                                        <p:tgtEl>
                                          <p:spTgt spid="38"/>
                                        </p:tgtEl>
                                      </p:cBhvr>
                                    </p:animEffect>
                                    <p:anim calcmode="lin" valueType="num">
                                      <p:cBhvr additive="base">
                                        <p:cTn id="78" dur="550" fill="hold"/>
                                        <p:tgtEl>
                                          <p:spTgt spid="38"/>
                                        </p:tgtEl>
                                        <p:attrNameLst>
                                          <p:attrName>ppt_x</p:attrName>
                                        </p:attrNameLst>
                                      </p:cBhvr>
                                      <p:tavLst>
                                        <p:tav tm="0">
                                          <p:val>
                                            <p:strVal val="#ppt_x"/>
                                          </p:val>
                                        </p:tav>
                                        <p:tav tm="100000">
                                          <p:val>
                                            <p:strVal val="#ppt_x"/>
                                          </p:val>
                                        </p:tav>
                                      </p:tavLst>
                                    </p:anim>
                                    <p:anim calcmode="lin" valueType="num">
                                      <p:cBhvr additive="base">
                                        <p:cTn id="79" dur="550" fill="hold"/>
                                        <p:tgtEl>
                                          <p:spTgt spid="3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7" grpId="0" animBg="1"/>
      <p:bldP spid="30" grpId="0" animBg="1"/>
      <p:bldP spid="29"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540def6ae279e7ed.jpg"/>
          <p:cNvPicPr>
            <a:picLocks noChangeAspect="1"/>
          </p:cNvPicPr>
          <p:nvPr/>
        </p:nvPicPr>
        <p:blipFill>
          <a:blip r:embed="rId2"/>
          <a:srcRect l="16164" r="16164"/>
          <a:stretch>
            <a:fillRect/>
          </a:stretch>
        </p:blipFill>
        <p:spPr>
          <a:xfrm>
            <a:off x="6300000" y="800000"/>
            <a:ext cx="5300000" cy="4950000"/>
          </a:xfrm>
          <a:prstGeom prst="roundRect">
            <a:avLst/>
          </a:prstGeom>
          <a:ln w="19050">
            <a:solidFill>
              <a:srgbClr val="22D3EE"/>
            </a:solidFill>
          </a:ln>
        </p:spPr>
      </p:pic>
      <p:sp>
        <p:nvSpPr>
          <p:cNvPr id="43" name="TextBox 42"/>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European Space Agency · Wikimedia Commons · CC BY-SA 3.0 igo</a:t>
            </a:r>
          </a:p>
        </p:txBody>
      </p:sp>
      <p:sp>
        <p:nvSpPr>
          <p:cNvPr id="44" name="TextBox 43"/>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04</a:t>
            </a:r>
          </a:p>
        </p:txBody>
      </p:sp>
      <p:sp>
        <p:nvSpPr>
          <p:cNvPr id="45" name="TextBox 44"/>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6" name="TextBox 45"/>
          <p:cNvSpPr txBox="1"/>
          <p:nvPr/>
        </p:nvSpPr>
        <p:spPr>
          <a:xfrm>
            <a:off x="600000" y="2650000"/>
            <a:ext cx="5400000" cy="1800000"/>
          </a:xfrm>
          <a:prstGeom prst="rect">
            <a:avLst/>
          </a:prstGeom>
          <a:noFill/>
        </p:spPr>
        <p:txBody>
          <a:bodyPr wrap="square" anchor="t" lIns="50800" rIns="50800">
            <a:spAutoFit/>
          </a:bodyPr>
          <a:lstStyle/>
          <a:p>
            <a:pPr algn="l"/>
            <a:r>
              <a:rPr sz="2600" b="1">
                <a:solidFill>
                  <a:srgbClr val="E8EEFA"/>
                </a:solidFill>
                <a:latin typeface="Segoe UI"/>
              </a:rPr>
              <a:t>NPU: chekka va iste'mol qurilmalaridagi tezlatkichlar</a:t>
            </a:r>
          </a:p>
        </p:txBody>
      </p:sp>
      <p:sp>
        <p:nvSpPr>
          <p:cNvPr id="47" name="Rectangle 46"/>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9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150"/>
                            </p:stCondLst>
                            <p:childTnLst>
                              <p:par>
                                <p:cTn id="156" presetID="53" presetClass="entr" presetSubtype="16"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anim calcmode="lin" valueType="num">
                                      <p:cBhvr additive="base">
                                        <p:cTn id="159" dur="550" fill="hold"/>
                                        <p:tgtEl>
                                          <p:spTgt spid="41"/>
                                        </p:tgtEl>
                                        <p:attrNameLst>
                                          <p:attrName>ppt_w</p:attrName>
                                        </p:attrNameLst>
                                      </p:cBhvr>
                                      <p:tavLst>
                                        <p:tav tm="0">
                                          <p:val>
                                            <p:strVal val="0"/>
                                          </p:val>
                                        </p:tav>
                                        <p:tav tm="100000">
                                          <p:val>
                                            <p:strVal val="#ppt_w"/>
                                          </p:val>
                                        </p:tav>
                                      </p:tavLst>
                                    </p:anim>
                                    <p:anim calcmode="lin" valueType="num">
                                      <p:cBhvr additive="base">
                                        <p:cTn id="160" dur="550" fill="hold"/>
                                        <p:tgtEl>
                                          <p:spTgt spid="41"/>
                                        </p:tgtEl>
                                        <p:attrNameLst>
                                          <p:attrName>ppt_h</p:attrName>
                                        </p:attrNameLst>
                                      </p:cBhvr>
                                      <p:tavLst>
                                        <p:tav tm="0">
                                          <p:val>
                                            <p:strVal val="0"/>
                                          </p:val>
                                        </p:tav>
                                        <p:tav tm="100000">
                                          <p:val>
                                            <p:strVal val="#ppt_h"/>
                                          </p:val>
                                        </p:tav>
                                      </p:tavLst>
                                    </p:anim>
                                  </p:childTnLst>
                                </p:cTn>
                              </p:par>
                            </p:childTnLst>
                          </p:cTn>
                        </p:par>
                        <p:par>
                          <p:cTn id="161" fill="hold">
                            <p:stCondLst>
                              <p:cond delay="150"/>
                            </p:stCondLst>
                            <p:childTnLst>
                              <p:par>
                                <p:cTn id="162" presetID="53" presetClass="entr" presetSubtype="16" fill="hold" grpId="0" nodeType="afterEffect">
                                  <p:stCondLst>
                                    <p:cond delay="0"/>
                                  </p:stCondLst>
                                  <p:childTnLst>
                                    <p:set>
                                      <p:cBhvr>
                                        <p:cTn id="163" dur="1" fill="hold">
                                          <p:stCondLst>
                                            <p:cond delay="0"/>
                                          </p:stCondLst>
                                        </p:cTn>
                                        <p:tgtEl>
                                          <p:spTgt spid="42"/>
                                        </p:tgtEl>
                                        <p:attrNameLst>
                                          <p:attrName>style.visibility</p:attrName>
                                        </p:attrNameLst>
                                      </p:cBhvr>
                                      <p:to>
                                        <p:strVal val="visible"/>
                                      </p:to>
                                    </p:set>
                                    <p:animEffect transition="in" filter="fade">
                                      <p:cBhvr>
                                        <p:cTn id="164" dur="550"/>
                                        <p:tgtEl>
                                          <p:spTgt spid="42"/>
                                        </p:tgtEl>
                                      </p:cBhvr>
                                    </p:animEffect>
                                    <p:anim calcmode="lin" valueType="num">
                                      <p:cBhvr additive="base">
                                        <p:cTn id="165" dur="550" fill="hold"/>
                                        <p:tgtEl>
                                          <p:spTgt spid="42"/>
                                        </p:tgtEl>
                                        <p:attrNameLst>
                                          <p:attrName>ppt_w</p:attrName>
                                        </p:attrNameLst>
                                      </p:cBhvr>
                                      <p:tavLst>
                                        <p:tav tm="0">
                                          <p:val>
                                            <p:strVal val="0"/>
                                          </p:val>
                                        </p:tav>
                                        <p:tav tm="100000">
                                          <p:val>
                                            <p:strVal val="#ppt_w"/>
                                          </p:val>
                                        </p:tav>
                                      </p:tavLst>
                                    </p:anim>
                                    <p:anim calcmode="lin" valueType="num">
                                      <p:cBhvr additive="base">
                                        <p:cTn id="166" dur="550" fill="hold"/>
                                        <p:tgtEl>
                                          <p:spTgt spid="42"/>
                                        </p:tgtEl>
                                        <p:attrNameLst>
                                          <p:attrName>ppt_h</p:attrName>
                                        </p:attrNameLst>
                                      </p:cBhvr>
                                      <p:tavLst>
                                        <p:tav tm="0">
                                          <p:val>
                                            <p:strVal val="0"/>
                                          </p:val>
                                        </p:tav>
                                        <p:tav tm="100000">
                                          <p:val>
                                            <p:strVal val="#ppt_h"/>
                                          </p:val>
                                        </p:tav>
                                      </p:tavLst>
                                    </p:anim>
                                  </p:childTnLst>
                                </p:cTn>
                              </p:par>
                            </p:childTnLst>
                          </p:cTn>
                        </p:par>
                        <p:par>
                          <p:cTn id="167" fill="hold">
                            <p:stCondLst>
                              <p:cond delay="150"/>
                            </p:stCondLst>
                            <p:childTnLst>
                              <p:par>
                                <p:cTn id="168" presetID="10" presetClass="entr" presetSubtype="0"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childTnLst>
                                </p:cTn>
                              </p:par>
                            </p:childTnLst>
                          </p:cTn>
                        </p:par>
                        <p:par>
                          <p:cTn id="171" fill="hold">
                            <p:stCondLst>
                              <p:cond delay="350"/>
                            </p:stCondLst>
                            <p:childTnLst>
                              <p:par>
                                <p:cTn id="172" presetID="53" presetClass="entr" presetSubtype="16" fill="hold" grpId="0" nodeType="afterEffect">
                                  <p:stCondLst>
                                    <p:cond delay="0"/>
                                  </p:stCondLst>
                                  <p:childTnLst>
                                    <p:set>
                                      <p:cBhvr>
                                        <p:cTn id="173" dur="1" fill="hold">
                                          <p:stCondLst>
                                            <p:cond delay="0"/>
                                          </p:stCondLst>
                                        </p:cTn>
                                        <p:tgtEl>
                                          <p:spTgt spid="44"/>
                                        </p:tgtEl>
                                        <p:attrNameLst>
                                          <p:attrName>style.visibility</p:attrName>
                                        </p:attrNameLst>
                                      </p:cBhvr>
                                      <p:to>
                                        <p:strVal val="visible"/>
                                      </p:to>
                                    </p:set>
                                    <p:animEffect transition="in" filter="fade">
                                      <p:cBhvr>
                                        <p:cTn id="174" dur="550"/>
                                        <p:tgtEl>
                                          <p:spTgt spid="44"/>
                                        </p:tgtEl>
                                      </p:cBhvr>
                                    </p:animEffect>
                                    <p:anim calcmode="lin" valueType="num">
                                      <p:cBhvr additive="base">
                                        <p:cTn id="175" dur="550" fill="hold"/>
                                        <p:tgtEl>
                                          <p:spTgt spid="44"/>
                                        </p:tgtEl>
                                        <p:attrNameLst>
                                          <p:attrName>ppt_w</p:attrName>
                                        </p:attrNameLst>
                                      </p:cBhvr>
                                      <p:tavLst>
                                        <p:tav tm="0">
                                          <p:val>
                                            <p:strVal val="0"/>
                                          </p:val>
                                        </p:tav>
                                        <p:tav tm="100000">
                                          <p:val>
                                            <p:strVal val="#ppt_w"/>
                                          </p:val>
                                        </p:tav>
                                      </p:tavLst>
                                    </p:anim>
                                    <p:anim calcmode="lin" valueType="num">
                                      <p:cBhvr additive="base">
                                        <p:cTn id="176" dur="550" fill="hold"/>
                                        <p:tgtEl>
                                          <p:spTgt spid="44"/>
                                        </p:tgtEl>
                                        <p:attrNameLst>
                                          <p:attrName>ppt_h</p:attrName>
                                        </p:attrNameLst>
                                      </p:cBhvr>
                                      <p:tavLst>
                                        <p:tav tm="0">
                                          <p:val>
                                            <p:strVal val="0"/>
                                          </p:val>
                                        </p:tav>
                                        <p:tav tm="100000">
                                          <p:val>
                                            <p:strVal val="#ppt_h"/>
                                          </p:val>
                                        </p:tav>
                                      </p:tavLst>
                                    </p:anim>
                                  </p:childTnLst>
                                </p:cTn>
                              </p:par>
                            </p:childTnLst>
                          </p:cTn>
                        </p:par>
                        <p:par>
                          <p:cTn id="177" fill="hold">
                            <p:stCondLst>
                              <p:cond delay="450"/>
                            </p:stCondLst>
                            <p:childTnLst>
                              <p:par>
                                <p:cTn id="178" presetID="10" presetClass="entr" presetSubtype="0"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Effect transition="in" filter="fade">
                                      <p:cBhvr>
                                        <p:cTn id="180" dur="550"/>
                                        <p:tgtEl>
                                          <p:spTgt spid="45"/>
                                        </p:tgtEl>
                                      </p:cBhvr>
                                    </p:animEffect>
                                  </p:childTnLst>
                                </p:cTn>
                              </p:par>
                            </p:childTnLst>
                          </p:cTn>
                        </p:par>
                        <p:par>
                          <p:cTn id="181" fill="hold">
                            <p:stCondLst>
                              <p:cond delay="550"/>
                            </p:stCondLst>
                            <p:childTnLst>
                              <p:par>
                                <p:cTn id="182" presetID="2" presetClass="entr" presetSubtype="8" fill="hold" grpId="0" nodeType="afterEffect">
                                  <p:stCondLst>
                                    <p:cond delay="0"/>
                                  </p:stCondLst>
                                  <p:childTnLst>
                                    <p:set>
                                      <p:cBhvr>
                                        <p:cTn id="183" dur="1" fill="hold">
                                          <p:stCondLst>
                                            <p:cond delay="0"/>
                                          </p:stCondLst>
                                        </p:cTn>
                                        <p:tgtEl>
                                          <p:spTgt spid="46"/>
                                        </p:tgtEl>
                                        <p:attrNameLst>
                                          <p:attrName>style.visibility</p:attrName>
                                        </p:attrNameLst>
                                      </p:cBhvr>
                                      <p:to>
                                        <p:strVal val="visible"/>
                                      </p:to>
                                    </p:set>
                                    <p:anim calcmode="lin" valueType="num">
                                      <p:cBhvr additive="base">
                                        <p:cTn id="185" dur="550" fill="hold"/>
                                        <p:tgtEl>
                                          <p:spTgt spid="46"/>
                                        </p:tgtEl>
                                        <p:attrNameLst>
                                          <p:attrName>ppt_x</p:attrName>
                                        </p:attrNameLst>
                                      </p:cBhvr>
                                      <p:tavLst>
                                        <p:tav tm="0">
                                          <p:val>
                                            <p:strVal val="0-#ppt_w/2"/>
                                          </p:val>
                                        </p:tav>
                                        <p:tav tm="100000">
                                          <p:val>
                                            <p:strVal val="#ppt_x"/>
                                          </p:val>
                                        </p:tav>
                                      </p:tavLst>
                                    </p:anim>
                                    <p:anim calcmode="lin" valueType="num">
                                      <p:cBhvr additive="base">
                                        <p:cTn id="186" dur="550" fill="hold"/>
                                        <p:tgtEl>
                                          <p:spTgt spid="46"/>
                                        </p:tgtEl>
                                        <p:attrNameLst>
                                          <p:attrName>ppt_y</p:attrName>
                                        </p:attrNameLst>
                                      </p:cBhvr>
                                      <p:tavLst>
                                        <p:tav tm="0">
                                          <p:val>
                                            <p:strVal val="#ppt_y"/>
                                          </p:val>
                                        </p:tav>
                                        <p:tav tm="100000">
                                          <p:val>
                                            <p:strVal val="#ppt_y"/>
                                          </p:val>
                                        </p:tav>
                                      </p:tavLst>
                                    </p:anim>
                                  </p:childTnLst>
                                </p:cTn>
                              </p:par>
                            </p:childTnLst>
                          </p:cTn>
                        </p:par>
                        <p:par>
                          <p:cTn id="187" fill="hold">
                            <p:stCondLst>
                              <p:cond delay="650"/>
                            </p:stCondLst>
                            <p:childTnLst>
                              <p:par>
                                <p:cTn id="188" presetID="22" presetClass="entr" presetSubtype="8" fill="hold" grpId="0" nodeType="afterEffect">
                                  <p:stCondLst>
                                    <p:cond delay="0"/>
                                  </p:stCondLst>
                                  <p:childTnLst>
                                    <p:set>
                                      <p:cBhvr>
                                        <p:cTn id="189" dur="1" fill="hold">
                                          <p:stCondLst>
                                            <p:cond delay="0"/>
                                          </p:stCondLst>
                                        </p:cTn>
                                        <p:tgtEl>
                                          <p:spTgt spid="47"/>
                                        </p:tgtEl>
                                        <p:attrNameLst>
                                          <p:attrName>style.visibility</p:attrName>
                                        </p:attrNameLst>
                                      </p:cBhvr>
                                      <p:to>
                                        <p:strVal val="visible"/>
                                      </p:to>
                                    </p:set>
                                    <p:animEffect transition="in" filter="wipe(left)">
                                      <p:cBhvr>
                                        <p:cTn id="191" dur="8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NPU: chekka va iste'mol qurilmalaridagi tezlatkichlar</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13</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6b4d8b5ed199029.jpg"/>
          <p:cNvPicPr>
            <a:picLocks noChangeAspect="1"/>
          </p:cNvPicPr>
          <p:nvPr/>
        </p:nvPicPr>
        <p:blipFill>
          <a:blip r:embed="rId2"/>
          <a:srcRect l="4289" r="4289"/>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Teewurzler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632104"/>
            <a:ext cx="50000" cy="231579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NPU (Neural Processing Unit) — umumiy nom bo'lib, tizim-kristal (SoC) tarkibidagi neyron tarmoq blokini bildiradi.</a:t>
            </a:r>
          </a:p>
          <a:p>
            <a:pPr>
              <a:spcBef>
                <a:spcPts val="400"/>
              </a:spcBef>
            </a:pPr>
            <a:r>
              <a:rPr sz="1600">
                <a:solidFill>
                  <a:srgbClr val="AEBBD9"/>
                </a:solidFill>
                <a:latin typeface="Segoe UI"/>
              </a:rPr>
              <a:t>Arxitektura jihatidan NPU lar ko'pincha kichik sistolik massivlar yoki vektor-matritsa bloklari, katta on-chip SRAM va INT8/INT4 aniqlikka urg'u bilan quriladi. Ularning asosiy loyihalash mezoni — vatt boshiga TOPS, chunki ular batareyali qurilmada ishlaydi.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4-REJA</a:t>
            </a:r>
          </a:p>
        </p:txBody>
      </p:sp>
      <p:sp>
        <p:nvSpPr>
          <p:cNvPr id="22" name="TextBox 21"/>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NPU: chekka va iste'mol qurilmalaridagi tezlatkichlar</a:t>
            </a:r>
          </a:p>
        </p:txBody>
      </p:sp>
      <p:sp>
        <p:nvSpPr>
          <p:cNvPr id="23" name="Rectangle 22"/>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5" name="Rounded Rectangle 24"/>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14</a:t>
            </a:r>
          </a:p>
        </p:txBody>
      </p:sp>
      <p:sp>
        <p:nvSpPr>
          <p:cNvPr id="26" name="Rounded Rectangle 25"/>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094242e6af70016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8" name="TextBox 27"/>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Evan-Amos · Wikimedia Commons · Public domain</a:t>
            </a:r>
          </a:p>
        </p:txBody>
      </p:sp>
      <p:sp>
        <p:nvSpPr>
          <p:cNvPr id="29" name="Rounded Rectangle 28"/>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30" name="Rounded Rectangle 29"/>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2632104"/>
            <a:ext cx="50000" cy="231579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3" name="TextBox 32"/>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NPU ning cheklovlari: qo'llab-quvvatlanadigan operatorlar to'plami tor (yangi arxitekturadagi noodatiy qatlam NPU da ishlamay CPU ga tushishi mumkin), dasturlash faqat ishlab chiqaruvchi SDK si orqali (Core ML, Qualcomm AI Engine, OpenVINO), aniqlik asosan…</a:t>
            </a:r>
          </a:p>
          <a:p>
            <a:pPr>
              <a:spcBef>
                <a:spcPts val="400"/>
              </a:spcBef>
            </a:pPr>
            <a:r>
              <a:rPr sz="1600">
                <a:solidFill>
                  <a:srgbClr val="AEBBD9"/>
                </a:solidFill>
                <a:latin typeface="Segoe UI"/>
              </a:rPr>
              <a:t>Shu sababli NPU uchun model tayyorlash — kvantlash, operatorlarni almashtirish, grafni kompilyatsiya qilish — alohida muhandislik bosqichi (M6 va M8 da ko'riladi).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2"/>
                                        </p:tgtEl>
                                        <p:attrNameLst>
                                          <p:attrName>style.visibility</p:attrName>
                                        </p:attrNameLst>
                                      </p:cBhvr>
                                      <p:to>
                                        <p:strVal val="visible"/>
                                      </p:to>
                                    </p:set>
                                    <p:animEffect transition="in" filter="fade">
                                      <p:cBhvr>
                                        <p:cTn id="6" dur="550"/>
                                        <p:tgtEl>
                                          <p:spTgt spid="22"/>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wipe(left)">
                                      <p:cBhvr>
                                        <p:cTn id="11" dur="800"/>
                                        <p:tgtEl>
                                          <p:spTgt spid="23"/>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6"/>
                                        </p:tgtEl>
                                        <p:attrNameLst>
                                          <p:attrName>style.visibility</p:attrName>
                                        </p:attrNameLst>
                                      </p:cBhvr>
                                      <p:to>
                                        <p:strVal val="visible"/>
                                      </p:to>
                                    </p:set>
                                    <p:animEffect transition="in" filter="fade">
                                      <p:cBhvr>
                                        <p:cTn id="15" dur="550"/>
                                        <p:tgtEl>
                                          <p:spTgt spid="26"/>
                                        </p:tgtEl>
                                      </p:cBhvr>
                                    </p:animEffect>
                                    <p:anim calcmode="lin" valueType="num">
                                      <p:cBhvr additive="base">
                                        <p:cTn id="16" dur="550" fill="hold"/>
                                        <p:tgtEl>
                                          <p:spTgt spid="26"/>
                                        </p:tgtEl>
                                        <p:attrNameLst>
                                          <p:attrName>ppt_w</p:attrName>
                                        </p:attrNameLst>
                                      </p:cBhvr>
                                      <p:tavLst>
                                        <p:tav tm="0">
                                          <p:val>
                                            <p:strVal val="0"/>
                                          </p:val>
                                        </p:tav>
                                        <p:tav tm="100000">
                                          <p:val>
                                            <p:strVal val="#ppt_w"/>
                                          </p:val>
                                        </p:tav>
                                      </p:tavLst>
                                    </p:anim>
                                    <p:anim calcmode="lin" valueType="num">
                                      <p:cBhvr additive="base">
                                        <p:cTn id="17" dur="550" fill="hold"/>
                                        <p:tgtEl>
                                          <p:spTgt spid="26"/>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7"/>
                                        </p:tgtEl>
                                        <p:attrNameLst>
                                          <p:attrName>style.visibility</p:attrName>
                                        </p:attrNameLst>
                                      </p:cBhvr>
                                      <p:to>
                                        <p:strVal val="visible"/>
                                      </p:to>
                                    </p:set>
                                    <p:animEffect transition="in" filter="fade">
                                      <p:cBhvr>
                                        <p:cTn id="21" dur="550"/>
                                        <p:tgtEl>
                                          <p:spTgt spid="27"/>
                                        </p:tgtEl>
                                      </p:cBhvr>
                                    </p:animEffect>
                                    <p:anim calcmode="lin" valueType="num">
                                      <p:cBhvr additive="base">
                                        <p:cTn id="22" dur="550" fill="hold"/>
                                        <p:tgtEl>
                                          <p:spTgt spid="27"/>
                                        </p:tgtEl>
                                        <p:attrNameLst>
                                          <p:attrName>ppt_w</p:attrName>
                                        </p:attrNameLst>
                                      </p:cBhvr>
                                      <p:tavLst>
                                        <p:tav tm="0">
                                          <p:val>
                                            <p:strVal val="0"/>
                                          </p:val>
                                        </p:tav>
                                        <p:tav tm="100000">
                                          <p:val>
                                            <p:strVal val="#ppt_w"/>
                                          </p:val>
                                        </p:tav>
                                      </p:tavLst>
                                    </p:anim>
                                    <p:anim calcmode="lin" valueType="num">
                                      <p:cBhvr additive="base">
                                        <p:cTn id="23" dur="550" fill="hold"/>
                                        <p:tgtEl>
                                          <p:spTgt spid="27"/>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550"/>
                                        <p:tgtEl>
                                          <p:spTgt spid="29"/>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550"/>
                                        <p:tgtEl>
                                          <p:spTgt spid="28"/>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30"/>
                                        </p:tgtEl>
                                        <p:attrNameLst>
                                          <p:attrName>style.visibility</p:attrName>
                                        </p:attrNameLst>
                                      </p:cBhvr>
                                      <p:to>
                                        <p:strVal val="visible"/>
                                      </p:to>
                                    </p:set>
                                    <p:animEffect transition="in" filter="fade">
                                      <p:cBhvr>
                                        <p:cTn id="35" dur="550"/>
                                        <p:tgtEl>
                                          <p:spTgt spid="30"/>
                                        </p:tgtEl>
                                      </p:cBhvr>
                                    </p:animEffect>
                                    <p:anim calcmode="lin" valueType="num">
                                      <p:cBhvr additive="base">
                                        <p:cTn id="36" dur="550" fill="hold"/>
                                        <p:tgtEl>
                                          <p:spTgt spid="30"/>
                                        </p:tgtEl>
                                        <p:attrNameLst>
                                          <p:attrName>ppt_x</p:attrName>
                                        </p:attrNameLst>
                                      </p:cBhvr>
                                      <p:tavLst>
                                        <p:tav tm="0">
                                          <p:val>
                                            <p:strVal val="#ppt_x"/>
                                          </p:val>
                                        </p:tav>
                                        <p:tav tm="100000">
                                          <p:val>
                                            <p:strVal val="#ppt_x"/>
                                          </p:val>
                                        </p:tav>
                                      </p:tavLst>
                                    </p:anim>
                                    <p:anim calcmode="lin" valueType="num">
                                      <p:cBhvr additive="base">
                                        <p:cTn id="37" dur="550" fill="hold"/>
                                        <p:tgtEl>
                                          <p:spTgt spid="30"/>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550"/>
                                        <p:tgtEl>
                                          <p:spTgt spid="31"/>
                                        </p:tgtEl>
                                      </p:cBhvr>
                                    </p:animEffect>
                                    <p:anim calcmode="lin" valueType="num">
                                      <p:cBhvr additive="base">
                                        <p:cTn id="42" dur="550" fill="hold"/>
                                        <p:tgtEl>
                                          <p:spTgt spid="31"/>
                                        </p:tgtEl>
                                        <p:attrNameLst>
                                          <p:attrName>ppt_x</p:attrName>
                                        </p:attrNameLst>
                                      </p:cBhvr>
                                      <p:tavLst>
                                        <p:tav tm="0">
                                          <p:val>
                                            <p:strVal val="#ppt_x"/>
                                          </p:val>
                                        </p:tav>
                                        <p:tav tm="100000">
                                          <p:val>
                                            <p:strVal val="#ppt_x"/>
                                          </p:val>
                                        </p:tav>
                                      </p:tavLst>
                                    </p:anim>
                                    <p:anim calcmode="lin" valueType="num">
                                      <p:cBhvr additive="base">
                                        <p:cTn id="43" dur="550" fill="hold"/>
                                        <p:tgtEl>
                                          <p:spTgt spid="31"/>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550"/>
                                        <p:tgtEl>
                                          <p:spTgt spid="32"/>
                                        </p:tgtEl>
                                      </p:cBhvr>
                                    </p:animEffect>
                                    <p:anim calcmode="lin" valueType="num">
                                      <p:cBhvr additive="base">
                                        <p:cTn id="48" dur="550" fill="hold"/>
                                        <p:tgtEl>
                                          <p:spTgt spid="32"/>
                                        </p:tgtEl>
                                        <p:attrNameLst>
                                          <p:attrName>ppt_w</p:attrName>
                                        </p:attrNameLst>
                                      </p:cBhvr>
                                      <p:tavLst>
                                        <p:tav tm="0">
                                          <p:val>
                                            <p:strVal val="0"/>
                                          </p:val>
                                        </p:tav>
                                        <p:tav tm="100000">
                                          <p:val>
                                            <p:strVal val="#ppt_w"/>
                                          </p:val>
                                        </p:tav>
                                      </p:tavLst>
                                    </p:anim>
                                    <p:anim calcmode="lin" valueType="num">
                                      <p:cBhvr additive="base">
                                        <p:cTn id="49" dur="550" fill="hold"/>
                                        <p:tgtEl>
                                          <p:spTgt spid="32"/>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3"/>
                                        </p:tgtEl>
                                        <p:attrNameLst>
                                          <p:attrName>style.visibility</p:attrName>
                                        </p:attrNameLst>
                                      </p:cBhvr>
                                      <p:to>
                                        <p:strVal val="visible"/>
                                      </p:to>
                                    </p:set>
                                    <p:animEffect transition="in" filter="fade">
                                      <p:cBhvr>
                                        <p:cTn id="53" dur="550"/>
                                        <p:tgtEl>
                                          <p:spTgt spid="33"/>
                                        </p:tgtEl>
                                      </p:cBhvr>
                                    </p:animEffect>
                                    <p:anim calcmode="lin" valueType="num">
                                      <p:cBhvr additive="base">
                                        <p:cTn id="54" dur="550" fill="hold"/>
                                        <p:tgtEl>
                                          <p:spTgt spid="33"/>
                                        </p:tgtEl>
                                        <p:attrNameLst>
                                          <p:attrName>ppt_x</p:attrName>
                                        </p:attrNameLst>
                                      </p:cBhvr>
                                      <p:tavLst>
                                        <p:tav tm="0">
                                          <p:val>
                                            <p:strVal val="#ppt_x"/>
                                          </p:val>
                                        </p:tav>
                                        <p:tav tm="100000">
                                          <p:val>
                                            <p:strVal val="#ppt_x"/>
                                          </p:val>
                                        </p:tav>
                                      </p:tavLst>
                                    </p:anim>
                                    <p:anim calcmode="lin" valueType="num">
                                      <p:cBhvr additive="base">
                                        <p:cTn id="55" dur="550" fill="hold"/>
                                        <p:tgtEl>
                                          <p:spTgt spid="3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6" grpId="0" animBg="1"/>
      <p:bldP spid="29" grpId="0" animBg="1"/>
      <p:bldP spid="28" grpId="0" animBg="1"/>
      <p:bldP spid="30" grpId="0" animBg="1"/>
      <p:bldP spid="31" grpId="0" animBg="1"/>
      <p:bldP spid="32" grpId="0" animBg="1"/>
      <p:bldP spid="33"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662553146f2c8b02.jpg"/>
          <p:cNvPicPr>
            <a:picLocks noChangeAspect="1"/>
          </p:cNvPicPr>
          <p:nvPr/>
        </p:nvPicPr>
        <p:blipFill>
          <a:blip r:embed="rId2"/>
          <a:srcRect l="9848" r="9848"/>
          <a:stretch>
            <a:fillRect/>
          </a:stretch>
        </p:blipFill>
        <p:spPr>
          <a:xfrm>
            <a:off x="6300000" y="800000"/>
            <a:ext cx="5300000" cy="4950000"/>
          </a:xfrm>
          <a:prstGeom prst="roundRect">
            <a:avLst/>
          </a:prstGeom>
          <a:ln w="19050">
            <a:solidFill>
              <a:srgbClr val="22D3EE"/>
            </a:solidFill>
          </a:ln>
        </p:spPr>
      </p:pic>
      <p:sp>
        <p:nvSpPr>
          <p:cNvPr id="39" name="TextBox 38"/>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Pedant01 · Wikimedia Commons · CC BY-SA 4.0</a:t>
            </a:r>
          </a:p>
        </p:txBody>
      </p:sp>
      <p:sp>
        <p:nvSpPr>
          <p:cNvPr id="40" name="TextBox 39"/>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05</a:t>
            </a:r>
          </a:p>
        </p:txBody>
      </p:sp>
      <p:sp>
        <p:nvSpPr>
          <p:cNvPr id="41" name="TextBox 40"/>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2" name="TextBox 41"/>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FPGA: qayta dasturlanadigan apparat</a:t>
            </a:r>
          </a:p>
        </p:txBody>
      </p:sp>
      <p:sp>
        <p:nvSpPr>
          <p:cNvPr id="43" name="Rectangle 42"/>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7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150"/>
                            </p:stCondLst>
                            <p:childTnLst>
                              <p:par>
                                <p:cTn id="140" presetID="53" presetClass="entr" presetSubtype="16"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anim calcmode="lin" valueType="num">
                                      <p:cBhvr additive="base">
                                        <p:cTn id="143" dur="550" fill="hold"/>
                                        <p:tgtEl>
                                          <p:spTgt spid="37"/>
                                        </p:tgtEl>
                                        <p:attrNameLst>
                                          <p:attrName>ppt_w</p:attrName>
                                        </p:attrNameLst>
                                      </p:cBhvr>
                                      <p:tavLst>
                                        <p:tav tm="0">
                                          <p:val>
                                            <p:strVal val="0"/>
                                          </p:val>
                                        </p:tav>
                                        <p:tav tm="100000">
                                          <p:val>
                                            <p:strVal val="#ppt_w"/>
                                          </p:val>
                                        </p:tav>
                                      </p:tavLst>
                                    </p:anim>
                                    <p:anim calcmode="lin" valueType="num">
                                      <p:cBhvr additive="base">
                                        <p:cTn id="144" dur="550" fill="hold"/>
                                        <p:tgtEl>
                                          <p:spTgt spid="37"/>
                                        </p:tgtEl>
                                        <p:attrNameLst>
                                          <p:attrName>ppt_h</p:attrName>
                                        </p:attrNameLst>
                                      </p:cBhvr>
                                      <p:tavLst>
                                        <p:tav tm="0">
                                          <p:val>
                                            <p:strVal val="0"/>
                                          </p:val>
                                        </p:tav>
                                        <p:tav tm="100000">
                                          <p:val>
                                            <p:strVal val="#ppt_h"/>
                                          </p:val>
                                        </p:tav>
                                      </p:tavLst>
                                    </p:anim>
                                  </p:childTnLst>
                                </p:cTn>
                              </p:par>
                            </p:childTnLst>
                          </p:cTn>
                        </p:par>
                        <p:par>
                          <p:cTn id="145" fill="hold">
                            <p:stCondLst>
                              <p:cond delay="150"/>
                            </p:stCondLst>
                            <p:childTnLst>
                              <p:par>
                                <p:cTn id="146" presetID="53" presetClass="entr" presetSubtype="16" fill="hold" grpId="0" nodeType="afterEffect">
                                  <p:stCondLst>
                                    <p:cond delay="0"/>
                                  </p:stCondLst>
                                  <p:childTnLst>
                                    <p:set>
                                      <p:cBhvr>
                                        <p:cTn id="147" dur="1" fill="hold">
                                          <p:stCondLst>
                                            <p:cond delay="0"/>
                                          </p:stCondLst>
                                        </p:cTn>
                                        <p:tgtEl>
                                          <p:spTgt spid="38"/>
                                        </p:tgtEl>
                                        <p:attrNameLst>
                                          <p:attrName>style.visibility</p:attrName>
                                        </p:attrNameLst>
                                      </p:cBhvr>
                                      <p:to>
                                        <p:strVal val="visible"/>
                                      </p:to>
                                    </p:set>
                                    <p:animEffect transition="in" filter="fade">
                                      <p:cBhvr>
                                        <p:cTn id="148" dur="550"/>
                                        <p:tgtEl>
                                          <p:spTgt spid="38"/>
                                        </p:tgtEl>
                                      </p:cBhvr>
                                    </p:animEffect>
                                    <p:anim calcmode="lin" valueType="num">
                                      <p:cBhvr additive="base">
                                        <p:cTn id="149" dur="550" fill="hold"/>
                                        <p:tgtEl>
                                          <p:spTgt spid="38"/>
                                        </p:tgtEl>
                                        <p:attrNameLst>
                                          <p:attrName>ppt_w</p:attrName>
                                        </p:attrNameLst>
                                      </p:cBhvr>
                                      <p:tavLst>
                                        <p:tav tm="0">
                                          <p:val>
                                            <p:strVal val="0"/>
                                          </p:val>
                                        </p:tav>
                                        <p:tav tm="100000">
                                          <p:val>
                                            <p:strVal val="#ppt_w"/>
                                          </p:val>
                                        </p:tav>
                                      </p:tavLst>
                                    </p:anim>
                                    <p:anim calcmode="lin" valueType="num">
                                      <p:cBhvr additive="base">
                                        <p:cTn id="150" dur="550" fill="hold"/>
                                        <p:tgtEl>
                                          <p:spTgt spid="38"/>
                                        </p:tgtEl>
                                        <p:attrNameLst>
                                          <p:attrName>ppt_h</p:attrName>
                                        </p:attrNameLst>
                                      </p:cBhvr>
                                      <p:tavLst>
                                        <p:tav tm="0">
                                          <p:val>
                                            <p:strVal val="0"/>
                                          </p:val>
                                        </p:tav>
                                        <p:tav tm="100000">
                                          <p:val>
                                            <p:strVal val="#ppt_h"/>
                                          </p:val>
                                        </p:tav>
                                      </p:tavLst>
                                    </p:anim>
                                  </p:childTnLst>
                                </p:cTn>
                              </p:par>
                            </p:childTnLst>
                          </p:cTn>
                        </p:par>
                        <p:par>
                          <p:cTn id="151" fill="hold">
                            <p:stCondLst>
                              <p:cond delay="150"/>
                            </p:stCondLst>
                            <p:childTnLst>
                              <p:par>
                                <p:cTn id="152" presetID="10" presetClass="entr" presetSubtype="0" fill="hold" grpId="0" nodeType="afterEffect">
                                  <p:stCondLst>
                                    <p:cond delay="0"/>
                                  </p:stCondLst>
                                  <p:childTnLst>
                                    <p:set>
                                      <p:cBhvr>
                                        <p:cTn id="153" dur="1" fill="hold">
                                          <p:stCondLst>
                                            <p:cond delay="0"/>
                                          </p:stCondLst>
                                        </p:cTn>
                                        <p:tgtEl>
                                          <p:spTgt spid="39"/>
                                        </p:tgtEl>
                                        <p:attrNameLst>
                                          <p:attrName>style.visibility</p:attrName>
                                        </p:attrNameLst>
                                      </p:cBhvr>
                                      <p:to>
                                        <p:strVal val="visible"/>
                                      </p:to>
                                    </p:set>
                                    <p:animEffect transition="in" filter="fade">
                                      <p:cBhvr>
                                        <p:cTn id="154" dur="550"/>
                                        <p:tgtEl>
                                          <p:spTgt spid="39"/>
                                        </p:tgtEl>
                                      </p:cBhvr>
                                    </p:animEffect>
                                  </p:childTnLst>
                                </p:cTn>
                              </p:par>
                            </p:childTnLst>
                          </p:cTn>
                        </p:par>
                        <p:par>
                          <p:cTn id="155" fill="hold">
                            <p:stCondLst>
                              <p:cond delay="350"/>
                            </p:stCondLst>
                            <p:childTnLst>
                              <p:par>
                                <p:cTn id="156" presetID="53" presetClass="entr" presetSubtype="16"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anim calcmode="lin" valueType="num">
                                      <p:cBhvr additive="base">
                                        <p:cTn id="159" dur="550" fill="hold"/>
                                        <p:tgtEl>
                                          <p:spTgt spid="40"/>
                                        </p:tgtEl>
                                        <p:attrNameLst>
                                          <p:attrName>ppt_w</p:attrName>
                                        </p:attrNameLst>
                                      </p:cBhvr>
                                      <p:tavLst>
                                        <p:tav tm="0">
                                          <p:val>
                                            <p:strVal val="0"/>
                                          </p:val>
                                        </p:tav>
                                        <p:tav tm="100000">
                                          <p:val>
                                            <p:strVal val="#ppt_w"/>
                                          </p:val>
                                        </p:tav>
                                      </p:tavLst>
                                    </p:anim>
                                    <p:anim calcmode="lin" valueType="num">
                                      <p:cBhvr additive="base">
                                        <p:cTn id="160" dur="550" fill="hold"/>
                                        <p:tgtEl>
                                          <p:spTgt spid="40"/>
                                        </p:tgtEl>
                                        <p:attrNameLst>
                                          <p:attrName>ppt_h</p:attrName>
                                        </p:attrNameLst>
                                      </p:cBhvr>
                                      <p:tavLst>
                                        <p:tav tm="0">
                                          <p:val>
                                            <p:strVal val="0"/>
                                          </p:val>
                                        </p:tav>
                                        <p:tav tm="100000">
                                          <p:val>
                                            <p:strVal val="#ppt_h"/>
                                          </p:val>
                                        </p:tav>
                                      </p:tavLst>
                                    </p:anim>
                                  </p:childTnLst>
                                </p:cTn>
                              </p:par>
                            </p:childTnLst>
                          </p:cTn>
                        </p:par>
                        <p:par>
                          <p:cTn id="161" fill="hold">
                            <p:stCondLst>
                              <p:cond delay="450"/>
                            </p:stCondLst>
                            <p:childTnLst>
                              <p:par>
                                <p:cTn id="162" presetID="10" presetClass="entr" presetSubtype="0" fill="hold" grpId="0" nodeType="afterEffect">
                                  <p:stCondLst>
                                    <p:cond delay="0"/>
                                  </p:stCondLst>
                                  <p:childTnLst>
                                    <p:set>
                                      <p:cBhvr>
                                        <p:cTn id="163" dur="1" fill="hold">
                                          <p:stCondLst>
                                            <p:cond delay="0"/>
                                          </p:stCondLst>
                                        </p:cTn>
                                        <p:tgtEl>
                                          <p:spTgt spid="41"/>
                                        </p:tgtEl>
                                        <p:attrNameLst>
                                          <p:attrName>style.visibility</p:attrName>
                                        </p:attrNameLst>
                                      </p:cBhvr>
                                      <p:to>
                                        <p:strVal val="visible"/>
                                      </p:to>
                                    </p:set>
                                    <p:animEffect transition="in" filter="fade">
                                      <p:cBhvr>
                                        <p:cTn id="164" dur="550"/>
                                        <p:tgtEl>
                                          <p:spTgt spid="41"/>
                                        </p:tgtEl>
                                      </p:cBhvr>
                                    </p:animEffect>
                                  </p:childTnLst>
                                </p:cTn>
                              </p:par>
                            </p:childTnLst>
                          </p:cTn>
                        </p:par>
                        <p:par>
                          <p:cTn id="165" fill="hold">
                            <p:stCondLst>
                              <p:cond delay="550"/>
                            </p:stCondLst>
                            <p:childTnLst>
                              <p:par>
                                <p:cTn id="166" presetID="2" presetClass="entr" presetSubtype="8"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 calcmode="lin" valueType="num">
                                      <p:cBhvr additive="base">
                                        <p:cTn id="169" dur="550" fill="hold"/>
                                        <p:tgtEl>
                                          <p:spTgt spid="42"/>
                                        </p:tgtEl>
                                        <p:attrNameLst>
                                          <p:attrName>ppt_x</p:attrName>
                                        </p:attrNameLst>
                                      </p:cBhvr>
                                      <p:tavLst>
                                        <p:tav tm="0">
                                          <p:val>
                                            <p:strVal val="0-#ppt_w/2"/>
                                          </p:val>
                                        </p:tav>
                                        <p:tav tm="100000">
                                          <p:val>
                                            <p:strVal val="#ppt_x"/>
                                          </p:val>
                                        </p:tav>
                                      </p:tavLst>
                                    </p:anim>
                                    <p:anim calcmode="lin" valueType="num">
                                      <p:cBhvr additive="base">
                                        <p:cTn id="170" dur="550" fill="hold"/>
                                        <p:tgtEl>
                                          <p:spTgt spid="42"/>
                                        </p:tgtEl>
                                        <p:attrNameLst>
                                          <p:attrName>ppt_y</p:attrName>
                                        </p:attrNameLst>
                                      </p:cBhvr>
                                      <p:tavLst>
                                        <p:tav tm="0">
                                          <p:val>
                                            <p:strVal val="#ppt_y"/>
                                          </p:val>
                                        </p:tav>
                                        <p:tav tm="100000">
                                          <p:val>
                                            <p:strVal val="#ppt_y"/>
                                          </p:val>
                                        </p:tav>
                                      </p:tavLst>
                                    </p:anim>
                                  </p:childTnLst>
                                </p:cTn>
                              </p:par>
                            </p:childTnLst>
                          </p:cTn>
                        </p:par>
                        <p:par>
                          <p:cTn id="171" fill="hold">
                            <p:stCondLst>
                              <p:cond delay="650"/>
                            </p:stCondLst>
                            <p:childTnLst>
                              <p:par>
                                <p:cTn id="172" presetID="22" presetClass="entr" presetSubtype="8" fill="hold" grpId="0" nodeType="afterEffect">
                                  <p:stCondLst>
                                    <p:cond delay="0"/>
                                  </p:stCondLst>
                                  <p:childTnLst>
                                    <p:set>
                                      <p:cBhvr>
                                        <p:cTn id="173" dur="1" fill="hold">
                                          <p:stCondLst>
                                            <p:cond delay="0"/>
                                          </p:stCondLst>
                                        </p:cTn>
                                        <p:tgtEl>
                                          <p:spTgt spid="43"/>
                                        </p:tgtEl>
                                        <p:attrNameLst>
                                          <p:attrName>style.visibility</p:attrName>
                                        </p:attrNameLst>
                                      </p:cBhvr>
                                      <p:to>
                                        <p:strVal val="visible"/>
                                      </p:to>
                                    </p:set>
                                    <p:animEffect transition="in" filter="wipe(left)">
                                      <p:cBhvr>
                                        <p:cTn id="175" dur="8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1" grpId="0" animBg="1"/>
      <p:bldP spid="42" grpId="0" animBg="1"/>
      <p:bldP spid="4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5-REJA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FPGA: qayta dasturlanadigan apparat</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16</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996824"/>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2076824"/>
            <a:ext cx="50000" cy="157817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665912"/>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2036824"/>
            <a:ext cx="5900000" cy="1658176"/>
          </a:xfrm>
          <a:prstGeom prst="rect">
            <a:avLst/>
          </a:prstGeom>
          <a:noFill/>
        </p:spPr>
        <p:txBody>
          <a:bodyPr wrap="square" anchor="ctr">
            <a:spAutoFit/>
          </a:bodyPr>
          <a:lstStyle/>
          <a:p>
            <a:r>
              <a:rPr sz="1500" b="1">
                <a:solidFill>
                  <a:srgbClr val="E8EEFA"/>
                </a:solidFill>
                <a:latin typeface="Segoe UI"/>
              </a:rPr>
              <a:t>FPGA (Field-Programmable Gate Array) — ishlab chiqarilgandan keyin mantiqiy sxemasi o'zgartirilishi mumkin bo'lgan chip.</a:t>
            </a:r>
          </a:p>
          <a:p>
            <a:pPr>
              <a:spcBef>
                <a:spcPts val="400"/>
              </a:spcBef>
            </a:pPr>
            <a:r>
              <a:rPr sz="1400">
                <a:solidFill>
                  <a:srgbClr val="AEBBD9"/>
                </a:solidFill>
                <a:latin typeface="Segoe UI"/>
              </a:rPr>
              <a:t>Uning tarkibida yuz minglab qidiruv jadvallari (LUT), triggerlar, DSP bloklari (apparat ko'paytirgichlar) va bloklangan xotira (BRAM) bo'lib, ular dasturlanadigan ulanish to'ri orqali bog'lanadi.</a:t>
            </a:r>
          </a:p>
        </p:txBody>
      </p:sp>
      <p:sp>
        <p:nvSpPr>
          <p:cNvPr id="31" name="Rounded Rectangle 30"/>
          <p:cNvSpPr/>
          <p:nvPr/>
        </p:nvSpPr>
        <p:spPr>
          <a:xfrm>
            <a:off x="550000" y="3845000"/>
            <a:ext cx="6750000" cy="173817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57817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514088"/>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1658176"/>
          </a:xfrm>
          <a:prstGeom prst="rect">
            <a:avLst/>
          </a:prstGeom>
          <a:noFill/>
        </p:spPr>
        <p:txBody>
          <a:bodyPr wrap="square" anchor="ctr">
            <a:spAutoFit/>
          </a:bodyPr>
          <a:lstStyle/>
          <a:p>
            <a:r>
              <a:rPr sz="1400" b="0">
                <a:solidFill>
                  <a:srgbClr val="E8EEFA"/>
                </a:solidFill>
                <a:latin typeface="Segoe UI"/>
              </a:rPr>
              <a:t>FPGA ning afzalliklari: juda past va bashoratlanadigan kechikish (mikrosekundlar, chunki operatsion tizim va drayver yo'q), ixtiyoriy aniqlik, kiritish-chiqarish bilan to'g'ridan-to'g'ri integratsiya (kamera, tarmoq, radar).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380000"/>
            <a:ext cx="1666667"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6" name="Oval 25"/>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6c93aa2b82fecd83.jpg"/>
          <p:cNvPicPr>
            <a:picLocks noChangeAspect="1"/>
          </p:cNvPicPr>
          <p:nvPr/>
        </p:nvPicPr>
        <p:blipFill>
          <a:blip r:embed="rId2"/>
          <a:srcRect l="14324" r="14324"/>
          <a:stretch>
            <a:fillRect/>
          </a:stretch>
        </p:blipFill>
        <p:spPr>
          <a:xfrm>
            <a:off x="6300000" y="800000"/>
            <a:ext cx="5300000" cy="4950000"/>
          </a:xfrm>
          <a:prstGeom prst="roundRect">
            <a:avLst/>
          </a:prstGeom>
          <a:ln w="19050">
            <a:solidFill>
              <a:srgbClr val="22D3EE"/>
            </a:solidFill>
          </a:ln>
        </p:spPr>
      </p:pic>
      <p:sp>
        <p:nvSpPr>
          <p:cNvPr id="40" name="TextBox 39"/>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Martijn Boer · Wikimedia Commons · Public domain</a:t>
            </a:r>
          </a:p>
        </p:txBody>
      </p:sp>
      <p:sp>
        <p:nvSpPr>
          <p:cNvPr id="41" name="TextBox 40"/>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06</a:t>
            </a:r>
          </a:p>
        </p:txBody>
      </p:sp>
      <p:sp>
        <p:nvSpPr>
          <p:cNvPr id="42" name="TextBox 41"/>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3" name="TextBox 42"/>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Arxitekturalarni qiyosiy tahlil qilish</a:t>
            </a:r>
          </a:p>
        </p:txBody>
      </p:sp>
      <p:sp>
        <p:nvSpPr>
          <p:cNvPr id="44" name="Rectangle 43"/>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150"/>
                            </p:stCondLst>
                            <p:childTnLst>
                              <p:par>
                                <p:cTn id="144" presetID="53" presetClass="entr" presetSubtype="16"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anim calcmode="lin" valueType="num">
                                      <p:cBhvr additive="base">
                                        <p:cTn id="147" dur="550" fill="hold"/>
                                        <p:tgtEl>
                                          <p:spTgt spid="38"/>
                                        </p:tgtEl>
                                        <p:attrNameLst>
                                          <p:attrName>ppt_w</p:attrName>
                                        </p:attrNameLst>
                                      </p:cBhvr>
                                      <p:tavLst>
                                        <p:tav tm="0">
                                          <p:val>
                                            <p:strVal val="0"/>
                                          </p:val>
                                        </p:tav>
                                        <p:tav tm="100000">
                                          <p:val>
                                            <p:strVal val="#ppt_w"/>
                                          </p:val>
                                        </p:tav>
                                      </p:tavLst>
                                    </p:anim>
                                    <p:anim calcmode="lin" valueType="num">
                                      <p:cBhvr additive="base">
                                        <p:cTn id="148" dur="550" fill="hold"/>
                                        <p:tgtEl>
                                          <p:spTgt spid="38"/>
                                        </p:tgtEl>
                                        <p:attrNameLst>
                                          <p:attrName>ppt_h</p:attrName>
                                        </p:attrNameLst>
                                      </p:cBhvr>
                                      <p:tavLst>
                                        <p:tav tm="0">
                                          <p:val>
                                            <p:strVal val="0"/>
                                          </p:val>
                                        </p:tav>
                                        <p:tav tm="100000">
                                          <p:val>
                                            <p:strVal val="#ppt_h"/>
                                          </p:val>
                                        </p:tav>
                                      </p:tavLst>
                                    </p:anim>
                                  </p:childTnLst>
                                </p:cTn>
                              </p:par>
                            </p:childTnLst>
                          </p:cTn>
                        </p:par>
                        <p:par>
                          <p:cTn id="149" fill="hold">
                            <p:stCondLst>
                              <p:cond delay="150"/>
                            </p:stCondLst>
                            <p:childTnLst>
                              <p:par>
                                <p:cTn id="150" presetID="53" presetClass="entr" presetSubtype="16" fill="hold" grpId="0" nodeType="afterEffect">
                                  <p:stCondLst>
                                    <p:cond delay="0"/>
                                  </p:stCondLst>
                                  <p:childTnLst>
                                    <p:set>
                                      <p:cBhvr>
                                        <p:cTn id="151" dur="1" fill="hold">
                                          <p:stCondLst>
                                            <p:cond delay="0"/>
                                          </p:stCondLst>
                                        </p:cTn>
                                        <p:tgtEl>
                                          <p:spTgt spid="39"/>
                                        </p:tgtEl>
                                        <p:attrNameLst>
                                          <p:attrName>style.visibility</p:attrName>
                                        </p:attrNameLst>
                                      </p:cBhvr>
                                      <p:to>
                                        <p:strVal val="visible"/>
                                      </p:to>
                                    </p:set>
                                    <p:animEffect transition="in" filter="fade">
                                      <p:cBhvr>
                                        <p:cTn id="152" dur="550"/>
                                        <p:tgtEl>
                                          <p:spTgt spid="39"/>
                                        </p:tgtEl>
                                      </p:cBhvr>
                                    </p:animEffect>
                                    <p:anim calcmode="lin" valueType="num">
                                      <p:cBhvr additive="base">
                                        <p:cTn id="153" dur="550" fill="hold"/>
                                        <p:tgtEl>
                                          <p:spTgt spid="39"/>
                                        </p:tgtEl>
                                        <p:attrNameLst>
                                          <p:attrName>ppt_w</p:attrName>
                                        </p:attrNameLst>
                                      </p:cBhvr>
                                      <p:tavLst>
                                        <p:tav tm="0">
                                          <p:val>
                                            <p:strVal val="0"/>
                                          </p:val>
                                        </p:tav>
                                        <p:tav tm="100000">
                                          <p:val>
                                            <p:strVal val="#ppt_w"/>
                                          </p:val>
                                        </p:tav>
                                      </p:tavLst>
                                    </p:anim>
                                    <p:anim calcmode="lin" valueType="num">
                                      <p:cBhvr additive="base">
                                        <p:cTn id="154" dur="550" fill="hold"/>
                                        <p:tgtEl>
                                          <p:spTgt spid="39"/>
                                        </p:tgtEl>
                                        <p:attrNameLst>
                                          <p:attrName>ppt_h</p:attrName>
                                        </p:attrNameLst>
                                      </p:cBhvr>
                                      <p:tavLst>
                                        <p:tav tm="0">
                                          <p:val>
                                            <p:strVal val="0"/>
                                          </p:val>
                                        </p:tav>
                                        <p:tav tm="100000">
                                          <p:val>
                                            <p:strVal val="#ppt_h"/>
                                          </p:val>
                                        </p:tav>
                                      </p:tavLst>
                                    </p:anim>
                                  </p:childTnLst>
                                </p:cTn>
                              </p:par>
                            </p:childTnLst>
                          </p:cTn>
                        </p:par>
                        <p:par>
                          <p:cTn id="155" fill="hold">
                            <p:stCondLst>
                              <p:cond delay="150"/>
                            </p:stCondLst>
                            <p:childTnLst>
                              <p:par>
                                <p:cTn id="156" presetID="10" presetClass="entr" presetSubtype="0" fill="hold" grpId="0" nodeType="afterEffect">
                                  <p:stCondLst>
                                    <p:cond delay="0"/>
                                  </p:stCondLst>
                                  <p:childTnLst>
                                    <p:set>
                                      <p:cBhvr>
                                        <p:cTn id="157" dur="1" fill="hold">
                                          <p:stCondLst>
                                            <p:cond delay="0"/>
                                          </p:stCondLst>
                                        </p:cTn>
                                        <p:tgtEl>
                                          <p:spTgt spid="40"/>
                                        </p:tgtEl>
                                        <p:attrNameLst>
                                          <p:attrName>style.visibility</p:attrName>
                                        </p:attrNameLst>
                                      </p:cBhvr>
                                      <p:to>
                                        <p:strVal val="visible"/>
                                      </p:to>
                                    </p:set>
                                    <p:animEffect transition="in" filter="fade">
                                      <p:cBhvr>
                                        <p:cTn id="158" dur="550"/>
                                        <p:tgtEl>
                                          <p:spTgt spid="40"/>
                                        </p:tgtEl>
                                      </p:cBhvr>
                                    </p:animEffect>
                                  </p:childTnLst>
                                </p:cTn>
                              </p:par>
                            </p:childTnLst>
                          </p:cTn>
                        </p:par>
                        <p:par>
                          <p:cTn id="159" fill="hold">
                            <p:stCondLst>
                              <p:cond delay="350"/>
                            </p:stCondLst>
                            <p:childTnLst>
                              <p:par>
                                <p:cTn id="160" presetID="53" presetClass="entr" presetSubtype="16" fill="hold" grpId="0" nodeType="afterEffect">
                                  <p:stCondLst>
                                    <p:cond delay="0"/>
                                  </p:stCondLst>
                                  <p:childTnLst>
                                    <p:set>
                                      <p:cBhvr>
                                        <p:cTn id="161" dur="1" fill="hold">
                                          <p:stCondLst>
                                            <p:cond delay="0"/>
                                          </p:stCondLst>
                                        </p:cTn>
                                        <p:tgtEl>
                                          <p:spTgt spid="41"/>
                                        </p:tgtEl>
                                        <p:attrNameLst>
                                          <p:attrName>style.visibility</p:attrName>
                                        </p:attrNameLst>
                                      </p:cBhvr>
                                      <p:to>
                                        <p:strVal val="visible"/>
                                      </p:to>
                                    </p:set>
                                    <p:animEffect transition="in" filter="fade">
                                      <p:cBhvr>
                                        <p:cTn id="162" dur="550"/>
                                        <p:tgtEl>
                                          <p:spTgt spid="41"/>
                                        </p:tgtEl>
                                      </p:cBhvr>
                                    </p:animEffect>
                                    <p:anim calcmode="lin" valueType="num">
                                      <p:cBhvr additive="base">
                                        <p:cTn id="163" dur="550" fill="hold"/>
                                        <p:tgtEl>
                                          <p:spTgt spid="41"/>
                                        </p:tgtEl>
                                        <p:attrNameLst>
                                          <p:attrName>ppt_w</p:attrName>
                                        </p:attrNameLst>
                                      </p:cBhvr>
                                      <p:tavLst>
                                        <p:tav tm="0">
                                          <p:val>
                                            <p:strVal val="0"/>
                                          </p:val>
                                        </p:tav>
                                        <p:tav tm="100000">
                                          <p:val>
                                            <p:strVal val="#ppt_w"/>
                                          </p:val>
                                        </p:tav>
                                      </p:tavLst>
                                    </p:anim>
                                    <p:anim calcmode="lin" valueType="num">
                                      <p:cBhvr additive="base">
                                        <p:cTn id="164" dur="550" fill="hold"/>
                                        <p:tgtEl>
                                          <p:spTgt spid="41"/>
                                        </p:tgtEl>
                                        <p:attrNameLst>
                                          <p:attrName>ppt_h</p:attrName>
                                        </p:attrNameLst>
                                      </p:cBhvr>
                                      <p:tavLst>
                                        <p:tav tm="0">
                                          <p:val>
                                            <p:strVal val="0"/>
                                          </p:val>
                                        </p:tav>
                                        <p:tav tm="100000">
                                          <p:val>
                                            <p:strVal val="#ppt_h"/>
                                          </p:val>
                                        </p:tav>
                                      </p:tavLst>
                                    </p:anim>
                                  </p:childTnLst>
                                </p:cTn>
                              </p:par>
                            </p:childTnLst>
                          </p:cTn>
                        </p:par>
                        <p:par>
                          <p:cTn id="165" fill="hold">
                            <p:stCondLst>
                              <p:cond delay="450"/>
                            </p:stCondLst>
                            <p:childTnLst>
                              <p:par>
                                <p:cTn id="166" presetID="10" presetClass="entr" presetSubtype="0" fill="hold" grpId="0" nodeType="afterEffect">
                                  <p:stCondLst>
                                    <p:cond delay="0"/>
                                  </p:stCondLst>
                                  <p:childTnLst>
                                    <p:set>
                                      <p:cBhvr>
                                        <p:cTn id="167" dur="1" fill="hold">
                                          <p:stCondLst>
                                            <p:cond delay="0"/>
                                          </p:stCondLst>
                                        </p:cTn>
                                        <p:tgtEl>
                                          <p:spTgt spid="42"/>
                                        </p:tgtEl>
                                        <p:attrNameLst>
                                          <p:attrName>style.visibility</p:attrName>
                                        </p:attrNameLst>
                                      </p:cBhvr>
                                      <p:to>
                                        <p:strVal val="visible"/>
                                      </p:to>
                                    </p:set>
                                    <p:animEffect transition="in" filter="fade">
                                      <p:cBhvr>
                                        <p:cTn id="168" dur="550"/>
                                        <p:tgtEl>
                                          <p:spTgt spid="42"/>
                                        </p:tgtEl>
                                      </p:cBhvr>
                                    </p:animEffect>
                                  </p:childTnLst>
                                </p:cTn>
                              </p:par>
                            </p:childTnLst>
                          </p:cTn>
                        </p:par>
                        <p:par>
                          <p:cTn id="169" fill="hold">
                            <p:stCondLst>
                              <p:cond delay="550"/>
                            </p:stCondLst>
                            <p:childTnLst>
                              <p:par>
                                <p:cTn id="170" presetID="2" presetClass="entr" presetSubtype="8" fill="hold" grpId="0" nodeType="afterEffect">
                                  <p:stCondLst>
                                    <p:cond delay="0"/>
                                  </p:stCondLst>
                                  <p:childTnLst>
                                    <p:set>
                                      <p:cBhvr>
                                        <p:cTn id="171" dur="1" fill="hold">
                                          <p:stCondLst>
                                            <p:cond delay="0"/>
                                          </p:stCondLst>
                                        </p:cTn>
                                        <p:tgtEl>
                                          <p:spTgt spid="43"/>
                                        </p:tgtEl>
                                        <p:attrNameLst>
                                          <p:attrName>style.visibility</p:attrName>
                                        </p:attrNameLst>
                                      </p:cBhvr>
                                      <p:to>
                                        <p:strVal val="visible"/>
                                      </p:to>
                                    </p:set>
                                    <p:anim calcmode="lin" valueType="num">
                                      <p:cBhvr additive="base">
                                        <p:cTn id="173" dur="550" fill="hold"/>
                                        <p:tgtEl>
                                          <p:spTgt spid="43"/>
                                        </p:tgtEl>
                                        <p:attrNameLst>
                                          <p:attrName>ppt_x</p:attrName>
                                        </p:attrNameLst>
                                      </p:cBhvr>
                                      <p:tavLst>
                                        <p:tav tm="0">
                                          <p:val>
                                            <p:strVal val="0-#ppt_w/2"/>
                                          </p:val>
                                        </p:tav>
                                        <p:tav tm="100000">
                                          <p:val>
                                            <p:strVal val="#ppt_x"/>
                                          </p:val>
                                        </p:tav>
                                      </p:tavLst>
                                    </p:anim>
                                    <p:anim calcmode="lin" valueType="num">
                                      <p:cBhvr additive="base">
                                        <p:cTn id="174" dur="550" fill="hold"/>
                                        <p:tgtEl>
                                          <p:spTgt spid="43"/>
                                        </p:tgtEl>
                                        <p:attrNameLst>
                                          <p:attrName>ppt_y</p:attrName>
                                        </p:attrNameLst>
                                      </p:cBhvr>
                                      <p:tavLst>
                                        <p:tav tm="0">
                                          <p:val>
                                            <p:strVal val="#ppt_y"/>
                                          </p:val>
                                        </p:tav>
                                        <p:tav tm="100000">
                                          <p:val>
                                            <p:strVal val="#ppt_y"/>
                                          </p:val>
                                        </p:tav>
                                      </p:tavLst>
                                    </p:anim>
                                  </p:childTnLst>
                                </p:cTn>
                              </p:par>
                            </p:childTnLst>
                          </p:cTn>
                        </p:par>
                        <p:par>
                          <p:cTn id="175" fill="hold">
                            <p:stCondLst>
                              <p:cond delay="650"/>
                            </p:stCondLst>
                            <p:childTnLst>
                              <p:par>
                                <p:cTn id="176" presetID="22" presetClass="entr" presetSubtype="8" fill="hold" grpId="0" nodeType="afterEffect">
                                  <p:stCondLst>
                                    <p:cond delay="0"/>
                                  </p:stCondLst>
                                  <p:childTnLst>
                                    <p:set>
                                      <p:cBhvr>
                                        <p:cTn id="177" dur="1" fill="hold">
                                          <p:stCondLst>
                                            <p:cond delay="0"/>
                                          </p:stCondLst>
                                        </p:cTn>
                                        <p:tgtEl>
                                          <p:spTgt spid="44"/>
                                        </p:tgtEl>
                                        <p:attrNameLst>
                                          <p:attrName>style.visibility</p:attrName>
                                        </p:attrNameLst>
                                      </p:cBhvr>
                                      <p:to>
                                        <p:strVal val="visible"/>
                                      </p:to>
                                    </p:set>
                                    <p:animEffect transition="in" filter="wipe(left)">
                                      <p:cBhvr>
                                        <p:cTn id="179" dur="8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40" grpId="0" animBg="1"/>
      <p:bldP spid="41" grpId="0" animBg="1"/>
      <p:bldP spid="42" grpId="0" animBg="1"/>
      <p:bldP spid="43" grpId="0" animBg="1"/>
      <p:bldP spid="44"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Arxitekturalarni qiyosiy tahlil qilish</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18</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63f824eafe067fe7.jpg"/>
          <p:cNvPicPr>
            <a:picLocks noChangeAspect="1"/>
          </p:cNvPicPr>
          <p:nvPr/>
        </p:nvPicPr>
        <p:blipFill>
          <a:blip r:embed="rId2"/>
          <a:srcRect l="31648" r="31648"/>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Popolon · Wikimedia Commons · CC0</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497992"/>
            <a:ext cx="50000" cy="2584016"/>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2" name="TextBox 31"/>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Jadval umumiy qonuniyatni ko'rsatadi: ixtisoslashuv oshgan sari samaradorlik oshadi, moslashuvchanlik kamayadi.</a:t>
            </a:r>
          </a:p>
          <a:p>
            <a:pPr>
              <a:spcBef>
                <a:spcPts val="400"/>
              </a:spcBef>
            </a:pPr>
            <a:r>
              <a:rPr sz="1600">
                <a:solidFill>
                  <a:srgbClr val="AEBBD9"/>
                </a:solidFill>
                <a:latin typeface="Segoe UI"/>
              </a:rPr>
              <a:t>Hennessy va Patterson [1] sohaga xos arxitekturalar samaradorligining beshta manbasini sanaydilar: sohaga xos parallellikdan foydalanish, xotira iyerarxiyasini dasturchi boshqarishi, keraksiz aniqlikdan voz kechish, sohaga xos dasturlash tili va kesh/bashorat kabi umumiy mexanizmlardan voz kechish.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6-REJA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Arxitekturalarni qiyosiy tahlil qilish</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19</a:t>
            </a:r>
          </a:p>
        </p:txBody>
      </p:sp>
      <p:graphicFrame>
        <p:nvGraphicFramePr>
          <p:cNvPr id="23" name="Table 22"/>
          <p:cNvGraphicFramePr>
            <a:graphicFrameLocks noGrp="1"/>
          </p:cNvGraphicFramePr>
          <p:nvPr/>
        </p:nvGraphicFramePr>
        <p:xfrm>
          <a:off x="550000" y="1400000"/>
          <a:ext cx="11100000" cy="4680000"/>
        </p:xfrm>
        <a:graphic>
          <a:graphicData uri="http://schemas.openxmlformats.org/drawingml/2006/table">
            <a:tbl>
              <a:tblPr firstRow="1" bandRow="1">
                <a:tableStyleId>{5C22544A-7EE6-4342-B048-85BDC9FD1C3A}</a:tableStyleId>
              </a:tblPr>
              <a:tblGrid>
                <a:gridCol w="1850000"/>
                <a:gridCol w="1850000"/>
                <a:gridCol w="1850000"/>
                <a:gridCol w="1850000"/>
                <a:gridCol w="1850000"/>
                <a:gridCol w="1850000"/>
              </a:tblGrid>
              <a:tr h="520000">
                <a:tc>
                  <a:txBody>
                    <a:bodyPr/>
                    <a:lstStyle/>
                    <a:p>
                      <a:r>
                        <a:rPr sz="1200" b="1">
                          <a:solidFill>
                            <a:srgbClr val="22D3EE"/>
                          </a:solidFill>
                          <a:latin typeface="Segoe UI"/>
                        </a:rPr>
                        <a:t>Mezon</a:t>
                      </a:r>
                    </a:p>
                  </a:txBody>
                  <a:tcPr>
                    <a:solidFill>
                      <a:srgbClr val="1C2755"/>
                    </a:solidFill>
                  </a:tcPr>
                </a:tc>
                <a:tc>
                  <a:txBody>
                    <a:bodyPr/>
                    <a:lstStyle/>
                    <a:p>
                      <a:r>
                        <a:rPr sz="1200" b="1">
                          <a:solidFill>
                            <a:srgbClr val="22D3EE"/>
                          </a:solidFill>
                          <a:latin typeface="Segoe UI"/>
                        </a:rPr>
                        <a:t>CPU</a:t>
                      </a:r>
                    </a:p>
                  </a:txBody>
                  <a:tcPr>
                    <a:solidFill>
                      <a:srgbClr val="1C2755"/>
                    </a:solidFill>
                  </a:tcPr>
                </a:tc>
                <a:tc>
                  <a:txBody>
                    <a:bodyPr/>
                    <a:lstStyle/>
                    <a:p>
                      <a:r>
                        <a:rPr sz="1200" b="1">
                          <a:solidFill>
                            <a:srgbClr val="22D3EE"/>
                          </a:solidFill>
                          <a:latin typeface="Segoe UI"/>
                        </a:rPr>
                        <a:t>GPU</a:t>
                      </a:r>
                    </a:p>
                  </a:txBody>
                  <a:tcPr>
                    <a:solidFill>
                      <a:srgbClr val="1C2755"/>
                    </a:solidFill>
                  </a:tcPr>
                </a:tc>
                <a:tc>
                  <a:txBody>
                    <a:bodyPr/>
                    <a:lstStyle/>
                    <a:p>
                      <a:r>
                        <a:rPr sz="1200" b="1">
                          <a:solidFill>
                            <a:srgbClr val="22D3EE"/>
                          </a:solidFill>
                          <a:latin typeface="Segoe UI"/>
                        </a:rPr>
                        <a:t>TPU (ASIC)</a:t>
                      </a:r>
                    </a:p>
                  </a:txBody>
                  <a:tcPr>
                    <a:solidFill>
                      <a:srgbClr val="1C2755"/>
                    </a:solidFill>
                  </a:tcPr>
                </a:tc>
                <a:tc>
                  <a:txBody>
                    <a:bodyPr/>
                    <a:lstStyle/>
                    <a:p>
                      <a:r>
                        <a:rPr sz="1200" b="1">
                          <a:solidFill>
                            <a:srgbClr val="22D3EE"/>
                          </a:solidFill>
                          <a:latin typeface="Segoe UI"/>
                        </a:rPr>
                        <a:t>NPU (SoC)</a:t>
                      </a:r>
                    </a:p>
                  </a:txBody>
                  <a:tcPr>
                    <a:solidFill>
                      <a:srgbClr val="1C2755"/>
                    </a:solidFill>
                  </a:tcPr>
                </a:tc>
                <a:tc>
                  <a:txBody>
                    <a:bodyPr/>
                    <a:lstStyle/>
                    <a:p>
                      <a:r>
                        <a:rPr sz="1200" b="1">
                          <a:solidFill>
                            <a:srgbClr val="22D3EE"/>
                          </a:solidFill>
                          <a:latin typeface="Segoe UI"/>
                        </a:rPr>
                        <a:t>FPGA</a:t>
                      </a:r>
                    </a:p>
                  </a:txBody>
                  <a:tcPr>
                    <a:solidFill>
                      <a:srgbClr val="1C2755"/>
                    </a:solidFill>
                  </a:tcPr>
                </a:tc>
              </a:tr>
              <a:tr h="520000">
                <a:tc>
                  <a:txBody>
                    <a:bodyPr/>
                    <a:lstStyle/>
                    <a:p>
                      <a:r>
                        <a:rPr sz="1200" b="0">
                          <a:solidFill>
                            <a:srgbClr val="E8EEFA"/>
                          </a:solidFill>
                          <a:latin typeface="Segoe UI"/>
                        </a:rPr>
                        <a:t>Parallellik modeli</a:t>
                      </a:r>
                    </a:p>
                  </a:txBody>
                  <a:tcPr>
                    <a:solidFill>
                      <a:srgbClr val="111834"/>
                    </a:solidFill>
                  </a:tcPr>
                </a:tc>
                <a:tc>
                  <a:txBody>
                    <a:bodyPr/>
                    <a:lstStyle/>
                    <a:p>
                      <a:r>
                        <a:rPr sz="1200" b="0">
                          <a:solidFill>
                            <a:srgbClr val="E8EEFA"/>
                          </a:solidFill>
                          <a:latin typeface="Segoe UI"/>
                        </a:rPr>
                        <a:t>Ko'p yadro + SIMD/AMX</a:t>
                      </a:r>
                    </a:p>
                  </a:txBody>
                  <a:tcPr>
                    <a:solidFill>
                      <a:srgbClr val="111834"/>
                    </a:solidFill>
                  </a:tcPr>
                </a:tc>
                <a:tc>
                  <a:txBody>
                    <a:bodyPr/>
                    <a:lstStyle/>
                    <a:p>
                      <a:r>
                        <a:rPr sz="1200" b="0">
                          <a:solidFill>
                            <a:srgbClr val="E8EEFA"/>
                          </a:solidFill>
                          <a:latin typeface="Segoe UI"/>
                        </a:rPr>
                        <a:t>SIMT, minglab oqim</a:t>
                      </a:r>
                    </a:p>
                  </a:txBody>
                  <a:tcPr>
                    <a:solidFill>
                      <a:srgbClr val="111834"/>
                    </a:solidFill>
                  </a:tcPr>
                </a:tc>
                <a:tc>
                  <a:txBody>
                    <a:bodyPr/>
                    <a:lstStyle/>
                    <a:p>
                      <a:r>
                        <a:rPr sz="1200" b="0">
                          <a:solidFill>
                            <a:srgbClr val="E8EEFA"/>
                          </a:solidFill>
                          <a:latin typeface="Segoe UI"/>
                        </a:rPr>
                        <a:t>Sistolik massiv, kompilyator rejalashtiradi</a:t>
                      </a:r>
                    </a:p>
                  </a:txBody>
                  <a:tcPr>
                    <a:solidFill>
                      <a:srgbClr val="111834"/>
                    </a:solidFill>
                  </a:tcPr>
                </a:tc>
                <a:tc>
                  <a:txBody>
                    <a:bodyPr/>
                    <a:lstStyle/>
                    <a:p>
                      <a:r>
                        <a:rPr sz="1200" b="0">
                          <a:solidFill>
                            <a:srgbClr val="E8EEFA"/>
                          </a:solidFill>
                          <a:latin typeface="Segoe UI"/>
                        </a:rPr>
                        <a:t>Kichik matritsa bloklari</a:t>
                      </a:r>
                    </a:p>
                  </a:txBody>
                  <a:tcPr>
                    <a:solidFill>
                      <a:srgbClr val="111834"/>
                    </a:solidFill>
                  </a:tcPr>
                </a:tc>
                <a:tc>
                  <a:txBody>
                    <a:bodyPr/>
                    <a:lstStyle/>
                    <a:p>
                      <a:r>
                        <a:rPr sz="1200" b="0">
                          <a:solidFill>
                            <a:srgbClr val="E8EEFA"/>
                          </a:solidFill>
                          <a:latin typeface="Segoe UI"/>
                        </a:rPr>
                        <a:t>Ixtiyoriy, dasturchi quradi</a:t>
                      </a:r>
                    </a:p>
                  </a:txBody>
                  <a:tcPr>
                    <a:solidFill>
                      <a:srgbClr val="111834"/>
                    </a:solidFill>
                  </a:tcPr>
                </a:tc>
              </a:tr>
              <a:tr h="520000">
                <a:tc>
                  <a:txBody>
                    <a:bodyPr/>
                    <a:lstStyle/>
                    <a:p>
                      <a:r>
                        <a:rPr sz="1200" b="0">
                          <a:solidFill>
                            <a:srgbClr val="E8EEFA"/>
                          </a:solidFill>
                          <a:latin typeface="Segoe UI"/>
                        </a:rPr>
                        <a:t>Tipik aniqlik</a:t>
                      </a:r>
                    </a:p>
                  </a:txBody>
                  <a:tcPr>
                    <a:solidFill>
                      <a:srgbClr val="161F40"/>
                    </a:solidFill>
                  </a:tcPr>
                </a:tc>
                <a:tc>
                  <a:txBody>
                    <a:bodyPr/>
                    <a:lstStyle/>
                    <a:p>
                      <a:r>
                        <a:rPr sz="1200" b="0">
                          <a:solidFill>
                            <a:srgbClr val="E8EEFA"/>
                          </a:solidFill>
                          <a:latin typeface="Segoe UI"/>
                        </a:rPr>
                        <a:t>FP64/FP32/BF16/INT8</a:t>
                      </a:r>
                    </a:p>
                  </a:txBody>
                  <a:tcPr>
                    <a:solidFill>
                      <a:srgbClr val="161F40"/>
                    </a:solidFill>
                  </a:tcPr>
                </a:tc>
                <a:tc>
                  <a:txBody>
                    <a:bodyPr/>
                    <a:lstStyle/>
                    <a:p>
                      <a:r>
                        <a:rPr sz="1200" b="0">
                          <a:solidFill>
                            <a:srgbClr val="E8EEFA"/>
                          </a:solidFill>
                          <a:latin typeface="Segoe UI"/>
                        </a:rPr>
                        <a:t>FP64…FP8/INT8</a:t>
                      </a:r>
                    </a:p>
                  </a:txBody>
                  <a:tcPr>
                    <a:solidFill>
                      <a:srgbClr val="161F40"/>
                    </a:solidFill>
                  </a:tcPr>
                </a:tc>
                <a:tc>
                  <a:txBody>
                    <a:bodyPr/>
                    <a:lstStyle/>
                    <a:p>
                      <a:r>
                        <a:rPr sz="1200" b="0">
                          <a:solidFill>
                            <a:srgbClr val="E8EEFA"/>
                          </a:solidFill>
                          <a:latin typeface="Segoe UI"/>
                        </a:rPr>
                        <a:t>BF16/INT8</a:t>
                      </a:r>
                    </a:p>
                  </a:txBody>
                  <a:tcPr>
                    <a:solidFill>
                      <a:srgbClr val="161F40"/>
                    </a:solidFill>
                  </a:tcPr>
                </a:tc>
                <a:tc>
                  <a:txBody>
                    <a:bodyPr/>
                    <a:lstStyle/>
                    <a:p>
                      <a:r>
                        <a:rPr sz="1200" b="0">
                          <a:solidFill>
                            <a:srgbClr val="E8EEFA"/>
                          </a:solidFill>
                          <a:latin typeface="Segoe UI"/>
                        </a:rPr>
                        <a:t>INT8/INT4/FP16</a:t>
                      </a:r>
                    </a:p>
                  </a:txBody>
                  <a:tcPr>
                    <a:solidFill>
                      <a:srgbClr val="161F40"/>
                    </a:solidFill>
                  </a:tcPr>
                </a:tc>
                <a:tc>
                  <a:txBody>
                    <a:bodyPr/>
                    <a:lstStyle/>
                    <a:p>
                      <a:r>
                        <a:rPr sz="1200" b="0">
                          <a:solidFill>
                            <a:srgbClr val="E8EEFA"/>
                          </a:solidFill>
                          <a:latin typeface="Segoe UI"/>
                        </a:rPr>
                        <a:t>Ixtiyoriy (1–32 bit)</a:t>
                      </a:r>
                    </a:p>
                  </a:txBody>
                  <a:tcPr>
                    <a:solidFill>
                      <a:srgbClr val="161F40"/>
                    </a:solidFill>
                  </a:tcPr>
                </a:tc>
              </a:tr>
              <a:tr h="520000">
                <a:tc>
                  <a:txBody>
                    <a:bodyPr/>
                    <a:lstStyle/>
                    <a:p>
                      <a:r>
                        <a:rPr sz="1200" b="0">
                          <a:solidFill>
                            <a:srgbClr val="E8EEFA"/>
                          </a:solidFill>
                          <a:latin typeface="Segoe UI"/>
                        </a:rPr>
                        <a:t>Xotira o'tkazuvchanligi</a:t>
                      </a:r>
                    </a:p>
                  </a:txBody>
                  <a:tcPr>
                    <a:solidFill>
                      <a:srgbClr val="111834"/>
                    </a:solidFill>
                  </a:tcPr>
                </a:tc>
                <a:tc>
                  <a:txBody>
                    <a:bodyPr/>
                    <a:lstStyle/>
                    <a:p>
                      <a:r>
                        <a:rPr sz="1200" b="0">
                          <a:solidFill>
                            <a:srgbClr val="E8EEFA"/>
                          </a:solidFill>
                          <a:latin typeface="Segoe UI"/>
                        </a:rPr>
                        <a:t>0,3–0,5 TB/s (DDR5)</a:t>
                      </a:r>
                    </a:p>
                  </a:txBody>
                  <a:tcPr>
                    <a:solidFill>
                      <a:srgbClr val="111834"/>
                    </a:solidFill>
                  </a:tcPr>
                </a:tc>
                <a:tc>
                  <a:txBody>
                    <a:bodyPr/>
                    <a:lstStyle/>
                    <a:p>
                      <a:r>
                        <a:rPr sz="1200" b="0">
                          <a:solidFill>
                            <a:srgbClr val="E8EEFA"/>
                          </a:solidFill>
                          <a:latin typeface="Segoe UI"/>
                        </a:rPr>
                        <a:t>2–8 TB/s (HBM)</a:t>
                      </a:r>
                    </a:p>
                  </a:txBody>
                  <a:tcPr>
                    <a:solidFill>
                      <a:srgbClr val="111834"/>
                    </a:solidFill>
                  </a:tcPr>
                </a:tc>
                <a:tc>
                  <a:txBody>
                    <a:bodyPr/>
                    <a:lstStyle/>
                    <a:p>
                      <a:r>
                        <a:rPr sz="1200" b="0">
                          <a:solidFill>
                            <a:srgbClr val="E8EEFA"/>
                          </a:solidFill>
                          <a:latin typeface="Segoe UI"/>
                        </a:rPr>
                        <a:t>0,8–2,8 TB/s (HBM)</a:t>
                      </a:r>
                    </a:p>
                  </a:txBody>
                  <a:tcPr>
                    <a:solidFill>
                      <a:srgbClr val="111834"/>
                    </a:solidFill>
                  </a:tcPr>
                </a:tc>
                <a:tc>
                  <a:txBody>
                    <a:bodyPr/>
                    <a:lstStyle/>
                    <a:p>
                      <a:r>
                        <a:rPr sz="1200" b="0">
                          <a:solidFill>
                            <a:srgbClr val="E8EEFA"/>
                          </a:solidFill>
                          <a:latin typeface="Segoe UI"/>
                        </a:rPr>
                        <a:t>0,05–0,2 TB/s (LPDDR)</a:t>
                      </a:r>
                    </a:p>
                  </a:txBody>
                  <a:tcPr>
                    <a:solidFill>
                      <a:srgbClr val="111834"/>
                    </a:solidFill>
                  </a:tcPr>
                </a:tc>
                <a:tc>
                  <a:txBody>
                    <a:bodyPr/>
                    <a:lstStyle/>
                    <a:p>
                      <a:r>
                        <a:rPr sz="1200" b="0">
                          <a:solidFill>
                            <a:srgbClr val="E8EEFA"/>
                          </a:solidFill>
                          <a:latin typeface="Segoe UI"/>
                        </a:rPr>
                        <a:t>On-chip BRAM + DDR</a:t>
                      </a:r>
                    </a:p>
                  </a:txBody>
                  <a:tcPr>
                    <a:solidFill>
                      <a:srgbClr val="111834"/>
                    </a:solidFill>
                  </a:tcPr>
                </a:tc>
              </a:tr>
              <a:tr h="520000">
                <a:tc>
                  <a:txBody>
                    <a:bodyPr/>
                    <a:lstStyle/>
                    <a:p>
                      <a:r>
                        <a:rPr sz="1200" b="0">
                          <a:solidFill>
                            <a:srgbClr val="E8EEFA"/>
                          </a:solidFill>
                          <a:latin typeface="Segoe UI"/>
                        </a:rPr>
                        <a:t>Dasturlanuvchanlik</a:t>
                      </a:r>
                    </a:p>
                  </a:txBody>
                  <a:tcPr>
                    <a:solidFill>
                      <a:srgbClr val="161F40"/>
                    </a:solidFill>
                  </a:tcPr>
                </a:tc>
                <a:tc>
                  <a:txBody>
                    <a:bodyPr/>
                    <a:lstStyle/>
                    <a:p>
                      <a:r>
                        <a:rPr sz="1200" b="0">
                          <a:solidFill>
                            <a:srgbClr val="E8EEFA"/>
                          </a:solidFill>
                          <a:latin typeface="Segoe UI"/>
                        </a:rPr>
                        <a:t>Eng yuqori</a:t>
                      </a:r>
                    </a:p>
                  </a:txBody>
                  <a:tcPr>
                    <a:solidFill>
                      <a:srgbClr val="161F40"/>
                    </a:solidFill>
                  </a:tcPr>
                </a:tc>
                <a:tc>
                  <a:txBody>
                    <a:bodyPr/>
                    <a:lstStyle/>
                    <a:p>
                      <a:r>
                        <a:rPr sz="1200" b="0">
                          <a:solidFill>
                            <a:srgbClr val="E8EEFA"/>
                          </a:solidFill>
                          <a:latin typeface="Segoe UI"/>
                        </a:rPr>
                        <a:t>Yuqori (CUDA, ROCm)</a:t>
                      </a:r>
                    </a:p>
                  </a:txBody>
                  <a:tcPr>
                    <a:solidFill>
                      <a:srgbClr val="161F40"/>
                    </a:solidFill>
                  </a:tcPr>
                </a:tc>
                <a:tc>
                  <a:txBody>
                    <a:bodyPr/>
                    <a:lstStyle/>
                    <a:p>
                      <a:r>
                        <a:rPr sz="1200" b="0">
                          <a:solidFill>
                            <a:srgbClr val="E8EEFA"/>
                          </a:solidFill>
                          <a:latin typeface="Segoe UI"/>
                        </a:rPr>
                        <a:t>Kompilyator orqali (XLA)</a:t>
                      </a:r>
                    </a:p>
                  </a:txBody>
                  <a:tcPr>
                    <a:solidFill>
                      <a:srgbClr val="161F40"/>
                    </a:solidFill>
                  </a:tcPr>
                </a:tc>
                <a:tc>
                  <a:txBody>
                    <a:bodyPr/>
                    <a:lstStyle/>
                    <a:p>
                      <a:r>
                        <a:rPr sz="1200" b="0">
                          <a:solidFill>
                            <a:srgbClr val="E8EEFA"/>
                          </a:solidFill>
                          <a:latin typeface="Segoe UI"/>
                        </a:rPr>
                        <a:t>Faqat SDK</a:t>
                      </a:r>
                    </a:p>
                  </a:txBody>
                  <a:tcPr>
                    <a:solidFill>
                      <a:srgbClr val="161F40"/>
                    </a:solidFill>
                  </a:tcPr>
                </a:tc>
                <a:tc>
                  <a:txBody>
                    <a:bodyPr/>
                    <a:lstStyle/>
                    <a:p>
                      <a:r>
                        <a:rPr sz="1200" b="0">
                          <a:solidFill>
                            <a:srgbClr val="E8EEFA"/>
                          </a:solidFill>
                          <a:latin typeface="Segoe UI"/>
                        </a:rPr>
                        <a:t>Past (HDL/HLS)</a:t>
                      </a:r>
                    </a:p>
                  </a:txBody>
                  <a:tcPr>
                    <a:solidFill>
                      <a:srgbClr val="161F40"/>
                    </a:solidFill>
                  </a:tcPr>
                </a:tc>
              </a:tr>
              <a:tr h="520000">
                <a:tc>
                  <a:txBody>
                    <a:bodyPr/>
                    <a:lstStyle/>
                    <a:p>
                      <a:r>
                        <a:rPr sz="1200" b="0">
                          <a:solidFill>
                            <a:srgbClr val="E8EEFA"/>
                          </a:solidFill>
                          <a:latin typeface="Segoe UI"/>
                        </a:rPr>
                        <a:t>Energiya samaradorligi</a:t>
                      </a:r>
                    </a:p>
                  </a:txBody>
                  <a:tcPr>
                    <a:solidFill>
                      <a:srgbClr val="111834"/>
                    </a:solidFill>
                  </a:tcPr>
                </a:tc>
                <a:tc>
                  <a:txBody>
                    <a:bodyPr/>
                    <a:lstStyle/>
                    <a:p>
                      <a:r>
                        <a:rPr sz="1200" b="0">
                          <a:solidFill>
                            <a:srgbClr val="E8EEFA"/>
                          </a:solidFill>
                          <a:latin typeface="Segoe UI"/>
                        </a:rPr>
                        <a:t>Past</a:t>
                      </a:r>
                    </a:p>
                  </a:txBody>
                  <a:tcPr>
                    <a:solidFill>
                      <a:srgbClr val="111834"/>
                    </a:solidFill>
                  </a:tcPr>
                </a:tc>
                <a:tc>
                  <a:txBody>
                    <a:bodyPr/>
                    <a:lstStyle/>
                    <a:p>
                      <a:r>
                        <a:rPr sz="1200" b="0">
                          <a:solidFill>
                            <a:srgbClr val="E8EEFA"/>
                          </a:solidFill>
                          <a:latin typeface="Segoe UI"/>
                        </a:rPr>
                        <a:t>O'rta</a:t>
                      </a:r>
                    </a:p>
                  </a:txBody>
                  <a:tcPr>
                    <a:solidFill>
                      <a:srgbClr val="111834"/>
                    </a:solidFill>
                  </a:tcPr>
                </a:tc>
                <a:tc>
                  <a:txBody>
                    <a:bodyPr/>
                    <a:lstStyle/>
                    <a:p>
                      <a:r>
                        <a:rPr sz="1200" b="0">
                          <a:solidFill>
                            <a:srgbClr val="E8EEFA"/>
                          </a:solidFill>
                          <a:latin typeface="Segoe UI"/>
                        </a:rPr>
                        <a:t>Yuqori</a:t>
                      </a:r>
                    </a:p>
                  </a:txBody>
                  <a:tcPr>
                    <a:solidFill>
                      <a:srgbClr val="111834"/>
                    </a:solidFill>
                  </a:tcPr>
                </a:tc>
                <a:tc>
                  <a:txBody>
                    <a:bodyPr/>
                    <a:lstStyle/>
                    <a:p>
                      <a:r>
                        <a:rPr sz="1200" b="0">
                          <a:solidFill>
                            <a:srgbClr val="E8EEFA"/>
                          </a:solidFill>
                          <a:latin typeface="Segoe UI"/>
                        </a:rPr>
                        <a:t>Juda yuqori (vatt boshiga)</a:t>
                      </a:r>
                    </a:p>
                  </a:txBody>
                  <a:tcPr>
                    <a:solidFill>
                      <a:srgbClr val="111834"/>
                    </a:solidFill>
                  </a:tcPr>
                </a:tc>
                <a:tc>
                  <a:txBody>
                    <a:bodyPr/>
                    <a:lstStyle/>
                    <a:p>
                      <a:r>
                        <a:rPr sz="1200" b="0">
                          <a:solidFill>
                            <a:srgbClr val="E8EEFA"/>
                          </a:solidFill>
                          <a:latin typeface="Segoe UI"/>
                        </a:rPr>
                        <a:t>Yuqori, ASIC dan past</a:t>
                      </a:r>
                    </a:p>
                  </a:txBody>
                  <a:tcPr>
                    <a:solidFill>
                      <a:srgbClr val="111834"/>
                    </a:solidFill>
                  </a:tcPr>
                </a:tc>
              </a:tr>
              <a:tr h="520000">
                <a:tc>
                  <a:txBody>
                    <a:bodyPr/>
                    <a:lstStyle/>
                    <a:p>
                      <a:r>
                        <a:rPr sz="1200" b="0">
                          <a:solidFill>
                            <a:srgbClr val="E8EEFA"/>
                          </a:solidFill>
                          <a:latin typeface="Segoe UI"/>
                        </a:rPr>
                        <a:t>Kechikish (kichik paket)</a:t>
                      </a:r>
                    </a:p>
                  </a:txBody>
                  <a:tcPr>
                    <a:solidFill>
                      <a:srgbClr val="161F40"/>
                    </a:solidFill>
                  </a:tcPr>
                </a:tc>
                <a:tc>
                  <a:txBody>
                    <a:bodyPr/>
                    <a:lstStyle/>
                    <a:p>
                      <a:r>
                        <a:rPr sz="1200" b="0">
                          <a:solidFill>
                            <a:srgbClr val="E8EEFA"/>
                          </a:solidFill>
                          <a:latin typeface="Segoe UI"/>
                        </a:rPr>
                        <a:t>Yaxshi</a:t>
                      </a:r>
                    </a:p>
                  </a:txBody>
                  <a:tcPr>
                    <a:solidFill>
                      <a:srgbClr val="161F40"/>
                    </a:solidFill>
                  </a:tcPr>
                </a:tc>
                <a:tc>
                  <a:txBody>
                    <a:bodyPr/>
                    <a:lstStyle/>
                    <a:p>
                      <a:r>
                        <a:rPr sz="1200" b="0">
                          <a:solidFill>
                            <a:srgbClr val="E8EEFA"/>
                          </a:solidFill>
                          <a:latin typeface="Segoe UI"/>
                        </a:rPr>
                        <a:t>O'rta (ishga tushirish xarajati)</a:t>
                      </a:r>
                    </a:p>
                  </a:txBody>
                  <a:tcPr>
                    <a:solidFill>
                      <a:srgbClr val="161F40"/>
                    </a:solidFill>
                  </a:tcPr>
                </a:tc>
                <a:tc>
                  <a:txBody>
                    <a:bodyPr/>
                    <a:lstStyle/>
                    <a:p>
                      <a:r>
                        <a:rPr sz="1200" b="0">
                          <a:solidFill>
                            <a:srgbClr val="E8EEFA"/>
                          </a:solidFill>
                          <a:latin typeface="Segoe UI"/>
                        </a:rPr>
                        <a:t>O'rta</a:t>
                      </a:r>
                    </a:p>
                  </a:txBody>
                  <a:tcPr>
                    <a:solidFill>
                      <a:srgbClr val="161F40"/>
                    </a:solidFill>
                  </a:tcPr>
                </a:tc>
                <a:tc>
                  <a:txBody>
                    <a:bodyPr/>
                    <a:lstStyle/>
                    <a:p>
                      <a:r>
                        <a:rPr sz="1200" b="0">
                          <a:solidFill>
                            <a:srgbClr val="E8EEFA"/>
                          </a:solidFill>
                          <a:latin typeface="Segoe UI"/>
                        </a:rPr>
                        <a:t>Yaxshi</a:t>
                      </a:r>
                    </a:p>
                  </a:txBody>
                  <a:tcPr>
                    <a:solidFill>
                      <a:srgbClr val="161F40"/>
                    </a:solidFill>
                  </a:tcPr>
                </a:tc>
                <a:tc>
                  <a:txBody>
                    <a:bodyPr/>
                    <a:lstStyle/>
                    <a:p>
                      <a:r>
                        <a:rPr sz="1200" b="0">
                          <a:solidFill>
                            <a:srgbClr val="E8EEFA"/>
                          </a:solidFill>
                          <a:latin typeface="Segoe UI"/>
                        </a:rPr>
                        <a:t>Eng yaxshi, deterministik</a:t>
                      </a:r>
                    </a:p>
                  </a:txBody>
                  <a:tcPr>
                    <a:solidFill>
                      <a:srgbClr val="161F40"/>
                    </a:solidFill>
                  </a:tcPr>
                </a:tc>
              </a:tr>
              <a:tr h="520000">
                <a:tc>
                  <a:txBody>
                    <a:bodyPr/>
                    <a:lstStyle/>
                    <a:p>
                      <a:r>
                        <a:rPr sz="1200" b="0">
                          <a:solidFill>
                            <a:srgbClr val="E8EEFA"/>
                          </a:solidFill>
                          <a:latin typeface="Segoe UI"/>
                        </a:rPr>
                        <a:t>Masshtab</a:t>
                      </a:r>
                    </a:p>
                  </a:txBody>
                  <a:tcPr>
                    <a:solidFill>
                      <a:srgbClr val="111834"/>
                    </a:solidFill>
                  </a:tcPr>
                </a:tc>
                <a:tc>
                  <a:txBody>
                    <a:bodyPr/>
                    <a:lstStyle/>
                    <a:p>
                      <a:r>
                        <a:rPr sz="1200" b="0">
                          <a:solidFill>
                            <a:srgbClr val="E8EEFA"/>
                          </a:solidFill>
                          <a:latin typeface="Segoe UI"/>
                        </a:rPr>
                        <a:t>1–8 soket</a:t>
                      </a:r>
                    </a:p>
                  </a:txBody>
                  <a:tcPr>
                    <a:solidFill>
                      <a:srgbClr val="111834"/>
                    </a:solidFill>
                  </a:tcPr>
                </a:tc>
                <a:tc>
                  <a:txBody>
                    <a:bodyPr/>
                    <a:lstStyle/>
                    <a:p>
                      <a:r>
                        <a:rPr sz="1200" b="0">
                          <a:solidFill>
                            <a:srgbClr val="E8EEFA"/>
                          </a:solidFill>
                          <a:latin typeface="Segoe UI"/>
                        </a:rPr>
                        <a:t>8 GPU/server, minglab GPU klaster</a:t>
                      </a:r>
                    </a:p>
                  </a:txBody>
                  <a:tcPr>
                    <a:solidFill>
                      <a:srgbClr val="111834"/>
                    </a:solidFill>
                  </a:tcPr>
                </a:tc>
                <a:tc>
                  <a:txBody>
                    <a:bodyPr/>
                    <a:lstStyle/>
                    <a:p>
                      <a:r>
                        <a:rPr sz="1200" b="0">
                          <a:solidFill>
                            <a:srgbClr val="E8EEFA"/>
                          </a:solidFill>
                          <a:latin typeface="Segoe UI"/>
                        </a:rPr>
                        <a:t>4 096–9 000 chip/pod</a:t>
                      </a:r>
                    </a:p>
                  </a:txBody>
                  <a:tcPr>
                    <a:solidFill>
                      <a:srgbClr val="111834"/>
                    </a:solidFill>
                  </a:tcPr>
                </a:tc>
                <a:tc>
                  <a:txBody>
                    <a:bodyPr/>
                    <a:lstStyle/>
                    <a:p>
                      <a:r>
                        <a:rPr sz="1200" b="0">
                          <a:solidFill>
                            <a:srgbClr val="E8EEFA"/>
                          </a:solidFill>
                          <a:latin typeface="Segoe UI"/>
                        </a:rPr>
                        <a:t>Bitta qurilma</a:t>
                      </a:r>
                    </a:p>
                  </a:txBody>
                  <a:tcPr>
                    <a:solidFill>
                      <a:srgbClr val="111834"/>
                    </a:solidFill>
                  </a:tcPr>
                </a:tc>
                <a:tc>
                  <a:txBody>
                    <a:bodyPr/>
                    <a:lstStyle/>
                    <a:p>
                      <a:r>
                        <a:rPr sz="1200" b="0">
                          <a:solidFill>
                            <a:srgbClr val="E8EEFA"/>
                          </a:solidFill>
                          <a:latin typeface="Segoe UI"/>
                        </a:rPr>
                        <a:t>1–bir necha karta</a:t>
                      </a:r>
                    </a:p>
                  </a:txBody>
                  <a:tcPr>
                    <a:solidFill>
                      <a:srgbClr val="111834"/>
                    </a:solidFill>
                  </a:tcPr>
                </a:tc>
              </a:tr>
              <a:tr h="520000">
                <a:tc>
                  <a:txBody>
                    <a:bodyPr/>
                    <a:lstStyle/>
                    <a:p>
                      <a:r>
                        <a:rPr sz="1200" b="0">
                          <a:solidFill>
                            <a:srgbClr val="E8EEFA"/>
                          </a:solidFill>
                          <a:latin typeface="Segoe UI"/>
                        </a:rPr>
                        <a:t>Asosiy soha</a:t>
                      </a:r>
                    </a:p>
                  </a:txBody>
                  <a:tcPr>
                    <a:solidFill>
                      <a:srgbClr val="161F40"/>
                    </a:solidFill>
                  </a:tcPr>
                </a:tc>
                <a:tc>
                  <a:txBody>
                    <a:bodyPr/>
                    <a:lstStyle/>
                    <a:p>
                      <a:r>
                        <a:rPr sz="1200" b="0">
                          <a:solidFill>
                            <a:srgbClr val="E8EEFA"/>
                          </a:solidFill>
                          <a:latin typeface="Segoe UI"/>
                        </a:rPr>
                        <a:t>Tayyorlash, orkestratsiya, kichik inferens</a:t>
                      </a:r>
                    </a:p>
                  </a:txBody>
                  <a:tcPr>
                    <a:solidFill>
                      <a:srgbClr val="161F40"/>
                    </a:solidFill>
                  </a:tcPr>
                </a:tc>
                <a:tc>
                  <a:txBody>
                    <a:bodyPr/>
                    <a:lstStyle/>
                    <a:p>
                      <a:r>
                        <a:rPr sz="1200" b="0">
                          <a:solidFill>
                            <a:srgbClr val="E8EEFA"/>
                          </a:solidFill>
                          <a:latin typeface="Segoe UI"/>
                        </a:rPr>
                        <a:t>O'qitish, katta inferens</a:t>
                      </a:r>
                    </a:p>
                  </a:txBody>
                  <a:tcPr>
                    <a:solidFill>
                      <a:srgbClr val="161F40"/>
                    </a:solidFill>
                  </a:tcPr>
                </a:tc>
                <a:tc>
                  <a:txBody>
                    <a:bodyPr/>
                    <a:lstStyle/>
                    <a:p>
                      <a:r>
                        <a:rPr sz="1200" b="0">
                          <a:solidFill>
                            <a:srgbClr val="E8EEFA"/>
                          </a:solidFill>
                          <a:latin typeface="Segoe UI"/>
                        </a:rPr>
                        <a:t>Bulutda o'qitish/inferens</a:t>
                      </a:r>
                    </a:p>
                  </a:txBody>
                  <a:tcPr>
                    <a:solidFill>
                      <a:srgbClr val="161F40"/>
                    </a:solidFill>
                  </a:tcPr>
                </a:tc>
                <a:tc>
                  <a:txBody>
                    <a:bodyPr/>
                    <a:lstStyle/>
                    <a:p>
                      <a:r>
                        <a:rPr sz="1200" b="0">
                          <a:solidFill>
                            <a:srgbClr val="E8EEFA"/>
                          </a:solidFill>
                          <a:latin typeface="Segoe UI"/>
                        </a:rPr>
                        <a:t>Telefon, noutbuk, avtomobil</a:t>
                      </a:r>
                    </a:p>
                  </a:txBody>
                  <a:tcPr>
                    <a:solidFill>
                      <a:srgbClr val="161F40"/>
                    </a:solidFill>
                  </a:tcPr>
                </a:tc>
                <a:tc>
                  <a:txBody>
                    <a:bodyPr/>
                    <a:lstStyle/>
                    <a:p>
                      <a:r>
                        <a:rPr sz="1200" b="0">
                          <a:solidFill>
                            <a:srgbClr val="E8EEFA"/>
                          </a:solidFill>
                          <a:latin typeface="Segoe UI"/>
                        </a:rPr>
                        <a:t>Sanoat, tarmoq, real vaqt</a:t>
                      </a:r>
                    </a:p>
                  </a:txBody>
                  <a:tcPr>
                    <a:solidFill>
                      <a:srgbClr val="161F40"/>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200"/>
                            </p:stCondLst>
                            <p:childTnLst>
                              <p:par>
                                <p:cTn id="13" presetID="22" presetClass="entr" presetSubtype="8"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wipe(left)">
                                      <p:cBhvr>
                                        <p:cTn id="16" dur="8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720000"/>
            <a:ext cx="1666666"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72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3733333" y="5266666"/>
            <a:ext cx="1666667"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07c90ebf62c7ca6c.jpg"/>
          <p:cNvPicPr>
            <a:picLocks noChangeAspect="1"/>
          </p:cNvPicPr>
          <p:nvPr/>
        </p:nvPicPr>
        <p:blipFill>
          <a:blip r:embed="rId2"/>
          <a:srcRect l="19886" r="19886"/>
          <a:stretch>
            <a:fillRect/>
          </a:stretch>
        </p:blipFill>
        <p:spPr>
          <a:xfrm>
            <a:off x="6300000" y="800000"/>
            <a:ext cx="5300000" cy="4950000"/>
          </a:xfrm>
          <a:prstGeom prst="roundRect">
            <a:avLst/>
          </a:prstGeom>
          <a:ln w="19050">
            <a:solidFill>
              <a:srgbClr val="22D3EE"/>
            </a:solidFill>
          </a:ln>
        </p:spPr>
      </p:pic>
      <p:sp>
        <p:nvSpPr>
          <p:cNvPr id="42" name="TextBox 41"/>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Мой Компьютер · Wikimedia Commons · CC BY 3.0</a:t>
            </a:r>
          </a:p>
        </p:txBody>
      </p:sp>
      <p:sp>
        <p:nvSpPr>
          <p:cNvPr id="43" name="TextBox 42"/>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07</a:t>
            </a:r>
          </a:p>
        </p:txBody>
      </p:sp>
      <p:sp>
        <p:nvSpPr>
          <p:cNvPr id="44" name="TextBox 43"/>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5" name="TextBox 44"/>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Geterogen hisoblash tizimlari</a:t>
            </a:r>
          </a:p>
        </p:txBody>
      </p:sp>
      <p:sp>
        <p:nvSpPr>
          <p:cNvPr id="46" name="Rectangle 45"/>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188"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150"/>
                            </p:stCondLst>
                            <p:childTnLst>
                              <p:par>
                                <p:cTn id="152" presetID="53" presetClass="entr" presetSubtype="16"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anim calcmode="lin" valueType="num">
                                      <p:cBhvr additive="base">
                                        <p:cTn id="155" dur="550" fill="hold"/>
                                        <p:tgtEl>
                                          <p:spTgt spid="40"/>
                                        </p:tgtEl>
                                        <p:attrNameLst>
                                          <p:attrName>ppt_w</p:attrName>
                                        </p:attrNameLst>
                                      </p:cBhvr>
                                      <p:tavLst>
                                        <p:tav tm="0">
                                          <p:val>
                                            <p:strVal val="0"/>
                                          </p:val>
                                        </p:tav>
                                        <p:tav tm="100000">
                                          <p:val>
                                            <p:strVal val="#ppt_w"/>
                                          </p:val>
                                        </p:tav>
                                      </p:tavLst>
                                    </p:anim>
                                    <p:anim calcmode="lin" valueType="num">
                                      <p:cBhvr additive="base">
                                        <p:cTn id="156" dur="550" fill="hold"/>
                                        <p:tgtEl>
                                          <p:spTgt spid="40"/>
                                        </p:tgtEl>
                                        <p:attrNameLst>
                                          <p:attrName>ppt_h</p:attrName>
                                        </p:attrNameLst>
                                      </p:cBhvr>
                                      <p:tavLst>
                                        <p:tav tm="0">
                                          <p:val>
                                            <p:strVal val="0"/>
                                          </p:val>
                                        </p:tav>
                                        <p:tav tm="100000">
                                          <p:val>
                                            <p:strVal val="#ppt_h"/>
                                          </p:val>
                                        </p:tav>
                                      </p:tavLst>
                                    </p:anim>
                                  </p:childTnLst>
                                </p:cTn>
                              </p:par>
                            </p:childTnLst>
                          </p:cTn>
                        </p:par>
                        <p:par>
                          <p:cTn id="157" fill="hold">
                            <p:stCondLst>
                              <p:cond delay="150"/>
                            </p:stCondLst>
                            <p:childTnLst>
                              <p:par>
                                <p:cTn id="158" presetID="53" presetClass="entr" presetSubtype="16" fill="hold" grpId="0" nodeType="afterEffect">
                                  <p:stCondLst>
                                    <p:cond delay="0"/>
                                  </p:stCondLst>
                                  <p:childTnLst>
                                    <p:set>
                                      <p:cBhvr>
                                        <p:cTn id="159" dur="1" fill="hold">
                                          <p:stCondLst>
                                            <p:cond delay="0"/>
                                          </p:stCondLst>
                                        </p:cTn>
                                        <p:tgtEl>
                                          <p:spTgt spid="41"/>
                                        </p:tgtEl>
                                        <p:attrNameLst>
                                          <p:attrName>style.visibility</p:attrName>
                                        </p:attrNameLst>
                                      </p:cBhvr>
                                      <p:to>
                                        <p:strVal val="visible"/>
                                      </p:to>
                                    </p:set>
                                    <p:animEffect transition="in" filter="fade">
                                      <p:cBhvr>
                                        <p:cTn id="160" dur="550"/>
                                        <p:tgtEl>
                                          <p:spTgt spid="41"/>
                                        </p:tgtEl>
                                      </p:cBhvr>
                                    </p:animEffect>
                                    <p:anim calcmode="lin" valueType="num">
                                      <p:cBhvr additive="base">
                                        <p:cTn id="161" dur="550" fill="hold"/>
                                        <p:tgtEl>
                                          <p:spTgt spid="41"/>
                                        </p:tgtEl>
                                        <p:attrNameLst>
                                          <p:attrName>ppt_w</p:attrName>
                                        </p:attrNameLst>
                                      </p:cBhvr>
                                      <p:tavLst>
                                        <p:tav tm="0">
                                          <p:val>
                                            <p:strVal val="0"/>
                                          </p:val>
                                        </p:tav>
                                        <p:tav tm="100000">
                                          <p:val>
                                            <p:strVal val="#ppt_w"/>
                                          </p:val>
                                        </p:tav>
                                      </p:tavLst>
                                    </p:anim>
                                    <p:anim calcmode="lin" valueType="num">
                                      <p:cBhvr additive="base">
                                        <p:cTn id="162" dur="550" fill="hold"/>
                                        <p:tgtEl>
                                          <p:spTgt spid="41"/>
                                        </p:tgtEl>
                                        <p:attrNameLst>
                                          <p:attrName>ppt_h</p:attrName>
                                        </p:attrNameLst>
                                      </p:cBhvr>
                                      <p:tavLst>
                                        <p:tav tm="0">
                                          <p:val>
                                            <p:strVal val="0"/>
                                          </p:val>
                                        </p:tav>
                                        <p:tav tm="100000">
                                          <p:val>
                                            <p:strVal val="#ppt_h"/>
                                          </p:val>
                                        </p:tav>
                                      </p:tavLst>
                                    </p:anim>
                                  </p:childTnLst>
                                </p:cTn>
                              </p:par>
                            </p:childTnLst>
                          </p:cTn>
                        </p:par>
                        <p:par>
                          <p:cTn id="163" fill="hold">
                            <p:stCondLst>
                              <p:cond delay="150"/>
                            </p:stCondLst>
                            <p:childTnLst>
                              <p:par>
                                <p:cTn id="164" presetID="10" presetClass="entr" presetSubtype="0" fill="hold" grpId="0" nodeType="afterEffect">
                                  <p:stCondLst>
                                    <p:cond delay="0"/>
                                  </p:stCondLst>
                                  <p:childTnLst>
                                    <p:set>
                                      <p:cBhvr>
                                        <p:cTn id="165" dur="1" fill="hold">
                                          <p:stCondLst>
                                            <p:cond delay="0"/>
                                          </p:stCondLst>
                                        </p:cTn>
                                        <p:tgtEl>
                                          <p:spTgt spid="42"/>
                                        </p:tgtEl>
                                        <p:attrNameLst>
                                          <p:attrName>style.visibility</p:attrName>
                                        </p:attrNameLst>
                                      </p:cBhvr>
                                      <p:to>
                                        <p:strVal val="visible"/>
                                      </p:to>
                                    </p:set>
                                    <p:animEffect transition="in" filter="fade">
                                      <p:cBhvr>
                                        <p:cTn id="166" dur="550"/>
                                        <p:tgtEl>
                                          <p:spTgt spid="42"/>
                                        </p:tgtEl>
                                      </p:cBhvr>
                                    </p:animEffect>
                                  </p:childTnLst>
                                </p:cTn>
                              </p:par>
                            </p:childTnLst>
                          </p:cTn>
                        </p:par>
                        <p:par>
                          <p:cTn id="167" fill="hold">
                            <p:stCondLst>
                              <p:cond delay="350"/>
                            </p:stCondLst>
                            <p:childTnLst>
                              <p:par>
                                <p:cTn id="168" presetID="53" presetClass="entr" presetSubtype="16" fill="hold" grpId="0" nodeType="afterEffect">
                                  <p:stCondLst>
                                    <p:cond delay="0"/>
                                  </p:stCondLst>
                                  <p:childTnLst>
                                    <p:set>
                                      <p:cBhvr>
                                        <p:cTn id="169" dur="1" fill="hold">
                                          <p:stCondLst>
                                            <p:cond delay="0"/>
                                          </p:stCondLst>
                                        </p:cTn>
                                        <p:tgtEl>
                                          <p:spTgt spid="43"/>
                                        </p:tgtEl>
                                        <p:attrNameLst>
                                          <p:attrName>style.visibility</p:attrName>
                                        </p:attrNameLst>
                                      </p:cBhvr>
                                      <p:to>
                                        <p:strVal val="visible"/>
                                      </p:to>
                                    </p:set>
                                    <p:animEffect transition="in" filter="fade">
                                      <p:cBhvr>
                                        <p:cTn id="170" dur="550"/>
                                        <p:tgtEl>
                                          <p:spTgt spid="43"/>
                                        </p:tgtEl>
                                      </p:cBhvr>
                                    </p:animEffect>
                                    <p:anim calcmode="lin" valueType="num">
                                      <p:cBhvr additive="base">
                                        <p:cTn id="171" dur="550" fill="hold"/>
                                        <p:tgtEl>
                                          <p:spTgt spid="43"/>
                                        </p:tgtEl>
                                        <p:attrNameLst>
                                          <p:attrName>ppt_w</p:attrName>
                                        </p:attrNameLst>
                                      </p:cBhvr>
                                      <p:tavLst>
                                        <p:tav tm="0">
                                          <p:val>
                                            <p:strVal val="0"/>
                                          </p:val>
                                        </p:tav>
                                        <p:tav tm="100000">
                                          <p:val>
                                            <p:strVal val="#ppt_w"/>
                                          </p:val>
                                        </p:tav>
                                      </p:tavLst>
                                    </p:anim>
                                    <p:anim calcmode="lin" valueType="num">
                                      <p:cBhvr additive="base">
                                        <p:cTn id="172" dur="550" fill="hold"/>
                                        <p:tgtEl>
                                          <p:spTgt spid="43"/>
                                        </p:tgtEl>
                                        <p:attrNameLst>
                                          <p:attrName>ppt_h</p:attrName>
                                        </p:attrNameLst>
                                      </p:cBhvr>
                                      <p:tavLst>
                                        <p:tav tm="0">
                                          <p:val>
                                            <p:strVal val="0"/>
                                          </p:val>
                                        </p:tav>
                                        <p:tav tm="100000">
                                          <p:val>
                                            <p:strVal val="#ppt_h"/>
                                          </p:val>
                                        </p:tav>
                                      </p:tavLst>
                                    </p:anim>
                                  </p:childTnLst>
                                </p:cTn>
                              </p:par>
                            </p:childTnLst>
                          </p:cTn>
                        </p:par>
                        <p:par>
                          <p:cTn id="173" fill="hold">
                            <p:stCondLst>
                              <p:cond delay="450"/>
                            </p:stCondLst>
                            <p:childTnLst>
                              <p:par>
                                <p:cTn id="174" presetID="10" presetClass="entr" presetSubtype="0" fill="hold" grpId="0" nodeType="afterEffect">
                                  <p:stCondLst>
                                    <p:cond delay="0"/>
                                  </p:stCondLst>
                                  <p:childTnLst>
                                    <p:set>
                                      <p:cBhvr>
                                        <p:cTn id="175" dur="1" fill="hold">
                                          <p:stCondLst>
                                            <p:cond delay="0"/>
                                          </p:stCondLst>
                                        </p:cTn>
                                        <p:tgtEl>
                                          <p:spTgt spid="44"/>
                                        </p:tgtEl>
                                        <p:attrNameLst>
                                          <p:attrName>style.visibility</p:attrName>
                                        </p:attrNameLst>
                                      </p:cBhvr>
                                      <p:to>
                                        <p:strVal val="visible"/>
                                      </p:to>
                                    </p:set>
                                    <p:animEffect transition="in" filter="fade">
                                      <p:cBhvr>
                                        <p:cTn id="176" dur="550"/>
                                        <p:tgtEl>
                                          <p:spTgt spid="44"/>
                                        </p:tgtEl>
                                      </p:cBhvr>
                                    </p:animEffect>
                                  </p:childTnLst>
                                </p:cTn>
                              </p:par>
                            </p:childTnLst>
                          </p:cTn>
                        </p:par>
                        <p:par>
                          <p:cTn id="177" fill="hold">
                            <p:stCondLst>
                              <p:cond delay="550"/>
                            </p:stCondLst>
                            <p:childTnLst>
                              <p:par>
                                <p:cTn id="178" presetID="2" presetClass="entr" presetSubtype="8" fill="hold" grpId="0" nodeType="afterEffect">
                                  <p:stCondLst>
                                    <p:cond delay="0"/>
                                  </p:stCondLst>
                                  <p:childTnLst>
                                    <p:set>
                                      <p:cBhvr>
                                        <p:cTn id="179" dur="1" fill="hold">
                                          <p:stCondLst>
                                            <p:cond delay="0"/>
                                          </p:stCondLst>
                                        </p:cTn>
                                        <p:tgtEl>
                                          <p:spTgt spid="45"/>
                                        </p:tgtEl>
                                        <p:attrNameLst>
                                          <p:attrName>style.visibility</p:attrName>
                                        </p:attrNameLst>
                                      </p:cBhvr>
                                      <p:to>
                                        <p:strVal val="visible"/>
                                      </p:to>
                                    </p:set>
                                    <p:anim calcmode="lin" valueType="num">
                                      <p:cBhvr additive="base">
                                        <p:cTn id="181" dur="550" fill="hold"/>
                                        <p:tgtEl>
                                          <p:spTgt spid="45"/>
                                        </p:tgtEl>
                                        <p:attrNameLst>
                                          <p:attrName>ppt_x</p:attrName>
                                        </p:attrNameLst>
                                      </p:cBhvr>
                                      <p:tavLst>
                                        <p:tav tm="0">
                                          <p:val>
                                            <p:strVal val="0-#ppt_w/2"/>
                                          </p:val>
                                        </p:tav>
                                        <p:tav tm="100000">
                                          <p:val>
                                            <p:strVal val="#ppt_x"/>
                                          </p:val>
                                        </p:tav>
                                      </p:tavLst>
                                    </p:anim>
                                    <p:anim calcmode="lin" valueType="num">
                                      <p:cBhvr additive="base">
                                        <p:cTn id="182" dur="550" fill="hold"/>
                                        <p:tgtEl>
                                          <p:spTgt spid="45"/>
                                        </p:tgtEl>
                                        <p:attrNameLst>
                                          <p:attrName>ppt_y</p:attrName>
                                        </p:attrNameLst>
                                      </p:cBhvr>
                                      <p:tavLst>
                                        <p:tav tm="0">
                                          <p:val>
                                            <p:strVal val="#ppt_y"/>
                                          </p:val>
                                        </p:tav>
                                        <p:tav tm="100000">
                                          <p:val>
                                            <p:strVal val="#ppt_y"/>
                                          </p:val>
                                        </p:tav>
                                      </p:tavLst>
                                    </p:anim>
                                  </p:childTnLst>
                                </p:cTn>
                              </p:par>
                            </p:childTnLst>
                          </p:cTn>
                        </p:par>
                        <p:par>
                          <p:cTn id="183" fill="hold">
                            <p:stCondLst>
                              <p:cond delay="650"/>
                            </p:stCondLst>
                            <p:childTnLst>
                              <p:par>
                                <p:cTn id="184" presetID="22" presetClass="entr" presetSubtype="8" fill="hold" grpId="0" nodeType="afterEffect">
                                  <p:stCondLst>
                                    <p:cond delay="0"/>
                                  </p:stCondLst>
                                  <p:childTnLst>
                                    <p:set>
                                      <p:cBhvr>
                                        <p:cTn id="185" dur="1" fill="hold">
                                          <p:stCondLst>
                                            <p:cond delay="0"/>
                                          </p:stCondLst>
                                        </p:cTn>
                                        <p:tgtEl>
                                          <p:spTgt spid="46"/>
                                        </p:tgtEl>
                                        <p:attrNameLst>
                                          <p:attrName>style.visibility</p:attrName>
                                        </p:attrNameLst>
                                      </p:cBhvr>
                                      <p:to>
                                        <p:strVal val="visible"/>
                                      </p:to>
                                    </p:set>
                                    <p:animEffect transition="in" filter="wipe(left)">
                                      <p:cBhvr>
                                        <p:cTn id="187" dur="8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2" grpId="0" animBg="1"/>
      <p:bldP spid="43" grpId="0" animBg="1"/>
      <p:bldP spid="44" grpId="0" animBg="1"/>
      <p:bldP spid="45" grpId="0" animBg="1"/>
      <p:bldP spid="46"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7-REJA</a:t>
            </a:r>
          </a:p>
        </p:txBody>
      </p:sp>
      <p:sp>
        <p:nvSpPr>
          <p:cNvPr id="19" name="TextBox 18"/>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Geterogen hisoblash tizimlari</a:t>
            </a:r>
          </a:p>
        </p:txBody>
      </p:sp>
      <p:sp>
        <p:nvSpPr>
          <p:cNvPr id="20" name="Rectangle 19"/>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2" name="Rounded Rectangle 21"/>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21</a:t>
            </a:r>
          </a:p>
        </p:txBody>
      </p:sp>
      <p:sp>
        <p:nvSpPr>
          <p:cNvPr id="23" name="Rounded Rectangle 22"/>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b3731d874c22f7a.jpg"/>
          <p:cNvPicPr>
            <a:picLocks noChangeAspect="1"/>
          </p:cNvPicPr>
          <p:nvPr/>
        </p:nvPicPr>
        <p:blipFill>
          <a:blip r:embed="rId2"/>
          <a:srcRect l="14265" r="14265"/>
          <a:stretch>
            <a:fillRect/>
          </a:stretch>
        </p:blipFill>
        <p:spPr>
          <a:xfrm>
            <a:off x="7620000" y="1430000"/>
            <a:ext cx="4050000" cy="4250000"/>
          </a:xfrm>
          <a:prstGeom prst="roundRect">
            <a:avLst/>
          </a:prstGeom>
          <a:ln w="19050">
            <a:solidFill>
              <a:srgbClr val="22D3EE"/>
            </a:solidFill>
          </a:ln>
        </p:spPr>
      </p:pic>
      <p:sp>
        <p:nvSpPr>
          <p:cNvPr id="25" name="TextBox 24"/>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Raimond Spekking · Wikimedia Commons · CC BY-SA 4.0</a:t>
            </a:r>
          </a:p>
        </p:txBody>
      </p:sp>
      <p:sp>
        <p:nvSpPr>
          <p:cNvPr id="26" name="Rounded Rectangle 25"/>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7" name="Rounded Rectangle 26"/>
          <p:cNvSpPr/>
          <p:nvPr/>
        </p:nvSpPr>
        <p:spPr>
          <a:xfrm>
            <a:off x="550000" y="1762128"/>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50000" y="1842128"/>
            <a:ext cx="50000" cy="181287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0000" y="2548564"/>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0" name="TextBox 29"/>
          <p:cNvSpPr txBox="1"/>
          <p:nvPr/>
        </p:nvSpPr>
        <p:spPr>
          <a:xfrm>
            <a:off x="1300000" y="1802128"/>
            <a:ext cx="5900000" cy="1892872"/>
          </a:xfrm>
          <a:prstGeom prst="rect">
            <a:avLst/>
          </a:prstGeom>
          <a:noFill/>
        </p:spPr>
        <p:txBody>
          <a:bodyPr wrap="square" anchor="ctr">
            <a:spAutoFit/>
          </a:bodyPr>
          <a:lstStyle/>
          <a:p>
            <a:r>
              <a:rPr sz="1500" b="1">
                <a:solidFill>
                  <a:srgbClr val="E8EEFA"/>
                </a:solidFill>
                <a:latin typeface="Segoe UI"/>
              </a:rPr>
              <a:t>Geterogen tizim — turli arxitekturali protsessorlarni bir vazifa ustida birgalikda ishlatadigan tizim.</a:t>
            </a:r>
          </a:p>
          <a:p>
            <a:pPr>
              <a:spcBef>
                <a:spcPts val="400"/>
              </a:spcBef>
            </a:pPr>
            <a:r>
              <a:rPr sz="1400">
                <a:solidFill>
                  <a:srgbClr val="AEBBD9"/>
                </a:solidFill>
                <a:latin typeface="Segoe UI"/>
              </a:rPr>
              <a:t>Klassik ko'rinishda xost (CPU) dasturni boshqaradi, ma'lumotni tayyorlaydi va qurilma (GPU/tezlatkich) ga og'ir hisobni yuboradi.</a:t>
            </a:r>
          </a:p>
        </p:txBody>
      </p:sp>
      <p:sp>
        <p:nvSpPr>
          <p:cNvPr id="31" name="Rounded Rectangle 30"/>
          <p:cNvSpPr/>
          <p:nvPr/>
        </p:nvSpPr>
        <p:spPr>
          <a:xfrm>
            <a:off x="550000" y="3845000"/>
            <a:ext cx="6750000" cy="197287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50000" y="3925000"/>
            <a:ext cx="50000" cy="1812872"/>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60000" y="4631436"/>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34" name="TextBox 33"/>
          <p:cNvSpPr txBox="1"/>
          <p:nvPr/>
        </p:nvSpPr>
        <p:spPr>
          <a:xfrm>
            <a:off x="1300000" y="3885000"/>
            <a:ext cx="5900000" cy="1892872"/>
          </a:xfrm>
          <a:prstGeom prst="rect">
            <a:avLst/>
          </a:prstGeom>
          <a:noFill/>
        </p:spPr>
        <p:txBody>
          <a:bodyPr wrap="square" anchor="ctr">
            <a:spAutoFit/>
          </a:bodyPr>
          <a:lstStyle/>
          <a:p>
            <a:r>
              <a:rPr sz="1500" b="1">
                <a:solidFill>
                  <a:srgbClr val="E8EEFA"/>
                </a:solidFill>
                <a:latin typeface="Segoe UI"/>
              </a:rPr>
              <a:t>So'nggi yillarda birlashgan xotira (unified memory) yondashuvi kuchaydi.</a:t>
            </a:r>
          </a:p>
          <a:p>
            <a:pPr>
              <a:spcBef>
                <a:spcPts val="400"/>
              </a:spcBef>
            </a:pPr>
            <a:r>
              <a:rPr sz="1400">
                <a:solidFill>
                  <a:srgbClr val="AEBBD9"/>
                </a:solidFill>
                <a:latin typeface="Segoe UI"/>
              </a:rPr>
              <a:t>NVIDIA GH200 Grace Hopper «superchip» da 72 yadroli ARM Neoverse V2 protsessori (Grace, 480 GB LPDDR5X) va H100 GPU (96–144 GB HBM3/HBM3e) NVLink-C2C orqali 900 GB/s tezlikda bog'langan va bitta kogerent manzil maydonini tashkil etadi — GPU xost xotirasiga PCIe dan 7 baravar tezroq murojaat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50"/>
                                        <p:tgtEl>
                                          <p:spTgt spid="19"/>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wipe(left)">
                                      <p:cBhvr>
                                        <p:cTn id="11" dur="800"/>
                                        <p:tgtEl>
                                          <p:spTgt spid="20"/>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550"/>
                                        <p:tgtEl>
                                          <p:spTgt spid="23"/>
                                        </p:tgtEl>
                                      </p:cBhvr>
                                    </p:animEffect>
                                    <p:anim calcmode="lin" valueType="num">
                                      <p:cBhvr additive="base">
                                        <p:cTn id="16" dur="550" fill="hold"/>
                                        <p:tgtEl>
                                          <p:spTgt spid="23"/>
                                        </p:tgtEl>
                                        <p:attrNameLst>
                                          <p:attrName>ppt_w</p:attrName>
                                        </p:attrNameLst>
                                      </p:cBhvr>
                                      <p:tavLst>
                                        <p:tav tm="0">
                                          <p:val>
                                            <p:strVal val="0"/>
                                          </p:val>
                                        </p:tav>
                                        <p:tav tm="100000">
                                          <p:val>
                                            <p:strVal val="#ppt_w"/>
                                          </p:val>
                                        </p:tav>
                                      </p:tavLst>
                                    </p:anim>
                                    <p:anim calcmode="lin" valueType="num">
                                      <p:cBhvr additive="base">
                                        <p:cTn id="17" dur="550" fill="hold"/>
                                        <p:tgtEl>
                                          <p:spTgt spid="23"/>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550"/>
                                        <p:tgtEl>
                                          <p:spTgt spid="24"/>
                                        </p:tgtEl>
                                      </p:cBhvr>
                                    </p:animEffect>
                                    <p:anim calcmode="lin" valueType="num">
                                      <p:cBhvr additive="base">
                                        <p:cTn id="22" dur="550" fill="hold"/>
                                        <p:tgtEl>
                                          <p:spTgt spid="24"/>
                                        </p:tgtEl>
                                        <p:attrNameLst>
                                          <p:attrName>ppt_w</p:attrName>
                                        </p:attrNameLst>
                                      </p:cBhvr>
                                      <p:tavLst>
                                        <p:tav tm="0">
                                          <p:val>
                                            <p:strVal val="0"/>
                                          </p:val>
                                        </p:tav>
                                        <p:tav tm="100000">
                                          <p:val>
                                            <p:strVal val="#ppt_w"/>
                                          </p:val>
                                        </p:tav>
                                      </p:tavLst>
                                    </p:anim>
                                    <p:anim calcmode="lin" valueType="num">
                                      <p:cBhvr additive="base">
                                        <p:cTn id="23" dur="550" fill="hold"/>
                                        <p:tgtEl>
                                          <p:spTgt spid="24"/>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550"/>
                                        <p:tgtEl>
                                          <p:spTgt spid="26"/>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550"/>
                                        <p:tgtEl>
                                          <p:spTgt spid="25"/>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fade">
                                      <p:cBhvr>
                                        <p:cTn id="35" dur="550"/>
                                        <p:tgtEl>
                                          <p:spTgt spid="27"/>
                                        </p:tgtEl>
                                      </p:cBhvr>
                                    </p:animEffect>
                                    <p:anim calcmode="lin" valueType="num">
                                      <p:cBhvr additive="base">
                                        <p:cTn id="36" dur="550" fill="hold"/>
                                        <p:tgtEl>
                                          <p:spTgt spid="27"/>
                                        </p:tgtEl>
                                        <p:attrNameLst>
                                          <p:attrName>ppt_x</p:attrName>
                                        </p:attrNameLst>
                                      </p:cBhvr>
                                      <p:tavLst>
                                        <p:tav tm="0">
                                          <p:val>
                                            <p:strVal val="#ppt_x"/>
                                          </p:val>
                                        </p:tav>
                                        <p:tav tm="100000">
                                          <p:val>
                                            <p:strVal val="#ppt_x"/>
                                          </p:val>
                                        </p:tav>
                                      </p:tavLst>
                                    </p:anim>
                                    <p:anim calcmode="lin" valueType="num">
                                      <p:cBhvr additive="base">
                                        <p:cTn id="37" dur="550" fill="hold"/>
                                        <p:tgtEl>
                                          <p:spTgt spid="27"/>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8"/>
                                        </p:tgtEl>
                                        <p:attrNameLst>
                                          <p:attrName>style.visibility</p:attrName>
                                        </p:attrNameLst>
                                      </p:cBhvr>
                                      <p:to>
                                        <p:strVal val="visible"/>
                                      </p:to>
                                    </p:set>
                                    <p:animEffect transition="in" filter="fade">
                                      <p:cBhvr>
                                        <p:cTn id="41" dur="550"/>
                                        <p:tgtEl>
                                          <p:spTgt spid="28"/>
                                        </p:tgtEl>
                                      </p:cBhvr>
                                    </p:animEffect>
                                    <p:anim calcmode="lin" valueType="num">
                                      <p:cBhvr additive="base">
                                        <p:cTn id="42" dur="550" fill="hold"/>
                                        <p:tgtEl>
                                          <p:spTgt spid="28"/>
                                        </p:tgtEl>
                                        <p:attrNameLst>
                                          <p:attrName>ppt_x</p:attrName>
                                        </p:attrNameLst>
                                      </p:cBhvr>
                                      <p:tavLst>
                                        <p:tav tm="0">
                                          <p:val>
                                            <p:strVal val="#ppt_x"/>
                                          </p:val>
                                        </p:tav>
                                        <p:tav tm="100000">
                                          <p:val>
                                            <p:strVal val="#ppt_x"/>
                                          </p:val>
                                        </p:tav>
                                      </p:tavLst>
                                    </p:anim>
                                    <p:anim calcmode="lin" valueType="num">
                                      <p:cBhvr additive="base">
                                        <p:cTn id="43" dur="550" fill="hold"/>
                                        <p:tgtEl>
                                          <p:spTgt spid="28"/>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550"/>
                                        <p:tgtEl>
                                          <p:spTgt spid="29"/>
                                        </p:tgtEl>
                                      </p:cBhvr>
                                    </p:animEffect>
                                    <p:anim calcmode="lin" valueType="num">
                                      <p:cBhvr additive="base">
                                        <p:cTn id="48" dur="550" fill="hold"/>
                                        <p:tgtEl>
                                          <p:spTgt spid="29"/>
                                        </p:tgtEl>
                                        <p:attrNameLst>
                                          <p:attrName>ppt_w</p:attrName>
                                        </p:attrNameLst>
                                      </p:cBhvr>
                                      <p:tavLst>
                                        <p:tav tm="0">
                                          <p:val>
                                            <p:strVal val="0"/>
                                          </p:val>
                                        </p:tav>
                                        <p:tav tm="100000">
                                          <p:val>
                                            <p:strVal val="#ppt_w"/>
                                          </p:val>
                                        </p:tav>
                                      </p:tavLst>
                                    </p:anim>
                                    <p:anim calcmode="lin" valueType="num">
                                      <p:cBhvr additive="base">
                                        <p:cTn id="49" dur="550" fill="hold"/>
                                        <p:tgtEl>
                                          <p:spTgt spid="29"/>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50"/>
                                        <p:tgtEl>
                                          <p:spTgt spid="30"/>
                                        </p:tgtEl>
                                      </p:cBhvr>
                                    </p:animEffect>
                                    <p:anim calcmode="lin" valueType="num">
                                      <p:cBhvr additive="base">
                                        <p:cTn id="54" dur="550" fill="hold"/>
                                        <p:tgtEl>
                                          <p:spTgt spid="30"/>
                                        </p:tgtEl>
                                        <p:attrNameLst>
                                          <p:attrName>ppt_x</p:attrName>
                                        </p:attrNameLst>
                                      </p:cBhvr>
                                      <p:tavLst>
                                        <p:tav tm="0">
                                          <p:val>
                                            <p:strVal val="#ppt_x"/>
                                          </p:val>
                                        </p:tav>
                                        <p:tav tm="100000">
                                          <p:val>
                                            <p:strVal val="#ppt_x"/>
                                          </p:val>
                                        </p:tav>
                                      </p:tavLst>
                                    </p:anim>
                                    <p:anim calcmode="lin" valueType="num">
                                      <p:cBhvr additive="base">
                                        <p:cTn id="55" dur="550" fill="hold"/>
                                        <p:tgtEl>
                                          <p:spTgt spid="30"/>
                                        </p:tgtEl>
                                        <p:attrNameLst>
                                          <p:attrName>ppt_y</p:attrName>
                                        </p:attrNameLst>
                                      </p:cBhvr>
                                      <p:tavLst>
                                        <p:tav tm="0">
                                          <p:val>
                                            <p:strVal val="#ppt_y+.08"/>
                                          </p:val>
                                        </p:tav>
                                        <p:tav tm="100000">
                                          <p:val>
                                            <p:strVal val="#ppt_y"/>
                                          </p:val>
                                        </p:tav>
                                      </p:tavLst>
                                    </p:anim>
                                  </p:childTnLst>
                                </p:cTn>
                              </p:par>
                            </p:childTnLst>
                          </p:cTn>
                        </p:par>
                        <p:par>
                          <p:cTn id="56" fill="hold">
                            <p:stCondLst>
                              <p:cond delay="550"/>
                            </p:stCondLst>
                            <p:childTnLst>
                              <p:par>
                                <p:cTn id="57" presetID="42" presetClass="entr" presetSubtype="0" fill="hold" grpId="0" nodeType="afterEffect">
                                  <p:stCondLst>
                                    <p:cond delay="0"/>
                                  </p:stCondLst>
                                  <p:childTnLst>
                                    <p:set>
                                      <p:cBhvr>
                                        <p:cTn id="58" dur="1" fill="hold">
                                          <p:stCondLst>
                                            <p:cond delay="0"/>
                                          </p:stCondLst>
                                        </p:cTn>
                                        <p:tgtEl>
                                          <p:spTgt spid="31"/>
                                        </p:tgtEl>
                                        <p:attrNameLst>
                                          <p:attrName>style.visibility</p:attrName>
                                        </p:attrNameLst>
                                      </p:cBhvr>
                                      <p:to>
                                        <p:strVal val="visible"/>
                                      </p:to>
                                    </p:set>
                                    <p:animEffect transition="in" filter="fade">
                                      <p:cBhvr>
                                        <p:cTn id="59" dur="550"/>
                                        <p:tgtEl>
                                          <p:spTgt spid="31"/>
                                        </p:tgtEl>
                                      </p:cBhvr>
                                    </p:animEffect>
                                    <p:anim calcmode="lin" valueType="num">
                                      <p:cBhvr additive="base">
                                        <p:cTn id="60" dur="550" fill="hold"/>
                                        <p:tgtEl>
                                          <p:spTgt spid="31"/>
                                        </p:tgtEl>
                                        <p:attrNameLst>
                                          <p:attrName>ppt_x</p:attrName>
                                        </p:attrNameLst>
                                      </p:cBhvr>
                                      <p:tavLst>
                                        <p:tav tm="0">
                                          <p:val>
                                            <p:strVal val="#ppt_x"/>
                                          </p:val>
                                        </p:tav>
                                        <p:tav tm="100000">
                                          <p:val>
                                            <p:strVal val="#ppt_x"/>
                                          </p:val>
                                        </p:tav>
                                      </p:tavLst>
                                    </p:anim>
                                    <p:anim calcmode="lin" valueType="num">
                                      <p:cBhvr additive="base">
                                        <p:cTn id="61" dur="550" fill="hold"/>
                                        <p:tgtEl>
                                          <p:spTgt spid="31"/>
                                        </p:tgtEl>
                                        <p:attrNameLst>
                                          <p:attrName>ppt_y</p:attrName>
                                        </p:attrNameLst>
                                      </p:cBhvr>
                                      <p:tavLst>
                                        <p:tav tm="0">
                                          <p:val>
                                            <p:strVal val="#ppt_y+.08"/>
                                          </p:val>
                                        </p:tav>
                                        <p:tav tm="100000">
                                          <p:val>
                                            <p:strVal val="#ppt_y"/>
                                          </p:val>
                                        </p:tav>
                                      </p:tavLst>
                                    </p:anim>
                                  </p:childTnLst>
                                </p:cTn>
                              </p:par>
                            </p:childTnLst>
                          </p:cTn>
                        </p:par>
                        <p:par>
                          <p:cTn id="62" fill="hold">
                            <p:stCondLst>
                              <p:cond delay="550"/>
                            </p:stCondLst>
                            <p:childTnLst>
                              <p:par>
                                <p:cTn id="63" presetID="42" presetClass="entr" presetSubtype="0" fill="hold" grpId="0" nodeType="afterEffect">
                                  <p:stCondLst>
                                    <p:cond delay="0"/>
                                  </p:stCondLst>
                                  <p:childTnLst>
                                    <p:set>
                                      <p:cBhvr>
                                        <p:cTn id="64" dur="1" fill="hold">
                                          <p:stCondLst>
                                            <p:cond delay="0"/>
                                          </p:stCondLst>
                                        </p:cTn>
                                        <p:tgtEl>
                                          <p:spTgt spid="32"/>
                                        </p:tgtEl>
                                        <p:attrNameLst>
                                          <p:attrName>style.visibility</p:attrName>
                                        </p:attrNameLst>
                                      </p:cBhvr>
                                      <p:to>
                                        <p:strVal val="visible"/>
                                      </p:to>
                                    </p:set>
                                    <p:animEffect transition="in" filter="fade">
                                      <p:cBhvr>
                                        <p:cTn id="65" dur="550"/>
                                        <p:tgtEl>
                                          <p:spTgt spid="32"/>
                                        </p:tgtEl>
                                      </p:cBhvr>
                                    </p:animEffect>
                                    <p:anim calcmode="lin" valueType="num">
                                      <p:cBhvr additive="base">
                                        <p:cTn id="66" dur="550" fill="hold"/>
                                        <p:tgtEl>
                                          <p:spTgt spid="32"/>
                                        </p:tgtEl>
                                        <p:attrNameLst>
                                          <p:attrName>ppt_x</p:attrName>
                                        </p:attrNameLst>
                                      </p:cBhvr>
                                      <p:tavLst>
                                        <p:tav tm="0">
                                          <p:val>
                                            <p:strVal val="#ppt_x"/>
                                          </p:val>
                                        </p:tav>
                                        <p:tav tm="100000">
                                          <p:val>
                                            <p:strVal val="#ppt_x"/>
                                          </p:val>
                                        </p:tav>
                                      </p:tavLst>
                                    </p:anim>
                                    <p:anim calcmode="lin" valueType="num">
                                      <p:cBhvr additive="base">
                                        <p:cTn id="67" dur="550" fill="hold"/>
                                        <p:tgtEl>
                                          <p:spTgt spid="32"/>
                                        </p:tgtEl>
                                        <p:attrNameLst>
                                          <p:attrName>ppt_y</p:attrName>
                                        </p:attrNameLst>
                                      </p:cBhvr>
                                      <p:tavLst>
                                        <p:tav tm="0">
                                          <p:val>
                                            <p:strVal val="#ppt_y+.08"/>
                                          </p:val>
                                        </p:tav>
                                        <p:tav tm="100000">
                                          <p:val>
                                            <p:strVal val="#ppt_y"/>
                                          </p:val>
                                        </p:tav>
                                      </p:tavLst>
                                    </p:anim>
                                  </p:childTnLst>
                                </p:cTn>
                              </p:par>
                            </p:childTnLst>
                          </p:cTn>
                        </p:par>
                        <p:par>
                          <p:cTn id="68" fill="hold">
                            <p:stCondLst>
                              <p:cond delay="550"/>
                            </p:stCondLst>
                            <p:childTnLst>
                              <p:par>
                                <p:cTn id="69" presetID="53" presetClass="entr" presetSubtype="16" fill="hold" grpId="0" nodeType="afterEffect">
                                  <p:stCondLst>
                                    <p:cond delay="0"/>
                                  </p:stCondLst>
                                  <p:childTnLst>
                                    <p:set>
                                      <p:cBhvr>
                                        <p:cTn id="70" dur="1" fill="hold">
                                          <p:stCondLst>
                                            <p:cond delay="0"/>
                                          </p:stCondLst>
                                        </p:cTn>
                                        <p:tgtEl>
                                          <p:spTgt spid="33"/>
                                        </p:tgtEl>
                                        <p:attrNameLst>
                                          <p:attrName>style.visibility</p:attrName>
                                        </p:attrNameLst>
                                      </p:cBhvr>
                                      <p:to>
                                        <p:strVal val="visible"/>
                                      </p:to>
                                    </p:set>
                                    <p:animEffect transition="in" filter="fade">
                                      <p:cBhvr>
                                        <p:cTn id="71" dur="550"/>
                                        <p:tgtEl>
                                          <p:spTgt spid="33"/>
                                        </p:tgtEl>
                                      </p:cBhvr>
                                    </p:animEffect>
                                    <p:anim calcmode="lin" valueType="num">
                                      <p:cBhvr additive="base">
                                        <p:cTn id="72" dur="550" fill="hold"/>
                                        <p:tgtEl>
                                          <p:spTgt spid="33"/>
                                        </p:tgtEl>
                                        <p:attrNameLst>
                                          <p:attrName>ppt_w</p:attrName>
                                        </p:attrNameLst>
                                      </p:cBhvr>
                                      <p:tavLst>
                                        <p:tav tm="0">
                                          <p:val>
                                            <p:strVal val="0"/>
                                          </p:val>
                                        </p:tav>
                                        <p:tav tm="100000">
                                          <p:val>
                                            <p:strVal val="#ppt_w"/>
                                          </p:val>
                                        </p:tav>
                                      </p:tavLst>
                                    </p:anim>
                                    <p:anim calcmode="lin" valueType="num">
                                      <p:cBhvr additive="base">
                                        <p:cTn id="73" dur="550" fill="hold"/>
                                        <p:tgtEl>
                                          <p:spTgt spid="33"/>
                                        </p:tgtEl>
                                        <p:attrNameLst>
                                          <p:attrName>ppt_h</p:attrName>
                                        </p:attrNameLst>
                                      </p:cBhvr>
                                      <p:tavLst>
                                        <p:tav tm="0">
                                          <p:val>
                                            <p:strVal val="0"/>
                                          </p:val>
                                        </p:tav>
                                        <p:tav tm="100000">
                                          <p:val>
                                            <p:strVal val="#ppt_h"/>
                                          </p:val>
                                        </p:tav>
                                      </p:tavLst>
                                    </p:anim>
                                  </p:childTnLst>
                                </p:cTn>
                              </p:par>
                            </p:childTnLst>
                          </p:cTn>
                        </p:par>
                        <p:par>
                          <p:cTn id="74" fill="hold">
                            <p:stCondLst>
                              <p:cond delay="550"/>
                            </p:stCondLst>
                            <p:childTnLst>
                              <p:par>
                                <p:cTn id="75" presetID="42" presetClass="entr" presetSubtype="0" fill="hold" grpId="0" nodeType="afterEffect">
                                  <p:stCondLst>
                                    <p:cond delay="0"/>
                                  </p:stCondLst>
                                  <p:childTnLst>
                                    <p:set>
                                      <p:cBhvr>
                                        <p:cTn id="76" dur="1" fill="hold">
                                          <p:stCondLst>
                                            <p:cond delay="0"/>
                                          </p:stCondLst>
                                        </p:cTn>
                                        <p:tgtEl>
                                          <p:spTgt spid="34"/>
                                        </p:tgtEl>
                                        <p:attrNameLst>
                                          <p:attrName>style.visibility</p:attrName>
                                        </p:attrNameLst>
                                      </p:cBhvr>
                                      <p:to>
                                        <p:strVal val="visible"/>
                                      </p:to>
                                    </p:set>
                                    <p:animEffect transition="in" filter="fade">
                                      <p:cBhvr>
                                        <p:cTn id="77" dur="550"/>
                                        <p:tgtEl>
                                          <p:spTgt spid="34"/>
                                        </p:tgtEl>
                                      </p:cBhvr>
                                    </p:animEffect>
                                    <p:anim calcmode="lin" valueType="num">
                                      <p:cBhvr additive="base">
                                        <p:cTn id="78" dur="550" fill="hold"/>
                                        <p:tgtEl>
                                          <p:spTgt spid="34"/>
                                        </p:tgtEl>
                                        <p:attrNameLst>
                                          <p:attrName>ppt_x</p:attrName>
                                        </p:attrNameLst>
                                      </p:cBhvr>
                                      <p:tavLst>
                                        <p:tav tm="0">
                                          <p:val>
                                            <p:strVal val="#ppt_x"/>
                                          </p:val>
                                        </p:tav>
                                        <p:tav tm="100000">
                                          <p:val>
                                            <p:strVal val="#ppt_x"/>
                                          </p:val>
                                        </p:tav>
                                      </p:tavLst>
                                    </p:anim>
                                    <p:anim calcmode="lin" valueType="num">
                                      <p:cBhvr additive="base">
                                        <p:cTn id="79" dur="550" fill="hold"/>
                                        <p:tgtEl>
                                          <p:spTgt spid="3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3" grpId="0" animBg="1"/>
      <p:bldP spid="26" grpId="0" animBg="1"/>
      <p:bldP spid="25"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7-REJA</a:t>
            </a:r>
          </a:p>
        </p:txBody>
      </p:sp>
      <p:sp>
        <p:nvSpPr>
          <p:cNvPr id="21" name="TextBox 20"/>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Geterogen hisoblash tizimlari</a:t>
            </a:r>
          </a:p>
        </p:txBody>
      </p:sp>
      <p:sp>
        <p:nvSpPr>
          <p:cNvPr id="22" name="Rectangle 21"/>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4" name="Rounded Rectangle 23"/>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22</a:t>
            </a:r>
          </a:p>
        </p:txBody>
      </p:sp>
      <p:sp>
        <p:nvSpPr>
          <p:cNvPr id="25" name="Rounded Rectangle 24"/>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7d63b53ff17fb657.jpg"/>
          <p:cNvPicPr>
            <a:picLocks noChangeAspect="1"/>
          </p:cNvPicPr>
          <p:nvPr/>
        </p:nvPicPr>
        <p:blipFill>
          <a:blip r:embed="rId2"/>
          <a:srcRect l="18235" r="18235"/>
          <a:stretch>
            <a:fillRect/>
          </a:stretch>
        </p:blipFill>
        <p:spPr>
          <a:xfrm>
            <a:off x="7620000" y="1430000"/>
            <a:ext cx="4050000" cy="4250000"/>
          </a:xfrm>
          <a:prstGeom prst="roundRect">
            <a:avLst/>
          </a:prstGeom>
          <a:ln w="19050">
            <a:solidFill>
              <a:srgbClr val="22D3EE"/>
            </a:solidFill>
          </a:ln>
        </p:spPr>
      </p:pic>
      <p:sp>
        <p:nvSpPr>
          <p:cNvPr id="27" name="TextBox 26"/>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Federal Bureau of Investigation · Wikimedia Commons · Public domain</a:t>
            </a:r>
          </a:p>
        </p:txBody>
      </p:sp>
      <p:sp>
        <p:nvSpPr>
          <p:cNvPr id="28" name="Rounded Rectangle 27"/>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9" name="Rounded Rectangle 28"/>
          <p:cNvSpPr/>
          <p:nvPr/>
        </p:nvSpPr>
        <p:spPr>
          <a:xfrm>
            <a:off x="550000" y="2552104"/>
            <a:ext cx="6750000" cy="2475792"/>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0000" y="2632104"/>
            <a:ext cx="50000" cy="2315792"/>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32" name="TextBox 31"/>
          <p:cNvSpPr txBox="1"/>
          <p:nvPr/>
        </p:nvSpPr>
        <p:spPr>
          <a:xfrm>
            <a:off x="1300000" y="2592104"/>
            <a:ext cx="5900000" cy="2395792"/>
          </a:xfrm>
          <a:prstGeom prst="rect">
            <a:avLst/>
          </a:prstGeom>
          <a:noFill/>
        </p:spPr>
        <p:txBody>
          <a:bodyPr wrap="square" anchor="ctr">
            <a:spAutoFit/>
          </a:bodyPr>
          <a:lstStyle/>
          <a:p>
            <a:r>
              <a:rPr sz="1700" b="1">
                <a:solidFill>
                  <a:srgbClr val="E8EEFA"/>
                </a:solidFill>
                <a:latin typeface="Segoe UI"/>
              </a:rPr>
              <a:t>Geterogen tizimni loyihalashda asosiy savol — vazifani kim bajaradi.</a:t>
            </a:r>
          </a:p>
          <a:p>
            <a:pPr>
              <a:spcBef>
                <a:spcPts val="400"/>
              </a:spcBef>
            </a:pPr>
            <a:r>
              <a:rPr sz="1600">
                <a:solidFill>
                  <a:srgbClr val="AEBBD9"/>
                </a:solidFill>
                <a:latin typeface="Segoe UI"/>
              </a:rPr>
              <a:t>Umumiy qoida: muntazam, katta hajmli, parallel hisob (matritsa, konvolyutsiya) — tezlatkichga; tarmoqlanishli, ketma-ket, tizim chaqiruvlari bilan bog'liq ish (fayl o'qish, dekodlash, tarmoq, mantiq) — CPU ga; kiritish-chiqarish bilan bog'liq doimiy quvur (paket tahlili, shifrlash) — DPU yoki FPGA 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1"/>
                                        </p:tgtEl>
                                        <p:attrNameLst>
                                          <p:attrName>style.visibility</p:attrName>
                                        </p:attrNameLst>
                                      </p:cBhvr>
                                      <p:to>
                                        <p:strVal val="visible"/>
                                      </p:to>
                                    </p:set>
                                    <p:animEffect transition="in" filter="fade">
                                      <p:cBhvr>
                                        <p:cTn id="6" dur="550"/>
                                        <p:tgtEl>
                                          <p:spTgt spid="21"/>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1" dur="800"/>
                                        <p:tgtEl>
                                          <p:spTgt spid="22"/>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550"/>
                                        <p:tgtEl>
                                          <p:spTgt spid="25"/>
                                        </p:tgtEl>
                                      </p:cBhvr>
                                    </p:animEffect>
                                    <p:anim calcmode="lin" valueType="num">
                                      <p:cBhvr additive="base">
                                        <p:cTn id="16" dur="550" fill="hold"/>
                                        <p:tgtEl>
                                          <p:spTgt spid="25"/>
                                        </p:tgtEl>
                                        <p:attrNameLst>
                                          <p:attrName>ppt_w</p:attrName>
                                        </p:attrNameLst>
                                      </p:cBhvr>
                                      <p:tavLst>
                                        <p:tav tm="0">
                                          <p:val>
                                            <p:strVal val="0"/>
                                          </p:val>
                                        </p:tav>
                                        <p:tav tm="100000">
                                          <p:val>
                                            <p:strVal val="#ppt_w"/>
                                          </p:val>
                                        </p:tav>
                                      </p:tavLst>
                                    </p:anim>
                                    <p:anim calcmode="lin" valueType="num">
                                      <p:cBhvr additive="base">
                                        <p:cTn id="17" dur="550" fill="hold"/>
                                        <p:tgtEl>
                                          <p:spTgt spid="25"/>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6"/>
                                        </p:tgtEl>
                                        <p:attrNameLst>
                                          <p:attrName>style.visibility</p:attrName>
                                        </p:attrNameLst>
                                      </p:cBhvr>
                                      <p:to>
                                        <p:strVal val="visible"/>
                                      </p:to>
                                    </p:set>
                                    <p:animEffect transition="in" filter="fade">
                                      <p:cBhvr>
                                        <p:cTn id="21" dur="550"/>
                                        <p:tgtEl>
                                          <p:spTgt spid="26"/>
                                        </p:tgtEl>
                                      </p:cBhvr>
                                    </p:animEffect>
                                    <p:anim calcmode="lin" valueType="num">
                                      <p:cBhvr additive="base">
                                        <p:cTn id="22" dur="550" fill="hold"/>
                                        <p:tgtEl>
                                          <p:spTgt spid="26"/>
                                        </p:tgtEl>
                                        <p:attrNameLst>
                                          <p:attrName>ppt_w</p:attrName>
                                        </p:attrNameLst>
                                      </p:cBhvr>
                                      <p:tavLst>
                                        <p:tav tm="0">
                                          <p:val>
                                            <p:strVal val="0"/>
                                          </p:val>
                                        </p:tav>
                                        <p:tav tm="100000">
                                          <p:val>
                                            <p:strVal val="#ppt_w"/>
                                          </p:val>
                                        </p:tav>
                                      </p:tavLst>
                                    </p:anim>
                                    <p:anim calcmode="lin" valueType="num">
                                      <p:cBhvr additive="base">
                                        <p:cTn id="23" dur="550" fill="hold"/>
                                        <p:tgtEl>
                                          <p:spTgt spid="26"/>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550"/>
                                        <p:tgtEl>
                                          <p:spTgt spid="28"/>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550"/>
                                        <p:tgtEl>
                                          <p:spTgt spid="27"/>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550"/>
                                        <p:tgtEl>
                                          <p:spTgt spid="29"/>
                                        </p:tgtEl>
                                      </p:cBhvr>
                                    </p:animEffect>
                                    <p:anim calcmode="lin" valueType="num">
                                      <p:cBhvr additive="base">
                                        <p:cTn id="36" dur="550" fill="hold"/>
                                        <p:tgtEl>
                                          <p:spTgt spid="29"/>
                                        </p:tgtEl>
                                        <p:attrNameLst>
                                          <p:attrName>ppt_x</p:attrName>
                                        </p:attrNameLst>
                                      </p:cBhvr>
                                      <p:tavLst>
                                        <p:tav tm="0">
                                          <p:val>
                                            <p:strVal val="#ppt_x"/>
                                          </p:val>
                                        </p:tav>
                                        <p:tav tm="100000">
                                          <p:val>
                                            <p:strVal val="#ppt_x"/>
                                          </p:val>
                                        </p:tav>
                                      </p:tavLst>
                                    </p:anim>
                                    <p:anim calcmode="lin" valueType="num">
                                      <p:cBhvr additive="base">
                                        <p:cTn id="37" dur="550" fill="hold"/>
                                        <p:tgtEl>
                                          <p:spTgt spid="29"/>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550"/>
                                        <p:tgtEl>
                                          <p:spTgt spid="30"/>
                                        </p:tgtEl>
                                      </p:cBhvr>
                                    </p:animEffect>
                                    <p:anim calcmode="lin" valueType="num">
                                      <p:cBhvr additive="base">
                                        <p:cTn id="42" dur="550" fill="hold"/>
                                        <p:tgtEl>
                                          <p:spTgt spid="30"/>
                                        </p:tgtEl>
                                        <p:attrNameLst>
                                          <p:attrName>ppt_x</p:attrName>
                                        </p:attrNameLst>
                                      </p:cBhvr>
                                      <p:tavLst>
                                        <p:tav tm="0">
                                          <p:val>
                                            <p:strVal val="#ppt_x"/>
                                          </p:val>
                                        </p:tav>
                                        <p:tav tm="100000">
                                          <p:val>
                                            <p:strVal val="#ppt_x"/>
                                          </p:val>
                                        </p:tav>
                                      </p:tavLst>
                                    </p:anim>
                                    <p:anim calcmode="lin" valueType="num">
                                      <p:cBhvr additive="base">
                                        <p:cTn id="43" dur="550" fill="hold"/>
                                        <p:tgtEl>
                                          <p:spTgt spid="30"/>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1"/>
                                        </p:tgtEl>
                                        <p:attrNameLst>
                                          <p:attrName>style.visibility</p:attrName>
                                        </p:attrNameLst>
                                      </p:cBhvr>
                                      <p:to>
                                        <p:strVal val="visible"/>
                                      </p:to>
                                    </p:set>
                                    <p:animEffect transition="in" filter="fade">
                                      <p:cBhvr>
                                        <p:cTn id="47" dur="550"/>
                                        <p:tgtEl>
                                          <p:spTgt spid="31"/>
                                        </p:tgtEl>
                                      </p:cBhvr>
                                    </p:animEffect>
                                    <p:anim calcmode="lin" valueType="num">
                                      <p:cBhvr additive="base">
                                        <p:cTn id="48" dur="550" fill="hold"/>
                                        <p:tgtEl>
                                          <p:spTgt spid="31"/>
                                        </p:tgtEl>
                                        <p:attrNameLst>
                                          <p:attrName>ppt_w</p:attrName>
                                        </p:attrNameLst>
                                      </p:cBhvr>
                                      <p:tavLst>
                                        <p:tav tm="0">
                                          <p:val>
                                            <p:strVal val="0"/>
                                          </p:val>
                                        </p:tav>
                                        <p:tav tm="100000">
                                          <p:val>
                                            <p:strVal val="#ppt_w"/>
                                          </p:val>
                                        </p:tav>
                                      </p:tavLst>
                                    </p:anim>
                                    <p:anim calcmode="lin" valueType="num">
                                      <p:cBhvr additive="base">
                                        <p:cTn id="49" dur="550" fill="hold"/>
                                        <p:tgtEl>
                                          <p:spTgt spid="31"/>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550"/>
                                        <p:tgtEl>
                                          <p:spTgt spid="32"/>
                                        </p:tgtEl>
                                      </p:cBhvr>
                                    </p:animEffect>
                                    <p:anim calcmode="lin" valueType="num">
                                      <p:cBhvr additive="base">
                                        <p:cTn id="54" dur="550" fill="hold"/>
                                        <p:tgtEl>
                                          <p:spTgt spid="32"/>
                                        </p:tgtEl>
                                        <p:attrNameLst>
                                          <p:attrName>ppt_x</p:attrName>
                                        </p:attrNameLst>
                                      </p:cBhvr>
                                      <p:tavLst>
                                        <p:tav tm="0">
                                          <p:val>
                                            <p:strVal val="#ppt_x"/>
                                          </p:val>
                                        </p:tav>
                                        <p:tav tm="100000">
                                          <p:val>
                                            <p:strVal val="#ppt_x"/>
                                          </p:val>
                                        </p:tav>
                                      </p:tavLst>
                                    </p:anim>
                                    <p:anim calcmode="lin" valueType="num">
                                      <p:cBhvr additive="base">
                                        <p:cTn id="55" dur="550" fill="hold"/>
                                        <p:tgtEl>
                                          <p:spTgt spid="3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animBg="1"/>
      <p:bldP spid="25" grpId="0" animBg="1"/>
      <p:bldP spid="28" grpId="0" animBg="1"/>
      <p:bldP spid="27" grpId="0" animBg="1"/>
      <p:bldP spid="29" grpId="0" animBg="1"/>
      <p:bldP spid="30" grpId="0" animBg="1"/>
      <p:bldP spid="31" grpId="0" animBg="1"/>
      <p:bldP spid="32"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400000" y="5040000"/>
            <a:ext cx="1666666"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00000" y="5266666"/>
            <a:ext cx="1666666"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0000" y="5266666"/>
            <a:ext cx="1666666" cy="45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400000" y="5266666"/>
            <a:ext cx="1666666"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400000" y="5040000"/>
            <a:ext cx="1666666"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400000" y="5380000"/>
            <a:ext cx="1666666" cy="45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0000" y="5833333"/>
            <a:ext cx="1666666"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66666" y="504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66666" y="504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66666" y="538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2066666" y="504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066666" y="538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066666" y="5040000"/>
            <a:ext cx="1666667" cy="102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2066666" y="5380000"/>
            <a:ext cx="1666667" cy="68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2066666" y="5720000"/>
            <a:ext cx="1666667" cy="34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066666" y="6060000"/>
            <a:ext cx="1666667"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733333" y="5040000"/>
            <a:ext cx="1666667" cy="22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733333" y="5040000"/>
            <a:ext cx="1666667" cy="79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733333" y="5266666"/>
            <a:ext cx="1666667" cy="11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733333" y="5720000"/>
            <a:ext cx="1666667" cy="11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733333" y="5266666"/>
            <a:ext cx="1666667" cy="79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733333" y="5833333"/>
            <a:ext cx="1666667" cy="22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96666"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996666"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996666"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996666"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63333" y="497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63333" y="5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63333" y="565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63333" y="599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330000" y="51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5330000" y="5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150000" y="650000"/>
            <a:ext cx="5600000" cy="5250000"/>
          </a:xfrm>
          <a:prstGeom prst="roundRect">
            <a:avLst>
              <a:gd name="adj" fmla="val 6000"/>
            </a:avLst>
          </a:prstGeom>
          <a:noFill/>
          <a:ln w="1905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4" name="Picture 43" descr="b21101a96eb0d69a.jpg"/>
          <p:cNvPicPr>
            <a:picLocks noChangeAspect="1"/>
          </p:cNvPicPr>
          <p:nvPr/>
        </p:nvPicPr>
        <p:blipFill>
          <a:blip r:embed="rId2"/>
          <a:srcRect l="6084" r="6084"/>
          <a:stretch>
            <a:fillRect/>
          </a:stretch>
        </p:blipFill>
        <p:spPr>
          <a:xfrm>
            <a:off x="6300000" y="800000"/>
            <a:ext cx="5300000" cy="4950000"/>
          </a:xfrm>
          <a:prstGeom prst="roundRect">
            <a:avLst/>
          </a:prstGeom>
          <a:ln w="19050">
            <a:solidFill>
              <a:srgbClr val="22D3EE"/>
            </a:solidFill>
          </a:ln>
        </p:spPr>
      </p:pic>
      <p:sp>
        <p:nvSpPr>
          <p:cNvPr id="45" name="TextBox 44"/>
          <p:cNvSpPr txBox="1"/>
          <p:nvPr/>
        </p:nvSpPr>
        <p:spPr>
          <a:xfrm>
            <a:off x="6300000" y="5780000"/>
            <a:ext cx="5300000" cy="260000"/>
          </a:xfrm>
          <a:prstGeom prst="rect">
            <a:avLst/>
          </a:prstGeom>
          <a:noFill/>
        </p:spPr>
        <p:txBody>
          <a:bodyPr wrap="square" anchor="t" lIns="50800" rIns="50800">
            <a:spAutoFit/>
          </a:bodyPr>
          <a:lstStyle/>
          <a:p>
            <a:pPr algn="l"/>
            <a:r>
              <a:rPr sz="800" b="0">
                <a:solidFill>
                  <a:srgbClr val="707EAA"/>
                </a:solidFill>
                <a:latin typeface="Segoe UI"/>
              </a:rPr>
              <a:t>Rasm: OLCF at ORNL · Wikimedia Commons · CC BY 2.0</a:t>
            </a:r>
          </a:p>
        </p:txBody>
      </p:sp>
      <p:sp>
        <p:nvSpPr>
          <p:cNvPr id="46" name="TextBox 45"/>
          <p:cNvSpPr txBox="1"/>
          <p:nvPr/>
        </p:nvSpPr>
        <p:spPr>
          <a:xfrm>
            <a:off x="600000" y="700000"/>
            <a:ext cx="3500000" cy="1600000"/>
          </a:xfrm>
          <a:prstGeom prst="rect">
            <a:avLst/>
          </a:prstGeom>
          <a:noFill/>
        </p:spPr>
        <p:txBody>
          <a:bodyPr wrap="square" anchor="t" lIns="50800" rIns="50800">
            <a:spAutoFit/>
          </a:bodyPr>
          <a:lstStyle/>
          <a:p>
            <a:pPr algn="l"/>
            <a:r>
              <a:rPr sz="8800" b="1">
                <a:solidFill>
                  <a:srgbClr val="22D3EE"/>
                </a:solidFill>
                <a:latin typeface="Segoe UI"/>
              </a:rPr>
              <a:t>08</a:t>
            </a:r>
          </a:p>
        </p:txBody>
      </p:sp>
      <p:sp>
        <p:nvSpPr>
          <p:cNvPr id="47" name="TextBox 46"/>
          <p:cNvSpPr txBox="1"/>
          <p:nvPr/>
        </p:nvSpPr>
        <p:spPr>
          <a:xfrm>
            <a:off x="650000" y="2250000"/>
            <a:ext cx="5200000" cy="350000"/>
          </a:xfrm>
          <a:prstGeom prst="rect">
            <a:avLst/>
          </a:prstGeom>
          <a:noFill/>
        </p:spPr>
        <p:txBody>
          <a:bodyPr wrap="square" anchor="t" lIns="50800" rIns="50800">
            <a:spAutoFit/>
          </a:bodyPr>
          <a:lstStyle/>
          <a:p>
            <a:pPr algn="l"/>
            <a:r>
              <a:rPr sz="1200" b="1">
                <a:solidFill>
                  <a:srgbClr val="8B5CF6"/>
                </a:solidFill>
                <a:latin typeface="Segoe UI"/>
              </a:rPr>
              <a:t>REJA BANDI</a:t>
            </a:r>
          </a:p>
        </p:txBody>
      </p:sp>
      <p:sp>
        <p:nvSpPr>
          <p:cNvPr id="48" name="TextBox 47"/>
          <p:cNvSpPr txBox="1"/>
          <p:nvPr/>
        </p:nvSpPr>
        <p:spPr>
          <a:xfrm>
            <a:off x="600000" y="2650000"/>
            <a:ext cx="5400000" cy="1800000"/>
          </a:xfrm>
          <a:prstGeom prst="rect">
            <a:avLst/>
          </a:prstGeom>
          <a:noFill/>
        </p:spPr>
        <p:txBody>
          <a:bodyPr wrap="square" anchor="t" lIns="50800" rIns="50800">
            <a:spAutoFit/>
          </a:bodyPr>
          <a:lstStyle/>
          <a:p>
            <a:pPr algn="l"/>
            <a:r>
              <a:rPr sz="3200" b="1">
                <a:solidFill>
                  <a:srgbClr val="E8EEFA"/>
                </a:solidFill>
                <a:latin typeface="Segoe UI"/>
              </a:rPr>
              <a:t>Zamonaviy AI serverlari va superkompyuterlar</a:t>
            </a:r>
          </a:p>
        </p:txBody>
      </p:sp>
      <p:sp>
        <p:nvSpPr>
          <p:cNvPr id="49" name="Rectangle 48"/>
          <p:cNvSpPr/>
          <p:nvPr/>
        </p:nvSpPr>
        <p:spPr>
          <a:xfrm>
            <a:off x="660000" y="4450000"/>
            <a:ext cx="22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0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150"/>
                            </p:stCondLst>
                            <p:childTnLst>
                              <p:par>
                                <p:cTn id="164" presetID="53" presetClass="entr" presetSubtype="16"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anim calcmode="lin" valueType="num">
                                      <p:cBhvr additive="base">
                                        <p:cTn id="167" dur="550" fill="hold"/>
                                        <p:tgtEl>
                                          <p:spTgt spid="43"/>
                                        </p:tgtEl>
                                        <p:attrNameLst>
                                          <p:attrName>ppt_w</p:attrName>
                                        </p:attrNameLst>
                                      </p:cBhvr>
                                      <p:tavLst>
                                        <p:tav tm="0">
                                          <p:val>
                                            <p:strVal val="0"/>
                                          </p:val>
                                        </p:tav>
                                        <p:tav tm="100000">
                                          <p:val>
                                            <p:strVal val="#ppt_w"/>
                                          </p:val>
                                        </p:tav>
                                      </p:tavLst>
                                    </p:anim>
                                    <p:anim calcmode="lin" valueType="num">
                                      <p:cBhvr additive="base">
                                        <p:cTn id="168" dur="550" fill="hold"/>
                                        <p:tgtEl>
                                          <p:spTgt spid="43"/>
                                        </p:tgtEl>
                                        <p:attrNameLst>
                                          <p:attrName>ppt_h</p:attrName>
                                        </p:attrNameLst>
                                      </p:cBhvr>
                                      <p:tavLst>
                                        <p:tav tm="0">
                                          <p:val>
                                            <p:strVal val="0"/>
                                          </p:val>
                                        </p:tav>
                                        <p:tav tm="100000">
                                          <p:val>
                                            <p:strVal val="#ppt_h"/>
                                          </p:val>
                                        </p:tav>
                                      </p:tavLst>
                                    </p:anim>
                                  </p:childTnLst>
                                </p:cTn>
                              </p:par>
                            </p:childTnLst>
                          </p:cTn>
                        </p:par>
                        <p:par>
                          <p:cTn id="169" fill="hold">
                            <p:stCondLst>
                              <p:cond delay="150"/>
                            </p:stCondLst>
                            <p:childTnLst>
                              <p:par>
                                <p:cTn id="170" presetID="53" presetClass="entr" presetSubtype="16" fill="hold" grpId="0" nodeType="afterEffect">
                                  <p:stCondLst>
                                    <p:cond delay="0"/>
                                  </p:stCondLst>
                                  <p:childTnLst>
                                    <p:set>
                                      <p:cBhvr>
                                        <p:cTn id="171" dur="1" fill="hold">
                                          <p:stCondLst>
                                            <p:cond delay="0"/>
                                          </p:stCondLst>
                                        </p:cTn>
                                        <p:tgtEl>
                                          <p:spTgt spid="44"/>
                                        </p:tgtEl>
                                        <p:attrNameLst>
                                          <p:attrName>style.visibility</p:attrName>
                                        </p:attrNameLst>
                                      </p:cBhvr>
                                      <p:to>
                                        <p:strVal val="visible"/>
                                      </p:to>
                                    </p:set>
                                    <p:animEffect transition="in" filter="fade">
                                      <p:cBhvr>
                                        <p:cTn id="172" dur="550"/>
                                        <p:tgtEl>
                                          <p:spTgt spid="44"/>
                                        </p:tgtEl>
                                      </p:cBhvr>
                                    </p:animEffect>
                                    <p:anim calcmode="lin" valueType="num">
                                      <p:cBhvr additive="base">
                                        <p:cTn id="173" dur="550" fill="hold"/>
                                        <p:tgtEl>
                                          <p:spTgt spid="44"/>
                                        </p:tgtEl>
                                        <p:attrNameLst>
                                          <p:attrName>ppt_w</p:attrName>
                                        </p:attrNameLst>
                                      </p:cBhvr>
                                      <p:tavLst>
                                        <p:tav tm="0">
                                          <p:val>
                                            <p:strVal val="0"/>
                                          </p:val>
                                        </p:tav>
                                        <p:tav tm="100000">
                                          <p:val>
                                            <p:strVal val="#ppt_w"/>
                                          </p:val>
                                        </p:tav>
                                      </p:tavLst>
                                    </p:anim>
                                    <p:anim calcmode="lin" valueType="num">
                                      <p:cBhvr additive="base">
                                        <p:cTn id="174" dur="550" fill="hold"/>
                                        <p:tgtEl>
                                          <p:spTgt spid="44"/>
                                        </p:tgtEl>
                                        <p:attrNameLst>
                                          <p:attrName>ppt_h</p:attrName>
                                        </p:attrNameLst>
                                      </p:cBhvr>
                                      <p:tavLst>
                                        <p:tav tm="0">
                                          <p:val>
                                            <p:strVal val="0"/>
                                          </p:val>
                                        </p:tav>
                                        <p:tav tm="100000">
                                          <p:val>
                                            <p:strVal val="#ppt_h"/>
                                          </p:val>
                                        </p:tav>
                                      </p:tavLst>
                                    </p:anim>
                                  </p:childTnLst>
                                </p:cTn>
                              </p:par>
                            </p:childTnLst>
                          </p:cTn>
                        </p:par>
                        <p:par>
                          <p:cTn id="175" fill="hold">
                            <p:stCondLst>
                              <p:cond delay="150"/>
                            </p:stCondLst>
                            <p:childTnLst>
                              <p:par>
                                <p:cTn id="176" presetID="10" presetClass="entr" presetSubtype="0" fill="hold" grpId="0" nodeType="afterEffect">
                                  <p:stCondLst>
                                    <p:cond delay="0"/>
                                  </p:stCondLst>
                                  <p:childTnLst>
                                    <p:set>
                                      <p:cBhvr>
                                        <p:cTn id="177" dur="1" fill="hold">
                                          <p:stCondLst>
                                            <p:cond delay="0"/>
                                          </p:stCondLst>
                                        </p:cTn>
                                        <p:tgtEl>
                                          <p:spTgt spid="45"/>
                                        </p:tgtEl>
                                        <p:attrNameLst>
                                          <p:attrName>style.visibility</p:attrName>
                                        </p:attrNameLst>
                                      </p:cBhvr>
                                      <p:to>
                                        <p:strVal val="visible"/>
                                      </p:to>
                                    </p:set>
                                    <p:animEffect transition="in" filter="fade">
                                      <p:cBhvr>
                                        <p:cTn id="178" dur="550"/>
                                        <p:tgtEl>
                                          <p:spTgt spid="45"/>
                                        </p:tgtEl>
                                      </p:cBhvr>
                                    </p:animEffect>
                                  </p:childTnLst>
                                </p:cTn>
                              </p:par>
                            </p:childTnLst>
                          </p:cTn>
                        </p:par>
                        <p:par>
                          <p:cTn id="179" fill="hold">
                            <p:stCondLst>
                              <p:cond delay="350"/>
                            </p:stCondLst>
                            <p:childTnLst>
                              <p:par>
                                <p:cTn id="180" presetID="53" presetClass="entr" presetSubtype="16" fill="hold" grpId="0" nodeType="afterEffect">
                                  <p:stCondLst>
                                    <p:cond delay="0"/>
                                  </p:stCondLst>
                                  <p:childTnLst>
                                    <p:set>
                                      <p:cBhvr>
                                        <p:cTn id="181" dur="1" fill="hold">
                                          <p:stCondLst>
                                            <p:cond delay="0"/>
                                          </p:stCondLst>
                                        </p:cTn>
                                        <p:tgtEl>
                                          <p:spTgt spid="46"/>
                                        </p:tgtEl>
                                        <p:attrNameLst>
                                          <p:attrName>style.visibility</p:attrName>
                                        </p:attrNameLst>
                                      </p:cBhvr>
                                      <p:to>
                                        <p:strVal val="visible"/>
                                      </p:to>
                                    </p:set>
                                    <p:animEffect transition="in" filter="fade">
                                      <p:cBhvr>
                                        <p:cTn id="182" dur="550"/>
                                        <p:tgtEl>
                                          <p:spTgt spid="46"/>
                                        </p:tgtEl>
                                      </p:cBhvr>
                                    </p:animEffect>
                                    <p:anim calcmode="lin" valueType="num">
                                      <p:cBhvr additive="base">
                                        <p:cTn id="183" dur="550" fill="hold"/>
                                        <p:tgtEl>
                                          <p:spTgt spid="46"/>
                                        </p:tgtEl>
                                        <p:attrNameLst>
                                          <p:attrName>ppt_w</p:attrName>
                                        </p:attrNameLst>
                                      </p:cBhvr>
                                      <p:tavLst>
                                        <p:tav tm="0">
                                          <p:val>
                                            <p:strVal val="0"/>
                                          </p:val>
                                        </p:tav>
                                        <p:tav tm="100000">
                                          <p:val>
                                            <p:strVal val="#ppt_w"/>
                                          </p:val>
                                        </p:tav>
                                      </p:tavLst>
                                    </p:anim>
                                    <p:anim calcmode="lin" valueType="num">
                                      <p:cBhvr additive="base">
                                        <p:cTn id="184" dur="550" fill="hold"/>
                                        <p:tgtEl>
                                          <p:spTgt spid="46"/>
                                        </p:tgtEl>
                                        <p:attrNameLst>
                                          <p:attrName>ppt_h</p:attrName>
                                        </p:attrNameLst>
                                      </p:cBhvr>
                                      <p:tavLst>
                                        <p:tav tm="0">
                                          <p:val>
                                            <p:strVal val="0"/>
                                          </p:val>
                                        </p:tav>
                                        <p:tav tm="100000">
                                          <p:val>
                                            <p:strVal val="#ppt_h"/>
                                          </p:val>
                                        </p:tav>
                                      </p:tavLst>
                                    </p:anim>
                                  </p:childTnLst>
                                </p:cTn>
                              </p:par>
                            </p:childTnLst>
                          </p:cTn>
                        </p:par>
                        <p:par>
                          <p:cTn id="185" fill="hold">
                            <p:stCondLst>
                              <p:cond delay="450"/>
                            </p:stCondLst>
                            <p:childTnLst>
                              <p:par>
                                <p:cTn id="186" presetID="10" presetClass="entr" presetSubtype="0" fill="hold" grpId="0" nodeType="afterEffect">
                                  <p:stCondLst>
                                    <p:cond delay="0"/>
                                  </p:stCondLst>
                                  <p:childTnLst>
                                    <p:set>
                                      <p:cBhvr>
                                        <p:cTn id="187" dur="1" fill="hold">
                                          <p:stCondLst>
                                            <p:cond delay="0"/>
                                          </p:stCondLst>
                                        </p:cTn>
                                        <p:tgtEl>
                                          <p:spTgt spid="47"/>
                                        </p:tgtEl>
                                        <p:attrNameLst>
                                          <p:attrName>style.visibility</p:attrName>
                                        </p:attrNameLst>
                                      </p:cBhvr>
                                      <p:to>
                                        <p:strVal val="visible"/>
                                      </p:to>
                                    </p:set>
                                    <p:animEffect transition="in" filter="fade">
                                      <p:cBhvr>
                                        <p:cTn id="188" dur="550"/>
                                        <p:tgtEl>
                                          <p:spTgt spid="47"/>
                                        </p:tgtEl>
                                      </p:cBhvr>
                                    </p:animEffect>
                                  </p:childTnLst>
                                </p:cTn>
                              </p:par>
                            </p:childTnLst>
                          </p:cTn>
                        </p:par>
                        <p:par>
                          <p:cTn id="189" fill="hold">
                            <p:stCondLst>
                              <p:cond delay="550"/>
                            </p:stCondLst>
                            <p:childTnLst>
                              <p:par>
                                <p:cTn id="190" presetID="2" presetClass="entr" presetSubtype="8" fill="hold" grpId="0" nodeType="afterEffect">
                                  <p:stCondLst>
                                    <p:cond delay="0"/>
                                  </p:stCondLst>
                                  <p:childTnLst>
                                    <p:set>
                                      <p:cBhvr>
                                        <p:cTn id="191" dur="1" fill="hold">
                                          <p:stCondLst>
                                            <p:cond delay="0"/>
                                          </p:stCondLst>
                                        </p:cTn>
                                        <p:tgtEl>
                                          <p:spTgt spid="48"/>
                                        </p:tgtEl>
                                        <p:attrNameLst>
                                          <p:attrName>style.visibility</p:attrName>
                                        </p:attrNameLst>
                                      </p:cBhvr>
                                      <p:to>
                                        <p:strVal val="visible"/>
                                      </p:to>
                                    </p:set>
                                    <p:anim calcmode="lin" valueType="num">
                                      <p:cBhvr additive="base">
                                        <p:cTn id="193" dur="550" fill="hold"/>
                                        <p:tgtEl>
                                          <p:spTgt spid="48"/>
                                        </p:tgtEl>
                                        <p:attrNameLst>
                                          <p:attrName>ppt_x</p:attrName>
                                        </p:attrNameLst>
                                      </p:cBhvr>
                                      <p:tavLst>
                                        <p:tav tm="0">
                                          <p:val>
                                            <p:strVal val="0-#ppt_w/2"/>
                                          </p:val>
                                        </p:tav>
                                        <p:tav tm="100000">
                                          <p:val>
                                            <p:strVal val="#ppt_x"/>
                                          </p:val>
                                        </p:tav>
                                      </p:tavLst>
                                    </p:anim>
                                    <p:anim calcmode="lin" valueType="num">
                                      <p:cBhvr additive="base">
                                        <p:cTn id="194" dur="550" fill="hold"/>
                                        <p:tgtEl>
                                          <p:spTgt spid="48"/>
                                        </p:tgtEl>
                                        <p:attrNameLst>
                                          <p:attrName>ppt_y</p:attrName>
                                        </p:attrNameLst>
                                      </p:cBhvr>
                                      <p:tavLst>
                                        <p:tav tm="0">
                                          <p:val>
                                            <p:strVal val="#ppt_y"/>
                                          </p:val>
                                        </p:tav>
                                        <p:tav tm="100000">
                                          <p:val>
                                            <p:strVal val="#ppt_y"/>
                                          </p:val>
                                        </p:tav>
                                      </p:tavLst>
                                    </p:anim>
                                  </p:childTnLst>
                                </p:cTn>
                              </p:par>
                            </p:childTnLst>
                          </p:cTn>
                        </p:par>
                        <p:par>
                          <p:cTn id="195" fill="hold">
                            <p:stCondLst>
                              <p:cond delay="650"/>
                            </p:stCondLst>
                            <p:childTnLst>
                              <p:par>
                                <p:cTn id="196" presetID="22" presetClass="entr" presetSubtype="8" fill="hold" grpId="0" nodeType="afterEffect">
                                  <p:stCondLst>
                                    <p:cond delay="0"/>
                                  </p:stCondLst>
                                  <p:childTnLst>
                                    <p:set>
                                      <p:cBhvr>
                                        <p:cTn id="197" dur="1" fill="hold">
                                          <p:stCondLst>
                                            <p:cond delay="0"/>
                                          </p:stCondLst>
                                        </p:cTn>
                                        <p:tgtEl>
                                          <p:spTgt spid="49"/>
                                        </p:tgtEl>
                                        <p:attrNameLst>
                                          <p:attrName>style.visibility</p:attrName>
                                        </p:attrNameLst>
                                      </p:cBhvr>
                                      <p:to>
                                        <p:strVal val="visible"/>
                                      </p:to>
                                    </p:set>
                                    <p:animEffect transition="in" filter="wipe(left)">
                                      <p:cBhvr>
                                        <p:cTn id="199" dur="8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5" grpId="0" animBg="1"/>
      <p:bldP spid="46" grpId="0" animBg="1"/>
      <p:bldP spid="47" grpId="0" animBg="1"/>
      <p:bldP spid="48" grpId="0" animBg="1"/>
      <p:bldP spid="49"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035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035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1110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8-REJA</a:t>
            </a:r>
          </a:p>
        </p:txBody>
      </p:sp>
      <p:sp>
        <p:nvSpPr>
          <p:cNvPr id="20" name="TextBox 19"/>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Zamonaviy AI serverlari va superkompyuterlar</a:t>
            </a:r>
          </a:p>
        </p:txBody>
      </p:sp>
      <p:sp>
        <p:nvSpPr>
          <p:cNvPr id="21" name="Rectangle 20"/>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3" name="Rounded Rectangle 22"/>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24</a:t>
            </a:r>
          </a:p>
        </p:txBody>
      </p:sp>
      <p:sp>
        <p:nvSpPr>
          <p:cNvPr id="24" name="Rounded Rectangle 23"/>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6b4d8b5ed199029.jpg"/>
          <p:cNvPicPr>
            <a:picLocks noChangeAspect="1"/>
          </p:cNvPicPr>
          <p:nvPr/>
        </p:nvPicPr>
        <p:blipFill>
          <a:blip r:embed="rId2"/>
          <a:srcRect l="4289" r="4289"/>
          <a:stretch>
            <a:fillRect/>
          </a:stretch>
        </p:blipFill>
        <p:spPr>
          <a:xfrm>
            <a:off x="7620000" y="1430000"/>
            <a:ext cx="4050000" cy="4250000"/>
          </a:xfrm>
          <a:prstGeom prst="roundRect">
            <a:avLst/>
          </a:prstGeom>
          <a:ln w="19050">
            <a:solidFill>
              <a:srgbClr val="22D3EE"/>
            </a:solidFill>
          </a:ln>
        </p:spPr>
      </p:pic>
      <p:sp>
        <p:nvSpPr>
          <p:cNvPr id="26" name="TextBox 25"/>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Teewurzler · Wikimedia Commons · CC BY-SA 4.0</a:t>
            </a:r>
          </a:p>
        </p:txBody>
      </p:sp>
      <p:sp>
        <p:nvSpPr>
          <p:cNvPr id="27" name="Rounded Rectangle 26"/>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8" name="Rounded Rectangle 27"/>
          <p:cNvSpPr/>
          <p:nvPr/>
        </p:nvSpPr>
        <p:spPr>
          <a:xfrm>
            <a:off x="550000" y="2686216"/>
            <a:ext cx="6750000" cy="2207568"/>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50000" y="2766216"/>
            <a:ext cx="50000" cy="204756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60000" y="3590000"/>
            <a:ext cx="400000" cy="400000"/>
          </a:xfrm>
          <a:prstGeom prst="ellipse">
            <a:avLst/>
          </a:prstGeom>
          <a:no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22D3EE"/>
                </a:solidFill>
                <a:latin typeface="Segoe UI"/>
              </a:rPr>
              <a:t>01</a:t>
            </a:r>
          </a:p>
        </p:txBody>
      </p:sp>
      <p:sp>
        <p:nvSpPr>
          <p:cNvPr id="31" name="TextBox 30"/>
          <p:cNvSpPr txBox="1"/>
          <p:nvPr/>
        </p:nvSpPr>
        <p:spPr>
          <a:xfrm>
            <a:off x="1300000" y="2726216"/>
            <a:ext cx="5900000" cy="2127568"/>
          </a:xfrm>
          <a:prstGeom prst="rect">
            <a:avLst/>
          </a:prstGeom>
          <a:noFill/>
        </p:spPr>
        <p:txBody>
          <a:bodyPr wrap="square" anchor="ctr">
            <a:spAutoFit/>
          </a:bodyPr>
          <a:lstStyle/>
          <a:p>
            <a:r>
              <a:rPr sz="1700" b="1">
                <a:solidFill>
                  <a:srgbClr val="E8EEFA"/>
                </a:solidFill>
                <a:latin typeface="Segoe UI"/>
              </a:rPr>
              <a:t>Standart AI o'qitish serveri 8 ta tezlatkichli konfiguratsiya atrofida shakllangan.</a:t>
            </a:r>
          </a:p>
          <a:p>
            <a:pPr>
              <a:spcBef>
                <a:spcPts val="400"/>
              </a:spcBef>
            </a:pPr>
            <a:r>
              <a:rPr sz="1600">
                <a:solidFill>
                  <a:srgbClr val="AEBBD9"/>
                </a:solidFill>
                <a:latin typeface="Segoe UI"/>
              </a:rPr>
              <a:t>NVIDIA DGX H100: 8 × H100 SXM (jami 640 GB HBM3), 4 ta NVSwitch orqali har qanday GPU juftligi 900 GB/s bilan bog'langan, 2 ta Intel Xeon 8480C (112 yadro), 2 TB DDR5, 8 ta ConnectX-7 (400 Gbit/s InfiniBand NDR) tarmoq adapteri, 30 TB NVMe va 10,2 kVt quvvat.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20"/>
                                        </p:tgtEl>
                                        <p:attrNameLst>
                                          <p:attrName>style.visibility</p:attrName>
                                        </p:attrNameLst>
                                      </p:cBhvr>
                                      <p:to>
                                        <p:strVal val="visible"/>
                                      </p:to>
                                    </p:set>
                                    <p:animEffect transition="in" filter="fade">
                                      <p:cBhvr>
                                        <p:cTn id="6" dur="550"/>
                                        <p:tgtEl>
                                          <p:spTgt spid="20"/>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wipe(left)">
                                      <p:cBhvr>
                                        <p:cTn id="11" dur="800"/>
                                        <p:tgtEl>
                                          <p:spTgt spid="21"/>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550"/>
                                        <p:tgtEl>
                                          <p:spTgt spid="24"/>
                                        </p:tgtEl>
                                      </p:cBhvr>
                                    </p:animEffect>
                                    <p:anim calcmode="lin" valueType="num">
                                      <p:cBhvr additive="base">
                                        <p:cTn id="16" dur="550" fill="hold"/>
                                        <p:tgtEl>
                                          <p:spTgt spid="24"/>
                                        </p:tgtEl>
                                        <p:attrNameLst>
                                          <p:attrName>ppt_w</p:attrName>
                                        </p:attrNameLst>
                                      </p:cBhvr>
                                      <p:tavLst>
                                        <p:tav tm="0">
                                          <p:val>
                                            <p:strVal val="0"/>
                                          </p:val>
                                        </p:tav>
                                        <p:tav tm="100000">
                                          <p:val>
                                            <p:strVal val="#ppt_w"/>
                                          </p:val>
                                        </p:tav>
                                      </p:tavLst>
                                    </p:anim>
                                    <p:anim calcmode="lin" valueType="num">
                                      <p:cBhvr additive="base">
                                        <p:cTn id="17" dur="550" fill="hold"/>
                                        <p:tgtEl>
                                          <p:spTgt spid="24"/>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5"/>
                                        </p:tgtEl>
                                        <p:attrNameLst>
                                          <p:attrName>style.visibility</p:attrName>
                                        </p:attrNameLst>
                                      </p:cBhvr>
                                      <p:to>
                                        <p:strVal val="visible"/>
                                      </p:to>
                                    </p:set>
                                    <p:animEffect transition="in" filter="fade">
                                      <p:cBhvr>
                                        <p:cTn id="21" dur="550"/>
                                        <p:tgtEl>
                                          <p:spTgt spid="25"/>
                                        </p:tgtEl>
                                      </p:cBhvr>
                                    </p:animEffect>
                                    <p:anim calcmode="lin" valueType="num">
                                      <p:cBhvr additive="base">
                                        <p:cTn id="22" dur="550" fill="hold"/>
                                        <p:tgtEl>
                                          <p:spTgt spid="25"/>
                                        </p:tgtEl>
                                        <p:attrNameLst>
                                          <p:attrName>ppt_w</p:attrName>
                                        </p:attrNameLst>
                                      </p:cBhvr>
                                      <p:tavLst>
                                        <p:tav tm="0">
                                          <p:val>
                                            <p:strVal val="0"/>
                                          </p:val>
                                        </p:tav>
                                        <p:tav tm="100000">
                                          <p:val>
                                            <p:strVal val="#ppt_w"/>
                                          </p:val>
                                        </p:tav>
                                      </p:tavLst>
                                    </p:anim>
                                    <p:anim calcmode="lin" valueType="num">
                                      <p:cBhvr additive="base">
                                        <p:cTn id="23" dur="550" fill="hold"/>
                                        <p:tgtEl>
                                          <p:spTgt spid="25"/>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550"/>
                                        <p:tgtEl>
                                          <p:spTgt spid="27"/>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50"/>
                                        <p:tgtEl>
                                          <p:spTgt spid="26"/>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8"/>
                                        </p:tgtEl>
                                        <p:attrNameLst>
                                          <p:attrName>style.visibility</p:attrName>
                                        </p:attrNameLst>
                                      </p:cBhvr>
                                      <p:to>
                                        <p:strVal val="visible"/>
                                      </p:to>
                                    </p:set>
                                    <p:animEffect transition="in" filter="fade">
                                      <p:cBhvr>
                                        <p:cTn id="35" dur="550"/>
                                        <p:tgtEl>
                                          <p:spTgt spid="28"/>
                                        </p:tgtEl>
                                      </p:cBhvr>
                                    </p:animEffect>
                                    <p:anim calcmode="lin" valueType="num">
                                      <p:cBhvr additive="base">
                                        <p:cTn id="36" dur="550" fill="hold"/>
                                        <p:tgtEl>
                                          <p:spTgt spid="28"/>
                                        </p:tgtEl>
                                        <p:attrNameLst>
                                          <p:attrName>ppt_x</p:attrName>
                                        </p:attrNameLst>
                                      </p:cBhvr>
                                      <p:tavLst>
                                        <p:tav tm="0">
                                          <p:val>
                                            <p:strVal val="#ppt_x"/>
                                          </p:val>
                                        </p:tav>
                                        <p:tav tm="100000">
                                          <p:val>
                                            <p:strVal val="#ppt_x"/>
                                          </p:val>
                                        </p:tav>
                                      </p:tavLst>
                                    </p:anim>
                                    <p:anim calcmode="lin" valueType="num">
                                      <p:cBhvr additive="base">
                                        <p:cTn id="37" dur="550" fill="hold"/>
                                        <p:tgtEl>
                                          <p:spTgt spid="28"/>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9"/>
                                        </p:tgtEl>
                                        <p:attrNameLst>
                                          <p:attrName>style.visibility</p:attrName>
                                        </p:attrNameLst>
                                      </p:cBhvr>
                                      <p:to>
                                        <p:strVal val="visible"/>
                                      </p:to>
                                    </p:set>
                                    <p:animEffect transition="in" filter="fade">
                                      <p:cBhvr>
                                        <p:cTn id="41" dur="550"/>
                                        <p:tgtEl>
                                          <p:spTgt spid="29"/>
                                        </p:tgtEl>
                                      </p:cBhvr>
                                    </p:animEffect>
                                    <p:anim calcmode="lin" valueType="num">
                                      <p:cBhvr additive="base">
                                        <p:cTn id="42" dur="550" fill="hold"/>
                                        <p:tgtEl>
                                          <p:spTgt spid="29"/>
                                        </p:tgtEl>
                                        <p:attrNameLst>
                                          <p:attrName>ppt_x</p:attrName>
                                        </p:attrNameLst>
                                      </p:cBhvr>
                                      <p:tavLst>
                                        <p:tav tm="0">
                                          <p:val>
                                            <p:strVal val="#ppt_x"/>
                                          </p:val>
                                        </p:tav>
                                        <p:tav tm="100000">
                                          <p:val>
                                            <p:strVal val="#ppt_x"/>
                                          </p:val>
                                        </p:tav>
                                      </p:tavLst>
                                    </p:anim>
                                    <p:anim calcmode="lin" valueType="num">
                                      <p:cBhvr additive="base">
                                        <p:cTn id="43" dur="550" fill="hold"/>
                                        <p:tgtEl>
                                          <p:spTgt spid="29"/>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30"/>
                                        </p:tgtEl>
                                        <p:attrNameLst>
                                          <p:attrName>style.visibility</p:attrName>
                                        </p:attrNameLst>
                                      </p:cBhvr>
                                      <p:to>
                                        <p:strVal val="visible"/>
                                      </p:to>
                                    </p:set>
                                    <p:animEffect transition="in" filter="fade">
                                      <p:cBhvr>
                                        <p:cTn id="47" dur="550"/>
                                        <p:tgtEl>
                                          <p:spTgt spid="30"/>
                                        </p:tgtEl>
                                      </p:cBhvr>
                                    </p:animEffect>
                                    <p:anim calcmode="lin" valueType="num">
                                      <p:cBhvr additive="base">
                                        <p:cTn id="48" dur="550" fill="hold"/>
                                        <p:tgtEl>
                                          <p:spTgt spid="30"/>
                                        </p:tgtEl>
                                        <p:attrNameLst>
                                          <p:attrName>ppt_w</p:attrName>
                                        </p:attrNameLst>
                                      </p:cBhvr>
                                      <p:tavLst>
                                        <p:tav tm="0">
                                          <p:val>
                                            <p:strVal val="0"/>
                                          </p:val>
                                        </p:tav>
                                        <p:tav tm="100000">
                                          <p:val>
                                            <p:strVal val="#ppt_w"/>
                                          </p:val>
                                        </p:tav>
                                      </p:tavLst>
                                    </p:anim>
                                    <p:anim calcmode="lin" valueType="num">
                                      <p:cBhvr additive="base">
                                        <p:cTn id="49" dur="550" fill="hold"/>
                                        <p:tgtEl>
                                          <p:spTgt spid="30"/>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550"/>
                                        <p:tgtEl>
                                          <p:spTgt spid="31"/>
                                        </p:tgtEl>
                                      </p:cBhvr>
                                    </p:animEffect>
                                    <p:anim calcmode="lin" valueType="num">
                                      <p:cBhvr additive="base">
                                        <p:cTn id="54" dur="550" fill="hold"/>
                                        <p:tgtEl>
                                          <p:spTgt spid="31"/>
                                        </p:tgtEl>
                                        <p:attrNameLst>
                                          <p:attrName>ppt_x</p:attrName>
                                        </p:attrNameLst>
                                      </p:cBhvr>
                                      <p:tavLst>
                                        <p:tav tm="0">
                                          <p:val>
                                            <p:strVal val="#ppt_x"/>
                                          </p:val>
                                        </p:tav>
                                        <p:tav tm="100000">
                                          <p:val>
                                            <p:strVal val="#ppt_x"/>
                                          </p:val>
                                        </p:tav>
                                      </p:tavLst>
                                    </p:anim>
                                    <p:anim calcmode="lin" valueType="num">
                                      <p:cBhvr additive="base">
                                        <p:cTn id="55" dur="550" fill="hold"/>
                                        <p:tgtEl>
                                          <p:spTgt spid="3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4" grpId="0" animBg="1"/>
      <p:bldP spid="27" grpId="0" animBg="1"/>
      <p:bldP spid="26" grpId="0" animBg="1"/>
      <p:bldP spid="28" grpId="0" animBg="1"/>
      <p:bldP spid="29" grpId="0" animBg="1"/>
      <p:bldP spid="30" grpId="0" animBg="1"/>
      <p:bldP spid="31"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1035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8-REJA</a:t>
            </a:r>
          </a:p>
        </p:txBody>
      </p:sp>
      <p:sp>
        <p:nvSpPr>
          <p:cNvPr id="16" name="TextBox 15"/>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Zamonaviy AI serverlari va superkompyuterlar</a:t>
            </a:r>
          </a:p>
        </p:txBody>
      </p:sp>
      <p:sp>
        <p:nvSpPr>
          <p:cNvPr id="17" name="Rectangle 16"/>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19" name="Rounded Rectangle 18"/>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25</a:t>
            </a:r>
          </a:p>
        </p:txBody>
      </p:sp>
      <p:sp>
        <p:nvSpPr>
          <p:cNvPr id="20" name="Rounded Rectangle 19"/>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094242e6af700163.jpg"/>
          <p:cNvPicPr>
            <a:picLocks noChangeAspect="1"/>
          </p:cNvPicPr>
          <p:nvPr/>
        </p:nvPicPr>
        <p:blipFill>
          <a:blip r:embed="rId2"/>
          <a:srcRect l="18248" r="18248"/>
          <a:stretch>
            <a:fillRect/>
          </a:stretch>
        </p:blipFill>
        <p:spPr>
          <a:xfrm>
            <a:off x="7620000" y="1430000"/>
            <a:ext cx="4050000" cy="4250000"/>
          </a:xfrm>
          <a:prstGeom prst="roundRect">
            <a:avLst/>
          </a:prstGeom>
          <a:ln w="19050">
            <a:solidFill>
              <a:srgbClr val="22D3EE"/>
            </a:solidFill>
          </a:ln>
        </p:spPr>
      </p:pic>
      <p:sp>
        <p:nvSpPr>
          <p:cNvPr id="22" name="TextBox 21"/>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Evan-Amos · Wikimedia Commons · Public domain</a:t>
            </a:r>
          </a:p>
        </p:txBody>
      </p:sp>
      <p:sp>
        <p:nvSpPr>
          <p:cNvPr id="23" name="Rounded Rectangle 22"/>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4" name="Rounded Rectangle 23"/>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50000" y="2497992"/>
            <a:ext cx="50000" cy="2584016"/>
          </a:xfrm>
          <a:prstGeom prst="rect">
            <a:avLst/>
          </a:prstGeom>
          <a:solidFill>
            <a:srgbClr val="8B5C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60000" y="3590000"/>
            <a:ext cx="400000" cy="400000"/>
          </a:xfrm>
          <a:prstGeom prst="ellipse">
            <a:avLst/>
          </a:prstGeom>
          <a:noFill/>
          <a:ln w="25400">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8B5CF6"/>
                </a:solidFill>
                <a:latin typeface="Segoe UI"/>
              </a:rPr>
              <a:t>02</a:t>
            </a:r>
          </a:p>
        </p:txBody>
      </p:sp>
      <p:sp>
        <p:nvSpPr>
          <p:cNvPr id="27" name="TextBox 26"/>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Serverlardan yuqorida klaster (tugunlar InfiniBand yoki RoCE Ethernet bilan ulanadi) va SuperPOD (NVIDIA da 32 DGX = 256 GPU asosiy birlik, «fat-tree» topologiya) turadi.</a:t>
            </a:r>
          </a:p>
          <a:p>
            <a:pPr>
              <a:spcBef>
                <a:spcPts val="400"/>
              </a:spcBef>
            </a:pPr>
            <a:r>
              <a:rPr sz="1600">
                <a:solidFill>
                  <a:srgbClr val="AEBBD9"/>
                </a:solidFill>
                <a:latin typeface="Segoe UI"/>
              </a:rPr>
              <a:t>Masshtab oshgan sari tor joy hisoblashdan tarmoqqa ko'chadi: 400 Gbit/s adapter sekundiga 50 GB uzatadi — bu GPU ichidagi HBM dan 70 baravar sekin. Shuning uchun taqsimlangan o'qitish algoritmlari (M3) aloqani hisoblash bilan ustma-ust qo'yishga qaratilgan.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6"/>
                                        </p:tgtEl>
                                        <p:attrNameLst>
                                          <p:attrName>style.visibility</p:attrName>
                                        </p:attrNameLst>
                                      </p:cBhvr>
                                      <p:to>
                                        <p:strVal val="visible"/>
                                      </p:to>
                                    </p:set>
                                    <p:animEffect transition="in" filter="fade">
                                      <p:cBhvr>
                                        <p:cTn id="6" dur="550"/>
                                        <p:tgtEl>
                                          <p:spTgt spid="16"/>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wipe(left)">
                                      <p:cBhvr>
                                        <p:cTn id="11" dur="800"/>
                                        <p:tgtEl>
                                          <p:spTgt spid="17"/>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550"/>
                                        <p:tgtEl>
                                          <p:spTgt spid="20"/>
                                        </p:tgtEl>
                                      </p:cBhvr>
                                    </p:animEffect>
                                    <p:anim calcmode="lin" valueType="num">
                                      <p:cBhvr additive="base">
                                        <p:cTn id="16" dur="550" fill="hold"/>
                                        <p:tgtEl>
                                          <p:spTgt spid="20"/>
                                        </p:tgtEl>
                                        <p:attrNameLst>
                                          <p:attrName>ppt_w</p:attrName>
                                        </p:attrNameLst>
                                      </p:cBhvr>
                                      <p:tavLst>
                                        <p:tav tm="0">
                                          <p:val>
                                            <p:strVal val="0"/>
                                          </p:val>
                                        </p:tav>
                                        <p:tav tm="100000">
                                          <p:val>
                                            <p:strVal val="#ppt_w"/>
                                          </p:val>
                                        </p:tav>
                                      </p:tavLst>
                                    </p:anim>
                                    <p:anim calcmode="lin" valueType="num">
                                      <p:cBhvr additive="base">
                                        <p:cTn id="17" dur="550" fill="hold"/>
                                        <p:tgtEl>
                                          <p:spTgt spid="20"/>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50"/>
                                        <p:tgtEl>
                                          <p:spTgt spid="21"/>
                                        </p:tgtEl>
                                      </p:cBhvr>
                                    </p:animEffect>
                                    <p:anim calcmode="lin" valueType="num">
                                      <p:cBhvr additive="base">
                                        <p:cTn id="22" dur="550" fill="hold"/>
                                        <p:tgtEl>
                                          <p:spTgt spid="21"/>
                                        </p:tgtEl>
                                        <p:attrNameLst>
                                          <p:attrName>ppt_w</p:attrName>
                                        </p:attrNameLst>
                                      </p:cBhvr>
                                      <p:tavLst>
                                        <p:tav tm="0">
                                          <p:val>
                                            <p:strVal val="0"/>
                                          </p:val>
                                        </p:tav>
                                        <p:tav tm="100000">
                                          <p:val>
                                            <p:strVal val="#ppt_w"/>
                                          </p:val>
                                        </p:tav>
                                      </p:tavLst>
                                    </p:anim>
                                    <p:anim calcmode="lin" valueType="num">
                                      <p:cBhvr additive="base">
                                        <p:cTn id="23" dur="550" fill="hold"/>
                                        <p:tgtEl>
                                          <p:spTgt spid="21"/>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550"/>
                                        <p:tgtEl>
                                          <p:spTgt spid="23"/>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50"/>
                                        <p:tgtEl>
                                          <p:spTgt spid="22"/>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4"/>
                                        </p:tgtEl>
                                        <p:attrNameLst>
                                          <p:attrName>style.visibility</p:attrName>
                                        </p:attrNameLst>
                                      </p:cBhvr>
                                      <p:to>
                                        <p:strVal val="visible"/>
                                      </p:to>
                                    </p:set>
                                    <p:animEffect transition="in" filter="fade">
                                      <p:cBhvr>
                                        <p:cTn id="35" dur="550"/>
                                        <p:tgtEl>
                                          <p:spTgt spid="24"/>
                                        </p:tgtEl>
                                      </p:cBhvr>
                                    </p:animEffect>
                                    <p:anim calcmode="lin" valueType="num">
                                      <p:cBhvr additive="base">
                                        <p:cTn id="36" dur="550" fill="hold"/>
                                        <p:tgtEl>
                                          <p:spTgt spid="24"/>
                                        </p:tgtEl>
                                        <p:attrNameLst>
                                          <p:attrName>ppt_x</p:attrName>
                                        </p:attrNameLst>
                                      </p:cBhvr>
                                      <p:tavLst>
                                        <p:tav tm="0">
                                          <p:val>
                                            <p:strVal val="#ppt_x"/>
                                          </p:val>
                                        </p:tav>
                                        <p:tav tm="100000">
                                          <p:val>
                                            <p:strVal val="#ppt_x"/>
                                          </p:val>
                                        </p:tav>
                                      </p:tavLst>
                                    </p:anim>
                                    <p:anim calcmode="lin" valueType="num">
                                      <p:cBhvr additive="base">
                                        <p:cTn id="37" dur="550" fill="hold"/>
                                        <p:tgtEl>
                                          <p:spTgt spid="24"/>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550"/>
                                        <p:tgtEl>
                                          <p:spTgt spid="25"/>
                                        </p:tgtEl>
                                      </p:cBhvr>
                                    </p:animEffect>
                                    <p:anim calcmode="lin" valueType="num">
                                      <p:cBhvr additive="base">
                                        <p:cTn id="42" dur="550" fill="hold"/>
                                        <p:tgtEl>
                                          <p:spTgt spid="25"/>
                                        </p:tgtEl>
                                        <p:attrNameLst>
                                          <p:attrName>ppt_x</p:attrName>
                                        </p:attrNameLst>
                                      </p:cBhvr>
                                      <p:tavLst>
                                        <p:tav tm="0">
                                          <p:val>
                                            <p:strVal val="#ppt_x"/>
                                          </p:val>
                                        </p:tav>
                                        <p:tav tm="100000">
                                          <p:val>
                                            <p:strVal val="#ppt_x"/>
                                          </p:val>
                                        </p:tav>
                                      </p:tavLst>
                                    </p:anim>
                                    <p:anim calcmode="lin" valueType="num">
                                      <p:cBhvr additive="base">
                                        <p:cTn id="43" dur="550" fill="hold"/>
                                        <p:tgtEl>
                                          <p:spTgt spid="25"/>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550"/>
                                        <p:tgtEl>
                                          <p:spTgt spid="26"/>
                                        </p:tgtEl>
                                      </p:cBhvr>
                                    </p:animEffect>
                                    <p:anim calcmode="lin" valueType="num">
                                      <p:cBhvr additive="base">
                                        <p:cTn id="48" dur="550" fill="hold"/>
                                        <p:tgtEl>
                                          <p:spTgt spid="26"/>
                                        </p:tgtEl>
                                        <p:attrNameLst>
                                          <p:attrName>ppt_w</p:attrName>
                                        </p:attrNameLst>
                                      </p:cBhvr>
                                      <p:tavLst>
                                        <p:tav tm="0">
                                          <p:val>
                                            <p:strVal val="0"/>
                                          </p:val>
                                        </p:tav>
                                        <p:tav tm="100000">
                                          <p:val>
                                            <p:strVal val="#ppt_w"/>
                                          </p:val>
                                        </p:tav>
                                      </p:tavLst>
                                    </p:anim>
                                    <p:anim calcmode="lin" valueType="num">
                                      <p:cBhvr additive="base">
                                        <p:cTn id="49" dur="550" fill="hold"/>
                                        <p:tgtEl>
                                          <p:spTgt spid="26"/>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7"/>
                                        </p:tgtEl>
                                        <p:attrNameLst>
                                          <p:attrName>style.visibility</p:attrName>
                                        </p:attrNameLst>
                                      </p:cBhvr>
                                      <p:to>
                                        <p:strVal val="visible"/>
                                      </p:to>
                                    </p:set>
                                    <p:animEffect transition="in" filter="fade">
                                      <p:cBhvr>
                                        <p:cTn id="53" dur="550"/>
                                        <p:tgtEl>
                                          <p:spTgt spid="27"/>
                                        </p:tgtEl>
                                      </p:cBhvr>
                                    </p:animEffect>
                                    <p:anim calcmode="lin" valueType="num">
                                      <p:cBhvr additive="base">
                                        <p:cTn id="54" dur="550" fill="hold"/>
                                        <p:tgtEl>
                                          <p:spTgt spid="27"/>
                                        </p:tgtEl>
                                        <p:attrNameLst>
                                          <p:attrName>ppt_x</p:attrName>
                                        </p:attrNameLst>
                                      </p:cBhvr>
                                      <p:tavLst>
                                        <p:tav tm="0">
                                          <p:val>
                                            <p:strVal val="#ppt_x"/>
                                          </p:val>
                                        </p:tav>
                                        <p:tav tm="100000">
                                          <p:val>
                                            <p:strVal val="#ppt_x"/>
                                          </p:val>
                                        </p:tav>
                                      </p:tavLst>
                                    </p:anim>
                                    <p:anim calcmode="lin" valueType="num">
                                      <p:cBhvr additive="base">
                                        <p:cTn id="55" dur="550" fill="hold"/>
                                        <p:tgtEl>
                                          <p:spTgt spid="2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20" grpId="0" animBg="1"/>
      <p:bldP spid="23" grpId="0" animBg="1"/>
      <p:bldP spid="22" grpId="0" animBg="1"/>
      <p:bldP spid="24" grpId="0" animBg="1"/>
      <p:bldP spid="25" grpId="0" animBg="1"/>
      <p:bldP spid="26" grpId="0" animBg="1"/>
      <p:bldP spid="27"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1035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0350000" y="680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1100000" y="305000"/>
            <a:ext cx="750000" cy="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1100000" y="305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1100000" y="38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100000" y="530000"/>
            <a:ext cx="750000" cy="15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1100000" y="380000"/>
            <a:ext cx="750000" cy="375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02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02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030000" y="23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030000" y="46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1030000" y="685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1780000" y="3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1780000" y="61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0000" y="160000"/>
            <a:ext cx="9600000" cy="300000"/>
          </a:xfrm>
          <a:prstGeom prst="rect">
            <a:avLst/>
          </a:prstGeom>
          <a:noFill/>
        </p:spPr>
        <p:txBody>
          <a:bodyPr wrap="square" anchor="t" lIns="50800" rIns="50800">
            <a:spAutoFit/>
          </a:bodyPr>
          <a:lstStyle/>
          <a:p>
            <a:pPr algn="l"/>
            <a:r>
              <a:rPr sz="1100" b="1">
                <a:solidFill>
                  <a:srgbClr val="22D3EE"/>
                </a:solidFill>
                <a:latin typeface="Segoe UI"/>
              </a:rPr>
              <a:t>◆ 8-REJA</a:t>
            </a:r>
          </a:p>
        </p:txBody>
      </p:sp>
      <p:sp>
        <p:nvSpPr>
          <p:cNvPr id="18" name="TextBox 17"/>
          <p:cNvSpPr txBox="1"/>
          <p:nvPr/>
        </p:nvSpPr>
        <p:spPr>
          <a:xfrm>
            <a:off x="500000" y="400000"/>
            <a:ext cx="9800000" cy="650000"/>
          </a:xfrm>
          <a:prstGeom prst="rect">
            <a:avLst/>
          </a:prstGeom>
          <a:noFill/>
        </p:spPr>
        <p:txBody>
          <a:bodyPr wrap="square" anchor="ctr" lIns="50800" rIns="50800">
            <a:spAutoFit/>
          </a:bodyPr>
          <a:lstStyle/>
          <a:p>
            <a:pPr algn="l"/>
            <a:r>
              <a:rPr sz="2600" b="1">
                <a:solidFill>
                  <a:srgbClr val="E8EEFA"/>
                </a:solidFill>
                <a:latin typeface="Segoe UI"/>
              </a:rPr>
              <a:t>Zamonaviy AI serverlari va superkompyuterlar</a:t>
            </a:r>
          </a:p>
        </p:txBody>
      </p:sp>
      <p:sp>
        <p:nvSpPr>
          <p:cNvPr id="19" name="Rectangle 18"/>
          <p:cNvSpPr/>
          <p:nvPr/>
        </p:nvSpPr>
        <p:spPr>
          <a:xfrm>
            <a:off x="560000" y="1080000"/>
            <a:ext cx="1700000" cy="45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0000" y="6450000"/>
            <a:ext cx="9500000" cy="280000"/>
          </a:xfrm>
          <a:prstGeom prst="rect">
            <a:avLst/>
          </a:prstGeom>
          <a:noFill/>
        </p:spPr>
        <p:txBody>
          <a:bodyPr wrap="square" anchor="t" lIns="50800" rIns="50800">
            <a:spAutoFit/>
          </a:bodyPr>
          <a:lstStyle/>
          <a:p>
            <a:pPr algn="l"/>
            <a:r>
              <a:rPr sz="900" b="0">
                <a:solidFill>
                  <a:srgbClr val="707EAA"/>
                </a:solidFill>
                <a:latin typeface="Segoe UI"/>
              </a:rPr>
              <a:t>M2 · Sun'iy intellekt tizimlari uchun zamonaviy kompyuter arxitekturalari</a:t>
            </a:r>
          </a:p>
        </p:txBody>
      </p:sp>
      <p:sp>
        <p:nvSpPr>
          <p:cNvPr id="21" name="Rounded Rectangle 20"/>
          <p:cNvSpPr/>
          <p:nvPr/>
        </p:nvSpPr>
        <p:spPr>
          <a:xfrm>
            <a:off x="11000000" y="6430000"/>
            <a:ext cx="700000" cy="270000"/>
          </a:xfrm>
          <a:prstGeom prst="roundRect">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000" b="1">
                <a:solidFill>
                  <a:srgbClr val="22D3EE"/>
                </a:solidFill>
                <a:latin typeface="Segoe UI"/>
              </a:rPr>
              <a:t>26</a:t>
            </a:r>
          </a:p>
        </p:txBody>
      </p:sp>
      <p:sp>
        <p:nvSpPr>
          <p:cNvPr id="22" name="Rounded Rectangle 21"/>
          <p:cNvSpPr/>
          <p:nvPr/>
        </p:nvSpPr>
        <p:spPr>
          <a:xfrm>
            <a:off x="7520000" y="1330000"/>
            <a:ext cx="4250000" cy="4650000"/>
          </a:xfrm>
          <a:prstGeom prst="roundRect">
            <a:avLst>
              <a:gd name="adj" fmla="val 5000"/>
            </a:avLst>
          </a:prstGeom>
          <a:noFill/>
          <a:ln w="15875">
            <a:solidFill>
              <a:srgbClr val="8B5C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fccdf8c0a9ea0f98.jpg"/>
          <p:cNvPicPr>
            <a:picLocks noChangeAspect="1"/>
          </p:cNvPicPr>
          <p:nvPr/>
        </p:nvPicPr>
        <p:blipFill>
          <a:blip r:embed="rId2"/>
          <a:srcRect l="2353" r="2353"/>
          <a:stretch>
            <a:fillRect/>
          </a:stretch>
        </p:blipFill>
        <p:spPr>
          <a:xfrm>
            <a:off x="7620000" y="1430000"/>
            <a:ext cx="4050000" cy="4250000"/>
          </a:xfrm>
          <a:prstGeom prst="roundRect">
            <a:avLst/>
          </a:prstGeom>
          <a:ln w="19050">
            <a:solidFill>
              <a:srgbClr val="22D3EE"/>
            </a:solidFill>
          </a:ln>
        </p:spPr>
      </p:pic>
      <p:sp>
        <p:nvSpPr>
          <p:cNvPr id="24" name="TextBox 23"/>
          <p:cNvSpPr txBox="1"/>
          <p:nvPr/>
        </p:nvSpPr>
        <p:spPr>
          <a:xfrm>
            <a:off x="7620000" y="5710000"/>
            <a:ext cx="4050000" cy="260000"/>
          </a:xfrm>
          <a:prstGeom prst="rect">
            <a:avLst/>
          </a:prstGeom>
          <a:noFill/>
        </p:spPr>
        <p:txBody>
          <a:bodyPr wrap="square" anchor="t" lIns="50800" rIns="50800">
            <a:spAutoFit/>
          </a:bodyPr>
          <a:lstStyle/>
          <a:p>
            <a:pPr algn="l"/>
            <a:r>
              <a:rPr sz="800" b="0">
                <a:solidFill>
                  <a:srgbClr val="707EAA"/>
                </a:solidFill>
                <a:latin typeface="Segoe UI"/>
              </a:rPr>
              <a:t>Rasm: Blake Patterson from Alexandria, VA, USA · Wikimedia Commons · CC BY 2.0</a:t>
            </a:r>
          </a:p>
        </p:txBody>
      </p:sp>
      <p:sp>
        <p:nvSpPr>
          <p:cNvPr id="25" name="Rounded Rectangle 24"/>
          <p:cNvSpPr/>
          <p:nvPr/>
        </p:nvSpPr>
        <p:spPr>
          <a:xfrm>
            <a:off x="7750000" y="1560000"/>
            <a:ext cx="1700000" cy="300000"/>
          </a:xfrm>
          <a:prstGeom prst="roundRect">
            <a:avLst/>
          </a:prstGeom>
          <a:solidFill>
            <a:srgbClr val="070B1A"/>
          </a:solidFill>
          <a:ln w="127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900" b="1">
                <a:solidFill>
                  <a:srgbClr val="22D3EE"/>
                </a:solidFill>
                <a:latin typeface="Segoe UI"/>
              </a:rPr>
              <a:t>⚙ AMALIYOTDA</a:t>
            </a:r>
          </a:p>
        </p:txBody>
      </p:sp>
      <p:sp>
        <p:nvSpPr>
          <p:cNvPr id="26" name="Rounded Rectangle 25"/>
          <p:cNvSpPr/>
          <p:nvPr/>
        </p:nvSpPr>
        <p:spPr>
          <a:xfrm>
            <a:off x="550000" y="2417992"/>
            <a:ext cx="6750000" cy="2744016"/>
          </a:xfrm>
          <a:prstGeom prst="roundRect">
            <a:avLst>
              <a:gd name="adj" fmla="val 12000"/>
            </a:avLst>
          </a:prstGeom>
          <a:solidFill>
            <a:srgbClr val="121936"/>
          </a:solidFill>
          <a:ln w="12700">
            <a:solidFill>
              <a:srgbClr val="2A35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2497992"/>
            <a:ext cx="50000" cy="2584016"/>
          </a:xfrm>
          <a:prstGeom prst="rect">
            <a:avLst/>
          </a:prstGeom>
          <a:solidFill>
            <a:srgbClr val="EC48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60000" y="3590000"/>
            <a:ext cx="400000" cy="400000"/>
          </a:xfrm>
          <a:prstGeom prst="ellipse">
            <a:avLst/>
          </a:prstGeom>
          <a:noFill/>
          <a:ln w="25400">
            <a:solidFill>
              <a:srgbClr val="EC4899"/>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200" b="1">
                <a:solidFill>
                  <a:srgbClr val="EC4899"/>
                </a:solidFill>
                <a:latin typeface="Segoe UI"/>
              </a:rPr>
              <a:t>03</a:t>
            </a:r>
          </a:p>
        </p:txBody>
      </p:sp>
      <p:sp>
        <p:nvSpPr>
          <p:cNvPr id="29" name="TextBox 28"/>
          <p:cNvSpPr txBox="1"/>
          <p:nvPr/>
        </p:nvSpPr>
        <p:spPr>
          <a:xfrm>
            <a:off x="1300000" y="2457992"/>
            <a:ext cx="5900000" cy="2664016"/>
          </a:xfrm>
          <a:prstGeom prst="rect">
            <a:avLst/>
          </a:prstGeom>
          <a:noFill/>
        </p:spPr>
        <p:txBody>
          <a:bodyPr wrap="square" anchor="ctr">
            <a:spAutoFit/>
          </a:bodyPr>
          <a:lstStyle/>
          <a:p>
            <a:r>
              <a:rPr sz="1700" b="1">
                <a:solidFill>
                  <a:srgbClr val="E8EEFA"/>
                </a:solidFill>
                <a:latin typeface="Segoe UI"/>
              </a:rPr>
              <a:t>Superkompyuterlar bu tamoyillarni eng katta miqyosda aks ettiradi.</a:t>
            </a:r>
          </a:p>
          <a:p>
            <a:pPr>
              <a:spcBef>
                <a:spcPts val="400"/>
              </a:spcBef>
            </a:pPr>
            <a:r>
              <a:rPr sz="1600">
                <a:solidFill>
                  <a:srgbClr val="AEBBD9"/>
                </a:solidFill>
                <a:latin typeface="Segoe UI"/>
              </a:rPr>
              <a:t>2025-yil holatiga TOP500 ro'yxatining birinchi o'rni — El Capitan (Lawrence Livermore, AMD MI300A, 1,74 eksaflops HPL), ikkinchi — Frontier (Oak Ridge, AMD EPYC + MI250X, 1,35 eksaflops), uchinchi — Aurora (Argonne, Intel Xeon Max + Data Center GPU Max). Ularning barchasi geterogen: har tugunda CPU va 4–6 GPU, tugunlar HPE Slingshot tarmog'i bilan ulangan.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6"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18"/>
                                        </p:tgtEl>
                                        <p:attrNameLst>
                                          <p:attrName>style.visibility</p:attrName>
                                        </p:attrNameLst>
                                      </p:cBhvr>
                                      <p:to>
                                        <p:strVal val="visible"/>
                                      </p:to>
                                    </p:set>
                                    <p:animEffect transition="in" filter="fade">
                                      <p:cBhvr>
                                        <p:cTn id="6" dur="550"/>
                                        <p:tgtEl>
                                          <p:spTgt spid="18"/>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wipe(left)">
                                      <p:cBhvr>
                                        <p:cTn id="11" dur="800"/>
                                        <p:tgtEl>
                                          <p:spTgt spid="19"/>
                                        </p:tgtEl>
                                      </p:cBhvr>
                                    </p:animEffect>
                                  </p:childTnLst>
                                </p:cTn>
                              </p:par>
                            </p:childTnLst>
                          </p:cTn>
                        </p:par>
                        <p:par>
                          <p:cTn id="12" fill="hold">
                            <p:stCondLst>
                              <p:cond delay="150"/>
                            </p:stCondLst>
                            <p:childTnLst>
                              <p:par>
                                <p:cTn id="13" presetID="53" presetClass="entr" presetSubtype="16" fill="hold" grpId="0" nodeType="after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50"/>
                                        <p:tgtEl>
                                          <p:spTgt spid="22"/>
                                        </p:tgtEl>
                                      </p:cBhvr>
                                    </p:animEffect>
                                    <p:anim calcmode="lin" valueType="num">
                                      <p:cBhvr additive="base">
                                        <p:cTn id="16" dur="550" fill="hold"/>
                                        <p:tgtEl>
                                          <p:spTgt spid="22"/>
                                        </p:tgtEl>
                                        <p:attrNameLst>
                                          <p:attrName>ppt_w</p:attrName>
                                        </p:attrNameLst>
                                      </p:cBhvr>
                                      <p:tavLst>
                                        <p:tav tm="0">
                                          <p:val>
                                            <p:strVal val="0"/>
                                          </p:val>
                                        </p:tav>
                                        <p:tav tm="100000">
                                          <p:val>
                                            <p:strVal val="#ppt_w"/>
                                          </p:val>
                                        </p:tav>
                                      </p:tavLst>
                                    </p:anim>
                                    <p:anim calcmode="lin" valueType="num">
                                      <p:cBhvr additive="base">
                                        <p:cTn id="17" dur="550" fill="hold"/>
                                        <p:tgtEl>
                                          <p:spTgt spid="22"/>
                                        </p:tgtEl>
                                        <p:attrNameLst>
                                          <p:attrName>ppt_h</p:attrName>
                                        </p:attrNameLst>
                                      </p:cBhvr>
                                      <p:tavLst>
                                        <p:tav tm="0">
                                          <p:val>
                                            <p:strVal val="0"/>
                                          </p:val>
                                        </p:tav>
                                        <p:tav tm="100000">
                                          <p:val>
                                            <p:strVal val="#ppt_h"/>
                                          </p:val>
                                        </p:tav>
                                      </p:tavLst>
                                    </p:anim>
                                  </p:childTnLst>
                                </p:cTn>
                              </p:par>
                            </p:childTnLst>
                          </p:cTn>
                        </p:par>
                        <p:par>
                          <p:cTn id="18" fill="hold">
                            <p:stCondLst>
                              <p:cond delay="150"/>
                            </p:stCondLst>
                            <p:childTnLst>
                              <p:par>
                                <p:cTn id="19" presetID="53" presetClass="entr" presetSubtype="16" fill="hold" grpId="0" nodeType="after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550"/>
                                        <p:tgtEl>
                                          <p:spTgt spid="23"/>
                                        </p:tgtEl>
                                      </p:cBhvr>
                                    </p:animEffect>
                                    <p:anim calcmode="lin" valueType="num">
                                      <p:cBhvr additive="base">
                                        <p:cTn id="22" dur="550" fill="hold"/>
                                        <p:tgtEl>
                                          <p:spTgt spid="23"/>
                                        </p:tgtEl>
                                        <p:attrNameLst>
                                          <p:attrName>ppt_w</p:attrName>
                                        </p:attrNameLst>
                                      </p:cBhvr>
                                      <p:tavLst>
                                        <p:tav tm="0">
                                          <p:val>
                                            <p:strVal val="0"/>
                                          </p:val>
                                        </p:tav>
                                        <p:tav tm="100000">
                                          <p:val>
                                            <p:strVal val="#ppt_w"/>
                                          </p:val>
                                        </p:tav>
                                      </p:tavLst>
                                    </p:anim>
                                    <p:anim calcmode="lin" valueType="num">
                                      <p:cBhvr additive="base">
                                        <p:cTn id="23" dur="550" fill="hold"/>
                                        <p:tgtEl>
                                          <p:spTgt spid="23"/>
                                        </p:tgtEl>
                                        <p:attrNameLst>
                                          <p:attrName>ppt_h</p:attrName>
                                        </p:attrNameLst>
                                      </p:cBhvr>
                                      <p:tavLst>
                                        <p:tav tm="0">
                                          <p:val>
                                            <p:strVal val="0"/>
                                          </p:val>
                                        </p:tav>
                                        <p:tav tm="100000">
                                          <p:val>
                                            <p:strVal val="#ppt_h"/>
                                          </p:val>
                                        </p:tav>
                                      </p:tavLst>
                                    </p:anim>
                                  </p:childTnLst>
                                </p:cTn>
                              </p:par>
                            </p:childTnLst>
                          </p:cTn>
                        </p:par>
                        <p:par>
                          <p:cTn id="24" fill="hold">
                            <p:stCondLst>
                              <p:cond delay="150"/>
                            </p:stCondLst>
                            <p:childTnLst>
                              <p:par>
                                <p:cTn id="25" presetID="10" presetClass="entr" presetSubtype="0" fill="hold" grpId="0" nodeType="after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550"/>
                                        <p:tgtEl>
                                          <p:spTgt spid="25"/>
                                        </p:tgtEl>
                                      </p:cBhvr>
                                    </p:animEffect>
                                  </p:childTnLst>
                                </p:cTn>
                              </p:par>
                            </p:childTnLst>
                          </p:cTn>
                        </p:par>
                        <p:par>
                          <p:cTn id="28" fill="hold">
                            <p:stCondLst>
                              <p:cond delay="150"/>
                            </p:stCondLst>
                            <p:childTnLst>
                              <p:par>
                                <p:cTn id="29" presetID="10" presetClass="entr" presetSubtype="0" fill="hold" grpId="0" nodeType="after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550"/>
                                        <p:tgtEl>
                                          <p:spTgt spid="24"/>
                                        </p:tgtEl>
                                      </p:cBhvr>
                                    </p:animEffect>
                                  </p:childTnLst>
                                </p:cTn>
                              </p:par>
                            </p:childTnLst>
                          </p:cTn>
                        </p:par>
                        <p:par>
                          <p:cTn id="32" fill="hold">
                            <p:stCondLst>
                              <p:cond delay="350"/>
                            </p:stCondLst>
                            <p:childTnLst>
                              <p:par>
                                <p:cTn id="33" presetID="42" presetClass="entr" presetSubtype="0" fill="hold" grpId="0" nodeType="afterEffect">
                                  <p:stCondLst>
                                    <p:cond delay="0"/>
                                  </p:stCondLst>
                                  <p:childTnLst>
                                    <p:set>
                                      <p:cBhvr>
                                        <p:cTn id="34" dur="1" fill="hold">
                                          <p:stCondLst>
                                            <p:cond delay="0"/>
                                          </p:stCondLst>
                                        </p:cTn>
                                        <p:tgtEl>
                                          <p:spTgt spid="26"/>
                                        </p:tgtEl>
                                        <p:attrNameLst>
                                          <p:attrName>style.visibility</p:attrName>
                                        </p:attrNameLst>
                                      </p:cBhvr>
                                      <p:to>
                                        <p:strVal val="visible"/>
                                      </p:to>
                                    </p:set>
                                    <p:animEffect transition="in" filter="fade">
                                      <p:cBhvr>
                                        <p:cTn id="35" dur="550"/>
                                        <p:tgtEl>
                                          <p:spTgt spid="26"/>
                                        </p:tgtEl>
                                      </p:cBhvr>
                                    </p:animEffect>
                                    <p:anim calcmode="lin" valueType="num">
                                      <p:cBhvr additive="base">
                                        <p:cTn id="36" dur="550" fill="hold"/>
                                        <p:tgtEl>
                                          <p:spTgt spid="26"/>
                                        </p:tgtEl>
                                        <p:attrNameLst>
                                          <p:attrName>ppt_x</p:attrName>
                                        </p:attrNameLst>
                                      </p:cBhvr>
                                      <p:tavLst>
                                        <p:tav tm="0">
                                          <p:val>
                                            <p:strVal val="#ppt_x"/>
                                          </p:val>
                                        </p:tav>
                                        <p:tav tm="100000">
                                          <p:val>
                                            <p:strVal val="#ppt_x"/>
                                          </p:val>
                                        </p:tav>
                                      </p:tavLst>
                                    </p:anim>
                                    <p:anim calcmode="lin" valueType="num">
                                      <p:cBhvr additive="base">
                                        <p:cTn id="37" dur="550" fill="hold"/>
                                        <p:tgtEl>
                                          <p:spTgt spid="26"/>
                                        </p:tgtEl>
                                        <p:attrNameLst>
                                          <p:attrName>ppt_y</p:attrName>
                                        </p:attrNameLst>
                                      </p:cBhvr>
                                      <p:tavLst>
                                        <p:tav tm="0">
                                          <p:val>
                                            <p:strVal val="#ppt_y+.08"/>
                                          </p:val>
                                        </p:tav>
                                        <p:tav tm="100000">
                                          <p:val>
                                            <p:strVal val="#ppt_y"/>
                                          </p:val>
                                        </p:tav>
                                      </p:tavLst>
                                    </p:anim>
                                  </p:childTnLst>
                                </p:cTn>
                              </p:par>
                            </p:childTnLst>
                          </p:cTn>
                        </p:par>
                        <p:par>
                          <p:cTn id="38" fill="hold">
                            <p:stCondLst>
                              <p:cond delay="350"/>
                            </p:stCondLst>
                            <p:childTnLst>
                              <p:par>
                                <p:cTn id="39" presetID="42" presetClass="entr" presetSubtype="0" fill="hold" grpId="0" nodeType="after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fade">
                                      <p:cBhvr>
                                        <p:cTn id="41" dur="550"/>
                                        <p:tgtEl>
                                          <p:spTgt spid="27"/>
                                        </p:tgtEl>
                                      </p:cBhvr>
                                    </p:animEffect>
                                    <p:anim calcmode="lin" valueType="num">
                                      <p:cBhvr additive="base">
                                        <p:cTn id="42" dur="550" fill="hold"/>
                                        <p:tgtEl>
                                          <p:spTgt spid="27"/>
                                        </p:tgtEl>
                                        <p:attrNameLst>
                                          <p:attrName>ppt_x</p:attrName>
                                        </p:attrNameLst>
                                      </p:cBhvr>
                                      <p:tavLst>
                                        <p:tav tm="0">
                                          <p:val>
                                            <p:strVal val="#ppt_x"/>
                                          </p:val>
                                        </p:tav>
                                        <p:tav tm="100000">
                                          <p:val>
                                            <p:strVal val="#ppt_x"/>
                                          </p:val>
                                        </p:tav>
                                      </p:tavLst>
                                    </p:anim>
                                    <p:anim calcmode="lin" valueType="num">
                                      <p:cBhvr additive="base">
                                        <p:cTn id="43" dur="550" fill="hold"/>
                                        <p:tgtEl>
                                          <p:spTgt spid="27"/>
                                        </p:tgtEl>
                                        <p:attrNameLst>
                                          <p:attrName>ppt_y</p:attrName>
                                        </p:attrNameLst>
                                      </p:cBhvr>
                                      <p:tavLst>
                                        <p:tav tm="0">
                                          <p:val>
                                            <p:strVal val="#ppt_y+.08"/>
                                          </p:val>
                                        </p:tav>
                                        <p:tav tm="100000">
                                          <p:val>
                                            <p:strVal val="#ppt_y"/>
                                          </p:val>
                                        </p:tav>
                                      </p:tavLst>
                                    </p:anim>
                                  </p:childTnLst>
                                </p:cTn>
                              </p:par>
                            </p:childTnLst>
                          </p:cTn>
                        </p:par>
                        <p:par>
                          <p:cTn id="44" fill="hold">
                            <p:stCondLst>
                              <p:cond delay="350"/>
                            </p:stCondLst>
                            <p:childTnLst>
                              <p:par>
                                <p:cTn id="45" presetID="53" presetClass="entr" presetSubtype="16" fill="hold" grpId="0" nodeType="after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550"/>
                                        <p:tgtEl>
                                          <p:spTgt spid="28"/>
                                        </p:tgtEl>
                                      </p:cBhvr>
                                    </p:animEffect>
                                    <p:anim calcmode="lin" valueType="num">
                                      <p:cBhvr additive="base">
                                        <p:cTn id="48" dur="550" fill="hold"/>
                                        <p:tgtEl>
                                          <p:spTgt spid="28"/>
                                        </p:tgtEl>
                                        <p:attrNameLst>
                                          <p:attrName>ppt_w</p:attrName>
                                        </p:attrNameLst>
                                      </p:cBhvr>
                                      <p:tavLst>
                                        <p:tav tm="0">
                                          <p:val>
                                            <p:strVal val="0"/>
                                          </p:val>
                                        </p:tav>
                                        <p:tav tm="100000">
                                          <p:val>
                                            <p:strVal val="#ppt_w"/>
                                          </p:val>
                                        </p:tav>
                                      </p:tavLst>
                                    </p:anim>
                                    <p:anim calcmode="lin" valueType="num">
                                      <p:cBhvr additive="base">
                                        <p:cTn id="49" dur="550" fill="hold"/>
                                        <p:tgtEl>
                                          <p:spTgt spid="28"/>
                                        </p:tgtEl>
                                        <p:attrNameLst>
                                          <p:attrName>ppt_h</p:attrName>
                                        </p:attrNameLst>
                                      </p:cBhvr>
                                      <p:tavLst>
                                        <p:tav tm="0">
                                          <p:val>
                                            <p:strVal val="0"/>
                                          </p:val>
                                        </p:tav>
                                        <p:tav tm="100000">
                                          <p:val>
                                            <p:strVal val="#ppt_h"/>
                                          </p:val>
                                        </p:tav>
                                      </p:tavLst>
                                    </p:anim>
                                  </p:childTnLst>
                                </p:cTn>
                              </p:par>
                            </p:childTnLst>
                          </p:cTn>
                        </p:par>
                        <p:par>
                          <p:cTn id="50" fill="hold">
                            <p:stCondLst>
                              <p:cond delay="350"/>
                            </p:stCondLst>
                            <p:childTnLst>
                              <p:par>
                                <p:cTn id="51" presetID="42" presetClass="entr" presetSubtype="0" fill="hold" grpId="0" nodeType="after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50"/>
                                        <p:tgtEl>
                                          <p:spTgt spid="29"/>
                                        </p:tgtEl>
                                      </p:cBhvr>
                                    </p:animEffect>
                                    <p:anim calcmode="lin" valueType="num">
                                      <p:cBhvr additive="base">
                                        <p:cTn id="54" dur="550" fill="hold"/>
                                        <p:tgtEl>
                                          <p:spTgt spid="29"/>
                                        </p:tgtEl>
                                        <p:attrNameLst>
                                          <p:attrName>ppt_x</p:attrName>
                                        </p:attrNameLst>
                                      </p:cBhvr>
                                      <p:tavLst>
                                        <p:tav tm="0">
                                          <p:val>
                                            <p:strVal val="#ppt_x"/>
                                          </p:val>
                                        </p:tav>
                                        <p:tav tm="100000">
                                          <p:val>
                                            <p:strVal val="#ppt_x"/>
                                          </p:val>
                                        </p:tav>
                                      </p:tavLst>
                                    </p:anim>
                                    <p:anim calcmode="lin" valueType="num">
                                      <p:cBhvr additive="base">
                                        <p:cTn id="55"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2" grpId="0" animBg="1"/>
      <p:bldP spid="25" grpId="0" animBg="1"/>
      <p:bldP spid="24" grpId="0" animBg="1"/>
      <p:bldP spid="26" grpId="0" animBg="1"/>
      <p:bldP spid="27" grpId="0" animBg="1"/>
      <p:bldP spid="28" grpId="0" animBg="1"/>
      <p:bldP spid="29"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70B1A"/>
              </a:gs>
              <a:gs pos="100000">
                <a:srgbClr val="141C44"/>
              </a:gs>
            </a:gsLst>
            <a:lin scaled="0" ang="36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flipV="1">
            <a:off x="800000" y="7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800000" y="900000"/>
            <a:ext cx="2650000" cy="6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80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80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800000" y="766666"/>
            <a:ext cx="2650000" cy="9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80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80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45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450000" y="766666"/>
            <a:ext cx="2650000" cy="19047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45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45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450000" y="728571"/>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345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45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45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45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5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45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45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345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45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45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45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345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45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450000" y="957142"/>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45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3450000" y="1414285"/>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100000" y="728571"/>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100000" y="728571"/>
            <a:ext cx="2650000" cy="57142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100000" y="728571"/>
            <a:ext cx="2650000" cy="8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100000" y="728571"/>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00000" y="957142"/>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100000" y="957142"/>
            <a:ext cx="2650000" cy="34285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100000" y="957142"/>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6100000" y="766666"/>
            <a:ext cx="2650000" cy="41904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100000" y="1033333"/>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6100000" y="1185714"/>
            <a:ext cx="2650000" cy="11428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6100000" y="1185714"/>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6100000" y="1185714"/>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6100000" y="766666"/>
            <a:ext cx="2650000" cy="647619"/>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6100000" y="1033333"/>
            <a:ext cx="2650000" cy="38095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6100000" y="1300000"/>
            <a:ext cx="2650000" cy="11428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6100000" y="1414285"/>
            <a:ext cx="2650000" cy="15238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6100000" y="766666"/>
            <a:ext cx="2650000" cy="8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100000" y="1033333"/>
            <a:ext cx="2650000" cy="60952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6100000" y="1300000"/>
            <a:ext cx="2650000" cy="34285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6100000" y="1566666"/>
            <a:ext cx="2650000" cy="76191"/>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6100000" y="766666"/>
            <a:ext cx="2650000" cy="11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100000" y="1300000"/>
            <a:ext cx="2650000" cy="571428"/>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6100000" y="1566666"/>
            <a:ext cx="2650000" cy="304762"/>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6100000" y="1833333"/>
            <a:ext cx="2650000" cy="38095"/>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750000" y="766666"/>
            <a:ext cx="2650000" cy="5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8750000" y="9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8750000" y="1033333"/>
            <a:ext cx="2650000" cy="2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8750000" y="1033333"/>
            <a:ext cx="2650000" cy="666667"/>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8750000" y="9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8750000" y="1300000"/>
            <a:ext cx="2650000" cy="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8750000" y="1300000"/>
            <a:ext cx="2650000" cy="400000"/>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8750000" y="1300000"/>
            <a:ext cx="2650000" cy="266666"/>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a:off x="8750000" y="1566666"/>
            <a:ext cx="2650000" cy="133334"/>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8750000" y="900000"/>
            <a:ext cx="2650000" cy="9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8750000" y="1300000"/>
            <a:ext cx="2650000" cy="5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8750000" y="1700000"/>
            <a:ext cx="2650000" cy="133333"/>
          </a:xfrm>
          <a:prstGeom prst="line">
            <a:avLst/>
          </a:prstGeom>
          <a:ln w="9525">
            <a:solidFill>
              <a:srgbClr val="263366"/>
            </a:solidFill>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7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7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7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33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3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33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3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3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6030000" y="658571"/>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6030000" y="887142"/>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6030000" y="1115714"/>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6030000" y="1344285"/>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6030000" y="1572857"/>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6030000" y="1801428"/>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680000" y="6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8680000" y="9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868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8680000" y="1496666"/>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680000" y="1763333"/>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1330000" y="8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1330000" y="12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1330000" y="1630000"/>
            <a:ext cx="140000" cy="140000"/>
          </a:xfrm>
          <a:prstGeom prst="ellipse">
            <a:avLst/>
          </a:prstGeom>
          <a:solidFill>
            <a:srgbClr val="3B4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700000" y="2500000"/>
            <a:ext cx="10800000" cy="1100000"/>
          </a:xfrm>
          <a:prstGeom prst="rect">
            <a:avLst/>
          </a:prstGeom>
          <a:noFill/>
        </p:spPr>
        <p:txBody>
          <a:bodyPr wrap="square" anchor="t" lIns="50800" rIns="50800">
            <a:spAutoFit/>
          </a:bodyPr>
          <a:lstStyle/>
          <a:p>
            <a:pPr algn="ctr"/>
            <a:r>
              <a:rPr sz="4400" b="1">
                <a:solidFill>
                  <a:srgbClr val="E8EEFA"/>
                </a:solidFill>
                <a:latin typeface="Segoe UI"/>
              </a:rPr>
              <a:t>E’tiboringiz uchun rahmat!</a:t>
            </a:r>
          </a:p>
        </p:txBody>
      </p:sp>
      <p:sp>
        <p:nvSpPr>
          <p:cNvPr id="93" name="Rectangle 92"/>
          <p:cNvSpPr/>
          <p:nvPr/>
        </p:nvSpPr>
        <p:spPr>
          <a:xfrm>
            <a:off x="4800000" y="3650000"/>
            <a:ext cx="2600000" cy="60000"/>
          </a:xfrm>
          <a:prstGeom prst="rect">
            <a:avLst/>
          </a:prstGeom>
          <a:gradFill rotWithShape="1">
            <a:gsLst>
              <a:gs pos="0">
                <a:srgbClr val="22D3EE"/>
              </a:gs>
              <a:gs pos="100000">
                <a:srgbClr val="8B5CF6"/>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00000" y="3850000"/>
            <a:ext cx="10800000" cy="500000"/>
          </a:xfrm>
          <a:prstGeom prst="rect">
            <a:avLst/>
          </a:prstGeom>
          <a:noFill/>
        </p:spPr>
        <p:txBody>
          <a:bodyPr wrap="square" anchor="t" lIns="50800" rIns="50800">
            <a:spAutoFit/>
          </a:bodyPr>
          <a:lstStyle/>
          <a:p>
            <a:pPr algn="ctr"/>
            <a:r>
              <a:rPr sz="2600" b="1">
                <a:solidFill>
                  <a:srgbClr val="22D3EE"/>
                </a:solidFill>
                <a:latin typeface="Segoe UI"/>
              </a:rPr>
              <a:t>Savollar?</a:t>
            </a:r>
          </a:p>
        </p:txBody>
      </p:sp>
      <p:sp>
        <p:nvSpPr>
          <p:cNvPr id="95" name="TextBox 94"/>
          <p:cNvSpPr txBox="1"/>
          <p:nvPr/>
        </p:nvSpPr>
        <p:spPr>
          <a:xfrm>
            <a:off x="1200000" y="4800000"/>
            <a:ext cx="9800000" cy="800000"/>
          </a:xfrm>
          <a:prstGeom prst="rect">
            <a:avLst/>
          </a:prstGeom>
          <a:noFill/>
        </p:spPr>
        <p:txBody>
          <a:bodyPr wrap="square" anchor="t" lIns="50800" rIns="50800">
            <a:spAutoFit/>
          </a:bodyPr>
          <a:lstStyle/>
          <a:p>
            <a:pPr algn="ctr"/>
            <a:r>
              <a:rPr sz="1400" b="0">
                <a:solidFill>
                  <a:srgbClr val="AEBBD9"/>
                </a:solidFill>
                <a:latin typeface="Segoe UI"/>
              </a:rPr>
              <a:t>Mavzu matni va materiallar: https://aiscan.airi.uz/ktm/#/c/mis2104/mavzu/M2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10" presetClass="entr" presetSubtype="0" fill="hold" grpId="0" nodeType="after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50"/>
                                        <p:tgtEl>
                                          <p:spTgt spid="4"/>
                                        </p:tgtEl>
                                      </p:cBhvr>
                                    </p:animEffec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50"/>
                                        <p:tgtEl>
                                          <p:spTgt spid="5"/>
                                        </p:tgtEl>
                                      </p:cBhvr>
                                    </p:animEffect>
                                  </p:childTnLst>
                                </p:cTn>
                              </p:par>
                            </p:childTnLst>
                          </p:cTn>
                        </p:par>
                        <p:par>
                          <p:cTn id="15" fill="hold">
                            <p:stCondLst>
                              <p:cond delay="0"/>
                            </p:stCondLst>
                            <p:childTnLst>
                              <p:par>
                                <p:cTn id="16" presetID="10" presetClass="entr" presetSubtype="0" fill="hold" grpId="0" nodeType="after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50"/>
                                        <p:tgtEl>
                                          <p:spTgt spid="6"/>
                                        </p:tgtEl>
                                      </p:cBhvr>
                                    </p:animEffect>
                                  </p:childTnLst>
                                </p:cTn>
                              </p:par>
                            </p:childTnLst>
                          </p:cTn>
                        </p:par>
                        <p:par>
                          <p:cTn id="19" fill="hold">
                            <p:stCondLst>
                              <p:cond delay="0"/>
                            </p:stCondLst>
                            <p:childTnLst>
                              <p:par>
                                <p:cTn id="20" presetID="10" presetClass="entr" presetSubtype="0" fill="hold" grpId="0" nodeType="after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50"/>
                                        <p:tgtEl>
                                          <p:spTgt spid="7"/>
                                        </p:tgtEl>
                                      </p:cBhvr>
                                    </p:animEffect>
                                  </p:childTnLst>
                                </p:cTn>
                              </p:par>
                            </p:childTnLst>
                          </p:cTn>
                        </p:par>
                        <p:par>
                          <p:cTn id="23" fill="hold">
                            <p:stCondLst>
                              <p:cond delay="0"/>
                            </p:stCondLst>
                            <p:childTnLst>
                              <p:par>
                                <p:cTn id="24" presetID="10" presetClass="entr" presetSubtype="0" fill="hold" grpId="0" nodeType="after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50"/>
                                        <p:tgtEl>
                                          <p:spTgt spid="8"/>
                                        </p:tgtEl>
                                      </p:cBhvr>
                                    </p:animEffect>
                                  </p:childTnLst>
                                </p:cTn>
                              </p:par>
                            </p:childTnLst>
                          </p:cTn>
                        </p:par>
                        <p:par>
                          <p:cTn id="27" fill="hold">
                            <p:stCondLst>
                              <p:cond delay="0"/>
                            </p:stCondLst>
                            <p:childTnLst>
                              <p:par>
                                <p:cTn id="28" presetID="10" presetClass="entr" presetSubtype="0" fill="hold" grpId="0"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50"/>
                                        <p:tgtEl>
                                          <p:spTgt spid="9"/>
                                        </p:tgtEl>
                                      </p:cBhvr>
                                    </p:animEffect>
                                  </p:childTnLst>
                                </p:cTn>
                              </p:par>
                            </p:childTnLst>
                          </p:cTn>
                        </p:par>
                        <p:par>
                          <p:cTn id="31" fill="hold">
                            <p:stCondLst>
                              <p:cond delay="0"/>
                            </p:stCondLst>
                            <p:childTnLst>
                              <p:par>
                                <p:cTn id="32" presetID="10" presetClass="entr" presetSubtype="0" fill="hold" grpId="0" nodeType="after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50"/>
                                        <p:tgtEl>
                                          <p:spTgt spid="10"/>
                                        </p:tgtEl>
                                      </p:cBhvr>
                                    </p:animEffect>
                                  </p:childTnLst>
                                </p:cTn>
                              </p:par>
                            </p:childTnLst>
                          </p:cTn>
                        </p:par>
                        <p:par>
                          <p:cTn id="35" fill="hold">
                            <p:stCondLst>
                              <p:cond delay="0"/>
                            </p:stCondLst>
                            <p:childTnLst>
                              <p:par>
                                <p:cTn id="36" presetID="10" presetClass="entr" presetSubtype="0" fill="hold" grpId="0" nodeType="afterEffect">
                                  <p:stCondLst>
                                    <p:cond delay="0"/>
                                  </p:stCondLst>
                                  <p:childTnLst>
                                    <p:set>
                                      <p:cBhvr>
                                        <p:cTn id="37" dur="1" fill="hold">
                                          <p:stCondLst>
                                            <p:cond delay="0"/>
                                          </p:stCondLst>
                                        </p:cTn>
                                        <p:tgtEl>
                                          <p:spTgt spid="11"/>
                                        </p:tgtEl>
                                        <p:attrNameLst>
                                          <p:attrName>style.visibility</p:attrName>
                                        </p:attrNameLst>
                                      </p:cBhvr>
                                      <p:to>
                                        <p:strVal val="visible"/>
                                      </p:to>
                                    </p:set>
                                    <p:animEffect transition="in" filter="fade">
                                      <p:cBhvr>
                                        <p:cTn id="38" dur="550"/>
                                        <p:tgtEl>
                                          <p:spTgt spid="11"/>
                                        </p:tgtEl>
                                      </p:cBhvr>
                                    </p:animEffect>
                                  </p:childTnLst>
                                </p:cTn>
                              </p:par>
                            </p:childTnLst>
                          </p:cTn>
                        </p:par>
                        <p:par>
                          <p:cTn id="39" fill="hold">
                            <p:stCondLst>
                              <p:cond delay="0"/>
                            </p:stCondLst>
                            <p:childTnLst>
                              <p:par>
                                <p:cTn id="40" presetID="10" presetClass="entr" presetSubtype="0" fill="hold" grpId="0" nodeType="after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50"/>
                                        <p:tgtEl>
                                          <p:spTgt spid="12"/>
                                        </p:tgtEl>
                                      </p:cBhvr>
                                    </p:animEffect>
                                  </p:childTnLst>
                                </p:cTn>
                              </p:par>
                            </p:childTnLst>
                          </p:cTn>
                        </p:par>
                        <p:par>
                          <p:cTn id="43" fill="hold">
                            <p:stCondLst>
                              <p:cond delay="0"/>
                            </p:stCondLst>
                            <p:childTnLst>
                              <p:par>
                                <p:cTn id="44" presetID="10" presetClass="entr" presetSubtype="0" fill="hold" grpId="0" nodeType="after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50"/>
                                        <p:tgtEl>
                                          <p:spTgt spid="13"/>
                                        </p:tgtEl>
                                      </p:cBhvr>
                                    </p:animEffect>
                                  </p:childTnLst>
                                </p:cTn>
                              </p:par>
                            </p:childTnLst>
                          </p:cTn>
                        </p:par>
                        <p:par>
                          <p:cTn id="47" fill="hold">
                            <p:stCondLst>
                              <p:cond delay="0"/>
                            </p:stCondLst>
                            <p:childTnLst>
                              <p:par>
                                <p:cTn id="48" presetID="10" presetClass="entr" presetSubtype="0" fill="hold" grpId="0"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50"/>
                                        <p:tgtEl>
                                          <p:spTgt spid="14"/>
                                        </p:tgtEl>
                                      </p:cBhvr>
                                    </p:animEffect>
                                  </p:childTnLst>
                                </p:cTn>
                              </p:par>
                            </p:childTnLst>
                          </p:cTn>
                        </p:par>
                        <p:par>
                          <p:cTn id="51" fill="hold">
                            <p:stCondLst>
                              <p:cond delay="0"/>
                            </p:stCondLst>
                            <p:childTnLst>
                              <p:par>
                                <p:cTn id="52" presetID="10" presetClass="entr" presetSubtype="0" fill="hold" grpId="0" nodeType="after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50"/>
                                        <p:tgtEl>
                                          <p:spTgt spid="15"/>
                                        </p:tgtEl>
                                      </p:cBhvr>
                                    </p:animEffect>
                                  </p:childTnLst>
                                </p:cTn>
                              </p:par>
                            </p:childTnLst>
                          </p:cTn>
                        </p:par>
                        <p:par>
                          <p:cTn id="55" fill="hold">
                            <p:stCondLst>
                              <p:cond delay="0"/>
                            </p:stCondLst>
                            <p:childTnLst>
                              <p:par>
                                <p:cTn id="56" presetID="10" presetClass="entr" presetSubtype="0" fill="hold" grpId="0" nodeType="afterEffect">
                                  <p:stCondLst>
                                    <p:cond delay="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550"/>
                                        <p:tgtEl>
                                          <p:spTgt spid="16"/>
                                        </p:tgtEl>
                                      </p:cBhvr>
                                    </p:animEffect>
                                  </p:childTnLst>
                                </p:cTn>
                              </p:par>
                            </p:childTnLst>
                          </p:cTn>
                        </p:par>
                        <p:par>
                          <p:cTn id="59" fill="hold">
                            <p:stCondLst>
                              <p:cond delay="0"/>
                            </p:stCondLst>
                            <p:childTnLst>
                              <p:par>
                                <p:cTn id="60" presetID="10" presetClass="entr" presetSubtype="0" fill="hold" grpId="0" nodeType="after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550"/>
                                        <p:tgtEl>
                                          <p:spTgt spid="17"/>
                                        </p:tgtEl>
                                      </p:cBhvr>
                                    </p:animEffect>
                                  </p:childTnLst>
                                </p:cTn>
                              </p:par>
                            </p:childTnLst>
                          </p:cTn>
                        </p:par>
                        <p:par>
                          <p:cTn id="63" fill="hold">
                            <p:stCondLst>
                              <p:cond delay="0"/>
                            </p:stCondLst>
                            <p:childTnLst>
                              <p:par>
                                <p:cTn id="64" presetID="10" presetClass="entr" presetSubtype="0" fill="hold" grpId="0" nodeType="afterEffect">
                                  <p:stCondLst>
                                    <p:cond delay="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50"/>
                                        <p:tgtEl>
                                          <p:spTgt spid="18"/>
                                        </p:tgtEl>
                                      </p:cBhvr>
                                    </p:animEffect>
                                  </p:childTnLst>
                                </p:cTn>
                              </p:par>
                            </p:childTnLst>
                          </p:cTn>
                        </p:par>
                        <p:par>
                          <p:cTn id="67" fill="hold">
                            <p:stCondLst>
                              <p:cond delay="0"/>
                            </p:stCondLst>
                            <p:childTnLst>
                              <p:par>
                                <p:cTn id="68" presetID="10" presetClass="entr" presetSubtype="0"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childTnLst>
                                </p:cTn>
                              </p:par>
                            </p:childTnLst>
                          </p:cTn>
                        </p:par>
                        <p:par>
                          <p:cTn id="71" fill="hold">
                            <p:stCondLst>
                              <p:cond delay="0"/>
                            </p:stCondLst>
                            <p:childTnLst>
                              <p:par>
                                <p:cTn id="72" presetID="10" presetClass="entr" presetSubtype="0" fill="hold" grpId="0" nodeType="afterEffect">
                                  <p:stCondLst>
                                    <p:cond delay="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50"/>
                                        <p:tgtEl>
                                          <p:spTgt spid="20"/>
                                        </p:tgtEl>
                                      </p:cBhvr>
                                    </p:animEffect>
                                  </p:childTnLst>
                                </p:cTn>
                              </p:par>
                            </p:childTnLst>
                          </p:cTn>
                        </p:par>
                        <p:par>
                          <p:cTn id="75" fill="hold">
                            <p:stCondLst>
                              <p:cond delay="0"/>
                            </p:stCondLst>
                            <p:childTnLst>
                              <p:par>
                                <p:cTn id="76" presetID="10" presetClass="entr" presetSubtype="0" fill="hold" grpId="0" nodeType="after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550"/>
                                        <p:tgtEl>
                                          <p:spTgt spid="21"/>
                                        </p:tgtEl>
                                      </p:cBhvr>
                                    </p:animEffect>
                                  </p:childTnLst>
                                </p:cTn>
                              </p:par>
                            </p:childTnLst>
                          </p:cTn>
                        </p:par>
                        <p:par>
                          <p:cTn id="79" fill="hold">
                            <p:stCondLst>
                              <p:cond delay="0"/>
                            </p:stCondLst>
                            <p:childTnLst>
                              <p:par>
                                <p:cTn id="80" presetID="10"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childTnLst>
                                </p:cTn>
                              </p:par>
                            </p:childTnLst>
                          </p:cTn>
                        </p:par>
                        <p:par>
                          <p:cTn id="83" fill="hold">
                            <p:stCondLst>
                              <p:cond delay="0"/>
                            </p:stCondLst>
                            <p:childTnLst>
                              <p:par>
                                <p:cTn id="84" presetID="10" presetClass="entr" presetSubtype="0" fill="hold" grpId="0" nodeType="afterEffect">
                                  <p:stCondLst>
                                    <p:cond delay="0"/>
                                  </p:stCondLst>
                                  <p:childTnLst>
                                    <p:set>
                                      <p:cBhvr>
                                        <p:cTn id="85" dur="1" fill="hold">
                                          <p:stCondLst>
                                            <p:cond delay="0"/>
                                          </p:stCondLst>
                                        </p:cTn>
                                        <p:tgtEl>
                                          <p:spTgt spid="23"/>
                                        </p:tgtEl>
                                        <p:attrNameLst>
                                          <p:attrName>style.visibility</p:attrName>
                                        </p:attrNameLst>
                                      </p:cBhvr>
                                      <p:to>
                                        <p:strVal val="visible"/>
                                      </p:to>
                                    </p:set>
                                    <p:animEffect transition="in" filter="fade">
                                      <p:cBhvr>
                                        <p:cTn id="86" dur="550"/>
                                        <p:tgtEl>
                                          <p:spTgt spid="23"/>
                                        </p:tgtEl>
                                      </p:cBhvr>
                                    </p:animEffect>
                                  </p:childTnLst>
                                </p:cTn>
                              </p:par>
                            </p:childTnLst>
                          </p:cTn>
                        </p:par>
                        <p:par>
                          <p:cTn id="87" fill="hold">
                            <p:stCondLst>
                              <p:cond delay="0"/>
                            </p:stCondLst>
                            <p:childTnLst>
                              <p:par>
                                <p:cTn id="88" presetID="10" presetClass="entr" presetSubtype="0" fill="hold" grpId="0" nodeType="afterEffect">
                                  <p:stCondLst>
                                    <p:cond delay="0"/>
                                  </p:stCondLst>
                                  <p:childTnLst>
                                    <p:set>
                                      <p:cBhvr>
                                        <p:cTn id="89" dur="1" fill="hold">
                                          <p:stCondLst>
                                            <p:cond delay="0"/>
                                          </p:stCondLst>
                                        </p:cTn>
                                        <p:tgtEl>
                                          <p:spTgt spid="24"/>
                                        </p:tgtEl>
                                        <p:attrNameLst>
                                          <p:attrName>style.visibility</p:attrName>
                                        </p:attrNameLst>
                                      </p:cBhvr>
                                      <p:to>
                                        <p:strVal val="visible"/>
                                      </p:to>
                                    </p:set>
                                    <p:animEffect transition="in" filter="fade">
                                      <p:cBhvr>
                                        <p:cTn id="90" dur="550"/>
                                        <p:tgtEl>
                                          <p:spTgt spid="24"/>
                                        </p:tgtEl>
                                      </p:cBhvr>
                                    </p:animEffect>
                                  </p:childTnLst>
                                </p:cTn>
                              </p:par>
                            </p:childTnLst>
                          </p:cTn>
                        </p:par>
                        <p:par>
                          <p:cTn id="91" fill="hold">
                            <p:stCondLst>
                              <p:cond delay="0"/>
                            </p:stCondLst>
                            <p:childTnLst>
                              <p:par>
                                <p:cTn id="92" presetID="10" presetClass="entr" presetSubtype="0" fill="hold" grpId="0" nodeType="afterEffect">
                                  <p:stCondLst>
                                    <p:cond delay="0"/>
                                  </p:stCondLst>
                                  <p:childTnLst>
                                    <p:set>
                                      <p:cBhvr>
                                        <p:cTn id="93" dur="1" fill="hold">
                                          <p:stCondLst>
                                            <p:cond delay="0"/>
                                          </p:stCondLst>
                                        </p:cTn>
                                        <p:tgtEl>
                                          <p:spTgt spid="25"/>
                                        </p:tgtEl>
                                        <p:attrNameLst>
                                          <p:attrName>style.visibility</p:attrName>
                                        </p:attrNameLst>
                                      </p:cBhvr>
                                      <p:to>
                                        <p:strVal val="visible"/>
                                      </p:to>
                                    </p:set>
                                    <p:animEffect transition="in" filter="fade">
                                      <p:cBhvr>
                                        <p:cTn id="94" dur="550"/>
                                        <p:tgtEl>
                                          <p:spTgt spid="25"/>
                                        </p:tgtEl>
                                      </p:cBhvr>
                                    </p:animEffect>
                                  </p:childTnLst>
                                </p:cTn>
                              </p:par>
                            </p:childTnLst>
                          </p:cTn>
                        </p:par>
                        <p:par>
                          <p:cTn id="95" fill="hold">
                            <p:stCondLst>
                              <p:cond delay="0"/>
                            </p:stCondLst>
                            <p:childTnLst>
                              <p:par>
                                <p:cTn id="96" presetID="10" presetClass="entr" presetSubtype="0" fill="hold" grpId="0" nodeType="afterEffect">
                                  <p:stCondLst>
                                    <p:cond delay="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550"/>
                                        <p:tgtEl>
                                          <p:spTgt spid="26"/>
                                        </p:tgtEl>
                                      </p:cBhvr>
                                    </p:animEffect>
                                  </p:childTnLst>
                                </p:cTn>
                              </p:par>
                            </p:childTnLst>
                          </p:cTn>
                        </p:par>
                        <p:par>
                          <p:cTn id="99" fill="hold">
                            <p:stCondLst>
                              <p:cond delay="0"/>
                            </p:stCondLst>
                            <p:childTnLst>
                              <p:par>
                                <p:cTn id="100" presetID="10" presetClass="entr" presetSubtype="0" fill="hold" grpId="0" nodeType="afterEffect">
                                  <p:stCondLst>
                                    <p:cond delay="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2" dur="550"/>
                                        <p:tgtEl>
                                          <p:spTgt spid="27"/>
                                        </p:tgtEl>
                                      </p:cBhvr>
                                    </p:animEffect>
                                  </p:childTnLst>
                                </p:cTn>
                              </p:par>
                            </p:childTnLst>
                          </p:cTn>
                        </p:par>
                        <p:par>
                          <p:cTn id="103" fill="hold">
                            <p:stCondLst>
                              <p:cond delay="0"/>
                            </p:stCondLst>
                            <p:childTnLst>
                              <p:par>
                                <p:cTn id="104" presetID="10" presetClass="entr" presetSubtype="0" fill="hold" grpId="0" nodeType="afterEffect">
                                  <p:stCondLst>
                                    <p:cond delay="0"/>
                                  </p:stCondLst>
                                  <p:childTnLst>
                                    <p:set>
                                      <p:cBhvr>
                                        <p:cTn id="105" dur="1" fill="hold">
                                          <p:stCondLst>
                                            <p:cond delay="0"/>
                                          </p:stCondLst>
                                        </p:cTn>
                                        <p:tgtEl>
                                          <p:spTgt spid="28"/>
                                        </p:tgtEl>
                                        <p:attrNameLst>
                                          <p:attrName>style.visibility</p:attrName>
                                        </p:attrNameLst>
                                      </p:cBhvr>
                                      <p:to>
                                        <p:strVal val="visible"/>
                                      </p:to>
                                    </p:set>
                                    <p:animEffect transition="in" filter="fade">
                                      <p:cBhvr>
                                        <p:cTn id="106" dur="550"/>
                                        <p:tgtEl>
                                          <p:spTgt spid="28"/>
                                        </p:tgtEl>
                                      </p:cBhvr>
                                    </p:animEffect>
                                  </p:childTnLst>
                                </p:cTn>
                              </p:par>
                            </p:childTnLst>
                          </p:cTn>
                        </p:par>
                        <p:par>
                          <p:cTn id="107" fill="hold">
                            <p:stCondLst>
                              <p:cond delay="0"/>
                            </p:stCondLst>
                            <p:childTnLst>
                              <p:par>
                                <p:cTn id="108" presetID="10" presetClass="entr" presetSubtype="0" fill="hold" grpId="0" nodeType="afterEffect">
                                  <p:stCondLst>
                                    <p:cond delay="0"/>
                                  </p:stCondLst>
                                  <p:childTnLst>
                                    <p:set>
                                      <p:cBhvr>
                                        <p:cTn id="109" dur="1" fill="hold">
                                          <p:stCondLst>
                                            <p:cond delay="0"/>
                                          </p:stCondLst>
                                        </p:cTn>
                                        <p:tgtEl>
                                          <p:spTgt spid="29"/>
                                        </p:tgtEl>
                                        <p:attrNameLst>
                                          <p:attrName>style.visibility</p:attrName>
                                        </p:attrNameLst>
                                      </p:cBhvr>
                                      <p:to>
                                        <p:strVal val="visible"/>
                                      </p:to>
                                    </p:set>
                                    <p:animEffect transition="in" filter="fade">
                                      <p:cBhvr>
                                        <p:cTn id="110" dur="550"/>
                                        <p:tgtEl>
                                          <p:spTgt spid="29"/>
                                        </p:tgtEl>
                                      </p:cBhvr>
                                    </p:animEffect>
                                  </p:childTnLst>
                                </p:cTn>
                              </p:par>
                            </p:childTnLst>
                          </p:cTn>
                        </p:par>
                        <p:par>
                          <p:cTn id="111" fill="hold">
                            <p:stCondLst>
                              <p:cond delay="0"/>
                            </p:stCondLst>
                            <p:childTnLst>
                              <p:par>
                                <p:cTn id="112" presetID="10" presetClass="entr" presetSubtype="0" fill="hold" grpId="0" nodeType="afterEffect">
                                  <p:stCondLst>
                                    <p:cond delay="0"/>
                                  </p:stCondLst>
                                  <p:childTnLst>
                                    <p:set>
                                      <p:cBhvr>
                                        <p:cTn id="113" dur="1" fill="hold">
                                          <p:stCondLst>
                                            <p:cond delay="0"/>
                                          </p:stCondLst>
                                        </p:cTn>
                                        <p:tgtEl>
                                          <p:spTgt spid="30"/>
                                        </p:tgtEl>
                                        <p:attrNameLst>
                                          <p:attrName>style.visibility</p:attrName>
                                        </p:attrNameLst>
                                      </p:cBhvr>
                                      <p:to>
                                        <p:strVal val="visible"/>
                                      </p:to>
                                    </p:set>
                                    <p:animEffect transition="in" filter="fade">
                                      <p:cBhvr>
                                        <p:cTn id="114" dur="550"/>
                                        <p:tgtEl>
                                          <p:spTgt spid="30"/>
                                        </p:tgtEl>
                                      </p:cBhvr>
                                    </p:animEffect>
                                  </p:childTnLst>
                                </p:cTn>
                              </p:par>
                            </p:childTnLst>
                          </p:cTn>
                        </p:par>
                        <p:par>
                          <p:cTn id="115" fill="hold">
                            <p:stCondLst>
                              <p:cond delay="0"/>
                            </p:stCondLst>
                            <p:childTnLst>
                              <p:par>
                                <p:cTn id="116" presetID="10" presetClass="entr" presetSubtype="0" fill="hold" grpId="0" nodeType="afterEffect">
                                  <p:stCondLst>
                                    <p:cond delay="0"/>
                                  </p:stCondLst>
                                  <p:childTnLst>
                                    <p:set>
                                      <p:cBhvr>
                                        <p:cTn id="117" dur="1" fill="hold">
                                          <p:stCondLst>
                                            <p:cond delay="0"/>
                                          </p:stCondLst>
                                        </p:cTn>
                                        <p:tgtEl>
                                          <p:spTgt spid="31"/>
                                        </p:tgtEl>
                                        <p:attrNameLst>
                                          <p:attrName>style.visibility</p:attrName>
                                        </p:attrNameLst>
                                      </p:cBhvr>
                                      <p:to>
                                        <p:strVal val="visible"/>
                                      </p:to>
                                    </p:set>
                                    <p:animEffect transition="in" filter="fade">
                                      <p:cBhvr>
                                        <p:cTn id="118" dur="550"/>
                                        <p:tgtEl>
                                          <p:spTgt spid="31"/>
                                        </p:tgtEl>
                                      </p:cBhvr>
                                    </p:animEffect>
                                  </p:childTnLst>
                                </p:cTn>
                              </p:par>
                            </p:childTnLst>
                          </p:cTn>
                        </p:par>
                        <p:par>
                          <p:cTn id="119" fill="hold">
                            <p:stCondLst>
                              <p:cond delay="0"/>
                            </p:stCondLst>
                            <p:childTnLst>
                              <p:par>
                                <p:cTn id="120" presetID="10" presetClass="entr" presetSubtype="0" fill="hold" grpId="0" nodeType="afterEffect">
                                  <p:stCondLst>
                                    <p:cond delay="0"/>
                                  </p:stCondLst>
                                  <p:childTnLst>
                                    <p:set>
                                      <p:cBhvr>
                                        <p:cTn id="121" dur="1" fill="hold">
                                          <p:stCondLst>
                                            <p:cond delay="0"/>
                                          </p:stCondLst>
                                        </p:cTn>
                                        <p:tgtEl>
                                          <p:spTgt spid="32"/>
                                        </p:tgtEl>
                                        <p:attrNameLst>
                                          <p:attrName>style.visibility</p:attrName>
                                        </p:attrNameLst>
                                      </p:cBhvr>
                                      <p:to>
                                        <p:strVal val="visible"/>
                                      </p:to>
                                    </p:set>
                                    <p:animEffect transition="in" filter="fade">
                                      <p:cBhvr>
                                        <p:cTn id="122" dur="550"/>
                                        <p:tgtEl>
                                          <p:spTgt spid="32"/>
                                        </p:tgtEl>
                                      </p:cBhvr>
                                    </p:animEffect>
                                  </p:childTnLst>
                                </p:cTn>
                              </p:par>
                            </p:childTnLst>
                          </p:cTn>
                        </p:par>
                        <p:par>
                          <p:cTn id="123" fill="hold">
                            <p:stCondLst>
                              <p:cond delay="0"/>
                            </p:stCondLst>
                            <p:childTnLst>
                              <p:par>
                                <p:cTn id="124" presetID="10" presetClass="entr" presetSubtype="0" fill="hold" grpId="0" nodeType="afterEffect">
                                  <p:stCondLst>
                                    <p:cond delay="0"/>
                                  </p:stCondLst>
                                  <p:childTnLst>
                                    <p:set>
                                      <p:cBhvr>
                                        <p:cTn id="125" dur="1" fill="hold">
                                          <p:stCondLst>
                                            <p:cond delay="0"/>
                                          </p:stCondLst>
                                        </p:cTn>
                                        <p:tgtEl>
                                          <p:spTgt spid="33"/>
                                        </p:tgtEl>
                                        <p:attrNameLst>
                                          <p:attrName>style.visibility</p:attrName>
                                        </p:attrNameLst>
                                      </p:cBhvr>
                                      <p:to>
                                        <p:strVal val="visible"/>
                                      </p:to>
                                    </p:set>
                                    <p:animEffect transition="in" filter="fade">
                                      <p:cBhvr>
                                        <p:cTn id="126" dur="550"/>
                                        <p:tgtEl>
                                          <p:spTgt spid="33"/>
                                        </p:tgtEl>
                                      </p:cBhvr>
                                    </p:animEffect>
                                  </p:childTnLst>
                                </p:cTn>
                              </p:par>
                            </p:childTnLst>
                          </p:cTn>
                        </p:par>
                        <p:par>
                          <p:cTn id="127" fill="hold">
                            <p:stCondLst>
                              <p:cond delay="0"/>
                            </p:stCondLst>
                            <p:childTnLst>
                              <p:par>
                                <p:cTn id="128" presetID="10" presetClass="entr" presetSubtype="0" fill="hold" grpId="0" nodeType="afterEffect">
                                  <p:stCondLst>
                                    <p:cond delay="0"/>
                                  </p:stCondLst>
                                  <p:childTnLst>
                                    <p:set>
                                      <p:cBhvr>
                                        <p:cTn id="129" dur="1" fill="hold">
                                          <p:stCondLst>
                                            <p:cond delay="0"/>
                                          </p:stCondLst>
                                        </p:cTn>
                                        <p:tgtEl>
                                          <p:spTgt spid="34"/>
                                        </p:tgtEl>
                                        <p:attrNameLst>
                                          <p:attrName>style.visibility</p:attrName>
                                        </p:attrNameLst>
                                      </p:cBhvr>
                                      <p:to>
                                        <p:strVal val="visible"/>
                                      </p:to>
                                    </p:set>
                                    <p:animEffect transition="in" filter="fade">
                                      <p:cBhvr>
                                        <p:cTn id="130" dur="550"/>
                                        <p:tgtEl>
                                          <p:spTgt spid="34"/>
                                        </p:tgtEl>
                                      </p:cBhvr>
                                    </p:animEffect>
                                  </p:childTnLst>
                                </p:cTn>
                              </p:par>
                            </p:childTnLst>
                          </p:cTn>
                        </p:par>
                        <p:par>
                          <p:cTn id="131" fill="hold">
                            <p:stCondLst>
                              <p:cond delay="0"/>
                            </p:stCondLst>
                            <p:childTnLst>
                              <p:par>
                                <p:cTn id="132" presetID="10" presetClass="entr" presetSubtype="0" fill="hold" grpId="0" nodeType="afterEffect">
                                  <p:stCondLst>
                                    <p:cond delay="0"/>
                                  </p:stCondLst>
                                  <p:childTnLst>
                                    <p:set>
                                      <p:cBhvr>
                                        <p:cTn id="133" dur="1" fill="hold">
                                          <p:stCondLst>
                                            <p:cond delay="0"/>
                                          </p:stCondLst>
                                        </p:cTn>
                                        <p:tgtEl>
                                          <p:spTgt spid="35"/>
                                        </p:tgtEl>
                                        <p:attrNameLst>
                                          <p:attrName>style.visibility</p:attrName>
                                        </p:attrNameLst>
                                      </p:cBhvr>
                                      <p:to>
                                        <p:strVal val="visible"/>
                                      </p:to>
                                    </p:set>
                                    <p:animEffect transition="in" filter="fade">
                                      <p:cBhvr>
                                        <p:cTn id="134" dur="550"/>
                                        <p:tgtEl>
                                          <p:spTgt spid="35"/>
                                        </p:tgtEl>
                                      </p:cBhvr>
                                    </p:animEffect>
                                  </p:childTnLst>
                                </p:cTn>
                              </p:par>
                            </p:childTnLst>
                          </p:cTn>
                        </p:par>
                        <p:par>
                          <p:cTn id="135" fill="hold">
                            <p:stCondLst>
                              <p:cond delay="0"/>
                            </p:stCondLst>
                            <p:childTnLst>
                              <p:par>
                                <p:cTn id="136" presetID="10" presetClass="entr" presetSubtype="0" fill="hold" grpId="0" nodeType="afterEffect">
                                  <p:stCondLst>
                                    <p:cond delay="0"/>
                                  </p:stCondLst>
                                  <p:childTnLst>
                                    <p:set>
                                      <p:cBhvr>
                                        <p:cTn id="137" dur="1" fill="hold">
                                          <p:stCondLst>
                                            <p:cond delay="0"/>
                                          </p:stCondLst>
                                        </p:cTn>
                                        <p:tgtEl>
                                          <p:spTgt spid="36"/>
                                        </p:tgtEl>
                                        <p:attrNameLst>
                                          <p:attrName>style.visibility</p:attrName>
                                        </p:attrNameLst>
                                      </p:cBhvr>
                                      <p:to>
                                        <p:strVal val="visible"/>
                                      </p:to>
                                    </p:set>
                                    <p:animEffect transition="in" filter="fade">
                                      <p:cBhvr>
                                        <p:cTn id="138" dur="550"/>
                                        <p:tgtEl>
                                          <p:spTgt spid="36"/>
                                        </p:tgtEl>
                                      </p:cBhvr>
                                    </p:animEffect>
                                  </p:childTnLst>
                                </p:cTn>
                              </p:par>
                            </p:childTnLst>
                          </p:cTn>
                        </p:par>
                        <p:par>
                          <p:cTn id="139" fill="hold">
                            <p:stCondLst>
                              <p:cond delay="0"/>
                            </p:stCondLst>
                            <p:childTnLst>
                              <p:par>
                                <p:cTn id="140" presetID="10" presetClass="entr" presetSubtype="0" fill="hold" grpId="0" nodeType="afterEffect">
                                  <p:stCondLst>
                                    <p:cond delay="0"/>
                                  </p:stCondLst>
                                  <p:childTnLst>
                                    <p:set>
                                      <p:cBhvr>
                                        <p:cTn id="141" dur="1" fill="hold">
                                          <p:stCondLst>
                                            <p:cond delay="0"/>
                                          </p:stCondLst>
                                        </p:cTn>
                                        <p:tgtEl>
                                          <p:spTgt spid="37"/>
                                        </p:tgtEl>
                                        <p:attrNameLst>
                                          <p:attrName>style.visibility</p:attrName>
                                        </p:attrNameLst>
                                      </p:cBhvr>
                                      <p:to>
                                        <p:strVal val="visible"/>
                                      </p:to>
                                    </p:set>
                                    <p:animEffect transition="in" filter="fade">
                                      <p:cBhvr>
                                        <p:cTn id="142" dur="550"/>
                                        <p:tgtEl>
                                          <p:spTgt spid="37"/>
                                        </p:tgtEl>
                                      </p:cBhvr>
                                    </p:animEffect>
                                  </p:childTnLst>
                                </p:cTn>
                              </p:par>
                            </p:childTnLst>
                          </p:cTn>
                        </p:par>
                        <p:par>
                          <p:cTn id="143" fill="hold">
                            <p:stCondLst>
                              <p:cond delay="0"/>
                            </p:stCondLst>
                            <p:childTnLst>
                              <p:par>
                                <p:cTn id="144" presetID="10" presetClass="entr" presetSubtype="0" fill="hold" grpId="0" nodeType="afterEffect">
                                  <p:stCondLst>
                                    <p:cond delay="0"/>
                                  </p:stCondLst>
                                  <p:childTnLst>
                                    <p:set>
                                      <p:cBhvr>
                                        <p:cTn id="145" dur="1" fill="hold">
                                          <p:stCondLst>
                                            <p:cond delay="0"/>
                                          </p:stCondLst>
                                        </p:cTn>
                                        <p:tgtEl>
                                          <p:spTgt spid="38"/>
                                        </p:tgtEl>
                                        <p:attrNameLst>
                                          <p:attrName>style.visibility</p:attrName>
                                        </p:attrNameLst>
                                      </p:cBhvr>
                                      <p:to>
                                        <p:strVal val="visible"/>
                                      </p:to>
                                    </p:set>
                                    <p:animEffect transition="in" filter="fade">
                                      <p:cBhvr>
                                        <p:cTn id="146" dur="550"/>
                                        <p:tgtEl>
                                          <p:spTgt spid="38"/>
                                        </p:tgtEl>
                                      </p:cBhvr>
                                    </p:animEffect>
                                  </p:childTnLst>
                                </p:cTn>
                              </p:par>
                            </p:childTnLst>
                          </p:cTn>
                        </p:par>
                        <p:par>
                          <p:cTn id="147" fill="hold">
                            <p:stCondLst>
                              <p:cond delay="0"/>
                            </p:stCondLst>
                            <p:childTnLst>
                              <p:par>
                                <p:cTn id="148" presetID="10" presetClass="entr" presetSubtype="0" fill="hold" grpId="0" nodeType="afterEffect">
                                  <p:stCondLst>
                                    <p:cond delay="0"/>
                                  </p:stCondLst>
                                  <p:childTnLst>
                                    <p:set>
                                      <p:cBhvr>
                                        <p:cTn id="149" dur="1" fill="hold">
                                          <p:stCondLst>
                                            <p:cond delay="0"/>
                                          </p:stCondLst>
                                        </p:cTn>
                                        <p:tgtEl>
                                          <p:spTgt spid="39"/>
                                        </p:tgtEl>
                                        <p:attrNameLst>
                                          <p:attrName>style.visibility</p:attrName>
                                        </p:attrNameLst>
                                      </p:cBhvr>
                                      <p:to>
                                        <p:strVal val="visible"/>
                                      </p:to>
                                    </p:set>
                                    <p:animEffect transition="in" filter="fade">
                                      <p:cBhvr>
                                        <p:cTn id="150" dur="550"/>
                                        <p:tgtEl>
                                          <p:spTgt spid="39"/>
                                        </p:tgtEl>
                                      </p:cBhvr>
                                    </p:animEffect>
                                  </p:childTnLst>
                                </p:cTn>
                              </p:par>
                            </p:childTnLst>
                          </p:cTn>
                        </p:par>
                        <p:par>
                          <p:cTn id="151" fill="hold">
                            <p:stCondLst>
                              <p:cond delay="0"/>
                            </p:stCondLst>
                            <p:childTnLst>
                              <p:par>
                                <p:cTn id="152" presetID="10" presetClass="entr" presetSubtype="0" fill="hold" grpId="0" nodeType="afterEffect">
                                  <p:stCondLst>
                                    <p:cond delay="0"/>
                                  </p:stCondLst>
                                  <p:childTnLst>
                                    <p:set>
                                      <p:cBhvr>
                                        <p:cTn id="153" dur="1" fill="hold">
                                          <p:stCondLst>
                                            <p:cond delay="0"/>
                                          </p:stCondLst>
                                        </p:cTn>
                                        <p:tgtEl>
                                          <p:spTgt spid="40"/>
                                        </p:tgtEl>
                                        <p:attrNameLst>
                                          <p:attrName>style.visibility</p:attrName>
                                        </p:attrNameLst>
                                      </p:cBhvr>
                                      <p:to>
                                        <p:strVal val="visible"/>
                                      </p:to>
                                    </p:set>
                                    <p:animEffect transition="in" filter="fade">
                                      <p:cBhvr>
                                        <p:cTn id="154" dur="550"/>
                                        <p:tgtEl>
                                          <p:spTgt spid="40"/>
                                        </p:tgtEl>
                                      </p:cBhvr>
                                    </p:animEffect>
                                  </p:childTnLst>
                                </p:cTn>
                              </p:par>
                            </p:childTnLst>
                          </p:cTn>
                        </p:par>
                        <p:par>
                          <p:cTn id="155" fill="hold">
                            <p:stCondLst>
                              <p:cond delay="0"/>
                            </p:stCondLst>
                            <p:childTnLst>
                              <p:par>
                                <p:cTn id="156" presetID="10" presetClass="entr" presetSubtype="0" fill="hold" grpId="0" nodeType="afterEffect">
                                  <p:stCondLst>
                                    <p:cond delay="0"/>
                                  </p:stCondLst>
                                  <p:childTnLst>
                                    <p:set>
                                      <p:cBhvr>
                                        <p:cTn id="157" dur="1" fill="hold">
                                          <p:stCondLst>
                                            <p:cond delay="0"/>
                                          </p:stCondLst>
                                        </p:cTn>
                                        <p:tgtEl>
                                          <p:spTgt spid="41"/>
                                        </p:tgtEl>
                                        <p:attrNameLst>
                                          <p:attrName>style.visibility</p:attrName>
                                        </p:attrNameLst>
                                      </p:cBhvr>
                                      <p:to>
                                        <p:strVal val="visible"/>
                                      </p:to>
                                    </p:set>
                                    <p:animEffect transition="in" filter="fade">
                                      <p:cBhvr>
                                        <p:cTn id="158" dur="550"/>
                                        <p:tgtEl>
                                          <p:spTgt spid="41"/>
                                        </p:tgtEl>
                                      </p:cBhvr>
                                    </p:animEffect>
                                  </p:childTnLst>
                                </p:cTn>
                              </p:par>
                            </p:childTnLst>
                          </p:cTn>
                        </p:par>
                        <p:par>
                          <p:cTn id="159" fill="hold">
                            <p:stCondLst>
                              <p:cond delay="0"/>
                            </p:stCondLst>
                            <p:childTnLst>
                              <p:par>
                                <p:cTn id="160" presetID="10" presetClass="entr" presetSubtype="0" fill="hold" grpId="0" nodeType="afterEffect">
                                  <p:stCondLst>
                                    <p:cond delay="0"/>
                                  </p:stCondLst>
                                  <p:childTnLst>
                                    <p:set>
                                      <p:cBhvr>
                                        <p:cTn id="161" dur="1" fill="hold">
                                          <p:stCondLst>
                                            <p:cond delay="0"/>
                                          </p:stCondLst>
                                        </p:cTn>
                                        <p:tgtEl>
                                          <p:spTgt spid="42"/>
                                        </p:tgtEl>
                                        <p:attrNameLst>
                                          <p:attrName>style.visibility</p:attrName>
                                        </p:attrNameLst>
                                      </p:cBhvr>
                                      <p:to>
                                        <p:strVal val="visible"/>
                                      </p:to>
                                    </p:set>
                                    <p:animEffect transition="in" filter="fade">
                                      <p:cBhvr>
                                        <p:cTn id="162" dur="550"/>
                                        <p:tgtEl>
                                          <p:spTgt spid="42"/>
                                        </p:tgtEl>
                                      </p:cBhvr>
                                    </p:animEffect>
                                  </p:childTnLst>
                                </p:cTn>
                              </p:par>
                            </p:childTnLst>
                          </p:cTn>
                        </p:par>
                        <p:par>
                          <p:cTn id="163" fill="hold">
                            <p:stCondLst>
                              <p:cond delay="0"/>
                            </p:stCondLst>
                            <p:childTnLst>
                              <p:par>
                                <p:cTn id="164" presetID="10" presetClass="entr" presetSubtype="0" fill="hold" grpId="0" nodeType="afterEffect">
                                  <p:stCondLst>
                                    <p:cond delay="0"/>
                                  </p:stCondLst>
                                  <p:childTnLst>
                                    <p:set>
                                      <p:cBhvr>
                                        <p:cTn id="165" dur="1" fill="hold">
                                          <p:stCondLst>
                                            <p:cond delay="0"/>
                                          </p:stCondLst>
                                        </p:cTn>
                                        <p:tgtEl>
                                          <p:spTgt spid="43"/>
                                        </p:tgtEl>
                                        <p:attrNameLst>
                                          <p:attrName>style.visibility</p:attrName>
                                        </p:attrNameLst>
                                      </p:cBhvr>
                                      <p:to>
                                        <p:strVal val="visible"/>
                                      </p:to>
                                    </p:set>
                                    <p:animEffect transition="in" filter="fade">
                                      <p:cBhvr>
                                        <p:cTn id="166" dur="550"/>
                                        <p:tgtEl>
                                          <p:spTgt spid="43"/>
                                        </p:tgtEl>
                                      </p:cBhvr>
                                    </p:animEffect>
                                  </p:childTnLst>
                                </p:cTn>
                              </p:par>
                            </p:childTnLst>
                          </p:cTn>
                        </p:par>
                        <p:par>
                          <p:cTn id="167" fill="hold">
                            <p:stCondLst>
                              <p:cond delay="0"/>
                            </p:stCondLst>
                            <p:childTnLst>
                              <p:par>
                                <p:cTn id="168" presetID="10" presetClass="entr" presetSubtype="0" fill="hold" grpId="0" nodeType="afterEffect">
                                  <p:stCondLst>
                                    <p:cond delay="0"/>
                                  </p:stCondLst>
                                  <p:childTnLst>
                                    <p:set>
                                      <p:cBhvr>
                                        <p:cTn id="169" dur="1" fill="hold">
                                          <p:stCondLst>
                                            <p:cond delay="0"/>
                                          </p:stCondLst>
                                        </p:cTn>
                                        <p:tgtEl>
                                          <p:spTgt spid="44"/>
                                        </p:tgtEl>
                                        <p:attrNameLst>
                                          <p:attrName>style.visibility</p:attrName>
                                        </p:attrNameLst>
                                      </p:cBhvr>
                                      <p:to>
                                        <p:strVal val="visible"/>
                                      </p:to>
                                    </p:set>
                                    <p:animEffect transition="in" filter="fade">
                                      <p:cBhvr>
                                        <p:cTn id="170" dur="550"/>
                                        <p:tgtEl>
                                          <p:spTgt spid="44"/>
                                        </p:tgtEl>
                                      </p:cBhvr>
                                    </p:animEffect>
                                  </p:childTnLst>
                                </p:cTn>
                              </p:par>
                            </p:childTnLst>
                          </p:cTn>
                        </p:par>
                        <p:par>
                          <p:cTn id="171" fill="hold">
                            <p:stCondLst>
                              <p:cond delay="0"/>
                            </p:stCondLst>
                            <p:childTnLst>
                              <p:par>
                                <p:cTn id="172" presetID="10" presetClass="entr" presetSubtype="0" fill="hold" grpId="0" nodeType="afterEffect">
                                  <p:stCondLst>
                                    <p:cond delay="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550"/>
                                        <p:tgtEl>
                                          <p:spTgt spid="45"/>
                                        </p:tgtEl>
                                      </p:cBhvr>
                                    </p:animEffect>
                                  </p:childTnLst>
                                </p:cTn>
                              </p:par>
                            </p:childTnLst>
                          </p:cTn>
                        </p:par>
                        <p:par>
                          <p:cTn id="175" fill="hold">
                            <p:stCondLst>
                              <p:cond delay="0"/>
                            </p:stCondLst>
                            <p:childTnLst>
                              <p:par>
                                <p:cTn id="176" presetID="10" presetClass="entr" presetSubtype="0" fill="hold" grpId="0" nodeType="afterEffect">
                                  <p:stCondLst>
                                    <p:cond delay="0"/>
                                  </p:stCondLst>
                                  <p:childTnLst>
                                    <p:set>
                                      <p:cBhvr>
                                        <p:cTn id="177" dur="1" fill="hold">
                                          <p:stCondLst>
                                            <p:cond delay="0"/>
                                          </p:stCondLst>
                                        </p:cTn>
                                        <p:tgtEl>
                                          <p:spTgt spid="46"/>
                                        </p:tgtEl>
                                        <p:attrNameLst>
                                          <p:attrName>style.visibility</p:attrName>
                                        </p:attrNameLst>
                                      </p:cBhvr>
                                      <p:to>
                                        <p:strVal val="visible"/>
                                      </p:to>
                                    </p:set>
                                    <p:animEffect transition="in" filter="fade">
                                      <p:cBhvr>
                                        <p:cTn id="178" dur="550"/>
                                        <p:tgtEl>
                                          <p:spTgt spid="46"/>
                                        </p:tgtEl>
                                      </p:cBhvr>
                                    </p:animEffect>
                                  </p:childTnLst>
                                </p:cTn>
                              </p:par>
                            </p:childTnLst>
                          </p:cTn>
                        </p:par>
                        <p:par>
                          <p:cTn id="179" fill="hold">
                            <p:stCondLst>
                              <p:cond delay="0"/>
                            </p:stCondLst>
                            <p:childTnLst>
                              <p:par>
                                <p:cTn id="180" presetID="10" presetClass="entr" presetSubtype="0" fill="hold" grpId="0" nodeType="afterEffect">
                                  <p:stCondLst>
                                    <p:cond delay="0"/>
                                  </p:stCondLst>
                                  <p:childTnLst>
                                    <p:set>
                                      <p:cBhvr>
                                        <p:cTn id="181" dur="1" fill="hold">
                                          <p:stCondLst>
                                            <p:cond delay="0"/>
                                          </p:stCondLst>
                                        </p:cTn>
                                        <p:tgtEl>
                                          <p:spTgt spid="47"/>
                                        </p:tgtEl>
                                        <p:attrNameLst>
                                          <p:attrName>style.visibility</p:attrName>
                                        </p:attrNameLst>
                                      </p:cBhvr>
                                      <p:to>
                                        <p:strVal val="visible"/>
                                      </p:to>
                                    </p:set>
                                    <p:animEffect transition="in" filter="fade">
                                      <p:cBhvr>
                                        <p:cTn id="182" dur="550"/>
                                        <p:tgtEl>
                                          <p:spTgt spid="47"/>
                                        </p:tgtEl>
                                      </p:cBhvr>
                                    </p:animEffect>
                                  </p:childTnLst>
                                </p:cTn>
                              </p:par>
                            </p:childTnLst>
                          </p:cTn>
                        </p:par>
                        <p:par>
                          <p:cTn id="183" fill="hold">
                            <p:stCondLst>
                              <p:cond delay="0"/>
                            </p:stCondLst>
                            <p:childTnLst>
                              <p:par>
                                <p:cTn id="184" presetID="10" presetClass="entr" presetSubtype="0" fill="hold" grpId="0" nodeType="afterEffect">
                                  <p:stCondLst>
                                    <p:cond delay="0"/>
                                  </p:stCondLst>
                                  <p:childTnLst>
                                    <p:set>
                                      <p:cBhvr>
                                        <p:cTn id="185" dur="1" fill="hold">
                                          <p:stCondLst>
                                            <p:cond delay="0"/>
                                          </p:stCondLst>
                                        </p:cTn>
                                        <p:tgtEl>
                                          <p:spTgt spid="48"/>
                                        </p:tgtEl>
                                        <p:attrNameLst>
                                          <p:attrName>style.visibility</p:attrName>
                                        </p:attrNameLst>
                                      </p:cBhvr>
                                      <p:to>
                                        <p:strVal val="visible"/>
                                      </p:to>
                                    </p:set>
                                    <p:animEffect transition="in" filter="fade">
                                      <p:cBhvr>
                                        <p:cTn id="186" dur="550"/>
                                        <p:tgtEl>
                                          <p:spTgt spid="48"/>
                                        </p:tgtEl>
                                      </p:cBhvr>
                                    </p:animEffect>
                                  </p:childTnLst>
                                </p:cTn>
                              </p:par>
                            </p:childTnLst>
                          </p:cTn>
                        </p:par>
                        <p:par>
                          <p:cTn id="187" fill="hold">
                            <p:stCondLst>
                              <p:cond delay="0"/>
                            </p:stCondLst>
                            <p:childTnLst>
                              <p:par>
                                <p:cTn id="188" presetID="10" presetClass="entr" presetSubtype="0" fill="hold" grpId="0" nodeType="afterEffect">
                                  <p:stCondLst>
                                    <p:cond delay="0"/>
                                  </p:stCondLst>
                                  <p:childTnLst>
                                    <p:set>
                                      <p:cBhvr>
                                        <p:cTn id="189" dur="1" fill="hold">
                                          <p:stCondLst>
                                            <p:cond delay="0"/>
                                          </p:stCondLst>
                                        </p:cTn>
                                        <p:tgtEl>
                                          <p:spTgt spid="49"/>
                                        </p:tgtEl>
                                        <p:attrNameLst>
                                          <p:attrName>style.visibility</p:attrName>
                                        </p:attrNameLst>
                                      </p:cBhvr>
                                      <p:to>
                                        <p:strVal val="visible"/>
                                      </p:to>
                                    </p:set>
                                    <p:animEffect transition="in" filter="fade">
                                      <p:cBhvr>
                                        <p:cTn id="190" dur="550"/>
                                        <p:tgtEl>
                                          <p:spTgt spid="49"/>
                                        </p:tgtEl>
                                      </p:cBhvr>
                                    </p:animEffect>
                                  </p:childTnLst>
                                </p:cTn>
                              </p:par>
                            </p:childTnLst>
                          </p:cTn>
                        </p:par>
                        <p:par>
                          <p:cTn id="191" fill="hold">
                            <p:stCondLst>
                              <p:cond delay="0"/>
                            </p:stCondLst>
                            <p:childTnLst>
                              <p:par>
                                <p:cTn id="192" presetID="10" presetClass="entr" presetSubtype="0" fill="hold" grpId="0" nodeType="afterEffect">
                                  <p:stCondLst>
                                    <p:cond delay="0"/>
                                  </p:stCondLst>
                                  <p:childTnLst>
                                    <p:set>
                                      <p:cBhvr>
                                        <p:cTn id="193" dur="1" fill="hold">
                                          <p:stCondLst>
                                            <p:cond delay="0"/>
                                          </p:stCondLst>
                                        </p:cTn>
                                        <p:tgtEl>
                                          <p:spTgt spid="50"/>
                                        </p:tgtEl>
                                        <p:attrNameLst>
                                          <p:attrName>style.visibility</p:attrName>
                                        </p:attrNameLst>
                                      </p:cBhvr>
                                      <p:to>
                                        <p:strVal val="visible"/>
                                      </p:to>
                                    </p:set>
                                    <p:animEffect transition="in" filter="fade">
                                      <p:cBhvr>
                                        <p:cTn id="194" dur="550"/>
                                        <p:tgtEl>
                                          <p:spTgt spid="50"/>
                                        </p:tgtEl>
                                      </p:cBhvr>
                                    </p:animEffect>
                                  </p:childTnLst>
                                </p:cTn>
                              </p:par>
                            </p:childTnLst>
                          </p:cTn>
                        </p:par>
                        <p:par>
                          <p:cTn id="195" fill="hold">
                            <p:stCondLst>
                              <p:cond delay="0"/>
                            </p:stCondLst>
                            <p:childTnLst>
                              <p:par>
                                <p:cTn id="196" presetID="10" presetClass="entr" presetSubtype="0" fill="hold" grpId="0" nodeType="afterEffect">
                                  <p:stCondLst>
                                    <p:cond delay="0"/>
                                  </p:stCondLst>
                                  <p:childTnLst>
                                    <p:set>
                                      <p:cBhvr>
                                        <p:cTn id="197" dur="1" fill="hold">
                                          <p:stCondLst>
                                            <p:cond delay="0"/>
                                          </p:stCondLst>
                                        </p:cTn>
                                        <p:tgtEl>
                                          <p:spTgt spid="51"/>
                                        </p:tgtEl>
                                        <p:attrNameLst>
                                          <p:attrName>style.visibility</p:attrName>
                                        </p:attrNameLst>
                                      </p:cBhvr>
                                      <p:to>
                                        <p:strVal val="visible"/>
                                      </p:to>
                                    </p:set>
                                    <p:animEffect transition="in" filter="fade">
                                      <p:cBhvr>
                                        <p:cTn id="198" dur="550"/>
                                        <p:tgtEl>
                                          <p:spTgt spid="51"/>
                                        </p:tgtEl>
                                      </p:cBhvr>
                                    </p:animEffect>
                                  </p:childTnLst>
                                </p:cTn>
                              </p:par>
                            </p:childTnLst>
                          </p:cTn>
                        </p:par>
                        <p:par>
                          <p:cTn id="199" fill="hold">
                            <p:stCondLst>
                              <p:cond delay="0"/>
                            </p:stCondLst>
                            <p:childTnLst>
                              <p:par>
                                <p:cTn id="200" presetID="10" presetClass="entr" presetSubtype="0" fill="hold" grpId="0" nodeType="afterEffect">
                                  <p:stCondLst>
                                    <p:cond delay="0"/>
                                  </p:stCondLst>
                                  <p:childTnLst>
                                    <p:set>
                                      <p:cBhvr>
                                        <p:cTn id="201" dur="1" fill="hold">
                                          <p:stCondLst>
                                            <p:cond delay="0"/>
                                          </p:stCondLst>
                                        </p:cTn>
                                        <p:tgtEl>
                                          <p:spTgt spid="52"/>
                                        </p:tgtEl>
                                        <p:attrNameLst>
                                          <p:attrName>style.visibility</p:attrName>
                                        </p:attrNameLst>
                                      </p:cBhvr>
                                      <p:to>
                                        <p:strVal val="visible"/>
                                      </p:to>
                                    </p:set>
                                    <p:animEffect transition="in" filter="fade">
                                      <p:cBhvr>
                                        <p:cTn id="202" dur="550"/>
                                        <p:tgtEl>
                                          <p:spTgt spid="52"/>
                                        </p:tgtEl>
                                      </p:cBhvr>
                                    </p:animEffect>
                                  </p:childTnLst>
                                </p:cTn>
                              </p:par>
                            </p:childTnLst>
                          </p:cTn>
                        </p:par>
                        <p:par>
                          <p:cTn id="203" fill="hold">
                            <p:stCondLst>
                              <p:cond delay="0"/>
                            </p:stCondLst>
                            <p:childTnLst>
                              <p:par>
                                <p:cTn id="204" presetID="10" presetClass="entr" presetSubtype="0" fill="hold" grpId="0" nodeType="afterEffect">
                                  <p:stCondLst>
                                    <p:cond delay="0"/>
                                  </p:stCondLst>
                                  <p:childTnLst>
                                    <p:set>
                                      <p:cBhvr>
                                        <p:cTn id="205" dur="1" fill="hold">
                                          <p:stCondLst>
                                            <p:cond delay="0"/>
                                          </p:stCondLst>
                                        </p:cTn>
                                        <p:tgtEl>
                                          <p:spTgt spid="53"/>
                                        </p:tgtEl>
                                        <p:attrNameLst>
                                          <p:attrName>style.visibility</p:attrName>
                                        </p:attrNameLst>
                                      </p:cBhvr>
                                      <p:to>
                                        <p:strVal val="visible"/>
                                      </p:to>
                                    </p:set>
                                    <p:animEffect transition="in" filter="fade">
                                      <p:cBhvr>
                                        <p:cTn id="206" dur="550"/>
                                        <p:tgtEl>
                                          <p:spTgt spid="53"/>
                                        </p:tgtEl>
                                      </p:cBhvr>
                                    </p:animEffect>
                                  </p:childTnLst>
                                </p:cTn>
                              </p:par>
                            </p:childTnLst>
                          </p:cTn>
                        </p:par>
                        <p:par>
                          <p:cTn id="207" fill="hold">
                            <p:stCondLst>
                              <p:cond delay="0"/>
                            </p:stCondLst>
                            <p:childTnLst>
                              <p:par>
                                <p:cTn id="208" presetID="10" presetClass="entr" presetSubtype="0" fill="hold" grpId="0" nodeType="afterEffect">
                                  <p:stCondLst>
                                    <p:cond delay="0"/>
                                  </p:stCondLst>
                                  <p:childTnLst>
                                    <p:set>
                                      <p:cBhvr>
                                        <p:cTn id="209" dur="1" fill="hold">
                                          <p:stCondLst>
                                            <p:cond delay="0"/>
                                          </p:stCondLst>
                                        </p:cTn>
                                        <p:tgtEl>
                                          <p:spTgt spid="54"/>
                                        </p:tgtEl>
                                        <p:attrNameLst>
                                          <p:attrName>style.visibility</p:attrName>
                                        </p:attrNameLst>
                                      </p:cBhvr>
                                      <p:to>
                                        <p:strVal val="visible"/>
                                      </p:to>
                                    </p:set>
                                    <p:animEffect transition="in" filter="fade">
                                      <p:cBhvr>
                                        <p:cTn id="210" dur="550"/>
                                        <p:tgtEl>
                                          <p:spTgt spid="54"/>
                                        </p:tgtEl>
                                      </p:cBhvr>
                                    </p:animEffect>
                                  </p:childTnLst>
                                </p:cTn>
                              </p:par>
                            </p:childTnLst>
                          </p:cTn>
                        </p:par>
                        <p:par>
                          <p:cTn id="211" fill="hold">
                            <p:stCondLst>
                              <p:cond delay="0"/>
                            </p:stCondLst>
                            <p:childTnLst>
                              <p:par>
                                <p:cTn id="212" presetID="10" presetClass="entr" presetSubtype="0" fill="hold" grpId="0" nodeType="afterEffect">
                                  <p:stCondLst>
                                    <p:cond delay="0"/>
                                  </p:stCondLst>
                                  <p:childTnLst>
                                    <p:set>
                                      <p:cBhvr>
                                        <p:cTn id="213" dur="1" fill="hold">
                                          <p:stCondLst>
                                            <p:cond delay="0"/>
                                          </p:stCondLst>
                                        </p:cTn>
                                        <p:tgtEl>
                                          <p:spTgt spid="55"/>
                                        </p:tgtEl>
                                        <p:attrNameLst>
                                          <p:attrName>style.visibility</p:attrName>
                                        </p:attrNameLst>
                                      </p:cBhvr>
                                      <p:to>
                                        <p:strVal val="visible"/>
                                      </p:to>
                                    </p:set>
                                    <p:animEffect transition="in" filter="fade">
                                      <p:cBhvr>
                                        <p:cTn id="214" dur="550"/>
                                        <p:tgtEl>
                                          <p:spTgt spid="55"/>
                                        </p:tgtEl>
                                      </p:cBhvr>
                                    </p:animEffect>
                                  </p:childTnLst>
                                </p:cTn>
                              </p:par>
                            </p:childTnLst>
                          </p:cTn>
                        </p:par>
                        <p:par>
                          <p:cTn id="215" fill="hold">
                            <p:stCondLst>
                              <p:cond delay="0"/>
                            </p:stCondLst>
                            <p:childTnLst>
                              <p:par>
                                <p:cTn id="216" presetID="10" presetClass="entr" presetSubtype="0" fill="hold" grpId="0" nodeType="afterEffect">
                                  <p:stCondLst>
                                    <p:cond delay="0"/>
                                  </p:stCondLst>
                                  <p:childTnLst>
                                    <p:set>
                                      <p:cBhvr>
                                        <p:cTn id="217" dur="1" fill="hold">
                                          <p:stCondLst>
                                            <p:cond delay="0"/>
                                          </p:stCondLst>
                                        </p:cTn>
                                        <p:tgtEl>
                                          <p:spTgt spid="56"/>
                                        </p:tgtEl>
                                        <p:attrNameLst>
                                          <p:attrName>style.visibility</p:attrName>
                                        </p:attrNameLst>
                                      </p:cBhvr>
                                      <p:to>
                                        <p:strVal val="visible"/>
                                      </p:to>
                                    </p:set>
                                    <p:animEffect transition="in" filter="fade">
                                      <p:cBhvr>
                                        <p:cTn id="218" dur="550"/>
                                        <p:tgtEl>
                                          <p:spTgt spid="56"/>
                                        </p:tgtEl>
                                      </p:cBhvr>
                                    </p:animEffect>
                                  </p:childTnLst>
                                </p:cTn>
                              </p:par>
                            </p:childTnLst>
                          </p:cTn>
                        </p:par>
                        <p:par>
                          <p:cTn id="219" fill="hold">
                            <p:stCondLst>
                              <p:cond delay="0"/>
                            </p:stCondLst>
                            <p:childTnLst>
                              <p:par>
                                <p:cTn id="220" presetID="10" presetClass="entr" presetSubtype="0" fill="hold" grpId="0" nodeType="afterEffect">
                                  <p:stCondLst>
                                    <p:cond delay="0"/>
                                  </p:stCondLst>
                                  <p:childTnLst>
                                    <p:set>
                                      <p:cBhvr>
                                        <p:cTn id="221" dur="1" fill="hold">
                                          <p:stCondLst>
                                            <p:cond delay="0"/>
                                          </p:stCondLst>
                                        </p:cTn>
                                        <p:tgtEl>
                                          <p:spTgt spid="57"/>
                                        </p:tgtEl>
                                        <p:attrNameLst>
                                          <p:attrName>style.visibility</p:attrName>
                                        </p:attrNameLst>
                                      </p:cBhvr>
                                      <p:to>
                                        <p:strVal val="visible"/>
                                      </p:to>
                                    </p:set>
                                    <p:animEffect transition="in" filter="fade">
                                      <p:cBhvr>
                                        <p:cTn id="222" dur="550"/>
                                        <p:tgtEl>
                                          <p:spTgt spid="57"/>
                                        </p:tgtEl>
                                      </p:cBhvr>
                                    </p:animEffect>
                                  </p:childTnLst>
                                </p:cTn>
                              </p:par>
                            </p:childTnLst>
                          </p:cTn>
                        </p:par>
                        <p:par>
                          <p:cTn id="223" fill="hold">
                            <p:stCondLst>
                              <p:cond delay="0"/>
                            </p:stCondLst>
                            <p:childTnLst>
                              <p:par>
                                <p:cTn id="224" presetID="10" presetClass="entr" presetSubtype="0" fill="hold" grpId="0" nodeType="afterEffect">
                                  <p:stCondLst>
                                    <p:cond delay="0"/>
                                  </p:stCondLst>
                                  <p:childTnLst>
                                    <p:set>
                                      <p:cBhvr>
                                        <p:cTn id="225" dur="1" fill="hold">
                                          <p:stCondLst>
                                            <p:cond delay="0"/>
                                          </p:stCondLst>
                                        </p:cTn>
                                        <p:tgtEl>
                                          <p:spTgt spid="58"/>
                                        </p:tgtEl>
                                        <p:attrNameLst>
                                          <p:attrName>style.visibility</p:attrName>
                                        </p:attrNameLst>
                                      </p:cBhvr>
                                      <p:to>
                                        <p:strVal val="visible"/>
                                      </p:to>
                                    </p:set>
                                    <p:animEffect transition="in" filter="fade">
                                      <p:cBhvr>
                                        <p:cTn id="226" dur="550"/>
                                        <p:tgtEl>
                                          <p:spTgt spid="58"/>
                                        </p:tgtEl>
                                      </p:cBhvr>
                                    </p:animEffect>
                                  </p:childTnLst>
                                </p:cTn>
                              </p:par>
                            </p:childTnLst>
                          </p:cTn>
                        </p:par>
                        <p:par>
                          <p:cTn id="227" fill="hold">
                            <p:stCondLst>
                              <p:cond delay="0"/>
                            </p:stCondLst>
                            <p:childTnLst>
                              <p:par>
                                <p:cTn id="228" presetID="10" presetClass="entr" presetSubtype="0" fill="hold" grpId="0" nodeType="afterEffect">
                                  <p:stCondLst>
                                    <p:cond delay="0"/>
                                  </p:stCondLst>
                                  <p:childTnLst>
                                    <p:set>
                                      <p:cBhvr>
                                        <p:cTn id="229" dur="1" fill="hold">
                                          <p:stCondLst>
                                            <p:cond delay="0"/>
                                          </p:stCondLst>
                                        </p:cTn>
                                        <p:tgtEl>
                                          <p:spTgt spid="59"/>
                                        </p:tgtEl>
                                        <p:attrNameLst>
                                          <p:attrName>style.visibility</p:attrName>
                                        </p:attrNameLst>
                                      </p:cBhvr>
                                      <p:to>
                                        <p:strVal val="visible"/>
                                      </p:to>
                                    </p:set>
                                    <p:animEffect transition="in" filter="fade">
                                      <p:cBhvr>
                                        <p:cTn id="230" dur="550"/>
                                        <p:tgtEl>
                                          <p:spTgt spid="59"/>
                                        </p:tgtEl>
                                      </p:cBhvr>
                                    </p:animEffect>
                                  </p:childTnLst>
                                </p:cTn>
                              </p:par>
                            </p:childTnLst>
                          </p:cTn>
                        </p:par>
                        <p:par>
                          <p:cTn id="231" fill="hold">
                            <p:stCondLst>
                              <p:cond delay="0"/>
                            </p:stCondLst>
                            <p:childTnLst>
                              <p:par>
                                <p:cTn id="232" presetID="10" presetClass="entr" presetSubtype="0" fill="hold" grpId="0" nodeType="afterEffect">
                                  <p:stCondLst>
                                    <p:cond delay="0"/>
                                  </p:stCondLst>
                                  <p:childTnLst>
                                    <p:set>
                                      <p:cBhvr>
                                        <p:cTn id="233" dur="1" fill="hold">
                                          <p:stCondLst>
                                            <p:cond delay="0"/>
                                          </p:stCondLst>
                                        </p:cTn>
                                        <p:tgtEl>
                                          <p:spTgt spid="60"/>
                                        </p:tgtEl>
                                        <p:attrNameLst>
                                          <p:attrName>style.visibility</p:attrName>
                                        </p:attrNameLst>
                                      </p:cBhvr>
                                      <p:to>
                                        <p:strVal val="visible"/>
                                      </p:to>
                                    </p:set>
                                    <p:animEffect transition="in" filter="fade">
                                      <p:cBhvr>
                                        <p:cTn id="234" dur="550"/>
                                        <p:tgtEl>
                                          <p:spTgt spid="60"/>
                                        </p:tgtEl>
                                      </p:cBhvr>
                                    </p:animEffect>
                                  </p:childTnLst>
                                </p:cTn>
                              </p:par>
                            </p:childTnLst>
                          </p:cTn>
                        </p:par>
                        <p:par>
                          <p:cTn id="235" fill="hold">
                            <p:stCondLst>
                              <p:cond delay="0"/>
                            </p:stCondLst>
                            <p:childTnLst>
                              <p:par>
                                <p:cTn id="236" presetID="10" presetClass="entr" presetSubtype="0" fill="hold" grpId="0" nodeType="afterEffect">
                                  <p:stCondLst>
                                    <p:cond delay="0"/>
                                  </p:stCondLst>
                                  <p:childTnLst>
                                    <p:set>
                                      <p:cBhvr>
                                        <p:cTn id="237" dur="1" fill="hold">
                                          <p:stCondLst>
                                            <p:cond delay="0"/>
                                          </p:stCondLst>
                                        </p:cTn>
                                        <p:tgtEl>
                                          <p:spTgt spid="61"/>
                                        </p:tgtEl>
                                        <p:attrNameLst>
                                          <p:attrName>style.visibility</p:attrName>
                                        </p:attrNameLst>
                                      </p:cBhvr>
                                      <p:to>
                                        <p:strVal val="visible"/>
                                      </p:to>
                                    </p:set>
                                    <p:animEffect transition="in" filter="fade">
                                      <p:cBhvr>
                                        <p:cTn id="238" dur="550"/>
                                        <p:tgtEl>
                                          <p:spTgt spid="61"/>
                                        </p:tgtEl>
                                      </p:cBhvr>
                                    </p:animEffect>
                                  </p:childTnLst>
                                </p:cTn>
                              </p:par>
                            </p:childTnLst>
                          </p:cTn>
                        </p:par>
                        <p:par>
                          <p:cTn id="239" fill="hold">
                            <p:stCondLst>
                              <p:cond delay="0"/>
                            </p:stCondLst>
                            <p:childTnLst>
                              <p:par>
                                <p:cTn id="240" presetID="10" presetClass="entr" presetSubtype="0" fill="hold" grpId="0" nodeType="afterEffect">
                                  <p:stCondLst>
                                    <p:cond delay="0"/>
                                  </p:stCondLst>
                                  <p:childTnLst>
                                    <p:set>
                                      <p:cBhvr>
                                        <p:cTn id="241" dur="1" fill="hold">
                                          <p:stCondLst>
                                            <p:cond delay="0"/>
                                          </p:stCondLst>
                                        </p:cTn>
                                        <p:tgtEl>
                                          <p:spTgt spid="62"/>
                                        </p:tgtEl>
                                        <p:attrNameLst>
                                          <p:attrName>style.visibility</p:attrName>
                                        </p:attrNameLst>
                                      </p:cBhvr>
                                      <p:to>
                                        <p:strVal val="visible"/>
                                      </p:to>
                                    </p:set>
                                    <p:animEffect transition="in" filter="fade">
                                      <p:cBhvr>
                                        <p:cTn id="242" dur="550"/>
                                        <p:tgtEl>
                                          <p:spTgt spid="62"/>
                                        </p:tgtEl>
                                      </p:cBhvr>
                                    </p:animEffect>
                                  </p:childTnLst>
                                </p:cTn>
                              </p:par>
                            </p:childTnLst>
                          </p:cTn>
                        </p:par>
                        <p:par>
                          <p:cTn id="243" fill="hold">
                            <p:stCondLst>
                              <p:cond delay="0"/>
                            </p:stCondLst>
                            <p:childTnLst>
                              <p:par>
                                <p:cTn id="244" presetID="10" presetClass="entr" presetSubtype="0" fill="hold" grpId="0" nodeType="afterEffect">
                                  <p:stCondLst>
                                    <p:cond delay="0"/>
                                  </p:stCondLst>
                                  <p:childTnLst>
                                    <p:set>
                                      <p:cBhvr>
                                        <p:cTn id="245" dur="1" fill="hold">
                                          <p:stCondLst>
                                            <p:cond delay="0"/>
                                          </p:stCondLst>
                                        </p:cTn>
                                        <p:tgtEl>
                                          <p:spTgt spid="63"/>
                                        </p:tgtEl>
                                        <p:attrNameLst>
                                          <p:attrName>style.visibility</p:attrName>
                                        </p:attrNameLst>
                                      </p:cBhvr>
                                      <p:to>
                                        <p:strVal val="visible"/>
                                      </p:to>
                                    </p:set>
                                    <p:animEffect transition="in" filter="fade">
                                      <p:cBhvr>
                                        <p:cTn id="246" dur="550"/>
                                        <p:tgtEl>
                                          <p:spTgt spid="63"/>
                                        </p:tgtEl>
                                      </p:cBhvr>
                                    </p:animEffect>
                                  </p:childTnLst>
                                </p:cTn>
                              </p:par>
                            </p:childTnLst>
                          </p:cTn>
                        </p:par>
                        <p:par>
                          <p:cTn id="247" fill="hold">
                            <p:stCondLst>
                              <p:cond delay="0"/>
                            </p:stCondLst>
                            <p:childTnLst>
                              <p:par>
                                <p:cTn id="248" presetID="10" presetClass="entr" presetSubtype="0" fill="hold" grpId="0" nodeType="afterEffect">
                                  <p:stCondLst>
                                    <p:cond delay="0"/>
                                  </p:stCondLst>
                                  <p:childTnLst>
                                    <p:set>
                                      <p:cBhvr>
                                        <p:cTn id="249" dur="1" fill="hold">
                                          <p:stCondLst>
                                            <p:cond delay="0"/>
                                          </p:stCondLst>
                                        </p:cTn>
                                        <p:tgtEl>
                                          <p:spTgt spid="64"/>
                                        </p:tgtEl>
                                        <p:attrNameLst>
                                          <p:attrName>style.visibility</p:attrName>
                                        </p:attrNameLst>
                                      </p:cBhvr>
                                      <p:to>
                                        <p:strVal val="visible"/>
                                      </p:to>
                                    </p:set>
                                    <p:animEffect transition="in" filter="fade">
                                      <p:cBhvr>
                                        <p:cTn id="250" dur="550"/>
                                        <p:tgtEl>
                                          <p:spTgt spid="64"/>
                                        </p:tgtEl>
                                      </p:cBhvr>
                                    </p:animEffect>
                                  </p:childTnLst>
                                </p:cTn>
                              </p:par>
                            </p:childTnLst>
                          </p:cTn>
                        </p:par>
                        <p:par>
                          <p:cTn id="251" fill="hold">
                            <p:stCondLst>
                              <p:cond delay="0"/>
                            </p:stCondLst>
                            <p:childTnLst>
                              <p:par>
                                <p:cTn id="252" presetID="10" presetClass="entr" presetSubtype="0" fill="hold" grpId="0" nodeType="afterEffect">
                                  <p:stCondLst>
                                    <p:cond delay="0"/>
                                  </p:stCondLst>
                                  <p:childTnLst>
                                    <p:set>
                                      <p:cBhvr>
                                        <p:cTn id="253" dur="1" fill="hold">
                                          <p:stCondLst>
                                            <p:cond delay="0"/>
                                          </p:stCondLst>
                                        </p:cTn>
                                        <p:tgtEl>
                                          <p:spTgt spid="65"/>
                                        </p:tgtEl>
                                        <p:attrNameLst>
                                          <p:attrName>style.visibility</p:attrName>
                                        </p:attrNameLst>
                                      </p:cBhvr>
                                      <p:to>
                                        <p:strVal val="visible"/>
                                      </p:to>
                                    </p:set>
                                    <p:animEffect transition="in" filter="fade">
                                      <p:cBhvr>
                                        <p:cTn id="254" dur="550"/>
                                        <p:tgtEl>
                                          <p:spTgt spid="65"/>
                                        </p:tgtEl>
                                      </p:cBhvr>
                                    </p:animEffect>
                                  </p:childTnLst>
                                </p:cTn>
                              </p:par>
                            </p:childTnLst>
                          </p:cTn>
                        </p:par>
                        <p:par>
                          <p:cTn id="255" fill="hold">
                            <p:stCondLst>
                              <p:cond delay="0"/>
                            </p:stCondLst>
                            <p:childTnLst>
                              <p:par>
                                <p:cTn id="256" presetID="10" presetClass="entr" presetSubtype="0" fill="hold" grpId="0" nodeType="afterEffect">
                                  <p:stCondLst>
                                    <p:cond delay="0"/>
                                  </p:stCondLst>
                                  <p:childTnLst>
                                    <p:set>
                                      <p:cBhvr>
                                        <p:cTn id="257" dur="1" fill="hold">
                                          <p:stCondLst>
                                            <p:cond delay="0"/>
                                          </p:stCondLst>
                                        </p:cTn>
                                        <p:tgtEl>
                                          <p:spTgt spid="66"/>
                                        </p:tgtEl>
                                        <p:attrNameLst>
                                          <p:attrName>style.visibility</p:attrName>
                                        </p:attrNameLst>
                                      </p:cBhvr>
                                      <p:to>
                                        <p:strVal val="visible"/>
                                      </p:to>
                                    </p:set>
                                    <p:animEffect transition="in" filter="fade">
                                      <p:cBhvr>
                                        <p:cTn id="258" dur="550"/>
                                        <p:tgtEl>
                                          <p:spTgt spid="66"/>
                                        </p:tgtEl>
                                      </p:cBhvr>
                                    </p:animEffect>
                                  </p:childTnLst>
                                </p:cTn>
                              </p:par>
                            </p:childTnLst>
                          </p:cTn>
                        </p:par>
                        <p:par>
                          <p:cTn id="259" fill="hold">
                            <p:stCondLst>
                              <p:cond delay="0"/>
                            </p:stCondLst>
                            <p:childTnLst>
                              <p:par>
                                <p:cTn id="260" presetID="10" presetClass="entr" presetSubtype="0" fill="hold" grpId="0" nodeType="afterEffect">
                                  <p:stCondLst>
                                    <p:cond delay="0"/>
                                  </p:stCondLst>
                                  <p:childTnLst>
                                    <p:set>
                                      <p:cBhvr>
                                        <p:cTn id="261" dur="1" fill="hold">
                                          <p:stCondLst>
                                            <p:cond delay="0"/>
                                          </p:stCondLst>
                                        </p:cTn>
                                        <p:tgtEl>
                                          <p:spTgt spid="67"/>
                                        </p:tgtEl>
                                        <p:attrNameLst>
                                          <p:attrName>style.visibility</p:attrName>
                                        </p:attrNameLst>
                                      </p:cBhvr>
                                      <p:to>
                                        <p:strVal val="visible"/>
                                      </p:to>
                                    </p:set>
                                    <p:animEffect transition="in" filter="fade">
                                      <p:cBhvr>
                                        <p:cTn id="262" dur="550"/>
                                        <p:tgtEl>
                                          <p:spTgt spid="67"/>
                                        </p:tgtEl>
                                      </p:cBhvr>
                                    </p:animEffect>
                                  </p:childTnLst>
                                </p:cTn>
                              </p:par>
                            </p:childTnLst>
                          </p:cTn>
                        </p:par>
                        <p:par>
                          <p:cTn id="263" fill="hold">
                            <p:stCondLst>
                              <p:cond delay="0"/>
                            </p:stCondLst>
                            <p:childTnLst>
                              <p:par>
                                <p:cTn id="264" presetID="10" presetClass="entr" presetSubtype="0" fill="hold" grpId="0" nodeType="afterEffect">
                                  <p:stCondLst>
                                    <p:cond delay="0"/>
                                  </p:stCondLst>
                                  <p:childTnLst>
                                    <p:set>
                                      <p:cBhvr>
                                        <p:cTn id="265" dur="1" fill="hold">
                                          <p:stCondLst>
                                            <p:cond delay="0"/>
                                          </p:stCondLst>
                                        </p:cTn>
                                        <p:tgtEl>
                                          <p:spTgt spid="68"/>
                                        </p:tgtEl>
                                        <p:attrNameLst>
                                          <p:attrName>style.visibility</p:attrName>
                                        </p:attrNameLst>
                                      </p:cBhvr>
                                      <p:to>
                                        <p:strVal val="visible"/>
                                      </p:to>
                                    </p:set>
                                    <p:animEffect transition="in" filter="fade">
                                      <p:cBhvr>
                                        <p:cTn id="266" dur="550"/>
                                        <p:tgtEl>
                                          <p:spTgt spid="68"/>
                                        </p:tgtEl>
                                      </p:cBhvr>
                                    </p:animEffect>
                                  </p:childTnLst>
                                </p:cTn>
                              </p:par>
                            </p:childTnLst>
                          </p:cTn>
                        </p:par>
                        <p:par>
                          <p:cTn id="267" fill="hold">
                            <p:stCondLst>
                              <p:cond delay="0"/>
                            </p:stCondLst>
                            <p:childTnLst>
                              <p:par>
                                <p:cTn id="268" presetID="10" presetClass="entr" presetSubtype="0" fill="hold" grpId="0" nodeType="afterEffect">
                                  <p:stCondLst>
                                    <p:cond delay="0"/>
                                  </p:stCondLst>
                                  <p:childTnLst>
                                    <p:set>
                                      <p:cBhvr>
                                        <p:cTn id="269" dur="1" fill="hold">
                                          <p:stCondLst>
                                            <p:cond delay="0"/>
                                          </p:stCondLst>
                                        </p:cTn>
                                        <p:tgtEl>
                                          <p:spTgt spid="69"/>
                                        </p:tgtEl>
                                        <p:attrNameLst>
                                          <p:attrName>style.visibility</p:attrName>
                                        </p:attrNameLst>
                                      </p:cBhvr>
                                      <p:to>
                                        <p:strVal val="visible"/>
                                      </p:to>
                                    </p:set>
                                    <p:animEffect transition="in" filter="fade">
                                      <p:cBhvr>
                                        <p:cTn id="270" dur="550"/>
                                        <p:tgtEl>
                                          <p:spTgt spid="69"/>
                                        </p:tgtEl>
                                      </p:cBhvr>
                                    </p:animEffect>
                                  </p:childTnLst>
                                </p:cTn>
                              </p:par>
                            </p:childTnLst>
                          </p:cTn>
                        </p:par>
                        <p:par>
                          <p:cTn id="271" fill="hold">
                            <p:stCondLst>
                              <p:cond delay="0"/>
                            </p:stCondLst>
                            <p:childTnLst>
                              <p:par>
                                <p:cTn id="272" presetID="10" presetClass="entr" presetSubtype="0" fill="hold" grpId="0" nodeType="afterEffect">
                                  <p:stCondLst>
                                    <p:cond delay="0"/>
                                  </p:stCondLst>
                                  <p:childTnLst>
                                    <p:set>
                                      <p:cBhvr>
                                        <p:cTn id="273" dur="1" fill="hold">
                                          <p:stCondLst>
                                            <p:cond delay="0"/>
                                          </p:stCondLst>
                                        </p:cTn>
                                        <p:tgtEl>
                                          <p:spTgt spid="70"/>
                                        </p:tgtEl>
                                        <p:attrNameLst>
                                          <p:attrName>style.visibility</p:attrName>
                                        </p:attrNameLst>
                                      </p:cBhvr>
                                      <p:to>
                                        <p:strVal val="visible"/>
                                      </p:to>
                                    </p:set>
                                    <p:animEffect transition="in" filter="fade">
                                      <p:cBhvr>
                                        <p:cTn id="274" dur="550"/>
                                        <p:tgtEl>
                                          <p:spTgt spid="70"/>
                                        </p:tgtEl>
                                      </p:cBhvr>
                                    </p:animEffect>
                                  </p:childTnLst>
                                </p:cTn>
                              </p:par>
                            </p:childTnLst>
                          </p:cTn>
                        </p:par>
                        <p:par>
                          <p:cTn id="275" fill="hold">
                            <p:stCondLst>
                              <p:cond delay="0"/>
                            </p:stCondLst>
                            <p:childTnLst>
                              <p:par>
                                <p:cTn id="276" presetID="10" presetClass="entr" presetSubtype="0" fill="hold" grpId="0" nodeType="afterEffect">
                                  <p:stCondLst>
                                    <p:cond delay="0"/>
                                  </p:stCondLst>
                                  <p:childTnLst>
                                    <p:set>
                                      <p:cBhvr>
                                        <p:cTn id="277" dur="1" fill="hold">
                                          <p:stCondLst>
                                            <p:cond delay="0"/>
                                          </p:stCondLst>
                                        </p:cTn>
                                        <p:tgtEl>
                                          <p:spTgt spid="71"/>
                                        </p:tgtEl>
                                        <p:attrNameLst>
                                          <p:attrName>style.visibility</p:attrName>
                                        </p:attrNameLst>
                                      </p:cBhvr>
                                      <p:to>
                                        <p:strVal val="visible"/>
                                      </p:to>
                                    </p:set>
                                    <p:animEffect transition="in" filter="fade">
                                      <p:cBhvr>
                                        <p:cTn id="278" dur="550"/>
                                        <p:tgtEl>
                                          <p:spTgt spid="71"/>
                                        </p:tgtEl>
                                      </p:cBhvr>
                                    </p:animEffect>
                                  </p:childTnLst>
                                </p:cTn>
                              </p:par>
                            </p:childTnLst>
                          </p:cTn>
                        </p:par>
                        <p:par>
                          <p:cTn id="279" fill="hold">
                            <p:stCondLst>
                              <p:cond delay="0"/>
                            </p:stCondLst>
                            <p:childTnLst>
                              <p:par>
                                <p:cTn id="280" presetID="10" presetClass="entr" presetSubtype="0" fill="hold" grpId="0" nodeType="afterEffect">
                                  <p:stCondLst>
                                    <p:cond delay="0"/>
                                  </p:stCondLst>
                                  <p:childTnLst>
                                    <p:set>
                                      <p:cBhvr>
                                        <p:cTn id="281" dur="1" fill="hold">
                                          <p:stCondLst>
                                            <p:cond delay="0"/>
                                          </p:stCondLst>
                                        </p:cTn>
                                        <p:tgtEl>
                                          <p:spTgt spid="72"/>
                                        </p:tgtEl>
                                        <p:attrNameLst>
                                          <p:attrName>style.visibility</p:attrName>
                                        </p:attrNameLst>
                                      </p:cBhvr>
                                      <p:to>
                                        <p:strVal val="visible"/>
                                      </p:to>
                                    </p:set>
                                    <p:animEffect transition="in" filter="fade">
                                      <p:cBhvr>
                                        <p:cTn id="282" dur="550"/>
                                        <p:tgtEl>
                                          <p:spTgt spid="72"/>
                                        </p:tgtEl>
                                      </p:cBhvr>
                                    </p:animEffect>
                                  </p:childTnLst>
                                </p:cTn>
                              </p:par>
                            </p:childTnLst>
                          </p:cTn>
                        </p:par>
                        <p:par>
                          <p:cTn id="283" fill="hold">
                            <p:stCondLst>
                              <p:cond delay="0"/>
                            </p:stCondLst>
                            <p:childTnLst>
                              <p:par>
                                <p:cTn id="284" presetID="10" presetClass="entr" presetSubtype="0" fill="hold" grpId="0" nodeType="afterEffect">
                                  <p:stCondLst>
                                    <p:cond delay="0"/>
                                  </p:stCondLst>
                                  <p:childTnLst>
                                    <p:set>
                                      <p:cBhvr>
                                        <p:cTn id="285" dur="1" fill="hold">
                                          <p:stCondLst>
                                            <p:cond delay="0"/>
                                          </p:stCondLst>
                                        </p:cTn>
                                        <p:tgtEl>
                                          <p:spTgt spid="73"/>
                                        </p:tgtEl>
                                        <p:attrNameLst>
                                          <p:attrName>style.visibility</p:attrName>
                                        </p:attrNameLst>
                                      </p:cBhvr>
                                      <p:to>
                                        <p:strVal val="visible"/>
                                      </p:to>
                                    </p:set>
                                    <p:animEffect transition="in" filter="fade">
                                      <p:cBhvr>
                                        <p:cTn id="286" dur="550"/>
                                        <p:tgtEl>
                                          <p:spTgt spid="73"/>
                                        </p:tgtEl>
                                      </p:cBhvr>
                                    </p:animEffect>
                                  </p:childTnLst>
                                </p:cTn>
                              </p:par>
                            </p:childTnLst>
                          </p:cTn>
                        </p:par>
                        <p:par>
                          <p:cTn id="287" fill="hold">
                            <p:stCondLst>
                              <p:cond delay="0"/>
                            </p:stCondLst>
                            <p:childTnLst>
                              <p:par>
                                <p:cTn id="288" presetID="10" presetClass="entr" presetSubtype="0" fill="hold" grpId="0" nodeType="afterEffect">
                                  <p:stCondLst>
                                    <p:cond delay="0"/>
                                  </p:stCondLst>
                                  <p:childTnLst>
                                    <p:set>
                                      <p:cBhvr>
                                        <p:cTn id="289" dur="1" fill="hold">
                                          <p:stCondLst>
                                            <p:cond delay="0"/>
                                          </p:stCondLst>
                                        </p:cTn>
                                        <p:tgtEl>
                                          <p:spTgt spid="74"/>
                                        </p:tgtEl>
                                        <p:attrNameLst>
                                          <p:attrName>style.visibility</p:attrName>
                                        </p:attrNameLst>
                                      </p:cBhvr>
                                      <p:to>
                                        <p:strVal val="visible"/>
                                      </p:to>
                                    </p:set>
                                    <p:animEffect transition="in" filter="fade">
                                      <p:cBhvr>
                                        <p:cTn id="290" dur="550"/>
                                        <p:tgtEl>
                                          <p:spTgt spid="74"/>
                                        </p:tgtEl>
                                      </p:cBhvr>
                                    </p:animEffect>
                                  </p:childTnLst>
                                </p:cTn>
                              </p:par>
                            </p:childTnLst>
                          </p:cTn>
                        </p:par>
                        <p:par>
                          <p:cTn id="291" fill="hold">
                            <p:stCondLst>
                              <p:cond delay="0"/>
                            </p:stCondLst>
                            <p:childTnLst>
                              <p:par>
                                <p:cTn id="292" presetID="10" presetClass="entr" presetSubtype="0" fill="hold" grpId="0" nodeType="afterEffect">
                                  <p:stCondLst>
                                    <p:cond delay="0"/>
                                  </p:stCondLst>
                                  <p:childTnLst>
                                    <p:set>
                                      <p:cBhvr>
                                        <p:cTn id="293" dur="1" fill="hold">
                                          <p:stCondLst>
                                            <p:cond delay="0"/>
                                          </p:stCondLst>
                                        </p:cTn>
                                        <p:tgtEl>
                                          <p:spTgt spid="75"/>
                                        </p:tgtEl>
                                        <p:attrNameLst>
                                          <p:attrName>style.visibility</p:attrName>
                                        </p:attrNameLst>
                                      </p:cBhvr>
                                      <p:to>
                                        <p:strVal val="visible"/>
                                      </p:to>
                                    </p:set>
                                    <p:animEffect transition="in" filter="fade">
                                      <p:cBhvr>
                                        <p:cTn id="294" dur="550"/>
                                        <p:tgtEl>
                                          <p:spTgt spid="75"/>
                                        </p:tgtEl>
                                      </p:cBhvr>
                                    </p:animEffect>
                                  </p:childTnLst>
                                </p:cTn>
                              </p:par>
                            </p:childTnLst>
                          </p:cTn>
                        </p:par>
                        <p:par>
                          <p:cTn id="295" fill="hold">
                            <p:stCondLst>
                              <p:cond delay="0"/>
                            </p:stCondLst>
                            <p:childTnLst>
                              <p:par>
                                <p:cTn id="296" presetID="10" presetClass="entr" presetSubtype="0" fill="hold" grpId="0" nodeType="afterEffect">
                                  <p:stCondLst>
                                    <p:cond delay="0"/>
                                  </p:stCondLst>
                                  <p:childTnLst>
                                    <p:set>
                                      <p:cBhvr>
                                        <p:cTn id="297" dur="1" fill="hold">
                                          <p:stCondLst>
                                            <p:cond delay="0"/>
                                          </p:stCondLst>
                                        </p:cTn>
                                        <p:tgtEl>
                                          <p:spTgt spid="76"/>
                                        </p:tgtEl>
                                        <p:attrNameLst>
                                          <p:attrName>style.visibility</p:attrName>
                                        </p:attrNameLst>
                                      </p:cBhvr>
                                      <p:to>
                                        <p:strVal val="visible"/>
                                      </p:to>
                                    </p:set>
                                    <p:animEffect transition="in" filter="fade">
                                      <p:cBhvr>
                                        <p:cTn id="298" dur="550"/>
                                        <p:tgtEl>
                                          <p:spTgt spid="76"/>
                                        </p:tgtEl>
                                      </p:cBhvr>
                                    </p:animEffect>
                                  </p:childTnLst>
                                </p:cTn>
                              </p:par>
                            </p:childTnLst>
                          </p:cTn>
                        </p:par>
                        <p:par>
                          <p:cTn id="299" fill="hold">
                            <p:stCondLst>
                              <p:cond delay="0"/>
                            </p:stCondLst>
                            <p:childTnLst>
                              <p:par>
                                <p:cTn id="300" presetID="10" presetClass="entr" presetSubtype="0" fill="hold" grpId="0" nodeType="afterEffect">
                                  <p:stCondLst>
                                    <p:cond delay="0"/>
                                  </p:stCondLst>
                                  <p:childTnLst>
                                    <p:set>
                                      <p:cBhvr>
                                        <p:cTn id="301" dur="1" fill="hold">
                                          <p:stCondLst>
                                            <p:cond delay="0"/>
                                          </p:stCondLst>
                                        </p:cTn>
                                        <p:tgtEl>
                                          <p:spTgt spid="77"/>
                                        </p:tgtEl>
                                        <p:attrNameLst>
                                          <p:attrName>style.visibility</p:attrName>
                                        </p:attrNameLst>
                                      </p:cBhvr>
                                      <p:to>
                                        <p:strVal val="visible"/>
                                      </p:to>
                                    </p:set>
                                    <p:animEffect transition="in" filter="fade">
                                      <p:cBhvr>
                                        <p:cTn id="302" dur="550"/>
                                        <p:tgtEl>
                                          <p:spTgt spid="77"/>
                                        </p:tgtEl>
                                      </p:cBhvr>
                                    </p:animEffect>
                                  </p:childTnLst>
                                </p:cTn>
                              </p:par>
                            </p:childTnLst>
                          </p:cTn>
                        </p:par>
                        <p:par>
                          <p:cTn id="303" fill="hold">
                            <p:stCondLst>
                              <p:cond delay="0"/>
                            </p:stCondLst>
                            <p:childTnLst>
                              <p:par>
                                <p:cTn id="304" presetID="10" presetClass="entr" presetSubtype="0" fill="hold" grpId="0" nodeType="afterEffect">
                                  <p:stCondLst>
                                    <p:cond delay="0"/>
                                  </p:stCondLst>
                                  <p:childTnLst>
                                    <p:set>
                                      <p:cBhvr>
                                        <p:cTn id="305" dur="1" fill="hold">
                                          <p:stCondLst>
                                            <p:cond delay="0"/>
                                          </p:stCondLst>
                                        </p:cTn>
                                        <p:tgtEl>
                                          <p:spTgt spid="78"/>
                                        </p:tgtEl>
                                        <p:attrNameLst>
                                          <p:attrName>style.visibility</p:attrName>
                                        </p:attrNameLst>
                                      </p:cBhvr>
                                      <p:to>
                                        <p:strVal val="visible"/>
                                      </p:to>
                                    </p:set>
                                    <p:animEffect transition="in" filter="fade">
                                      <p:cBhvr>
                                        <p:cTn id="306" dur="550"/>
                                        <p:tgtEl>
                                          <p:spTgt spid="78"/>
                                        </p:tgtEl>
                                      </p:cBhvr>
                                    </p:animEffect>
                                  </p:childTnLst>
                                </p:cTn>
                              </p:par>
                            </p:childTnLst>
                          </p:cTn>
                        </p:par>
                        <p:par>
                          <p:cTn id="307" fill="hold">
                            <p:stCondLst>
                              <p:cond delay="0"/>
                            </p:stCondLst>
                            <p:childTnLst>
                              <p:par>
                                <p:cTn id="308" presetID="10" presetClass="entr" presetSubtype="0" fill="hold" grpId="0" nodeType="afterEffect">
                                  <p:stCondLst>
                                    <p:cond delay="0"/>
                                  </p:stCondLst>
                                  <p:childTnLst>
                                    <p:set>
                                      <p:cBhvr>
                                        <p:cTn id="309" dur="1" fill="hold">
                                          <p:stCondLst>
                                            <p:cond delay="0"/>
                                          </p:stCondLst>
                                        </p:cTn>
                                        <p:tgtEl>
                                          <p:spTgt spid="79"/>
                                        </p:tgtEl>
                                        <p:attrNameLst>
                                          <p:attrName>style.visibility</p:attrName>
                                        </p:attrNameLst>
                                      </p:cBhvr>
                                      <p:to>
                                        <p:strVal val="visible"/>
                                      </p:to>
                                    </p:set>
                                    <p:animEffect transition="in" filter="fade">
                                      <p:cBhvr>
                                        <p:cTn id="310" dur="550"/>
                                        <p:tgtEl>
                                          <p:spTgt spid="79"/>
                                        </p:tgtEl>
                                      </p:cBhvr>
                                    </p:animEffect>
                                  </p:childTnLst>
                                </p:cTn>
                              </p:par>
                            </p:childTnLst>
                          </p:cTn>
                        </p:par>
                        <p:par>
                          <p:cTn id="311" fill="hold">
                            <p:stCondLst>
                              <p:cond delay="0"/>
                            </p:stCondLst>
                            <p:childTnLst>
                              <p:par>
                                <p:cTn id="312" presetID="10" presetClass="entr" presetSubtype="0" fill="hold" grpId="0" nodeType="afterEffect">
                                  <p:stCondLst>
                                    <p:cond delay="0"/>
                                  </p:stCondLst>
                                  <p:childTnLst>
                                    <p:set>
                                      <p:cBhvr>
                                        <p:cTn id="313" dur="1" fill="hold">
                                          <p:stCondLst>
                                            <p:cond delay="0"/>
                                          </p:stCondLst>
                                        </p:cTn>
                                        <p:tgtEl>
                                          <p:spTgt spid="80"/>
                                        </p:tgtEl>
                                        <p:attrNameLst>
                                          <p:attrName>style.visibility</p:attrName>
                                        </p:attrNameLst>
                                      </p:cBhvr>
                                      <p:to>
                                        <p:strVal val="visible"/>
                                      </p:to>
                                    </p:set>
                                    <p:animEffect transition="in" filter="fade">
                                      <p:cBhvr>
                                        <p:cTn id="314" dur="550"/>
                                        <p:tgtEl>
                                          <p:spTgt spid="80"/>
                                        </p:tgtEl>
                                      </p:cBhvr>
                                    </p:animEffect>
                                  </p:childTnLst>
                                </p:cTn>
                              </p:par>
                            </p:childTnLst>
                          </p:cTn>
                        </p:par>
                        <p:par>
                          <p:cTn id="315" fill="hold">
                            <p:stCondLst>
                              <p:cond delay="0"/>
                            </p:stCondLst>
                            <p:childTnLst>
                              <p:par>
                                <p:cTn id="316" presetID="10" presetClass="entr" presetSubtype="0" fill="hold" grpId="0" nodeType="afterEffect">
                                  <p:stCondLst>
                                    <p:cond delay="0"/>
                                  </p:stCondLst>
                                  <p:childTnLst>
                                    <p:set>
                                      <p:cBhvr>
                                        <p:cTn id="317" dur="1" fill="hold">
                                          <p:stCondLst>
                                            <p:cond delay="0"/>
                                          </p:stCondLst>
                                        </p:cTn>
                                        <p:tgtEl>
                                          <p:spTgt spid="81"/>
                                        </p:tgtEl>
                                        <p:attrNameLst>
                                          <p:attrName>style.visibility</p:attrName>
                                        </p:attrNameLst>
                                      </p:cBhvr>
                                      <p:to>
                                        <p:strVal val="visible"/>
                                      </p:to>
                                    </p:set>
                                    <p:animEffect transition="in" filter="fade">
                                      <p:cBhvr>
                                        <p:cTn id="318" dur="550"/>
                                        <p:tgtEl>
                                          <p:spTgt spid="81"/>
                                        </p:tgtEl>
                                      </p:cBhvr>
                                    </p:animEffect>
                                  </p:childTnLst>
                                </p:cTn>
                              </p:par>
                            </p:childTnLst>
                          </p:cTn>
                        </p:par>
                        <p:par>
                          <p:cTn id="319" fill="hold">
                            <p:stCondLst>
                              <p:cond delay="0"/>
                            </p:stCondLst>
                            <p:childTnLst>
                              <p:par>
                                <p:cTn id="320" presetID="10" presetClass="entr" presetSubtype="0" fill="hold" grpId="0" nodeType="afterEffect">
                                  <p:stCondLst>
                                    <p:cond delay="0"/>
                                  </p:stCondLst>
                                  <p:childTnLst>
                                    <p:set>
                                      <p:cBhvr>
                                        <p:cTn id="321" dur="1" fill="hold">
                                          <p:stCondLst>
                                            <p:cond delay="0"/>
                                          </p:stCondLst>
                                        </p:cTn>
                                        <p:tgtEl>
                                          <p:spTgt spid="82"/>
                                        </p:tgtEl>
                                        <p:attrNameLst>
                                          <p:attrName>style.visibility</p:attrName>
                                        </p:attrNameLst>
                                      </p:cBhvr>
                                      <p:to>
                                        <p:strVal val="visible"/>
                                      </p:to>
                                    </p:set>
                                    <p:animEffect transition="in" filter="fade">
                                      <p:cBhvr>
                                        <p:cTn id="322" dur="550"/>
                                        <p:tgtEl>
                                          <p:spTgt spid="82"/>
                                        </p:tgtEl>
                                      </p:cBhvr>
                                    </p:animEffect>
                                  </p:childTnLst>
                                </p:cTn>
                              </p:par>
                            </p:childTnLst>
                          </p:cTn>
                        </p:par>
                        <p:par>
                          <p:cTn id="323" fill="hold">
                            <p:stCondLst>
                              <p:cond delay="0"/>
                            </p:stCondLst>
                            <p:childTnLst>
                              <p:par>
                                <p:cTn id="324" presetID="10" presetClass="entr" presetSubtype="0" fill="hold" grpId="0" nodeType="afterEffect">
                                  <p:stCondLst>
                                    <p:cond delay="0"/>
                                  </p:stCondLst>
                                  <p:childTnLst>
                                    <p:set>
                                      <p:cBhvr>
                                        <p:cTn id="325" dur="1" fill="hold">
                                          <p:stCondLst>
                                            <p:cond delay="0"/>
                                          </p:stCondLst>
                                        </p:cTn>
                                        <p:tgtEl>
                                          <p:spTgt spid="83"/>
                                        </p:tgtEl>
                                        <p:attrNameLst>
                                          <p:attrName>style.visibility</p:attrName>
                                        </p:attrNameLst>
                                      </p:cBhvr>
                                      <p:to>
                                        <p:strVal val="visible"/>
                                      </p:to>
                                    </p:set>
                                    <p:animEffect transition="in" filter="fade">
                                      <p:cBhvr>
                                        <p:cTn id="326" dur="550"/>
                                        <p:tgtEl>
                                          <p:spTgt spid="83"/>
                                        </p:tgtEl>
                                      </p:cBhvr>
                                    </p:animEffect>
                                  </p:childTnLst>
                                </p:cTn>
                              </p:par>
                            </p:childTnLst>
                          </p:cTn>
                        </p:par>
                        <p:par>
                          <p:cTn id="327" fill="hold">
                            <p:stCondLst>
                              <p:cond delay="0"/>
                            </p:stCondLst>
                            <p:childTnLst>
                              <p:par>
                                <p:cTn id="328" presetID="10" presetClass="entr" presetSubtype="0" fill="hold" grpId="0" nodeType="afterEffect">
                                  <p:stCondLst>
                                    <p:cond delay="0"/>
                                  </p:stCondLst>
                                  <p:childTnLst>
                                    <p:set>
                                      <p:cBhvr>
                                        <p:cTn id="329" dur="1" fill="hold">
                                          <p:stCondLst>
                                            <p:cond delay="0"/>
                                          </p:stCondLst>
                                        </p:cTn>
                                        <p:tgtEl>
                                          <p:spTgt spid="84"/>
                                        </p:tgtEl>
                                        <p:attrNameLst>
                                          <p:attrName>style.visibility</p:attrName>
                                        </p:attrNameLst>
                                      </p:cBhvr>
                                      <p:to>
                                        <p:strVal val="visible"/>
                                      </p:to>
                                    </p:set>
                                    <p:animEffect transition="in" filter="fade">
                                      <p:cBhvr>
                                        <p:cTn id="330" dur="550"/>
                                        <p:tgtEl>
                                          <p:spTgt spid="84"/>
                                        </p:tgtEl>
                                      </p:cBhvr>
                                    </p:animEffect>
                                  </p:childTnLst>
                                </p:cTn>
                              </p:par>
                            </p:childTnLst>
                          </p:cTn>
                        </p:par>
                        <p:par>
                          <p:cTn id="331" fill="hold">
                            <p:stCondLst>
                              <p:cond delay="0"/>
                            </p:stCondLst>
                            <p:childTnLst>
                              <p:par>
                                <p:cTn id="332" presetID="10" presetClass="entr" presetSubtype="0" fill="hold" grpId="0" nodeType="afterEffect">
                                  <p:stCondLst>
                                    <p:cond delay="0"/>
                                  </p:stCondLst>
                                  <p:childTnLst>
                                    <p:set>
                                      <p:cBhvr>
                                        <p:cTn id="333" dur="1" fill="hold">
                                          <p:stCondLst>
                                            <p:cond delay="0"/>
                                          </p:stCondLst>
                                        </p:cTn>
                                        <p:tgtEl>
                                          <p:spTgt spid="85"/>
                                        </p:tgtEl>
                                        <p:attrNameLst>
                                          <p:attrName>style.visibility</p:attrName>
                                        </p:attrNameLst>
                                      </p:cBhvr>
                                      <p:to>
                                        <p:strVal val="visible"/>
                                      </p:to>
                                    </p:set>
                                    <p:animEffect transition="in" filter="fade">
                                      <p:cBhvr>
                                        <p:cTn id="334" dur="550"/>
                                        <p:tgtEl>
                                          <p:spTgt spid="85"/>
                                        </p:tgtEl>
                                      </p:cBhvr>
                                    </p:animEffect>
                                  </p:childTnLst>
                                </p:cTn>
                              </p:par>
                            </p:childTnLst>
                          </p:cTn>
                        </p:par>
                        <p:par>
                          <p:cTn id="335" fill="hold">
                            <p:stCondLst>
                              <p:cond delay="0"/>
                            </p:stCondLst>
                            <p:childTnLst>
                              <p:par>
                                <p:cTn id="336" presetID="10" presetClass="entr" presetSubtype="0" fill="hold" grpId="0" nodeType="afterEffect">
                                  <p:stCondLst>
                                    <p:cond delay="0"/>
                                  </p:stCondLst>
                                  <p:childTnLst>
                                    <p:set>
                                      <p:cBhvr>
                                        <p:cTn id="337" dur="1" fill="hold">
                                          <p:stCondLst>
                                            <p:cond delay="0"/>
                                          </p:stCondLst>
                                        </p:cTn>
                                        <p:tgtEl>
                                          <p:spTgt spid="86"/>
                                        </p:tgtEl>
                                        <p:attrNameLst>
                                          <p:attrName>style.visibility</p:attrName>
                                        </p:attrNameLst>
                                      </p:cBhvr>
                                      <p:to>
                                        <p:strVal val="visible"/>
                                      </p:to>
                                    </p:set>
                                    <p:animEffect transition="in" filter="fade">
                                      <p:cBhvr>
                                        <p:cTn id="338" dur="550"/>
                                        <p:tgtEl>
                                          <p:spTgt spid="86"/>
                                        </p:tgtEl>
                                      </p:cBhvr>
                                    </p:animEffect>
                                  </p:childTnLst>
                                </p:cTn>
                              </p:par>
                            </p:childTnLst>
                          </p:cTn>
                        </p:par>
                        <p:par>
                          <p:cTn id="339" fill="hold">
                            <p:stCondLst>
                              <p:cond delay="0"/>
                            </p:stCondLst>
                            <p:childTnLst>
                              <p:par>
                                <p:cTn id="340" presetID="10" presetClass="entr" presetSubtype="0" fill="hold" grpId="0" nodeType="afterEffect">
                                  <p:stCondLst>
                                    <p:cond delay="0"/>
                                  </p:stCondLst>
                                  <p:childTnLst>
                                    <p:set>
                                      <p:cBhvr>
                                        <p:cTn id="341" dur="1" fill="hold">
                                          <p:stCondLst>
                                            <p:cond delay="0"/>
                                          </p:stCondLst>
                                        </p:cTn>
                                        <p:tgtEl>
                                          <p:spTgt spid="87"/>
                                        </p:tgtEl>
                                        <p:attrNameLst>
                                          <p:attrName>style.visibility</p:attrName>
                                        </p:attrNameLst>
                                      </p:cBhvr>
                                      <p:to>
                                        <p:strVal val="visible"/>
                                      </p:to>
                                    </p:set>
                                    <p:animEffect transition="in" filter="fade">
                                      <p:cBhvr>
                                        <p:cTn id="342" dur="550"/>
                                        <p:tgtEl>
                                          <p:spTgt spid="87"/>
                                        </p:tgtEl>
                                      </p:cBhvr>
                                    </p:animEffect>
                                  </p:childTnLst>
                                </p:cTn>
                              </p:par>
                            </p:childTnLst>
                          </p:cTn>
                        </p:par>
                        <p:par>
                          <p:cTn id="343" fill="hold">
                            <p:stCondLst>
                              <p:cond delay="0"/>
                            </p:stCondLst>
                            <p:childTnLst>
                              <p:par>
                                <p:cTn id="344" presetID="10" presetClass="entr" presetSubtype="0" fill="hold" grpId="0" nodeType="afterEffect">
                                  <p:stCondLst>
                                    <p:cond delay="0"/>
                                  </p:stCondLst>
                                  <p:childTnLst>
                                    <p:set>
                                      <p:cBhvr>
                                        <p:cTn id="345" dur="1" fill="hold">
                                          <p:stCondLst>
                                            <p:cond delay="0"/>
                                          </p:stCondLst>
                                        </p:cTn>
                                        <p:tgtEl>
                                          <p:spTgt spid="88"/>
                                        </p:tgtEl>
                                        <p:attrNameLst>
                                          <p:attrName>style.visibility</p:attrName>
                                        </p:attrNameLst>
                                      </p:cBhvr>
                                      <p:to>
                                        <p:strVal val="visible"/>
                                      </p:to>
                                    </p:set>
                                    <p:animEffect transition="in" filter="fade">
                                      <p:cBhvr>
                                        <p:cTn id="346" dur="550"/>
                                        <p:tgtEl>
                                          <p:spTgt spid="88"/>
                                        </p:tgtEl>
                                      </p:cBhvr>
                                    </p:animEffect>
                                  </p:childTnLst>
                                </p:cTn>
                              </p:par>
                            </p:childTnLst>
                          </p:cTn>
                        </p:par>
                        <p:par>
                          <p:cTn id="347" fill="hold">
                            <p:stCondLst>
                              <p:cond delay="0"/>
                            </p:stCondLst>
                            <p:childTnLst>
                              <p:par>
                                <p:cTn id="348" presetID="10" presetClass="entr" presetSubtype="0" fill="hold" grpId="0" nodeType="afterEffect">
                                  <p:stCondLst>
                                    <p:cond delay="0"/>
                                  </p:stCondLst>
                                  <p:childTnLst>
                                    <p:set>
                                      <p:cBhvr>
                                        <p:cTn id="349" dur="1" fill="hold">
                                          <p:stCondLst>
                                            <p:cond delay="0"/>
                                          </p:stCondLst>
                                        </p:cTn>
                                        <p:tgtEl>
                                          <p:spTgt spid="89"/>
                                        </p:tgtEl>
                                        <p:attrNameLst>
                                          <p:attrName>style.visibility</p:attrName>
                                        </p:attrNameLst>
                                      </p:cBhvr>
                                      <p:to>
                                        <p:strVal val="visible"/>
                                      </p:to>
                                    </p:set>
                                    <p:animEffect transition="in" filter="fade">
                                      <p:cBhvr>
                                        <p:cTn id="350" dur="550"/>
                                        <p:tgtEl>
                                          <p:spTgt spid="89"/>
                                        </p:tgtEl>
                                      </p:cBhvr>
                                    </p:animEffect>
                                  </p:childTnLst>
                                </p:cTn>
                              </p:par>
                            </p:childTnLst>
                          </p:cTn>
                        </p:par>
                        <p:par>
                          <p:cTn id="351" fill="hold">
                            <p:stCondLst>
                              <p:cond delay="0"/>
                            </p:stCondLst>
                            <p:childTnLst>
                              <p:par>
                                <p:cTn id="352" presetID="10" presetClass="entr" presetSubtype="0" fill="hold" grpId="0" nodeType="afterEffect">
                                  <p:stCondLst>
                                    <p:cond delay="0"/>
                                  </p:stCondLst>
                                  <p:childTnLst>
                                    <p:set>
                                      <p:cBhvr>
                                        <p:cTn id="353" dur="1" fill="hold">
                                          <p:stCondLst>
                                            <p:cond delay="0"/>
                                          </p:stCondLst>
                                        </p:cTn>
                                        <p:tgtEl>
                                          <p:spTgt spid="90"/>
                                        </p:tgtEl>
                                        <p:attrNameLst>
                                          <p:attrName>style.visibility</p:attrName>
                                        </p:attrNameLst>
                                      </p:cBhvr>
                                      <p:to>
                                        <p:strVal val="visible"/>
                                      </p:to>
                                    </p:set>
                                    <p:animEffect transition="in" filter="fade">
                                      <p:cBhvr>
                                        <p:cTn id="354" dur="550"/>
                                        <p:tgtEl>
                                          <p:spTgt spid="90"/>
                                        </p:tgtEl>
                                      </p:cBhvr>
                                    </p:animEffect>
                                  </p:childTnLst>
                                </p:cTn>
                              </p:par>
                            </p:childTnLst>
                          </p:cTn>
                        </p:par>
                        <p:par>
                          <p:cTn id="355" fill="hold">
                            <p:stCondLst>
                              <p:cond delay="0"/>
                            </p:stCondLst>
                            <p:childTnLst>
                              <p:par>
                                <p:cTn id="356" presetID="10" presetClass="entr" presetSubtype="0" fill="hold" grpId="0" nodeType="afterEffect">
                                  <p:stCondLst>
                                    <p:cond delay="0"/>
                                  </p:stCondLst>
                                  <p:childTnLst>
                                    <p:set>
                                      <p:cBhvr>
                                        <p:cTn id="357" dur="1" fill="hold">
                                          <p:stCondLst>
                                            <p:cond delay="0"/>
                                          </p:stCondLst>
                                        </p:cTn>
                                        <p:tgtEl>
                                          <p:spTgt spid="91"/>
                                        </p:tgtEl>
                                        <p:attrNameLst>
                                          <p:attrName>style.visibility</p:attrName>
                                        </p:attrNameLst>
                                      </p:cBhvr>
                                      <p:to>
                                        <p:strVal val="visible"/>
                                      </p:to>
                                    </p:set>
                                    <p:animEffect transition="in" filter="fade">
                                      <p:cBhvr>
                                        <p:cTn id="358" dur="550"/>
                                        <p:tgtEl>
                                          <p:spTgt spid="91"/>
                                        </p:tgtEl>
                                      </p:cBhvr>
                                    </p:animEffect>
                                  </p:childTnLst>
                                </p:cTn>
                              </p:par>
                            </p:childTnLst>
                          </p:cTn>
                        </p:par>
                        <p:par>
                          <p:cTn id="359" fill="hold">
                            <p:stCondLst>
                              <p:cond delay="200"/>
                            </p:stCondLst>
                            <p:childTnLst>
                              <p:par>
                                <p:cTn id="360" presetID="53" presetClass="entr" presetSubtype="16" fill="hold" grpId="0" nodeType="afterEffect">
                                  <p:stCondLst>
                                    <p:cond delay="0"/>
                                  </p:stCondLst>
                                  <p:childTnLst>
                                    <p:set>
                                      <p:cBhvr>
                                        <p:cTn id="361" dur="1" fill="hold">
                                          <p:stCondLst>
                                            <p:cond delay="0"/>
                                          </p:stCondLst>
                                        </p:cTn>
                                        <p:tgtEl>
                                          <p:spTgt spid="92"/>
                                        </p:tgtEl>
                                        <p:attrNameLst>
                                          <p:attrName>style.visibility</p:attrName>
                                        </p:attrNameLst>
                                      </p:cBhvr>
                                      <p:to>
                                        <p:strVal val="visible"/>
                                      </p:to>
                                    </p:set>
                                    <p:animEffect transition="in" filter="fade">
                                      <p:cBhvr>
                                        <p:cTn id="362" dur="550"/>
                                        <p:tgtEl>
                                          <p:spTgt spid="92"/>
                                        </p:tgtEl>
                                      </p:cBhvr>
                                    </p:animEffect>
                                    <p:anim calcmode="lin" valueType="num">
                                      <p:cBhvr additive="base">
                                        <p:cTn id="363" dur="550" fill="hold"/>
                                        <p:tgtEl>
                                          <p:spTgt spid="92"/>
                                        </p:tgtEl>
                                        <p:attrNameLst>
                                          <p:attrName>ppt_w</p:attrName>
                                        </p:attrNameLst>
                                      </p:cBhvr>
                                      <p:tavLst>
                                        <p:tav tm="0">
                                          <p:val>
                                            <p:strVal val="0"/>
                                          </p:val>
                                        </p:tav>
                                        <p:tav tm="100000">
                                          <p:val>
                                            <p:strVal val="#ppt_w"/>
                                          </p:val>
                                        </p:tav>
                                      </p:tavLst>
                                    </p:anim>
                                    <p:anim calcmode="lin" valueType="num">
                                      <p:cBhvr additive="base">
                                        <p:cTn id="364" dur="550" fill="hold"/>
                                        <p:tgtEl>
                                          <p:spTgt spid="92"/>
                                        </p:tgtEl>
                                        <p:attrNameLst>
                                          <p:attrName>ppt_h</p:attrName>
                                        </p:attrNameLst>
                                      </p:cBhvr>
                                      <p:tavLst>
                                        <p:tav tm="0">
                                          <p:val>
                                            <p:strVal val="0"/>
                                          </p:val>
                                        </p:tav>
                                        <p:tav tm="100000">
                                          <p:val>
                                            <p:strVal val="#ppt_h"/>
                                          </p:val>
                                        </p:tav>
                                      </p:tavLst>
                                    </p:anim>
                                  </p:childTnLst>
                                </p:cTn>
                              </p:par>
                            </p:childTnLst>
                          </p:cTn>
                        </p:par>
                        <p:par>
                          <p:cTn id="365" fill="hold">
                            <p:stCondLst>
                              <p:cond delay="350"/>
                            </p:stCondLst>
                            <p:childTnLst>
                              <p:par>
                                <p:cTn id="366" presetID="22" presetClass="entr" presetSubtype="8" fill="hold" grpId="0" nodeType="afterEffect">
                                  <p:stCondLst>
                                    <p:cond delay="0"/>
                                  </p:stCondLst>
                                  <p:childTnLst>
                                    <p:set>
                                      <p:cBhvr>
                                        <p:cTn id="367" dur="1" fill="hold">
                                          <p:stCondLst>
                                            <p:cond delay="0"/>
                                          </p:stCondLst>
                                        </p:cTn>
                                        <p:tgtEl>
                                          <p:spTgt spid="93"/>
                                        </p:tgtEl>
                                        <p:attrNameLst>
                                          <p:attrName>style.visibility</p:attrName>
                                        </p:attrNameLst>
                                      </p:cBhvr>
                                      <p:to>
                                        <p:strVal val="visible"/>
                                      </p:to>
                                    </p:set>
                                    <p:animEffect transition="in" filter="wipe(left)">
                                      <p:cBhvr>
                                        <p:cTn id="369" dur="800"/>
                                        <p:tgtEl>
                                          <p:spTgt spid="93"/>
                                        </p:tgtEl>
                                      </p:cBhvr>
                                    </p:animEffect>
                                  </p:childTnLst>
                                </p:cTn>
                              </p:par>
                            </p:childTnLst>
                          </p:cTn>
                        </p:par>
                        <p:par>
                          <p:cTn id="370" fill="hold">
                            <p:stCondLst>
                              <p:cond delay="500"/>
                            </p:stCondLst>
                            <p:childTnLst>
                              <p:par>
                                <p:cTn id="371" presetID="42" presetClass="entr" presetSubtype="0" fill="hold" grpId="0" nodeType="afterEffect">
                                  <p:stCondLst>
                                    <p:cond delay="0"/>
                                  </p:stCondLst>
                                  <p:childTnLst>
                                    <p:set>
                                      <p:cBhvr>
                                        <p:cTn id="372" dur="1" fill="hold">
                                          <p:stCondLst>
                                            <p:cond delay="0"/>
                                          </p:stCondLst>
                                        </p:cTn>
                                        <p:tgtEl>
                                          <p:spTgt spid="94"/>
                                        </p:tgtEl>
                                        <p:attrNameLst>
                                          <p:attrName>style.visibility</p:attrName>
                                        </p:attrNameLst>
                                      </p:cBhvr>
                                      <p:to>
                                        <p:strVal val="visible"/>
                                      </p:to>
                                    </p:set>
                                    <p:animEffect transition="in" filter="fade">
                                      <p:cBhvr>
                                        <p:cTn id="373" dur="550"/>
                                        <p:tgtEl>
                                          <p:spTgt spid="94"/>
                                        </p:tgtEl>
                                      </p:cBhvr>
                                    </p:animEffect>
                                    <p:anim calcmode="lin" valueType="num">
                                      <p:cBhvr additive="base">
                                        <p:cTn id="374" dur="550" fill="hold"/>
                                        <p:tgtEl>
                                          <p:spTgt spid="94"/>
                                        </p:tgtEl>
                                        <p:attrNameLst>
                                          <p:attrName>ppt_x</p:attrName>
                                        </p:attrNameLst>
                                      </p:cBhvr>
                                      <p:tavLst>
                                        <p:tav tm="0">
                                          <p:val>
                                            <p:strVal val="#ppt_x"/>
                                          </p:val>
                                        </p:tav>
                                        <p:tav tm="100000">
                                          <p:val>
                                            <p:strVal val="#ppt_x"/>
                                          </p:val>
                                        </p:tav>
                                      </p:tavLst>
                                    </p:anim>
                                    <p:anim calcmode="lin" valueType="num">
                                      <p:cBhvr additive="base">
                                        <p:cTn id="375" dur="550" fill="hold"/>
                                        <p:tgtEl>
                                          <p:spTgt spid="94"/>
                                        </p:tgtEl>
                                        <p:attrNameLst>
                                          <p:attrName>ppt_y</p:attrName>
                                        </p:attrNameLst>
                                      </p:cBhvr>
                                      <p:tavLst>
                                        <p:tav tm="0">
                                          <p:val>
                                            <p:strVal val="#ppt_y+.08"/>
                                          </p:val>
                                        </p:tav>
                                        <p:tav tm="100000">
                                          <p:val>
                                            <p:strVal val="#ppt_y"/>
                                          </p:val>
                                        </p:tav>
                                      </p:tavLst>
                                    </p:anim>
                                  </p:childTnLst>
                                </p:cTn>
                              </p:par>
                            </p:childTnLst>
                          </p:cTn>
                        </p:par>
                        <p:par>
                          <p:cTn id="376" fill="hold">
                            <p:stCondLst>
                              <p:cond delay="650"/>
                            </p:stCondLst>
                            <p:childTnLst>
                              <p:par>
                                <p:cTn id="377" presetID="10" presetClass="entr" presetSubtype="0" fill="hold" grpId="0" nodeType="afterEffect">
                                  <p:stCondLst>
                                    <p:cond delay="0"/>
                                  </p:stCondLst>
                                  <p:childTnLst>
                                    <p:set>
                                      <p:cBhvr>
                                        <p:cTn id="378" dur="1" fill="hold">
                                          <p:stCondLst>
                                            <p:cond delay="0"/>
                                          </p:stCondLst>
                                        </p:cTn>
                                        <p:tgtEl>
                                          <p:spTgt spid="95"/>
                                        </p:tgtEl>
                                        <p:attrNameLst>
                                          <p:attrName>style.visibility</p:attrName>
                                        </p:attrNameLst>
                                      </p:cBhvr>
                                      <p:to>
                                        <p:strVal val="visible"/>
                                      </p:to>
                                    </p:set>
                                    <p:animEffect transition="in" filter="fade">
                                      <p:cBhvr>
                                        <p:cTn id="379" dur="550"/>
                                        <p:tgtEl>
                                          <p:spTgt spid="9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
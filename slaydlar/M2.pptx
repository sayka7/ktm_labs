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Mavzuning maqsadi — sun'iy intellekt yuklarini bajaruvchi asosiy protsessor sinflarining ichki tuzilishini, ularning kuchli va zaif tomonlarini hamda ularni bitta geterogen tizimga birlashtirish usullarini o'rgatish. Mavzu o'zlashtirilgach, magistrant:</a:t>
            </a:r>
          </a:p>
          <a:p/>
          <a:p>
            <a:r>
              <a:t>CPU, GPU, TPU, NPU va FPGA arxitekturalarining asosiy tuzilmaviy farqlarini (boshqaruv mantig'i, hisoblash bloklari, xotira iyerarxiyasi, parallellik modeli) tushuntira oladi;</a:t>
            </a:r>
          </a:p>
          <a:p/>
          <a:p>
            <a:r>
              <a:t>Tezlatkichning (accelerator) ichki tuzilishini — matritsali ko'paytirish bloklari, sistolik massiv (systolic array), on-chip xotira, ma'lumot oqimi — tavsiflay oladi va nega u umumiy maqsadli protsessordan samaraliroq ekanini miqdoriy asoslaydi;</a:t>
            </a:r>
          </a:p>
          <a:p/>
          <a:p>
            <a:r>
              <a:t>Geterogen hisoblash tizimida xost va tezlatkich o'rtasidagi vazifalar taqsimoti, ulanish shinalari (PCIe, NVLink, NVLink-C2C) va birlashgan xotira tushunchalarini qo'llay oladi;</a:t>
            </a:r>
          </a:p>
          <a:p/>
          <a:p>
            <a:r>
              <a:t>Ko'p yadroli, ko'p protsessorli va ko'p tezlatkichli platformalarning (ikki soketli server, DGX, SuperPOD, superkompyuter) tashkil etilish tamoyillarini va masshtablash chegaralarini tahlil qila oladi;</a:t>
            </a:r>
          </a:p>
          <a:p/>
          <a:p>
            <a:r>
              <a:t>PyTorch yordamida CPU va GPU unumdorligini turli aniqlik rejimlarida o'lchab, natijalarni pasport ko'rsatkichlari bilan taqqoslaydi.</a:t>
            </a:r>
          </a:p>
          <a:p/>
          <a:p>
            <a:r>
              <a:t>Mavzu fanning TN1 (AI-enabled arxitekturalar va apparat–dasturiy integratsiya) va TN3 (AI tezlatkichlaridan samarali foydalanish) ta'lim natijalariga xizmat qiladi, shuningdek TN6 (benchmarking) uchun amaliy asos beradi. Sillabusdagi 3-mustaqil ta'lim topshirig'i (CPU, GPU, TPU, NPU va FPGA ni qiyosiy tahlil qilish) bevosita shu mavzuga tayanadi.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Mavzuning maqsadi — sun'iy intellekt yuklarini bajaruvchi asosiy protsessor sinflarining ichki tuzilishini, ularning kuchli va zaif tomonlarini hamda ularni bitta geterogen tizimga birlashtirish usullarini o'rgatish. Mavzu o'zlashtirilgach, magistrant:</a:t>
            </a:r>
          </a:p>
          <a:p/>
          <a:p>
            <a:r>
              <a:t>CPU, GPU, TPU, NPU va FPGA arxitekturalarining asosiy tuzilmaviy farqlarini (boshqaruv mantig'i, hisoblash bloklari, xotira iyerarxiyasi, parallellik modeli) tushuntira oladi;</a:t>
            </a:r>
          </a:p>
          <a:p/>
          <a:p>
            <a:r>
              <a:t>Tezlatkichning (accelerator) ichki tuzilishini — matritsali ko'paytirish bloklari, sistolik massiv (systolic array), on-chip xotira, ma'lumot oqimi — tavsiflay oladi va nega u umumiy maqsadli protsessordan samaraliroq ekanini miqdoriy asoslaydi;</a:t>
            </a:r>
          </a:p>
          <a:p/>
          <a:p>
            <a:r>
              <a:t>Geterogen hisoblash tizimida xost va tezlatkich o'rtasidagi vazifalar taqsimoti, ulanish shinalari (PCIe, NVLink, NVLink-C2C) va birlashgan xotira tushunchalarini qo'llay oladi;</a:t>
            </a:r>
          </a:p>
          <a:p/>
          <a:p>
            <a:r>
              <a:t>Ko'p yadroli, ko'p protsessorli va ko'p tezlatkichli platformalarning (ikki soketli server, DGX, SuperPOD, superkompyuter) tashkil etilish tamoyillarini va masshtablash chegaralarini tahlil qila oladi;</a:t>
            </a:r>
          </a:p>
          <a:p/>
          <a:p>
            <a:r>
              <a:t>PyTorch yordamida CPU va GPU unumdorligini turli aniqlik rejimlarida o'lchab, natijalarni pasport ko'rsatkichlari bilan taqqoslaydi.</a:t>
            </a:r>
          </a:p>
          <a:p/>
          <a:p>
            <a:r>
              <a:t>Mavzu fanning TN1 (AI-enabled arxitekturalar va apparat–dasturiy integratsiya) va TN3 (AI tezlatkichlaridan samarali foydalanish) ta'lim natijalariga xizmat qiladi, shuningdek TN6 (benchmarking) uchun amaliy asos beradi. Sillabusdagi 3-mustaqil ta'lim topshirig'i (CPU, GPU, TPU, NPU va FPGA ni qiyosiy tahlil qilish) bevosita shu mavzuga tayanadi.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Neyron tarmoqning asosiy hisoblash amali — matritsalarni ko'paytirish. Transformer qatlamidagi diqqat mexanizmi, konvolyutsiya qatlami (im2col orqali) va to'liq bog'langan qatlam — barchasi oxir-oqibat C = A × B ko'rinishiga keltiriladi. Bu amal juda muntazam: ming-million marta bir xil ko'paytirish-qo'shish (MAC) takrorlanadi, ma'lumotga bog'liq tarmoqlanish deyarli yo'q, har element ko'p marta qayta ishlatiladi. Umumiy maqsadli protsessor (CPU) esa butunlay boshqa yuk — tarmoqlanishlar, ko'rsatkichlar bo'yicha o'tishlar, tasodifiy xotira murojaatlari bilan to'la dastur — uchun optimallashtirilgan. Natijada CPU kristalining katta qismini tarmoqlanishni bashorat qilish, buyruqlarni tartibsiz bajarish (out-of-order execution), ko'p darajali kesh kabi mexanizmlar egallaydi, arifmetik bloklar esa kichik ulushni tashkil etadi.</a:t>
            </a:r>
          </a:p>
          <a:p/>
          <a:p>
            <a:r>
              <a:t>Shu nomuvofiqlik 2010-yillarda neyron tarmoqlarning qayta tug'ilishiga sabab bo'lgan GPU ga yo'l ochdi: 2012-yilgi AlexNet ikki NVIDIA GTX 580 da o'qitilgan edi. Keyin Google 2015-yilda ma'lumotlar markazlarida TPU ni joriy etdi — bu to'liq ixtisoslashgan chip (ASIC) bo'lib, uning yuragi 256×256 li sistolik massiv edi. 2017-yilda Apple A11 chipiga Neural Engine qo'shdi, va bugun deyarli har bir smartfon, noutbuk va avtomobil protsessori alohida NPU blokiga ega. Shu bilan birga FPGA — qayta dasturlanadigan mantiqiy sxemalar — Microsoft Bing va Azure da inferens uchun ishlatildi va chekka tizimlarda o'z o'rnini topdi.</a:t>
            </a:r>
          </a:p>
          <a:p/>
          <a:p>
            <a:r>
              <a:t>Bugungi muhandis oldida, demak, beshta turdagi protsessor va ularning son-sanoqsiz kombinatsiyasi turibdi. Bitta serverda 2 ta CPU, 8 ta GPU, tarmoq kartalarida DPU (Data Processing Unit) va ehtimol FPGA bo'lishi mumkin. Bitta smartfonda CPU, GPU, NPU va ISP (tasvir protsessori) bir kristalda joylashgan. Ushbu geterogenlikni tushunmay turib, SI tizimini samarali loyihalab bo'lmaydi: qaysi vazifa qayerda bajarilishi kerak, ma'lumot ular orasida qanday harakatlanadi, qaysi komponent tor joy bo'ladi — bu savollarga javob berish uchun har bir arxitekturaning ichki tuzilishini bilish shart. Ma'ruza shu bilimni beradi va amaliy misolda CPU bilan GPU ni PyTorch da bevosita taqqoslaydi.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server CPU si (masalan, AMD EPYC 9004 «Genoa» 96 yadroli yoki Intel Xeon 4-avlod «Sapphire Rapids» 60 yadroli) — bu kechikishni (latency) minimallashtirishga qaratilgan mashina. Har bir yadro superskalyar bo'lib, bir taktda 4–6 buyruqni dekodlaydi, ularni tartibsiz bajaradi, tarmoqlanishni 95 % dan yuqori aniqlikda bashorat qiladi va uch darajali kesh (L1 32–48 KB, L2 1–2 MB, L3 yadrolar orasida umumiy 32–384 MB) orqali xotira kechikishini yashiradi. Bu mexanizmlar yakka oqimli dasturni tez bajaradi, lekin kristall maydoni va energiyaning katta qismini oladi: Hennessy va Patterson [1] ta'kidlaganidek, oddiy ADD buyrug'ini bajarish uchun sarflanadigan energiyaning 90 % dan ortig'i buyruqni olish, dekodlash, rejalashtirish va natijani registrga yozishga, faqat qolgan qismi arifmetikaning o'ziga ketadi.</a:t>
            </a:r>
          </a:p>
          <a:p/>
          <a:p>
            <a:r>
              <a:t>CPU da SI yukini tezlashtirishning asosiy vositasi — SIMD (Single Instruction, Multiple Data) kengaytmalari: AVX2 (256 bit, 8 ta FP32), AVX-512 (512 bit, 16 ta FP32) va ARM da SVE/SVE2. Yangi Intel Xeon larda AMX (Advanced Matrix Extensions) bloki qo'shilgan — u 16×64 baytli «plitka» registrlarida INT8 va BF16 matritsa ko'paytirishni bajarib, yadro boshiga 2048 INT8 amal/takt beradi. 56 yadroli Xeon 8480+ uchun bu nazariy jihatdan 200 TOPS dan ortiq INT8 degani — bir necha yil avvalgi GPU darajasi. Shunga qaramay, CPU ning xotira o'tkazuvchanligi (8–12 kanalli DDR5, 300–460 GB/s) GPU ning HBM xotirasidan 5–10 baravar past, shuning uchun CPU katta matritsalarda hisoblash bilan emas, xotira bilan cheklanadi.</a:t>
            </a:r>
          </a:p>
          <a:p/>
          <a:p>
            <a:r>
              <a:t>CPU ning SI tizimidagi o'rni shunga qaramay muhim: u ma'lumotni yuklaydi va oldindan ishlov beradi, tezlatkichlarni boshqaradi, kichik modellar va past yukdagi inferensni bajaradi, tavsiya tizimlarida embedding jadvallarini qidiradi (xotira sig'imi muhim bo'lgan yuk). Ko'p yadrolilik (multi-core) — bir kristalda o'nlab yadro — va ko'p protsessorlilik (multi-processor) — bir serverda 2–8 soket, UPI yoki Infinity Fabric bilan ulangan — CPU ni ma'lumot tayyorlash va orkestratsiya uchun kuchli platformaga aylantiradi. Ikki soketli server NUMA (Non-Uniform Memory Access) tizimi bo'lib, har soket o'z xotirasiga tez, qo'shnisining xotirasiga sekin murojaat qiladi — bu M5 da batafsil ko'riladi.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qarama-qarshi falsafaga asoslangan: kechikishni yashirish uchun murakkab boshqaruv o'rniga minglab oddiy oqimlar (thread) ishlatiladi; bir oqim xotira kutayotganda boshqasi hisoblaydi. NVIDIA terminologiyasida bu SIMT (Single Instruction, Multiple Threads) modeli: 32 oqimdan iborat «warp» bitta buyruqni bir vaqtda bajaradi. Kirk va Hwu [5] bu modelni dasturchi nuqtai nazaridan batafsil tushuntiradilar: dasturchi skalyar kod yozadi, apparat uni minglab oqimda parallel bajaradi.</a:t>
            </a:r>
          </a:p>
          <a:p/>
          <a:p>
            <a:r>
              <a:t>GPU ning tuzilmaviy birligi — oqimli multiprotsessor (Streaming Multiprocessor, SM). NVIDIA H100 (Hopper) da 132 ta SM, har birida 128 ta FP32 CUDA yadrosi, 4 ta to'rtinchi avlod Tensor Core, 256 KB birlashgan L1/umumiy xotira va 64 K ta 32-bitli registr bor. Jami: 16 896 CUDA yadrosi, 528 Tensor Core, 50 MB L2 kesh, 80 GB HBM3 xotira 3,35 TB/s o'tkazuvchanlik bilan. Taqqoslash uchun A100 (Ampere): 108 SM, 6 912 CUDA yadrosi, 432 Tensor Core, 40 MB L2, 80 GB HBM2e, ~2 TB/s. Yangi Blackwell (B200) ikki kristalni bitta paketda birlashtirib 192 GB HBM3e va 8 TB/s ga ega.</a:t>
            </a:r>
          </a:p>
          <a:p/>
          <a:p>
            <a:r>
              <a:t>Tensor Core — GPU ichidagi ixtisoslashgan matritsa bloki (M4 da batafsil): bir taktda kichik matritsa fragmentini (masalan 4×4×4 yoki undan katta) aralash aniqlikda (FP16/BF16 kirish, FP32 to'plash) ko'paytirib qo'shadi. H100 uchun zich FP16 Tensor Core unumdorligi taxminan 990 TFLOPS, FP8 da taxminan 1 980 TFLOPS, oddiy FP32 CUDA yadrolari esa 67 TFLOPS beradi — ya'ni Tensor Core dan foydalanish 15 baravar farq qiladi. Bu raqam co-design uchun hal qiluvchi: model aniqligi va tensor o'lchamlari Tensor Core ga mos bo'lmasa, GPU imkoniyatining katta qismi ishlatilmaydi.</a:t>
            </a:r>
          </a:p>
          <a:p/>
          <a:p>
            <a:r>
              <a:t>GPU ning yana bir asosiy xususiyati — xotira iyerarxiyasi dasturchiga ochiq: registrlar, umumiy xotira (shared memory, dasturchi boshqaradigan kesh), L2 va global HBM. Samarali CUDA yadrosi (kernel) ma'lumotni umumiy xotiraga yuklab, ko'p marta qayta ishlatadi — bu Sze va hammualliflar [4] ta'kidlagan «ma'lumotni qayta ishlatish» tamoyilining dasturiy ifodasi. GPU lar o'zaro NVLink (H100 da to'rtinchi avlod, GPU boshiga 900 GB/s) va NVSwitch orqali ulanadi, bu PCIe 5.0 x16 (taxminan 64 GB/s ikki tomonlama) dan ancha tez.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TPU (Tensor Processing Unit) — neyron tarmoq uchun noldan loyihalangan ASIC. Jouppi va hammualliflarning 2017-yilgi ISCA maqolasida tavsiflangan birinchi avlod TPU ning yuragi 256×256 li sistolik massiv (systolic array) edi: 65 536 ta 8-bitli MAC bloki ikki o'lchovli to'rda joylashgan, og'irliklar massivga yuklanadi, kirish ma'lumotlari chapdan o'ngga, qisman yig'indilar yuqoridan pastga «yurak urishi» kabi takt sayin oqadi. Har bir MAC natijani qo'shnisiga uzatadi, registr fayliga yoki keshga murojaat qilmaydi — shuning uchun energiya sarfi juda past. TPU v1 700 MGs da 92 TOPS INT8 berib, o'sha davrdagi GPU dan vatt boshiga 30–80 baravar samaraliroq edi.</a:t>
            </a:r>
          </a:p>
          <a:p/>
          <a:p>
            <a:r>
              <a:t>Keyingi avlodlar o'qitish uchun BF16 qo'llab-quvvatlashi, HBM xotira va chiplararo tarmoq (Inter-Core Interconnect, ICI) qo'shdi. TPU v4 chipi ikkita TensorCore, har birida to'rtta 128×128 li MXU (matritsa bloki) ga ega bo'lib, 275 TFLOPS BF16 beradi; 4 096 chip 3D torus topologiyasida bitta «pod» ga birlashadi. TPU v5e (197 TFLOPS BF16, 16 GB HBM2, 819 GB/s) inferens va narx-samaradorlik uchun, v5p (459 TFLOPS BF16, 95 GB HBM, 2,76 TB/s) o'qitish uchun mo'ljallangan; 2024-yilgi Trillium (v6e) 918 TFLOPS BF16 va 32 GB HBM e'lon qilingan. TPU ning muhim xususiyati — kompilyator (XLA) ga tayanish: apparatda dinamik rejalashtirish deyarli yo'q, barcha ma'lumot harakati kompilyatsiya vaqtida rejalashtiriladi. Bu samaradorlikni oshiradi, lekin dinamik shaklli yoki notekis modellarda qiyinchilik tug'diradi.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NPU (Neural Processing Unit) — umumiy nom bo'lib, tizim-kristal (SoC) tarkibidagi neyron tarmoq blokini bildiradi. Arxitektura jihatidan NPU lar ko'pincha kichik sistolik massivlar yoki vektor-matritsa bloklari, katta on-chip SRAM va INT8/INT4 aniqlikka urg'u bilan quriladi. Ularning asosiy loyihalash mezoni — vatt boshiga TOPS, chunki ular batareyali qurilmada ishlaydi. Namunalar: Apple Neural Engine (A17 Pro va M4 da 35–38 TOPS), Qualcomm Hexagon (Snapdragon X Elite da 45 TOPS), Intel NPU (Core Ultra «Lunar Lake» da 48 TOPS), AMD XDNA 2 (Ryzen AI 300 da 50 TOPS). Ma'lumotlar markazi miqyosidagi NPU lar ham bor — Huawei Ascend 910B, AWS Inferentia2 va Trainium — ular TPU ga o'xshash ixtisoslashgan ASIC lardir.</a:t>
            </a:r>
          </a:p>
          <a:p/>
          <a:p>
            <a:r>
              <a:t>NPU ning cheklovlari: qo'llab-quvvatlanadigan operatorlar to'plami tor (yangi arxitekturadagi noodatiy qatlam NPU da ishlamay CPU ga tushishi mumkin), dasturlash faqat ishlab chiqaruvchi SDK si orqali (Core ML, Qualcomm AI Engine, OpenVINO), aniqlik asosan INT8. Shu sababli NPU uchun model tayyorlash — kvantlash, operatorlarni almashtirish, grafni kompilyatsiya qilish — alohida muhandislik bosqichi (M6 va M8 da ko'riladi).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FPGA (Field-Programmable Gate Array) — ishlab chiqarilgandan keyin mantiqiy sxemasi o'zgartirilishi mumkin bo'lgan chip. Uning tarkibida yuz minglab qidiruv jadvallari (LUT), triggerlar, DSP bloklari (apparat ko'paytirgichlar) va bloklangan xotira (BRAM) bo'lib, ular dasturlanadigan ulanish to'ri orqali bog'lanadi. Dasturchi VHDL/Verilog yoki yuqori darajali sintez (HLS, C++ dan) yordamida aynan o'z modeli uchun hisoblash quvurini quradi: kerakli bit kenglik (masalan 6-bitli og'irliklar), kerakli parallellik, kerakli xotira joylashuvi.</a:t>
            </a:r>
          </a:p>
          <a:p/>
          <a:p>
            <a:r>
              <a:t>FPGA ning afzalliklari: juda past va bashoratlanadigan kechikish (mikrosekundlar, chunki operatsion tizim va drayver yo'q), ixtiyoriy aniqlik, kiritish-chiqarish bilan to'g'ridan-to'g'ri integratsiya (kamera, tarmoq, radar). Kamchiliklari: bir xil texnologik jarayonda ASIC dan 5–10 baravar kam samarali (dasturlanadigan ulanishlar maydoni va energiyasi), rivojlantirish sikli uzun (sintez soatlar oladi), yuqori malaka talab etadi. Zamonaviy «moslashuvchan SoC» lar — AMD Versal AI Core (dasturlanadigan mantiq + ARM yadrolari + AI Engine vektor protsessorlari massivi) va Intel Agilex — FPGA bilan ASIC o'rtasidagi oraliq yechim. FPGA lar sanoatda real vaqtli sensor birlashtirish, 5G baza stansiyalari, moliyaviy savdo va tarmoq funksiyalarini tezlashtirishda (SmartNIC) qo'llaniladi; Microsoft Project Brainwave (2018) Intel Stratix 10 FPGA larida Bing qidiruvi uchun past kechikishli inferensni namoyish etgan.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Jadval umumiy qonuniyatni ko'rsatadi: ixtisoslashuv oshgan sari samaradorlik oshadi, moslashuvchanlik kamayadi. Hennessy va Patterson [1] sohaga xos arxitekturalar samaradorligining beshta manbasini sanaydilar: sohaga xos parallellikdan foydalanish, xotira iyerarxiyasini dasturchi boshqarishi, keraksiz aniqlikdan voz kechish, sohaga xos dasturlash tili va kesh/bashorat kabi umumiy mexanizmlardan voz kechish. Tezlatkichning ichki tuzilishi aynan shu beshta tamoyilning moddiy ifodasidir: MAC lar massivi (parallellik), katta SRAM va skretchped (boshqariladigan xotira), INT8/BF16 (aniqlik), XLA yoki TensorRT (til), nazorat mantig'ining minimalligi.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Geterogen tizim — turli arxitekturali protsessorlarni bir vazifa ustida birgalikda ishlatadigan tizim. Klassik ko'rinishda xost (CPU) dasturni boshqaradi, ma'lumotni tayyorlaydi va qurilma (GPU/tezlatkich) ga og'ir hisobni yuboradi. Ikki protsessor alohida xotira maydoniga ega va ma'lumot PCIe orqali nusxalanadi — bu kechikish (10–20 mks ishga tushirish) va o'tkazuvchanlik (PCIe 4.0 x16: ~32 GB/s bir tomonga, PCIe 5.0: ~64 GB/s) cheklovlarini keltirib chiqaradi.</a:t>
            </a:r>
          </a:p>
          <a:p/>
          <a:p>
            <a:r>
              <a:t>So'nggi yillarda birlashgan xotira (unified memory) yondashuvi kuchaydi. NVIDIA GH200 Grace Hopper «superchip» da 72 yadroli ARM Neoverse V2 protsessori (Grace, 480 GB LPDDR5X) va H100 GPU (96–144 GB HBM3/HBM3e) NVLink-C2C orqali 900 GB/s tezlikda bog'langan va bitta kogerent manzil maydonini tashkil etadi — GPU xost xotirasiga PCIe dan 7 baravar tezroq murojaat qiladi. AMD MI300A esa 24 ta Zen 4 yadrosi va CDNA 3 GPU ni bitta paketda 128 GB umumiy HBM3 bilan birlashtiradi (bu chip El Capitan superkompyuterining asosi). Apple M-seriyali chiplarda CPU, GPU va NPU bir xil LPDDR xotiradan foydalanadi, bu esa modelni nusxalamasdan bloklar o'rtasida almashishga imkon beradi.</a:t>
            </a:r>
          </a:p>
          <a:p/>
          <a:p>
            <a:r>
              <a:t>Geterogen tizimni loyihalashda asosiy savol — vazifani kim bajaradi. Umumiy qoida: muntazam, katta hajmli, parallel hisob (matritsa, konvolyutsiya) — tezlatkichga; tarmoqlanishli, ketma-ket, tizim chaqiruvlari bilan bog'liq ish (fayl o'qish, dekodlash, tarmoq, mantiq) — CPU ga; kiritish-chiqarish bilan bog'liq doimiy quvur (paket tahlili, shifrlash) — DPU yoki FPGA ga. Amalda eng ko'p uchraydigan xato — tezlatkich ma'lumot kutib bo'sh turishi, chunki CPU tomonidagi tayyorlash yetib bermaydi; bu muammoni M5 va M10 da profillash orqali aniqlashni o'rganamiz.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Standart AI o'qitish serveri 8 ta tezlatkichli konfiguratsiya atrofida shakllangan. NVIDIA DGX H100: 8 × H100 SXM (jami 640 GB HBM3), 4 ta NVSwitch orqali har qanday GPU juftligi 900 GB/s bilan bog'langan, 2 ta Intel Xeon 8480C (112 yadro), 2 TB DDR5, 8 ta ConnectX-7 (400 Gbit/s InfiniBand NDR) tarmoq adapteri, 30 TB NVMe va 10,2 kVt quvvat. Shunga o'xshash serverlarni AMD MI300X (8 × 192 GB = 1,5 TB HBM3, 5,3 TB/s har biri), Intel Gaudi 3 va Supermicro, Dell, HPE kabi ishlab chiqaruvchilar taklif qiladi. 2024–2025-yillardagi yangi qadam — stoyka miqyosidagi tizim: NVIDIA GB200 NVL72 bitta suyuqlik bilan sovitiladigan stoykada 72 ta Blackwell GPU va 36 ta Grace CPU ni 130 TB/s umumiy NVLink o'tkazuvchanlikli yagona domenga birlashtiradi, quvvati taxminan 120 kVt.</a:t>
            </a:r>
          </a:p>
          <a:p/>
          <a:p>
            <a:r>
              <a:t>Serverlardan yuqorida klaster (tugunlar InfiniBand yoki RoCE Ethernet bilan ulanadi) va SuperPOD (NVIDIA da 32 DGX = 256 GPU asosiy birlik, «fat-tree» topologiya) turadi. Masshtab oshgan sari tor joy hisoblashdan tarmoqqa ko'chadi: 400 Gbit/s adapter sekundiga 50 GB uzatadi — bu GPU ichidagi HBM dan 70 baravar sekin. Shuning uchun taqsimlangan o'qitish algoritmlari (M3) aloqani hisoblash bilan ustma-ust qo'yishga qaratilgan.</a:t>
            </a:r>
          </a:p>
          <a:p/>
          <a:p>
            <a:r>
              <a:t>Superkompyuterlar bu tamoyillarni eng katta miqyosda aks ettiradi. 2025-yil holatiga TOP500 ro'yxatining birinchi o'rni — El Capitan (Lawrence Livermore, AMD MI300A, 1,74 eksaflops HPL), ikkinchi — Frontier (Oak Ridge, AMD EPYC + MI250X, 1,35 eksaflops), uchinchi — Aurora (Argonne, Intel Xeon Max + Data Center GPU Max). Ularning barchasi geterogen: har tugunda CPU va 4–6 GPU, tugunlar HPE Slingshot tarmog'i bilan ulangan. Shu bilan birga sanoat AI superkompyuterlari paydo bo'ldi: NVIDIA Eos (576 DGX H100, 4 608 GPU), Meta ning ikkita 24 576 GPU li klasteri (2024), xAI Colossus (100 000 dan ortiq H100, 2024). Ularning HPC superkompyuterlaridan farqi — FP64 emas, FP16/FP8 unumdorlik ustuvor, demak «eksaflops» so'zi qaysi aniqlikda ekanini doim aniqlashtirish kerak.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Vazifa: PyTorch yordamida CPU va GPU ning matritsali ko'paytirish va real model (ResNet-50) inferensidagi unumdorligini turli aniqlik rejimlarida o'lchash, natijani pasport ko'rsatkichi bilan taqqoslab foydalanish koeffitsiyentini hisoblash. Muhit: Python 3.10+, PyTorch 2.x (CUDA qo'llab-quvvatlashi bilan), torchvision. GPU bo'lmasa, kod CPU qismini bajaradi va GPU ustunini bo'sh qoldiradi. Natijalar taxminiy; sizning apparatingizda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Har qanday benchmark apparatni aniq hujjatlashdan boshlanadi: SM soni va xotira hajmi natijani pasport bilan taqqoslash uchun kerak, torch.get_num_threads() esa CPU o'lchovining nechta yadroda bajarilishini ko'rsatadi (ko'pincha standart qiymat fizik yadrolar soniga teng; o'zgartirish uchun torch.set_num_threads).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taxminiy natijalar (n = 8192):</a:t>
            </a:r>
          </a:p>
          <a:p/>
          <a:p>
            <a:r>
              <a:t>Nima bo'ldi va nega. Uch muhim kuzatuv. Birinchidan, torch.cuda.synchronize() siz GPU vaqti noto'g'ri chiqadi, chunki CUDA chaqiruvlari asinxron — bu benchmarkdagi eng keng tarqalgan xato. Ikkinchidan, katta kvadrat matritsa — tezlatkich uchun ideal yuk (arifmetik intensivlik n/3 FLOP/bayt ga proporsional), shuning uchun η 0,6–0,9 ga yetadi; real modellar bunga yetmaydi. Uchinchidan, aniqlikni FP32 dan FP16 ga o'zgartirish A100 da 15 baravar o'sish beradi — bu CUDA yadrolari o'rniga Tensor Core ishlashining bevosita isboti. CPU da BF16 ko'pincha FP32 dan sekin chiqadi, chunki AMX bo'lmagan protsessorda BF16 dasturiy konvertatsiya bilan bajariladi — «kichik aniqlik har doim tez» degan taxmin apparatga bog'liq.</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Jadvaldagi ustunlarni (n = 1024 … 8192) solishtiring. GPU da n = 1024 bo'lganda unumdorlik n = 8192 dagidan 3–10 baravar past bo'ladi — chunki 1024×1024 matritsani ko'paytirish atigi 2 GFLOP, bu H100 uchun mikrosekundlar, va yadro ishga tushirish (launch) xarajati hamda SM larni to'ldirmaslik ustunlik qiladi. CPU da bu farq kichikroq. Xulosa: tezlatkich katta ishda samarali, kichik so'rovlarni paketlash (batching) kerak.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taxminiy natijalar:</a:t>
            </a:r>
          </a:p>
          <a:p/>
          <a:p>
            <a:r>
              <a:t>Nima bo'ldi va nega. ResNet-50 bitta tasvir uchun taxminan 4,1 GMAC (8,2 GFLOP) talab qiladi. A100 FP16 da 3 500 tasvir/s — bu 29 TFLOPS samarali, ya'ni pasportning atigi 9 % i, matmul benchmarkdagi 85 % ga qarshi. Sabab — real model kichik konvolyutsiyalar, batch-norm, ReLU, xotira bilan cheklangan qatlamlar va ularning orasidagi ko'plab yadro ishga tushirishlaridan iborat; PyTorch ning eager rejimi har qatlamni alohida chaqiradi. Yadrolarni birlashtirish (kernel fusion) — TensorRT yoki torch.compile — bu farqni 2–3 baravar qisqartiradi (A3 da ko'rsatiladi). Yana e'tibor bering: batch=1 da GPU FP16 va FP32 orasida farq kichik — kichik yuk ishga tushirish xarajati bilan cheklangan, Tensor Core imkoniyati ochilmaydi.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O'lchovlar nazariy bo'limdagi tezislarni miqdoriy tasdiqlaydi. CPU va GPU orasidagi farq «ideal» yukda (katta GEMM, FP16) ikki tartibga (100–200 baravar) yetadi, real modelda (ResNet-50, batch=32) esa 20–40 baravar. Bu farqning manbai uchta: parallel bloklar soni (16 yadro × 16 FP32 SIMD = 256 ga qarshi 6 912 CUDA yadro + 432 Tensor Core), xotira o'tkazuvchanligi (100–200 GB/s ga qarshi 2 TB/s) va ixtisoslashgan matritsa bloklari. Shu bilan birga, batch=1 da CPU bilan GPU farqi faqat 10–15 baravar — kichik yukda GPU ning afzalligi kamayadi, kechikish esa CPU da ham qoniqarli bo'lishi mumkin. Bu geterogen tizim loyihalashning amaliy qoidasiga olib keladi: past yukli, kechikishga sezgir kichik modellar uchun CPU yetarli bo'lishi mumkin, va GPU ni ularga ajratish iqtisodiy jihatdan o'zini oqlamaydi.</a:t>
            </a:r>
          </a:p>
          <a:p/>
          <a:p>
            <a:r>
              <a:t>Foydalanish koeffitsiyentining 0,85 (GEMM) dan 0,09 (ResNet-50 eager) ga tushishi mavzuning asosiy darsi. Tezlatkich ixtisoslashgani sari u «to'g'ri» yukni talab qiladi: katta, muntazam, oldindan kompilyatsiya qilingan. TPU bu talabni oxirigacha olib boradi (XLA bo'lmasa, ishlamaydi), NPU lar faqat qo'llab-quvvatlanadigan operatorlar bilan ishlaydi, FPGA esa umuman model uchun maxsus quriladi. Demak arxitektura tanlash — bu nafaqat pasport TFLOPS, balki dasturiy stekning shu apparatdan foydalana olish darajasi masalasidir. Shu nuqtai nazardan GPU ning ustunligi texnik emas, ekotizimga bog'liq: CUDA, cuDNN, TensorRT, PyTorch va yuz minglab tayyor yadrolar.</a:t>
            </a:r>
          </a:p>
          <a:p/>
          <a:p>
            <a:r>
              <a:t>Benchmarkning cheklovlari: sintetik tasodifiy ma'lumot (ma'lumot yuklash quvuri o'lchanmadi), bitta jarayon va bitta oqim, sovutish va chastota o'zgarishi (thermal throttling) hisobga olinmadi, CPU da MKL/oneDNN sozlamalari standart qoldirildi. Ishlab chiqarish uchun o'lchov MLPerf Inference metodikasi (so'rovlar generatori, p99 kechikish, quvvat o'lchash) bo'yicha bajarilishi kerak. Muqobil yondashuvlar: torch.compile va TensorRT bilan takrorlash (A3), ONNX Runtime orqali bir xil modelni CPU/GPU/NPU da sinash, Intel Xeon da AMX va oneDNN ni yoqib CPU natijasini qayta o'lchash (BF16 da bir necha baravar o'sish kutiladi).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vaqtini sinxronizatsiyasiz o'lchash. CUDA chaqiruvlari asinxron; torch.cuda.synchronize() yoki CUDA Event larsiz o'lchangan vaqt faqat buyruq yuborish vaqtidir va yuz baravar kam chiqishi mumkin.</a:t>
            </a:r>
          </a:p>
          <a:p/>
          <a:p>
            <a:r>
              <a:t>Isitishsiz (warm-up) o'lchash. Birinchi chaqiruvda cuDNN algoritm tanlaydi, xotira ajratadi, JIT kompilyatsiya bajaradi; bu 10–1000 baravar sekin bo'lishi mumkin. Kamida 3–10 isitish iteratsiyasi majburiy.</a:t>
            </a:r>
          </a:p>
          <a:p/>
          <a:p>
            <a:r>
              <a:t>Siyrak va zich ko'rsatkichlarni aralashtirish. NVIDIA pasportlari ko'pincha 2:4 siyraklik bilan beriladi (H100 FP16: 1 979 siyrak / 989 zich). Taqqoslashda doim zich raqamni oling, agar modelingiz strukturali siyrak bo'lmasa.</a:t>
            </a:r>
          </a:p>
          <a:p/>
          <a:p>
            <a:r>
              <a:t>TF32 ni e'tiborsiz qoldirish. Ampere va undan keyingi GPU larda PyTorch konvolyutsiyalar uchun TF32 ni standart yoqadi, matmul uchun esa yo'q. Natijalar «FP32» deb nomlanib, aslida turli aniqlikda bo'lishi mumkin — rejimni aniq belgilang.</a:t>
            </a:r>
          </a:p>
          <a:p/>
          <a:p>
            <a:r>
              <a:t>Tezlatkichni kichik yuk bilan ta'minlash. batch=1, kichik matritsalar, ko'p mayda yadrolar — GPU imkoniyatining 5–10 % i. Paketlang, yadrolarni birlashtiring (torch.compile, TensorRT), CUDA Graph ishlating.</a:t>
            </a:r>
          </a:p>
          <a:p/>
          <a:p>
            <a:r>
              <a:t>CPU ni «sekin» deb hisoblab, uni sozlamaslik. torch.set_num_threads, oneDNN, AMX/AVX-512, to'g'ri xotira joylashuvi (channels_last) CPU inferensini 2–5 baravar tezlashtiradi; ko'p past yukli xizmatlar uchun bu GPU dan arzon.</a:t>
            </a:r>
          </a:p>
          <a:p/>
          <a:p>
            <a:r>
              <a:t>Xotira o'tkazuvchanligini unutish. Katta paketda ResNet-50 hisoblash bilan, kichik paketda va LLM inferensida xotira bilan cheklanadi. Tezlatkichni tanlashda GB/s ko'rsatkichini modelingizning arifmetik intensivligi bilan solishtiring (M10, Roofline).</a:t>
            </a:r>
          </a:p>
          <a:p/>
          <a:p>
            <a:r>
              <a:t>Platformani ekotizimsiz tanlash. Arzon yoki samarali ko'ringan tezlatkich (noma'lum NPU, FPGA) uchun kompilyator, operatorlar va profiler yetarli bo'lmasa, muhandislik xarajati apparat tejamini yutib yuboradi. Avval dasturiy stekni sinang, keyin apparatni sotib oling.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vaqtini sinxronizatsiyasiz o'lchash. CUDA chaqiruvlari asinxron; torch.cuda.synchronize() yoki CUDA Event larsiz o'lchangan vaqt faqat buyruq yuborish vaqtidir va yuz baravar kam chiqishi mumkin.</a:t>
            </a:r>
          </a:p>
          <a:p/>
          <a:p>
            <a:r>
              <a:t>Isitishsiz (warm-up) o'lchash. Birinchi chaqiruvda cuDNN algoritm tanlaydi, xotira ajratadi, JIT kompilyatsiya bajaradi; bu 10–1000 baravar sekin bo'lishi mumkin. Kamida 3–10 isitish iteratsiyasi majburiy.</a:t>
            </a:r>
          </a:p>
          <a:p/>
          <a:p>
            <a:r>
              <a:t>Siyrak va zich ko'rsatkichlarni aralashtirish. NVIDIA pasportlari ko'pincha 2:4 siyraklik bilan beriladi (H100 FP16: 1 979 siyrak / 989 zich). Taqqoslashda doim zich raqamni oling, agar modelingiz strukturali siyrak bo'lmasa.</a:t>
            </a:r>
          </a:p>
          <a:p/>
          <a:p>
            <a:r>
              <a:t>TF32 ni e'tiborsiz qoldirish. Ampere va undan keyingi GPU larda PyTorch konvolyutsiyalar uchun TF32 ni standart yoqadi, matmul uchun esa yo'q. Natijalar «FP32» deb nomlanib, aslida turli aniqlikda bo'lishi mumkin — rejimni aniq belgilang.</a:t>
            </a:r>
          </a:p>
          <a:p/>
          <a:p>
            <a:r>
              <a:t>Tezlatkichni kichik yuk bilan ta'minlash. batch=1, kichik matritsalar, ko'p mayda yadrolar — GPU imkoniyatining 5–10 % i. Paketlang, yadrolarni birlashtiring (torch.compile, TensorRT), CUDA Graph ishlating.</a:t>
            </a:r>
          </a:p>
          <a:p/>
          <a:p>
            <a:r>
              <a:t>CPU ni «sekin» deb hisoblab, uni sozlamaslik. torch.set_num_threads, oneDNN, AMX/AVX-512, to'g'ri xotira joylashuvi (channels_last) CPU inferensini 2–5 baravar tezlashtiradi; ko'p past yukli xizmatlar uchun bu GPU dan arzon.</a:t>
            </a:r>
          </a:p>
          <a:p/>
          <a:p>
            <a:r>
              <a:t>Xotira o'tkazuvchanligini unutish. Katta paketda ResNet-50 hisoblash bilan, kichik paketda va LLM inferensida xotira bilan cheklanadi. Tezlatkichni tanlashda GB/s ko'rsatkichini modelingizning arifmetik intensivligi bilan solishtiring (M10, Roofline).</a:t>
            </a:r>
          </a:p>
          <a:p/>
          <a:p>
            <a:r>
              <a:t>Platformani ekotizimsiz tanlash. Arzon yoki samarali ko'ringan tezlatkich (noma'lum NPU, FPGA) uchun kompilyator, operatorlar va profiler yetarli bo'lmasa, muhandislik xarajati apparat tejamini yutib yuboradi. Avval dasturiy stekni sinang, keyin apparatni sotib oling.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«kechikishga», GPU esa «o'tkazuvchanlikka» optimallashtirilgan deyiladi. Bu farq kristall maydoni taqsimotida va xotira kechikishini yashirish mexanizmida qanday namoyon bo'ladi?</a:t>
            </a:r>
          </a:p>
          <a:p/>
          <a:p>
            <a:r>
              <a:t>Sistolik massivda har bir MAC bloki natijani faqat qo'shnisiga uzatadi. Bu loyihalash qarori energiya sarfi va dasturlash modeliga qanday ta'sir qiladi? Qanday yuklarda sistolik massiv samarasiz bo'ladi?</a:t>
            </a:r>
          </a:p>
          <a:p/>
          <a:p>
            <a:r>
              <a:t>Nega A100 da FP32 dan FP16 ga o'tish matmul unumdorligini 15 baravar, ResNet-50 unumdorligini esa faqat 2–3 baravar oshirdi? Bu farqdan qanday amaliy xulosa chiqadi?</a:t>
            </a:r>
          </a:p>
          <a:p/>
          <a:p>
            <a:r>
              <a:t>Intel AMX bilan Xeon protsessori 200 TOPS dan ortiq INT8 unumdorlik beradi. Shunga qaramay nega katta modellar uchun GPU afzal qolmoqda? Qaysi yuklarda AMX li CPU GPU dan iqtisodiy jihatdan ustun bo'ladi?</a:t>
            </a:r>
          </a:p>
          <a:p/>
          <a:p>
            <a:r>
              <a:t>FPGA bir xil texnologik jarayonda ASIC dan 5–10 baravar kam samarali. Qanday sharoitlarda FPGA baribir to'g'ri tanlov bo'ladi? Uchta aniq sanoat holatini keltiring.</a:t>
            </a:r>
          </a:p>
          <a:p/>
          <a:p>
            <a:r>
              <a:t>NVIDIA GH200 da CPU va GPU NVLink-C2C orqali 900 GB/s bilan bog'langan. PCIe 5.0 x16 bilan taqqoslaganda bu qaysi turdagi yuklarda (misol bilan) tub farq beradi va qaysilarida bermaydi?</a:t>
            </a:r>
          </a:p>
          <a:p/>
          <a:p>
            <a:r>
              <a:t>DGX H100 ichidagi GPU lar 900 GB/s NVLink bilan, serverlar esa 400 Gbit/s InfiniBand bilan ulangan. Bu 70 baravar farq taqsimlangan o'qitish algoritmini loyihalashga qanday ta'sir qiladi?</a:t>
            </a:r>
          </a:p>
          <a:p/>
          <a:p>
            <a:r>
              <a:t>«El Capitan 1,74 eksaflops» va «xAI Colossus 100 000 H100» ko'rsatkichlarini bevosita taqqoslash mumkinmi? Qaysi aniqlik va qaysi benchmark nazarda tutilishini aniqlashtiring.</a:t>
            </a:r>
          </a:p>
          <a:p/>
          <a:p>
            <a:r>
              <a:t>Geterogen tizimda tezlatkich ma'lumot kutib bo'sh turishini qanday aniqlaysiz va uni bartaraf etishning kamida uchta usulini taklif qiling.</a:t>
            </a:r>
          </a:p>
          <a:p/>
          <a:p>
            <a:r>
              <a:t>Amaliy misoldagi torch.cuda.synchronize() ni olib tashlasak natija qanday o'zgaradi va nima uchun? Bu xato ishlab chiqarish tizimida qanday noto'g'ri qarorlarga olib kelishi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«kechikishga», GPU esa «o'tkazuvchanlikka» optimallashtirilgan deyiladi. Bu farq kristall maydoni taqsimotida va xotira kechikishini yashirish mexanizmida qanday namoyon bo'ladi?</a:t>
            </a:r>
          </a:p>
          <a:p/>
          <a:p>
            <a:r>
              <a:t>Sistolik massivda har bir MAC bloki natijani faqat qo'shnisiga uzatadi. Bu loyihalash qarori energiya sarfi va dasturlash modeliga qanday ta'sir qiladi? Qanday yuklarda sistolik massiv samarasiz bo'ladi?</a:t>
            </a:r>
          </a:p>
          <a:p/>
          <a:p>
            <a:r>
              <a:t>Nega A100 da FP32 dan FP16 ga o'tish matmul unumdorligini 15 baravar, ResNet-50 unumdorligini esa faqat 2–3 baravar oshirdi? Bu farqdan qanday amaliy xulosa chiqadi?</a:t>
            </a:r>
          </a:p>
          <a:p/>
          <a:p>
            <a:r>
              <a:t>Intel AMX bilan Xeon protsessori 200 TOPS dan ortiq INT8 unumdorlik beradi. Shunga qaramay nega katta modellar uchun GPU afzal qolmoqda? Qaysi yuklarda AMX li CPU GPU dan iqtisodiy jihatdan ustun bo'ladi?</a:t>
            </a:r>
          </a:p>
          <a:p/>
          <a:p>
            <a:r>
              <a:t>FPGA bir xil texnologik jarayonda ASIC dan 5–10 baravar kam samarali. Qanday sharoitlarda FPGA baribir to'g'ri tanlov bo'ladi? Uchta aniq sanoat holatini keltiring.</a:t>
            </a:r>
          </a:p>
          <a:p/>
          <a:p>
            <a:r>
              <a:t>NVIDIA GH200 da CPU va GPU NVLink-C2C orqali 900 GB/s bilan bog'langan. PCIe 5.0 x16 bilan taqqoslaganda bu qaysi turdagi yuklarda (misol bilan) tub farq beradi va qaysilarida bermaydi?</a:t>
            </a:r>
          </a:p>
          <a:p/>
          <a:p>
            <a:r>
              <a:t>DGX H100 ichidagi GPU lar 900 GB/s NVLink bilan, serverlar esa 400 Gbit/s InfiniBand bilan ulangan. Bu 70 baravar farq taqsimlangan o'qitish algoritmini loyihalashga qanday ta'sir qiladi?</a:t>
            </a:r>
          </a:p>
          <a:p/>
          <a:p>
            <a:r>
              <a:t>«El Capitan 1,74 eksaflops» va «xAI Colossus 100 000 H100» ko'rsatkichlarini bevosita taqqoslash mumkinmi? Qaysi aniqlik va qaysi benchmark nazarda tutilishini aniqlashtiring.</a:t>
            </a:r>
          </a:p>
          <a:p/>
          <a:p>
            <a:r>
              <a:t>Geterogen tizimda tezlatkich ma'lumot kutib bo'sh turishini qanday aniqlaysiz va uni bartaraf etishning kamida uchta usulini taklif qiling.</a:t>
            </a:r>
          </a:p>
          <a:p/>
          <a:p>
            <a:r>
              <a:t>Amaliy misoldagi torch.cuda.synchronize() ni olib tashlasak natija qanday o'zgaradi va nima uchun? Bu xato ishlab chiqarish tizimida qanday noto'g'ri qarorlarga olib kelishi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1-topshiriq (sillabusdagi 3-mustaqil ta'lim topshirig'iga bog'langan). CPU, GPU, TPU, NPU va FPGA sinflaridan har biri uchun bittadan aniq zamonaviy mahsulot tanlang (masalan, AMD EPYC 9654, NVIDIA H100, Google TPU v5e, Qualcomm Hexagon yoki Intel NPU, AMD Versal AI Core). Ishlab chiqaruvchilarning rasmiy hujjatlariga tayanib qiyosiy jadval tuzing: texnologik jarayon, hisoblash bloklari soni, zich FP16/BF16 va INT8 unumdorligi, xotira turi/hajmi/o'tkazuvchanligi, TDP, vatt boshiga TOPS, dasturiy stek. So'ng uchta turli ilova (chekka video-analitika, bulutli LLM inferensi, real vaqtli sanoat nazorati) uchun eng mos arxitekturani tanlab, har bir tanlovni kamida ikkita miqdoriy argument bilan asoslang. Hajm 5–7 bet.</a:t>
            </a:r>
          </a:p>
          <a:p/>
          <a:p>
            <a:r>
              <a:t>Baholash mezoni: ko'rsatkichlarning to'g'ri va solishtirma shartda (zich/siyrak, bir xil aniqlik) keltirilishi (35 %), arxitekturaviy farqlarning tushuntirilishi (25 %), ilovaga mos tanlovning asoslanishi (25 %), manbalar sifati (15 %).</a:t>
            </a:r>
          </a:p>
          <a:p/>
          <a:p>
            <a:r>
              <a:t>2-topshiriq (amaliy). Ma'ruzadagi uchta benchmark skriptini mavjud apparatingizda (kamida CPU; imkon bo'lsa Google Colab T4 yoki boshqa GPU) bajaring. Natijalarni jadvalga kiriting, har bir konfiguratsiya uchun η ni hisoblang va quyidagilarni tushuntiring: (a) n o'sishi bilan TFLOPS qanday o'zgardi va nima uchun; (b) batch=1 va batch=32 da kechikish/o'tkazuvchanlik savdolashuvi; (c) torch.set_num_threads ni 1, yadrolar soni/2 va yadrolar soniga o'rnatganda CPU natijasi qanday o'zgardi. Hisobot 3–4 bet.</a:t>
            </a:r>
          </a:p>
          <a:p/>
          <a:p>
            <a:r>
              <a:t>Baholash mezoni: o'lchov metodikasining to'g'riligi (sinxronizatsiya, isitish, takrorlash) (40 %), η hisobining to'g'riligi (20 %), kuzatuvlarning arxitektura nazariyasi bilan bog'lanishi (40 %).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 4-bob (ma'lumot darajasidagi parallellik: vektor, SIMD, GPU), 7-bob (sohaga xos arxitekturalar, TPU).</a:t>
            </a:r>
          </a:p>
          <a:p/>
          <a:p>
            <a:r>
              <a:t>[4] Sze, V., Chen, Y.-H., Yang, T.-J., &amp; Emer, J. S. Efficient Processing of Deep Neural Networks: A Tutorial and Survey. Morgan &amp; Claypool, 2020. — 4–6-boblar (yadro hisoblash, ma'lumot oqimi, apparat loyihalash).</a:t>
            </a:r>
          </a:p>
          <a:p/>
          <a:p>
            <a:r>
              <a:t>[5] Kirk, D. B., &amp; Hwu, W.-M. W. Programming Massively Parallel Processors: A Hands-on Approach. 4th Edition. Morgan Kaufmann, 2022. — 1–4-boblar (GPU arxitekturasi, SIMT, xotira iyerarxiyasi).</a:t>
            </a:r>
          </a:p>
          <a:p/>
          <a:p>
            <a:r>
              <a:t>[6] NVIDIA Developer Portal — https://developer.nvidia.com (H100/A100 arxitektura hujjatlari, DGX tizimlari, CUDA).</a:t>
            </a:r>
          </a:p>
          <a:p/>
          <a:p>
            <a:r>
              <a:t>[7] PyTorch rasmiy hujjatlari — https://pytorch.org (CUDA semantikasi, benchmark, aniqlik rejimlari).</a:t>
            </a:r>
          </a:p>
          <a:p/>
          <a:p>
            <a:r>
              <a:t>[8] TensorFlow rasmiy hujjatlari — https://www.tensorflow.org (TPU bilan ishlash, XLA).</a:t>
            </a:r>
          </a:p>
          <a:p/>
          <a:p>
            <a:r>
              <a:t>Jouppi, N. P., Young, C., Patil, N., et al. In-Datacenter Performance Analysis of a Tensor Processing Unit. Proceedings of the 44th International Symposium on Computer Architecture (ISCA 2017), ACM.</a:t>
            </a:r>
          </a:p>
          <a:p/>
          <a:p>
            <a:r>
              <a:t>Hennessy, J. L., &amp; Patterson, D. A. A New Golden Age for Computer Architecture. Communications of the ACM, 62(2), 2019.</a:t>
            </a:r>
          </a:p>
          <a:p/>
          <a:p>
            <a:r>
              <a:t>Google Cloud TPU hujjatlari — https://cloud.google.com/tpu/docs.</a:t>
            </a:r>
          </a:p>
          <a:p/>
          <a:p>
            <a:r>
              <a:t>TOP500 superkompyuterlar ro'yxati — https://www.top500.org.</a:t>
            </a:r>
          </a:p>
          <a:p/>
          <a:p>
            <a:r>
              <a:t>MLCommons MLPerf Inference va Training natijalari — https://mlcommons.org.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Hennessy, J. L., &amp; Patterson, D. A. Computer Architecture: A Quantitative Approach. 7th Edition. Morgan Kaufmann, 2024. — 4-bob (ma'lumot darajasidagi parallellik: vektor, SIMD, GPU), 7-bob (sohaga xos arxitekturalar, TPU).</a:t>
            </a:r>
          </a:p>
          <a:p/>
          <a:p>
            <a:r>
              <a:t>[4] Sze, V., Chen, Y.-H., Yang, T.-J., &amp; Emer, J. S. Efficient Processing of Deep Neural Networks: A Tutorial and Survey. Morgan &amp; Claypool, 2020. — 4–6-boblar (yadro hisoblash, ma'lumot oqimi, apparat loyihalash).</a:t>
            </a:r>
          </a:p>
          <a:p/>
          <a:p>
            <a:r>
              <a:t>[5] Kirk, D. B., &amp; Hwu, W.-M. W. Programming Massively Parallel Processors: A Hands-on Approach. 4th Edition. Morgan Kaufmann, 2022. — 1–4-boblar (GPU arxitekturasi, SIMT, xotira iyerarxiyasi).</a:t>
            </a:r>
          </a:p>
          <a:p/>
          <a:p>
            <a:r>
              <a:t>[6] NVIDIA Developer Portal — https://developer.nvidia.com (H100/A100 arxitektura hujjatlari, DGX tizimlari, CUDA).</a:t>
            </a:r>
          </a:p>
          <a:p/>
          <a:p>
            <a:r>
              <a:t>[7] PyTorch rasmiy hujjatlari — https://pytorch.org (CUDA semantikasi, benchmark, aniqlik rejimlari).</a:t>
            </a:r>
          </a:p>
          <a:p/>
          <a:p>
            <a:r>
              <a:t>[8] TensorFlow rasmiy hujjatlari — https://www.tensorflow.org (TPU bilan ishlash, XLA).</a:t>
            </a:r>
          </a:p>
          <a:p/>
          <a:p>
            <a:r>
              <a:t>Jouppi, N. P., Young, C., Patil, N., et al. In-Datacenter Performance Analysis of a Tensor Processing Unit. Proceedings of the 44th International Symposium on Computer Architecture (ISCA 2017), ACM.</a:t>
            </a:r>
          </a:p>
          <a:p/>
          <a:p>
            <a:r>
              <a:t>Hennessy, J. L., &amp; Patterson, D. A. A New Golden Age for Computer Architecture. Communications of the ACM, 62(2), 2019.</a:t>
            </a:r>
          </a:p>
          <a:p/>
          <a:p>
            <a:r>
              <a:t>Google Cloud TPU hujjatlari — https://cloud.google.com/tpu/docs.</a:t>
            </a:r>
          </a:p>
          <a:p/>
          <a:p>
            <a:r>
              <a:t>TOP500 superkompyuterlar ro'yxati — https://www.top500.org.</a:t>
            </a:r>
          </a:p>
          <a:p/>
          <a:p>
            <a:r>
              <a:t>MLCommons MLPerf Inference va Training natijalari — https://mlcommons.org.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00000"/>
            <a:ext cx="12192000" cy="6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700000"/>
            <a:ext cx="108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5" name="TextBox 4"/>
          <p:cNvSpPr txBox="1"/>
          <p:nvPr/>
        </p:nvSpPr>
        <p:spPr>
          <a:xfrm>
            <a:off x="700000" y="1350000"/>
            <a:ext cx="10800000" cy="500000"/>
          </a:xfrm>
          <a:prstGeom prst="rect">
            <a:avLst/>
          </a:prstGeom>
          <a:noFill/>
        </p:spPr>
        <p:txBody>
          <a:bodyPr wrap="square" anchor="t" lIns="50800" rIns="50800">
            <a:spAutoFit/>
          </a:bodyPr>
          <a:lstStyle/>
          <a:p>
            <a:pPr algn="l"/>
            <a:r>
              <a:rPr sz="1600" b="1">
                <a:solidFill>
                  <a:srgbClr val="7FD6D7"/>
                </a:solidFill>
                <a:latin typeface="Calibri"/>
              </a:rPr>
              <a:t>MA'RUZA · M2 · 2 soat</a:t>
            </a:r>
          </a:p>
        </p:txBody>
      </p:sp>
      <p:sp>
        <p:nvSpPr>
          <p:cNvPr id="6" name="TextBox 5"/>
          <p:cNvSpPr txBox="1"/>
          <p:nvPr/>
        </p:nvSpPr>
        <p:spPr>
          <a:xfrm>
            <a:off x="700000" y="1950000"/>
            <a:ext cx="10800000" cy="2500000"/>
          </a:xfrm>
          <a:prstGeom prst="rect">
            <a:avLst/>
          </a:prstGeom>
          <a:noFill/>
        </p:spPr>
        <p:txBody>
          <a:bodyPr wrap="square" anchor="t" lIns="50800" rIns="50800">
            <a:spAutoFit/>
          </a:bodyPr>
          <a:lstStyle/>
          <a:p>
            <a:pPr algn="l"/>
            <a:r>
              <a:rPr sz="3800" b="1">
                <a:solidFill>
                  <a:srgbClr val="FFFFFF"/>
                </a:solidFill>
                <a:latin typeface="Calibri"/>
              </a:rPr>
              <a:t>Sun'iy intellekt tizimlari uchun zamonaviy kompyuter arxitekturalari</a:t>
            </a:r>
          </a:p>
        </p:txBody>
      </p:sp>
      <p:sp>
        <p:nvSpPr>
          <p:cNvPr id="7" name="TextBox 6"/>
          <p:cNvSpPr txBox="1"/>
          <p:nvPr/>
        </p:nvSpPr>
        <p:spPr>
          <a:xfrm>
            <a:off x="700000" y="4950000"/>
            <a:ext cx="108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Mavzuning maqsadi va o'rganish natijalari</a:t>
            </a:r>
          </a:p>
          <a:p>
            <a:pPr>
              <a:spcAft>
                <a:spcPts val="900"/>
              </a:spcAft>
            </a:pPr>
            <a:r>
              <a:rPr sz="2000" b="1">
                <a:solidFill>
                  <a:srgbClr val="0F8B8D"/>
                </a:solidFill>
              </a:rPr>
              <a:t>▪  </a:t>
            </a:r>
            <a:r>
              <a:rPr sz="2000">
                <a:solidFill>
                  <a:srgbClr val="1B2430"/>
                </a:solidFill>
                <a:latin typeface="Calibri"/>
              </a:rPr>
              <a:t>Kirish</a:t>
            </a:r>
          </a:p>
          <a:p>
            <a:pPr>
              <a:spcAft>
                <a:spcPts val="900"/>
              </a:spcAft>
            </a:pPr>
            <a:r>
              <a:rPr sz="2000" b="1">
                <a:solidFill>
                  <a:srgbClr val="0F8B8D"/>
                </a:solidFill>
              </a:rPr>
              <a:t>▪  </a:t>
            </a:r>
            <a:r>
              <a:rPr sz="2000">
                <a:solidFill>
                  <a:srgbClr val="1B2430"/>
                </a:solidFill>
                <a:latin typeface="Calibri"/>
              </a:rPr>
              <a:t>Nazariy asoslar</a:t>
            </a:r>
          </a:p>
          <a:p>
            <a:pPr>
              <a:spcAft>
                <a:spcPts val="900"/>
              </a:spcAft>
            </a:pPr>
            <a:r>
              <a:rPr sz="2000" b="1">
                <a:solidFill>
                  <a:srgbClr val="0F8B8D"/>
                </a:solidFill>
              </a:rPr>
              <a:t>▪  </a:t>
            </a:r>
            <a:r>
              <a:rPr sz="2000">
                <a:solidFill>
                  <a:srgbClr val="1B2430"/>
                </a:solidFill>
                <a:latin typeface="Calibri"/>
              </a:rPr>
              <a:t>Amaliy misol</a:t>
            </a:r>
          </a:p>
          <a:p>
            <a:pPr>
              <a:spcAft>
                <a:spcPts val="900"/>
              </a:spcAft>
            </a:pPr>
            <a:r>
              <a:rPr sz="2000" b="1">
                <a:solidFill>
                  <a:srgbClr val="0F8B8D"/>
                </a:solidFill>
              </a:rPr>
              <a:t>▪  </a:t>
            </a:r>
            <a:r>
              <a:rPr sz="2000">
                <a:solidFill>
                  <a:srgbClr val="1B2430"/>
                </a:solidFill>
                <a:latin typeface="Calibri"/>
              </a:rPr>
              <a:t>Natijalarni tahlil qilish</a:t>
            </a:r>
          </a:p>
          <a:p>
            <a:pPr>
              <a:spcAft>
                <a:spcPts val="900"/>
              </a:spcAft>
            </a:pPr>
            <a:r>
              <a:rPr sz="2000" b="1">
                <a:solidFill>
                  <a:srgbClr val="0F8B8D"/>
                </a:solidFill>
              </a:rPr>
              <a:t>▪  </a:t>
            </a:r>
            <a:r>
              <a:rPr sz="2000">
                <a:solidFill>
                  <a:srgbClr val="1B2430"/>
                </a:solidFill>
                <a:latin typeface="Calibri"/>
              </a:rPr>
              <a:t>Keng tarqalgan xatolar va amaliy tavsiyalar</a:t>
            </a:r>
          </a:p>
          <a:p>
            <a:pPr>
              <a:spcAft>
                <a:spcPts val="900"/>
              </a:spcAft>
            </a:pPr>
            <a:r>
              <a:rPr sz="2000" b="1">
                <a:solidFill>
                  <a:srgbClr val="0F8B8D"/>
                </a:solidFill>
              </a:rPr>
              <a:t>▪  </a:t>
            </a:r>
            <a:r>
              <a:rPr sz="2000">
                <a:solidFill>
                  <a:srgbClr val="1B2430"/>
                </a:solidFill>
                <a:latin typeface="Calibri"/>
              </a:rPr>
              <a:t>Nazorat savollari</a:t>
            </a:r>
          </a:p>
          <a:p>
            <a:pPr>
              <a:spcAft>
                <a:spcPts val="900"/>
              </a:spcAft>
            </a:pPr>
            <a:r>
              <a:rPr sz="2000" b="1">
                <a:solidFill>
                  <a:srgbClr val="0F8B8D"/>
                </a:solidFill>
              </a:rPr>
              <a:t>▪  </a:t>
            </a:r>
            <a:r>
              <a:rPr sz="2000">
                <a:solidFill>
                  <a:srgbClr val="1B2430"/>
                </a:solidFill>
                <a:latin typeface="Calibri"/>
              </a:rPr>
              <a:t>Mustaqil ish uchun topshiriq</a:t>
            </a:r>
          </a:p>
          <a:p>
            <a:pPr>
              <a:spcAft>
                <a:spcPts val="900"/>
              </a:spcAft>
            </a:pPr>
            <a:r>
              <a:rPr sz="2000" b="1">
                <a:solidFill>
                  <a:srgbClr val="0F8B8D"/>
                </a:solidFill>
              </a:rPr>
              <a:t>▪  </a:t>
            </a:r>
            <a:r>
              <a:rPr sz="2000">
                <a:solidFill>
                  <a:srgbClr val="1B2430"/>
                </a:solidFill>
                <a:latin typeface="Calibri"/>
              </a:rPr>
              <a:t>Foydalanilgan manbalar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Mavzuning maqsadi — sun'iy intellekt yuklarini bajaruvchi asosiy protsessor sinflarining ichki tuzilishini, ularning kuchli va zaif tomonlarini hamda ularni bitta geterogen tizimga…</a:t>
            </a:r>
          </a:p>
          <a:p>
            <a:pPr>
              <a:spcAft>
                <a:spcPts val="900"/>
              </a:spcAft>
            </a:pPr>
            <a:r>
              <a:rPr sz="1600" b="1">
                <a:solidFill>
                  <a:srgbClr val="0F8B8D"/>
                </a:solidFill>
              </a:rPr>
              <a:t>▪  </a:t>
            </a:r>
            <a:r>
              <a:rPr sz="1600">
                <a:solidFill>
                  <a:srgbClr val="1B2430"/>
                </a:solidFill>
                <a:latin typeface="Calibri"/>
              </a:rPr>
              <a:t>CPU, GPU, TPU, NPU va FPGA arxitekturalarining asosiy tuzilmaviy farqlarini (boshqaruv mantig'i, hisoblash bloklari, xotira iyerarxiyasi, parallellik modeli) tushuntira oladi;</a:t>
            </a:r>
          </a:p>
          <a:p>
            <a:pPr>
              <a:spcAft>
                <a:spcPts val="900"/>
              </a:spcAft>
            </a:pPr>
            <a:r>
              <a:rPr sz="1600" b="1">
                <a:solidFill>
                  <a:srgbClr val="0F8B8D"/>
                </a:solidFill>
              </a:rPr>
              <a:t>▪  </a:t>
            </a:r>
            <a:r>
              <a:rPr sz="1600">
                <a:solidFill>
                  <a:srgbClr val="1B2430"/>
                </a:solidFill>
                <a:latin typeface="Calibri"/>
              </a:rPr>
              <a:t>Tezlatkichning (accelerator) ichki tuzilishini — matritsali ko'paytirish bloklari, sistolik massiv (systolic array), on-chip xotira, ma'lumot oqimi — tavsiflay oladi va nega u umumiy…</a:t>
            </a:r>
          </a:p>
          <a:p>
            <a:pPr>
              <a:spcAft>
                <a:spcPts val="900"/>
              </a:spcAft>
            </a:pPr>
            <a:r>
              <a:rPr sz="1600" b="1">
                <a:solidFill>
                  <a:srgbClr val="0F8B8D"/>
                </a:solidFill>
              </a:rPr>
              <a:t>▪  </a:t>
            </a:r>
            <a:r>
              <a:rPr sz="1600">
                <a:solidFill>
                  <a:srgbClr val="1B2430"/>
                </a:solidFill>
                <a:latin typeface="Calibri"/>
              </a:rPr>
              <a:t>Geterogen hisoblash tizimida xost va tezlatkich o'rtasidagi vazifalar taqsimoti, ulanish shinalari (PCIe, NVLink, NVLink-C2C) va birlashgan xotira tushunchalarini qo'llay oladi;</a:t>
            </a:r>
          </a:p>
          <a:p>
            <a:pPr>
              <a:spcAft>
                <a:spcPts val="900"/>
              </a:spcAft>
            </a:pPr>
            <a:r>
              <a:rPr sz="1600" b="1">
                <a:solidFill>
                  <a:srgbClr val="0F8B8D"/>
                </a:solidFill>
              </a:rPr>
              <a:t>▪  </a:t>
            </a:r>
            <a:r>
              <a:rPr sz="1600">
                <a:solidFill>
                  <a:srgbClr val="1B2430"/>
                </a:solidFill>
                <a:latin typeface="Calibri"/>
              </a:rPr>
              <a:t>Ko'p yadroli, ko'p protsessorli va ko'p tezlatkichli platformalarning (ikki soketli server, DGX, SuperPOD, superkompyuter) tashkil etilish tamoyillarini va masshtablash chegaralarini tahlil…</a:t>
            </a:r>
          </a:p>
          <a:p>
            <a:pPr>
              <a:spcAft>
                <a:spcPts val="900"/>
              </a:spcAft>
            </a:pPr>
            <a:r>
              <a:rPr sz="1600" b="1">
                <a:solidFill>
                  <a:srgbClr val="0F8B8D"/>
                </a:solidFill>
              </a:rPr>
              <a:t>▪  </a:t>
            </a:r>
            <a:r>
              <a:rPr sz="1600">
                <a:solidFill>
                  <a:srgbClr val="1B2430"/>
                </a:solidFill>
                <a:latin typeface="Calibri"/>
              </a:rPr>
              <a:t>PyTorch yordamida CPU va GPU unumdorligini turli aniqlik rejimlarida o'lchab, natijalarni pasport ko'rsatkichlari bilan taqqoslaydi.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Mavzu fanning TN1 (AI-enabled arxitekturalar va apparat–dasturiy integratsiya) va TN3 (AI tezlatkichlaridan samarali foydalanish) ta'lim natijalariga xizmat qiladi, shuningdek TN6…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Neyron tarmoqning asosiy hisoblash amali — matritsalarni ko'paytirish. Transformer qatlamidagi diqqat mexanizmi, konvolyutsiya qatlami (im2col orqali) va to'liq bog'langan qatlam — barchasi oxir-oqibat C = A × B ko'rinishiga keltiriladi.</a:t>
            </a:r>
          </a:p>
          <a:p>
            <a:pPr>
              <a:spcAft>
                <a:spcPts val="900"/>
              </a:spcAft>
            </a:pPr>
            <a:r>
              <a:rPr sz="1800" b="1">
                <a:solidFill>
                  <a:srgbClr val="0F8B8D"/>
                </a:solidFill>
              </a:rPr>
              <a:t>▪  </a:t>
            </a:r>
            <a:r>
              <a:rPr sz="1800">
                <a:solidFill>
                  <a:srgbClr val="1B2430"/>
                </a:solidFill>
                <a:latin typeface="Calibri"/>
              </a:rPr>
              <a:t>Shu nomuvofiqlik 2010-yillarda neyron tarmoqlarning qayta tug'ilishiga sabab bo'lgan GPU ga yo'l ochdi: 2012-yilgi AlexNet ikki NVIDIA GTX 580 da o'qitilgan edi. Keyin Google 2015-yilda ma'lumotlar markazlarida TPU ni joriy etdi — bu to'liq ixtisoslashgan…</a:t>
            </a:r>
          </a:p>
          <a:p>
            <a:pPr>
              <a:spcAft>
                <a:spcPts val="900"/>
              </a:spcAft>
            </a:pPr>
            <a:r>
              <a:rPr sz="1800" b="1">
                <a:solidFill>
                  <a:srgbClr val="0F8B8D"/>
                </a:solidFill>
              </a:rPr>
              <a:t>▪  </a:t>
            </a:r>
            <a:r>
              <a:rPr sz="1800">
                <a:solidFill>
                  <a:srgbClr val="1B2430"/>
                </a:solidFill>
                <a:latin typeface="Calibri"/>
              </a:rPr>
              <a:t>Bugungi muhandis oldida, demak, beshta turdagi protsessor va ularning son-sanoqsiz kombinatsiyasi turibdi. Bitta serverda 2 ta CPU, 8 ta GPU, tarmoq kartalarida DPU (Data Processing Unit) va ehtimol FPGA bo'lishi mumkin.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CPU: kechikishga optimallashtirilgan arxitektura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Zamonaviy server CPU si (masalan, AMD EPYC 9004 «Genoa» 96 yadroli yoki Intel Xeon 4-avlod «Sapphire Rapids» 60 yadroli) — bu kechikishni (latency) minimallashtirishga qaratilgan mashina. Har bir yadro superskalyar bo'lib, bir taktda 4–6 buyruqni dekodlaydi,…</a:t>
            </a:r>
          </a:p>
          <a:p>
            <a:pPr>
              <a:spcAft>
                <a:spcPts val="900"/>
              </a:spcAft>
            </a:pPr>
            <a:r>
              <a:rPr sz="1600" b="1">
                <a:solidFill>
                  <a:srgbClr val="0F8B8D"/>
                </a:solidFill>
              </a:rPr>
              <a:t>▪  </a:t>
            </a:r>
            <a:r>
              <a:rPr sz="1600">
                <a:solidFill>
                  <a:srgbClr val="1B2430"/>
                </a:solidFill>
                <a:latin typeface="Calibri"/>
              </a:rPr>
              <a:t>CPU da SI yukini tezlashtirishning asosiy vositasi — SIMD (Single Instruction, Multiple Data) kengaytmalari: AVX2 (256 bit, 8 ta FP32), AVX-512 (512 bit, 16 ta FP32) va ARM da SVE/SVE2. Yangi Intel Xeon larda AMX (Advanced Matrix Extensions) bloki qo'shilgan…</a:t>
            </a:r>
          </a:p>
          <a:p>
            <a:pPr>
              <a:spcAft>
                <a:spcPts val="900"/>
              </a:spcAft>
            </a:pPr>
            <a:r>
              <a:rPr sz="1600" b="1">
                <a:solidFill>
                  <a:srgbClr val="0F8B8D"/>
                </a:solidFill>
              </a:rPr>
              <a:t>▪  </a:t>
            </a:r>
            <a:r>
              <a:rPr sz="1600">
                <a:solidFill>
                  <a:srgbClr val="1B2430"/>
                </a:solidFill>
                <a:latin typeface="Calibri"/>
              </a:rPr>
              <a:t>CPU ning SI tizimidagi o'rni shunga qaramay muhim: u ma'lumotni yuklaydi va oldindan ishlov beradi, tezlatkichlarni boshqaradi, kichik modellar va past yukdagi inferensni bajaradi, tavsiya tizimlarida embedding jadvallarini qidiradi (xotira sig'imi muhim…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GPU: o'tkazuvchanlikka optimallashtirilgan arxitektura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GPU qarama-qarshi falsafaga asoslangan: kechikishni yashirish uchun murakkab boshqaruv o'rniga minglab oddiy oqimlar (thread) ishlatiladi; bir oqim xotira kutayotganda boshqasi hisoblaydi.</a:t>
            </a:r>
          </a:p>
          <a:p>
            <a:pPr>
              <a:spcAft>
                <a:spcPts val="900"/>
              </a:spcAft>
            </a:pPr>
            <a:r>
              <a:rPr sz="1800" b="1">
                <a:solidFill>
                  <a:srgbClr val="0F8B8D"/>
                </a:solidFill>
              </a:rPr>
              <a:t>▪  </a:t>
            </a:r>
            <a:r>
              <a:rPr sz="1800">
                <a:solidFill>
                  <a:srgbClr val="1B2430"/>
                </a:solidFill>
                <a:latin typeface="Calibri"/>
              </a:rPr>
              <a:t>GPU ning tuzilmaviy birligi — oqimli multiprotsessor (Streaming Multiprocessor, SM).</a:t>
            </a:r>
          </a:p>
          <a:p>
            <a:pPr>
              <a:spcAft>
                <a:spcPts val="900"/>
              </a:spcAft>
            </a:pPr>
            <a:r>
              <a:rPr sz="1800" b="1">
                <a:solidFill>
                  <a:srgbClr val="0F8B8D"/>
                </a:solidFill>
              </a:rPr>
              <a:t>▪  </a:t>
            </a:r>
            <a:r>
              <a:rPr sz="1800">
                <a:solidFill>
                  <a:srgbClr val="1B2430"/>
                </a:solidFill>
                <a:latin typeface="Calibri"/>
              </a:rPr>
              <a:t>Tensor Core — GPU ichidagi ixtisoslashgan matritsa bloki (M4 da batafsil): bir taktda kichik matritsa fragmentini (masalan 4×4×4 yoki undan katta) aralash aniqlikda (FP16/BF16 kirish, FP32…</a:t>
            </a:r>
          </a:p>
          <a:p>
            <a:pPr>
              <a:spcAft>
                <a:spcPts val="900"/>
              </a:spcAft>
            </a:pPr>
            <a:r>
              <a:rPr sz="1800" b="1">
                <a:solidFill>
                  <a:srgbClr val="0F8B8D"/>
                </a:solidFill>
              </a:rPr>
              <a:t>▪  </a:t>
            </a:r>
            <a:r>
              <a:rPr sz="1800">
                <a:solidFill>
                  <a:srgbClr val="1B2430"/>
                </a:solidFill>
                <a:latin typeface="Calibri"/>
              </a:rPr>
              <a:t>GPU ning yana bir asosiy xususiyati — xotira iyerarxiyasi dasturchiga ochiq: registrlar, umumiy xotira (shared memory, dasturchi boshqaradigan kesh), L2 va global HBM.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TPU va sistolik massiv</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Google TPU (Tensor Processing Unit) — neyron tarmoq uchun noldan loyihalangan ASIC. Jouppi va hammualliflarning 2017-yilgi ISCA maqolasida tavsiflangan birinchi avlod TPU ning yuragi 256×256 li sistolik massiv (systolic array) edi: 65 536 ta 8-bitli MAC bloki…</a:t>
            </a:r>
          </a:p>
          <a:p>
            <a:pPr>
              <a:spcAft>
                <a:spcPts val="900"/>
              </a:spcAft>
            </a:pPr>
            <a:r>
              <a:rPr sz="2000" b="1">
                <a:solidFill>
                  <a:srgbClr val="0F8B8D"/>
                </a:solidFill>
              </a:rPr>
              <a:t>▪  </a:t>
            </a:r>
            <a:r>
              <a:rPr sz="2000">
                <a:solidFill>
                  <a:srgbClr val="1B2430"/>
                </a:solidFill>
                <a:latin typeface="Calibri"/>
              </a:rPr>
              <a:t>Keyingi avlodlar o'qitish uchun BF16 qo'llab-quvvatlashi, HBM xotira va chiplararo tarmoq (Inter-Core Interconnect, ICI) qo'shdi. TPU v4 chipi ikkita TensorCore, har birida to'rtta 128×128 li MXU (matritsa bloki) ga ega bo'lib, 275 TFLOPS BF16 beradi; 4 096…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NPU: chekka va iste'mol qurilmalaridagi tezlatkichlar</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NPU (Neural Processing Unit) — umumiy nom bo'lib, tizim-kristal (SoC) tarkibidagi neyron tarmoq blokini bildiradi. Arxitektura jihatidan NPU lar ko'pincha kichik sistolik massivlar yoki vektor-matritsa bloklari, katta on-chip SRAM va INT8/INT4 aniqlikka urg'u…</a:t>
            </a:r>
          </a:p>
          <a:p>
            <a:pPr>
              <a:spcAft>
                <a:spcPts val="900"/>
              </a:spcAft>
            </a:pPr>
            <a:r>
              <a:rPr sz="2000" b="1">
                <a:solidFill>
                  <a:srgbClr val="0F8B8D"/>
                </a:solidFill>
              </a:rPr>
              <a:t>▪  </a:t>
            </a:r>
            <a:r>
              <a:rPr sz="2000">
                <a:solidFill>
                  <a:srgbClr val="1B2430"/>
                </a:solidFill>
                <a:latin typeface="Calibri"/>
              </a:rPr>
              <a:t>NPU ning cheklovlari: qo'llab-quvvatlanadigan operatorlar to'plami tor (yangi arxitekturadagi noodatiy qatlam NPU da ishlamay CPU ga tushishi mumkin), dasturlash faqat ishlab chiqaruvchi SDK si orqali (Core ML, Qualcomm AI Engine, OpenVINO), aniqlik asosan…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FPGA: qayta dasturlanadigan apparat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FPGA (Field-Programmable Gate Array) — ishlab chiqarilgandan keyin mantiqiy sxemasi o'zgartirilishi mumkin bo'lgan chip. Uning tarkibida yuz minglab qidiruv jadvallari (LUT), triggerlar, DSP bloklari (apparat ko'paytirgichlar) va bloklangan xotira (BRAM)…</a:t>
            </a:r>
          </a:p>
          <a:p>
            <a:pPr>
              <a:spcAft>
                <a:spcPts val="900"/>
              </a:spcAft>
            </a:pPr>
            <a:r>
              <a:rPr sz="2000" b="1">
                <a:solidFill>
                  <a:srgbClr val="0F8B8D"/>
                </a:solidFill>
              </a:rPr>
              <a:t>▪  </a:t>
            </a:r>
            <a:r>
              <a:rPr sz="2000">
                <a:solidFill>
                  <a:srgbClr val="1B2430"/>
                </a:solidFill>
                <a:latin typeface="Calibri"/>
              </a:rPr>
              <a:t>FPGA ning afzalliklari: juda past va bashoratlanadigan kechikish (mikrosekundlar, chunki operatsion tizim va drayver yo'q), ixtiyoriy aniqlik, kiritish-chiqarish bilan to'g'ridan-to'g'ri integratsiya (kamera, tarmoq, radar). Kamchiliklari: bir xil texnologik…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Arxitekturalarni qiyosiy tahlil qilish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Jadval umumiy qonuniyatni ko'rsatadi: ixtisoslashuv oshgan sari samaradorlik oshadi, moslashuvchanlik kamayadi. Hennessy va Patterson [1] sohaga xos arxitekturalar samaradorligining beshta manbasini sanaydilar: sohaga xos parallellikdan foydalanish, xotira…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Arxitekturalarni qiyosiy tahlil qilish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CPU</a:t>
                      </a:r>
                    </a:p>
                  </a:txBody>
                  <a:tcPr>
                    <a:solidFill>
                      <a:srgbClr val="2D5C8F"/>
                    </a:solidFill>
                  </a:tcPr>
                </a:tc>
                <a:tc>
                  <a:txBody>
                    <a:bodyPr/>
                    <a:lstStyle/>
                    <a:p>
                      <a:r>
                        <a:rPr sz="1200" b="1">
                          <a:solidFill>
                            <a:srgbClr val="FFFFFF"/>
                          </a:solidFill>
                          <a:latin typeface="Calibri"/>
                        </a:rPr>
                        <a:t>GPU</a:t>
                      </a:r>
                    </a:p>
                  </a:txBody>
                  <a:tcPr>
                    <a:solidFill>
                      <a:srgbClr val="2D5C8F"/>
                    </a:solidFill>
                  </a:tcPr>
                </a:tc>
                <a:tc>
                  <a:txBody>
                    <a:bodyPr/>
                    <a:lstStyle/>
                    <a:p>
                      <a:r>
                        <a:rPr sz="1200" b="1">
                          <a:solidFill>
                            <a:srgbClr val="FFFFFF"/>
                          </a:solidFill>
                          <a:latin typeface="Calibri"/>
                        </a:rPr>
                        <a:t>TPU (ASIC)</a:t>
                      </a:r>
                    </a:p>
                  </a:txBody>
                  <a:tcPr>
                    <a:solidFill>
                      <a:srgbClr val="2D5C8F"/>
                    </a:solidFill>
                  </a:tcPr>
                </a:tc>
                <a:tc>
                  <a:txBody>
                    <a:bodyPr/>
                    <a:lstStyle/>
                    <a:p>
                      <a:r>
                        <a:rPr sz="1200" b="1">
                          <a:solidFill>
                            <a:srgbClr val="FFFFFF"/>
                          </a:solidFill>
                          <a:latin typeface="Calibri"/>
                        </a:rPr>
                        <a:t>NPU (SoC)</a:t>
                      </a:r>
                    </a:p>
                  </a:txBody>
                  <a:tcPr>
                    <a:solidFill>
                      <a:srgbClr val="2D5C8F"/>
                    </a:solidFill>
                  </a:tcPr>
                </a:tc>
                <a:tc>
                  <a:txBody>
                    <a:bodyPr/>
                    <a:lstStyle/>
                    <a:p>
                      <a:r>
                        <a:rPr sz="1200" b="1">
                          <a:solidFill>
                            <a:srgbClr val="FFFFFF"/>
                          </a:solidFill>
                          <a:latin typeface="Calibri"/>
                        </a:rPr>
                        <a:t>FPGA</a:t>
                      </a:r>
                    </a:p>
                  </a:txBody>
                  <a:tcPr>
                    <a:solidFill>
                      <a:srgbClr val="2D5C8F"/>
                    </a:solidFill>
                  </a:tcPr>
                </a:tc>
              </a:tr>
              <a:tr h="520000">
                <a:tc>
                  <a:txBody>
                    <a:bodyPr/>
                    <a:lstStyle/>
                    <a:p>
                      <a:r>
                        <a:rPr sz="1200" b="0">
                          <a:solidFill>
                            <a:srgbClr val="1B2430"/>
                          </a:solidFill>
                          <a:latin typeface="Calibri"/>
                        </a:rPr>
                        <a:t>Parallellik modeli</a:t>
                      </a:r>
                    </a:p>
                  </a:txBody>
                  <a:tcPr>
                    <a:solidFill>
                      <a:srgbClr val="F1F4F8"/>
                    </a:solidFill>
                  </a:tcPr>
                </a:tc>
                <a:tc>
                  <a:txBody>
                    <a:bodyPr/>
                    <a:lstStyle/>
                    <a:p>
                      <a:r>
                        <a:rPr sz="1200" b="0">
                          <a:solidFill>
                            <a:srgbClr val="1B2430"/>
                          </a:solidFill>
                          <a:latin typeface="Calibri"/>
                        </a:rPr>
                        <a:t>Ko'p yadro + SIMD/AMX</a:t>
                      </a:r>
                    </a:p>
                  </a:txBody>
                  <a:tcPr>
                    <a:solidFill>
                      <a:srgbClr val="F1F4F8"/>
                    </a:solidFill>
                  </a:tcPr>
                </a:tc>
                <a:tc>
                  <a:txBody>
                    <a:bodyPr/>
                    <a:lstStyle/>
                    <a:p>
                      <a:r>
                        <a:rPr sz="1200" b="0">
                          <a:solidFill>
                            <a:srgbClr val="1B2430"/>
                          </a:solidFill>
                          <a:latin typeface="Calibri"/>
                        </a:rPr>
                        <a:t>SIMT, minglab oqim</a:t>
                      </a:r>
                    </a:p>
                  </a:txBody>
                  <a:tcPr>
                    <a:solidFill>
                      <a:srgbClr val="F1F4F8"/>
                    </a:solidFill>
                  </a:tcPr>
                </a:tc>
                <a:tc>
                  <a:txBody>
                    <a:bodyPr/>
                    <a:lstStyle/>
                    <a:p>
                      <a:r>
                        <a:rPr sz="1200" b="0">
                          <a:solidFill>
                            <a:srgbClr val="1B2430"/>
                          </a:solidFill>
                          <a:latin typeface="Calibri"/>
                        </a:rPr>
                        <a:t>Sistolik massiv, kompilyator rejalashtiradi</a:t>
                      </a:r>
                    </a:p>
                  </a:txBody>
                  <a:tcPr>
                    <a:solidFill>
                      <a:srgbClr val="F1F4F8"/>
                    </a:solidFill>
                  </a:tcPr>
                </a:tc>
                <a:tc>
                  <a:txBody>
                    <a:bodyPr/>
                    <a:lstStyle/>
                    <a:p>
                      <a:r>
                        <a:rPr sz="1200" b="0">
                          <a:solidFill>
                            <a:srgbClr val="1B2430"/>
                          </a:solidFill>
                          <a:latin typeface="Calibri"/>
                        </a:rPr>
                        <a:t>Kichik matritsa bloklari</a:t>
                      </a:r>
                    </a:p>
                  </a:txBody>
                  <a:tcPr>
                    <a:solidFill>
                      <a:srgbClr val="F1F4F8"/>
                    </a:solidFill>
                  </a:tcPr>
                </a:tc>
                <a:tc>
                  <a:txBody>
                    <a:bodyPr/>
                    <a:lstStyle/>
                    <a:p>
                      <a:r>
                        <a:rPr sz="1200" b="0">
                          <a:solidFill>
                            <a:srgbClr val="1B2430"/>
                          </a:solidFill>
                          <a:latin typeface="Calibri"/>
                        </a:rPr>
                        <a:t>Ixtiyoriy, dasturchi quradi</a:t>
                      </a:r>
                    </a:p>
                  </a:txBody>
                  <a:tcPr>
                    <a:solidFill>
                      <a:srgbClr val="F1F4F8"/>
                    </a:solidFill>
                  </a:tcPr>
                </a:tc>
              </a:tr>
              <a:tr h="520000">
                <a:tc>
                  <a:txBody>
                    <a:bodyPr/>
                    <a:lstStyle/>
                    <a:p>
                      <a:r>
                        <a:rPr sz="1200" b="0">
                          <a:solidFill>
                            <a:srgbClr val="1B2430"/>
                          </a:solidFill>
                          <a:latin typeface="Calibri"/>
                        </a:rPr>
                        <a:t>Tipik aniqlik</a:t>
                      </a:r>
                    </a:p>
                  </a:txBody>
                  <a:tcPr>
                    <a:solidFill>
                      <a:srgbClr val="FFFFFF"/>
                    </a:solidFill>
                  </a:tcPr>
                </a:tc>
                <a:tc>
                  <a:txBody>
                    <a:bodyPr/>
                    <a:lstStyle/>
                    <a:p>
                      <a:r>
                        <a:rPr sz="1200" b="0">
                          <a:solidFill>
                            <a:srgbClr val="1B2430"/>
                          </a:solidFill>
                          <a:latin typeface="Calibri"/>
                        </a:rPr>
                        <a:t>FP64/FP32/BF16/INT8</a:t>
                      </a:r>
                    </a:p>
                  </a:txBody>
                  <a:tcPr>
                    <a:solidFill>
                      <a:srgbClr val="FFFFFF"/>
                    </a:solidFill>
                  </a:tcPr>
                </a:tc>
                <a:tc>
                  <a:txBody>
                    <a:bodyPr/>
                    <a:lstStyle/>
                    <a:p>
                      <a:r>
                        <a:rPr sz="1200" b="0">
                          <a:solidFill>
                            <a:srgbClr val="1B2430"/>
                          </a:solidFill>
                          <a:latin typeface="Calibri"/>
                        </a:rPr>
                        <a:t>FP64…FP8/INT8</a:t>
                      </a:r>
                    </a:p>
                  </a:txBody>
                  <a:tcPr>
                    <a:solidFill>
                      <a:srgbClr val="FFFFFF"/>
                    </a:solidFill>
                  </a:tcPr>
                </a:tc>
                <a:tc>
                  <a:txBody>
                    <a:bodyPr/>
                    <a:lstStyle/>
                    <a:p>
                      <a:r>
                        <a:rPr sz="1200" b="0">
                          <a:solidFill>
                            <a:srgbClr val="1B2430"/>
                          </a:solidFill>
                          <a:latin typeface="Calibri"/>
                        </a:rPr>
                        <a:t>BF16/INT8</a:t>
                      </a:r>
                    </a:p>
                  </a:txBody>
                  <a:tcPr>
                    <a:solidFill>
                      <a:srgbClr val="FFFFFF"/>
                    </a:solidFill>
                  </a:tcPr>
                </a:tc>
                <a:tc>
                  <a:txBody>
                    <a:bodyPr/>
                    <a:lstStyle/>
                    <a:p>
                      <a:r>
                        <a:rPr sz="1200" b="0">
                          <a:solidFill>
                            <a:srgbClr val="1B2430"/>
                          </a:solidFill>
                          <a:latin typeface="Calibri"/>
                        </a:rPr>
                        <a:t>INT8/INT4/FP16</a:t>
                      </a:r>
                    </a:p>
                  </a:txBody>
                  <a:tcPr>
                    <a:solidFill>
                      <a:srgbClr val="FFFFFF"/>
                    </a:solidFill>
                  </a:tcPr>
                </a:tc>
                <a:tc>
                  <a:txBody>
                    <a:bodyPr/>
                    <a:lstStyle/>
                    <a:p>
                      <a:r>
                        <a:rPr sz="1200" b="0">
                          <a:solidFill>
                            <a:srgbClr val="1B2430"/>
                          </a:solidFill>
                          <a:latin typeface="Calibri"/>
                        </a:rPr>
                        <a:t>Ixtiyoriy (1–32 bit)</a:t>
                      </a:r>
                    </a:p>
                  </a:txBody>
                  <a:tcPr>
                    <a:solidFill>
                      <a:srgbClr val="FFFFFF"/>
                    </a:solidFill>
                  </a:tcPr>
                </a:tc>
              </a:tr>
              <a:tr h="520000">
                <a:tc>
                  <a:txBody>
                    <a:bodyPr/>
                    <a:lstStyle/>
                    <a:p>
                      <a:r>
                        <a:rPr sz="1200" b="0">
                          <a:solidFill>
                            <a:srgbClr val="1B2430"/>
                          </a:solidFill>
                          <a:latin typeface="Calibri"/>
                        </a:rPr>
                        <a:t>Xotira o'tkazuvchanligi</a:t>
                      </a:r>
                    </a:p>
                  </a:txBody>
                  <a:tcPr>
                    <a:solidFill>
                      <a:srgbClr val="F1F4F8"/>
                    </a:solidFill>
                  </a:tcPr>
                </a:tc>
                <a:tc>
                  <a:txBody>
                    <a:bodyPr/>
                    <a:lstStyle/>
                    <a:p>
                      <a:r>
                        <a:rPr sz="1200" b="0">
                          <a:solidFill>
                            <a:srgbClr val="1B2430"/>
                          </a:solidFill>
                          <a:latin typeface="Calibri"/>
                        </a:rPr>
                        <a:t>0,3–0,5 TB/s (DDR5)</a:t>
                      </a:r>
                    </a:p>
                  </a:txBody>
                  <a:tcPr>
                    <a:solidFill>
                      <a:srgbClr val="F1F4F8"/>
                    </a:solidFill>
                  </a:tcPr>
                </a:tc>
                <a:tc>
                  <a:txBody>
                    <a:bodyPr/>
                    <a:lstStyle/>
                    <a:p>
                      <a:r>
                        <a:rPr sz="1200" b="0">
                          <a:solidFill>
                            <a:srgbClr val="1B2430"/>
                          </a:solidFill>
                          <a:latin typeface="Calibri"/>
                        </a:rPr>
                        <a:t>2–8 TB/s (HBM)</a:t>
                      </a:r>
                    </a:p>
                  </a:txBody>
                  <a:tcPr>
                    <a:solidFill>
                      <a:srgbClr val="F1F4F8"/>
                    </a:solidFill>
                  </a:tcPr>
                </a:tc>
                <a:tc>
                  <a:txBody>
                    <a:bodyPr/>
                    <a:lstStyle/>
                    <a:p>
                      <a:r>
                        <a:rPr sz="1200" b="0">
                          <a:solidFill>
                            <a:srgbClr val="1B2430"/>
                          </a:solidFill>
                          <a:latin typeface="Calibri"/>
                        </a:rPr>
                        <a:t>0,8–2,8 TB/s (HBM)</a:t>
                      </a:r>
                    </a:p>
                  </a:txBody>
                  <a:tcPr>
                    <a:solidFill>
                      <a:srgbClr val="F1F4F8"/>
                    </a:solidFill>
                  </a:tcPr>
                </a:tc>
                <a:tc>
                  <a:txBody>
                    <a:bodyPr/>
                    <a:lstStyle/>
                    <a:p>
                      <a:r>
                        <a:rPr sz="1200" b="0">
                          <a:solidFill>
                            <a:srgbClr val="1B2430"/>
                          </a:solidFill>
                          <a:latin typeface="Calibri"/>
                        </a:rPr>
                        <a:t>0,05–0,2 TB/s (LPDDR)</a:t>
                      </a:r>
                    </a:p>
                  </a:txBody>
                  <a:tcPr>
                    <a:solidFill>
                      <a:srgbClr val="F1F4F8"/>
                    </a:solidFill>
                  </a:tcPr>
                </a:tc>
                <a:tc>
                  <a:txBody>
                    <a:bodyPr/>
                    <a:lstStyle/>
                    <a:p>
                      <a:r>
                        <a:rPr sz="1200" b="0">
                          <a:solidFill>
                            <a:srgbClr val="1B2430"/>
                          </a:solidFill>
                          <a:latin typeface="Calibri"/>
                        </a:rPr>
                        <a:t>On-chip BRAM + DDR</a:t>
                      </a:r>
                    </a:p>
                  </a:txBody>
                  <a:tcPr>
                    <a:solidFill>
                      <a:srgbClr val="F1F4F8"/>
                    </a:solidFill>
                  </a:tcPr>
                </a:tc>
              </a:tr>
              <a:tr h="520000">
                <a:tc>
                  <a:txBody>
                    <a:bodyPr/>
                    <a:lstStyle/>
                    <a:p>
                      <a:r>
                        <a:rPr sz="1200" b="0">
                          <a:solidFill>
                            <a:srgbClr val="1B2430"/>
                          </a:solidFill>
                          <a:latin typeface="Calibri"/>
                        </a:rPr>
                        <a:t>Dasturlanuvchanlik</a:t>
                      </a:r>
                    </a:p>
                  </a:txBody>
                  <a:tcPr>
                    <a:solidFill>
                      <a:srgbClr val="FFFFFF"/>
                    </a:solidFill>
                  </a:tcPr>
                </a:tc>
                <a:tc>
                  <a:txBody>
                    <a:bodyPr/>
                    <a:lstStyle/>
                    <a:p>
                      <a:r>
                        <a:rPr sz="1200" b="0">
                          <a:solidFill>
                            <a:srgbClr val="1B2430"/>
                          </a:solidFill>
                          <a:latin typeface="Calibri"/>
                        </a:rPr>
                        <a:t>Eng yuqori</a:t>
                      </a:r>
                    </a:p>
                  </a:txBody>
                  <a:tcPr>
                    <a:solidFill>
                      <a:srgbClr val="FFFFFF"/>
                    </a:solidFill>
                  </a:tcPr>
                </a:tc>
                <a:tc>
                  <a:txBody>
                    <a:bodyPr/>
                    <a:lstStyle/>
                    <a:p>
                      <a:r>
                        <a:rPr sz="1200" b="0">
                          <a:solidFill>
                            <a:srgbClr val="1B2430"/>
                          </a:solidFill>
                          <a:latin typeface="Calibri"/>
                        </a:rPr>
                        <a:t>Yuqori (CUDA, ROCm)</a:t>
                      </a:r>
                    </a:p>
                  </a:txBody>
                  <a:tcPr>
                    <a:solidFill>
                      <a:srgbClr val="FFFFFF"/>
                    </a:solidFill>
                  </a:tcPr>
                </a:tc>
                <a:tc>
                  <a:txBody>
                    <a:bodyPr/>
                    <a:lstStyle/>
                    <a:p>
                      <a:r>
                        <a:rPr sz="1200" b="0">
                          <a:solidFill>
                            <a:srgbClr val="1B2430"/>
                          </a:solidFill>
                          <a:latin typeface="Calibri"/>
                        </a:rPr>
                        <a:t>Kompilyator orqali (XLA)</a:t>
                      </a:r>
                    </a:p>
                  </a:txBody>
                  <a:tcPr>
                    <a:solidFill>
                      <a:srgbClr val="FFFFFF"/>
                    </a:solidFill>
                  </a:tcPr>
                </a:tc>
                <a:tc>
                  <a:txBody>
                    <a:bodyPr/>
                    <a:lstStyle/>
                    <a:p>
                      <a:r>
                        <a:rPr sz="1200" b="0">
                          <a:solidFill>
                            <a:srgbClr val="1B2430"/>
                          </a:solidFill>
                          <a:latin typeface="Calibri"/>
                        </a:rPr>
                        <a:t>Faqat SDK</a:t>
                      </a:r>
                    </a:p>
                  </a:txBody>
                  <a:tcPr>
                    <a:solidFill>
                      <a:srgbClr val="FFFFFF"/>
                    </a:solidFill>
                  </a:tcPr>
                </a:tc>
                <a:tc>
                  <a:txBody>
                    <a:bodyPr/>
                    <a:lstStyle/>
                    <a:p>
                      <a:r>
                        <a:rPr sz="1200" b="0">
                          <a:solidFill>
                            <a:srgbClr val="1B2430"/>
                          </a:solidFill>
                          <a:latin typeface="Calibri"/>
                        </a:rPr>
                        <a:t>Past (HDL/HLS)</a:t>
                      </a:r>
                    </a:p>
                  </a:txBody>
                  <a:tcPr>
                    <a:solidFill>
                      <a:srgbClr val="FFFFFF"/>
                    </a:solidFill>
                  </a:tcPr>
                </a:tc>
              </a:tr>
              <a:tr h="520000">
                <a:tc>
                  <a:txBody>
                    <a:bodyPr/>
                    <a:lstStyle/>
                    <a:p>
                      <a:r>
                        <a:rPr sz="1200" b="0">
                          <a:solidFill>
                            <a:srgbClr val="1B2430"/>
                          </a:solidFill>
                          <a:latin typeface="Calibri"/>
                        </a:rPr>
                        <a:t>Energiya samaradorligi</a:t>
                      </a:r>
                    </a:p>
                  </a:txBody>
                  <a:tcPr>
                    <a:solidFill>
                      <a:srgbClr val="F1F4F8"/>
                    </a:solidFill>
                  </a:tcPr>
                </a:tc>
                <a:tc>
                  <a:txBody>
                    <a:bodyPr/>
                    <a:lstStyle/>
                    <a:p>
                      <a:r>
                        <a:rPr sz="1200" b="0">
                          <a:solidFill>
                            <a:srgbClr val="1B2430"/>
                          </a:solidFill>
                          <a:latin typeface="Calibri"/>
                        </a:rPr>
                        <a:t>Past</a:t>
                      </a:r>
                    </a:p>
                  </a:txBody>
                  <a:tcPr>
                    <a:solidFill>
                      <a:srgbClr val="F1F4F8"/>
                    </a:solidFill>
                  </a:tcPr>
                </a:tc>
                <a:tc>
                  <a:txBody>
                    <a:bodyPr/>
                    <a:lstStyle/>
                    <a:p>
                      <a:r>
                        <a:rPr sz="1200" b="0">
                          <a:solidFill>
                            <a:srgbClr val="1B2430"/>
                          </a:solidFill>
                          <a:latin typeface="Calibri"/>
                        </a:rPr>
                        <a:t>O'rta</a:t>
                      </a:r>
                    </a:p>
                  </a:txBody>
                  <a:tcPr>
                    <a:solidFill>
                      <a:srgbClr val="F1F4F8"/>
                    </a:solidFill>
                  </a:tcPr>
                </a:tc>
                <a:tc>
                  <a:txBody>
                    <a:bodyPr/>
                    <a:lstStyle/>
                    <a:p>
                      <a:r>
                        <a:rPr sz="1200" b="0">
                          <a:solidFill>
                            <a:srgbClr val="1B2430"/>
                          </a:solidFill>
                          <a:latin typeface="Calibri"/>
                        </a:rPr>
                        <a:t>Yuqori</a:t>
                      </a:r>
                    </a:p>
                  </a:txBody>
                  <a:tcPr>
                    <a:solidFill>
                      <a:srgbClr val="F1F4F8"/>
                    </a:solidFill>
                  </a:tcPr>
                </a:tc>
                <a:tc>
                  <a:txBody>
                    <a:bodyPr/>
                    <a:lstStyle/>
                    <a:p>
                      <a:r>
                        <a:rPr sz="1200" b="0">
                          <a:solidFill>
                            <a:srgbClr val="1B2430"/>
                          </a:solidFill>
                          <a:latin typeface="Calibri"/>
                        </a:rPr>
                        <a:t>Juda yuqori (vatt boshiga)</a:t>
                      </a:r>
                    </a:p>
                  </a:txBody>
                  <a:tcPr>
                    <a:solidFill>
                      <a:srgbClr val="F1F4F8"/>
                    </a:solidFill>
                  </a:tcPr>
                </a:tc>
                <a:tc>
                  <a:txBody>
                    <a:bodyPr/>
                    <a:lstStyle/>
                    <a:p>
                      <a:r>
                        <a:rPr sz="1200" b="0">
                          <a:solidFill>
                            <a:srgbClr val="1B2430"/>
                          </a:solidFill>
                          <a:latin typeface="Calibri"/>
                        </a:rPr>
                        <a:t>Yuqori, ASIC dan past</a:t>
                      </a:r>
                    </a:p>
                  </a:txBody>
                  <a:tcPr>
                    <a:solidFill>
                      <a:srgbClr val="F1F4F8"/>
                    </a:solidFill>
                  </a:tcPr>
                </a:tc>
              </a:tr>
              <a:tr h="520000">
                <a:tc>
                  <a:txBody>
                    <a:bodyPr/>
                    <a:lstStyle/>
                    <a:p>
                      <a:r>
                        <a:rPr sz="1200" b="0">
                          <a:solidFill>
                            <a:srgbClr val="1B2430"/>
                          </a:solidFill>
                          <a:latin typeface="Calibri"/>
                        </a:rPr>
                        <a:t>Kechikish (kichik paket)</a:t>
                      </a:r>
                    </a:p>
                  </a:txBody>
                  <a:tcPr>
                    <a:solidFill>
                      <a:srgbClr val="FFFFFF"/>
                    </a:solidFill>
                  </a:tcPr>
                </a:tc>
                <a:tc>
                  <a:txBody>
                    <a:bodyPr/>
                    <a:lstStyle/>
                    <a:p>
                      <a:r>
                        <a:rPr sz="1200" b="0">
                          <a:solidFill>
                            <a:srgbClr val="1B2430"/>
                          </a:solidFill>
                          <a:latin typeface="Calibri"/>
                        </a:rPr>
                        <a:t>Yaxshi</a:t>
                      </a:r>
                    </a:p>
                  </a:txBody>
                  <a:tcPr>
                    <a:solidFill>
                      <a:srgbClr val="FFFFFF"/>
                    </a:solidFill>
                  </a:tcPr>
                </a:tc>
                <a:tc>
                  <a:txBody>
                    <a:bodyPr/>
                    <a:lstStyle/>
                    <a:p>
                      <a:r>
                        <a:rPr sz="1200" b="0">
                          <a:solidFill>
                            <a:srgbClr val="1B2430"/>
                          </a:solidFill>
                          <a:latin typeface="Calibri"/>
                        </a:rPr>
                        <a:t>O'rta (ishga tushirish xarajati)</a:t>
                      </a:r>
                    </a:p>
                  </a:txBody>
                  <a:tcPr>
                    <a:solidFill>
                      <a:srgbClr val="FFFFFF"/>
                    </a:solidFill>
                  </a:tcPr>
                </a:tc>
                <a:tc>
                  <a:txBody>
                    <a:bodyPr/>
                    <a:lstStyle/>
                    <a:p>
                      <a:r>
                        <a:rPr sz="1200" b="0">
                          <a:solidFill>
                            <a:srgbClr val="1B2430"/>
                          </a:solidFill>
                          <a:latin typeface="Calibri"/>
                        </a:rPr>
                        <a:t>O'rta</a:t>
                      </a:r>
                    </a:p>
                  </a:txBody>
                  <a:tcPr>
                    <a:solidFill>
                      <a:srgbClr val="FFFFFF"/>
                    </a:solidFill>
                  </a:tcPr>
                </a:tc>
                <a:tc>
                  <a:txBody>
                    <a:bodyPr/>
                    <a:lstStyle/>
                    <a:p>
                      <a:r>
                        <a:rPr sz="1200" b="0">
                          <a:solidFill>
                            <a:srgbClr val="1B2430"/>
                          </a:solidFill>
                          <a:latin typeface="Calibri"/>
                        </a:rPr>
                        <a:t>Yaxshi</a:t>
                      </a:r>
                    </a:p>
                  </a:txBody>
                  <a:tcPr>
                    <a:solidFill>
                      <a:srgbClr val="FFFFFF"/>
                    </a:solidFill>
                  </a:tcPr>
                </a:tc>
                <a:tc>
                  <a:txBody>
                    <a:bodyPr/>
                    <a:lstStyle/>
                    <a:p>
                      <a:r>
                        <a:rPr sz="1200" b="0">
                          <a:solidFill>
                            <a:srgbClr val="1B2430"/>
                          </a:solidFill>
                          <a:latin typeface="Calibri"/>
                        </a:rPr>
                        <a:t>Eng yaxshi, deterministik</a:t>
                      </a:r>
                    </a:p>
                  </a:txBody>
                  <a:tcPr>
                    <a:solidFill>
                      <a:srgbClr val="FFFFFF"/>
                    </a:solidFill>
                  </a:tcPr>
                </a:tc>
              </a:tr>
              <a:tr h="520000">
                <a:tc>
                  <a:txBody>
                    <a:bodyPr/>
                    <a:lstStyle/>
                    <a:p>
                      <a:r>
                        <a:rPr sz="1200" b="0">
                          <a:solidFill>
                            <a:srgbClr val="1B2430"/>
                          </a:solidFill>
                          <a:latin typeface="Calibri"/>
                        </a:rPr>
                        <a:t>Masshtab</a:t>
                      </a:r>
                    </a:p>
                  </a:txBody>
                  <a:tcPr>
                    <a:solidFill>
                      <a:srgbClr val="F1F4F8"/>
                    </a:solidFill>
                  </a:tcPr>
                </a:tc>
                <a:tc>
                  <a:txBody>
                    <a:bodyPr/>
                    <a:lstStyle/>
                    <a:p>
                      <a:r>
                        <a:rPr sz="1200" b="0">
                          <a:solidFill>
                            <a:srgbClr val="1B2430"/>
                          </a:solidFill>
                          <a:latin typeface="Calibri"/>
                        </a:rPr>
                        <a:t>1–8 soket</a:t>
                      </a:r>
                    </a:p>
                  </a:txBody>
                  <a:tcPr>
                    <a:solidFill>
                      <a:srgbClr val="F1F4F8"/>
                    </a:solidFill>
                  </a:tcPr>
                </a:tc>
                <a:tc>
                  <a:txBody>
                    <a:bodyPr/>
                    <a:lstStyle/>
                    <a:p>
                      <a:r>
                        <a:rPr sz="1200" b="0">
                          <a:solidFill>
                            <a:srgbClr val="1B2430"/>
                          </a:solidFill>
                          <a:latin typeface="Calibri"/>
                        </a:rPr>
                        <a:t>8 GPU/server, minglab GPU klaster</a:t>
                      </a:r>
                    </a:p>
                  </a:txBody>
                  <a:tcPr>
                    <a:solidFill>
                      <a:srgbClr val="F1F4F8"/>
                    </a:solidFill>
                  </a:tcPr>
                </a:tc>
                <a:tc>
                  <a:txBody>
                    <a:bodyPr/>
                    <a:lstStyle/>
                    <a:p>
                      <a:r>
                        <a:rPr sz="1200" b="0">
                          <a:solidFill>
                            <a:srgbClr val="1B2430"/>
                          </a:solidFill>
                          <a:latin typeface="Calibri"/>
                        </a:rPr>
                        <a:t>4 096–9 000 chip/pod</a:t>
                      </a:r>
                    </a:p>
                  </a:txBody>
                  <a:tcPr>
                    <a:solidFill>
                      <a:srgbClr val="F1F4F8"/>
                    </a:solidFill>
                  </a:tcPr>
                </a:tc>
                <a:tc>
                  <a:txBody>
                    <a:bodyPr/>
                    <a:lstStyle/>
                    <a:p>
                      <a:r>
                        <a:rPr sz="1200" b="0">
                          <a:solidFill>
                            <a:srgbClr val="1B2430"/>
                          </a:solidFill>
                          <a:latin typeface="Calibri"/>
                        </a:rPr>
                        <a:t>Bitta qurilma</a:t>
                      </a:r>
                    </a:p>
                  </a:txBody>
                  <a:tcPr>
                    <a:solidFill>
                      <a:srgbClr val="F1F4F8"/>
                    </a:solidFill>
                  </a:tcPr>
                </a:tc>
                <a:tc>
                  <a:txBody>
                    <a:bodyPr/>
                    <a:lstStyle/>
                    <a:p>
                      <a:r>
                        <a:rPr sz="1200" b="0">
                          <a:solidFill>
                            <a:srgbClr val="1B2430"/>
                          </a:solidFill>
                          <a:latin typeface="Calibri"/>
                        </a:rPr>
                        <a:t>1–bir necha karta</a:t>
                      </a:r>
                    </a:p>
                  </a:txBody>
                  <a:tcPr>
                    <a:solidFill>
                      <a:srgbClr val="F1F4F8"/>
                    </a:solidFill>
                  </a:tcPr>
                </a:tc>
              </a:tr>
              <a:tr h="520000">
                <a:tc>
                  <a:txBody>
                    <a:bodyPr/>
                    <a:lstStyle/>
                    <a:p>
                      <a:r>
                        <a:rPr sz="1200" b="0">
                          <a:solidFill>
                            <a:srgbClr val="1B2430"/>
                          </a:solidFill>
                          <a:latin typeface="Calibri"/>
                        </a:rPr>
                        <a:t>Asosiy soha</a:t>
                      </a:r>
                    </a:p>
                  </a:txBody>
                  <a:tcPr>
                    <a:solidFill>
                      <a:srgbClr val="FFFFFF"/>
                    </a:solidFill>
                  </a:tcPr>
                </a:tc>
                <a:tc>
                  <a:txBody>
                    <a:bodyPr/>
                    <a:lstStyle/>
                    <a:p>
                      <a:r>
                        <a:rPr sz="1200" b="0">
                          <a:solidFill>
                            <a:srgbClr val="1B2430"/>
                          </a:solidFill>
                          <a:latin typeface="Calibri"/>
                        </a:rPr>
                        <a:t>Tayyorlash, orkestratsiya, kichik inferens</a:t>
                      </a:r>
                    </a:p>
                  </a:txBody>
                  <a:tcPr>
                    <a:solidFill>
                      <a:srgbClr val="FFFFFF"/>
                    </a:solidFill>
                  </a:tcPr>
                </a:tc>
                <a:tc>
                  <a:txBody>
                    <a:bodyPr/>
                    <a:lstStyle/>
                    <a:p>
                      <a:r>
                        <a:rPr sz="1200" b="0">
                          <a:solidFill>
                            <a:srgbClr val="1B2430"/>
                          </a:solidFill>
                          <a:latin typeface="Calibri"/>
                        </a:rPr>
                        <a:t>O'qitish, katta inferens</a:t>
                      </a:r>
                    </a:p>
                  </a:txBody>
                  <a:tcPr>
                    <a:solidFill>
                      <a:srgbClr val="FFFFFF"/>
                    </a:solidFill>
                  </a:tcPr>
                </a:tc>
                <a:tc>
                  <a:txBody>
                    <a:bodyPr/>
                    <a:lstStyle/>
                    <a:p>
                      <a:r>
                        <a:rPr sz="1200" b="0">
                          <a:solidFill>
                            <a:srgbClr val="1B2430"/>
                          </a:solidFill>
                          <a:latin typeface="Calibri"/>
                        </a:rPr>
                        <a:t>Bulutda o'qitish/inferens</a:t>
                      </a:r>
                    </a:p>
                  </a:txBody>
                  <a:tcPr>
                    <a:solidFill>
                      <a:srgbClr val="FFFFFF"/>
                    </a:solidFill>
                  </a:tcPr>
                </a:tc>
                <a:tc>
                  <a:txBody>
                    <a:bodyPr/>
                    <a:lstStyle/>
                    <a:p>
                      <a:r>
                        <a:rPr sz="1200" b="0">
                          <a:solidFill>
                            <a:srgbClr val="1B2430"/>
                          </a:solidFill>
                          <a:latin typeface="Calibri"/>
                        </a:rPr>
                        <a:t>Telefon, noutbuk, avtomobil</a:t>
                      </a:r>
                    </a:p>
                  </a:txBody>
                  <a:tcPr>
                    <a:solidFill>
                      <a:srgbClr val="FFFFFF"/>
                    </a:solidFill>
                  </a:tcPr>
                </a:tc>
                <a:tc>
                  <a:txBody>
                    <a:bodyPr/>
                    <a:lstStyle/>
                    <a:p>
                      <a:r>
                        <a:rPr sz="1200" b="0">
                          <a:solidFill>
                            <a:srgbClr val="1B2430"/>
                          </a:solidFill>
                          <a:latin typeface="Calibri"/>
                        </a:rPr>
                        <a:t>Sanoat, tarmoq, real vaqt</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Geterogen hisoblash tizimlari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Geterogen tizim — turli arxitekturali protsessorlarni bir vazifa ustida birgalikda ishlatadigan tizim. Klassik ko'rinishda xost (CPU) dasturni boshqaradi, ma'lumotni tayyorlaydi va qurilma (GPU/tezlatkich) ga og'ir hisobni yuboradi.</a:t>
            </a:r>
          </a:p>
          <a:p>
            <a:pPr>
              <a:spcAft>
                <a:spcPts val="900"/>
              </a:spcAft>
            </a:pPr>
            <a:r>
              <a:rPr sz="1800" b="1">
                <a:solidFill>
                  <a:srgbClr val="0F8B8D"/>
                </a:solidFill>
              </a:rPr>
              <a:t>▪  </a:t>
            </a:r>
            <a:r>
              <a:rPr sz="1800">
                <a:solidFill>
                  <a:srgbClr val="1B2430"/>
                </a:solidFill>
                <a:latin typeface="Calibri"/>
              </a:rPr>
              <a:t>So'nggi yillarda birlashgan xotira (unified memory) yondashuvi kuchaydi. NVIDIA GH200 Grace Hopper «superchip» da 72 yadroli ARM Neoverse V2 protsessori (Grace, 480 GB LPDDR5X) va H100 GPU (96–144 GB HBM3/HBM3e) NVLink-C2C orqali 900 GB/s tezlikda bog'langan…</a:t>
            </a:r>
          </a:p>
          <a:p>
            <a:pPr>
              <a:spcAft>
                <a:spcPts val="900"/>
              </a:spcAft>
            </a:pPr>
            <a:r>
              <a:rPr sz="1800" b="1">
                <a:solidFill>
                  <a:srgbClr val="0F8B8D"/>
                </a:solidFill>
              </a:rPr>
              <a:t>▪  </a:t>
            </a:r>
            <a:r>
              <a:rPr sz="1800">
                <a:solidFill>
                  <a:srgbClr val="1B2430"/>
                </a:solidFill>
                <a:latin typeface="Calibri"/>
              </a:rPr>
              <a:t>Geterogen tizimni loyihalashda asosiy savol — vazifani kim bajaradi. Umumiy qoida: muntazam, katta hajmli, parallel hisob (matritsa, konvolyutsiya) — tezlatkichga; tarmoqlanishli, ketma-ket, tizim chaqiruvlari bilan bog'liq ish (fayl o'qish, dekodlash,…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Zamonaviy AI serverlari va superkompyuterlar</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Standart AI o'qitish serveri 8 ta tezlatkichli konfiguratsiya atrofida shakllangan. NVIDIA DGX H100: 8 × H100 SXM (jami 640 GB HBM3), 4 ta NVSwitch orqali har qanday GPU juftligi 900 GB/s bilan bog'langan, 2 ta Intel Xeon 8480C (112 yadro), 2 TB DDR5, 8 ta…</a:t>
            </a:r>
          </a:p>
          <a:p>
            <a:pPr>
              <a:spcAft>
                <a:spcPts val="900"/>
              </a:spcAft>
            </a:pPr>
            <a:r>
              <a:rPr sz="1600" b="1">
                <a:solidFill>
                  <a:srgbClr val="0F8B8D"/>
                </a:solidFill>
              </a:rPr>
              <a:t>▪  </a:t>
            </a:r>
            <a:r>
              <a:rPr sz="1600">
                <a:solidFill>
                  <a:srgbClr val="1B2430"/>
                </a:solidFill>
                <a:latin typeface="Calibri"/>
              </a:rPr>
              <a:t>Serverlardan yuqorida klaster (tugunlar InfiniBand yoki RoCE Ethernet bilan ulanadi) va SuperPOD (NVIDIA da 32 DGX = 256 GPU asosiy birlik, «fat-tree» topologiya) turadi. Masshtab oshgan sari tor joy hisoblashdan tarmoqqa ko'chadi: 400 Gbit/s adapter…</a:t>
            </a:r>
          </a:p>
          <a:p>
            <a:pPr>
              <a:spcAft>
                <a:spcPts val="900"/>
              </a:spcAft>
            </a:pPr>
            <a:r>
              <a:rPr sz="1600" b="1">
                <a:solidFill>
                  <a:srgbClr val="0F8B8D"/>
                </a:solidFill>
              </a:rPr>
              <a:t>▪  </a:t>
            </a:r>
            <a:r>
              <a:rPr sz="1600">
                <a:solidFill>
                  <a:srgbClr val="1B2430"/>
                </a:solidFill>
                <a:latin typeface="Calibri"/>
              </a:rPr>
              <a:t>Superkompyuterlar bu tamoyillarni eng katta miqyosda aks ettiradi. 2025-yil holatiga TOP500 ro'yxatining birinchi o'rni — El Capitan (Lawrence Livermore, AMD MI300A, 1,74 eksaflops HPL), ikkinchi — Frontier (Oak Ridge, AMD EPYC + MI250X, 1,35 eksaflops),…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Vazifa: PyTorch yordamida CPU va GPU ning matritsali ko'paytirish va real model (ResNet-50) inferensidagi unumdorligini turli aniqlik rejimlarida o'lchash, natijani pasport ko'rsatkichi bilan taqqoslab foydalanish koeffitsiyentini hisoblash. Muhit: Python…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Muhitni tekshirish va apparat ma'lumotini olish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Har qanday benchmark apparatni aniq hujjatlashdan boshlanadi: SM soni va xotira hajmi natijani pasport bilan taqqoslash uchun kerak, torch.get_num_threads() esa CPU…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Muhitni tekshirish va apparat ma'lumotini olish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7FD6D7"/>
                </a:solidFill>
                <a:latin typeface="Consolas"/>
              </a:rPr>
              <a:t># env_check.py — apparat va kutubxona versiyalarini chiqarish</a:t>
            </a:r>
          </a:p>
          <a:p>
            <a:r>
              <a:rPr sz="1200">
                <a:solidFill>
                  <a:srgbClr val="E2E8F0"/>
                </a:solidFill>
                <a:latin typeface="Consolas"/>
              </a:rPr>
              <a:t>import torch, platform, os</a:t>
            </a:r>
          </a:p>
          <a:p>
            <a:r>
              <a:rPr sz="1200">
                <a:solidFill>
                  <a:srgbClr val="E2E8F0"/>
                </a:solidFill>
                <a:latin typeface="Consolas"/>
              </a:rPr>
              <a:t>print("PyTorch:", torch.__version__, "| Python:", platform.python_version())</a:t>
            </a:r>
          </a:p>
          <a:p>
            <a:r>
              <a:rPr sz="1200">
                <a:solidFill>
                  <a:srgbClr val="E2E8F0"/>
                </a:solidFill>
                <a:latin typeface="Consolas"/>
              </a:rPr>
              <a:t>print("CPU:", platform.processor() or "noma'lum", "| mantiqiy yadrolar:", os.cpu_count())</a:t>
            </a:r>
          </a:p>
          <a:p>
            <a:r>
              <a:rPr sz="1200">
                <a:solidFill>
                  <a:srgbClr val="E2E8F0"/>
                </a:solidFill>
                <a:latin typeface="Consolas"/>
              </a:rPr>
              <a:t>print("torch oqimlari:", torch.get_num_threads())</a:t>
            </a:r>
          </a:p>
          <a:p>
            <a:r>
              <a:rPr sz="1200">
                <a:solidFill>
                  <a:srgbClr val="E2E8F0"/>
                </a:solidFill>
                <a:latin typeface="Consolas"/>
              </a:rPr>
              <a:t>if torch.cuda.is_available():</a:t>
            </a:r>
          </a:p>
          <a:p>
            <a:r>
              <a:rPr sz="1200">
                <a:solidFill>
                  <a:srgbClr val="E2E8F0"/>
                </a:solidFill>
                <a:latin typeface="Consolas"/>
              </a:rPr>
              <a:t>    p = torch.cuda.get_device_properties(0)</a:t>
            </a:r>
          </a:p>
          <a:p>
            <a:r>
              <a:rPr sz="1200">
                <a:solidFill>
                  <a:srgbClr val="E2E8F0"/>
                </a:solidFill>
                <a:latin typeface="Consolas"/>
              </a:rPr>
              <a:t>    print(f"GPU: {p.name} | SM soni: {p.multi_processor_count} | "</a:t>
            </a:r>
          </a:p>
          <a:p>
            <a:r>
              <a:rPr sz="1200">
                <a:solidFill>
                  <a:srgbClr val="E2E8F0"/>
                </a:solidFill>
                <a:latin typeface="Consolas"/>
              </a:rPr>
              <a:t>          f"xotira: {p.total_memory/2**30:.1f} GB | CUDA {torch.version.cuda}")</a:t>
            </a:r>
          </a:p>
          <a:p>
            <a:r>
              <a:rPr sz="1200">
                <a:solidFill>
                  <a:srgbClr val="E2E8F0"/>
                </a:solidFill>
                <a:latin typeface="Consolas"/>
              </a:rPr>
              <a:t>    print("BF16 qo'llab-quvvatlanadi:", torch.cuda.is_bf16_supported())</a:t>
            </a:r>
          </a:p>
          <a:p>
            <a:r>
              <a:rPr sz="1200">
                <a:solidFill>
                  <a:srgbClr val="E2E8F0"/>
                </a:solidFill>
                <a:latin typeface="Consolas"/>
              </a:rPr>
              <a:t>else:</a:t>
            </a:r>
          </a:p>
          <a:p>
            <a:r>
              <a:rPr sz="1200">
                <a:solidFill>
                  <a:srgbClr val="E2E8F0"/>
                </a:solidFill>
                <a:latin typeface="Consolas"/>
              </a:rPr>
              <a:t>    print("GPU topilmadi — faqat CPU o'lchanadi")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Matritsali ko'paytirish unumdorligini o'lchash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Kutilgan taxminiy natijalar (n = 8192):</a:t>
            </a:r>
          </a:p>
          <a:p>
            <a:pPr>
              <a:spcAft>
                <a:spcPts val="900"/>
              </a:spcAft>
            </a:pPr>
            <a:r>
              <a:rPr sz="2000" b="1">
                <a:solidFill>
                  <a:srgbClr val="0F8B8D"/>
                </a:solidFill>
              </a:rPr>
              <a:t>▪  </a:t>
            </a:r>
            <a:r>
              <a:rPr sz="2000">
                <a:solidFill>
                  <a:srgbClr val="1B2430"/>
                </a:solidFill>
                <a:latin typeface="Calibri"/>
              </a:rPr>
              <a:t>Nima bo'ldi va nega. Uch muhim kuzatuv. Birinchidan, torch.cuda.synchronize() siz GPU vaqti noto'g'ri chiqadi, chunki CUDA chaqiruvlari asinxron — bu benchmarkdagi eng keng tarqalgan xato. Ikkinchidan, katta kvadrat matritsa — tezlatkich uchun ideal yuk…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Matritsali ko'paytirish unumdorligini o'lchash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400" b="1">
                          <a:solidFill>
                            <a:srgbClr val="FFFFFF"/>
                          </a:solidFill>
                          <a:latin typeface="Calibri"/>
                        </a:rPr>
                        <a:t>Qurilma / aniqlik</a:t>
                      </a:r>
                    </a:p>
                  </a:txBody>
                  <a:tcPr>
                    <a:solidFill>
                      <a:srgbClr val="2D5C8F"/>
                    </a:solidFill>
                  </a:tcPr>
                </a:tc>
                <a:tc>
                  <a:txBody>
                    <a:bodyPr/>
                    <a:lstStyle/>
                    <a:p>
                      <a:r>
                        <a:rPr sz="1400" b="1">
                          <a:solidFill>
                            <a:srgbClr val="FFFFFF"/>
                          </a:solidFill>
                          <a:latin typeface="Calibri"/>
                        </a:rPr>
                        <a:t>O'lchangan, TFLOPS</a:t>
                      </a:r>
                    </a:p>
                  </a:txBody>
                  <a:tcPr>
                    <a:solidFill>
                      <a:srgbClr val="2D5C8F"/>
                    </a:solidFill>
                  </a:tcPr>
                </a:tc>
                <a:tc>
                  <a:txBody>
                    <a:bodyPr/>
                    <a:lstStyle/>
                    <a:p>
                      <a:r>
                        <a:rPr sz="1400" b="1">
                          <a:solidFill>
                            <a:srgbClr val="FFFFFF"/>
                          </a:solidFill>
                          <a:latin typeface="Calibri"/>
                        </a:rPr>
                        <a:t>Pasport, TFLOPS</a:t>
                      </a:r>
                    </a:p>
                  </a:txBody>
                  <a:tcPr>
                    <a:solidFill>
                      <a:srgbClr val="2D5C8F"/>
                    </a:solidFill>
                  </a:tcPr>
                </a:tc>
                <a:tc>
                  <a:txBody>
                    <a:bodyPr/>
                    <a:lstStyle/>
                    <a:p>
                      <a:r>
                        <a:rPr sz="1400" b="1">
                          <a:solidFill>
                            <a:srgbClr val="FFFFFF"/>
                          </a:solidFill>
                          <a:latin typeface="Calibri"/>
                        </a:rPr>
                        <a:t>Foydalanish η</a:t>
                      </a:r>
                    </a:p>
                  </a:txBody>
                  <a:tcPr>
                    <a:solidFill>
                      <a:srgbClr val="2D5C8F"/>
                    </a:solidFill>
                  </a:tcPr>
                </a:tc>
              </a:tr>
              <a:tr h="520000">
                <a:tc>
                  <a:txBody>
                    <a:bodyPr/>
                    <a:lstStyle/>
                    <a:p>
                      <a:r>
                        <a:rPr sz="1400" b="0">
                          <a:solidFill>
                            <a:srgbClr val="1B2430"/>
                          </a:solidFill>
                          <a:latin typeface="Calibri"/>
                        </a:rPr>
                        <a:t>CPU 16 yadro (AVX-512), FP32</a:t>
                      </a:r>
                    </a:p>
                  </a:txBody>
                  <a:tcPr>
                    <a:solidFill>
                      <a:srgbClr val="F1F4F8"/>
                    </a:solidFill>
                  </a:tcPr>
                </a:tc>
                <a:tc>
                  <a:txBody>
                    <a:bodyPr/>
                    <a:lstStyle/>
                    <a:p>
                      <a:r>
                        <a:rPr sz="1400" b="0">
                          <a:solidFill>
                            <a:srgbClr val="1B2430"/>
                          </a:solidFill>
                          <a:latin typeface="Calibri"/>
                        </a:rPr>
                        <a:t>1,0–2,0</a:t>
                      </a:r>
                    </a:p>
                  </a:txBody>
                  <a:tcPr>
                    <a:solidFill>
                      <a:srgbClr val="F1F4F8"/>
                    </a:solidFill>
                  </a:tcPr>
                </a:tc>
                <a:tc>
                  <a:txBody>
                    <a:bodyPr/>
                    <a:lstStyle/>
                    <a:p>
                      <a:r>
                        <a:rPr sz="1400" b="0">
                          <a:solidFill>
                            <a:srgbClr val="1B2430"/>
                          </a:solidFill>
                          <a:latin typeface="Calibri"/>
                        </a:rPr>
                        <a:t>~2,5</a:t>
                      </a:r>
                    </a:p>
                  </a:txBody>
                  <a:tcPr>
                    <a:solidFill>
                      <a:srgbClr val="F1F4F8"/>
                    </a:solidFill>
                  </a:tcPr>
                </a:tc>
                <a:tc>
                  <a:txBody>
                    <a:bodyPr/>
                    <a:lstStyle/>
                    <a:p>
                      <a:r>
                        <a:rPr sz="1400" b="0">
                          <a:solidFill>
                            <a:srgbClr val="1B2430"/>
                          </a:solidFill>
                          <a:latin typeface="Calibri"/>
                        </a:rPr>
                        <a:t>0,4–0,8</a:t>
                      </a:r>
                    </a:p>
                  </a:txBody>
                  <a:tcPr>
                    <a:solidFill>
                      <a:srgbClr val="F1F4F8"/>
                    </a:solidFill>
                  </a:tcPr>
                </a:tc>
              </a:tr>
              <a:tr h="520000">
                <a:tc>
                  <a:txBody>
                    <a:bodyPr/>
                    <a:lstStyle/>
                    <a:p>
                      <a:r>
                        <a:rPr sz="1400" b="0">
                          <a:solidFill>
                            <a:srgbClr val="1B2430"/>
                          </a:solidFill>
                          <a:latin typeface="Calibri"/>
                        </a:rPr>
                        <a:t>CPU 16 yadro, BF16 (AMX siz)</a:t>
                      </a:r>
                    </a:p>
                  </a:txBody>
                  <a:tcPr>
                    <a:solidFill>
                      <a:srgbClr val="FFFFFF"/>
                    </a:solidFill>
                  </a:tcPr>
                </a:tc>
                <a:tc>
                  <a:txBody>
                    <a:bodyPr/>
                    <a:lstStyle/>
                    <a:p>
                      <a:r>
                        <a:rPr sz="1400" b="0">
                          <a:solidFill>
                            <a:srgbClr val="1B2430"/>
                          </a:solidFill>
                          <a:latin typeface="Calibri"/>
                        </a:rPr>
                        <a:t>0,3–1,0</a:t>
                      </a:r>
                    </a:p>
                  </a:txBody>
                  <a:tcPr>
                    <a:solidFill>
                      <a:srgbClr val="FFFFFF"/>
                    </a:solidFill>
                  </a:tcPr>
                </a:tc>
                <a:tc>
                  <a:txBody>
                    <a:bodyPr/>
                    <a:lstStyle/>
                    <a:p>
                      <a:r>
                        <a:rPr sz="1400" b="0">
                          <a:solidFill>
                            <a:srgbClr val="1B2430"/>
                          </a:solidFill>
                          <a:latin typeface="Calibri"/>
                        </a:rPr>
                        <a:t>—</a:t>
                      </a:r>
                    </a:p>
                  </a:txBody>
                  <a:tcPr>
                    <a:solidFill>
                      <a:srgbClr val="FFFFFF"/>
                    </a:solidFill>
                  </a:tcPr>
                </a:tc>
                <a:tc>
                  <a:txBody>
                    <a:bodyPr/>
                    <a:lstStyle/>
                    <a:p>
                      <a:r>
                        <a:rPr sz="1400" b="0">
                          <a:solidFill>
                            <a:srgbClr val="1B2430"/>
                          </a:solidFill>
                          <a:latin typeface="Calibri"/>
                        </a:rPr>
                        <a:t>—</a:t>
                      </a:r>
                    </a:p>
                  </a:txBody>
                  <a:tcPr>
                    <a:solidFill>
                      <a:srgbClr val="FFFFFF"/>
                    </a:solidFill>
                  </a:tcPr>
                </a:tc>
              </a:tr>
              <a:tr h="520000">
                <a:tc>
                  <a:txBody>
                    <a:bodyPr/>
                    <a:lstStyle/>
                    <a:p>
                      <a:r>
                        <a:rPr sz="1400" b="0">
                          <a:solidFill>
                            <a:srgbClr val="1B2430"/>
                          </a:solidFill>
                          <a:latin typeface="Calibri"/>
                        </a:rPr>
                        <a:t>NVIDIA T4, FP32</a:t>
                      </a:r>
                    </a:p>
                  </a:txBody>
                  <a:tcPr>
                    <a:solidFill>
                      <a:srgbClr val="F1F4F8"/>
                    </a:solidFill>
                  </a:tcPr>
                </a:tc>
                <a:tc>
                  <a:txBody>
                    <a:bodyPr/>
                    <a:lstStyle/>
                    <a:p>
                      <a:r>
                        <a:rPr sz="1400" b="0">
                          <a:solidFill>
                            <a:srgbClr val="1B2430"/>
                          </a:solidFill>
                          <a:latin typeface="Calibri"/>
                        </a:rPr>
                        <a:t>4–5</a:t>
                      </a:r>
                    </a:p>
                  </a:txBody>
                  <a:tcPr>
                    <a:solidFill>
                      <a:srgbClr val="F1F4F8"/>
                    </a:solidFill>
                  </a:tcPr>
                </a:tc>
                <a:tc>
                  <a:txBody>
                    <a:bodyPr/>
                    <a:lstStyle/>
                    <a:p>
                      <a:r>
                        <a:rPr sz="1400" b="0">
                          <a:solidFill>
                            <a:srgbClr val="1B2430"/>
                          </a:solidFill>
                          <a:latin typeface="Calibri"/>
                        </a:rPr>
                        <a:t>8,1</a:t>
                      </a:r>
                    </a:p>
                  </a:txBody>
                  <a:tcPr>
                    <a:solidFill>
                      <a:srgbClr val="F1F4F8"/>
                    </a:solidFill>
                  </a:tcPr>
                </a:tc>
                <a:tc>
                  <a:txBody>
                    <a:bodyPr/>
                    <a:lstStyle/>
                    <a:p>
                      <a:r>
                        <a:rPr sz="1400" b="0">
                          <a:solidFill>
                            <a:srgbClr val="1B2430"/>
                          </a:solidFill>
                          <a:latin typeface="Calibri"/>
                        </a:rPr>
                        <a:t>~0,55</a:t>
                      </a:r>
                    </a:p>
                  </a:txBody>
                  <a:tcPr>
                    <a:solidFill>
                      <a:srgbClr val="F1F4F8"/>
                    </a:solidFill>
                  </a:tcPr>
                </a:tc>
              </a:tr>
              <a:tr h="520000">
                <a:tc>
                  <a:txBody>
                    <a:bodyPr/>
                    <a:lstStyle/>
                    <a:p>
                      <a:r>
                        <a:rPr sz="1400" b="0">
                          <a:solidFill>
                            <a:srgbClr val="1B2430"/>
                          </a:solidFill>
                          <a:latin typeface="Calibri"/>
                        </a:rPr>
                        <a:t>NVIDIA T4, FP16 (Tensor Core)</a:t>
                      </a:r>
                    </a:p>
                  </a:txBody>
                  <a:tcPr>
                    <a:solidFill>
                      <a:srgbClr val="FFFFFF"/>
                    </a:solidFill>
                  </a:tcPr>
                </a:tc>
                <a:tc>
                  <a:txBody>
                    <a:bodyPr/>
                    <a:lstStyle/>
                    <a:p>
                      <a:r>
                        <a:rPr sz="1400" b="0">
                          <a:solidFill>
                            <a:srgbClr val="1B2430"/>
                          </a:solidFill>
                          <a:latin typeface="Calibri"/>
                        </a:rPr>
                        <a:t>25–40</a:t>
                      </a:r>
                    </a:p>
                  </a:txBody>
                  <a:tcPr>
                    <a:solidFill>
                      <a:srgbClr val="FFFFFF"/>
                    </a:solidFill>
                  </a:tcPr>
                </a:tc>
                <a:tc>
                  <a:txBody>
                    <a:bodyPr/>
                    <a:lstStyle/>
                    <a:p>
                      <a:r>
                        <a:rPr sz="1400" b="0">
                          <a:solidFill>
                            <a:srgbClr val="1B2430"/>
                          </a:solidFill>
                          <a:latin typeface="Calibri"/>
                        </a:rPr>
                        <a:t>65</a:t>
                      </a:r>
                    </a:p>
                  </a:txBody>
                  <a:tcPr>
                    <a:solidFill>
                      <a:srgbClr val="FFFFFF"/>
                    </a:solidFill>
                  </a:tcPr>
                </a:tc>
                <a:tc>
                  <a:txBody>
                    <a:bodyPr/>
                    <a:lstStyle/>
                    <a:p>
                      <a:r>
                        <a:rPr sz="1400" b="0">
                          <a:solidFill>
                            <a:srgbClr val="1B2430"/>
                          </a:solidFill>
                          <a:latin typeface="Calibri"/>
                        </a:rPr>
                        <a:t>0,4–0,6</a:t>
                      </a:r>
                    </a:p>
                  </a:txBody>
                  <a:tcPr>
                    <a:solidFill>
                      <a:srgbClr val="FFFFFF"/>
                    </a:solidFill>
                  </a:tcPr>
                </a:tc>
              </a:tr>
              <a:tr h="520000">
                <a:tc>
                  <a:txBody>
                    <a:bodyPr/>
                    <a:lstStyle/>
                    <a:p>
                      <a:r>
                        <a:rPr sz="1400" b="0">
                          <a:solidFill>
                            <a:srgbClr val="1B2430"/>
                          </a:solidFill>
                          <a:latin typeface="Calibri"/>
                        </a:rPr>
                        <a:t>NVIDIA A100, FP32</a:t>
                      </a:r>
                    </a:p>
                  </a:txBody>
                  <a:tcPr>
                    <a:solidFill>
                      <a:srgbClr val="F1F4F8"/>
                    </a:solidFill>
                  </a:tcPr>
                </a:tc>
                <a:tc>
                  <a:txBody>
                    <a:bodyPr/>
                    <a:lstStyle/>
                    <a:p>
                      <a:r>
                        <a:rPr sz="1400" b="0">
                          <a:solidFill>
                            <a:srgbClr val="1B2430"/>
                          </a:solidFill>
                          <a:latin typeface="Calibri"/>
                        </a:rPr>
                        <a:t>17–19</a:t>
                      </a:r>
                    </a:p>
                  </a:txBody>
                  <a:tcPr>
                    <a:solidFill>
                      <a:srgbClr val="F1F4F8"/>
                    </a:solidFill>
                  </a:tcPr>
                </a:tc>
                <a:tc>
                  <a:txBody>
                    <a:bodyPr/>
                    <a:lstStyle/>
                    <a:p>
                      <a:r>
                        <a:rPr sz="1400" b="0">
                          <a:solidFill>
                            <a:srgbClr val="1B2430"/>
                          </a:solidFill>
                          <a:latin typeface="Calibri"/>
                        </a:rPr>
                        <a:t>19,5</a:t>
                      </a:r>
                    </a:p>
                  </a:txBody>
                  <a:tcPr>
                    <a:solidFill>
                      <a:srgbClr val="F1F4F8"/>
                    </a:solidFill>
                  </a:tcPr>
                </a:tc>
                <a:tc>
                  <a:txBody>
                    <a:bodyPr/>
                    <a:lstStyle/>
                    <a:p>
                      <a:r>
                        <a:rPr sz="1400" b="0">
                          <a:solidFill>
                            <a:srgbClr val="1B2430"/>
                          </a:solidFill>
                          <a:latin typeface="Calibri"/>
                        </a:rPr>
                        <a:t>~0,9</a:t>
                      </a:r>
                    </a:p>
                  </a:txBody>
                  <a:tcPr>
                    <a:solidFill>
                      <a:srgbClr val="F1F4F8"/>
                    </a:solidFill>
                  </a:tcPr>
                </a:tc>
              </a:tr>
              <a:tr h="520000">
                <a:tc>
                  <a:txBody>
                    <a:bodyPr/>
                    <a:lstStyle/>
                    <a:p>
                      <a:r>
                        <a:rPr sz="1400" b="0">
                          <a:solidFill>
                            <a:srgbClr val="1B2430"/>
                          </a:solidFill>
                          <a:latin typeface="Calibri"/>
                        </a:rPr>
                        <a:t>NVIDIA A100, TF32</a:t>
                      </a:r>
                    </a:p>
                  </a:txBody>
                  <a:tcPr>
                    <a:solidFill>
                      <a:srgbClr val="FFFFFF"/>
                    </a:solidFill>
                  </a:tcPr>
                </a:tc>
                <a:tc>
                  <a:txBody>
                    <a:bodyPr/>
                    <a:lstStyle/>
                    <a:p>
                      <a:r>
                        <a:rPr sz="1400" b="0">
                          <a:solidFill>
                            <a:srgbClr val="1B2430"/>
                          </a:solidFill>
                          <a:latin typeface="Calibri"/>
                        </a:rPr>
                        <a:t>90–130</a:t>
                      </a:r>
                    </a:p>
                  </a:txBody>
                  <a:tcPr>
                    <a:solidFill>
                      <a:srgbClr val="FFFFFF"/>
                    </a:solidFill>
                  </a:tcPr>
                </a:tc>
                <a:tc>
                  <a:txBody>
                    <a:bodyPr/>
                    <a:lstStyle/>
                    <a:p>
                      <a:r>
                        <a:rPr sz="1400" b="0">
                          <a:solidFill>
                            <a:srgbClr val="1B2430"/>
                          </a:solidFill>
                          <a:latin typeface="Calibri"/>
                        </a:rPr>
                        <a:t>156</a:t>
                      </a:r>
                    </a:p>
                  </a:txBody>
                  <a:tcPr>
                    <a:solidFill>
                      <a:srgbClr val="FFFFFF"/>
                    </a:solidFill>
                  </a:tcPr>
                </a:tc>
                <a:tc>
                  <a:txBody>
                    <a:bodyPr/>
                    <a:lstStyle/>
                    <a:p>
                      <a:r>
                        <a:rPr sz="1400" b="0">
                          <a:solidFill>
                            <a:srgbClr val="1B2430"/>
                          </a:solidFill>
                          <a:latin typeface="Calibri"/>
                        </a:rPr>
                        <a:t>0,6–0,8</a:t>
                      </a:r>
                    </a:p>
                  </a:txBody>
                  <a:tcPr>
                    <a:solidFill>
                      <a:srgbClr val="FFFFFF"/>
                    </a:solidFill>
                  </a:tcPr>
                </a:tc>
              </a:tr>
              <a:tr h="520000">
                <a:tc>
                  <a:txBody>
                    <a:bodyPr/>
                    <a:lstStyle/>
                    <a:p>
                      <a:r>
                        <a:rPr sz="1400" b="0">
                          <a:solidFill>
                            <a:srgbClr val="1B2430"/>
                          </a:solidFill>
                          <a:latin typeface="Calibri"/>
                        </a:rPr>
                        <a:t>NVIDIA A100, FP16/BF16</a:t>
                      </a:r>
                    </a:p>
                  </a:txBody>
                  <a:tcPr>
                    <a:solidFill>
                      <a:srgbClr val="F1F4F8"/>
                    </a:solidFill>
                  </a:tcPr>
                </a:tc>
                <a:tc>
                  <a:txBody>
                    <a:bodyPr/>
                    <a:lstStyle/>
                    <a:p>
                      <a:r>
                        <a:rPr sz="1400" b="0">
                          <a:solidFill>
                            <a:srgbClr val="1B2430"/>
                          </a:solidFill>
                          <a:latin typeface="Calibri"/>
                        </a:rPr>
                        <a:t>230–280</a:t>
                      </a:r>
                    </a:p>
                  </a:txBody>
                  <a:tcPr>
                    <a:solidFill>
                      <a:srgbClr val="F1F4F8"/>
                    </a:solidFill>
                  </a:tcPr>
                </a:tc>
                <a:tc>
                  <a:txBody>
                    <a:bodyPr/>
                    <a:lstStyle/>
                    <a:p>
                      <a:r>
                        <a:rPr sz="1400" b="0">
                          <a:solidFill>
                            <a:srgbClr val="1B2430"/>
                          </a:solidFill>
                          <a:latin typeface="Calibri"/>
                        </a:rPr>
                        <a:t>312</a:t>
                      </a:r>
                    </a:p>
                  </a:txBody>
                  <a:tcPr>
                    <a:solidFill>
                      <a:srgbClr val="F1F4F8"/>
                    </a:solidFill>
                  </a:tcPr>
                </a:tc>
                <a:tc>
                  <a:txBody>
                    <a:bodyPr/>
                    <a:lstStyle/>
                    <a:p>
                      <a:r>
                        <a:rPr sz="1400" b="0">
                          <a:solidFill>
                            <a:srgbClr val="1B2430"/>
                          </a:solidFill>
                          <a:latin typeface="Calibri"/>
                        </a:rPr>
                        <a:t>0,75–0,9</a:t>
                      </a:r>
                    </a:p>
                  </a:txBody>
                  <a:tcPr>
                    <a:solidFill>
                      <a:srgbClr val="F1F4F8"/>
                    </a:solidFill>
                  </a:tcPr>
                </a:tc>
              </a:tr>
              <a:tr h="520000">
                <a:tc>
                  <a:txBody>
                    <a:bodyPr/>
                    <a:lstStyle/>
                    <a:p>
                      <a:r>
                        <a:rPr sz="1400" b="0">
                          <a:solidFill>
                            <a:srgbClr val="1B2430"/>
                          </a:solidFill>
                          <a:latin typeface="Calibri"/>
                        </a:rPr>
                        <a:t>NVIDIA H100 SXM, FP16/BF16</a:t>
                      </a:r>
                    </a:p>
                  </a:txBody>
                  <a:tcPr>
                    <a:solidFill>
                      <a:srgbClr val="FFFFFF"/>
                    </a:solidFill>
                  </a:tcPr>
                </a:tc>
                <a:tc>
                  <a:txBody>
                    <a:bodyPr/>
                    <a:lstStyle/>
                    <a:p>
                      <a:r>
                        <a:rPr sz="1400" b="0">
                          <a:solidFill>
                            <a:srgbClr val="1B2430"/>
                          </a:solidFill>
                          <a:latin typeface="Calibri"/>
                        </a:rPr>
                        <a:t>600–750</a:t>
                      </a:r>
                    </a:p>
                  </a:txBody>
                  <a:tcPr>
                    <a:solidFill>
                      <a:srgbClr val="FFFFFF"/>
                    </a:solidFill>
                  </a:tcPr>
                </a:tc>
                <a:tc>
                  <a:txBody>
                    <a:bodyPr/>
                    <a:lstStyle/>
                    <a:p>
                      <a:r>
                        <a:rPr sz="1400" b="0">
                          <a:solidFill>
                            <a:srgbClr val="1B2430"/>
                          </a:solidFill>
                          <a:latin typeface="Calibri"/>
                        </a:rPr>
                        <a:t>~990</a:t>
                      </a:r>
                    </a:p>
                  </a:txBody>
                  <a:tcPr>
                    <a:solidFill>
                      <a:srgbClr val="FFFFFF"/>
                    </a:solidFill>
                  </a:tcPr>
                </a:tc>
                <a:tc>
                  <a:txBody>
                    <a:bodyPr/>
                    <a:lstStyle/>
                    <a:p>
                      <a:r>
                        <a:rPr sz="1400" b="0">
                          <a:solidFill>
                            <a:srgbClr val="1B2430"/>
                          </a:solidFill>
                          <a:latin typeface="Calibri"/>
                        </a:rPr>
                        <a:t>0,6–0,75</a:t>
                      </a:r>
                    </a:p>
                  </a:txBody>
                  <a:tcP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Matritsali ko'paytirish unumdorligini o'lchash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7FD6D7"/>
                </a:solidFill>
                <a:latin typeface="Consolas"/>
              </a:rPr>
              <a:t># matmul_bench.py — CPU va GPU da GEMM unumdorligi (TFLOPS)</a:t>
            </a:r>
          </a:p>
          <a:p>
            <a:r>
              <a:rPr sz="1000">
                <a:solidFill>
                  <a:srgbClr val="E2E8F0"/>
                </a:solidFill>
                <a:latin typeface="Consolas"/>
              </a:rPr>
              <a:t>import torch, time</a:t>
            </a:r>
          </a:p>
          <a:p>
            <a:r>
              <a:rPr sz="1000">
                <a:solidFill>
                  <a:srgbClr val="E2E8F0"/>
                </a:solidFill>
                <a:latin typeface="Consolas"/>
              </a:rPr>
              <a:t> </a:t>
            </a:r>
          </a:p>
          <a:p>
            <a:r>
              <a:rPr sz="1000">
                <a:solidFill>
                  <a:srgbClr val="E2E8F0"/>
                </a:solidFill>
                <a:latin typeface="Consolas"/>
              </a:rPr>
              <a:t>def bench_matmul(device, dtype, n, iters=20):</a:t>
            </a:r>
          </a:p>
          <a:p>
            <a:r>
              <a:rPr sz="1000">
                <a:solidFill>
                  <a:srgbClr val="E2E8F0"/>
                </a:solidFill>
                <a:latin typeface="Consolas"/>
              </a:rPr>
              <a:t>    a = torch.randn(n, n, device=device, dtype=dtype)</a:t>
            </a:r>
          </a:p>
          <a:p>
            <a:r>
              <a:rPr sz="1000">
                <a:solidFill>
                  <a:srgbClr val="E2E8F0"/>
                </a:solidFill>
                <a:latin typeface="Consolas"/>
              </a:rPr>
              <a:t>    b = torch.randn(n, n, device=device, dtype=dtype)</a:t>
            </a:r>
          </a:p>
          <a:p>
            <a:r>
              <a:rPr sz="1000">
                <a:solidFill>
                  <a:srgbClr val="E2E8F0"/>
                </a:solidFill>
                <a:latin typeface="Consolas"/>
              </a:rPr>
              <a:t>    for _ in range(3): (a @ b)                       # isitish</a:t>
            </a:r>
          </a:p>
          <a:p>
            <a:r>
              <a:rPr sz="1000">
                <a:solidFill>
                  <a:srgbClr val="E2E8F0"/>
                </a:solidFill>
                <a:latin typeface="Consolas"/>
              </a:rPr>
              <a:t>    if device == "cuda": torch.cuda.synchronize()</a:t>
            </a:r>
          </a:p>
          <a:p>
            <a:r>
              <a:rPr sz="1000">
                <a:solidFill>
                  <a:srgbClr val="E2E8F0"/>
                </a:solidFill>
                <a:latin typeface="Consolas"/>
              </a:rPr>
              <a:t>    t0 = time.perf_counter()</a:t>
            </a:r>
          </a:p>
          <a:p>
            <a:r>
              <a:rPr sz="1000">
                <a:solidFill>
                  <a:srgbClr val="E2E8F0"/>
                </a:solidFill>
                <a:latin typeface="Consolas"/>
              </a:rPr>
              <a:t>    for _ in range(iters): c = a @ b</a:t>
            </a:r>
          </a:p>
          <a:p>
            <a:r>
              <a:rPr sz="1000">
                <a:solidFill>
                  <a:srgbClr val="E2E8F0"/>
                </a:solidFill>
                <a:latin typeface="Consolas"/>
              </a:rPr>
              <a:t>    if device == "cuda": torch.cuda.synchronize()    # GPU asinxron — kutish shart</a:t>
            </a:r>
          </a:p>
          <a:p>
            <a:r>
              <a:rPr sz="1000">
                <a:solidFill>
                  <a:srgbClr val="E2E8F0"/>
                </a:solidFill>
                <a:latin typeface="Consolas"/>
              </a:rPr>
              <a:t>    dt = (time.perf_counter() - t0) / iters</a:t>
            </a:r>
          </a:p>
          <a:p>
            <a:r>
              <a:rPr sz="1000">
                <a:solidFill>
                  <a:srgbClr val="E2E8F0"/>
                </a:solidFill>
                <a:latin typeface="Consolas"/>
              </a:rPr>
              <a:t>    return 2 * n**3 / dt / 1e12                      # 2·n³ FLOP</a:t>
            </a:r>
          </a:p>
          <a:p>
            <a:r>
              <a:rPr sz="1000">
                <a:solidFill>
                  <a:srgbClr val="E2E8F0"/>
                </a:solidFill>
                <a:latin typeface="Consolas"/>
              </a:rPr>
              <a:t> </a:t>
            </a:r>
          </a:p>
          <a:p>
            <a:r>
              <a:rPr sz="1000">
                <a:solidFill>
                  <a:srgbClr val="E2E8F0"/>
                </a:solidFill>
                <a:latin typeface="Consolas"/>
              </a:rPr>
              <a:t>torch.backends.cuda.matmul.allow_tf32 = False       # avval «toza» FP32</a:t>
            </a:r>
          </a:p>
          <a:p>
            <a:r>
              <a:rPr sz="1000">
                <a:solidFill>
                  <a:srgbClr val="E2E8F0"/>
                </a:solidFill>
                <a:latin typeface="Consolas"/>
              </a:rPr>
              <a:t>configs = [("cpu", torch.float32), ("cpu", torch.bfloat16)]</a:t>
            </a:r>
          </a:p>
          <a:p>
            <a:r>
              <a:rPr sz="1000">
                <a:solidFill>
                  <a:srgbClr val="E2E8F0"/>
                </a:solidFill>
                <a:latin typeface="Consolas"/>
              </a:rPr>
              <a:t>if torch.cuda.is_available():</a:t>
            </a:r>
          </a:p>
          <a:p>
            <a:r>
              <a:rPr sz="1000">
                <a:solidFill>
                  <a:srgbClr val="E2E8F0"/>
                </a:solidFill>
                <a:latin typeface="Consolas"/>
              </a:rPr>
              <a:t>    configs += [("cuda", torch.float32), ("cuda", torch.float16), ("cuda", torch.bfloat16)]</a:t>
            </a:r>
          </a:p>
          <a:p>
            <a:r>
              <a:rPr sz="1000">
                <a:solidFill>
                  <a:srgbClr val="E2E8F0"/>
                </a:solidFill>
                <a:latin typeface="Consolas"/>
              </a:rPr>
              <a:t> </a:t>
            </a:r>
          </a:p>
          <a:p>
            <a:r>
              <a:rPr sz="1000">
                <a:solidFill>
                  <a:srgbClr val="E2E8F0"/>
                </a:solidFill>
                <a:latin typeface="Consolas"/>
              </a:rPr>
              <a:t>print(f"{'qurilma':8s} {'dtype':10s} " + " ".join(f"n={n:5d}" for n in (1024, 2048, 4096, 8192)))</a:t>
            </a:r>
          </a:p>
          <a:p>
            <a:r>
              <a:rPr sz="1000">
                <a:solidFill>
                  <a:srgbClr val="7FD6D7"/>
                </a:solidFill>
                <a:latin typeface="Consolas"/>
              </a:rPr>
              <a:t># … (to‘liq kod — mavzu matnida / GitHub’da)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Matritsa o'lchamining ta'siri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Jadvaldagi ustunlarni (n = 1024 … 8192) solishtiring. GPU da n = 1024 bo'lganda unumdorlik n = 8192 dagidan 3–10 baravar past bo'ladi — chunki 1024×1024 matritsani ko'paytirish atigi 2 GFLOP, bu H100 uchun mikrosekundlar, va yadro ishga tushirish (launch)…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Real model: ResNet-50 inferensi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Kutilgan taxminiy natijalar:</a:t>
            </a:r>
          </a:p>
          <a:p>
            <a:pPr>
              <a:spcAft>
                <a:spcPts val="900"/>
              </a:spcAft>
            </a:pPr>
            <a:r>
              <a:rPr sz="2000" b="1">
                <a:solidFill>
                  <a:srgbClr val="0F8B8D"/>
                </a:solidFill>
              </a:rPr>
              <a:t>▪  </a:t>
            </a:r>
            <a:r>
              <a:rPr sz="2000">
                <a:solidFill>
                  <a:srgbClr val="1B2430"/>
                </a:solidFill>
                <a:latin typeface="Calibri"/>
              </a:rPr>
              <a:t>Nima bo'ldi va nega. ResNet-50 bitta tasvir uchun taxminan 4,1 GMAC (8,2 GFLOP) talab qiladi. A100 FP16 da 3 500 tasvir/s — bu 29 TFLOPS samarali, ya'ni pasportning atigi 9 % i, matmul benchmarkdagi 85 % ga qarshi.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Real model: ResNet-50 inferensi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400" b="1">
                          <a:solidFill>
                            <a:srgbClr val="FFFFFF"/>
                          </a:solidFill>
                          <a:latin typeface="Calibri"/>
                        </a:rPr>
                        <a:t>Qurilma / aniqlik</a:t>
                      </a:r>
                    </a:p>
                  </a:txBody>
                  <a:tcPr>
                    <a:solidFill>
                      <a:srgbClr val="2D5C8F"/>
                    </a:solidFill>
                  </a:tcPr>
                </a:tc>
                <a:tc>
                  <a:txBody>
                    <a:bodyPr/>
                    <a:lstStyle/>
                    <a:p>
                      <a:r>
                        <a:rPr sz="1400" b="1">
                          <a:solidFill>
                            <a:srgbClr val="FFFFFF"/>
                          </a:solidFill>
                          <a:latin typeface="Calibri"/>
                        </a:rPr>
                        <a:t>batch=1, tasvir/s (ms)</a:t>
                      </a:r>
                    </a:p>
                  </a:txBody>
                  <a:tcPr>
                    <a:solidFill>
                      <a:srgbClr val="2D5C8F"/>
                    </a:solidFill>
                  </a:tcPr>
                </a:tc>
                <a:tc>
                  <a:txBody>
                    <a:bodyPr/>
                    <a:lstStyle/>
                    <a:p>
                      <a:r>
                        <a:rPr sz="1400" b="1">
                          <a:solidFill>
                            <a:srgbClr val="FFFFFF"/>
                          </a:solidFill>
                          <a:latin typeface="Calibri"/>
                        </a:rPr>
                        <a:t>batch=32, tasvir/s (ms)</a:t>
                      </a:r>
                    </a:p>
                  </a:txBody>
                  <a:tcPr>
                    <a:solidFill>
                      <a:srgbClr val="2D5C8F"/>
                    </a:solidFill>
                  </a:tcPr>
                </a:tc>
              </a:tr>
              <a:tr h="520000">
                <a:tc>
                  <a:txBody>
                    <a:bodyPr/>
                    <a:lstStyle/>
                    <a:p>
                      <a:r>
                        <a:rPr sz="1400" b="0">
                          <a:solidFill>
                            <a:srgbClr val="1B2430"/>
                          </a:solidFill>
                          <a:latin typeface="Calibri"/>
                        </a:rPr>
                        <a:t>CPU 16 yadro, FP32</a:t>
                      </a:r>
                    </a:p>
                  </a:txBody>
                  <a:tcPr>
                    <a:solidFill>
                      <a:srgbClr val="F1F4F8"/>
                    </a:solidFill>
                  </a:tcPr>
                </a:tc>
                <a:tc>
                  <a:txBody>
                    <a:bodyPr/>
                    <a:lstStyle/>
                    <a:p>
                      <a:r>
                        <a:rPr sz="1400" b="0">
                          <a:solidFill>
                            <a:srgbClr val="1B2430"/>
                          </a:solidFill>
                          <a:latin typeface="Calibri"/>
                        </a:rPr>
                        <a:t>30–60 (17–33 ms)</a:t>
                      </a:r>
                    </a:p>
                  </a:txBody>
                  <a:tcPr>
                    <a:solidFill>
                      <a:srgbClr val="F1F4F8"/>
                    </a:solidFill>
                  </a:tcPr>
                </a:tc>
                <a:tc>
                  <a:txBody>
                    <a:bodyPr/>
                    <a:lstStyle/>
                    <a:p>
                      <a:r>
                        <a:rPr sz="1400" b="0">
                          <a:solidFill>
                            <a:srgbClr val="1B2430"/>
                          </a:solidFill>
                          <a:latin typeface="Calibri"/>
                        </a:rPr>
                        <a:t>80–150 (210–400 ms)</a:t>
                      </a:r>
                    </a:p>
                  </a:txBody>
                  <a:tcPr>
                    <a:solidFill>
                      <a:srgbClr val="F1F4F8"/>
                    </a:solidFill>
                  </a:tcPr>
                </a:tc>
              </a:tr>
              <a:tr h="520000">
                <a:tc>
                  <a:txBody>
                    <a:bodyPr/>
                    <a:lstStyle/>
                    <a:p>
                      <a:r>
                        <a:rPr sz="1400" b="0">
                          <a:solidFill>
                            <a:srgbClr val="1B2430"/>
                          </a:solidFill>
                          <a:latin typeface="Calibri"/>
                        </a:rPr>
                        <a:t>T4, FP32</a:t>
                      </a:r>
                    </a:p>
                  </a:txBody>
                  <a:tcPr>
                    <a:solidFill>
                      <a:srgbClr val="FFFFFF"/>
                    </a:solidFill>
                  </a:tcPr>
                </a:tc>
                <a:tc>
                  <a:txBody>
                    <a:bodyPr/>
                    <a:lstStyle/>
                    <a:p>
                      <a:r>
                        <a:rPr sz="1400" b="0">
                          <a:solidFill>
                            <a:srgbClr val="1B2430"/>
                          </a:solidFill>
                          <a:latin typeface="Calibri"/>
                        </a:rPr>
                        <a:t>250–350 (3–4 ms)</a:t>
                      </a:r>
                    </a:p>
                  </a:txBody>
                  <a:tcPr>
                    <a:solidFill>
                      <a:srgbClr val="FFFFFF"/>
                    </a:solidFill>
                  </a:tcPr>
                </a:tc>
                <a:tc>
                  <a:txBody>
                    <a:bodyPr/>
                    <a:lstStyle/>
                    <a:p>
                      <a:r>
                        <a:rPr sz="1400" b="0">
                          <a:solidFill>
                            <a:srgbClr val="1B2430"/>
                          </a:solidFill>
                          <a:latin typeface="Calibri"/>
                        </a:rPr>
                        <a:t>400–500 (65–80 ms)</a:t>
                      </a:r>
                    </a:p>
                  </a:txBody>
                  <a:tcPr>
                    <a:solidFill>
                      <a:srgbClr val="FFFFFF"/>
                    </a:solidFill>
                  </a:tcPr>
                </a:tc>
              </a:tr>
              <a:tr h="520000">
                <a:tc>
                  <a:txBody>
                    <a:bodyPr/>
                    <a:lstStyle/>
                    <a:p>
                      <a:r>
                        <a:rPr sz="1400" b="0">
                          <a:solidFill>
                            <a:srgbClr val="1B2430"/>
                          </a:solidFill>
                          <a:latin typeface="Calibri"/>
                        </a:rPr>
                        <a:t>T4, FP16</a:t>
                      </a:r>
                    </a:p>
                  </a:txBody>
                  <a:tcPr>
                    <a:solidFill>
                      <a:srgbClr val="F1F4F8"/>
                    </a:solidFill>
                  </a:tcPr>
                </a:tc>
                <a:tc>
                  <a:txBody>
                    <a:bodyPr/>
                    <a:lstStyle/>
                    <a:p>
                      <a:r>
                        <a:rPr sz="1400" b="0">
                          <a:solidFill>
                            <a:srgbClr val="1B2430"/>
                          </a:solidFill>
                          <a:latin typeface="Calibri"/>
                        </a:rPr>
                        <a:t>400–600 (1,7–2,5 ms)</a:t>
                      </a:r>
                    </a:p>
                  </a:txBody>
                  <a:tcPr>
                    <a:solidFill>
                      <a:srgbClr val="F1F4F8"/>
                    </a:solidFill>
                  </a:tcPr>
                </a:tc>
                <a:tc>
                  <a:txBody>
                    <a:bodyPr/>
                    <a:lstStyle/>
                    <a:p>
                      <a:r>
                        <a:rPr sz="1400" b="0">
                          <a:solidFill>
                            <a:srgbClr val="1B2430"/>
                          </a:solidFill>
                          <a:latin typeface="Calibri"/>
                        </a:rPr>
                        <a:t>1 200–1 600 (20–27 ms)</a:t>
                      </a:r>
                    </a:p>
                  </a:txBody>
                  <a:tcPr>
                    <a:solidFill>
                      <a:srgbClr val="F1F4F8"/>
                    </a:solidFill>
                  </a:tcPr>
                </a:tc>
              </a:tr>
              <a:tr h="520000">
                <a:tc>
                  <a:txBody>
                    <a:bodyPr/>
                    <a:lstStyle/>
                    <a:p>
                      <a:r>
                        <a:rPr sz="1400" b="0">
                          <a:solidFill>
                            <a:srgbClr val="1B2430"/>
                          </a:solidFill>
                          <a:latin typeface="Calibri"/>
                        </a:rPr>
                        <a:t>A100, FP32</a:t>
                      </a:r>
                    </a:p>
                  </a:txBody>
                  <a:tcPr>
                    <a:solidFill>
                      <a:srgbClr val="FFFFFF"/>
                    </a:solidFill>
                  </a:tcPr>
                </a:tc>
                <a:tc>
                  <a:txBody>
                    <a:bodyPr/>
                    <a:lstStyle/>
                    <a:p>
                      <a:r>
                        <a:rPr sz="1400" b="0">
                          <a:solidFill>
                            <a:srgbClr val="1B2430"/>
                          </a:solidFill>
                          <a:latin typeface="Calibri"/>
                        </a:rPr>
                        <a:t>500–700 (1,5–2 ms)</a:t>
                      </a:r>
                    </a:p>
                  </a:txBody>
                  <a:tcPr>
                    <a:solidFill>
                      <a:srgbClr val="FFFFFF"/>
                    </a:solidFill>
                  </a:tcPr>
                </a:tc>
                <a:tc>
                  <a:txBody>
                    <a:bodyPr/>
                    <a:lstStyle/>
                    <a:p>
                      <a:r>
                        <a:rPr sz="1400" b="0">
                          <a:solidFill>
                            <a:srgbClr val="1B2430"/>
                          </a:solidFill>
                          <a:latin typeface="Calibri"/>
                        </a:rPr>
                        <a:t>1 300–1 700 (19–25 ms)</a:t>
                      </a:r>
                    </a:p>
                  </a:txBody>
                  <a:tcPr>
                    <a:solidFill>
                      <a:srgbClr val="FFFFFF"/>
                    </a:solidFill>
                  </a:tcPr>
                </a:tc>
              </a:tr>
              <a:tr h="520000">
                <a:tc>
                  <a:txBody>
                    <a:bodyPr/>
                    <a:lstStyle/>
                    <a:p>
                      <a:r>
                        <a:rPr sz="1400" b="0">
                          <a:solidFill>
                            <a:srgbClr val="1B2430"/>
                          </a:solidFill>
                          <a:latin typeface="Calibri"/>
                        </a:rPr>
                        <a:t>A100, FP16</a:t>
                      </a:r>
                    </a:p>
                  </a:txBody>
                  <a:tcPr>
                    <a:solidFill>
                      <a:srgbClr val="F1F4F8"/>
                    </a:solidFill>
                  </a:tcPr>
                </a:tc>
                <a:tc>
                  <a:txBody>
                    <a:bodyPr/>
                    <a:lstStyle/>
                    <a:p>
                      <a:r>
                        <a:rPr sz="1400" b="0">
                          <a:solidFill>
                            <a:srgbClr val="1B2430"/>
                          </a:solidFill>
                          <a:latin typeface="Calibri"/>
                        </a:rPr>
                        <a:t>700–1 000 (1–1,4 ms)</a:t>
                      </a:r>
                    </a:p>
                  </a:txBody>
                  <a:tcPr>
                    <a:solidFill>
                      <a:srgbClr val="F1F4F8"/>
                    </a:solidFill>
                  </a:tcPr>
                </a:tc>
                <a:tc>
                  <a:txBody>
                    <a:bodyPr/>
                    <a:lstStyle/>
                    <a:p>
                      <a:r>
                        <a:rPr sz="1400" b="0">
                          <a:solidFill>
                            <a:srgbClr val="1B2430"/>
                          </a:solidFill>
                          <a:latin typeface="Calibri"/>
                        </a:rPr>
                        <a:t>3 000–4 000 (8–11 ms)</a:t>
                      </a:r>
                    </a:p>
                  </a:txBody>
                  <a:tcPr>
                    <a:solidFill>
                      <a:srgbClr val="F1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Real model: ResNet-50 inferensi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7FD6D7"/>
                </a:solidFill>
                <a:latin typeface="Consolas"/>
              </a:rPr>
              <a:t># resnet_bench.py — ResNet-50 inferensi: tasvir/soniya va kechikish</a:t>
            </a:r>
          </a:p>
          <a:p>
            <a:r>
              <a:rPr sz="1000">
                <a:solidFill>
                  <a:srgbClr val="E2E8F0"/>
                </a:solidFill>
                <a:latin typeface="Consolas"/>
              </a:rPr>
              <a:t>import torch, time, torchvision</a:t>
            </a:r>
          </a:p>
          <a:p>
            <a:r>
              <a:rPr sz="1000">
                <a:solidFill>
                  <a:srgbClr val="E2E8F0"/>
                </a:solidFill>
                <a:latin typeface="Consolas"/>
              </a:rPr>
              <a:t> </a:t>
            </a:r>
          </a:p>
          <a:p>
            <a:r>
              <a:rPr sz="1000">
                <a:solidFill>
                  <a:srgbClr val="E2E8F0"/>
                </a:solidFill>
                <a:latin typeface="Consolas"/>
              </a:rPr>
              <a:t>def bench_model(device, dtype, batch, iters=30):</a:t>
            </a:r>
          </a:p>
          <a:p>
            <a:r>
              <a:rPr sz="1000">
                <a:solidFill>
                  <a:srgbClr val="E2E8F0"/>
                </a:solidFill>
                <a:latin typeface="Consolas"/>
              </a:rPr>
              <a:t>    model = torchvision.models.resnet50(weights=None).eval().to(device, dtype)</a:t>
            </a:r>
          </a:p>
          <a:p>
            <a:r>
              <a:rPr sz="1000">
                <a:solidFill>
                  <a:srgbClr val="E2E8F0"/>
                </a:solidFill>
                <a:latin typeface="Consolas"/>
              </a:rPr>
              <a:t>    x = torch.randn(batch, 3, 224, 224, device=device, dtype=dtype)</a:t>
            </a:r>
          </a:p>
          <a:p>
            <a:r>
              <a:rPr sz="1000">
                <a:solidFill>
                  <a:srgbClr val="E2E8F0"/>
                </a:solidFill>
                <a:latin typeface="Consolas"/>
              </a:rPr>
              <a:t>    with torch.inference_mode():</a:t>
            </a:r>
          </a:p>
          <a:p>
            <a:r>
              <a:rPr sz="1000">
                <a:solidFill>
                  <a:srgbClr val="E2E8F0"/>
                </a:solidFill>
                <a:latin typeface="Consolas"/>
              </a:rPr>
              <a:t>        for _ in range(5): model(x)</a:t>
            </a:r>
          </a:p>
          <a:p>
            <a:r>
              <a:rPr sz="1000">
                <a:solidFill>
                  <a:srgbClr val="E2E8F0"/>
                </a:solidFill>
                <a:latin typeface="Consolas"/>
              </a:rPr>
              <a:t>        if device == "cuda": torch.cuda.synchronize()</a:t>
            </a:r>
          </a:p>
          <a:p>
            <a:r>
              <a:rPr sz="1000">
                <a:solidFill>
                  <a:srgbClr val="E2E8F0"/>
                </a:solidFill>
                <a:latin typeface="Consolas"/>
              </a:rPr>
              <a:t>        t0 = time.perf_counter()</a:t>
            </a:r>
          </a:p>
          <a:p>
            <a:r>
              <a:rPr sz="1000">
                <a:solidFill>
                  <a:srgbClr val="E2E8F0"/>
                </a:solidFill>
                <a:latin typeface="Consolas"/>
              </a:rPr>
              <a:t>        for _ in range(iters): model(x)</a:t>
            </a:r>
          </a:p>
          <a:p>
            <a:r>
              <a:rPr sz="1000">
                <a:solidFill>
                  <a:srgbClr val="E2E8F0"/>
                </a:solidFill>
                <a:latin typeface="Consolas"/>
              </a:rPr>
              <a:t>        if device == "cuda": torch.cuda.synchronize()</a:t>
            </a:r>
          </a:p>
          <a:p>
            <a:r>
              <a:rPr sz="1000">
                <a:solidFill>
                  <a:srgbClr val="E2E8F0"/>
                </a:solidFill>
                <a:latin typeface="Consolas"/>
              </a:rPr>
              <a:t>    dt = (time.perf_counter() - t0) / iters</a:t>
            </a:r>
          </a:p>
          <a:p>
            <a:r>
              <a:rPr sz="1000">
                <a:solidFill>
                  <a:srgbClr val="E2E8F0"/>
                </a:solidFill>
                <a:latin typeface="Consolas"/>
              </a:rPr>
              <a:t>    return batch / dt, dt * 1e3                      # tasvir/s, ms/paket</a:t>
            </a:r>
          </a:p>
          <a:p>
            <a:r>
              <a:rPr sz="1000">
                <a:solidFill>
                  <a:srgbClr val="E2E8F0"/>
                </a:solidFill>
                <a:latin typeface="Consolas"/>
              </a:rPr>
              <a:t> </a:t>
            </a:r>
          </a:p>
          <a:p>
            <a:r>
              <a:rPr sz="1000">
                <a:solidFill>
                  <a:srgbClr val="E2E8F0"/>
                </a:solidFill>
                <a:latin typeface="Consolas"/>
              </a:rPr>
              <a:t>for dev, dt in [("cpu", torch.float32)] + \</a:t>
            </a:r>
          </a:p>
          <a:p>
            <a:r>
              <a:rPr sz="1000">
                <a:solidFill>
                  <a:srgbClr val="E2E8F0"/>
                </a:solidFill>
                <a:latin typeface="Consolas"/>
              </a:rPr>
              <a:t>        ([("cuda", torch.float32), ("cuda", torch.float16)] if torch.cuda.is_available() else []):</a:t>
            </a:r>
          </a:p>
          <a:p>
            <a:r>
              <a:rPr sz="1000">
                <a:solidFill>
                  <a:srgbClr val="E2E8F0"/>
                </a:solidFill>
                <a:latin typeface="Consolas"/>
              </a:rPr>
              <a:t>    for batch in (1, 32):</a:t>
            </a:r>
          </a:p>
          <a:p>
            <a:r>
              <a:rPr sz="1000">
                <a:solidFill>
                  <a:srgbClr val="E2E8F0"/>
                </a:solidFill>
                <a:latin typeface="Consolas"/>
              </a:rPr>
              <a:t>        if dev == "cpu" and batch == 32: iters = 5</a:t>
            </a:r>
          </a:p>
          <a:p>
            <a:r>
              <a:rPr sz="1000">
                <a:solidFill>
                  <a:srgbClr val="E2E8F0"/>
                </a:solidFill>
                <a:latin typeface="Consolas"/>
              </a:rPr>
              <a:t>        else: iters = 30</a:t>
            </a:r>
          </a:p>
          <a:p>
            <a:r>
              <a:rPr sz="1000">
                <a:solidFill>
                  <a:srgbClr val="7FD6D7"/>
                </a:solidFill>
                <a:latin typeface="Consolas"/>
              </a:rPr>
              <a:t># … (to‘liq kod — mavzu matnida / GitHub’da)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O'lchovlar nazariy bo'limdagi tezislarni miqdoriy tasdiqlaydi. CPU va GPU orasidagi farq «ideal» yukda (katta GEMM, FP16) ikki tartibga (100–200 baravar) yetadi, real modelda (ResNet-50, batch=32) esa 20–40 baravar.</a:t>
            </a:r>
          </a:p>
          <a:p>
            <a:pPr>
              <a:spcAft>
                <a:spcPts val="900"/>
              </a:spcAft>
            </a:pPr>
            <a:r>
              <a:rPr sz="1800" b="1">
                <a:solidFill>
                  <a:srgbClr val="0F8B8D"/>
                </a:solidFill>
              </a:rPr>
              <a:t>▪  </a:t>
            </a:r>
            <a:r>
              <a:rPr sz="1800">
                <a:solidFill>
                  <a:srgbClr val="1B2430"/>
                </a:solidFill>
                <a:latin typeface="Calibri"/>
              </a:rPr>
              <a:t>Foydalanish koeffitsiyentining 0,85 (GEMM) dan 0,09 (ResNet-50 eager) ga tushishi mavzuning asosiy darsi. Tezlatkich ixtisoslashgani sari u «to'g'ri» yukni talab qiladi: katta, muntazam, oldindan kompilyatsiya qilingan.</a:t>
            </a:r>
          </a:p>
          <a:p>
            <a:pPr>
              <a:spcAft>
                <a:spcPts val="900"/>
              </a:spcAft>
            </a:pPr>
            <a:r>
              <a:rPr sz="1800" b="1">
                <a:solidFill>
                  <a:srgbClr val="0F8B8D"/>
                </a:solidFill>
              </a:rPr>
              <a:t>▪  </a:t>
            </a:r>
            <a:r>
              <a:rPr sz="1800">
                <a:solidFill>
                  <a:srgbClr val="1B2430"/>
                </a:solidFill>
                <a:latin typeface="Calibri"/>
              </a:rPr>
              <a:t>Benchmarkning cheklovlari: sintetik tasodifiy ma'lumot (ma'lumot yuklash quvuri o'lchanmadi), bitta jarayon va bitta oqim, sovutish va chastota o'zgarishi (thermal throttling) hisobga olinmadi, CPU da MKL/oneDNN sozlamalari standart qoldirildi. Ishlab…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GPU vaqtini sinxronizatsiyasiz o'lchash. CUDA chaqiruvlari asinxron; torch.cuda.synchronize() yoki CUDA Event larsiz o'lchangan vaqt faqat buyruq yuborish vaqtidir va yuz baravar kam…</a:t>
            </a:r>
          </a:p>
          <a:p>
            <a:pPr>
              <a:spcAft>
                <a:spcPts val="900"/>
              </a:spcAft>
            </a:pPr>
            <a:r>
              <a:rPr sz="1600" b="1">
                <a:solidFill>
                  <a:srgbClr val="0F8B8D"/>
                </a:solidFill>
              </a:rPr>
              <a:t>▪  </a:t>
            </a:r>
            <a:r>
              <a:rPr sz="1600">
                <a:solidFill>
                  <a:srgbClr val="1B2430"/>
                </a:solidFill>
                <a:latin typeface="Calibri"/>
              </a:rPr>
              <a:t>Isitishsiz (warm-up) o'lchash. Birinchi chaqiruvda cuDNN algoritm tanlaydi, xotira ajratadi, JIT kompilyatsiya bajaradi; bu 10–1000 baravar sekin bo'lishi mumkin. Kamida 3–10 isitish…</a:t>
            </a:r>
          </a:p>
          <a:p>
            <a:pPr>
              <a:spcAft>
                <a:spcPts val="900"/>
              </a:spcAft>
            </a:pPr>
            <a:r>
              <a:rPr sz="1600" b="1">
                <a:solidFill>
                  <a:srgbClr val="0F8B8D"/>
                </a:solidFill>
              </a:rPr>
              <a:t>▪  </a:t>
            </a:r>
            <a:r>
              <a:rPr sz="1600">
                <a:solidFill>
                  <a:srgbClr val="1B2430"/>
                </a:solidFill>
                <a:latin typeface="Calibri"/>
              </a:rPr>
              <a:t>Siyrak va zich ko'rsatkichlarni aralashtirish. NVIDIA pasportlari ko'pincha 2:4 siyraklik bilan beriladi (H100 FP16: 1 979 siyrak / 989 zich). Taqqoslashda doim zich raqamni oling, agar…</a:t>
            </a:r>
          </a:p>
          <a:p>
            <a:pPr>
              <a:spcAft>
                <a:spcPts val="900"/>
              </a:spcAft>
            </a:pPr>
            <a:r>
              <a:rPr sz="1600" b="1">
                <a:solidFill>
                  <a:srgbClr val="0F8B8D"/>
                </a:solidFill>
              </a:rPr>
              <a:t>▪  </a:t>
            </a:r>
            <a:r>
              <a:rPr sz="1600">
                <a:solidFill>
                  <a:srgbClr val="1B2430"/>
                </a:solidFill>
                <a:latin typeface="Calibri"/>
              </a:rPr>
              <a:t>TF32 ni e'tiborsiz qoldirish. Ampere va undan keyingi GPU larda PyTorch konvolyutsiyalar uchun TF32 ni standart yoqadi, matmul uchun esa yo'q. Natijalar «FP32» deb nomlanib, aslida turli…</a:t>
            </a:r>
          </a:p>
          <a:p>
            <a:pPr>
              <a:spcAft>
                <a:spcPts val="900"/>
              </a:spcAft>
            </a:pPr>
            <a:r>
              <a:rPr sz="1600" b="1">
                <a:solidFill>
                  <a:srgbClr val="0F8B8D"/>
                </a:solidFill>
              </a:rPr>
              <a:t>▪  </a:t>
            </a:r>
            <a:r>
              <a:rPr sz="1600">
                <a:solidFill>
                  <a:srgbClr val="1B2430"/>
                </a:solidFill>
                <a:latin typeface="Calibri"/>
              </a:rPr>
              <a:t>Tezlatkichni kichik yuk bilan ta'minlash. batch=1, kichik matritsalar, ko'p mayda yadrolar — GPU imkoniyatining 5–10 % i. Paketlang, yadrolarni birlashtiring (torch.compile, TensorRT), CUDA…</a:t>
            </a:r>
          </a:p>
          <a:p>
            <a:pPr>
              <a:spcAft>
                <a:spcPts val="900"/>
              </a:spcAft>
            </a:pPr>
            <a:r>
              <a:rPr sz="1600" b="1">
                <a:solidFill>
                  <a:srgbClr val="0F8B8D"/>
                </a:solidFill>
              </a:rPr>
              <a:t>▪  </a:t>
            </a:r>
            <a:r>
              <a:rPr sz="1600">
                <a:solidFill>
                  <a:srgbClr val="1B2430"/>
                </a:solidFill>
                <a:latin typeface="Calibri"/>
              </a:rPr>
              <a:t>CPU ni «sekin» deb hisoblab, uni sozlamaslik. torch.set_num_threads, oneDNN, AMX/AVX-512, to'g'ri xotira joylashuvi (channels_last) CPU inferensini 2–5 baravar tezlashtiradi; ko'p past…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Xotira o'tkazuvchanligini unutish. Katta paketda ResNet-50 hisoblash bilan, kichik paketda va LLM inferensida xotira bilan cheklanadi. Tezlatkichni tanlashda GB/s ko'rsatkichini…</a:t>
            </a:r>
          </a:p>
          <a:p>
            <a:pPr>
              <a:spcAft>
                <a:spcPts val="900"/>
              </a:spcAft>
            </a:pPr>
            <a:r>
              <a:rPr sz="2000" b="1">
                <a:solidFill>
                  <a:srgbClr val="0F8B8D"/>
                </a:solidFill>
              </a:rPr>
              <a:t>▪  </a:t>
            </a:r>
            <a:r>
              <a:rPr sz="2000">
                <a:solidFill>
                  <a:srgbClr val="1B2430"/>
                </a:solidFill>
                <a:latin typeface="Calibri"/>
              </a:rPr>
              <a:t>Platformani ekotizimsiz tanlash. Arzon yoki samarali ko'ringan tezlatkich (noma'lum NPU, FPGA) uchun kompilyator, operatorlar va profiler yetarli bo'lmasa, muhandislik xarajati apparat…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CPU «kechikishga», GPU esa «o'tkazuvchanlikka» optimallashtirilgan deyiladi. Bu farq kristall maydoni taqsimotida va xotira kechikishini yashirish mexanizmida qanday namoyon bo'ladi?</a:t>
            </a:r>
          </a:p>
          <a:p>
            <a:pPr>
              <a:spcAft>
                <a:spcPts val="900"/>
              </a:spcAft>
            </a:pPr>
            <a:r>
              <a:rPr sz="1600" b="1">
                <a:solidFill>
                  <a:srgbClr val="0F8B8D"/>
                </a:solidFill>
              </a:rPr>
              <a:t>▪  </a:t>
            </a:r>
            <a:r>
              <a:rPr sz="1600">
                <a:solidFill>
                  <a:srgbClr val="1B2430"/>
                </a:solidFill>
                <a:latin typeface="Calibri"/>
              </a:rPr>
              <a:t>Sistolik massivda har bir MAC bloki natijani faqat qo'shnisiga uzatadi. Bu loyihalash qarori energiya sarfi va dasturlash modeliga qanday ta'sir qiladi? Qanday yuklarda sistolik massiv…</a:t>
            </a:r>
          </a:p>
          <a:p>
            <a:pPr>
              <a:spcAft>
                <a:spcPts val="900"/>
              </a:spcAft>
            </a:pPr>
            <a:r>
              <a:rPr sz="1600" b="1">
                <a:solidFill>
                  <a:srgbClr val="0F8B8D"/>
                </a:solidFill>
              </a:rPr>
              <a:t>▪  </a:t>
            </a:r>
            <a:r>
              <a:rPr sz="1600">
                <a:solidFill>
                  <a:srgbClr val="1B2430"/>
                </a:solidFill>
                <a:latin typeface="Calibri"/>
              </a:rPr>
              <a:t>Nega A100 da FP32 dan FP16 ga o'tish matmul unumdorligini 15 baravar, ResNet-50 unumdorligini esa faqat 2–3 baravar oshirdi? Bu farqdan qanday amaliy xulosa chiqadi?</a:t>
            </a:r>
          </a:p>
          <a:p>
            <a:pPr>
              <a:spcAft>
                <a:spcPts val="900"/>
              </a:spcAft>
            </a:pPr>
            <a:r>
              <a:rPr sz="1600" b="1">
                <a:solidFill>
                  <a:srgbClr val="0F8B8D"/>
                </a:solidFill>
              </a:rPr>
              <a:t>▪  </a:t>
            </a:r>
            <a:r>
              <a:rPr sz="1600">
                <a:solidFill>
                  <a:srgbClr val="1B2430"/>
                </a:solidFill>
                <a:latin typeface="Calibri"/>
              </a:rPr>
              <a:t>Intel AMX bilan Xeon protsessori 200 TOPS dan ortiq INT8 unumdorlik beradi. Shunga qaramay nega katta modellar uchun GPU afzal qolmoqda? Qaysi yuklarda AMX li CPU GPU dan iqtisodiy jihatdan…</a:t>
            </a:r>
          </a:p>
          <a:p>
            <a:pPr>
              <a:spcAft>
                <a:spcPts val="900"/>
              </a:spcAft>
            </a:pPr>
            <a:r>
              <a:rPr sz="1600" b="1">
                <a:solidFill>
                  <a:srgbClr val="0F8B8D"/>
                </a:solidFill>
              </a:rPr>
              <a:t>▪  </a:t>
            </a:r>
            <a:r>
              <a:rPr sz="1600">
                <a:solidFill>
                  <a:srgbClr val="1B2430"/>
                </a:solidFill>
                <a:latin typeface="Calibri"/>
              </a:rPr>
              <a:t>FPGA bir xil texnologik jarayonda ASIC dan 5–10 baravar kam samarali. Qanday sharoitlarda FPGA baribir to'g'ri tanlov bo'ladi? Uchta aniq sanoat holatini keltiring.</a:t>
            </a:r>
          </a:p>
          <a:p>
            <a:pPr>
              <a:spcAft>
                <a:spcPts val="900"/>
              </a:spcAft>
            </a:pPr>
            <a:r>
              <a:rPr sz="1600" b="1">
                <a:solidFill>
                  <a:srgbClr val="0F8B8D"/>
                </a:solidFill>
              </a:rPr>
              <a:t>▪  </a:t>
            </a:r>
            <a:r>
              <a:rPr sz="1600">
                <a:solidFill>
                  <a:srgbClr val="1B2430"/>
                </a:solidFill>
                <a:latin typeface="Calibri"/>
              </a:rPr>
              <a:t>NVIDIA GH200 da CPU va GPU NVLink-C2C orqali 900 GB/s bilan bog'langan. PCIe 5.0 x16 bilan taqqoslaganda bu qaysi turdagi yuklarda (misol bilan) tub farq beradi va qaysilarida bermaydi?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DGX H100 ichidagi GPU lar 900 GB/s NVLink bilan, serverlar esa 400 Gbit/s InfiniBand bilan ulangan. Bu 70 baravar farq taqsimlangan o'qitish algoritmini loyihalashga qanday ta'sir qiladi?</a:t>
            </a:r>
          </a:p>
          <a:p>
            <a:pPr>
              <a:spcAft>
                <a:spcPts val="900"/>
              </a:spcAft>
            </a:pPr>
            <a:r>
              <a:rPr sz="1800" b="1">
                <a:solidFill>
                  <a:srgbClr val="0F8B8D"/>
                </a:solidFill>
              </a:rPr>
              <a:t>▪  </a:t>
            </a:r>
            <a:r>
              <a:rPr sz="1800">
                <a:solidFill>
                  <a:srgbClr val="1B2430"/>
                </a:solidFill>
                <a:latin typeface="Calibri"/>
              </a:rPr>
              <a:t>«El Capitan 1,74 eksaflops» va «xAI Colossus 100 000 H100» ko'rsatkichlarini bevosita taqqoslash mumkinmi? Qaysi aniqlik va qaysi benchmark nazarda tutilishini aniqlashtiring.</a:t>
            </a:r>
          </a:p>
          <a:p>
            <a:pPr>
              <a:spcAft>
                <a:spcPts val="900"/>
              </a:spcAft>
            </a:pPr>
            <a:r>
              <a:rPr sz="1800" b="1">
                <a:solidFill>
                  <a:srgbClr val="0F8B8D"/>
                </a:solidFill>
              </a:rPr>
              <a:t>▪  </a:t>
            </a:r>
            <a:r>
              <a:rPr sz="1800">
                <a:solidFill>
                  <a:srgbClr val="1B2430"/>
                </a:solidFill>
                <a:latin typeface="Calibri"/>
              </a:rPr>
              <a:t>Geterogen tizimda tezlatkich ma'lumot kutib bo'sh turishini qanday aniqlaysiz va uni bartaraf etishning kamida uchta usulini taklif qiling.</a:t>
            </a:r>
          </a:p>
          <a:p>
            <a:pPr>
              <a:spcAft>
                <a:spcPts val="900"/>
              </a:spcAft>
            </a:pPr>
            <a:r>
              <a:rPr sz="1800" b="1">
                <a:solidFill>
                  <a:srgbClr val="0F8B8D"/>
                </a:solidFill>
              </a:rPr>
              <a:t>▪  </a:t>
            </a:r>
            <a:r>
              <a:rPr sz="1800">
                <a:solidFill>
                  <a:srgbClr val="1B2430"/>
                </a:solidFill>
                <a:latin typeface="Calibri"/>
              </a:rPr>
              <a:t>Amaliy misoldagi torch.cuda.synchronize() ni olib tashlasak natija qanday o'zgaradi va nima uchun? Bu xato ishlab chiqarish tizimida qanday noto'g'ri qarorlarga olib kelishi mumkin?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1-topshiriq (sillabusdagi 3-mustaqil ta'lim topshirig'iga bog'langan).</a:t>
            </a:r>
          </a:p>
          <a:p>
            <a:pPr>
              <a:spcAft>
                <a:spcPts val="900"/>
              </a:spcAft>
            </a:pPr>
            <a:r>
              <a:rPr sz="1800" b="1">
                <a:solidFill>
                  <a:srgbClr val="0F8B8D"/>
                </a:solidFill>
              </a:rPr>
              <a:t>▪  </a:t>
            </a:r>
            <a:r>
              <a:rPr sz="1800">
                <a:solidFill>
                  <a:srgbClr val="1B2430"/>
                </a:solidFill>
                <a:latin typeface="Calibri"/>
              </a:rPr>
              <a:t>Baholash mezoni: ko'rsatkichlarning to'g'ri va solishtirma shartda (zich/siyrak, bir xil aniqlik) keltirilishi (35 %), arxitekturaviy farqlarning tushuntirilishi (25 %), ilovaga mos…</a:t>
            </a:r>
          </a:p>
          <a:p>
            <a:pPr>
              <a:spcAft>
                <a:spcPts val="900"/>
              </a:spcAft>
            </a:pPr>
            <a:r>
              <a:rPr sz="1800" b="1">
                <a:solidFill>
                  <a:srgbClr val="0F8B8D"/>
                </a:solidFill>
              </a:rPr>
              <a:t>▪  </a:t>
            </a:r>
            <a:r>
              <a:rPr sz="1800">
                <a:solidFill>
                  <a:srgbClr val="1B2430"/>
                </a:solidFill>
                <a:latin typeface="Calibri"/>
              </a:rPr>
              <a:t>2-topshiriq (amaliy). Ma'ruzadagi uchta benchmark skriptini mavjud apparatingizda (kamida CPU; imkon bo'lsa Google Colab T4 yoki boshqa GPU) bajaring.</a:t>
            </a:r>
          </a:p>
          <a:p>
            <a:pPr>
              <a:spcAft>
                <a:spcPts val="900"/>
              </a:spcAft>
            </a:pPr>
            <a:r>
              <a:rPr sz="1800" b="1">
                <a:solidFill>
                  <a:srgbClr val="0F8B8D"/>
                </a:solidFill>
              </a:rPr>
              <a:t>▪  </a:t>
            </a:r>
            <a:r>
              <a:rPr sz="1800">
                <a:solidFill>
                  <a:srgbClr val="1B2430"/>
                </a:solidFill>
                <a:latin typeface="Calibri"/>
              </a:rPr>
              <a:t>Baholash mezoni: o'lchov metodikasining to'g'riligi (sinxronizatsiya, isitish, takrorlash) (40 %), η hisobining to'g'riligi (20 %), kuzatuvlarning arxitektura nazariyasi bilan bog'lanishi…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[1] Hennessy, J. L., &amp; Patterson, D. A. Computer Architecture: A Quantitative Approach. 7th Edition. Morgan Kaufmann, 2024. — 4-bob (ma'lumot darajasidagi parallellik: vektor, SIMD, GPU),…</a:t>
            </a:r>
          </a:p>
          <a:p>
            <a:pPr>
              <a:spcAft>
                <a:spcPts val="900"/>
              </a:spcAft>
            </a:pPr>
            <a:r>
              <a:rPr sz="1600" b="1">
                <a:solidFill>
                  <a:srgbClr val="0F8B8D"/>
                </a:solidFill>
              </a:rPr>
              <a:t>▪  </a:t>
            </a:r>
            <a:r>
              <a:rPr sz="1600">
                <a:solidFill>
                  <a:srgbClr val="1B2430"/>
                </a:solidFill>
                <a:latin typeface="Calibri"/>
              </a:rPr>
              <a:t>[4] Sze, V., Chen, Y.-H., Yang, T.-J., &amp; Emer, J. S. Efficient Processing of Deep Neural Networks: A Tutorial and Survey. Morgan &amp; Claypool, 2020. — 4–6-boblar (yadro hisoblash, ma'lumot…</a:t>
            </a:r>
          </a:p>
          <a:p>
            <a:pPr>
              <a:spcAft>
                <a:spcPts val="900"/>
              </a:spcAft>
            </a:pPr>
            <a:r>
              <a:rPr sz="1600" b="1">
                <a:solidFill>
                  <a:srgbClr val="0F8B8D"/>
                </a:solidFill>
              </a:rPr>
              <a:t>▪  </a:t>
            </a:r>
            <a:r>
              <a:rPr sz="1600">
                <a:solidFill>
                  <a:srgbClr val="1B2430"/>
                </a:solidFill>
                <a:latin typeface="Calibri"/>
              </a:rPr>
              <a:t>[5] Kirk, D. B., &amp; Hwu, W.-M. W. Programming Massively Parallel Processors: A Hands-on Approach. 4th Edition. Morgan Kaufmann, 2022. — 1–4-boblar (GPU arxitekturasi, SIMT, xotira…</a:t>
            </a:r>
          </a:p>
          <a:p>
            <a:pPr>
              <a:spcAft>
                <a:spcPts val="900"/>
              </a:spcAft>
            </a:pPr>
            <a:r>
              <a:rPr sz="1600" b="1">
                <a:solidFill>
                  <a:srgbClr val="0F8B8D"/>
                </a:solidFill>
              </a:rPr>
              <a:t>▪  </a:t>
            </a:r>
            <a:r>
              <a:rPr sz="1600">
                <a:solidFill>
                  <a:srgbClr val="1B2430"/>
                </a:solidFill>
                <a:latin typeface="Calibri"/>
              </a:rPr>
              <a:t>[6] NVIDIA Developer Portal — https://developer.nvidia.com (H100/A100 arxitektura hujjatlari, DGX tizimlari, CUDA).</a:t>
            </a:r>
          </a:p>
          <a:p>
            <a:pPr>
              <a:spcAft>
                <a:spcPts val="900"/>
              </a:spcAft>
            </a:pPr>
            <a:r>
              <a:rPr sz="1600" b="1">
                <a:solidFill>
                  <a:srgbClr val="0F8B8D"/>
                </a:solidFill>
              </a:rPr>
              <a:t>▪  </a:t>
            </a:r>
            <a:r>
              <a:rPr sz="1600">
                <a:solidFill>
                  <a:srgbClr val="1B2430"/>
                </a:solidFill>
                <a:latin typeface="Calibri"/>
              </a:rPr>
              <a:t>[7] PyTorch rasmiy hujjatlari — https://pytorch.org (CUDA semantikasi, benchmark, aniqlik rejimlari).</a:t>
            </a:r>
          </a:p>
          <a:p>
            <a:pPr>
              <a:spcAft>
                <a:spcPts val="900"/>
              </a:spcAft>
            </a:pPr>
            <a:r>
              <a:rPr sz="1600" b="1">
                <a:solidFill>
                  <a:srgbClr val="0F8B8D"/>
                </a:solidFill>
              </a:rPr>
              <a:t>▪  </a:t>
            </a:r>
            <a:r>
              <a:rPr sz="1600">
                <a:solidFill>
                  <a:srgbClr val="1B2430"/>
                </a:solidFill>
                <a:latin typeface="Calibri"/>
              </a:rPr>
              <a:t>[8] TensorFlow rasmiy hujjatlari — https://www.tensorflow.org (TPU bilan ishlash, XLA).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Jouppi, N. P., Young, C., Patil, N., et al. In-Datacenter Performance Analysis of a Tensor Processing Unit. Proceedings of the 44th International Symposium on Computer Architecture (ISCA…</a:t>
            </a:r>
          </a:p>
          <a:p>
            <a:pPr>
              <a:spcAft>
                <a:spcPts val="900"/>
              </a:spcAft>
            </a:pPr>
            <a:r>
              <a:rPr sz="2000" b="1">
                <a:solidFill>
                  <a:srgbClr val="0F8B8D"/>
                </a:solidFill>
              </a:rPr>
              <a:t>▪  </a:t>
            </a:r>
            <a:r>
              <a:rPr sz="2000">
                <a:solidFill>
                  <a:srgbClr val="1B2430"/>
                </a:solidFill>
                <a:latin typeface="Calibri"/>
              </a:rPr>
              <a:t>Hennessy, J. L., &amp; Patterson, D. A. A New Golden Age for Computer Architecture. Communications of the ACM, 62(2), 2019.</a:t>
            </a:r>
          </a:p>
          <a:p>
            <a:pPr>
              <a:spcAft>
                <a:spcPts val="900"/>
              </a:spcAft>
            </a:pPr>
            <a:r>
              <a:rPr sz="2000" b="1">
                <a:solidFill>
                  <a:srgbClr val="0F8B8D"/>
                </a:solidFill>
              </a:rPr>
              <a:t>▪  </a:t>
            </a:r>
            <a:r>
              <a:rPr sz="2000">
                <a:solidFill>
                  <a:srgbClr val="1B2430"/>
                </a:solidFill>
                <a:latin typeface="Calibri"/>
              </a:rPr>
              <a:t>Google Cloud TPU hujjatlari — https://cloud.google.com/tpu/docs.</a:t>
            </a:r>
          </a:p>
          <a:p>
            <a:pPr>
              <a:spcAft>
                <a:spcPts val="900"/>
              </a:spcAft>
            </a:pPr>
            <a:r>
              <a:rPr sz="2000" b="1">
                <a:solidFill>
                  <a:srgbClr val="0F8B8D"/>
                </a:solidFill>
              </a:rPr>
              <a:t>▪  </a:t>
            </a:r>
            <a:r>
              <a:rPr sz="2000">
                <a:solidFill>
                  <a:srgbClr val="1B2430"/>
                </a:solidFill>
                <a:latin typeface="Calibri"/>
              </a:rPr>
              <a:t>TOP500 superkompyuterlar ro'yxati — https://www.top500.org.</a:t>
            </a:r>
          </a:p>
          <a:p>
            <a:pPr>
              <a:spcAft>
                <a:spcPts val="900"/>
              </a:spcAft>
            </a:pPr>
            <a:r>
              <a:rPr sz="2000" b="1">
                <a:solidFill>
                  <a:srgbClr val="0F8B8D"/>
                </a:solidFill>
              </a:rPr>
              <a:t>▪  </a:t>
            </a:r>
            <a:r>
              <a:rPr sz="2000">
                <a:solidFill>
                  <a:srgbClr val="1B2430"/>
                </a:solidFill>
                <a:latin typeface="Calibri"/>
              </a:rPr>
              <a:t>MLCommons MLPerf Inference va Training natijalari — https://mlcommons.org.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SAVOLLAR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E’tiboringiz uchun rahmat!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M2 · Sun'iy intellekt tizimlari uchun zamonaviy kompyuter arxitekturalari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2000000"/>
            <a:ext cx="11000000" cy="2500000"/>
          </a:xfrm>
          <a:prstGeom prst="rect">
            <a:avLst/>
          </a:prstGeom>
          <a:noFill/>
        </p:spPr>
        <p:txBody>
          <a:bodyPr wrap="square" anchor="t" lIns="50800" rIns="50800">
            <a:spAutoFit/>
          </a:bodyPr>
          <a:lstStyle/>
          <a:p>
            <a:pPr algn="l"/>
            <a:r>
              <a:rPr sz="2000" b="0">
                <a:solidFill>
                  <a:srgbClr val="1B2430"/>
                </a:solidFill>
                <a:latin typeface="Calibri"/>
              </a:rPr>
              <a:t>Mavzu matni va materiallar: https://aiscan.airi.uz/ktm/#/c/mis2104/mavzu/M2</a:t>
            </a:r>
          </a:p>
          <a:p>
            <a:pPr algn="l"/>
            <a:r>
              <a:rPr sz="2000" b="0">
                <a:solidFill>
                  <a:srgbClr val="1B2430"/>
                </a:solidFill>
                <a:latin typeface="Calibri"/>
              </a:rPr>
              <a:t>Nazorat savollari va mustaqil ish — mavzu matnining oxirida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
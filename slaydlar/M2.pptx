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Zamonaviy server CPU si (masalan, AMD EPYC 9004 «Genoa» 96 yadroli yoki Intel Xeon 4-avlod «Sapphire Rapids» 60 yadroli) — bu kechikishni (latency) minimallashtirishga qaratilgan mashina. Har bir yadro superskalyar bo'lib, bir taktda 4–6 buyruqni dekodlaydi, ularni tartibsiz bajaradi, tarmoqlanishni 95 % dan yuqori aniqlikda bashorat qiladi va uch darajali kesh (L1 32–48 KB, L2 1–2 MB, L3 yadrolar orasida umumiy 32–384 MB) orqali xotira kechikishini yashiradi. Bu mexanizmlar yakka oqimli dasturni tez bajaradi, lekin kristall maydoni va energiyaning katta qismini oladi: Hennessy va Patterson [1] ta'kidlaganidek, oddiy ADD buyrug'ini bajarish uchun sarflanadigan energiyaning 90 % dan ortig'i buyruqni olish, dekodlash, rejalashtirish va natijani registrga yozishga, faqat qolgan qismi arifmetikaning o'ziga ketadi.</a:t>
            </a:r>
          </a:p>
          <a:p/>
          <a:p>
            <a:r>
              <a:t>CPU da SI yukini tezlashtirishning asosiy vositasi — SIMD (Single Instruction, Multiple Data) kengaytmalari: AVX2 (256 bit, 8 ta FP32), AVX-512 (512 bit, 16 ta FP32) va ARM da SVE/SVE2. Yangi Intel Xeon larda AMX (Advanced Matrix Extensions) bloki qo'shilgan — u 16×64 baytli «plitka» registrlarida INT8 va BF16 matritsa ko'paytirishni bajarib, yadro boshiga 2048 INT8 amal/takt beradi. 56 yadroli Xeon 8480+ uchun bu nazariy jihatdan 200 TOPS dan ortiq INT8 degani — bir necha yil avvalgi GPU darajasi. Shunga qaramay, CPU ning xotira o'tkazuvchanligi (8–12 kanalli DDR5, 300–460 GB/s) GPU ning HBM xotirasidan 5–10 baravar past, shuning uchun CPU katta matritsalarda hisoblash bilan emas, xotira bilan cheklanadi.</a:t>
            </a:r>
          </a:p>
          <a:p/>
          <a:p>
            <a:r>
              <a:t>CPU ning SI tizimidagi o'rni shunga qaramay muhim: u ma'lumotni yuklaydi va oldindan ishlov beradi, tezlatkichlarni boshqaradi, kichik modellar va past yukdagi inferensni bajaradi, tavsiya tizimlarida embedding jadvallarini qidiradi (xotira sig'imi muhim bo'lgan yuk). Ko'p yadrolilik (multi-core) — bir kristalda o'nlab yadro — va ko'p protsessorlilik (multi-processor) — bir serverda 2–8 soket, UPI yoki Infinity Fabric bilan ulangan — CPU ni ma'lumot tayyorlash va orkestratsiya uchun kuchli platformaga aylantiradi. Ikki soketli server NUMA (Non-Uniform Memory Access) tizimi bo'lib, har soket o'z xotirasiga tez, qo'shnisining xotirasiga sekin murojaat qiladi — bu M5 da batafsil ko'riladi.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GPU qarama-qarshi falsafaga asoslangan: kechikishni yashirish uchun murakkab boshqaruv o'rniga minglab oddiy oqimlar (thread) ishlatiladi; bir oqim xotira kutayotganda boshqasi hisoblaydi. NVIDIA terminologiyasida bu SIMT (Single Instruction, Multiple Threads) modeli: 32 oqimdan iborat «warp» bitta buyruqni bir vaqtda bajaradi. Kirk va Hwu [5] bu modelni dasturchi nuqtai nazaridan batafsil tushuntiradilar: dasturchi skalyar kod yozadi, apparat uni minglab oqimda parallel bajaradi.</a:t>
            </a:r>
          </a:p>
          <a:p/>
          <a:p>
            <a:r>
              <a:t>GPU ning tuzilmaviy birligi — oqimli multiprotsessor (Streaming Multiprocessor, SM). NVIDIA H100 (Hopper) da 132 ta SM, har birida 128 ta FP32 CUDA yadrosi, 4 ta to'rtinchi avlod Tensor Core, 256 KB birlashgan L1/umumiy xotira va 64 K ta 32-bitli registr bor. Jami: 16 896 CUDA yadrosi, 528 Tensor Core, 50 MB L2 kesh, 80 GB HBM3 xotira 3,35 TB/s o'tkazuvchanlik bilan. Taqqoslash uchun A100 (Ampere): 108 SM, 6 912 CUDA yadrosi, 432 Tensor Core, 40 MB L2, 80 GB HBM2e, ~2 TB/s. Yangi Blackwell (B200) ikki kristalni bitta paketda birlashtirib 192 GB HBM3e va 8 TB/s ga ega.</a:t>
            </a:r>
          </a:p>
          <a:p/>
          <a:p>
            <a:r>
              <a:t>Tensor Core — GPU ichidagi ixtisoslashgan matritsa bloki (M4 da batafsil): bir taktda kichik matritsa fragmentini (masalan 4×4×4 yoki undan katta) aralash aniqlikda (FP16/BF16 kirish, FP32 to'plash) ko'paytirib qo'shadi. H100 uchun zich FP16 Tensor Core unumdorligi taxminan 990 TFLOPS, FP8 da taxminan 1 980 TFLOPS, oddiy FP32 CUDA yadrolari esa 67 TFLOPS beradi — ya'ni Tensor Core dan foydalanish 15 baravar farq qiladi. Bu raqam co-design uchun hal qiluvchi: model aniqligi va tensor o'lchamlari Tensor Core ga mos bo'lmasa, GPU imkoniyatining katta qismi ishlatilmaydi.</a:t>
            </a:r>
          </a:p>
          <a:p/>
          <a:p>
            <a:r>
              <a:t>GPU ning yana bir asosiy xususiyati — xotira iyerarxiyasi dasturchiga ochiq: registrlar, umumiy xotira (shared memory, dasturchi boshqaradigan kesh), L2 va global HBM. Samarali CUDA yadrosi (kernel) ma'lumotni umumiy xotiraga yuklab, ko'p marta qayta ishlatadi — bu Sze va hammualliflar [4] ta'kidlagan «ma'lumotni qayta ishlatish» tamoyilining dasturiy ifodasi. GPU lar o'zaro NVLink (H100 da to'rtinchi avlod, GPU boshiga 900 GB/s) va NVSwitch orqali ulanadi, bu PCIe 5.0 x16 (taxminan 64 GB/s ikki tomonlama) dan ancha tez.</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TPU (Tensor Processing Unit) — neyron tarmoq uchun noldan loyihalangan ASIC. Jouppi va hammualliflarning 2017-yilgi ISCA maqolasida tavsiflangan birinchi avlod TPU ning yuragi 256×256 li sistolik massiv (systolic array) edi: 65 536 ta 8-bitli MAC bloki ikki o'lchovli to'rda joylashgan, og'irliklar massivga yuklanadi, kirish ma'lumotlari chapdan o'ngga, qisman yig'indilar yuqoridan pastga «yurak urishi» kabi takt sayin oqadi. Har bir MAC natijani qo'shnisiga uzatadi, registr fayliga yoki keshga murojaat qilmaydi — shuning uchun energiya sarfi juda past. TPU v1 700 MGs da 92 TOPS INT8 berib, o'sha davrdagi GPU dan vatt boshiga 30–80 baravar samaraliroq edi.</a:t>
            </a:r>
          </a:p>
          <a:p/>
          <a:p>
            <a:r>
              <a:t>Keyingi avlodlar o'qitish uchun BF16 qo'llab-quvvatlashi, HBM xotira va chiplararo tarmoq (Inter-Core Interconnect, ICI) qo'shdi. TPU v4 chipi ikkita TensorCore, har birida to'rtta 128×128 li MXU (matritsa bloki) ga ega bo'lib, 275 TFLOPS BF16 beradi; 4 096 chip 3D torus topologiyasida bitta «pod» ga birlashadi. TPU v5e (197 TFLOPS BF16, 16 GB HBM2, 819 GB/s) inferens va narx-samaradorlik uchun, v5p (459 TFLOPS BF16, 95 GB HBM, 2,76 TB/s) o'qitish uchun mo'ljallangan; 2024-yilgi Trillium (v6e) 918 TFLOPS BF16 va 32 GB HBM e'lon qilingan. TPU ning muhim xususiyati — kompilyator (XLA) ga tayanish: apparatda dinamik rejalashtirish deyarli yo'q, barcha ma'lumot harakati kompilyatsiya vaqtida rejalashtiriladi. Bu samaradorlikni oshiradi, lekin dinamik shaklli yoki notekis modellarda qiyinchilik tug'diradi.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NPU (Neural Processing Unit) — umumiy nom bo'lib, tizim-kristal (SoC) tarkibidagi neyron tarmoq blokini bildiradi. Arxitektura jihatidan NPU lar ko'pincha kichik sistolik massivlar yoki vektor-matritsa bloklari, katta on-chip SRAM va INT8/INT4 aniqlikka urg'u bilan quriladi. Ularning asosiy loyihalash mezoni — vatt boshiga TOPS, chunki ular batareyali qurilmada ishlaydi. Namunalar: Apple Neural Engine (A17 Pro va M4 da 35–38 TOPS), Qualcomm Hexagon (Snapdragon X Elite da 45 TOPS), Intel NPU (Core Ultra «Lunar Lake» da 48 TOPS), AMD XDNA 2 (Ryzen AI 300 da 50 TOPS). Ma'lumotlar markazi miqyosidagi NPU lar ham bor — Huawei Ascend 910B, AWS Inferentia2 va Trainium — ular TPU ga o'xshash ixtisoslashgan ASIC lardir.</a:t>
            </a:r>
          </a:p>
          <a:p/>
          <a:p>
            <a:r>
              <a:t>NPU ning cheklovlari: qo'llab-quvvatlanadigan operatorlar to'plami tor (yangi arxitekturadagi noodatiy qatlam NPU da ishlamay CPU ga tushishi mumkin), dasturlash faqat ishlab chiqaruvchi SDK si orqali (Core ML, Qualcomm AI Engine, OpenVINO), aniqlik asosan INT8. Shu sababli NPU uchun model tayyorlash — kvantlash, operatorlarni almashtirish, grafni kompilyatsiya qilish — alohida muhandislik bosqichi (M6 va M8 da ko'riladi).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FPGA (Field-Programmable Gate Array) — ishlab chiqarilgandan keyin mantiqiy sxemasi o'zgartirilishi mumkin bo'lgan chip. Uning tarkibida yuz minglab qidiruv jadvallari (LUT), triggerlar, DSP bloklari (apparat ko'paytirgichlar) va bloklangan xotira (BRAM) bo'lib, ular dasturlanadigan ulanish to'ri orqali bog'lanadi. Dasturchi VHDL/Verilog yoki yuqori darajali sintez (HLS, C++ dan) yordamida aynan o'z modeli uchun hisoblash quvurini quradi: kerakli bit kenglik (masalan 6-bitli og'irliklar), kerakli parallellik, kerakli xotira joylashuvi.</a:t>
            </a:r>
          </a:p>
          <a:p/>
          <a:p>
            <a:r>
              <a:t>FPGA ning afzalliklari: juda past va bashoratlanadigan kechikish (mikrosekundlar, chunki operatsion tizim va drayver yo'q), ixtiyoriy aniqlik, kiritish-chiqarish bilan to'g'ridan-to'g'ri integratsiya (kamera, tarmoq, radar). Kamchiliklari: bir xil texnologik jarayonda ASIC dan 5–10 baravar kam samarali (dasturlanadigan ulanishlar maydoni va energiyasi), rivojlantirish sikli uzun (sintez soatlar oladi), yuqori malaka talab etadi. Zamonaviy «moslashuvchan SoC» lar — AMD Versal AI Core (dasturlanadigan mantiq + ARM yadrolari + AI Engine vektor protsessorlari massivi) va Intel Agilex — FPGA bilan ASIC o'rtasidagi oraliq yechim. FPGA lar sanoatda real vaqtli sensor birlashtirish, 5G baza stansiyalari, moliyaviy savdo va tarmoq funksiyalarini tezlashtirishda (SmartNIC) qo'llaniladi; Microsoft Project Brainwave (2018) Intel Stratix 10 FPGA larida Bing qidiruvi uchun past kechikishli inferensni namoyish etgan.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umumiy qonuniyatni ko'rsatadi: ixtisoslashuv oshgan sari samaradorlik oshadi, moslashuvchanlik kamayadi. 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 Tezlatkichning ichki tuzilishi aynan shu beshta tamoyilning moddiy ifodasidir: MAC lar massivi (parallellik), katta SRAM va skretchped (boshqariladigan xotira), INT8/BF16 (aniqlik), XLA yoki TensorRT (til), nazorat mantig'ining minimalligi.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Geterogen tizim — turli arxitekturali protsessorlarni bir vazifa ustida birgalikda ishlatadigan tizim. Klassik ko'rinishda xost (CPU) dasturni boshqaradi, ma'lumotni tayyorlaydi va qurilma (GPU/tezlatkich) ga og'ir hisobni yuboradi. Ikki protsessor alohida xotira maydoniga ega va ma'lumot PCIe orqali nusxalanadi — bu kechikish (10–20 mks ishga tushirish) va o'tkazuvchanlik (PCIe 4.0 x16: ~32 GB/s bir tomonga, PCIe 5.0: ~64 GB/s) cheklovlarini keltirib chiqaradi.</a:t>
            </a:r>
          </a:p>
          <a:p/>
          <a:p>
            <a:r>
              <a:t>So'nggi yillarda birlashgan xotira (unified memory) yondashuvi kuchaydi. 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 AMD MI300A esa 24 ta Zen 4 yadrosi va CDNA 3 GPU ni bitta paketda 128 GB umumiy HBM3 bilan birlashtiradi (bu chip El Capitan superkompyuterining asosi). Apple M-seriyali chiplarda CPU, GPU va NPU bir xil LPDDR xotiradan foydalanadi, bu esa modelni nusxalamasdan bloklar o'rtasida almashishga imkon beradi.</a:t>
            </a:r>
          </a:p>
          <a:p/>
          <a:p>
            <a:r>
              <a:t>Geterogen tizimni loyihalashda asosiy savol — vazifani kim bajaradi. Umumiy qoida: muntazam, katta hajmli, parallel hisob (matritsa, konvolyutsiya) — tezlatkichga; tarmoqlanishli, ketma-ket, tizim chaqiruvlari bilan bog'liq ish (fayl o'qish, dekodlash, tarmoq, mantiq) — CPU ga; kiritish-chiqarish bilan bog'liq doimiy quvur (paket tahlili, shifrlash) — DPU yoki FPGA ga. Amalda eng ko'p uchraydigan xato — tezlatkich ma'lumot kutib bo'sh turishi, chunki CPU tomonidagi tayyorlash yetib bermaydi; bu muammoni M5 va M10 da profillash orqali aniqlashni o'rganamiz.</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Standart AI o'qitish serveri 8 ta tezlatkichli konfiguratsiya atrofida shakllangan. NVIDIA DGX H100: 8 × H100 SXM (jami 640 GB HBM3), 4 ta NVSwitch orqali har qanday GPU juftligi 900 GB/s bilan bog'langan, 2 ta Intel Xeon 8480C (112 yadro), 2 TB DDR5, 8 ta ConnectX-7 (400 Gbit/s InfiniBand NDR) tarmoq adapteri, 30 TB NVMe va 10,2 kVt quvvat. Shunga o'xshash serverlarni AMD MI300X (8 × 192 GB = 1,5 TB HBM3, 5,3 TB/s har biri), Intel Gaudi 3 va Supermicro, Dell, HPE kabi ishlab chiqaruvchilar taklif qiladi. 2024–2025-yillardagi yangi qadam — stoyka miqyosidagi tizim: NVIDIA GB200 NVL72 bitta suyuqlik bilan sovitiladigan stoykada 72 ta Blackwell GPU va 36 ta Grace CPU ni 130 TB/s umumiy NVLink o'tkazuvchanlikli yagona domenga birlashtiradi, quvvati taxminan 120 kVt.</a:t>
            </a:r>
          </a:p>
          <a:p/>
          <a:p>
            <a:r>
              <a:t>Serverlardan yuqorida klaster (tugunlar InfiniBand yoki RoCE Ethernet bilan ulanadi) va SuperPOD (NVIDIA da 32 DGX = 256 GPU asosiy birlik, «fat-tree» topologiya) turadi. Masshtab oshgan sari tor joy hisoblashdan tarmoqqa ko'chadi: 400 Gbit/s adapter sekundiga 50 GB uzatadi — bu GPU ichidagi HBM dan 70 baravar sekin. Shuning uchun taqsimlangan o'qitish algoritmlari (M3) aloqani hisoblash bilan ustma-ust qo'yishga qaratilgan.</a:t>
            </a:r>
          </a:p>
          <a:p/>
          <a:p>
            <a:r>
              <a:t>Superkompyuterlar bu tamoyillarni eng katta miqyosda aks ettiradi. 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 Shu bilan birga sanoat AI superkompyuterlari paydo bo'ldi: NVIDIA Eos (576 DGX H100, 4 608 GPU), Meta ning ikkita 24 576 GPU li klasteri (2024), xAI Colossus (100 000 dan ortiq H100, 2024). Ularning HPC superkompyuterlaridan farqi — FP64 emas, FP16/FP8 unumdorlik ustuvor, demak «eksaflops» so'zi qaysi aniqlikda ekanini doim aniqlashtirish kerak.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M2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3600" b="1">
                <a:solidFill>
                  <a:srgbClr val="FFFFFF"/>
                </a:solidFill>
                <a:latin typeface="Calibri"/>
              </a:rPr>
              <a:t>Sun'iy intellekt tizimlari uchun zamonaviy kompyuter arxitekturalari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325ad21a692d683b.jpg"/>
          <p:cNvPicPr>
            <a:picLocks noChangeAspect="1"/>
          </p:cNvPicPr>
          <p:nvPr/>
        </p:nvPicPr>
        <p:blipFill>
          <a:blip r:embed="rId2"/>
          <a:srcRect l="22759" r="22759"/>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Timothy Borkowski · Wikimedia Commons · CC BY-SA 3.0</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1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1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38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350000"/>
            <a:ext cx="10150000" cy="440000"/>
          </a:xfrm>
          <a:prstGeom prst="rect">
            <a:avLst/>
          </a:prstGeom>
          <a:noFill/>
        </p:spPr>
        <p:txBody>
          <a:bodyPr wrap="square" anchor="ctr">
            <a:spAutoFit/>
          </a:bodyPr>
          <a:lstStyle/>
          <a:p>
            <a:r>
              <a:rPr sz="1600" b="0">
                <a:solidFill>
                  <a:srgbClr val="1B2430"/>
                </a:solidFill>
                <a:latin typeface="Calibri"/>
              </a:rPr>
              <a:t>CPU: kechikishga optimallashtirilgan arxitektura</a:t>
            </a:r>
          </a:p>
        </p:txBody>
      </p:sp>
      <p:sp>
        <p:nvSpPr>
          <p:cNvPr id="14" name="Rounded Rectangle 13"/>
          <p:cNvSpPr/>
          <p:nvPr/>
        </p:nvSpPr>
        <p:spPr>
          <a:xfrm>
            <a:off x="550000" y="194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194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201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1980000"/>
            <a:ext cx="10150000" cy="440000"/>
          </a:xfrm>
          <a:prstGeom prst="rect">
            <a:avLst/>
          </a:prstGeom>
          <a:noFill/>
        </p:spPr>
        <p:txBody>
          <a:bodyPr wrap="square" anchor="ctr">
            <a:spAutoFit/>
          </a:bodyPr>
          <a:lstStyle/>
          <a:p>
            <a:r>
              <a:rPr sz="1600" b="0">
                <a:solidFill>
                  <a:srgbClr val="1B2430"/>
                </a:solidFill>
                <a:latin typeface="Calibri"/>
              </a:rPr>
              <a:t>GPU: o'tkazuvchanlikka optimallashtirilgan arxitektura</a:t>
            </a:r>
          </a:p>
        </p:txBody>
      </p:sp>
      <p:sp>
        <p:nvSpPr>
          <p:cNvPr id="18" name="Rounded Rectangle 17"/>
          <p:cNvSpPr/>
          <p:nvPr/>
        </p:nvSpPr>
        <p:spPr>
          <a:xfrm>
            <a:off x="550000" y="257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2570000"/>
            <a:ext cx="70000" cy="52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2640000"/>
            <a:ext cx="380000" cy="38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2610000"/>
            <a:ext cx="10150000" cy="440000"/>
          </a:xfrm>
          <a:prstGeom prst="rect">
            <a:avLst/>
          </a:prstGeom>
          <a:noFill/>
        </p:spPr>
        <p:txBody>
          <a:bodyPr wrap="square" anchor="ctr">
            <a:spAutoFit/>
          </a:bodyPr>
          <a:lstStyle/>
          <a:p>
            <a:r>
              <a:rPr sz="1600" b="0">
                <a:solidFill>
                  <a:srgbClr val="1B2430"/>
                </a:solidFill>
                <a:latin typeface="Calibri"/>
              </a:rPr>
              <a:t>TPU va sistolik massiv</a:t>
            </a:r>
          </a:p>
        </p:txBody>
      </p:sp>
      <p:sp>
        <p:nvSpPr>
          <p:cNvPr id="22" name="Rounded Rectangle 21"/>
          <p:cNvSpPr/>
          <p:nvPr/>
        </p:nvSpPr>
        <p:spPr>
          <a:xfrm>
            <a:off x="550000" y="320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3200000"/>
            <a:ext cx="70000" cy="520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0000" y="3270000"/>
            <a:ext cx="380000" cy="38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25" name="TextBox 24"/>
          <p:cNvSpPr txBox="1"/>
          <p:nvPr/>
        </p:nvSpPr>
        <p:spPr>
          <a:xfrm>
            <a:off x="1380000" y="3240000"/>
            <a:ext cx="10150000" cy="440000"/>
          </a:xfrm>
          <a:prstGeom prst="rect">
            <a:avLst/>
          </a:prstGeom>
          <a:noFill/>
        </p:spPr>
        <p:txBody>
          <a:bodyPr wrap="square" anchor="ctr">
            <a:spAutoFit/>
          </a:bodyPr>
          <a:lstStyle/>
          <a:p>
            <a:r>
              <a:rPr sz="1600" b="0">
                <a:solidFill>
                  <a:srgbClr val="1B2430"/>
                </a:solidFill>
                <a:latin typeface="Calibri"/>
              </a:rPr>
              <a:t>NPU: chekka va iste'mol qurilmalaridagi tezlatkichlar</a:t>
            </a:r>
          </a:p>
        </p:txBody>
      </p:sp>
      <p:sp>
        <p:nvSpPr>
          <p:cNvPr id="26" name="Rounded Rectangle 25"/>
          <p:cNvSpPr/>
          <p:nvPr/>
        </p:nvSpPr>
        <p:spPr>
          <a:xfrm>
            <a:off x="550000" y="383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3830000"/>
            <a:ext cx="70000" cy="520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80000" y="3900000"/>
            <a:ext cx="380000" cy="38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5</a:t>
            </a:r>
          </a:p>
        </p:txBody>
      </p:sp>
      <p:sp>
        <p:nvSpPr>
          <p:cNvPr id="29" name="TextBox 28"/>
          <p:cNvSpPr txBox="1"/>
          <p:nvPr/>
        </p:nvSpPr>
        <p:spPr>
          <a:xfrm>
            <a:off x="1380000" y="3870000"/>
            <a:ext cx="10150000" cy="440000"/>
          </a:xfrm>
          <a:prstGeom prst="rect">
            <a:avLst/>
          </a:prstGeom>
          <a:noFill/>
        </p:spPr>
        <p:txBody>
          <a:bodyPr wrap="square" anchor="ctr">
            <a:spAutoFit/>
          </a:bodyPr>
          <a:lstStyle/>
          <a:p>
            <a:r>
              <a:rPr sz="1600" b="0">
                <a:solidFill>
                  <a:srgbClr val="1B2430"/>
                </a:solidFill>
                <a:latin typeface="Calibri"/>
              </a:rPr>
              <a:t>FPGA: qayta dasturlanadigan apparat</a:t>
            </a:r>
          </a:p>
        </p:txBody>
      </p:sp>
      <p:sp>
        <p:nvSpPr>
          <p:cNvPr id="30" name="Rounded Rectangle 29"/>
          <p:cNvSpPr/>
          <p:nvPr/>
        </p:nvSpPr>
        <p:spPr>
          <a:xfrm>
            <a:off x="550000" y="446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0000" y="4460000"/>
            <a:ext cx="70000" cy="52000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80000" y="4530000"/>
            <a:ext cx="380000" cy="380000"/>
          </a:xfrm>
          <a:prstGeom prst="ellipse">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6</a:t>
            </a:r>
          </a:p>
        </p:txBody>
      </p:sp>
      <p:sp>
        <p:nvSpPr>
          <p:cNvPr id="33" name="TextBox 32"/>
          <p:cNvSpPr txBox="1"/>
          <p:nvPr/>
        </p:nvSpPr>
        <p:spPr>
          <a:xfrm>
            <a:off x="1380000" y="4500000"/>
            <a:ext cx="10150000" cy="440000"/>
          </a:xfrm>
          <a:prstGeom prst="rect">
            <a:avLst/>
          </a:prstGeom>
          <a:noFill/>
        </p:spPr>
        <p:txBody>
          <a:bodyPr wrap="square" anchor="ctr">
            <a:spAutoFit/>
          </a:bodyPr>
          <a:lstStyle/>
          <a:p>
            <a:r>
              <a:rPr sz="1600" b="0">
                <a:solidFill>
                  <a:srgbClr val="1B2430"/>
                </a:solidFill>
                <a:latin typeface="Calibri"/>
              </a:rPr>
              <a:t>Arxitekturalarni qiyosiy tahlil qilish</a:t>
            </a:r>
          </a:p>
        </p:txBody>
      </p:sp>
      <p:sp>
        <p:nvSpPr>
          <p:cNvPr id="34" name="Rounded Rectangle 33"/>
          <p:cNvSpPr/>
          <p:nvPr/>
        </p:nvSpPr>
        <p:spPr>
          <a:xfrm>
            <a:off x="550000" y="509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0000" y="5090000"/>
            <a:ext cx="70000" cy="52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780000" y="5160000"/>
            <a:ext cx="380000" cy="38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7</a:t>
            </a:r>
          </a:p>
        </p:txBody>
      </p:sp>
      <p:sp>
        <p:nvSpPr>
          <p:cNvPr id="37" name="TextBox 36"/>
          <p:cNvSpPr txBox="1"/>
          <p:nvPr/>
        </p:nvSpPr>
        <p:spPr>
          <a:xfrm>
            <a:off x="1380000" y="5130000"/>
            <a:ext cx="10150000" cy="440000"/>
          </a:xfrm>
          <a:prstGeom prst="rect">
            <a:avLst/>
          </a:prstGeom>
          <a:noFill/>
        </p:spPr>
        <p:txBody>
          <a:bodyPr wrap="square" anchor="ctr">
            <a:spAutoFit/>
          </a:bodyPr>
          <a:lstStyle/>
          <a:p>
            <a:r>
              <a:rPr sz="1600" b="0">
                <a:solidFill>
                  <a:srgbClr val="1B2430"/>
                </a:solidFill>
                <a:latin typeface="Calibri"/>
              </a:rPr>
              <a:t>Geterogen hisoblash tizimlari</a:t>
            </a:r>
          </a:p>
        </p:txBody>
      </p:sp>
      <p:sp>
        <p:nvSpPr>
          <p:cNvPr id="38" name="Rounded Rectangle 37"/>
          <p:cNvSpPr/>
          <p:nvPr/>
        </p:nvSpPr>
        <p:spPr>
          <a:xfrm>
            <a:off x="550000" y="5720000"/>
            <a:ext cx="11100000" cy="52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0000" y="5720000"/>
            <a:ext cx="70000" cy="52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780000" y="5790000"/>
            <a:ext cx="380000" cy="38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8</a:t>
            </a:r>
          </a:p>
        </p:txBody>
      </p:sp>
      <p:sp>
        <p:nvSpPr>
          <p:cNvPr id="41" name="TextBox 40"/>
          <p:cNvSpPr txBox="1"/>
          <p:nvPr/>
        </p:nvSpPr>
        <p:spPr>
          <a:xfrm>
            <a:off x="1380000" y="5760000"/>
            <a:ext cx="10150000" cy="440000"/>
          </a:xfrm>
          <a:prstGeom prst="rect">
            <a:avLst/>
          </a:prstGeom>
          <a:noFill/>
        </p:spPr>
        <p:txBody>
          <a:bodyPr wrap="square" anchor="ctr">
            <a:spAutoFit/>
          </a:bodyPr>
          <a:lstStyle/>
          <a:p>
            <a:r>
              <a:rPr sz="1600" b="0">
                <a:solidFill>
                  <a:srgbClr val="1B2430"/>
                </a:solidFill>
                <a:latin typeface="Calibri"/>
              </a:rPr>
              <a:t>Zamonaviy AI serverlari va superkompyuterlar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9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par>
                          <p:cTn id="127" fill="hold">
                            <p:stCondLst>
                              <p:cond delay="1320"/>
                            </p:stCondLst>
                            <p:childTnLst>
                              <p:par>
                                <p:cTn id="128" presetID="42" presetClass="entr" presetSubtype="0" fill="hold" grpId="0" nodeType="after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50"/>
                                        <p:tgtEl>
                                          <p:spTgt spid="30"/>
                                        </p:tgtEl>
                                      </p:cBhvr>
                                    </p:animEffect>
                                    <p:anim calcmode="lin" valueType="num">
                                      <p:cBhvr additive="base">
                                        <p:cTn id="131" dur="550" fill="hold"/>
                                        <p:tgtEl>
                                          <p:spTgt spid="30"/>
                                        </p:tgtEl>
                                        <p:attrNameLst>
                                          <p:attrName>ppt_x</p:attrName>
                                        </p:attrNameLst>
                                      </p:cBhvr>
                                      <p:tavLst>
                                        <p:tav tm="0">
                                          <p:val>
                                            <p:strVal val="#ppt_x"/>
                                          </p:val>
                                        </p:tav>
                                        <p:tav tm="100000">
                                          <p:val>
                                            <p:strVal val="#ppt_x"/>
                                          </p:val>
                                        </p:tav>
                                      </p:tavLst>
                                    </p:anim>
                                    <p:anim calcmode="lin" valueType="num">
                                      <p:cBhvr additive="base">
                                        <p:cTn id="132" dur="550" fill="hold"/>
                                        <p:tgtEl>
                                          <p:spTgt spid="30"/>
                                        </p:tgtEl>
                                        <p:attrNameLst>
                                          <p:attrName>ppt_y</p:attrName>
                                        </p:attrNameLst>
                                      </p:cBhvr>
                                      <p:tavLst>
                                        <p:tav tm="0">
                                          <p:val>
                                            <p:strVal val="#ppt_y+.08"/>
                                          </p:val>
                                        </p:tav>
                                        <p:tav tm="100000">
                                          <p:val>
                                            <p:strVal val="#ppt_y"/>
                                          </p:val>
                                        </p:tav>
                                      </p:tavLst>
                                    </p:anim>
                                  </p:childTnLst>
                                </p:cTn>
                              </p:par>
                            </p:childTnLst>
                          </p:cTn>
                        </p:par>
                        <p:par>
                          <p:cTn id="133" fill="hold">
                            <p:stCondLst>
                              <p:cond delay="1320"/>
                            </p:stCondLst>
                            <p:childTnLst>
                              <p:par>
                                <p:cTn id="134" presetID="42" presetClass="entr" presetSubtype="0" fill="hold" grpId="0" nodeType="afterEffect">
                                  <p:stCondLst>
                                    <p:cond delay="0"/>
                                  </p:stCondLst>
                                  <p:childTnLst>
                                    <p:set>
                                      <p:cBhvr>
                                        <p:cTn id="135" dur="1" fill="hold">
                                          <p:stCondLst>
                                            <p:cond delay="0"/>
                                          </p:stCondLst>
                                        </p:cTn>
                                        <p:tgtEl>
                                          <p:spTgt spid="31"/>
                                        </p:tgtEl>
                                        <p:attrNameLst>
                                          <p:attrName>style.visibility</p:attrName>
                                        </p:attrNameLst>
                                      </p:cBhvr>
                                      <p:to>
                                        <p:strVal val="visible"/>
                                      </p:to>
                                    </p:set>
                                    <p:animEffect transition="in" filter="fade">
                                      <p:cBhvr>
                                        <p:cTn id="136" dur="550"/>
                                        <p:tgtEl>
                                          <p:spTgt spid="31"/>
                                        </p:tgtEl>
                                      </p:cBhvr>
                                    </p:animEffect>
                                    <p:anim calcmode="lin" valueType="num">
                                      <p:cBhvr additive="base">
                                        <p:cTn id="137" dur="550" fill="hold"/>
                                        <p:tgtEl>
                                          <p:spTgt spid="31"/>
                                        </p:tgtEl>
                                        <p:attrNameLst>
                                          <p:attrName>ppt_x</p:attrName>
                                        </p:attrNameLst>
                                      </p:cBhvr>
                                      <p:tavLst>
                                        <p:tav tm="0">
                                          <p:val>
                                            <p:strVal val="#ppt_x"/>
                                          </p:val>
                                        </p:tav>
                                        <p:tav tm="100000">
                                          <p:val>
                                            <p:strVal val="#ppt_x"/>
                                          </p:val>
                                        </p:tav>
                                      </p:tavLst>
                                    </p:anim>
                                    <p:anim calcmode="lin" valueType="num">
                                      <p:cBhvr additive="base">
                                        <p:cTn id="138" dur="550" fill="hold"/>
                                        <p:tgtEl>
                                          <p:spTgt spid="31"/>
                                        </p:tgtEl>
                                        <p:attrNameLst>
                                          <p:attrName>ppt_y</p:attrName>
                                        </p:attrNameLst>
                                      </p:cBhvr>
                                      <p:tavLst>
                                        <p:tav tm="0">
                                          <p:val>
                                            <p:strVal val="#ppt_y+.08"/>
                                          </p:val>
                                        </p:tav>
                                        <p:tav tm="100000">
                                          <p:val>
                                            <p:strVal val="#ppt_y"/>
                                          </p:val>
                                        </p:tav>
                                      </p:tavLst>
                                    </p:anim>
                                  </p:childTnLst>
                                </p:cTn>
                              </p:par>
                            </p:childTnLst>
                          </p:cTn>
                        </p:par>
                        <p:par>
                          <p:cTn id="139" fill="hold">
                            <p:stCondLst>
                              <p:cond delay="1320"/>
                            </p:stCondLst>
                            <p:childTnLst>
                              <p:par>
                                <p:cTn id="140" presetID="53" presetClass="entr" presetSubtype="16" fill="hold" grpId="0" nodeType="after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fade">
                                      <p:cBhvr>
                                        <p:cTn id="142" dur="550"/>
                                        <p:tgtEl>
                                          <p:spTgt spid="32"/>
                                        </p:tgtEl>
                                      </p:cBhvr>
                                    </p:animEffect>
                                    <p:anim calcmode="lin" valueType="num">
                                      <p:cBhvr additive="base">
                                        <p:cTn id="143" dur="550" fill="hold"/>
                                        <p:tgtEl>
                                          <p:spTgt spid="32"/>
                                        </p:tgtEl>
                                        <p:attrNameLst>
                                          <p:attrName>ppt_w</p:attrName>
                                        </p:attrNameLst>
                                      </p:cBhvr>
                                      <p:tavLst>
                                        <p:tav tm="0">
                                          <p:val>
                                            <p:strVal val="0"/>
                                          </p:val>
                                        </p:tav>
                                        <p:tav tm="100000">
                                          <p:val>
                                            <p:strVal val="#ppt_w"/>
                                          </p:val>
                                        </p:tav>
                                      </p:tavLst>
                                    </p:anim>
                                    <p:anim calcmode="lin" valueType="num">
                                      <p:cBhvr additive="base">
                                        <p:cTn id="144" dur="550" fill="hold"/>
                                        <p:tgtEl>
                                          <p:spTgt spid="32"/>
                                        </p:tgtEl>
                                        <p:attrNameLst>
                                          <p:attrName>ppt_h</p:attrName>
                                        </p:attrNameLst>
                                      </p:cBhvr>
                                      <p:tavLst>
                                        <p:tav tm="0">
                                          <p:val>
                                            <p:strVal val="0"/>
                                          </p:val>
                                        </p:tav>
                                        <p:tav tm="100000">
                                          <p:val>
                                            <p:strVal val="#ppt_h"/>
                                          </p:val>
                                        </p:tav>
                                      </p:tavLst>
                                    </p:anim>
                                  </p:childTnLst>
                                </p:cTn>
                              </p:par>
                            </p:childTnLst>
                          </p:cTn>
                        </p:par>
                        <p:par>
                          <p:cTn id="145" fill="hold">
                            <p:stCondLst>
                              <p:cond delay="1320"/>
                            </p:stCondLst>
                            <p:childTnLst>
                              <p:par>
                                <p:cTn id="146" presetID="42" presetClass="entr" presetSubtype="0" fill="hold" grpId="0" nodeType="afterEffect">
                                  <p:stCondLst>
                                    <p:cond delay="0"/>
                                  </p:stCondLst>
                                  <p:childTnLst>
                                    <p:set>
                                      <p:cBhvr>
                                        <p:cTn id="147" dur="1" fill="hold">
                                          <p:stCondLst>
                                            <p:cond delay="0"/>
                                          </p:stCondLst>
                                        </p:cTn>
                                        <p:tgtEl>
                                          <p:spTgt spid="33"/>
                                        </p:tgtEl>
                                        <p:attrNameLst>
                                          <p:attrName>style.visibility</p:attrName>
                                        </p:attrNameLst>
                                      </p:cBhvr>
                                      <p:to>
                                        <p:strVal val="visible"/>
                                      </p:to>
                                    </p:set>
                                    <p:animEffect transition="in" filter="fade">
                                      <p:cBhvr>
                                        <p:cTn id="148" dur="550"/>
                                        <p:tgtEl>
                                          <p:spTgt spid="33"/>
                                        </p:tgtEl>
                                      </p:cBhvr>
                                    </p:animEffect>
                                    <p:anim calcmode="lin" valueType="num">
                                      <p:cBhvr additive="base">
                                        <p:cTn id="149" dur="550" fill="hold"/>
                                        <p:tgtEl>
                                          <p:spTgt spid="33"/>
                                        </p:tgtEl>
                                        <p:attrNameLst>
                                          <p:attrName>ppt_x</p:attrName>
                                        </p:attrNameLst>
                                      </p:cBhvr>
                                      <p:tavLst>
                                        <p:tav tm="0">
                                          <p:val>
                                            <p:strVal val="#ppt_x"/>
                                          </p:val>
                                        </p:tav>
                                        <p:tav tm="100000">
                                          <p:val>
                                            <p:strVal val="#ppt_x"/>
                                          </p:val>
                                        </p:tav>
                                      </p:tavLst>
                                    </p:anim>
                                    <p:anim calcmode="lin" valueType="num">
                                      <p:cBhvr additive="base">
                                        <p:cTn id="150" dur="550" fill="hold"/>
                                        <p:tgtEl>
                                          <p:spTgt spid="33"/>
                                        </p:tgtEl>
                                        <p:attrNameLst>
                                          <p:attrName>ppt_y</p:attrName>
                                        </p:attrNameLst>
                                      </p:cBhvr>
                                      <p:tavLst>
                                        <p:tav tm="0">
                                          <p:val>
                                            <p:strVal val="#ppt_y+.08"/>
                                          </p:val>
                                        </p:tav>
                                        <p:tav tm="100000">
                                          <p:val>
                                            <p:strVal val="#ppt_y"/>
                                          </p:val>
                                        </p:tav>
                                      </p:tavLst>
                                    </p:anim>
                                  </p:childTnLst>
                                </p:cTn>
                              </p:par>
                            </p:childTnLst>
                          </p:cTn>
                        </p:par>
                        <p:par>
                          <p:cTn id="151" fill="hold">
                            <p:stCondLst>
                              <p:cond delay="1540"/>
                            </p:stCondLst>
                            <p:childTnLst>
                              <p:par>
                                <p:cTn id="152" presetID="42" presetClass="entr" presetSubtype="0" fill="hold" grpId="0" nodeType="afterEffect">
                                  <p:stCondLst>
                                    <p:cond delay="0"/>
                                  </p:stCondLst>
                                  <p:childTnLst>
                                    <p:set>
                                      <p:cBhvr>
                                        <p:cTn id="153" dur="1" fill="hold">
                                          <p:stCondLst>
                                            <p:cond delay="0"/>
                                          </p:stCondLst>
                                        </p:cTn>
                                        <p:tgtEl>
                                          <p:spTgt spid="34"/>
                                        </p:tgtEl>
                                        <p:attrNameLst>
                                          <p:attrName>style.visibility</p:attrName>
                                        </p:attrNameLst>
                                      </p:cBhvr>
                                      <p:to>
                                        <p:strVal val="visible"/>
                                      </p:to>
                                    </p:set>
                                    <p:animEffect transition="in" filter="fade">
                                      <p:cBhvr>
                                        <p:cTn id="154" dur="550"/>
                                        <p:tgtEl>
                                          <p:spTgt spid="34"/>
                                        </p:tgtEl>
                                      </p:cBhvr>
                                    </p:animEffect>
                                    <p:anim calcmode="lin" valueType="num">
                                      <p:cBhvr additive="base">
                                        <p:cTn id="155" dur="550" fill="hold"/>
                                        <p:tgtEl>
                                          <p:spTgt spid="34"/>
                                        </p:tgtEl>
                                        <p:attrNameLst>
                                          <p:attrName>ppt_x</p:attrName>
                                        </p:attrNameLst>
                                      </p:cBhvr>
                                      <p:tavLst>
                                        <p:tav tm="0">
                                          <p:val>
                                            <p:strVal val="#ppt_x"/>
                                          </p:val>
                                        </p:tav>
                                        <p:tav tm="100000">
                                          <p:val>
                                            <p:strVal val="#ppt_x"/>
                                          </p:val>
                                        </p:tav>
                                      </p:tavLst>
                                    </p:anim>
                                    <p:anim calcmode="lin" valueType="num">
                                      <p:cBhvr additive="base">
                                        <p:cTn id="156" dur="550" fill="hold"/>
                                        <p:tgtEl>
                                          <p:spTgt spid="34"/>
                                        </p:tgtEl>
                                        <p:attrNameLst>
                                          <p:attrName>ppt_y</p:attrName>
                                        </p:attrNameLst>
                                      </p:cBhvr>
                                      <p:tavLst>
                                        <p:tav tm="0">
                                          <p:val>
                                            <p:strVal val="#ppt_y+.08"/>
                                          </p:val>
                                        </p:tav>
                                        <p:tav tm="100000">
                                          <p:val>
                                            <p:strVal val="#ppt_y"/>
                                          </p:val>
                                        </p:tav>
                                      </p:tavLst>
                                    </p:anim>
                                  </p:childTnLst>
                                </p:cTn>
                              </p:par>
                            </p:childTnLst>
                          </p:cTn>
                        </p:par>
                        <p:par>
                          <p:cTn id="157" fill="hold">
                            <p:stCondLst>
                              <p:cond delay="1540"/>
                            </p:stCondLst>
                            <p:childTnLst>
                              <p:par>
                                <p:cTn id="158" presetID="42" presetClass="entr" presetSubtype="0" fill="hold" grpId="0" nodeType="afterEffect">
                                  <p:stCondLst>
                                    <p:cond delay="0"/>
                                  </p:stCondLst>
                                  <p:childTnLst>
                                    <p:set>
                                      <p:cBhvr>
                                        <p:cTn id="159" dur="1" fill="hold">
                                          <p:stCondLst>
                                            <p:cond delay="0"/>
                                          </p:stCondLst>
                                        </p:cTn>
                                        <p:tgtEl>
                                          <p:spTgt spid="35"/>
                                        </p:tgtEl>
                                        <p:attrNameLst>
                                          <p:attrName>style.visibility</p:attrName>
                                        </p:attrNameLst>
                                      </p:cBhvr>
                                      <p:to>
                                        <p:strVal val="visible"/>
                                      </p:to>
                                    </p:set>
                                    <p:animEffect transition="in" filter="fade">
                                      <p:cBhvr>
                                        <p:cTn id="160" dur="550"/>
                                        <p:tgtEl>
                                          <p:spTgt spid="35"/>
                                        </p:tgtEl>
                                      </p:cBhvr>
                                    </p:animEffect>
                                    <p:anim calcmode="lin" valueType="num">
                                      <p:cBhvr additive="base">
                                        <p:cTn id="161" dur="550" fill="hold"/>
                                        <p:tgtEl>
                                          <p:spTgt spid="35"/>
                                        </p:tgtEl>
                                        <p:attrNameLst>
                                          <p:attrName>ppt_x</p:attrName>
                                        </p:attrNameLst>
                                      </p:cBhvr>
                                      <p:tavLst>
                                        <p:tav tm="0">
                                          <p:val>
                                            <p:strVal val="#ppt_x"/>
                                          </p:val>
                                        </p:tav>
                                        <p:tav tm="100000">
                                          <p:val>
                                            <p:strVal val="#ppt_x"/>
                                          </p:val>
                                        </p:tav>
                                      </p:tavLst>
                                    </p:anim>
                                    <p:anim calcmode="lin" valueType="num">
                                      <p:cBhvr additive="base">
                                        <p:cTn id="162" dur="550" fill="hold"/>
                                        <p:tgtEl>
                                          <p:spTgt spid="35"/>
                                        </p:tgtEl>
                                        <p:attrNameLst>
                                          <p:attrName>ppt_y</p:attrName>
                                        </p:attrNameLst>
                                      </p:cBhvr>
                                      <p:tavLst>
                                        <p:tav tm="0">
                                          <p:val>
                                            <p:strVal val="#ppt_y+.08"/>
                                          </p:val>
                                        </p:tav>
                                        <p:tav tm="100000">
                                          <p:val>
                                            <p:strVal val="#ppt_y"/>
                                          </p:val>
                                        </p:tav>
                                      </p:tavLst>
                                    </p:anim>
                                  </p:childTnLst>
                                </p:cTn>
                              </p:par>
                            </p:childTnLst>
                          </p:cTn>
                        </p:par>
                        <p:par>
                          <p:cTn id="163" fill="hold">
                            <p:stCondLst>
                              <p:cond delay="1540"/>
                            </p:stCondLst>
                            <p:childTnLst>
                              <p:par>
                                <p:cTn id="164" presetID="53" presetClass="entr" presetSubtype="16" fill="hold" grpId="0" nodeType="afterEffect">
                                  <p:stCondLst>
                                    <p:cond delay="0"/>
                                  </p:stCondLst>
                                  <p:childTnLst>
                                    <p:set>
                                      <p:cBhvr>
                                        <p:cTn id="165" dur="1" fill="hold">
                                          <p:stCondLst>
                                            <p:cond delay="0"/>
                                          </p:stCondLst>
                                        </p:cTn>
                                        <p:tgtEl>
                                          <p:spTgt spid="36"/>
                                        </p:tgtEl>
                                        <p:attrNameLst>
                                          <p:attrName>style.visibility</p:attrName>
                                        </p:attrNameLst>
                                      </p:cBhvr>
                                      <p:to>
                                        <p:strVal val="visible"/>
                                      </p:to>
                                    </p:set>
                                    <p:animEffect transition="in" filter="fade">
                                      <p:cBhvr>
                                        <p:cTn id="166" dur="550"/>
                                        <p:tgtEl>
                                          <p:spTgt spid="36"/>
                                        </p:tgtEl>
                                      </p:cBhvr>
                                    </p:animEffect>
                                    <p:anim calcmode="lin" valueType="num">
                                      <p:cBhvr additive="base">
                                        <p:cTn id="167" dur="550" fill="hold"/>
                                        <p:tgtEl>
                                          <p:spTgt spid="36"/>
                                        </p:tgtEl>
                                        <p:attrNameLst>
                                          <p:attrName>ppt_w</p:attrName>
                                        </p:attrNameLst>
                                      </p:cBhvr>
                                      <p:tavLst>
                                        <p:tav tm="0">
                                          <p:val>
                                            <p:strVal val="0"/>
                                          </p:val>
                                        </p:tav>
                                        <p:tav tm="100000">
                                          <p:val>
                                            <p:strVal val="#ppt_w"/>
                                          </p:val>
                                        </p:tav>
                                      </p:tavLst>
                                    </p:anim>
                                    <p:anim calcmode="lin" valueType="num">
                                      <p:cBhvr additive="base">
                                        <p:cTn id="168" dur="550" fill="hold"/>
                                        <p:tgtEl>
                                          <p:spTgt spid="36"/>
                                        </p:tgtEl>
                                        <p:attrNameLst>
                                          <p:attrName>ppt_h</p:attrName>
                                        </p:attrNameLst>
                                      </p:cBhvr>
                                      <p:tavLst>
                                        <p:tav tm="0">
                                          <p:val>
                                            <p:strVal val="0"/>
                                          </p:val>
                                        </p:tav>
                                        <p:tav tm="100000">
                                          <p:val>
                                            <p:strVal val="#ppt_h"/>
                                          </p:val>
                                        </p:tav>
                                      </p:tavLst>
                                    </p:anim>
                                  </p:childTnLst>
                                </p:cTn>
                              </p:par>
                            </p:childTnLst>
                          </p:cTn>
                        </p:par>
                        <p:par>
                          <p:cTn id="169" fill="hold">
                            <p:stCondLst>
                              <p:cond delay="1540"/>
                            </p:stCondLst>
                            <p:childTnLst>
                              <p:par>
                                <p:cTn id="170" presetID="42" presetClass="entr" presetSubtype="0" fill="hold" grpId="0" nodeType="after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50"/>
                                        <p:tgtEl>
                                          <p:spTgt spid="37"/>
                                        </p:tgtEl>
                                      </p:cBhvr>
                                    </p:animEffect>
                                    <p:anim calcmode="lin" valueType="num">
                                      <p:cBhvr additive="base">
                                        <p:cTn id="173" dur="550" fill="hold"/>
                                        <p:tgtEl>
                                          <p:spTgt spid="37"/>
                                        </p:tgtEl>
                                        <p:attrNameLst>
                                          <p:attrName>ppt_x</p:attrName>
                                        </p:attrNameLst>
                                      </p:cBhvr>
                                      <p:tavLst>
                                        <p:tav tm="0">
                                          <p:val>
                                            <p:strVal val="#ppt_x"/>
                                          </p:val>
                                        </p:tav>
                                        <p:tav tm="100000">
                                          <p:val>
                                            <p:strVal val="#ppt_x"/>
                                          </p:val>
                                        </p:tav>
                                      </p:tavLst>
                                    </p:anim>
                                    <p:anim calcmode="lin" valueType="num">
                                      <p:cBhvr additive="base">
                                        <p:cTn id="174" dur="550" fill="hold"/>
                                        <p:tgtEl>
                                          <p:spTgt spid="37"/>
                                        </p:tgtEl>
                                        <p:attrNameLst>
                                          <p:attrName>ppt_y</p:attrName>
                                        </p:attrNameLst>
                                      </p:cBhvr>
                                      <p:tavLst>
                                        <p:tav tm="0">
                                          <p:val>
                                            <p:strVal val="#ppt_y+.08"/>
                                          </p:val>
                                        </p:tav>
                                        <p:tav tm="100000">
                                          <p:val>
                                            <p:strVal val="#ppt_y"/>
                                          </p:val>
                                        </p:tav>
                                      </p:tavLst>
                                    </p:anim>
                                  </p:childTnLst>
                                </p:cTn>
                              </p:par>
                            </p:childTnLst>
                          </p:cTn>
                        </p:par>
                        <p:par>
                          <p:cTn id="175" fill="hold">
                            <p:stCondLst>
                              <p:cond delay="1760"/>
                            </p:stCondLst>
                            <p:childTnLst>
                              <p:par>
                                <p:cTn id="176" presetID="42" presetClass="entr" presetSubtype="0" fill="hold" grpId="0" nodeType="afterEffect">
                                  <p:stCondLst>
                                    <p:cond delay="0"/>
                                  </p:stCondLst>
                                  <p:childTnLst>
                                    <p:set>
                                      <p:cBhvr>
                                        <p:cTn id="177" dur="1" fill="hold">
                                          <p:stCondLst>
                                            <p:cond delay="0"/>
                                          </p:stCondLst>
                                        </p:cTn>
                                        <p:tgtEl>
                                          <p:spTgt spid="38"/>
                                        </p:tgtEl>
                                        <p:attrNameLst>
                                          <p:attrName>style.visibility</p:attrName>
                                        </p:attrNameLst>
                                      </p:cBhvr>
                                      <p:to>
                                        <p:strVal val="visible"/>
                                      </p:to>
                                    </p:set>
                                    <p:animEffect transition="in" filter="fade">
                                      <p:cBhvr>
                                        <p:cTn id="178" dur="550"/>
                                        <p:tgtEl>
                                          <p:spTgt spid="38"/>
                                        </p:tgtEl>
                                      </p:cBhvr>
                                    </p:animEffect>
                                    <p:anim calcmode="lin" valueType="num">
                                      <p:cBhvr additive="base">
                                        <p:cTn id="179" dur="550" fill="hold"/>
                                        <p:tgtEl>
                                          <p:spTgt spid="38"/>
                                        </p:tgtEl>
                                        <p:attrNameLst>
                                          <p:attrName>ppt_x</p:attrName>
                                        </p:attrNameLst>
                                      </p:cBhvr>
                                      <p:tavLst>
                                        <p:tav tm="0">
                                          <p:val>
                                            <p:strVal val="#ppt_x"/>
                                          </p:val>
                                        </p:tav>
                                        <p:tav tm="100000">
                                          <p:val>
                                            <p:strVal val="#ppt_x"/>
                                          </p:val>
                                        </p:tav>
                                      </p:tavLst>
                                    </p:anim>
                                    <p:anim calcmode="lin" valueType="num">
                                      <p:cBhvr additive="base">
                                        <p:cTn id="180" dur="550" fill="hold"/>
                                        <p:tgtEl>
                                          <p:spTgt spid="38"/>
                                        </p:tgtEl>
                                        <p:attrNameLst>
                                          <p:attrName>ppt_y</p:attrName>
                                        </p:attrNameLst>
                                      </p:cBhvr>
                                      <p:tavLst>
                                        <p:tav tm="0">
                                          <p:val>
                                            <p:strVal val="#ppt_y+.08"/>
                                          </p:val>
                                        </p:tav>
                                        <p:tav tm="100000">
                                          <p:val>
                                            <p:strVal val="#ppt_y"/>
                                          </p:val>
                                        </p:tav>
                                      </p:tavLst>
                                    </p:anim>
                                  </p:childTnLst>
                                </p:cTn>
                              </p:par>
                            </p:childTnLst>
                          </p:cTn>
                        </p:par>
                        <p:par>
                          <p:cTn id="181" fill="hold">
                            <p:stCondLst>
                              <p:cond delay="1760"/>
                            </p:stCondLst>
                            <p:childTnLst>
                              <p:par>
                                <p:cTn id="182" presetID="42" presetClass="entr" presetSubtype="0" fill="hold" grpId="0" nodeType="afterEffect">
                                  <p:stCondLst>
                                    <p:cond delay="0"/>
                                  </p:stCondLst>
                                  <p:childTnLst>
                                    <p:set>
                                      <p:cBhvr>
                                        <p:cTn id="183" dur="1" fill="hold">
                                          <p:stCondLst>
                                            <p:cond delay="0"/>
                                          </p:stCondLst>
                                        </p:cTn>
                                        <p:tgtEl>
                                          <p:spTgt spid="39"/>
                                        </p:tgtEl>
                                        <p:attrNameLst>
                                          <p:attrName>style.visibility</p:attrName>
                                        </p:attrNameLst>
                                      </p:cBhvr>
                                      <p:to>
                                        <p:strVal val="visible"/>
                                      </p:to>
                                    </p:set>
                                    <p:animEffect transition="in" filter="fade">
                                      <p:cBhvr>
                                        <p:cTn id="184" dur="550"/>
                                        <p:tgtEl>
                                          <p:spTgt spid="39"/>
                                        </p:tgtEl>
                                      </p:cBhvr>
                                    </p:animEffect>
                                    <p:anim calcmode="lin" valueType="num">
                                      <p:cBhvr additive="base">
                                        <p:cTn id="185" dur="550" fill="hold"/>
                                        <p:tgtEl>
                                          <p:spTgt spid="39"/>
                                        </p:tgtEl>
                                        <p:attrNameLst>
                                          <p:attrName>ppt_x</p:attrName>
                                        </p:attrNameLst>
                                      </p:cBhvr>
                                      <p:tavLst>
                                        <p:tav tm="0">
                                          <p:val>
                                            <p:strVal val="#ppt_x"/>
                                          </p:val>
                                        </p:tav>
                                        <p:tav tm="100000">
                                          <p:val>
                                            <p:strVal val="#ppt_x"/>
                                          </p:val>
                                        </p:tav>
                                      </p:tavLst>
                                    </p:anim>
                                    <p:anim calcmode="lin" valueType="num">
                                      <p:cBhvr additive="base">
                                        <p:cTn id="186" dur="550" fill="hold"/>
                                        <p:tgtEl>
                                          <p:spTgt spid="39"/>
                                        </p:tgtEl>
                                        <p:attrNameLst>
                                          <p:attrName>ppt_y</p:attrName>
                                        </p:attrNameLst>
                                      </p:cBhvr>
                                      <p:tavLst>
                                        <p:tav tm="0">
                                          <p:val>
                                            <p:strVal val="#ppt_y+.08"/>
                                          </p:val>
                                        </p:tav>
                                        <p:tav tm="100000">
                                          <p:val>
                                            <p:strVal val="#ppt_y"/>
                                          </p:val>
                                        </p:tav>
                                      </p:tavLst>
                                    </p:anim>
                                  </p:childTnLst>
                                </p:cTn>
                              </p:par>
                            </p:childTnLst>
                          </p:cTn>
                        </p:par>
                        <p:par>
                          <p:cTn id="187" fill="hold">
                            <p:stCondLst>
                              <p:cond delay="1760"/>
                            </p:stCondLst>
                            <p:childTnLst>
                              <p:par>
                                <p:cTn id="188" presetID="53" presetClass="entr" presetSubtype="16" fill="hold" grpId="0" nodeType="after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50"/>
                                        <p:tgtEl>
                                          <p:spTgt spid="40"/>
                                        </p:tgtEl>
                                      </p:cBhvr>
                                    </p:animEffect>
                                    <p:anim calcmode="lin" valueType="num">
                                      <p:cBhvr additive="base">
                                        <p:cTn id="191" dur="550" fill="hold"/>
                                        <p:tgtEl>
                                          <p:spTgt spid="40"/>
                                        </p:tgtEl>
                                        <p:attrNameLst>
                                          <p:attrName>ppt_w</p:attrName>
                                        </p:attrNameLst>
                                      </p:cBhvr>
                                      <p:tavLst>
                                        <p:tav tm="0">
                                          <p:val>
                                            <p:strVal val="0"/>
                                          </p:val>
                                        </p:tav>
                                        <p:tav tm="100000">
                                          <p:val>
                                            <p:strVal val="#ppt_w"/>
                                          </p:val>
                                        </p:tav>
                                      </p:tavLst>
                                    </p:anim>
                                    <p:anim calcmode="lin" valueType="num">
                                      <p:cBhvr additive="base">
                                        <p:cTn id="192" dur="550" fill="hold"/>
                                        <p:tgtEl>
                                          <p:spTgt spid="40"/>
                                        </p:tgtEl>
                                        <p:attrNameLst>
                                          <p:attrName>ppt_h</p:attrName>
                                        </p:attrNameLst>
                                      </p:cBhvr>
                                      <p:tavLst>
                                        <p:tav tm="0">
                                          <p:val>
                                            <p:strVal val="0"/>
                                          </p:val>
                                        </p:tav>
                                        <p:tav tm="100000">
                                          <p:val>
                                            <p:strVal val="#ppt_h"/>
                                          </p:val>
                                        </p:tav>
                                      </p:tavLst>
                                    </p:anim>
                                  </p:childTnLst>
                                </p:cTn>
                              </p:par>
                            </p:childTnLst>
                          </p:cTn>
                        </p:par>
                        <p:par>
                          <p:cTn id="193" fill="hold">
                            <p:stCondLst>
                              <p:cond delay="1760"/>
                            </p:stCondLst>
                            <p:childTnLst>
                              <p:par>
                                <p:cTn id="194" presetID="42" presetClass="entr" presetSubtype="0" fill="hold" grpId="0" nodeType="afterEffect">
                                  <p:stCondLst>
                                    <p:cond delay="0"/>
                                  </p:stCondLst>
                                  <p:childTnLst>
                                    <p:set>
                                      <p:cBhvr>
                                        <p:cTn id="195" dur="1" fill="hold">
                                          <p:stCondLst>
                                            <p:cond delay="0"/>
                                          </p:stCondLst>
                                        </p:cTn>
                                        <p:tgtEl>
                                          <p:spTgt spid="41"/>
                                        </p:tgtEl>
                                        <p:attrNameLst>
                                          <p:attrName>style.visibility</p:attrName>
                                        </p:attrNameLst>
                                      </p:cBhvr>
                                      <p:to>
                                        <p:strVal val="visible"/>
                                      </p:to>
                                    </p:set>
                                    <p:animEffect transition="in" filter="fade">
                                      <p:cBhvr>
                                        <p:cTn id="196" dur="550"/>
                                        <p:tgtEl>
                                          <p:spTgt spid="41"/>
                                        </p:tgtEl>
                                      </p:cBhvr>
                                    </p:animEffect>
                                    <p:anim calcmode="lin" valueType="num">
                                      <p:cBhvr additive="base">
                                        <p:cTn id="197" dur="550" fill="hold"/>
                                        <p:tgtEl>
                                          <p:spTgt spid="41"/>
                                        </p:tgtEl>
                                        <p:attrNameLst>
                                          <p:attrName>ppt_x</p:attrName>
                                        </p:attrNameLst>
                                      </p:cBhvr>
                                      <p:tavLst>
                                        <p:tav tm="0">
                                          <p:val>
                                            <p:strVal val="#ppt_x"/>
                                          </p:val>
                                        </p:tav>
                                        <p:tav tm="100000">
                                          <p:val>
                                            <p:strVal val="#ppt_x"/>
                                          </p:val>
                                        </p:tav>
                                      </p:tavLst>
                                    </p:anim>
                                    <p:anim calcmode="lin" valueType="num">
                                      <p:cBhvr additive="base">
                                        <p:cTn id="198" dur="550" fill="hold"/>
                                        <p:tgtEl>
                                          <p:spTgt spid="4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b65a074a50e157c.jpg"/>
          <p:cNvPicPr>
            <a:picLocks noChangeAspect="1"/>
          </p:cNvPicPr>
          <p:nvPr/>
        </p:nvPicPr>
        <p:blipFill>
          <a:blip r:embed="rId2"/>
          <a:srcRect l="21474" r="21474"/>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Intel in Deutschland · Wikimedia Commons · CC BY-SA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CPU: kechikishga optimallashtirilgan arxitektura</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CPU: kechikishga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66124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6124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1916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701240"/>
            <a:ext cx="10150000" cy="1255840"/>
          </a:xfrm>
          <a:prstGeom prst="rect">
            <a:avLst/>
          </a:prstGeom>
          <a:noFill/>
        </p:spPr>
        <p:txBody>
          <a:bodyPr wrap="square" anchor="ctr">
            <a:spAutoFit/>
          </a:bodyPr>
          <a:lstStyle/>
          <a:p>
            <a:r>
              <a:rPr sz="1500" b="0">
                <a:solidFill>
                  <a:srgbClr val="1B2430"/>
                </a:solidFill>
                <a:latin typeface="Calibri"/>
              </a:rPr>
              <a:t>Zamonaviy server CPU si (masalan, AMD EPYC 9004 «Genoa» 96 yadroli yoki Intel Xeon 4-avlod «Sapphire Rapids» 60 yadroli) — bu kechikishni (latency) minimallashtirishga qaratilgan mashina.</a:t>
            </a:r>
          </a:p>
        </p:txBody>
      </p:sp>
      <p:sp>
        <p:nvSpPr>
          <p:cNvPr id="14" name="Rounded Rectangle 13"/>
          <p:cNvSpPr/>
          <p:nvPr/>
        </p:nvSpPr>
        <p:spPr>
          <a:xfrm>
            <a:off x="550000" y="310708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0708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47080"/>
            <a:ext cx="10150000" cy="1255840"/>
          </a:xfrm>
          <a:prstGeom prst="rect">
            <a:avLst/>
          </a:prstGeom>
          <a:noFill/>
        </p:spPr>
        <p:txBody>
          <a:bodyPr wrap="square" anchor="ctr">
            <a:spAutoFit/>
          </a:bodyPr>
          <a:lstStyle/>
          <a:p>
            <a:r>
              <a:rPr sz="1600" b="1">
                <a:solidFill>
                  <a:srgbClr val="1F3A5F"/>
                </a:solidFill>
                <a:latin typeface="Calibri"/>
              </a:rPr>
              <a:t>CPU da SI yukini tezlashtirishning asosiy vositasi — SIMD (Single Instruction, Multiple Data) kengaytmalari: AVX2 (256 bit, 8 ta FP32), AVX-512 (512 bit, 16 ta FP32) va ARM da SVE/SVE2.</a:t>
            </a:r>
          </a:p>
          <a:p>
            <a:pPr>
              <a:spcBef>
                <a:spcPts val="400"/>
              </a:spcBef>
            </a:pPr>
            <a:r>
              <a:rPr sz="1500">
                <a:solidFill>
                  <a:srgbClr val="334055"/>
                </a:solidFill>
                <a:latin typeface="Calibri"/>
              </a:rPr>
              <a:t>Yangi Intel Xeon larda AMX (Advanced Matrix Extensions) bloki qo'shilgan — u 16×64 baytli «plitka» registrlarida INT8 va BF16 matritsa ko'paytirishni bajarib, yadro boshiga 2048 INT8 amal/takt beradi.</a:t>
            </a:r>
          </a:p>
        </p:txBody>
      </p:sp>
      <p:sp>
        <p:nvSpPr>
          <p:cNvPr id="18" name="Rounded Rectangle 17"/>
          <p:cNvSpPr/>
          <p:nvPr/>
        </p:nvSpPr>
        <p:spPr>
          <a:xfrm>
            <a:off x="550000" y="455292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52920"/>
            <a:ext cx="70000" cy="13358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01084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92920"/>
            <a:ext cx="10150000" cy="1255840"/>
          </a:xfrm>
          <a:prstGeom prst="rect">
            <a:avLst/>
          </a:prstGeom>
          <a:noFill/>
        </p:spPr>
        <p:txBody>
          <a:bodyPr wrap="square" anchor="ctr">
            <a:spAutoFit/>
          </a:bodyPr>
          <a:lstStyle/>
          <a:p>
            <a:r>
              <a:rPr sz="1500" b="0">
                <a:solidFill>
                  <a:srgbClr val="1B2430"/>
                </a:solidFill>
                <a:latin typeface="Calibri"/>
              </a:rPr>
              <a:t>CPU ning SI tizimidagi o'rni shunga qaramay muhim: u ma'lumotni yuklaydi va oldindan ishlov beradi, tezlatkichlarni boshqaradi, kichik modellar va past yukdagi inferensni bajaradi, tavsiya tizimlarida embedding jadvallarini qidiradi (xotira sig'imi muhim…</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1ad84d55f0a755a6.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Phiarc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GPU: o'tkazuvchanlikka optimallashtirilgan arxitektura</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GPU: o'tkazuvchanlikka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10" name="Rounded Rectangle 9"/>
          <p:cNvSpPr/>
          <p:nvPr/>
        </p:nvSpPr>
        <p:spPr>
          <a:xfrm>
            <a:off x="550000" y="140978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409780"/>
            <a:ext cx="70000" cy="150348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195152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449780"/>
            <a:ext cx="10150000" cy="1423480"/>
          </a:xfrm>
          <a:prstGeom prst="rect">
            <a:avLst/>
          </a:prstGeom>
          <a:noFill/>
        </p:spPr>
        <p:txBody>
          <a:bodyPr wrap="square" anchor="ctr">
            <a:spAutoFit/>
          </a:bodyPr>
          <a:lstStyle/>
          <a:p>
            <a:r>
              <a:rPr sz="1500" b="1">
                <a:solidFill>
                  <a:srgbClr val="1F3A5F"/>
                </a:solidFill>
                <a:latin typeface="Calibri"/>
              </a:rPr>
              <a:t>GPU qarama-qarshi falsafaga asoslangan: kechikishni yashirish uchun murakkab boshqaruv o'rniga minglab oddiy oqimlar (thread) ishlatiladi; bir oqim xotira kutayotganda boshqasi hisoblaydi.</a:t>
            </a:r>
          </a:p>
          <a:p>
            <a:pPr>
              <a:spcBef>
                <a:spcPts val="400"/>
              </a:spcBef>
            </a:pPr>
            <a:r>
              <a:rPr sz="1400">
                <a:solidFill>
                  <a:srgbClr val="334055"/>
                </a:solidFill>
                <a:latin typeface="Calibri"/>
              </a:rPr>
              <a:t>NVIDIA terminologiyasida bu SIMT (Single Instruction, Multiple Threads) modeli: 32 oqimdan iborat «warp» bitta buyruqni bir vaqtda bajaradi.</a:t>
            </a:r>
          </a:p>
        </p:txBody>
      </p:sp>
      <p:sp>
        <p:nvSpPr>
          <p:cNvPr id="14" name="Rounded Rectangle 13"/>
          <p:cNvSpPr/>
          <p:nvPr/>
        </p:nvSpPr>
        <p:spPr>
          <a:xfrm>
            <a:off x="550000" y="302326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023260"/>
            <a:ext cx="70000" cy="15034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063260"/>
            <a:ext cx="10150000" cy="1423480"/>
          </a:xfrm>
          <a:prstGeom prst="rect">
            <a:avLst/>
          </a:prstGeom>
          <a:noFill/>
        </p:spPr>
        <p:txBody>
          <a:bodyPr wrap="square" anchor="ctr">
            <a:spAutoFit/>
          </a:bodyPr>
          <a:lstStyle/>
          <a:p>
            <a:r>
              <a:rPr sz="1500" b="1">
                <a:solidFill>
                  <a:srgbClr val="1F3A5F"/>
                </a:solidFill>
                <a:latin typeface="Calibri"/>
              </a:rPr>
              <a:t>GPU ning tuzilmaviy birligi — oqimli multiprotsessor (Streaming Multiprocessor, SM).</a:t>
            </a:r>
          </a:p>
          <a:p>
            <a:pPr>
              <a:spcBef>
                <a:spcPts val="400"/>
              </a:spcBef>
            </a:pPr>
            <a:r>
              <a:rPr sz="1400">
                <a:solidFill>
                  <a:srgbClr val="334055"/>
                </a:solidFill>
                <a:latin typeface="Calibri"/>
              </a:rPr>
              <a:t>NVIDIA H100 (Hopper) da 132 ta SM, har birida 128 ta FP32 CUDA yadrosi, 4 ta to'rtinchi avlod Tensor Core, 256 KB birlashgan L1/umumiy xotira va 64 K ta 32-bitli registr bor. Jami: 16 896 CUDA yadrosi, 528 Tensor Core, 50 MB L2 kesh, 80 GB HBM3 xotira 3,35 TB/s o'tkazuvchanlik bilan.</a:t>
            </a:r>
          </a:p>
        </p:txBody>
      </p:sp>
      <p:sp>
        <p:nvSpPr>
          <p:cNvPr id="18" name="Rounded Rectangle 17"/>
          <p:cNvSpPr/>
          <p:nvPr/>
        </p:nvSpPr>
        <p:spPr>
          <a:xfrm>
            <a:off x="550000" y="4636740"/>
            <a:ext cx="11100000" cy="150348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636740"/>
            <a:ext cx="70000" cy="150348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517848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676740"/>
            <a:ext cx="10150000" cy="1423480"/>
          </a:xfrm>
          <a:prstGeom prst="rect">
            <a:avLst/>
          </a:prstGeom>
          <a:noFill/>
        </p:spPr>
        <p:txBody>
          <a:bodyPr wrap="square" anchor="ctr">
            <a:spAutoFit/>
          </a:bodyPr>
          <a:lstStyle/>
          <a:p>
            <a:r>
              <a:rPr sz="1500" b="1">
                <a:solidFill>
                  <a:srgbClr val="1F3A5F"/>
                </a:solidFill>
                <a:latin typeface="Calibri"/>
              </a:rPr>
              <a:t>Tensor Core — GPU ichidagi ixtisoslashgan matritsa bloki (M4 da batafsil): bir taktda kichik matritsa fragmentini (masalan 4×4×4 yoki undan katta) aralash aniqlikda (FP16/BF16 kirish, FP32 to'plash) ko'paytirib qo'shadi.</a:t>
            </a:r>
          </a:p>
          <a:p>
            <a:pPr>
              <a:spcBef>
                <a:spcPts val="400"/>
              </a:spcBef>
            </a:pPr>
            <a:r>
              <a:rPr sz="1400">
                <a:solidFill>
                  <a:srgbClr val="334055"/>
                </a:solidFill>
                <a:latin typeface="Calibri"/>
              </a:rPr>
              <a:t>H100 uchun zich FP16 Tensor Core unumdorligi taxminan 990 TFLOPS, FP8 da taxminan 1 980 TFLOPS, oddiy FP32 CUDA yadrolari esa 67 TFLOPS beradi — ya'ni Tensor Core dan foydalanish 15 baravar farq qiladi.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GPU: o'tkazuvchanlikka optimallashtirilgan arxitektura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4</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GPU ning yana bir asosiy xususiyati — xotira iyerarxiyasi dasturchiga ochiq: registrlar, umumiy xotira (shared memory, dasturchi boshqaradigan kesh), L2 va global HBM.</a:t>
            </a:r>
          </a:p>
          <a:p>
            <a:pPr>
              <a:spcBef>
                <a:spcPts val="400"/>
              </a:spcBef>
            </a:pPr>
            <a:r>
              <a:rPr sz="1700">
                <a:solidFill>
                  <a:srgbClr val="334055"/>
                </a:solidFill>
                <a:latin typeface="Calibri"/>
              </a:rPr>
              <a:t>Samarali CUDA yadrosi (kernel) ma'lumotni umumiy xotiraga yuklab, ko'p marta qayta ishlatadi — bu Sze va hammualliflar [4] ta'kidlagan «ma'lumotni qayta ishlatish» tamoyilining dasturiy ifodasi.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b16a40a0eaa5c0f.jpg"/>
          <p:cNvPicPr>
            <a:picLocks noChangeAspect="1"/>
          </p:cNvPicPr>
          <p:nvPr/>
        </p:nvPicPr>
        <p:blipFill>
          <a:blip r:embed="rId2"/>
          <a:srcRect l="19359" r="19359"/>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Zinskauf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TPU va sistolik massiv</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TPU va sistolik massiv</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96506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965060"/>
            <a:ext cx="70000" cy="17549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63253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005060"/>
            <a:ext cx="10150000" cy="1674940"/>
          </a:xfrm>
          <a:prstGeom prst="rect">
            <a:avLst/>
          </a:prstGeom>
          <a:noFill/>
        </p:spPr>
        <p:txBody>
          <a:bodyPr wrap="square" anchor="ctr">
            <a:spAutoFit/>
          </a:bodyPr>
          <a:lstStyle/>
          <a:p>
            <a:r>
              <a:rPr sz="1700" b="0">
                <a:solidFill>
                  <a:srgbClr val="1B2430"/>
                </a:solidFill>
                <a:latin typeface="Calibri"/>
              </a:rPr>
              <a:t>Google TPU (Tensor Processing Unit) — neyron tarmoq uchun noldan loyihalangan ASIC.</a:t>
            </a:r>
          </a:p>
        </p:txBody>
      </p:sp>
      <p:sp>
        <p:nvSpPr>
          <p:cNvPr id="14" name="Rounded Rectangle 13"/>
          <p:cNvSpPr/>
          <p:nvPr/>
        </p:nvSpPr>
        <p:spPr>
          <a:xfrm>
            <a:off x="550000" y="383000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7549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9747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674940"/>
          </a:xfrm>
          <a:prstGeom prst="rect">
            <a:avLst/>
          </a:prstGeom>
          <a:noFill/>
        </p:spPr>
        <p:txBody>
          <a:bodyPr wrap="square" anchor="ctr">
            <a:spAutoFit/>
          </a:bodyPr>
          <a:lstStyle/>
          <a:p>
            <a:r>
              <a:rPr sz="1800" b="1">
                <a:solidFill>
                  <a:srgbClr val="1F3A5F"/>
                </a:solidFill>
                <a:latin typeface="Calibri"/>
              </a:rPr>
              <a:t>Keyingi avlodlar o'qitish uchun BF16 qo'llab-quvvatlashi, HBM xotira va chiplararo tarmoq (Inter-Core Interconnect, ICI) qo'shdi.</a:t>
            </a:r>
          </a:p>
          <a:p>
            <a:pPr>
              <a:spcBef>
                <a:spcPts val="400"/>
              </a:spcBef>
            </a:pPr>
            <a:r>
              <a:rPr sz="1700">
                <a:solidFill>
                  <a:srgbClr val="334055"/>
                </a:solidFill>
                <a:latin typeface="Calibri"/>
              </a:rPr>
              <a:t>TPU v4 chipi ikkita TensorCore, har birida to'rtta 128×128 li MXU (matritsa bloki) ga ega bo'lib, 275 TFLOPS BF16 beradi; 4 096 chip 3D torus topologiyasida bitta «pod» ga birlashadi.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540def6ae279e7ed.jpg"/>
          <p:cNvPicPr>
            <a:picLocks noChangeAspect="1"/>
          </p:cNvPicPr>
          <p:nvPr/>
        </p:nvPicPr>
        <p:blipFill>
          <a:blip r:embed="rId2"/>
          <a:srcRect l="22850" r="22850"/>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European Space Agency · Wikimedia Commons · CC BY-SA 3.0 igo</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NPU: chekka va iste'mol qurilmalaridagi tezlatkichlar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NPU: chekka va iste'mol qurilmalaridagi tezlatkichlar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NPU (Neural Processing Unit) — umumiy nom bo'lib, tizim-kristal (SoC) tarkibidagi neyron tarmoq blokini bildiradi.</a:t>
            </a:r>
          </a:p>
          <a:p>
            <a:pPr>
              <a:spcBef>
                <a:spcPts val="400"/>
              </a:spcBef>
            </a:pPr>
            <a:r>
              <a:rPr sz="1500">
                <a:solidFill>
                  <a:srgbClr val="334055"/>
                </a:solidFill>
                <a:latin typeface="Calibri"/>
              </a:rPr>
              <a:t>Arxitektura jihatidan NPU lar ko'pincha kichik sistolik massivlar yoki vektor-matritsa bloklari, katta on-chip SRAM va INT8/INT4 aniqlikka urg'u bilan quriladi. Ularning asosiy loyihalash mezoni — vatt boshiga TOPS, chunki ular batareyali qurilmada ishlaydi.</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NPU ning cheklovlari: qo'llab-quvvatlanadigan operatorlar to'plami tor (yangi arxitekturadagi noodatiy qatlam NPU da ishlamay CPU ga tushishi mumkin), dasturlash faqat ishlab chiqaruvchi SDK si orqali (Core ML, Qualcomm AI Engine, OpenVINO), aniqlik asosan…</a:t>
            </a:r>
          </a:p>
          <a:p>
            <a:pPr>
              <a:spcBef>
                <a:spcPts val="400"/>
              </a:spcBef>
            </a:pPr>
            <a:r>
              <a:rPr sz="1500">
                <a:solidFill>
                  <a:srgbClr val="334055"/>
                </a:solidFill>
                <a:latin typeface="Calibri"/>
              </a:rPr>
              <a:t>Shu sababli NPU uchun model tayyorlash — kvantlash, operatorlarni almashtirish, grafni kompilyatsiya qilish — alohida muhandislik bosqichi (M6 va M8 da ko'riladi).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62553146f2c8b02.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Pedant01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FPGA: qayta dasturlanadigan apparat</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FPGA: qayta dasturlanadigan apparat</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10" name="Rounded Rectangle 9"/>
          <p:cNvSpPr/>
          <p:nvPr/>
        </p:nvSpPr>
        <p:spPr>
          <a:xfrm>
            <a:off x="550000" y="238416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384160"/>
            <a:ext cx="70000" cy="133584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84208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424160"/>
            <a:ext cx="10150000" cy="1255840"/>
          </a:xfrm>
          <a:prstGeom prst="rect">
            <a:avLst/>
          </a:prstGeom>
          <a:noFill/>
        </p:spPr>
        <p:txBody>
          <a:bodyPr wrap="square" anchor="ctr">
            <a:spAutoFit/>
          </a:bodyPr>
          <a:lstStyle/>
          <a:p>
            <a:r>
              <a:rPr sz="1600" b="1">
                <a:solidFill>
                  <a:srgbClr val="1F3A5F"/>
                </a:solidFill>
                <a:latin typeface="Calibri"/>
              </a:rPr>
              <a:t>FPGA (Field-Programmable Gate Array) — ishlab chiqarilgandan keyin mantiqiy sxemasi o'zgartirilishi mumkin bo'lgan chip.</a:t>
            </a:r>
          </a:p>
          <a:p>
            <a:pPr>
              <a:spcBef>
                <a:spcPts val="400"/>
              </a:spcBef>
            </a:pPr>
            <a:r>
              <a:rPr sz="1500">
                <a:solidFill>
                  <a:srgbClr val="334055"/>
                </a:solidFill>
                <a:latin typeface="Calibri"/>
              </a:rPr>
              <a:t>Uning tarkibida yuz minglab qidiruv jadvallari (LUT), triggerlar, DSP bloklari (apparat ko'paytirgichlar) va bloklangan xotira (BRAM) bo'lib, ular dasturlanadigan ulanish to'ri orqali bog'lanadi.</a:t>
            </a:r>
          </a:p>
        </p:txBody>
      </p:sp>
      <p:sp>
        <p:nvSpPr>
          <p:cNvPr id="14" name="Rounded Rectangle 13"/>
          <p:cNvSpPr/>
          <p:nvPr/>
        </p:nvSpPr>
        <p:spPr>
          <a:xfrm>
            <a:off x="550000" y="3830000"/>
            <a:ext cx="11100000" cy="13358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33584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28792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255840"/>
          </a:xfrm>
          <a:prstGeom prst="rect">
            <a:avLst/>
          </a:prstGeom>
          <a:noFill/>
        </p:spPr>
        <p:txBody>
          <a:bodyPr wrap="square" anchor="ctr">
            <a:spAutoFit/>
          </a:bodyPr>
          <a:lstStyle/>
          <a:p>
            <a:r>
              <a:rPr sz="1500" b="0">
                <a:solidFill>
                  <a:srgbClr val="1B2430"/>
                </a:solidFill>
                <a:latin typeface="Calibri"/>
              </a:rPr>
              <a:t>FPGA ning afzalliklari: juda past va bashoratlanadigan kechikish (mikrosekundlar, chunki operatsion tizim va drayver yo'q), ixtiyoriy aniqlik, kiritish-chiqarish bilan to'g'ridan-to'g'ri integratsiya (kamera, tarmoq, radar).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6c93aa2b82fecd83.jpg"/>
          <p:cNvPicPr>
            <a:picLocks noChangeAspect="1"/>
          </p:cNvPicPr>
          <p:nvPr/>
        </p:nvPicPr>
        <p:blipFill>
          <a:blip r:embed="rId2"/>
          <a:srcRect l="21373" r="2137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Martijn Boer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06</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Arxitekturalarni qiyosiy tahlil qilish</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Arxitekturalarni qiyosiy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10" name="Rounded Rectangle 9"/>
          <p:cNvSpPr/>
          <p:nvPr/>
        </p:nvSpPr>
        <p:spPr>
          <a:xfrm>
            <a:off x="550000" y="2755036"/>
            <a:ext cx="11100000" cy="2039928"/>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755036"/>
            <a:ext cx="70000" cy="2039928"/>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795036"/>
            <a:ext cx="10150000" cy="1959928"/>
          </a:xfrm>
          <a:prstGeom prst="rect">
            <a:avLst/>
          </a:prstGeom>
          <a:noFill/>
        </p:spPr>
        <p:txBody>
          <a:bodyPr wrap="square" anchor="ctr">
            <a:spAutoFit/>
          </a:bodyPr>
          <a:lstStyle/>
          <a:p>
            <a:r>
              <a:rPr sz="1800" b="1">
                <a:solidFill>
                  <a:srgbClr val="1F3A5F"/>
                </a:solidFill>
                <a:latin typeface="Calibri"/>
              </a:rPr>
              <a:t>Jadval umumiy qonuniyatni ko'rsatadi: ixtisoslashuv oshgan sari samaradorlik oshadi, moslashuvchanlik kamayadi.</a:t>
            </a:r>
          </a:p>
          <a:p>
            <a:pPr>
              <a:spcBef>
                <a:spcPts val="400"/>
              </a:spcBef>
            </a:pPr>
            <a:r>
              <a:rPr sz="1700">
                <a:solidFill>
                  <a:srgbClr val="334055"/>
                </a:solidFill>
                <a:latin typeface="Calibri"/>
              </a:rPr>
              <a:t>Hennessy va Patterson [1] sohaga xos arxitekturalar samaradorligining beshta manbasini sanaydilar: sohaga xos parallellikdan foydalanish, xotira iyerarxiyasini dasturchi boshqarishi, keraksiz aniqlikdan voz kechish, sohaga xos dasturlash tili va kesh/bashorat kabi umumiy mexanizmlardan voz kechish.</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6-REJA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Arxitekturalarni qiyosiy tahlil qilish</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graphicFrame>
        <p:nvGraphicFramePr>
          <p:cNvPr id="10" name="Table 9"/>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Mezon</a:t>
                      </a:r>
                    </a:p>
                  </a:txBody>
                  <a:tcPr>
                    <a:solidFill>
                      <a:srgbClr val="2D5C8F"/>
                    </a:solidFill>
                  </a:tcPr>
                </a:tc>
                <a:tc>
                  <a:txBody>
                    <a:bodyPr/>
                    <a:lstStyle/>
                    <a:p>
                      <a:r>
                        <a:rPr sz="1200" b="1">
                          <a:solidFill>
                            <a:srgbClr val="FFFFFF"/>
                          </a:solidFill>
                          <a:latin typeface="Calibri"/>
                        </a:rPr>
                        <a:t>CPU</a:t>
                      </a:r>
                    </a:p>
                  </a:txBody>
                  <a:tcPr>
                    <a:solidFill>
                      <a:srgbClr val="2D5C8F"/>
                    </a:solidFill>
                  </a:tcPr>
                </a:tc>
                <a:tc>
                  <a:txBody>
                    <a:bodyPr/>
                    <a:lstStyle/>
                    <a:p>
                      <a:r>
                        <a:rPr sz="1200" b="1">
                          <a:solidFill>
                            <a:srgbClr val="FFFFFF"/>
                          </a:solidFill>
                          <a:latin typeface="Calibri"/>
                        </a:rPr>
                        <a:t>GPU</a:t>
                      </a:r>
                    </a:p>
                  </a:txBody>
                  <a:tcPr>
                    <a:solidFill>
                      <a:srgbClr val="2D5C8F"/>
                    </a:solidFill>
                  </a:tcPr>
                </a:tc>
                <a:tc>
                  <a:txBody>
                    <a:bodyPr/>
                    <a:lstStyle/>
                    <a:p>
                      <a:r>
                        <a:rPr sz="1200" b="1">
                          <a:solidFill>
                            <a:srgbClr val="FFFFFF"/>
                          </a:solidFill>
                          <a:latin typeface="Calibri"/>
                        </a:rPr>
                        <a:t>TPU (ASIC)</a:t>
                      </a:r>
                    </a:p>
                  </a:txBody>
                  <a:tcPr>
                    <a:solidFill>
                      <a:srgbClr val="2D5C8F"/>
                    </a:solidFill>
                  </a:tcPr>
                </a:tc>
                <a:tc>
                  <a:txBody>
                    <a:bodyPr/>
                    <a:lstStyle/>
                    <a:p>
                      <a:r>
                        <a:rPr sz="1200" b="1">
                          <a:solidFill>
                            <a:srgbClr val="FFFFFF"/>
                          </a:solidFill>
                          <a:latin typeface="Calibri"/>
                        </a:rPr>
                        <a:t>NPU (SoC)</a:t>
                      </a:r>
                    </a:p>
                  </a:txBody>
                  <a:tcPr>
                    <a:solidFill>
                      <a:srgbClr val="2D5C8F"/>
                    </a:solidFill>
                  </a:tcPr>
                </a:tc>
                <a:tc>
                  <a:txBody>
                    <a:bodyPr/>
                    <a:lstStyle/>
                    <a:p>
                      <a:r>
                        <a:rPr sz="1200" b="1">
                          <a:solidFill>
                            <a:srgbClr val="FFFFFF"/>
                          </a:solidFill>
                          <a:latin typeface="Calibri"/>
                        </a:rPr>
                        <a:t>FPGA</a:t>
                      </a:r>
                    </a:p>
                  </a:txBody>
                  <a:tcPr>
                    <a:solidFill>
                      <a:srgbClr val="2D5C8F"/>
                    </a:solidFill>
                  </a:tcPr>
                </a:tc>
              </a:tr>
              <a:tr h="520000">
                <a:tc>
                  <a:txBody>
                    <a:bodyPr/>
                    <a:lstStyle/>
                    <a:p>
                      <a:r>
                        <a:rPr sz="1200" b="0">
                          <a:solidFill>
                            <a:srgbClr val="1B2430"/>
                          </a:solidFill>
                          <a:latin typeface="Calibri"/>
                        </a:rPr>
                        <a:t>Parallellik modeli</a:t>
                      </a:r>
                    </a:p>
                  </a:txBody>
                  <a:tcPr>
                    <a:solidFill>
                      <a:srgbClr val="F1F4F8"/>
                    </a:solidFill>
                  </a:tcPr>
                </a:tc>
                <a:tc>
                  <a:txBody>
                    <a:bodyPr/>
                    <a:lstStyle/>
                    <a:p>
                      <a:r>
                        <a:rPr sz="1200" b="0">
                          <a:solidFill>
                            <a:srgbClr val="1B2430"/>
                          </a:solidFill>
                          <a:latin typeface="Calibri"/>
                        </a:rPr>
                        <a:t>Ko'p yadro + SIMD/AMX</a:t>
                      </a:r>
                    </a:p>
                  </a:txBody>
                  <a:tcPr>
                    <a:solidFill>
                      <a:srgbClr val="F1F4F8"/>
                    </a:solidFill>
                  </a:tcPr>
                </a:tc>
                <a:tc>
                  <a:txBody>
                    <a:bodyPr/>
                    <a:lstStyle/>
                    <a:p>
                      <a:r>
                        <a:rPr sz="1200" b="0">
                          <a:solidFill>
                            <a:srgbClr val="1B2430"/>
                          </a:solidFill>
                          <a:latin typeface="Calibri"/>
                        </a:rPr>
                        <a:t>SIMT, minglab oqim</a:t>
                      </a:r>
                    </a:p>
                  </a:txBody>
                  <a:tcPr>
                    <a:solidFill>
                      <a:srgbClr val="F1F4F8"/>
                    </a:solidFill>
                  </a:tcPr>
                </a:tc>
                <a:tc>
                  <a:txBody>
                    <a:bodyPr/>
                    <a:lstStyle/>
                    <a:p>
                      <a:r>
                        <a:rPr sz="1200" b="0">
                          <a:solidFill>
                            <a:srgbClr val="1B2430"/>
                          </a:solidFill>
                          <a:latin typeface="Calibri"/>
                        </a:rPr>
                        <a:t>Sistolik massiv, kompilyator rejalashtiradi</a:t>
                      </a:r>
                    </a:p>
                  </a:txBody>
                  <a:tcPr>
                    <a:solidFill>
                      <a:srgbClr val="F1F4F8"/>
                    </a:solidFill>
                  </a:tcPr>
                </a:tc>
                <a:tc>
                  <a:txBody>
                    <a:bodyPr/>
                    <a:lstStyle/>
                    <a:p>
                      <a:r>
                        <a:rPr sz="1200" b="0">
                          <a:solidFill>
                            <a:srgbClr val="1B2430"/>
                          </a:solidFill>
                          <a:latin typeface="Calibri"/>
                        </a:rPr>
                        <a:t>Kichik matritsa bloklari</a:t>
                      </a:r>
                    </a:p>
                  </a:txBody>
                  <a:tcPr>
                    <a:solidFill>
                      <a:srgbClr val="F1F4F8"/>
                    </a:solidFill>
                  </a:tcPr>
                </a:tc>
                <a:tc>
                  <a:txBody>
                    <a:bodyPr/>
                    <a:lstStyle/>
                    <a:p>
                      <a:r>
                        <a:rPr sz="1200" b="0">
                          <a:solidFill>
                            <a:srgbClr val="1B2430"/>
                          </a:solidFill>
                          <a:latin typeface="Calibri"/>
                        </a:rPr>
                        <a:t>Ixtiyoriy, dasturchi quradi</a:t>
                      </a:r>
                    </a:p>
                  </a:txBody>
                  <a:tcPr>
                    <a:solidFill>
                      <a:srgbClr val="F1F4F8"/>
                    </a:solidFill>
                  </a:tcPr>
                </a:tc>
              </a:tr>
              <a:tr h="520000">
                <a:tc>
                  <a:txBody>
                    <a:bodyPr/>
                    <a:lstStyle/>
                    <a:p>
                      <a:r>
                        <a:rPr sz="1200" b="0">
                          <a:solidFill>
                            <a:srgbClr val="1B2430"/>
                          </a:solidFill>
                          <a:latin typeface="Calibri"/>
                        </a:rPr>
                        <a:t>Tipik aniqlik</a:t>
                      </a:r>
                    </a:p>
                  </a:txBody>
                  <a:tcPr>
                    <a:solidFill>
                      <a:srgbClr val="FFFFFF"/>
                    </a:solidFill>
                  </a:tcPr>
                </a:tc>
                <a:tc>
                  <a:txBody>
                    <a:bodyPr/>
                    <a:lstStyle/>
                    <a:p>
                      <a:r>
                        <a:rPr sz="1200" b="0">
                          <a:solidFill>
                            <a:srgbClr val="1B2430"/>
                          </a:solidFill>
                          <a:latin typeface="Calibri"/>
                        </a:rPr>
                        <a:t>FP64/FP32/BF16/INT8</a:t>
                      </a:r>
                    </a:p>
                  </a:txBody>
                  <a:tcPr>
                    <a:solidFill>
                      <a:srgbClr val="FFFFFF"/>
                    </a:solidFill>
                  </a:tcPr>
                </a:tc>
                <a:tc>
                  <a:txBody>
                    <a:bodyPr/>
                    <a:lstStyle/>
                    <a:p>
                      <a:r>
                        <a:rPr sz="1200" b="0">
                          <a:solidFill>
                            <a:srgbClr val="1B2430"/>
                          </a:solidFill>
                          <a:latin typeface="Calibri"/>
                        </a:rPr>
                        <a:t>FP64…FP8/INT8</a:t>
                      </a:r>
                    </a:p>
                  </a:txBody>
                  <a:tcPr>
                    <a:solidFill>
                      <a:srgbClr val="FFFFFF"/>
                    </a:solidFill>
                  </a:tcPr>
                </a:tc>
                <a:tc>
                  <a:txBody>
                    <a:bodyPr/>
                    <a:lstStyle/>
                    <a:p>
                      <a:r>
                        <a:rPr sz="1200" b="0">
                          <a:solidFill>
                            <a:srgbClr val="1B2430"/>
                          </a:solidFill>
                          <a:latin typeface="Calibri"/>
                        </a:rPr>
                        <a:t>BF16/INT8</a:t>
                      </a:r>
                    </a:p>
                  </a:txBody>
                  <a:tcPr>
                    <a:solidFill>
                      <a:srgbClr val="FFFFFF"/>
                    </a:solidFill>
                  </a:tcPr>
                </a:tc>
                <a:tc>
                  <a:txBody>
                    <a:bodyPr/>
                    <a:lstStyle/>
                    <a:p>
                      <a:r>
                        <a:rPr sz="1200" b="0">
                          <a:solidFill>
                            <a:srgbClr val="1B2430"/>
                          </a:solidFill>
                          <a:latin typeface="Calibri"/>
                        </a:rPr>
                        <a:t>INT8/INT4/FP16</a:t>
                      </a:r>
                    </a:p>
                  </a:txBody>
                  <a:tcPr>
                    <a:solidFill>
                      <a:srgbClr val="FFFFFF"/>
                    </a:solidFill>
                  </a:tcPr>
                </a:tc>
                <a:tc>
                  <a:txBody>
                    <a:bodyPr/>
                    <a:lstStyle/>
                    <a:p>
                      <a:r>
                        <a:rPr sz="1200" b="0">
                          <a:solidFill>
                            <a:srgbClr val="1B2430"/>
                          </a:solidFill>
                          <a:latin typeface="Calibri"/>
                        </a:rPr>
                        <a:t>Ixtiyoriy (1–32 bit)</a:t>
                      </a:r>
                    </a:p>
                  </a:txBody>
                  <a:tcPr>
                    <a:solidFill>
                      <a:srgbClr val="FFFFFF"/>
                    </a:solidFill>
                  </a:tcPr>
                </a:tc>
              </a:tr>
              <a:tr h="520000">
                <a:tc>
                  <a:txBody>
                    <a:bodyPr/>
                    <a:lstStyle/>
                    <a:p>
                      <a:r>
                        <a:rPr sz="1200" b="0">
                          <a:solidFill>
                            <a:srgbClr val="1B2430"/>
                          </a:solidFill>
                          <a:latin typeface="Calibri"/>
                        </a:rPr>
                        <a:t>Xotira o'tkazuvchanligi</a:t>
                      </a:r>
                    </a:p>
                  </a:txBody>
                  <a:tcPr>
                    <a:solidFill>
                      <a:srgbClr val="F1F4F8"/>
                    </a:solidFill>
                  </a:tcPr>
                </a:tc>
                <a:tc>
                  <a:txBody>
                    <a:bodyPr/>
                    <a:lstStyle/>
                    <a:p>
                      <a:r>
                        <a:rPr sz="1200" b="0">
                          <a:solidFill>
                            <a:srgbClr val="1B2430"/>
                          </a:solidFill>
                          <a:latin typeface="Calibri"/>
                        </a:rPr>
                        <a:t>0,3–0,5 TB/s (DDR5)</a:t>
                      </a:r>
                    </a:p>
                  </a:txBody>
                  <a:tcPr>
                    <a:solidFill>
                      <a:srgbClr val="F1F4F8"/>
                    </a:solidFill>
                  </a:tcPr>
                </a:tc>
                <a:tc>
                  <a:txBody>
                    <a:bodyPr/>
                    <a:lstStyle/>
                    <a:p>
                      <a:r>
                        <a:rPr sz="1200" b="0">
                          <a:solidFill>
                            <a:srgbClr val="1B2430"/>
                          </a:solidFill>
                          <a:latin typeface="Calibri"/>
                        </a:rPr>
                        <a:t>2–8 TB/s (HBM)</a:t>
                      </a:r>
                    </a:p>
                  </a:txBody>
                  <a:tcPr>
                    <a:solidFill>
                      <a:srgbClr val="F1F4F8"/>
                    </a:solidFill>
                  </a:tcPr>
                </a:tc>
                <a:tc>
                  <a:txBody>
                    <a:bodyPr/>
                    <a:lstStyle/>
                    <a:p>
                      <a:r>
                        <a:rPr sz="1200" b="0">
                          <a:solidFill>
                            <a:srgbClr val="1B2430"/>
                          </a:solidFill>
                          <a:latin typeface="Calibri"/>
                        </a:rPr>
                        <a:t>0,8–2,8 TB/s (HBM)</a:t>
                      </a:r>
                    </a:p>
                  </a:txBody>
                  <a:tcPr>
                    <a:solidFill>
                      <a:srgbClr val="F1F4F8"/>
                    </a:solidFill>
                  </a:tcPr>
                </a:tc>
                <a:tc>
                  <a:txBody>
                    <a:bodyPr/>
                    <a:lstStyle/>
                    <a:p>
                      <a:r>
                        <a:rPr sz="1200" b="0">
                          <a:solidFill>
                            <a:srgbClr val="1B2430"/>
                          </a:solidFill>
                          <a:latin typeface="Calibri"/>
                        </a:rPr>
                        <a:t>0,05–0,2 TB/s (LPDDR)</a:t>
                      </a:r>
                    </a:p>
                  </a:txBody>
                  <a:tcPr>
                    <a:solidFill>
                      <a:srgbClr val="F1F4F8"/>
                    </a:solidFill>
                  </a:tcPr>
                </a:tc>
                <a:tc>
                  <a:txBody>
                    <a:bodyPr/>
                    <a:lstStyle/>
                    <a:p>
                      <a:r>
                        <a:rPr sz="1200" b="0">
                          <a:solidFill>
                            <a:srgbClr val="1B2430"/>
                          </a:solidFill>
                          <a:latin typeface="Calibri"/>
                        </a:rPr>
                        <a:t>On-chip BRAM + DDR</a:t>
                      </a:r>
                    </a:p>
                  </a:txBody>
                  <a:tcPr>
                    <a:solidFill>
                      <a:srgbClr val="F1F4F8"/>
                    </a:solidFill>
                  </a:tcPr>
                </a:tc>
              </a:tr>
              <a:tr h="520000">
                <a:tc>
                  <a:txBody>
                    <a:bodyPr/>
                    <a:lstStyle/>
                    <a:p>
                      <a:r>
                        <a:rPr sz="1200" b="0">
                          <a:solidFill>
                            <a:srgbClr val="1B2430"/>
                          </a:solidFill>
                          <a:latin typeface="Calibri"/>
                        </a:rPr>
                        <a:t>Dasturlanuvchanlik</a:t>
                      </a:r>
                    </a:p>
                  </a:txBody>
                  <a:tcPr>
                    <a:solidFill>
                      <a:srgbClr val="FFFFFF"/>
                    </a:solidFill>
                  </a:tcPr>
                </a:tc>
                <a:tc>
                  <a:txBody>
                    <a:bodyPr/>
                    <a:lstStyle/>
                    <a:p>
                      <a:r>
                        <a:rPr sz="1200" b="0">
                          <a:solidFill>
                            <a:srgbClr val="1B2430"/>
                          </a:solidFill>
                          <a:latin typeface="Calibri"/>
                        </a:rPr>
                        <a:t>Eng yuqori</a:t>
                      </a:r>
                    </a:p>
                  </a:txBody>
                  <a:tcPr>
                    <a:solidFill>
                      <a:srgbClr val="FFFFFF"/>
                    </a:solidFill>
                  </a:tcPr>
                </a:tc>
                <a:tc>
                  <a:txBody>
                    <a:bodyPr/>
                    <a:lstStyle/>
                    <a:p>
                      <a:r>
                        <a:rPr sz="1200" b="0">
                          <a:solidFill>
                            <a:srgbClr val="1B2430"/>
                          </a:solidFill>
                          <a:latin typeface="Calibri"/>
                        </a:rPr>
                        <a:t>Yuqori (CUDA, ROCm)</a:t>
                      </a:r>
                    </a:p>
                  </a:txBody>
                  <a:tcPr>
                    <a:solidFill>
                      <a:srgbClr val="FFFFFF"/>
                    </a:solidFill>
                  </a:tcPr>
                </a:tc>
                <a:tc>
                  <a:txBody>
                    <a:bodyPr/>
                    <a:lstStyle/>
                    <a:p>
                      <a:r>
                        <a:rPr sz="1200" b="0">
                          <a:solidFill>
                            <a:srgbClr val="1B2430"/>
                          </a:solidFill>
                          <a:latin typeface="Calibri"/>
                        </a:rPr>
                        <a:t>Kompilyator orqali (XLA)</a:t>
                      </a:r>
                    </a:p>
                  </a:txBody>
                  <a:tcPr>
                    <a:solidFill>
                      <a:srgbClr val="FFFFFF"/>
                    </a:solidFill>
                  </a:tcPr>
                </a:tc>
                <a:tc>
                  <a:txBody>
                    <a:bodyPr/>
                    <a:lstStyle/>
                    <a:p>
                      <a:r>
                        <a:rPr sz="1200" b="0">
                          <a:solidFill>
                            <a:srgbClr val="1B2430"/>
                          </a:solidFill>
                          <a:latin typeface="Calibri"/>
                        </a:rPr>
                        <a:t>Faqat SDK</a:t>
                      </a:r>
                    </a:p>
                  </a:txBody>
                  <a:tcPr>
                    <a:solidFill>
                      <a:srgbClr val="FFFFFF"/>
                    </a:solidFill>
                  </a:tcPr>
                </a:tc>
                <a:tc>
                  <a:txBody>
                    <a:bodyPr/>
                    <a:lstStyle/>
                    <a:p>
                      <a:r>
                        <a:rPr sz="1200" b="0">
                          <a:solidFill>
                            <a:srgbClr val="1B2430"/>
                          </a:solidFill>
                          <a:latin typeface="Calibri"/>
                        </a:rPr>
                        <a:t>Past (HDL/HLS)</a:t>
                      </a:r>
                    </a:p>
                  </a:txBody>
                  <a:tcPr>
                    <a:solidFill>
                      <a:srgbClr val="FFFFFF"/>
                    </a:solidFill>
                  </a:tcPr>
                </a:tc>
              </a:tr>
              <a:tr h="520000">
                <a:tc>
                  <a:txBody>
                    <a:bodyPr/>
                    <a:lstStyle/>
                    <a:p>
                      <a:r>
                        <a:rPr sz="1200" b="0">
                          <a:solidFill>
                            <a:srgbClr val="1B2430"/>
                          </a:solidFill>
                          <a:latin typeface="Calibri"/>
                        </a:rPr>
                        <a:t>Energiya samaradorligi</a:t>
                      </a:r>
                    </a:p>
                  </a:txBody>
                  <a:tcPr>
                    <a:solidFill>
                      <a:srgbClr val="F1F4F8"/>
                    </a:solidFill>
                  </a:tcPr>
                </a:tc>
                <a:tc>
                  <a:txBody>
                    <a:bodyPr/>
                    <a:lstStyle/>
                    <a:p>
                      <a:r>
                        <a:rPr sz="1200" b="0">
                          <a:solidFill>
                            <a:srgbClr val="1B2430"/>
                          </a:solidFill>
                          <a:latin typeface="Calibri"/>
                        </a:rPr>
                        <a:t>Past</a:t>
                      </a:r>
                    </a:p>
                  </a:txBody>
                  <a:tcPr>
                    <a:solidFill>
                      <a:srgbClr val="F1F4F8"/>
                    </a:solidFill>
                  </a:tcPr>
                </a:tc>
                <a:tc>
                  <a:txBody>
                    <a:bodyPr/>
                    <a:lstStyle/>
                    <a:p>
                      <a:r>
                        <a:rPr sz="1200" b="0">
                          <a:solidFill>
                            <a:srgbClr val="1B2430"/>
                          </a:solidFill>
                          <a:latin typeface="Calibri"/>
                        </a:rPr>
                        <a:t>O'rta</a:t>
                      </a:r>
                    </a:p>
                  </a:txBody>
                  <a:tcPr>
                    <a:solidFill>
                      <a:srgbClr val="F1F4F8"/>
                    </a:solidFill>
                  </a:tcPr>
                </a:tc>
                <a:tc>
                  <a:txBody>
                    <a:bodyPr/>
                    <a:lstStyle/>
                    <a:p>
                      <a:r>
                        <a:rPr sz="1200" b="0">
                          <a:solidFill>
                            <a:srgbClr val="1B2430"/>
                          </a:solidFill>
                          <a:latin typeface="Calibri"/>
                        </a:rPr>
                        <a:t>Yuqori</a:t>
                      </a:r>
                    </a:p>
                  </a:txBody>
                  <a:tcPr>
                    <a:solidFill>
                      <a:srgbClr val="F1F4F8"/>
                    </a:solidFill>
                  </a:tcPr>
                </a:tc>
                <a:tc>
                  <a:txBody>
                    <a:bodyPr/>
                    <a:lstStyle/>
                    <a:p>
                      <a:r>
                        <a:rPr sz="1200" b="0">
                          <a:solidFill>
                            <a:srgbClr val="1B2430"/>
                          </a:solidFill>
                          <a:latin typeface="Calibri"/>
                        </a:rPr>
                        <a:t>Juda yuqori (vatt boshiga)</a:t>
                      </a:r>
                    </a:p>
                  </a:txBody>
                  <a:tcPr>
                    <a:solidFill>
                      <a:srgbClr val="F1F4F8"/>
                    </a:solidFill>
                  </a:tcPr>
                </a:tc>
                <a:tc>
                  <a:txBody>
                    <a:bodyPr/>
                    <a:lstStyle/>
                    <a:p>
                      <a:r>
                        <a:rPr sz="1200" b="0">
                          <a:solidFill>
                            <a:srgbClr val="1B2430"/>
                          </a:solidFill>
                          <a:latin typeface="Calibri"/>
                        </a:rPr>
                        <a:t>Yuqori, ASIC dan past</a:t>
                      </a:r>
                    </a:p>
                  </a:txBody>
                  <a:tcPr>
                    <a:solidFill>
                      <a:srgbClr val="F1F4F8"/>
                    </a:solidFill>
                  </a:tcPr>
                </a:tc>
              </a:tr>
              <a:tr h="520000">
                <a:tc>
                  <a:txBody>
                    <a:bodyPr/>
                    <a:lstStyle/>
                    <a:p>
                      <a:r>
                        <a:rPr sz="1200" b="0">
                          <a:solidFill>
                            <a:srgbClr val="1B2430"/>
                          </a:solidFill>
                          <a:latin typeface="Calibri"/>
                        </a:rPr>
                        <a:t>Kechikish (kichik paket)</a:t>
                      </a:r>
                    </a:p>
                  </a:txBody>
                  <a:tcPr>
                    <a:solidFill>
                      <a:srgbClr val="FFFFFF"/>
                    </a:solidFill>
                  </a:tcPr>
                </a:tc>
                <a:tc>
                  <a:txBody>
                    <a:bodyPr/>
                    <a:lstStyle/>
                    <a:p>
                      <a:r>
                        <a:rPr sz="1200" b="0">
                          <a:solidFill>
                            <a:srgbClr val="1B2430"/>
                          </a:solidFill>
                          <a:latin typeface="Calibri"/>
                        </a:rPr>
                        <a:t>Yaxshi</a:t>
                      </a:r>
                    </a:p>
                  </a:txBody>
                  <a:tcPr>
                    <a:solidFill>
                      <a:srgbClr val="FFFFFF"/>
                    </a:solidFill>
                  </a:tcPr>
                </a:tc>
                <a:tc>
                  <a:txBody>
                    <a:bodyPr/>
                    <a:lstStyle/>
                    <a:p>
                      <a:r>
                        <a:rPr sz="1200" b="0">
                          <a:solidFill>
                            <a:srgbClr val="1B2430"/>
                          </a:solidFill>
                          <a:latin typeface="Calibri"/>
                        </a:rPr>
                        <a:t>O'rta (ishga tushirish xarajati)</a:t>
                      </a:r>
                    </a:p>
                  </a:txBody>
                  <a:tcPr>
                    <a:solidFill>
                      <a:srgbClr val="FFFFFF"/>
                    </a:solidFill>
                  </a:tcPr>
                </a:tc>
                <a:tc>
                  <a:txBody>
                    <a:bodyPr/>
                    <a:lstStyle/>
                    <a:p>
                      <a:r>
                        <a:rPr sz="1200" b="0">
                          <a:solidFill>
                            <a:srgbClr val="1B2430"/>
                          </a:solidFill>
                          <a:latin typeface="Calibri"/>
                        </a:rPr>
                        <a:t>O'rta</a:t>
                      </a:r>
                    </a:p>
                  </a:txBody>
                  <a:tcPr>
                    <a:solidFill>
                      <a:srgbClr val="FFFFFF"/>
                    </a:solidFill>
                  </a:tcPr>
                </a:tc>
                <a:tc>
                  <a:txBody>
                    <a:bodyPr/>
                    <a:lstStyle/>
                    <a:p>
                      <a:r>
                        <a:rPr sz="1200" b="0">
                          <a:solidFill>
                            <a:srgbClr val="1B2430"/>
                          </a:solidFill>
                          <a:latin typeface="Calibri"/>
                        </a:rPr>
                        <a:t>Yaxshi</a:t>
                      </a:r>
                    </a:p>
                  </a:txBody>
                  <a:tcPr>
                    <a:solidFill>
                      <a:srgbClr val="FFFFFF"/>
                    </a:solidFill>
                  </a:tcPr>
                </a:tc>
                <a:tc>
                  <a:txBody>
                    <a:bodyPr/>
                    <a:lstStyle/>
                    <a:p>
                      <a:r>
                        <a:rPr sz="1200" b="0">
                          <a:solidFill>
                            <a:srgbClr val="1B2430"/>
                          </a:solidFill>
                          <a:latin typeface="Calibri"/>
                        </a:rPr>
                        <a:t>Eng yaxshi, deterministik</a:t>
                      </a:r>
                    </a:p>
                  </a:txBody>
                  <a:tcPr>
                    <a:solidFill>
                      <a:srgbClr val="FFFFFF"/>
                    </a:solidFill>
                  </a:tcPr>
                </a:tc>
              </a:tr>
              <a:tr h="520000">
                <a:tc>
                  <a:txBody>
                    <a:bodyPr/>
                    <a:lstStyle/>
                    <a:p>
                      <a:r>
                        <a:rPr sz="1200" b="0">
                          <a:solidFill>
                            <a:srgbClr val="1B2430"/>
                          </a:solidFill>
                          <a:latin typeface="Calibri"/>
                        </a:rPr>
                        <a:t>Masshtab</a:t>
                      </a:r>
                    </a:p>
                  </a:txBody>
                  <a:tcPr>
                    <a:solidFill>
                      <a:srgbClr val="F1F4F8"/>
                    </a:solidFill>
                  </a:tcPr>
                </a:tc>
                <a:tc>
                  <a:txBody>
                    <a:bodyPr/>
                    <a:lstStyle/>
                    <a:p>
                      <a:r>
                        <a:rPr sz="1200" b="0">
                          <a:solidFill>
                            <a:srgbClr val="1B2430"/>
                          </a:solidFill>
                          <a:latin typeface="Calibri"/>
                        </a:rPr>
                        <a:t>1–8 soket</a:t>
                      </a:r>
                    </a:p>
                  </a:txBody>
                  <a:tcPr>
                    <a:solidFill>
                      <a:srgbClr val="F1F4F8"/>
                    </a:solidFill>
                  </a:tcPr>
                </a:tc>
                <a:tc>
                  <a:txBody>
                    <a:bodyPr/>
                    <a:lstStyle/>
                    <a:p>
                      <a:r>
                        <a:rPr sz="1200" b="0">
                          <a:solidFill>
                            <a:srgbClr val="1B2430"/>
                          </a:solidFill>
                          <a:latin typeface="Calibri"/>
                        </a:rPr>
                        <a:t>8 GPU/server, minglab GPU klaster</a:t>
                      </a:r>
                    </a:p>
                  </a:txBody>
                  <a:tcPr>
                    <a:solidFill>
                      <a:srgbClr val="F1F4F8"/>
                    </a:solidFill>
                  </a:tcPr>
                </a:tc>
                <a:tc>
                  <a:txBody>
                    <a:bodyPr/>
                    <a:lstStyle/>
                    <a:p>
                      <a:r>
                        <a:rPr sz="1200" b="0">
                          <a:solidFill>
                            <a:srgbClr val="1B2430"/>
                          </a:solidFill>
                          <a:latin typeface="Calibri"/>
                        </a:rPr>
                        <a:t>4 096–9 000 chip/pod</a:t>
                      </a:r>
                    </a:p>
                  </a:txBody>
                  <a:tcPr>
                    <a:solidFill>
                      <a:srgbClr val="F1F4F8"/>
                    </a:solidFill>
                  </a:tcPr>
                </a:tc>
                <a:tc>
                  <a:txBody>
                    <a:bodyPr/>
                    <a:lstStyle/>
                    <a:p>
                      <a:r>
                        <a:rPr sz="1200" b="0">
                          <a:solidFill>
                            <a:srgbClr val="1B2430"/>
                          </a:solidFill>
                          <a:latin typeface="Calibri"/>
                        </a:rPr>
                        <a:t>Bitta qurilma</a:t>
                      </a:r>
                    </a:p>
                  </a:txBody>
                  <a:tcPr>
                    <a:solidFill>
                      <a:srgbClr val="F1F4F8"/>
                    </a:solidFill>
                  </a:tcPr>
                </a:tc>
                <a:tc>
                  <a:txBody>
                    <a:bodyPr/>
                    <a:lstStyle/>
                    <a:p>
                      <a:r>
                        <a:rPr sz="1200" b="0">
                          <a:solidFill>
                            <a:srgbClr val="1B2430"/>
                          </a:solidFill>
                          <a:latin typeface="Calibri"/>
                        </a:rPr>
                        <a:t>1–bir necha karta</a:t>
                      </a:r>
                    </a:p>
                  </a:txBody>
                  <a:tcPr>
                    <a:solidFill>
                      <a:srgbClr val="F1F4F8"/>
                    </a:solidFill>
                  </a:tcPr>
                </a:tc>
              </a:tr>
              <a:tr h="520000">
                <a:tc>
                  <a:txBody>
                    <a:bodyPr/>
                    <a:lstStyle/>
                    <a:p>
                      <a:r>
                        <a:rPr sz="1200" b="0">
                          <a:solidFill>
                            <a:srgbClr val="1B2430"/>
                          </a:solidFill>
                          <a:latin typeface="Calibri"/>
                        </a:rPr>
                        <a:t>Asosiy soha</a:t>
                      </a:r>
                    </a:p>
                  </a:txBody>
                  <a:tcPr>
                    <a:solidFill>
                      <a:srgbClr val="FFFFFF"/>
                    </a:solidFill>
                  </a:tcPr>
                </a:tc>
                <a:tc>
                  <a:txBody>
                    <a:bodyPr/>
                    <a:lstStyle/>
                    <a:p>
                      <a:r>
                        <a:rPr sz="1200" b="0">
                          <a:solidFill>
                            <a:srgbClr val="1B2430"/>
                          </a:solidFill>
                          <a:latin typeface="Calibri"/>
                        </a:rPr>
                        <a:t>Tayyorlash, orkestratsiya, kichik inferens</a:t>
                      </a:r>
                    </a:p>
                  </a:txBody>
                  <a:tcPr>
                    <a:solidFill>
                      <a:srgbClr val="FFFFFF"/>
                    </a:solidFill>
                  </a:tcPr>
                </a:tc>
                <a:tc>
                  <a:txBody>
                    <a:bodyPr/>
                    <a:lstStyle/>
                    <a:p>
                      <a:r>
                        <a:rPr sz="1200" b="0">
                          <a:solidFill>
                            <a:srgbClr val="1B2430"/>
                          </a:solidFill>
                          <a:latin typeface="Calibri"/>
                        </a:rPr>
                        <a:t>O'qitish, katta inferens</a:t>
                      </a:r>
                    </a:p>
                  </a:txBody>
                  <a:tcPr>
                    <a:solidFill>
                      <a:srgbClr val="FFFFFF"/>
                    </a:solidFill>
                  </a:tcPr>
                </a:tc>
                <a:tc>
                  <a:txBody>
                    <a:bodyPr/>
                    <a:lstStyle/>
                    <a:p>
                      <a:r>
                        <a:rPr sz="1200" b="0">
                          <a:solidFill>
                            <a:srgbClr val="1B2430"/>
                          </a:solidFill>
                          <a:latin typeface="Calibri"/>
                        </a:rPr>
                        <a:t>Bulutda o'qitish/inferens</a:t>
                      </a:r>
                    </a:p>
                  </a:txBody>
                  <a:tcPr>
                    <a:solidFill>
                      <a:srgbClr val="FFFFFF"/>
                    </a:solidFill>
                  </a:tcPr>
                </a:tc>
                <a:tc>
                  <a:txBody>
                    <a:bodyPr/>
                    <a:lstStyle/>
                    <a:p>
                      <a:r>
                        <a:rPr sz="1200" b="0">
                          <a:solidFill>
                            <a:srgbClr val="1B2430"/>
                          </a:solidFill>
                          <a:latin typeface="Calibri"/>
                        </a:rPr>
                        <a:t>Telefon, noutbuk, avtomobil</a:t>
                      </a:r>
                    </a:p>
                  </a:txBody>
                  <a:tcPr>
                    <a:solidFill>
                      <a:srgbClr val="FFFFFF"/>
                    </a:solidFill>
                  </a:tcPr>
                </a:tc>
                <a:tc>
                  <a:txBody>
                    <a:bodyPr/>
                    <a:lstStyle/>
                    <a:p>
                      <a:r>
                        <a:rPr sz="1200" b="0">
                          <a:solidFill>
                            <a:srgbClr val="1B2430"/>
                          </a:solidFill>
                          <a:latin typeface="Calibri"/>
                        </a:rPr>
                        <a:t>Sanoat, tarmoq, real vaqt</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07c90ebf62c7ca6c.jpg"/>
          <p:cNvPicPr>
            <a:picLocks noChangeAspect="1"/>
          </p:cNvPicPr>
          <p:nvPr/>
        </p:nvPicPr>
        <p:blipFill>
          <a:blip r:embed="rId2"/>
          <a:srcRect l="25837" r="2583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Мой Компьютер · Wikimedia Commons · CC BY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07</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Geterogen hisoblash tizimlari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7-REJA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Geterogen hisoblash tizimlari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10" name="Rounded Rectangle 9"/>
          <p:cNvSpPr/>
          <p:nvPr/>
        </p:nvSpPr>
        <p:spPr>
          <a:xfrm>
            <a:off x="550000" y="1761824"/>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761824"/>
            <a:ext cx="70000" cy="1268784"/>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186216"/>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1801824"/>
            <a:ext cx="10150000" cy="1188784"/>
          </a:xfrm>
          <a:prstGeom prst="rect">
            <a:avLst/>
          </a:prstGeom>
          <a:noFill/>
        </p:spPr>
        <p:txBody>
          <a:bodyPr wrap="square" anchor="ctr">
            <a:spAutoFit/>
          </a:bodyPr>
          <a:lstStyle/>
          <a:p>
            <a:r>
              <a:rPr sz="1500" b="1">
                <a:solidFill>
                  <a:srgbClr val="1F3A5F"/>
                </a:solidFill>
                <a:latin typeface="Calibri"/>
              </a:rPr>
              <a:t>Geterogen tizim — turli arxitekturali protsessorlarni bir vazifa ustida birgalikda ishlatadigan tizim.</a:t>
            </a:r>
          </a:p>
          <a:p>
            <a:pPr>
              <a:spcBef>
                <a:spcPts val="400"/>
              </a:spcBef>
            </a:pPr>
            <a:r>
              <a:rPr sz="1400">
                <a:solidFill>
                  <a:srgbClr val="334055"/>
                </a:solidFill>
                <a:latin typeface="Calibri"/>
              </a:rPr>
              <a:t>Klassik ko'rinishda xost (CPU) dasturni boshqaradi, ma'lumotni tayyorlaydi va qurilma (GPU/tezlatkich) ga og'ir hisobni yuboradi.</a:t>
            </a:r>
          </a:p>
        </p:txBody>
      </p:sp>
      <p:sp>
        <p:nvSpPr>
          <p:cNvPr id="14" name="Rounded Rectangle 13"/>
          <p:cNvSpPr/>
          <p:nvPr/>
        </p:nvSpPr>
        <p:spPr>
          <a:xfrm>
            <a:off x="550000" y="3140608"/>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140608"/>
            <a:ext cx="70000" cy="1268784"/>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3565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180608"/>
            <a:ext cx="10150000" cy="1188784"/>
          </a:xfrm>
          <a:prstGeom prst="rect">
            <a:avLst/>
          </a:prstGeom>
          <a:noFill/>
        </p:spPr>
        <p:txBody>
          <a:bodyPr wrap="square" anchor="ctr">
            <a:spAutoFit/>
          </a:bodyPr>
          <a:lstStyle/>
          <a:p>
            <a:r>
              <a:rPr sz="1500" b="1">
                <a:solidFill>
                  <a:srgbClr val="1F3A5F"/>
                </a:solidFill>
                <a:latin typeface="Calibri"/>
              </a:rPr>
              <a:t>So'nggi yillarda birlashgan xotira (unified memory) yondashuvi kuchaydi.</a:t>
            </a:r>
          </a:p>
          <a:p>
            <a:pPr>
              <a:spcBef>
                <a:spcPts val="400"/>
              </a:spcBef>
            </a:pPr>
            <a:r>
              <a:rPr sz="1400">
                <a:solidFill>
                  <a:srgbClr val="334055"/>
                </a:solidFill>
                <a:latin typeface="Calibri"/>
              </a:rPr>
              <a:t>NVIDIA GH200 Grace Hopper «superchip» da 72 yadroli ARM Neoverse V2 protsessori (Grace, 480 GB LPDDR5X) va H100 GPU (96–144 GB HBM3/HBM3e) NVLink-C2C orqali 900 GB/s tezlikda bog'langan va bitta kogerent manzil maydonini tashkil etadi — GPU xost xotirasiga PCIe dan 7 baravar tezroq murojaat qiladi.</a:t>
            </a:r>
          </a:p>
        </p:txBody>
      </p:sp>
      <p:sp>
        <p:nvSpPr>
          <p:cNvPr id="18" name="Rounded Rectangle 17"/>
          <p:cNvSpPr/>
          <p:nvPr/>
        </p:nvSpPr>
        <p:spPr>
          <a:xfrm>
            <a:off x="550000" y="4519392"/>
            <a:ext cx="11100000" cy="1268784"/>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519392"/>
            <a:ext cx="70000" cy="1268784"/>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0000" y="4943784"/>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21" name="TextBox 20"/>
          <p:cNvSpPr txBox="1"/>
          <p:nvPr/>
        </p:nvSpPr>
        <p:spPr>
          <a:xfrm>
            <a:off x="1380000" y="4559392"/>
            <a:ext cx="10150000" cy="1188784"/>
          </a:xfrm>
          <a:prstGeom prst="rect">
            <a:avLst/>
          </a:prstGeom>
          <a:noFill/>
        </p:spPr>
        <p:txBody>
          <a:bodyPr wrap="square" anchor="ctr">
            <a:spAutoFit/>
          </a:bodyPr>
          <a:lstStyle/>
          <a:p>
            <a:r>
              <a:rPr sz="1500" b="1">
                <a:solidFill>
                  <a:srgbClr val="1F3A5F"/>
                </a:solidFill>
                <a:latin typeface="Calibri"/>
              </a:rPr>
              <a:t>Geterogen tizimni loyihalashda asosiy savol — vazifani kim bajaradi.</a:t>
            </a:r>
          </a:p>
          <a:p>
            <a:pPr>
              <a:spcBef>
                <a:spcPts val="400"/>
              </a:spcBef>
            </a:pPr>
            <a:r>
              <a:rPr sz="1400">
                <a:solidFill>
                  <a:srgbClr val="334055"/>
                </a:solidFill>
                <a:latin typeface="Calibri"/>
              </a:rPr>
              <a:t>Umumiy qoida: muntazam, katta hajmli, parallel hisob (matritsa, konvolyutsiya) — tezlatkichga; tarmoqlanishli, ketma-ket, tizim chaqiruvlari bilan bog'liq ish (fayl o'qish, dekodlash, tarmoq, mantiq) — CPU ga; kiritish-chiqarish bilan bog'liq doimiy quvur (paket tahlili, shifrlash) — DPU yoki FPGA ga.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21101a96eb0d69a.jpg"/>
          <p:cNvPicPr>
            <a:picLocks noChangeAspect="1"/>
          </p:cNvPicPr>
          <p:nvPr/>
        </p:nvPicPr>
        <p:blipFill>
          <a:blip r:embed="rId2"/>
          <a:srcRect l="14762" r="1476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OLCF at ORNL · Wikimedia Commons · CC BY 2.0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08</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Zamonaviy AI serverlari va superkompyuterlar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8-REJA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Zamonaviy AI serverlari va superkompyuterlar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10" name="Rounded Rectangle 9"/>
          <p:cNvSpPr/>
          <p:nvPr/>
        </p:nvSpPr>
        <p:spPr>
          <a:xfrm>
            <a:off x="550000" y="21327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132700"/>
            <a:ext cx="70000" cy="15873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2716350"/>
            <a:ext cx="420000" cy="42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1</a:t>
            </a:r>
          </a:p>
        </p:txBody>
      </p:sp>
      <p:sp>
        <p:nvSpPr>
          <p:cNvPr id="13" name="TextBox 12"/>
          <p:cNvSpPr txBox="1"/>
          <p:nvPr/>
        </p:nvSpPr>
        <p:spPr>
          <a:xfrm>
            <a:off x="1380000" y="2172700"/>
            <a:ext cx="10150000" cy="1507300"/>
          </a:xfrm>
          <a:prstGeom prst="rect">
            <a:avLst/>
          </a:prstGeom>
          <a:noFill/>
        </p:spPr>
        <p:txBody>
          <a:bodyPr wrap="square" anchor="ctr">
            <a:spAutoFit/>
          </a:bodyPr>
          <a:lstStyle/>
          <a:p>
            <a:r>
              <a:rPr sz="1600" b="1">
                <a:solidFill>
                  <a:srgbClr val="1F3A5F"/>
                </a:solidFill>
                <a:latin typeface="Calibri"/>
              </a:rPr>
              <a:t>Standart AI o'qitish serveri 8 ta tezlatkichli konfiguratsiya atrofida shakllangan.</a:t>
            </a:r>
          </a:p>
          <a:p>
            <a:pPr>
              <a:spcBef>
                <a:spcPts val="400"/>
              </a:spcBef>
            </a:pPr>
            <a:r>
              <a:rPr sz="1500">
                <a:solidFill>
                  <a:srgbClr val="334055"/>
                </a:solidFill>
                <a:latin typeface="Calibri"/>
              </a:rPr>
              <a:t>NVIDIA DGX H100: 8 × H100 SXM (jami 640 GB HBM3), 4 ta NVSwitch orqali har qanday GPU juftligi 900 GB/s bilan bog'langan, 2 ta Intel Xeon 8480C (112 yadro), 2 TB DDR5, 8 ta ConnectX-7 (400 Gbit/s InfiniBand NDR) tarmoq adapteri, 30 TB NVMe va 10,2 kVt quvvat.</a:t>
            </a:r>
          </a:p>
        </p:txBody>
      </p:sp>
      <p:sp>
        <p:nvSpPr>
          <p:cNvPr id="14" name="Rounded Rectangle 13"/>
          <p:cNvSpPr/>
          <p:nvPr/>
        </p:nvSpPr>
        <p:spPr>
          <a:xfrm>
            <a:off x="550000" y="3830000"/>
            <a:ext cx="11100000" cy="158730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3830000"/>
            <a:ext cx="70000" cy="15873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0000" y="441365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2</a:t>
            </a:r>
          </a:p>
        </p:txBody>
      </p:sp>
      <p:sp>
        <p:nvSpPr>
          <p:cNvPr id="17" name="TextBox 16"/>
          <p:cNvSpPr txBox="1"/>
          <p:nvPr/>
        </p:nvSpPr>
        <p:spPr>
          <a:xfrm>
            <a:off x="1380000" y="3870000"/>
            <a:ext cx="10150000" cy="1507300"/>
          </a:xfrm>
          <a:prstGeom prst="rect">
            <a:avLst/>
          </a:prstGeom>
          <a:noFill/>
        </p:spPr>
        <p:txBody>
          <a:bodyPr wrap="square" anchor="ctr">
            <a:spAutoFit/>
          </a:bodyPr>
          <a:lstStyle/>
          <a:p>
            <a:r>
              <a:rPr sz="1600" b="1">
                <a:solidFill>
                  <a:srgbClr val="1F3A5F"/>
                </a:solidFill>
                <a:latin typeface="Calibri"/>
              </a:rPr>
              <a:t>Serverlardan yuqorida klaster (tugunlar InfiniBand yoki RoCE Ethernet bilan ulanadi) va SuperPOD (NVIDIA da 32 DGX = 256 GPU asosiy birlik, «fat-tree» topologiya) turadi.</a:t>
            </a:r>
          </a:p>
          <a:p>
            <a:pPr>
              <a:spcBef>
                <a:spcPts val="400"/>
              </a:spcBef>
            </a:pPr>
            <a:r>
              <a:rPr sz="1500">
                <a:solidFill>
                  <a:srgbClr val="334055"/>
                </a:solidFill>
                <a:latin typeface="Calibri"/>
              </a:rPr>
              <a:t>Masshtab oshgan sari tor joy hisoblashdan tarmoqqa ko'chadi: 400 Gbit/s adapter sekundiga 50 GB uzatadi — bu GPU ichidagi HBM dan 70 baravar sekin. Shuning uchun taqsimlangan o'qitish algoritmlari (M3) aloqani hisoblash bilan ustma-ust qo'yishga qaratilgan.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5"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8-REJA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Zamonaviy AI serverlari va superkompyuterlar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M2 · Sun'iy intellekt tizimlari uchun zamonaviy kompyuter arxitekturalari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10" name="Rounded Rectangle 9"/>
          <p:cNvSpPr/>
          <p:nvPr/>
        </p:nvSpPr>
        <p:spPr>
          <a:xfrm>
            <a:off x="550000" y="2897530"/>
            <a:ext cx="11100000" cy="1754940"/>
          </a:xfrm>
          <a:prstGeom prst="roundRect">
            <a:avLst>
              <a:gd name="adj" fmla="val 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897530"/>
            <a:ext cx="70000" cy="175494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0000" y="3565000"/>
            <a:ext cx="420000" cy="42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400" b="1">
                <a:solidFill>
                  <a:srgbClr val="FFFFFF"/>
                </a:solidFill>
                <a:latin typeface="Calibri"/>
              </a:rPr>
              <a:t>3</a:t>
            </a:r>
          </a:p>
        </p:txBody>
      </p:sp>
      <p:sp>
        <p:nvSpPr>
          <p:cNvPr id="13" name="TextBox 12"/>
          <p:cNvSpPr txBox="1"/>
          <p:nvPr/>
        </p:nvSpPr>
        <p:spPr>
          <a:xfrm>
            <a:off x="1380000" y="2937530"/>
            <a:ext cx="10150000" cy="1674940"/>
          </a:xfrm>
          <a:prstGeom prst="rect">
            <a:avLst/>
          </a:prstGeom>
          <a:noFill/>
        </p:spPr>
        <p:txBody>
          <a:bodyPr wrap="square" anchor="ctr">
            <a:spAutoFit/>
          </a:bodyPr>
          <a:lstStyle/>
          <a:p>
            <a:r>
              <a:rPr sz="1800" b="1">
                <a:solidFill>
                  <a:srgbClr val="1F3A5F"/>
                </a:solidFill>
                <a:latin typeface="Calibri"/>
              </a:rPr>
              <a:t>Superkompyuterlar bu tamoyillarni eng katta miqyosda aks ettiradi.</a:t>
            </a:r>
          </a:p>
          <a:p>
            <a:pPr>
              <a:spcBef>
                <a:spcPts val="400"/>
              </a:spcBef>
            </a:pPr>
            <a:r>
              <a:rPr sz="1700">
                <a:solidFill>
                  <a:srgbClr val="334055"/>
                </a:solidFill>
                <a:latin typeface="Calibri"/>
              </a:rPr>
              <a:t>2025-yil holatiga TOP500 ro'yxatining birinchi o'rni — El Capitan (Lawrence Livermore, AMD MI300A, 1,74 eksaflops HPL), ikkinchi — Frontier (Oak Ridge, AMD EPYC + MI250X, 1,35 eksaflops), uchinchi — Aurora (Argonne, Intel Xeon Max + Data Center GPU Max). Ularning barchasi geterogen: har tugunda CPU va 4–6 GPU, tugunlar HPE Slingshot tarmog'i bilan ulangan.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https://aiscan.airi.uz/ktm/#/c/mis2104/mavzu/M2</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
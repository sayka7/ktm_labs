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a:p/>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a:p/>
          <a:p>
            <a:r>
              <a:t>Aralash aniqlik (mixed precision) o'qitish g'oyasi (Micikevicius va boshq., 2018): og'ir matritsa ko'paytmalari va konvolyutsiyalar FP16/BF16'da Tensor Core'da bajariladi, lekin og'irliklarning asosiy nusxasi (master weights) FP32'da saqlanadi va yangilanadi, shunda kichik gradient yangilanishlari yo'qolmaydi; yig'indilar (reduction), softmax, normalizatsiya kabi sezgir operatsiyalar FP32'da qoladi. FP16 uchun qo'shimcha mexanizm — yo'qotish masshtablash (loss scaling): yo'qotish funksiyasi katta songa (masalan, 2^16) ko'paytiriladi, gradientlar shu songa proporsional kattalashadi va FP16 diapazoniga sig'adi, og'irlik yangilashdan oldin esa qayta bo'linadi; dinamik masshtablash overflow aniqlanganda koeffitsientni kamaytiradi va bir necha yuz qadamdan so'ng yana oshiradi. BF16'da loss scaling odatda kerak emas. PyTorch'da bularning barchasi torch.autocast va torch.cuda.amp.GradScaler orqali avtomatlashtirilgan [7].</a:t>
            </a:r>
          </a:p>
          <a:p/>
          <a:p>
            <a:r>
              <a:t>Tensor Core'da FP16/BF16 matmul FP32'ga qaraganda nazariy 8–16 baravar tez (A100: 19,5 TFLOPS FP32 vs 312 TFLOPS FP16 Tensor Core), amaliy tezlashish esa butun o'qitish sikli uchun 1,5–3 baravar, chunki hamma operatsiya ham matmul emas va xotira trafigi ham chegaralaydi. TF32 esa «bepul» yaxshilanish: kod o'zgarmaydi, FP32 matmul avtomatik 10-bitli mantissa bilan Tensor Core'da bajariladi (PyTorch'da torch.backends.cuda.matmul.allow_tf32).</a:t>
            </a:r>
          </a:p>
          <a:p/>
          <a:p>
            <a:r>
              <a:t>FP8 — Hopper avlodidan boshlab o'qitish uchun ham ishlatilmoqda (Transformer Engine kutubxonasi): oldinga o'tishda E4M3, gradientlar uchun E5M2, har tensor uchun dinamik masshtab bilan. Bu Tensor Core unumdorligini yana ikki baravar oshiradi, lekin barqarorlik uchun ehtiyotkor sozlash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uzluksiz (suzuvchi nuqtali) qiymatlarni chekli diskret to'plamga (odatda 8 yoki 4 bitli butun sonlar) akslantirish. Chiziqli (affine) kvantlash formulasi:</a:t>
            </a:r>
          </a:p>
          <a:p/>
          <a:p>
            <a:r>
              <a:t>q = clamp(round(x / s) + z, q_min, q_max), teskarisi x̂ = s · (q − z)</a:t>
            </a:r>
          </a:p>
          <a:p/>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a:p/>
          <a:p>
            <a:r>
              <a:t>Kvantlash turlari: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a:p/>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a:p/>
          <a:p>
            <a:r>
              <a:t>Pruning darajasini baholashda uchta ko'rsatkich: parametrlar ulushi (hajm), FLOP ulushi (hisoblash) va o'lchangan kechikish (haqiqiy tezlik). Bular bir-biriga mos kelmasligi mumkin: kanallarning 50 foizini olib tashlash FLOP'ni 75 foizga kamaytiradi (ikki o'lcham ham qisqaradi), lekin xotira bilan chegaralangan qatlamlarda kechikish deyarli o'zgarmasligi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Bilim distillyatsiyasi (Hinton, Vinyals, Dean, 2015) katta, aniq «o'qituvchi» modelning xulq-atvorini kichik «o'quvchi» modelga o'rgatadi. 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 T = 1 oddiy softmax; T = 4…10 kichik ehtimolliklarni kattalashtiradi va «qorong'u bilim»ni (dark knowledge) ochadi. Yo'qotish funksiyasi:</a:t>
            </a:r>
          </a:p>
          <a:p/>
          <a:p>
            <a:r>
              <a:t>L = α · T² · KL(p_teacher(T) ‖ p_student(T)) + (1 − α) · CE(y, p_student(1))</a:t>
            </a:r>
          </a:p>
          <a:p/>
          <a:p>
            <a:r>
              <a:t>bu yerda T² ko'paytuvchi gradient kattaligini kompensatsiya qiladi, α (odatda 0,5–0,9) ikki hadning muvozanati. Distillyatsiya turlari: javob asosida (logitlar), xususiyat asosida (oraliq qatlamlar — FitNets, TinyBERT), munosabat asosida (namunalar orasidagi masofalar). Mashhur natijalar: DistilBERT — BERT-base'dan 40 foiz kichik, 60 foiz tezroq, sifatning 97 foizini saqlaydi; zamonaviy kichik til modellari ham ko'pincha katta modellar chiqishi (sintetik ma'lumot) asosida o'qitiladi — bu ham distillyatsiyaning bir shakli. Distillyatsiya pruning va kvantlash bilan yaxshi birlashadi: kvantlangan yoki siyraklashtirilgan o'quvchini o'qituvchiga nisbatan qayta o'qitish aniqlikni tiklaydi.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modelni o'zgartiradi; kernel darajasidagi optimallashtirish esa bir xil modelni apparatda samaraliroq bajaradi. Asosiy vositalar: operator fusion — bir nechta elementli operatsiyani (bias + aktivatsiya + residual) bitta kernelga birlashtirish, xotira trafigini kamaytirish (M5); torch.compile (TorchInductor, Triton tiliga kompilyatsiya) — PyTorch grafini tahlil qilib, fusion va kernel generatsiyasini avtomatlashtiradi, odatda 1,2–2 baravar tezlashish; CUDA Graphs — kernel ishga tushirish ketma-ketligini bir marta yozib olib, keyin bitta buyruq bilan takrorlash, kichik modellarda CPU yukini keskin kamaytiradi; TensorRT — graf optimallashtirish, kernel avtomatik tanlash (autotuning), FP16/INT8 kalibrlash; FlashAttention va PagedAttention (vLLM) — attention va KV-kesh uchun maxsus kernellar; konstant buklash (constant folding), BatchNorm'ni konvolyutsiyaga «eritish» (BN folding) — inferensda qatlamlar sonini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ko'rsatkichi — inferens boshiga joul (J/inferens) yoki o'qitish uchun jami kVt·soat. U quvvat (Vt) va vaqtning ko'paytmasi, shuning uchun tezlashtirishning o'zi energiya tejaydi (quvvat deyarli bir xil qolib, vaqt qisqaradi). Qo'shimcha dastaklar: past aniqlik (arifmetik va xotira energiyasi bitlar soniga proporsional yoki undan tez kamayadi), GPU quvvat chegarasi (nvidia-smi -pl) — H100'ni 700 dan 400 Vt'ga tushirish unumdorlikni 10–15 foizgina kamaytiradi, J/inferens esa yaxshilanadi; to'plash (batching) — statik quvvat ko'proq ish ustida taqsimlanadi; «to'g'ri o'lchamli» model — vazifaga keragidan katta modelni ishlatmaslik, bu eng katta tejamkorlik manbai. Umumiy strategiya: avval o'lchash (profil, roofline — M10), keyin eng katta tiqilish nuqtasini bartaraf etish, har qadamda aniqlikni maqsadli to'plamda qayta tekshirish.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M8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Sun'iy intellekt tizimlarini optimallashtirish usullari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d6bddc8d21811d7f.jpg"/>
          <p:cNvPicPr>
            <a:picLocks noChangeAspect="1"/>
          </p:cNvPicPr>
          <p:nvPr/>
        </p:nvPicPr>
        <p:blipFill>
          <a:blip r:embed="rId2"/>
          <a:srcRect t="1543" b="1543"/>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Mikael Häggström, M.D. Author info - Reusing images- Conflicts of interest:  Non · Wikimedia Commons · CC0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Sonli formatlar va aralash aniqlik (mixed precision) hisoblash</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Kvantlash (quantization): nazariya va turlari</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Pruning: siyraklashtirish</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Knowledge Distillation: bilim distillyatsiyasi</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Model va kernel darajasidagi optimallashtirish</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Hisoblash resurslaridan samarali foydalanish va energiya samaradorligi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5f07f34d86cac18.jpg"/>
          <p:cNvPicPr>
            <a:picLocks noChangeAspect="1"/>
          </p:cNvPicPr>
          <p:nvPr/>
        </p:nvPicPr>
        <p:blipFill>
          <a:blip r:embed="rId2"/>
          <a:srcRect l="19717" r="1971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AlgoHolic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Sonli formatlar va aralash aniqlik (mixed precision) hisoblash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Sonli formatlar va aralash aniqlik (mixed precision)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Suzuvchi nuqtali son uchta qismdan iborat: ishora biti, eksponenta (diapazonni belgilaydi) va mantissa (aniqlikni belgilaydi).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FP16 va BF16 o'rtasidagi farq o'qitish uchun hal qiluvchi: FP16 aniqroq (10 bit mantissa), lekin diapazoni tor — 6e−8 dan kichik qiymatlar nolga aylanadi (underflow), 65504 dan kattasi…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Aralash aniqlik (mixed precision) o'qitish g'oyasi (Micikevicius va boshq., 2018): og'ir matritsa ko'paytmalari va konvolyutsiyalar FP16/BF16'da Tensor Core'da bajariladi, lekin…</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Core'da FP16/BF16 matmul FP32'ga qaraganda nazariy 8–16 baravar tez (A100: 19,5 TFLOPS FP32 vs 312 TFLOPS FP16 Tensor Core), amaliy tezlashish esa butun o'qitish sikli uchun 1,5–3…</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FP8 — Hopper avlodidan boshlab o'qitish uchun ham ishlatilmoqda (Transformer Engine kutubxonasi): oldinga o'tishda E4M3, gradientlar uchun E5M2, har tensor uchun dinamik masshtab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Sonli formatlar va aralash aniqlik (mixed precision)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Jami bit</a:t>
                      </a:r>
                    </a:p>
                  </a:txBody>
                  <a:tcPr>
                    <a:solidFill>
                      <a:srgbClr val="2D5C8F"/>
                    </a:solidFill>
                  </a:tcPr>
                </a:tc>
                <a:tc>
                  <a:txBody>
                    <a:bodyPr/>
                    <a:lstStyle/>
                    <a:p>
                      <a:r>
                        <a:rPr sz="1400" b="1">
                          <a:solidFill>
                            <a:srgbClr val="FFFFFF"/>
                          </a:solidFill>
                          <a:latin typeface="Calibri"/>
                        </a:rPr>
                        <a:t>Eksponenta</a:t>
                      </a:r>
                    </a:p>
                  </a:txBody>
                  <a:tcPr>
                    <a:solidFill>
                      <a:srgbClr val="2D5C8F"/>
                    </a:solidFill>
                  </a:tcPr>
                </a:tc>
                <a:tc>
                  <a:txBody>
                    <a:bodyPr/>
                    <a:lstStyle/>
                    <a:p>
                      <a:r>
                        <a:rPr sz="1400" b="1">
                          <a:solidFill>
                            <a:srgbClr val="FFFFFF"/>
                          </a:solidFill>
                          <a:latin typeface="Calibri"/>
                        </a:rPr>
                        <a:t>Mantissa</a:t>
                      </a:r>
                    </a:p>
                  </a:txBody>
                  <a:tcPr>
                    <a:solidFill>
                      <a:srgbClr val="2D5C8F"/>
                    </a:solidFill>
                  </a:tcPr>
                </a:tc>
                <a:tc>
                  <a:txBody>
                    <a:bodyPr/>
                    <a:lstStyle/>
                    <a:p>
                      <a:r>
                        <a:rPr sz="1400" b="1">
                          <a:solidFill>
                            <a:srgbClr val="FFFFFF"/>
                          </a:solidFill>
                          <a:latin typeface="Calibri"/>
                        </a:rPr>
                        <a:t>Taxminiy diapazon</a:t>
                      </a:r>
                    </a:p>
                  </a:txBody>
                  <a:tcPr>
                    <a:solidFill>
                      <a:srgbClr val="2D5C8F"/>
                    </a:solidFill>
                  </a:tcPr>
                </a:tc>
                <a:tc>
                  <a:txBody>
                    <a:bodyPr/>
                    <a:lstStyle/>
                    <a:p>
                      <a:r>
                        <a:rPr sz="1400" b="1">
                          <a:solidFill>
                            <a:srgbClr val="FFFFFF"/>
                          </a:solidFill>
                          <a:latin typeface="Calibri"/>
                        </a:rPr>
                        <a:t>O'nli aniqlik</a:t>
                      </a:r>
                    </a:p>
                  </a:txBody>
                  <a:tcPr>
                    <a:solidFill>
                      <a:srgbClr val="2D5C8F"/>
                    </a:solidFill>
                  </a:tcPr>
                </a:tc>
              </a:tr>
              <a:tr h="520000">
                <a:tc>
                  <a:txBody>
                    <a:bodyPr/>
                    <a:lstStyle/>
                    <a:p>
                      <a:r>
                        <a:rPr sz="1400" b="0">
                          <a:solidFill>
                            <a:srgbClr val="1B2430"/>
                          </a:solidFill>
                          <a:latin typeface="Calibri"/>
                        </a:rPr>
                        <a:t>FP32</a:t>
                      </a:r>
                    </a:p>
                  </a:txBody>
                  <a:tcPr>
                    <a:solidFill>
                      <a:srgbClr val="F1F4F8"/>
                    </a:solidFill>
                  </a:tcPr>
                </a:tc>
                <a:tc>
                  <a:txBody>
                    <a:bodyPr/>
                    <a:lstStyle/>
                    <a:p>
                      <a:r>
                        <a:rPr sz="1400" b="0">
                          <a:solidFill>
                            <a:srgbClr val="1B2430"/>
                          </a:solidFill>
                          <a:latin typeface="Calibri"/>
                        </a:rPr>
                        <a:t>32</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23</a:t>
                      </a:r>
                    </a:p>
                  </a:txBody>
                  <a:tcPr>
                    <a:solidFill>
                      <a:srgbClr val="F1F4F8"/>
                    </a:solidFill>
                  </a:tcPr>
                </a:tc>
                <a:tc>
                  <a:txBody>
                    <a:bodyPr/>
                    <a:lstStyle/>
                    <a:p>
                      <a:r>
                        <a:rPr sz="1400" b="0">
                          <a:solidFill>
                            <a:srgbClr val="1B2430"/>
                          </a:solidFill>
                          <a:latin typeface="Calibri"/>
                        </a:rPr>
                        <a:t>±3,4e38</a:t>
                      </a:r>
                    </a:p>
                  </a:txBody>
                  <a:tcPr>
                    <a:solidFill>
                      <a:srgbClr val="F1F4F8"/>
                    </a:solidFill>
                  </a:tcPr>
                </a:tc>
                <a:tc>
                  <a:txBody>
                    <a:bodyPr/>
                    <a:lstStyle/>
                    <a:p>
                      <a:r>
                        <a:rPr sz="1400" b="0">
                          <a:solidFill>
                            <a:srgbClr val="1B2430"/>
                          </a:solidFill>
                          <a:latin typeface="Calibri"/>
                        </a:rPr>
                        <a:t>~7 raqam</a:t>
                      </a:r>
                    </a:p>
                  </a:txBody>
                  <a:tcPr>
                    <a:solidFill>
                      <a:srgbClr val="F1F4F8"/>
                    </a:solidFill>
                  </a:tcPr>
                </a:tc>
              </a:tr>
              <a:tr h="520000">
                <a:tc>
                  <a:txBody>
                    <a:bodyPr/>
                    <a:lstStyle/>
                    <a:p>
                      <a:r>
                        <a:rPr sz="1400" b="0">
                          <a:solidFill>
                            <a:srgbClr val="1B2430"/>
                          </a:solidFill>
                          <a:latin typeface="Calibri"/>
                        </a:rPr>
                        <a:t>TF32</a:t>
                      </a:r>
                    </a:p>
                  </a:txBody>
                  <a:tcPr>
                    <a:solidFill>
                      <a:srgbClr val="FFFFFF"/>
                    </a:solidFill>
                  </a:tcPr>
                </a:tc>
                <a:tc>
                  <a:txBody>
                    <a:bodyPr/>
                    <a:lstStyle/>
                    <a:p>
                      <a:r>
                        <a:rPr sz="1400" b="0">
                          <a:solidFill>
                            <a:srgbClr val="1B2430"/>
                          </a:solidFill>
                          <a:latin typeface="Calibri"/>
                        </a:rPr>
                        <a:t>19 (32 saqlanadi)</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±3,4e38</a:t>
                      </a:r>
                    </a:p>
                  </a:txBody>
                  <a:tcPr>
                    <a:solidFill>
                      <a:srgbClr val="FFFFFF"/>
                    </a:solidFill>
                  </a:tcPr>
                </a:tc>
                <a:tc>
                  <a:txBody>
                    <a:bodyPr/>
                    <a:lstStyle/>
                    <a:p>
                      <a:r>
                        <a:rPr sz="1400" b="0">
                          <a:solidFill>
                            <a:srgbClr val="1B2430"/>
                          </a:solidFill>
                          <a:latin typeface="Calibri"/>
                        </a:rPr>
                        <a:t>~3 raqam</a:t>
                      </a:r>
                    </a:p>
                  </a:txBody>
                  <a:tcPr>
                    <a:solidFill>
                      <a:srgbClr val="FFFFFF"/>
                    </a:solidFill>
                  </a:tcPr>
                </a:tc>
              </a:tr>
              <a:tr h="520000">
                <a:tc>
                  <a:txBody>
                    <a:bodyPr/>
                    <a:lstStyle/>
                    <a:p>
                      <a:r>
                        <a:rPr sz="1400" b="0">
                          <a:solidFill>
                            <a:srgbClr val="1B2430"/>
                          </a:solidFill>
                          <a:latin typeface="Calibri"/>
                        </a:rPr>
                        <a:t>FP16</a:t>
                      </a:r>
                    </a:p>
                  </a:txBody>
                  <a:tcPr>
                    <a:solidFill>
                      <a:srgbClr val="F1F4F8"/>
                    </a:solidFill>
                  </a:tcPr>
                </a:tc>
                <a:tc>
                  <a:txBody>
                    <a:bodyPr/>
                    <a:lstStyle/>
                    <a:p>
                      <a:r>
                        <a:rPr sz="1400" b="0">
                          <a:solidFill>
                            <a:srgbClr val="1B2430"/>
                          </a:solidFill>
                          <a:latin typeface="Calibri"/>
                        </a:rPr>
                        <a:t>16</a:t>
                      </a:r>
                    </a:p>
                  </a:txBody>
                  <a:tcPr>
                    <a:solidFill>
                      <a:srgbClr val="F1F4F8"/>
                    </a:solidFill>
                  </a:tcPr>
                </a:tc>
                <a:tc>
                  <a:txBody>
                    <a:bodyPr/>
                    <a:lstStyle/>
                    <a:p>
                      <a:r>
                        <a:rPr sz="1400" b="0">
                          <a:solidFill>
                            <a:srgbClr val="1B2430"/>
                          </a:solidFill>
                          <a:latin typeface="Calibri"/>
                        </a:rPr>
                        <a:t>5</a:t>
                      </a:r>
                    </a:p>
                  </a:txBody>
                  <a:tcPr>
                    <a:solidFill>
                      <a:srgbClr val="F1F4F8"/>
                    </a:solidFill>
                  </a:tcPr>
                </a:tc>
                <a:tc>
                  <a:txBody>
                    <a:bodyPr/>
                    <a:lstStyle/>
                    <a:p>
                      <a:r>
                        <a:rPr sz="1400" b="0">
                          <a:solidFill>
                            <a:srgbClr val="1B2430"/>
                          </a:solidFill>
                          <a:latin typeface="Calibri"/>
                        </a:rPr>
                        <a:t>10</a:t>
                      </a:r>
                    </a:p>
                  </a:txBody>
                  <a:tcPr>
                    <a:solidFill>
                      <a:srgbClr val="F1F4F8"/>
                    </a:solidFill>
                  </a:tcPr>
                </a:tc>
                <a:tc>
                  <a:txBody>
                    <a:bodyPr/>
                    <a:lstStyle/>
                    <a:p>
                      <a:r>
                        <a:rPr sz="1400" b="0">
                          <a:solidFill>
                            <a:srgbClr val="1B2430"/>
                          </a:solidFill>
                          <a:latin typeface="Calibri"/>
                        </a:rPr>
                        <a:t>±65504</a:t>
                      </a:r>
                    </a:p>
                  </a:txBody>
                  <a:tcPr>
                    <a:solidFill>
                      <a:srgbClr val="F1F4F8"/>
                    </a:solidFill>
                  </a:tcPr>
                </a:tc>
                <a:tc>
                  <a:txBody>
                    <a:bodyPr/>
                    <a:lstStyle/>
                    <a:p>
                      <a:r>
                        <a:rPr sz="1400" b="0">
                          <a:solidFill>
                            <a:srgbClr val="1B2430"/>
                          </a:solidFill>
                          <a:latin typeface="Calibri"/>
                        </a:rPr>
                        <a:t>~3 raqam</a:t>
                      </a:r>
                    </a:p>
                  </a:txBody>
                  <a:tcPr>
                    <a:solidFill>
                      <a:srgbClr val="F1F4F8"/>
                    </a:solidFill>
                  </a:tcPr>
                </a:tc>
              </a:tr>
              <a:tr h="520000">
                <a:tc>
                  <a:txBody>
                    <a:bodyPr/>
                    <a:lstStyle/>
                    <a:p>
                      <a:r>
                        <a:rPr sz="1400" b="0">
                          <a:solidFill>
                            <a:srgbClr val="1B2430"/>
                          </a:solidFill>
                          <a:latin typeface="Calibri"/>
                        </a:rPr>
                        <a:t>BF16</a:t>
                      </a:r>
                    </a:p>
                  </a:txBody>
                  <a:tcPr>
                    <a:solidFill>
                      <a:srgbClr val="FFFFFF"/>
                    </a:solidFill>
                  </a:tcPr>
                </a:tc>
                <a:tc>
                  <a:txBody>
                    <a:bodyPr/>
                    <a:lstStyle/>
                    <a:p>
                      <a:r>
                        <a:rPr sz="1400" b="0">
                          <a:solidFill>
                            <a:srgbClr val="1B2430"/>
                          </a:solidFill>
                          <a:latin typeface="Calibri"/>
                        </a:rPr>
                        <a:t>16</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7</a:t>
                      </a:r>
                    </a:p>
                  </a:txBody>
                  <a:tcPr>
                    <a:solidFill>
                      <a:srgbClr val="FFFFFF"/>
                    </a:solidFill>
                  </a:tcPr>
                </a:tc>
                <a:tc>
                  <a:txBody>
                    <a:bodyPr/>
                    <a:lstStyle/>
                    <a:p>
                      <a:r>
                        <a:rPr sz="1400" b="0">
                          <a:solidFill>
                            <a:srgbClr val="1B2430"/>
                          </a:solidFill>
                          <a:latin typeface="Calibri"/>
                        </a:rPr>
                        <a:t>±3,4e38</a:t>
                      </a:r>
                    </a:p>
                  </a:txBody>
                  <a:tcPr>
                    <a:solidFill>
                      <a:srgbClr val="FFFFFF"/>
                    </a:solidFill>
                  </a:tcPr>
                </a:tc>
                <a:tc>
                  <a:txBody>
                    <a:bodyPr/>
                    <a:lstStyle/>
                    <a:p>
                      <a:r>
                        <a:rPr sz="1400" b="0">
                          <a:solidFill>
                            <a:srgbClr val="1B2430"/>
                          </a:solidFill>
                          <a:latin typeface="Calibri"/>
                        </a:rPr>
                        <a:t>~2 raqam</a:t>
                      </a:r>
                    </a:p>
                  </a:txBody>
                  <a:tcPr>
                    <a:solidFill>
                      <a:srgbClr val="FFFFFF"/>
                    </a:solidFill>
                  </a:tcPr>
                </a:tc>
              </a:tr>
              <a:tr h="520000">
                <a:tc>
                  <a:txBody>
                    <a:bodyPr/>
                    <a:lstStyle/>
                    <a:p>
                      <a:r>
                        <a:rPr sz="1400" b="0">
                          <a:solidFill>
                            <a:srgbClr val="1B2430"/>
                          </a:solidFill>
                          <a:latin typeface="Calibri"/>
                        </a:rPr>
                        <a:t>FP8 E4M3</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4</a:t>
                      </a:r>
                    </a:p>
                  </a:txBody>
                  <a:tcPr>
                    <a:solidFill>
                      <a:srgbClr val="F1F4F8"/>
                    </a:solidFill>
                  </a:tcPr>
                </a:tc>
                <a:tc>
                  <a:txBody>
                    <a:bodyPr/>
                    <a:lstStyle/>
                    <a:p>
                      <a:r>
                        <a:rPr sz="1400" b="0">
                          <a:solidFill>
                            <a:srgbClr val="1B2430"/>
                          </a:solidFill>
                          <a:latin typeface="Calibri"/>
                        </a:rPr>
                        <a:t>3</a:t>
                      </a:r>
                    </a:p>
                  </a:txBody>
                  <a:tcPr>
                    <a:solidFill>
                      <a:srgbClr val="F1F4F8"/>
                    </a:solidFill>
                  </a:tcPr>
                </a:tc>
                <a:tc>
                  <a:txBody>
                    <a:bodyPr/>
                    <a:lstStyle/>
                    <a:p>
                      <a:r>
                        <a:rPr sz="1400" b="0">
                          <a:solidFill>
                            <a:srgbClr val="1B2430"/>
                          </a:solidFill>
                          <a:latin typeface="Calibri"/>
                        </a:rPr>
                        <a:t>±448</a:t>
                      </a:r>
                    </a:p>
                  </a:txBody>
                  <a:tcPr>
                    <a:solidFill>
                      <a:srgbClr val="F1F4F8"/>
                    </a:solidFill>
                  </a:tcPr>
                </a:tc>
                <a:tc>
                  <a:txBody>
                    <a:bodyPr/>
                    <a:lstStyle/>
                    <a:p>
                      <a:r>
                        <a:rPr sz="1400" b="0">
                          <a:solidFill>
                            <a:srgbClr val="1B2430"/>
                          </a:solidFill>
                          <a:latin typeface="Calibri"/>
                        </a:rPr>
                        <a:t>~1 raqam</a:t>
                      </a:r>
                    </a:p>
                  </a:txBody>
                  <a:tcPr>
                    <a:solidFill>
                      <a:srgbClr val="F1F4F8"/>
                    </a:solidFill>
                  </a:tcPr>
                </a:tc>
              </a:tr>
              <a:tr h="520000">
                <a:tc>
                  <a:txBody>
                    <a:bodyPr/>
                    <a:lstStyle/>
                    <a:p>
                      <a:r>
                        <a:rPr sz="1400" b="0">
                          <a:solidFill>
                            <a:srgbClr val="1B2430"/>
                          </a:solidFill>
                          <a:latin typeface="Calibri"/>
                        </a:rPr>
                        <a:t>FP8 E5M2</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5</a:t>
                      </a:r>
                    </a:p>
                  </a:txBody>
                  <a:tcPr>
                    <a:solidFill>
                      <a:srgbClr val="FFFFFF"/>
                    </a:solidFill>
                  </a:tcPr>
                </a:tc>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±57344</a:t>
                      </a:r>
                    </a:p>
                  </a:txBody>
                  <a:tcPr>
                    <a:solidFill>
                      <a:srgbClr val="FFFFFF"/>
                    </a:solidFill>
                  </a:tcPr>
                </a:tc>
                <a:tc>
                  <a:txBody>
                    <a:bodyPr/>
                    <a:lstStyle/>
                    <a:p>
                      <a:r>
                        <a:rPr sz="1400" b="0">
                          <a:solidFill>
                            <a:srgbClr val="1B2430"/>
                          </a:solidFill>
                          <a:latin typeface="Calibri"/>
                        </a:rPr>
                        <a:t>~1 raqam</a:t>
                      </a:r>
                    </a:p>
                  </a:txBody>
                  <a:tcPr>
                    <a:solidFill>
                      <a:srgbClr val="FFFFFF"/>
                    </a:solidFill>
                  </a:tcPr>
                </a:tc>
              </a:tr>
              <a:tr h="520000">
                <a:tc>
                  <a:txBody>
                    <a:bodyPr/>
                    <a:lstStyle/>
                    <a:p>
                      <a:r>
                        <a:rPr sz="1400" b="0">
                          <a:solidFill>
                            <a:srgbClr val="1B2430"/>
                          </a:solidFill>
                          <a:latin typeface="Calibri"/>
                        </a:rPr>
                        <a:t>INT8</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−128…127 (masshtab bilan)</a:t>
                      </a:r>
                    </a:p>
                  </a:txBody>
                  <a:tcPr>
                    <a:solidFill>
                      <a:srgbClr val="F1F4F8"/>
                    </a:solidFill>
                  </a:tcPr>
                </a:tc>
                <a:tc>
                  <a:txBody>
                    <a:bodyPr/>
                    <a:lstStyle/>
                    <a:p>
                      <a:r>
                        <a:rPr sz="1400" b="0">
                          <a:solidFill>
                            <a:srgbClr val="1B2430"/>
                          </a:solidFill>
                          <a:latin typeface="Calibri"/>
                        </a:rPr>
                        <a:t>diskret</a:t>
                      </a:r>
                    </a:p>
                  </a:txBody>
                  <a:tcPr>
                    <a:solidFill>
                      <a:srgbClr val="F1F4F8"/>
                    </a:solidFill>
                  </a:tcPr>
                </a:tc>
              </a:tr>
              <a:tr h="520000">
                <a:tc>
                  <a:txBody>
                    <a:bodyPr/>
                    <a:lstStyle/>
                    <a:p>
                      <a:r>
                        <a:rPr sz="1400" b="0">
                          <a:solidFill>
                            <a:srgbClr val="1B2430"/>
                          </a:solidFill>
                          <a:latin typeface="Calibri"/>
                        </a:rPr>
                        <a:t>INT4</a:t>
                      </a:r>
                    </a:p>
                  </a:txBody>
                  <a:tcPr>
                    <a:solidFill>
                      <a:srgbClr val="FFFFFF"/>
                    </a:solidFill>
                  </a:tcPr>
                </a:tc>
                <a:tc>
                  <a:txBody>
                    <a:bodyPr/>
                    <a:lstStyle/>
                    <a:p>
                      <a:r>
                        <a:rPr sz="1400" b="0">
                          <a:solidFill>
                            <a:srgbClr val="1B2430"/>
                          </a:solidFill>
                          <a:latin typeface="Calibri"/>
                        </a:rPr>
                        <a:t>4</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−8…7 (masshtab bilan)</a:t>
                      </a:r>
                    </a:p>
                  </a:txBody>
                  <a:tcPr>
                    <a:solidFill>
                      <a:srgbClr val="FFFFFF"/>
                    </a:solidFill>
                  </a:tcPr>
                </a:tc>
                <a:tc>
                  <a:txBody>
                    <a:bodyPr/>
                    <a:lstStyle/>
                    <a:p>
                      <a:r>
                        <a:rPr sz="1400" b="0">
                          <a:solidFill>
                            <a:srgbClr val="1B2430"/>
                          </a:solidFill>
                          <a:latin typeface="Calibri"/>
                        </a:rPr>
                        <a:t>diskret</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98164842eaee2db.jpg"/>
          <p:cNvPicPr>
            <a:picLocks noChangeAspect="1"/>
          </p:cNvPicPr>
          <p:nvPr/>
        </p:nvPicPr>
        <p:blipFill>
          <a:blip r:embed="rId2"/>
          <a:srcRect l="27017" r="2701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Frank Klemm · Wikimedia Commons · CC BY-SA 3.0 de</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Kvantlash (quantization): nazariya va turlari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(quantization):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Kvantlash — uzluksiz (suzuvchi nuqtali) qiymatlarni chekli diskret to'plamga (odatda 8 yoki 4 bitli butun sonlar) akslantirish.</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q = clamp(round(x / s) + z, q_min, q_max), teskarisi x̂ = s · (q − z)</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bu yerda s — masshtab (scale, suzuvchi nuqtali), z — nol nuqta (zero point, butun son), [q_min, q_max] — INT8 uchun [−128, 127].</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Kvantlash turlari: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QAT'da oldinga o'tishda og'irlik va aktivatsiyalar kvantlanadi va qayta suzuvchi nuqtaga qaytariladi (soxta kvantlash), orqaga o'tishda esa round ning hosilasi nolga teng bo'lgani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(quantization):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Tur</a:t>
                      </a:r>
                    </a:p>
                  </a:txBody>
                  <a:tcPr>
                    <a:solidFill>
                      <a:srgbClr val="2D5C8F"/>
                    </a:solidFill>
                  </a:tcPr>
                </a:tc>
                <a:tc>
                  <a:txBody>
                    <a:bodyPr/>
                    <a:lstStyle/>
                    <a:p>
                      <a:r>
                        <a:rPr sz="1200" b="1">
                          <a:solidFill>
                            <a:srgbClr val="FFFFFF"/>
                          </a:solidFill>
                          <a:latin typeface="Calibri"/>
                        </a:rPr>
                        <a:t>Nima kvantlanadi</a:t>
                      </a:r>
                    </a:p>
                  </a:txBody>
                  <a:tcPr>
                    <a:solidFill>
                      <a:srgbClr val="2D5C8F"/>
                    </a:solidFill>
                  </a:tcPr>
                </a:tc>
                <a:tc>
                  <a:txBody>
                    <a:bodyPr/>
                    <a:lstStyle/>
                    <a:p>
                      <a:r>
                        <a:rPr sz="1200" b="1">
                          <a:solidFill>
                            <a:srgbClr val="FFFFFF"/>
                          </a:solidFill>
                          <a:latin typeface="Calibri"/>
                        </a:rPr>
                        <a:t>Kalibrlash</a:t>
                      </a:r>
                    </a:p>
                  </a:txBody>
                  <a:tcPr>
                    <a:solidFill>
                      <a:srgbClr val="2D5C8F"/>
                    </a:solidFill>
                  </a:tcPr>
                </a:tc>
                <a:tc>
                  <a:txBody>
                    <a:bodyPr/>
                    <a:lstStyle/>
                    <a:p>
                      <a:r>
                        <a:rPr sz="1200" b="1">
                          <a:solidFill>
                            <a:srgbClr val="FFFFFF"/>
                          </a:solidFill>
                          <a:latin typeface="Calibri"/>
                        </a:rPr>
                        <a:t>Tezlik yutug'i</a:t>
                      </a:r>
                    </a:p>
                  </a:txBody>
                  <a:tcPr>
                    <a:solidFill>
                      <a:srgbClr val="2D5C8F"/>
                    </a:solidFill>
                  </a:tcPr>
                </a:tc>
                <a:tc>
                  <a:txBody>
                    <a:bodyPr/>
                    <a:lstStyle/>
                    <a:p>
                      <a:r>
                        <a:rPr sz="1200" b="1">
                          <a:solidFill>
                            <a:srgbClr val="FFFFFF"/>
                          </a:solidFill>
                          <a:latin typeface="Calibri"/>
                        </a:rPr>
                        <a:t>Aniqlik yo'qotish</a:t>
                      </a:r>
                    </a:p>
                  </a:txBody>
                  <a:tcPr>
                    <a:solidFill>
                      <a:srgbClr val="2D5C8F"/>
                    </a:solidFill>
                  </a:tcPr>
                </a:tc>
                <a:tc>
                  <a:txBody>
                    <a:bodyPr/>
                    <a:lstStyle/>
                    <a:p>
                      <a:r>
                        <a:rPr sz="1200" b="1">
                          <a:solidFill>
                            <a:srgbClr val="FFFFFF"/>
                          </a:solidFill>
                          <a:latin typeface="Calibri"/>
                        </a:rPr>
                        <a:t>Tipik qo'llanish</a:t>
                      </a:r>
                    </a:p>
                  </a:txBody>
                  <a:tcPr>
                    <a:solidFill>
                      <a:srgbClr val="2D5C8F"/>
                    </a:solidFill>
                  </a:tcPr>
                </a:tc>
              </a:tr>
              <a:tr h="520000">
                <a:tc>
                  <a:txBody>
                    <a:bodyPr/>
                    <a:lstStyle/>
                    <a:p>
                      <a:r>
                        <a:rPr sz="1200" b="0">
                          <a:solidFill>
                            <a:srgbClr val="1B2430"/>
                          </a:solidFill>
                          <a:latin typeface="Calibri"/>
                        </a:rPr>
                        <a:t>Dinamik (dynamic PTQ)</a:t>
                      </a:r>
                    </a:p>
                  </a:txBody>
                  <a:tcPr>
                    <a:solidFill>
                      <a:srgbClr val="F1F4F8"/>
                    </a:solidFill>
                  </a:tcPr>
                </a:tc>
                <a:tc>
                  <a:txBody>
                    <a:bodyPr/>
                    <a:lstStyle/>
                    <a:p>
                      <a:r>
                        <a:rPr sz="1200" b="0">
                          <a:solidFill>
                            <a:srgbClr val="1B2430"/>
                          </a:solidFill>
                          <a:latin typeface="Calibri"/>
                        </a:rPr>
                        <a:t>og'irliklar oldindan, aktivatsiyalar ish vaqtida</a:t>
                      </a:r>
                    </a:p>
                  </a:txBody>
                  <a:tcPr>
                    <a:solidFill>
                      <a:srgbClr val="F1F4F8"/>
                    </a:solidFill>
                  </a:tcPr>
                </a:tc>
                <a:tc>
                  <a:txBody>
                    <a:bodyPr/>
                    <a:lstStyle/>
                    <a:p>
                      <a:r>
                        <a:rPr sz="1200" b="0">
                          <a:solidFill>
                            <a:srgbClr val="1B2430"/>
                          </a:solidFill>
                          <a:latin typeface="Calibri"/>
                        </a:rPr>
                        <a:t>kerak emas</a:t>
                      </a:r>
                    </a:p>
                  </a:txBody>
                  <a:tcPr>
                    <a:solidFill>
                      <a:srgbClr val="F1F4F8"/>
                    </a:solidFill>
                  </a:tcPr>
                </a:tc>
                <a:tc>
                  <a:txBody>
                    <a:bodyPr/>
                    <a:lstStyle/>
                    <a:p>
                      <a:r>
                        <a:rPr sz="1200" b="0">
                          <a:solidFill>
                            <a:srgbClr val="1B2430"/>
                          </a:solidFill>
                          <a:latin typeface="Calibri"/>
                        </a:rPr>
                        <a:t>o'rtacha (masshtab hisoblash yuki)</a:t>
                      </a:r>
                    </a:p>
                  </a:txBody>
                  <a:tcPr>
                    <a:solidFill>
                      <a:srgbClr val="F1F4F8"/>
                    </a:solidFill>
                  </a:tcPr>
                </a:tc>
                <a:tc>
                  <a:txBody>
                    <a:bodyPr/>
                    <a:lstStyle/>
                    <a:p>
                      <a:r>
                        <a:rPr sz="1200" b="0">
                          <a:solidFill>
                            <a:srgbClr val="1B2430"/>
                          </a:solidFill>
                          <a:latin typeface="Calibri"/>
                        </a:rPr>
                        <a:t>juda kam</a:t>
                      </a:r>
                    </a:p>
                  </a:txBody>
                  <a:tcPr>
                    <a:solidFill>
                      <a:srgbClr val="F1F4F8"/>
                    </a:solidFill>
                  </a:tcPr>
                </a:tc>
                <a:tc>
                  <a:txBody>
                    <a:bodyPr/>
                    <a:lstStyle/>
                    <a:p>
                      <a:r>
                        <a:rPr sz="1200" b="0">
                          <a:solidFill>
                            <a:srgbClr val="1B2430"/>
                          </a:solidFill>
                          <a:latin typeface="Calibri"/>
                        </a:rPr>
                        <a:t>CPU'da LSTM/Transformer, Linear qatlamlar</a:t>
                      </a:r>
                    </a:p>
                  </a:txBody>
                  <a:tcPr>
                    <a:solidFill>
                      <a:srgbClr val="F1F4F8"/>
                    </a:solidFill>
                  </a:tcPr>
                </a:tc>
              </a:tr>
              <a:tr h="520000">
                <a:tc>
                  <a:txBody>
                    <a:bodyPr/>
                    <a:lstStyle/>
                    <a:p>
                      <a:r>
                        <a:rPr sz="1200" b="0">
                          <a:solidFill>
                            <a:srgbClr val="1B2430"/>
                          </a:solidFill>
                          <a:latin typeface="Calibri"/>
                        </a:rPr>
                        <a:t>Statik (static PTQ)</a:t>
                      </a:r>
                    </a:p>
                  </a:txBody>
                  <a:tcPr>
                    <a:solidFill>
                      <a:srgbClr val="FFFFFF"/>
                    </a:solidFill>
                  </a:tcPr>
                </a:tc>
                <a:tc>
                  <a:txBody>
                    <a:bodyPr/>
                    <a:lstStyle/>
                    <a:p>
                      <a:r>
                        <a:rPr sz="1200" b="0">
                          <a:solidFill>
                            <a:srgbClr val="1B2430"/>
                          </a:solidFill>
                          <a:latin typeface="Calibri"/>
                        </a:rPr>
                        <a:t>og'irliklar va aktivatsiyalar oldindan</a:t>
                      </a:r>
                    </a:p>
                  </a:txBody>
                  <a:tcPr>
                    <a:solidFill>
                      <a:srgbClr val="FFFFFF"/>
                    </a:solidFill>
                  </a:tcPr>
                </a:tc>
                <a:tc>
                  <a:txBody>
                    <a:bodyPr/>
                    <a:lstStyle/>
                    <a:p>
                      <a:r>
                        <a:rPr sz="1200" b="0">
                          <a:solidFill>
                            <a:srgbClr val="1B2430"/>
                          </a:solidFill>
                          <a:latin typeface="Calibri"/>
                        </a:rPr>
                        <a:t>100–1000 namuna</a:t>
                      </a:r>
                    </a:p>
                  </a:txBody>
                  <a:tcPr>
                    <a:solidFill>
                      <a:srgbClr val="FFFFFF"/>
                    </a:solidFill>
                  </a:tcPr>
                </a:tc>
                <a:tc>
                  <a:txBody>
                    <a:bodyPr/>
                    <a:lstStyle/>
                    <a:p>
                      <a:r>
                        <a:rPr sz="1200" b="0">
                          <a:solidFill>
                            <a:srgbClr val="1B2430"/>
                          </a:solidFill>
                          <a:latin typeface="Calibri"/>
                        </a:rPr>
                        <a:t>yuqori (to'liq INT8 yo'l)</a:t>
                      </a:r>
                    </a:p>
                  </a:txBody>
                  <a:tcPr>
                    <a:solidFill>
                      <a:srgbClr val="FFFFFF"/>
                    </a:solidFill>
                  </a:tcPr>
                </a:tc>
                <a:tc>
                  <a:txBody>
                    <a:bodyPr/>
                    <a:lstStyle/>
                    <a:p>
                      <a:r>
                        <a:rPr sz="1200" b="0">
                          <a:solidFill>
                            <a:srgbClr val="1B2430"/>
                          </a:solidFill>
                          <a:latin typeface="Calibri"/>
                        </a:rPr>
                        <a:t>kam–o'rtacha</a:t>
                      </a:r>
                    </a:p>
                  </a:txBody>
                  <a:tcPr>
                    <a:solidFill>
                      <a:srgbClr val="FFFFFF"/>
                    </a:solidFill>
                  </a:tcPr>
                </a:tc>
                <a:tc>
                  <a:txBody>
                    <a:bodyPr/>
                    <a:lstStyle/>
                    <a:p>
                      <a:r>
                        <a:rPr sz="1200" b="0">
                          <a:solidFill>
                            <a:srgbClr val="1B2430"/>
                          </a:solidFill>
                          <a:latin typeface="Calibri"/>
                        </a:rPr>
                        <a:t>CNN, chekka qurilma, TensorRT INT8</a:t>
                      </a:r>
                    </a:p>
                  </a:txBody>
                  <a:tcPr>
                    <a:solidFill>
                      <a:srgbClr val="FFFFFF"/>
                    </a:solidFill>
                  </a:tcPr>
                </a:tc>
              </a:tr>
              <a:tr h="520000">
                <a:tc>
                  <a:txBody>
                    <a:bodyPr/>
                    <a:lstStyle/>
                    <a:p>
                      <a:r>
                        <a:rPr sz="1200" b="0">
                          <a:solidFill>
                            <a:srgbClr val="1B2430"/>
                          </a:solidFill>
                          <a:latin typeface="Calibri"/>
                        </a:rPr>
                        <a:t>QAT</a:t>
                      </a:r>
                    </a:p>
                  </a:txBody>
                  <a:tcPr>
                    <a:solidFill>
                      <a:srgbClr val="F1F4F8"/>
                    </a:solidFill>
                  </a:tcPr>
                </a:tc>
                <a:tc>
                  <a:txBody>
                    <a:bodyPr/>
                    <a:lstStyle/>
                    <a:p>
                      <a:r>
                        <a:rPr sz="1200" b="0">
                          <a:solidFill>
                            <a:srgbClr val="1B2430"/>
                          </a:solidFill>
                          <a:latin typeface="Calibri"/>
                        </a:rPr>
                        <a:t>o'qitish paytida soxta kvantlash (fake quant)</a:t>
                      </a:r>
                    </a:p>
                  </a:txBody>
                  <a:tcPr>
                    <a:solidFill>
                      <a:srgbClr val="F1F4F8"/>
                    </a:solidFill>
                  </a:tcPr>
                </a:tc>
                <a:tc>
                  <a:txBody>
                    <a:bodyPr/>
                    <a:lstStyle/>
                    <a:p>
                      <a:r>
                        <a:rPr sz="1200" b="0">
                          <a:solidFill>
                            <a:srgbClr val="1B2430"/>
                          </a:solidFill>
                          <a:latin typeface="Calibri"/>
                        </a:rPr>
                        <a:t>qayta o'qitish</a:t>
                      </a:r>
                    </a:p>
                  </a:txBody>
                  <a:tcPr>
                    <a:solidFill>
                      <a:srgbClr val="F1F4F8"/>
                    </a:solidFill>
                  </a:tcPr>
                </a:tc>
                <a:tc>
                  <a:txBody>
                    <a:bodyPr/>
                    <a:lstStyle/>
                    <a:p>
                      <a:r>
                        <a:rPr sz="1200" b="0">
                          <a:solidFill>
                            <a:srgbClr val="1B2430"/>
                          </a:solidFill>
                          <a:latin typeface="Calibri"/>
                        </a:rPr>
                        <a:t>statik bilan teng</a:t>
                      </a:r>
                    </a:p>
                  </a:txBody>
                  <a:tcPr>
                    <a:solidFill>
                      <a:srgbClr val="F1F4F8"/>
                    </a:solidFill>
                  </a:tcPr>
                </a:tc>
                <a:tc>
                  <a:txBody>
                    <a:bodyPr/>
                    <a:lstStyle/>
                    <a:p>
                      <a:r>
                        <a:rPr sz="1200" b="0">
                          <a:solidFill>
                            <a:srgbClr val="1B2430"/>
                          </a:solidFill>
                          <a:latin typeface="Calibri"/>
                        </a:rPr>
                        <a:t>eng kam</a:t>
                      </a:r>
                    </a:p>
                  </a:txBody>
                  <a:tcPr>
                    <a:solidFill>
                      <a:srgbClr val="F1F4F8"/>
                    </a:solidFill>
                  </a:tcPr>
                </a:tc>
                <a:tc>
                  <a:txBody>
                    <a:bodyPr/>
                    <a:lstStyle/>
                    <a:p>
                      <a:r>
                        <a:rPr sz="1200" b="0">
                          <a:solidFill>
                            <a:srgbClr val="1B2430"/>
                          </a:solidFill>
                          <a:latin typeface="Calibri"/>
                        </a:rPr>
                        <a:t>kichik/sezgir modellar, INT4</a:t>
                      </a:r>
                    </a:p>
                  </a:txBody>
                  <a:tcPr>
                    <a:solidFill>
                      <a:srgbClr val="F1F4F8"/>
                    </a:solidFill>
                  </a:tcPr>
                </a:tc>
              </a:tr>
              <a:tr h="520000">
                <a:tc>
                  <a:txBody>
                    <a:bodyPr/>
                    <a:lstStyle/>
                    <a:p>
                      <a:r>
                        <a:rPr sz="1200" b="0">
                          <a:solidFill>
                            <a:srgbClr val="1B2430"/>
                          </a:solidFill>
                          <a:latin typeface="Calibri"/>
                        </a:rPr>
                        <a:t>Og'irlik-faqat INT4/INT8 (GPTQ, AWQ, NF4)</a:t>
                      </a:r>
                    </a:p>
                  </a:txBody>
                  <a:tcPr>
                    <a:solidFill>
                      <a:srgbClr val="FFFFFF"/>
                    </a:solidFill>
                  </a:tcPr>
                </a:tc>
                <a:tc>
                  <a:txBody>
                    <a:bodyPr/>
                    <a:lstStyle/>
                    <a:p>
                      <a:r>
                        <a:rPr sz="1200" b="0">
                          <a:solidFill>
                            <a:srgbClr val="1B2430"/>
                          </a:solidFill>
                          <a:latin typeface="Calibri"/>
                        </a:rPr>
                        <a:t>faqat og'irliklar, hisoblash FP16'da</a:t>
                      </a:r>
                    </a:p>
                  </a:txBody>
                  <a:tcPr>
                    <a:solidFill>
                      <a:srgbClr val="FFFFFF"/>
                    </a:solidFill>
                  </a:tcPr>
                </a:tc>
                <a:tc>
                  <a:txBody>
                    <a:bodyPr/>
                    <a:lstStyle/>
                    <a:p>
                      <a:r>
                        <a:rPr sz="1200" b="0">
                          <a:solidFill>
                            <a:srgbClr val="1B2430"/>
                          </a:solidFill>
                          <a:latin typeface="Calibri"/>
                        </a:rPr>
                        <a:t>yuzlab namuna (GPTQ/AWQ)</a:t>
                      </a:r>
                    </a:p>
                  </a:txBody>
                  <a:tcPr>
                    <a:solidFill>
                      <a:srgbClr val="FFFFFF"/>
                    </a:solidFill>
                  </a:tcPr>
                </a:tc>
                <a:tc>
                  <a:txBody>
                    <a:bodyPr/>
                    <a:lstStyle/>
                    <a:p>
                      <a:r>
                        <a:rPr sz="1200" b="0">
                          <a:solidFill>
                            <a:srgbClr val="1B2430"/>
                          </a:solidFill>
                          <a:latin typeface="Calibri"/>
                        </a:rPr>
                        <a:t>xotira trafigi kamayadi (LLM dekodlash)</a:t>
                      </a:r>
                    </a:p>
                  </a:txBody>
                  <a:tcPr>
                    <a:solidFill>
                      <a:srgbClr val="FFFFFF"/>
                    </a:solidFill>
                  </a:tcPr>
                </a:tc>
                <a:tc>
                  <a:txBody>
                    <a:bodyPr/>
                    <a:lstStyle/>
                    <a:p>
                      <a:r>
                        <a:rPr sz="1200" b="0">
                          <a:solidFill>
                            <a:srgbClr val="1B2430"/>
                          </a:solidFill>
                          <a:latin typeface="Calibri"/>
                        </a:rPr>
                        <a:t>kam</a:t>
                      </a:r>
                    </a:p>
                  </a:txBody>
                  <a:tcPr>
                    <a:solidFill>
                      <a:srgbClr val="FFFFFF"/>
                    </a:solidFill>
                  </a:tcPr>
                </a:tc>
                <a:tc>
                  <a:txBody>
                    <a:bodyPr/>
                    <a:lstStyle/>
                    <a:p>
                      <a:r>
                        <a:rPr sz="1200" b="0">
                          <a:solidFill>
                            <a:srgbClr val="1B2430"/>
                          </a:solidFill>
                          <a:latin typeface="Calibri"/>
                        </a:rPr>
                        <a:t>LLM inferens</a:t>
                      </a:r>
                    </a:p>
                  </a:txBody>
                  <a:tcPr>
                    <a:solidFill>
                      <a:srgbClr val="FFFFFF"/>
                    </a:solidFill>
                  </a:tcPr>
                </a:tc>
              </a:tr>
              <a:tr h="520000">
                <a:tc>
                  <a:txBody>
                    <a:bodyPr/>
                    <a:lstStyle/>
                    <a:p>
                      <a:r>
                        <a:rPr sz="1200" b="0">
                          <a:solidFill>
                            <a:srgbClr val="1B2430"/>
                          </a:solidFill>
                          <a:latin typeface="Calibri"/>
                        </a:rPr>
                        <a:t>FP8 / SmoothQuant W8A8</a:t>
                      </a:r>
                    </a:p>
                  </a:txBody>
                  <a:tcPr>
                    <a:solidFill>
                      <a:srgbClr val="F1F4F8"/>
                    </a:solidFill>
                  </a:tcPr>
                </a:tc>
                <a:tc>
                  <a:txBody>
                    <a:bodyPr/>
                    <a:lstStyle/>
                    <a:p>
                      <a:r>
                        <a:rPr sz="1200" b="0">
                          <a:solidFill>
                            <a:srgbClr val="1B2430"/>
                          </a:solidFill>
                          <a:latin typeface="Calibri"/>
                        </a:rPr>
                        <a:t>og'irlik va aktivatsiya 8 bit</a:t>
                      </a:r>
                    </a:p>
                  </a:txBody>
                  <a:tcPr>
                    <a:solidFill>
                      <a:srgbClr val="F1F4F8"/>
                    </a:solidFill>
                  </a:tcPr>
                </a:tc>
                <a:tc>
                  <a:txBody>
                    <a:bodyPr/>
                    <a:lstStyle/>
                    <a:p>
                      <a:r>
                        <a:rPr sz="1200" b="0">
                          <a:solidFill>
                            <a:srgbClr val="1B2430"/>
                          </a:solidFill>
                          <a:latin typeface="Calibri"/>
                        </a:rPr>
                        <a:t>masshtab/tekislash</a:t>
                      </a:r>
                    </a:p>
                  </a:txBody>
                  <a:tcPr>
                    <a:solidFill>
                      <a:srgbClr val="F1F4F8"/>
                    </a:solidFill>
                  </a:tcPr>
                </a:tc>
                <a:tc>
                  <a:txBody>
                    <a:bodyPr/>
                    <a:lstStyle/>
                    <a:p>
                      <a:r>
                        <a:rPr sz="1200" b="0">
                          <a:solidFill>
                            <a:srgbClr val="1B2430"/>
                          </a:solidFill>
                          <a:latin typeface="Calibri"/>
                        </a:rPr>
                        <a:t>yuqori (Hopper)</a:t>
                      </a:r>
                    </a:p>
                  </a:txBody>
                  <a:tcPr>
                    <a:solidFill>
                      <a:srgbClr val="F1F4F8"/>
                    </a:solidFill>
                  </a:tcPr>
                </a:tc>
                <a:tc>
                  <a:txBody>
                    <a:bodyPr/>
                    <a:lstStyle/>
                    <a:p>
                      <a:r>
                        <a:rPr sz="1200" b="0">
                          <a:solidFill>
                            <a:srgbClr val="1B2430"/>
                          </a:solidFill>
                          <a:latin typeface="Calibri"/>
                        </a:rPr>
                        <a:t>kam</a:t>
                      </a:r>
                    </a:p>
                  </a:txBody>
                  <a:tcPr>
                    <a:solidFill>
                      <a:srgbClr val="F1F4F8"/>
                    </a:solidFill>
                  </a:tcPr>
                </a:tc>
                <a:tc>
                  <a:txBody>
                    <a:bodyPr/>
                    <a:lstStyle/>
                    <a:p>
                      <a:r>
                        <a:rPr sz="1200" b="0">
                          <a:solidFill>
                            <a:srgbClr val="1B2430"/>
                          </a:solidFill>
                          <a:latin typeface="Calibri"/>
                        </a:rPr>
                        <a:t>LLM yuqori throughput</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6962d35d36cfc4b.jpg"/>
          <p:cNvPicPr>
            <a:picLocks noChangeAspect="1"/>
          </p:cNvPicPr>
          <p:nvPr/>
        </p:nvPicPr>
        <p:blipFill>
          <a:blip r:embed="rId2"/>
          <a:srcRect l="22044" r="2204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Peggy Greb, USDA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Pruning: siyraklashtirish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Pruning: siyraklashtirish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Pruning — ta'siri kam parametrlarni (og'irliklar, kanallar, boshlar, qatlamlar) olib tashlash. Eng oddiy mezon — kattalik (magnitude pruning): absolyut qiymati kichik og'irliklar nolga tenglashtiriladi.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Lekin bu yerda muhandis uchun hal qiluvchi nuqta bor: strukturlanmagan (unstructured) siyraklik — tasodifiy joylarda nol — umumiy maqsadli GPU'da tezlashish bermaydi. Zich matritsa ko'paytmasi kernellari nollarni ham ko'paytiradi; siyrak formatlar (CSR) esa…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Pruning darajasini baholashda uchta ko'rsatkich: parametrlar ulushi (hajm), FLOP ulushi (hisoblash) va o'lchangan kechikish (haqiqiy tezlik). Bular bir-biriga mos kelmasligi mumkin: kanallarning 50 foizini olib tashlash FLOP'ni 75 foizga kamaytiradi (ikki…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597978c28505d6a.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BLM Alaska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Knowledge Distillation: bilim distillyatsiyasi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Knowledge Distillation: bilim distillyatsiyasi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Bilim distillyatsiyasi (Hinton, Vinyals, Dean, 2015) katta, aniq «o'qituvchi» modelning xulq-atvorini kichik «o'quvchi» modelga o'rgatadi. Asosiy kuzatuv: o'qituvchining yumshoq ehtimollik taqsimoti (soft targets) qattiq yorliqdan (hard label) ko'proq…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 = α · T² · KL(p_teacher(T) ‖ p_student(T)) + (1 − α) · CE(y, p_student(1))</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 yerda T² ko'paytuvchi gradient kattaligini kompensatsiya qiladi, α (odatda 0,5–0,9) ikki hadning muvozanati. Distillyatsiya turlari: javob asosida (logitlar), xususiyat asosida (oraliq qatlamlar — FitNets, TinyBERT), munosabat asosida (namunalar orasidagi…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c6e041310e3d707.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Mooshua1857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Model va kernel darajasidagi optimallashtirish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Model va kernel darajasidagi optimallashtirish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Yuqoridagi usullar modelni o'zgartiradi; kernel darajasidagi optimallashtirish esa bir xil modelni apparatda samaraliroq bajaradi. Asosiy vositalar: operator fusion — bir nechta elementli operatsiyani (bias + aktivatsiya + residual) bitta kernelga…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5690ed099ffc088.jpg"/>
          <p:cNvPicPr>
            <a:picLocks noChangeAspect="1"/>
          </p:cNvPicPr>
          <p:nvPr/>
        </p:nvPicPr>
        <p:blipFill>
          <a:blip r:embed="rId2"/>
          <a:srcRect l="18319" r="1831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Andrea Agnolin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Hisoblash resurslaridan samarali foydalanish va energiya samaradorligi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Hisoblash resurslaridan samarali foydalanish va energiya samaradorligi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samaradorligi ko'rsatkichi — inferens boshiga joul (J/inferens) yoki o'qitish uchun jami kVt·soat. U quvvat (Vt) va vaqtning ko'paytmasi, shuning uchun tezlashtirishning o'zi energiya tejaydi (quvvat deyarli bir xil qolib, vaqt qisqaradi).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
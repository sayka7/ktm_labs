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notesMaster" Target="notesMasters/notesMaster1.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Ma'ruzaning maqsadi — o'qitilgan sun'iy intellekt modelini aniqlikni saqlagan holda tezroq, kichikroq va kam energiya sarflaydigan qilishning asosiy usullarini — aralash aniqlik (mixed precision), kvantlash (quantization), siyraklashtirish (pruning), bilim distillyatsiyasi (knowledge distillation) hamda model va kernel darajasidagi optimallashtirishni — nazariy asoslari va amaliy kodi bilan tushuntirishdir. Mavzuni o'zlashtirgan talaba:</a:t>
            </a:r>
          </a:p>
          <a:p/>
          <a:p>
            <a:r>
              <a:t>FP32, TF32, FP16, BF16, FP8, INT8 va INT4 sonli formatlarining tuzilishi (mantissa va eksponenta bitlari), diapazoni, aniqligi va apparat qo'llab-quvvatlashini taqqoslay oladi hamda PyTorch AMP bilan aralash aniqlikda o'qitishni to'g'ri (loss scaling bilan) sozlay oladi.</a:t>
            </a:r>
          </a:p>
          <a:p/>
          <a:p>
            <a:r>
              <a:t>Kvantlash turlarini — dinamik, statik (o'qitishdan keyingi), kvantlashni hisobga olgan o'qitish (QAT), og'irlik-faqat INT4 (GPTQ, AWQ) — farqlaydi, masshtab va nol nuqta formulalarini tushunadi va PyTorch'da amalda qo'llay oladi.</a:t>
            </a:r>
          </a:p>
          <a:p/>
          <a:p>
            <a:r>
              <a:t>Strukturlanmagan va strukturlangan pruning, 2:4 siyraklik, magnitude va iterativ pruning usullarini biladi va ularning haqiqiy tezlashish berish-bermasligini apparat nuqtai nazaridan baholay oladi.</a:t>
            </a:r>
          </a:p>
          <a:p/>
          <a:p>
            <a:r>
              <a:t>Knowledge distillation'ning yo'qotish funksiyasi va harorat parametrini tushunadi, o'qituvchi–o'quvchi sxemasini qura oladi.</a:t>
            </a:r>
          </a:p>
          <a:p/>
          <a:p>
            <a:r>
              <a:t>Operator fusion, kernel tanlash, torch.compile, CUDA Graphs kabi kernel darajasidagi usullarni va bularning hammasini energiya samaradorligi (inferens boshiga joul) nuqtai nazaridan birlashtirib, berilgan vazifa uchun optimallashtirish rejasini tuza oladi.</a:t>
            </a:r>
          </a:p>
          <a:p/>
          <a:p>
            <a:r>
              <a:t>Mavzu fanning TN2 (apparat-dastur birgalikdagi loyihalash), TN5 (unumdorlik va energiya samaradorligini baholash va oshirish) natijalariga bevosita xizmat qiladi; A3 amaliy mashg'uloti (TensorRT/ONNX Runtime/OpenVINO bilan optimallashtirish) va 2-mustaqil ta'lim topshirig'i uchun nazariy va kod asosini beradi; M5 (xotira o'tkazuvchanligi) va M6 (chekka joylash) mavzulari bilan bevosita bog'liq.</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Ma'ruzaning maqsadi — o'qitilgan sun'iy intellekt modelini aniqlikni saqlagan holda tezroq, kichikroq va kam energiya sarflaydigan qilishning asosiy usullarini — aralash aniqlik (mixed precision), kvantlash (quantization), siyraklashtirish (pruning), bilim distillyatsiyasi (knowledge distillation) hamda model va kernel darajasidagi optimallashtirishni — nazariy asoslari va amaliy kodi bilan tushuntirishdir. Mavzuni o'zlashtirgan talaba:</a:t>
            </a:r>
          </a:p>
          <a:p/>
          <a:p>
            <a:r>
              <a:t>FP32, TF32, FP16, BF16, FP8, INT8 va INT4 sonli formatlarining tuzilishi (mantissa va eksponenta bitlari), diapazoni, aniqligi va apparat qo'llab-quvvatlashini taqqoslay oladi hamda PyTorch AMP bilan aralash aniqlikda o'qitishni to'g'ri (loss scaling bilan) sozlay oladi.</a:t>
            </a:r>
          </a:p>
          <a:p/>
          <a:p>
            <a:r>
              <a:t>Kvantlash turlarini — dinamik, statik (o'qitishdan keyingi), kvantlashni hisobga olgan o'qitish (QAT), og'irlik-faqat INT4 (GPTQ, AWQ) — farqlaydi, masshtab va nol nuqta formulalarini tushunadi va PyTorch'da amalda qo'llay oladi.</a:t>
            </a:r>
          </a:p>
          <a:p/>
          <a:p>
            <a:r>
              <a:t>Strukturlanmagan va strukturlangan pruning, 2:4 siyraklik, magnitude va iterativ pruning usullarini biladi va ularning haqiqiy tezlashish berish-bermasligini apparat nuqtai nazaridan baholay oladi.</a:t>
            </a:r>
          </a:p>
          <a:p/>
          <a:p>
            <a:r>
              <a:t>Knowledge distillation'ning yo'qotish funksiyasi va harorat parametrini tushunadi, o'qituvchi–o'quvchi sxemasini qura oladi.</a:t>
            </a:r>
          </a:p>
          <a:p/>
          <a:p>
            <a:r>
              <a:t>Operator fusion, kernel tanlash, torch.compile, CUDA Graphs kabi kernel darajasidagi usullarni va bularning hammasini energiya samaradorligi (inferens boshiga joul) nuqtai nazaridan birlashtirib, berilgan vazifa uchun optimallashtirish rejasini tuza oladi.</a:t>
            </a:r>
          </a:p>
          <a:p/>
          <a:p>
            <a:r>
              <a:t>Mavzu fanning TN2 (apparat-dastur birgalikdagi loyihalash), TN5 (unumdorlik va energiya samaradorligini baholash va oshirish) natijalariga bevosita xizmat qiladi; A3 amaliy mashg'uloti (TensorRT/ONNX Runtime/OpenVINO bilan optimallashtirish) va 2-mustaqil ta'lim topshirig'i uchun nazariy va kod asosini beradi; M5 (xotira o'tkazuvchanligi) va M6 (chekka joylash) mavzulari bilan bevosita bog'liq.</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So'nggi yillarda modellar hajmi hisoblash apparatidan tezroq o'sdi: 2018-yildagi BERT-large 340 million parametrli edi, 2020-yildagi GPT-3 175 milliard, bugungi oldingi qatordagi modellar trilliondan oshadi. Ayni paytda foydalanuvchi kutish vaqti o'zgarmadi — suhbat interfeysi 100–200 millisekundda javob berishni boshlashi, telefon kamerasi kadrni 30 ms ichida tahlil qilishi kerak. Bu ziddiyatni faqat apparat sotib olish bilan hal qilib bo'lmaydi: GPU narxi, energiya va ta'minot cheklovlari bor. Shu sababli modelni optimallashtirish — ya'ni bir xil yoki deyarli bir xil sifatni kamroq bit, kamroq parametr, kamroq xotira trafigi va kamroq joul bilan olish — sun'iy intellekt tizimlari muhandisligining markaziy ko'nikmasiga aylandi.</a:t>
            </a:r>
          </a:p>
          <a:p/>
          <a:p>
            <a:r>
              <a:t>Sanoat raqamlari buni tasdiqlaydi. Katta til modeli inferensida og'irliklarni FP16'dan INT4'ga o'tkazish bir GPU'ga sig'adigan model hajmini 4 baravar oshiradi va dekodlash tezligini (M5'dagi roofline tahliliga ko'ra, xotira bilan chegaralangan rejimda) 2–3 baravar ko'taradi — bu bevosita so'rov narxini pasaytiradi. Aralash aniqlik o'qitish A100/H100'da FP32'ga nisbatan 2–3 baravar tezlashish beradi va xotirani deyarli ikki baravar tejaydi — ya'ni bir xil byudjetda kattaroq model yoki ko'proq eksperiment. Mobil qurilmalarda INT8 kvantlash va pruning model hajmini 4–10 baravar kichraytiradi va batareya sarfini shunga yaqin kamaytiradi. Energiya nuqtai nazaridan ham farq keskin: 45 nm texnologiyada 32-bitli suzuvchi nuqtali ko'paytirish ~3,7 pJ, 8-bitli butun sonli ko'paytirish ~0,2 pJ, DRAM'dan 32 bit o'qish esa ~640 pJ (Horowitz, 2014 ma'lumotlari) — demak, bitlarni kamaytirish ham arifmetikani, ham eng qimmat qism bo'lgan xotira trafigini arzonlashtiradi.</a:t>
            </a:r>
          </a:p>
          <a:p/>
          <a:p>
            <a:r>
              <a:t>Bu ma'ruza shu usullarni «qanday ishlaydi», «qachon ishlaydi» va «qachon ishlamaydi» nuqtai nazaridan ko'rib chiqadi. Asosiy xabar: optimallashtirish — modelni «buzish» emas, balki ortiqchalikni (redundancy) aniqlab olib tashlash; neyron tarmoqlar juda ko'p ortiqchalikka ega, lekin uni to'g'ri joydan olish kerak.</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Suzuvchi nuqtali son uchta qismdan iborat: ishora biti, eksponenta (diapazonni belgilaydi) va mantissa (aniqlikni belgilaydi). Formatlar aynan shu bitlarni turlicha taqsimlaydi:</a:t>
            </a:r>
          </a:p>
          <a:p/>
          <a:p>
            <a:r>
              <a:t>FP16 va BF16 o'rtasidagi farq o'qitish uchun hal qiluvchi: FP16 aniqroq (10 bit mantissa), lekin diapazoni tor — 6e−8 dan kichik qiymatlar nolga aylanadi (underflow), 65504 dan kattasi cheksizlikka (overflow). Chuqur tarmoq gradientlari ko'pincha 1e−8…1e−5 oralig'ida bo'ladi va FP16'da yo'qoladi. BF16 esa FP32 bilan bir xil eksponentaga ega — diapazon muammosi yo'q, lekin aniqligi pastroq; amaliyotda bu o'qitish uchun yetarli bo'lib chiqdi, shuning uchun zamonaviy katta modellar deyarli faqat BF16'da o'qitiladi.</a:t>
            </a:r>
          </a:p>
          <a:p/>
          <a:p>
            <a:r>
              <a:t>Aralash aniqlik (mixed precision) o'qitish g'oyasi (Micikevicius va boshq., 2018): og'ir matritsa ko'paytmalari va konvolyutsiyalar FP16/BF16'da Tensor Core'da bajariladi, lekin og'irliklarning asosiy nusxasi (master weights) FP32'da saqlanadi va yangilanadi, shunda kichik gradient yangilanishlari yo'qolmaydi; yig'indilar (reduction), softmax, normalizatsiya kabi sezgir operatsiyalar FP32'da qoladi. FP16 uchun qo'shimcha mexanizm — yo'qotish masshtablash (loss scaling): yo'qotish funksiyasi katta songa (masalan, 2^16) ko'paytiriladi, gradientlar shu songa proporsional kattalashadi va FP16 diapazoniga sig'adi, og'irlik yangilashdan oldin esa qayta bo'linadi; dinamik masshtablash overflow aniqlanganda koeffitsientni kamaytiradi va bir necha yuz qadamdan so'ng yana oshiradi. BF16'da loss scaling odatda kerak emas. PyTorch'da bularning barchasi torch.autocast va torch.cuda.amp.GradScaler orqali avtomatlashtirilgan [7].</a:t>
            </a:r>
          </a:p>
          <a:p/>
          <a:p>
            <a:r>
              <a:t>Tensor Core'da FP16/BF16 matmul FP32'ga qaraganda nazariy 8–16 baravar tez (A100: 19,5 TFLOPS FP32 vs 312 TFLOPS FP16 Tensor Core), amaliy tezlashish esa butun o'qitish sikli uchun 1,5–3 baravar, chunki hamma operatsiya ham matmul emas va xotira trafigi ham chegaralaydi. TF32 esa «bepul» yaxshilanish: kod o'zgarmaydi, FP32 matmul avtomatik 10-bitli mantissa bilan Tensor Core'da bajariladi (PyTorch'da torch.backends.cuda.matmul.allow_tf32).</a:t>
            </a:r>
          </a:p>
          <a:p/>
          <a:p>
            <a:r>
              <a:t>FP8 — Hopper avlodidan boshlab o'qitish uchun ham ishlatilmoqda (Transformer Engine kutubxonasi): oldinga o'tishda E4M3, gradientlar uchun E5M2, har tensor uchun dinamik masshtab bilan. Bu Tensor Core unumdorligini yana ikki baravar oshiradi, lekin barqarorlik uchun ehtiyotkor sozlash talab qiladi.</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Kvantlash — uzluksiz (suzuvchi nuqtali) qiymatlarni chekli diskret to'plamga (odatda 8 yoki 4 bitli butun sonlar) akslantirish. Chiziqli (affine) kvantlash formulasi:</a:t>
            </a:r>
          </a:p>
          <a:p/>
          <a:p>
            <a:r>
              <a:t>q = clamp(round(x / s) + z, q_min, q_max), teskarisi x̂ = s · (q − z)</a:t>
            </a:r>
          </a:p>
          <a:p/>
          <a:p>
            <a:r>
              <a:t>bu yerda s — masshtab (scale, suzuvchi nuqtali), z — nol nuqta (zero point, butun son), [q_min, q_max] — INT8 uchun [−128, 127]. Simmetrik kvantlashda z = 0 va s = max|x| / 127; asimmetrik kvantlashda s = (x_max − x_min) / 255, z shunday tanlanadiki, haqiqiy nol aniq ifodalansin (bu ReLU'dan keyingi aktivatsiyalar uchun muhim — diapazonning yarmi isrof bo'lmaydi). Kvantlash xatosi |x − x̂| ≤ s/2 bilan chegaralangan; demak, masshtab qanchalik kichik (diapazon qanchalik tor) bo'lsa, xato shunchalik kam. Shu sababdan granularlik muhim: tensor bo'yicha (per-tensor) bitta masshtab, kanal bo'yicha (per-channel) har chiqish kanaliga alohida masshtab (og'irliklar uchun standart), guruh bo'yicha (per-group, masalan har 128 element) — INT4 og'irliklar uchun standart. Chiqib ketuvchi qiymatlar (outliers) kvantlashning asosiy dushmani: bitta katta qiymat masshtabni oshirib, qolgan barcha qiymatlarning aniqligini pasaytiradi.</a:t>
            </a:r>
          </a:p>
          <a:p/>
          <a:p>
            <a:r>
              <a:t>Kvantlash turlari:</a:t>
            </a:r>
          </a:p>
          <a:p/>
          <a:p>
            <a:r>
              <a:t>QAT'da oldinga o'tishda og'irlik va aktivatsiyalar kvantlanadi va qayta suzuvchi nuqtaga qaytariladi (soxta kvantlash), orqaga o'tishda esa round ning hosilasi nolga teng bo'lgani uchun «to'g'ridan-to'g'ri baholovchi» (straight-through estimator) ishlatiladi — gradient kvantlash operatsiyasidan o'zgarishsiz o'tadi. Natijada model kvantlash shovqiniga moslashadi. Og'irlik-faqat kvantlash LLM uchun ayniqsa samarali, chunki dekodlash xotira bilan chegaralangan: og'irlik baytlari 4 baravar kamaysa, token tezligi deyarli shuncha oshadi, hisoblash esa FP16'da qolgani uchun aniqlik yaxshi saqlanadi. GPTQ ikkinchi tartibli ma'lumot (Hessian) asosida kvantlash xatosini qolgan og'irliklarga taqsimlaydi; AWQ esa aktivatsiya kattaligiga qarab «muhim» og'irlik kanallarini masshtablab himoya qiladi.</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Pruning — ta'siri kam parametrlarni (og'irliklar, kanallar, boshlar, qatlamlar) olib tashlash. Eng oddiy mezon — kattalik (magnitude pruning): absolyut qiymati kichik og'irliklar nolga tenglashtiriladi. Lottery ticket gipotezasi (Frankle va Carbin, 2019) va ko'plab tajribalar shuni ko'rsatadiki, ko'p tarmoqlarda og'irliklarning 50–90 foizini aniqlikni deyarli yo'qotmasdan olib tashlash mumkin — agar pruning bosqichma-bosqich (iterativ) va qisqa qayta o'qitish (fine-tuning) bilan bajarilsa.</a:t>
            </a:r>
          </a:p>
          <a:p/>
          <a:p>
            <a:r>
              <a:t>Lekin bu yerda muhandis uchun hal qiluvchi nuqta bor: strukturlanmagan (unstructured) siyraklik — tasodifiy joylarda nol — umumiy maqsadli GPU'da tezlashish bermaydi. Zich matritsa ko'paytmasi kernellari nollarni ham ko'paytiradi; siyrak formatlar (CSR) esa indekslar yuki tufayli faqat 90–95 foizdan yuqori siyraklikda zich formatdan tezroq bo'ladi. Shuning uchun amaliyotda uch yo'l bor. Birinchisi — strukturlangan pruning: butun konvolyutsiya filtrlarini, kanallarni, attention boshlarini yoki qatlamlarni olib tashlash; natija — kichikroq zich model, har qanday apparatda tezlashadi. Ikkinchisi — 2:4 yarim strukturlangan siyraklik (Ampere va keyingi NVIDIA GPU'larda Sparse Tensor Core): har 4 ta ketma-ket og'irlikdan aynan 2 tasi nol; apparat buni siqilgan formatda saqlaydi va matmul'ni nazariy 2 baravar tezlashtiradi; aniqlik qayta o'qitish bilan odatda saqlanadi. Uchinchisi — strukturlanmagan siyraklikni faqat model hajmini kichraytirish (siqilgan saqlash) yoki siyraklikni qo'llab-quvvatlaydigan maxsus apparat/CPU kutubxonalari (masalan, DeepSparse) uchun ishlatish.</a:t>
            </a:r>
          </a:p>
          <a:p/>
          <a:p>
            <a:r>
              <a:t>Pruning darajasini baholashda uchta ko'rsatkich: parametrlar ulushi (hajm), FLOP ulushi (hisoblash) va o'lchangan kechikish (haqiqiy tezlik). Bular bir-biriga mos kelmasligi mumkin: kanallarning 50 foizini olib tashlash FLOP'ni 75 foizga kamaytiradi (ikki o'lcham ham qisqaradi), lekin xotira bilan chegaralangan qatlamlarda kechikish deyarli o'zgarmasligi mumkin.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Bilim distillyatsiyasi (Hinton, Vinyals, Dean, 2015) katta, aniq «o'qituvchi» modelning xulq-atvorini kichik «o'quvchi» modelga o'rgatadi. Asosiy kuzatuv: o'qituvchining yumshoq ehtimollik taqsimoti (soft targets) qattiq yorliqdan (hard label) ko'proq ma'lumot beradi — «bu rasm 90 foiz it, 7 foiz bo'ri, 0,01 foiz mashina» degan taqsimot sinflar orasidagi o'xshashlikni ifodalaydi. Yumshoq taqsimotni «yoyish» uchun harorat (temperature) T kiritiladi: p_i = exp(z_i / T) / Σ_j exp(z_j / T). T = 1 oddiy softmax; T = 4…10 kichik ehtimolliklarni kattalashtiradi va «qorong'u bilim»ni (dark knowledge) ochadi. Yo'qotish funksiyasi:</a:t>
            </a:r>
          </a:p>
          <a:p/>
          <a:p>
            <a:r>
              <a:t>L = α · T² · KL(p_teacher(T) ‖ p_student(T)) + (1 − α) · CE(y, p_student(1))</a:t>
            </a:r>
          </a:p>
          <a:p/>
          <a:p>
            <a:r>
              <a:t>bu yerda T² ko'paytuvchi gradient kattaligini kompensatsiya qiladi, α (odatda 0,5–0,9) ikki hadning muvozanati. Distillyatsiya turlari: javob asosida (logitlar), xususiyat asosida (oraliq qatlamlar — FitNets, TinyBERT), munosabat asosida (namunalar orasidagi masofalar). Mashhur natijalar: DistilBERT — BERT-base'dan 40 foiz kichik, 60 foiz tezroq, sifatning 97 foizini saqlaydi; zamonaviy kichik til modellari ham ko'pincha katta modellar chiqishi (sintetik ma'lumot) asosida o'qitiladi — bu ham distillyatsiyaning bir shakli. Distillyatsiya pruning va kvantlash bilan yaxshi birlashadi: kvantlangan yoki siyraklashtirilgan o'quvchini o'qituvchiga nisbatan qayta o'qitish aniqlikni tiklaydi.</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Yuqoridagi usullar modelni o'zgartiradi; kernel darajasidagi optimallashtirish esa bir xil modelni apparatda samaraliroq bajaradi. Asosiy vositalar: operator fusion — bir nechta elementli operatsiyani (bias + aktivatsiya + residual) bitta kernelga birlashtirish, xotira trafigini kamaytirish (M5); torch.compile (TorchInductor, Triton tiliga kompilyatsiya) — PyTorch grafini tahlil qilib, fusion va kernel generatsiyasini avtomatlashtiradi, odatda 1,2–2 baravar tezlashish; CUDA Graphs — kernel ishga tushirish ketma-ketligini bir marta yozib olib, keyin bitta buyruq bilan takrorlash, kichik modellarda CPU yukini keskin kamaytiradi; TensorRT — graf optimallashtirish, kernel avtomatik tanlash (autotuning), FP16/INT8 kalibrlash; FlashAttention va PagedAttention (vLLM) — attention va KV-kesh uchun maxsus kernellar; konstant buklash (constant folding), BatchNorm'ni konvolyutsiyaga «eritish» (BN folding) — inferensda qatlamlar sonini kamaytiradi.</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Energiya samaradorligi ko'rsatkichi — inferens boshiga joul (J/inferens) yoki o'qitish uchun jami kVt·soat. U quvvat (Vt) va vaqtning ko'paytmasi, shuning uchun tezlashtirishning o'zi energiya tejaydi (quvvat deyarli bir xil qolib, vaqt qisqaradi). Qo'shimcha dastaklar: past aniqlik (arifmetik va xotira energiyasi bitlar soniga proporsional yoki undan tez kamayadi), GPU quvvat chegarasi (nvidia-smi -pl) — H100'ni 700 dan 400 Vt'ga tushirish unumdorlikni 10–15 foizgina kamaytiradi, J/inferens esa yaxshilanadi; to'plash (batching) — statik quvvat ko'proq ish ustida taqsimlanadi; «to'g'ri o'lchamli» model — vazifaga keragidan katta modelni ishlatmaslik, bu eng katta tejamkorlik manbai. Umumiy strategiya: avval o'lchash (profil, roofline — M10), keyin eng katta tiqilish nuqtasini bartaraf etish, har qadamda aniqlikni maqsadli to'plamda qayta tekshirish.</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Misol ResNet-18 (CIFAR-10 o'lchamiga moslangan) va kichik transformer qatlamini ishlatib, to'rtta usulni bitta skript zanjirida ko'rsatadi: AMP o'qitish, dinamik va statik kvantlash, strukturlanmagan va 2:4 pruning, distillyatsiya; har bosqichda hajm, kechikish va aniqlik o'lchanadi. GPU (A100/T4/RTX) bilan to'liq, CPU'da kvantlash va pruning qismlari ishlaydi. PyTorch 2.4+, torchvision, torchao (ixtiyoriy). Raqamlar taxminiy.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Nima bo'ldi va nega: ResNet-18 CIFAR uchun moslandi (birinchi konvolyutsiya 3×3, maxpool olib tashlandi — 32×32 rasm uchun standart). Uchta o'lchov funksiyasi aniqlandi: aniqlik, batch=1 kechikish (isitish va sinxronizatsiya bilan — M5'dagi qoidalar) va diskdagi hajm. Keyingi har bir usul shu uchta ko'rsatkich bo'yicha baholanadi — optimallashtirishda «o'lchamasdan o'zgartirma» tamoyili.</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Nima bo'ldi va nega: torch.autocast konteksti ichida PyTorch har operatsiya uchun ruxsat etilgan aniqlikni tanlaydi: konvolyutsiya va matmul BF16/FP16'da, softmax, yo'qotish, normalizatsiya yig'indilari FP32'da. Og'irliklar FP32'da qoladi (master weights) — opt.step FP32'da bajariladi. GradScaler faqat FP16 uchun yoqildi: u yo'qotishni dinamik koeffitsientga ko'paytiradi, overflow bo'lsa qadamni o'tkazib yuborib koeffitsientni ikki baravar kamaytiradi. Taxminiy natija (A100, 5 davr): FP32 ≈ 150 s, 3,1 GB; AMP-BF16 ≈ 70 s, 1,8 GB; AMP-FP16 ≈ 68 s, 1,8 GB; aniqlik uchalasida ≈ 0,90–0,91 (farq shovqin darajasida). T4'da (BF16 yo'q) FP16 varianti ishlatiladi, tezlashish ~1,8 baravar. Xotira tejashning asosiy manbai — aktivatsiyalar 16 bitda saqlanishi.</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Nima bo'ldi va nega: dinamik kvantlashda og'irliklar INT8'ga oldindan o'tkazildi, aktivatsiyalar esa har chaqiruvda diapazoni o'lchanib kvantlanadi — kalibrlash kerak emas, lekin ResNet'da Linear bitta bo'lgani uchun ta'siri kichik (bu usul transformer va LSTM uchun kuchli). Statik kvantlashda prepare_fx grafga kuzatuvchilar (observers) qo'ydi va Conv+BN+ReLU'ni bitta modulga birlashtirdi; kalibrlash paytida kuzatuvchilar aktivatsiya gistogrammasini to'pladi; convert_fx har tensor uchun masshtab/nol nuqta hisoblab, INT8 kernellarga almashtirdi. Taxminiy natija (8 yadroli x86, VNNI bilan): FP32 — acc 0,905, 4,5 ms, 44,8 MB; dinamik — acc 0,905, 4,4 ms, 44,7 MB; statik — acc 0,897–0,902, 1,6 ms, 11,3 MB. Hajm 4 baravar, tezlik ~2,8 baravar, aniqlik yo'qotish 0,3–0,8 foiz punkt. Agar aniqlik keskin tushsa — kalibrlash to'plami yoki outlier'li qatlam (odatda birinchi/oxirgi) sabab; bunday qatlamni FP32'da qoldirish (qconfig=None) yoki QAT yordam beradi.</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Nima bo'ldi va nega: (a) global magnitude pruning barcha konvolyutsiyalar bo'ylab eng kichik 70 foiz og'irlikni nolladi; qayta o'qitishsiz aniqlik ~0,905 dan ~0,6–0,8 ga tushadi, 2 davr fine-tune'dan keyin ~0,89–0,90 ga qaytadi. Lekin kechikish o'zgarmaydi (zich kernel nollarni ham hisoblaydi) — bu strukturlanmagan siyraklikning asosiy cheklovi; foyda faqat siqilgan saqlashda (zip qilinganda hajm ~3 baravar kichik). (b) strukturlangan pruning kanallarni nollaydi; haqiqiy tezlashish uchun ularni fizik olib tashlab, keyingi qatlam kirishini ham qisqartirish kerak — shunda FLOP ~50 foiz kamayadi va kechikish GPU'da 1,3–1,6, CPU'da 1,5–1,9 baravar yaxshilanadi (taxminiy). (c) 2:4 siyraklikda A100'da 4096×4096 FP16 Linear uchun kechikish ~1,5–1,8 baravar kamayadi (nazariy 2, amaliy kamroq — kichik batch'da xotira chegarasi); og'irlik xotirasi ham deyarli ikki baravar kam. Bu — apparat qo'llab-quvvatlaydigan yagona «arzon» siyraklik.</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Nima bo'ldi va nega: o'quvchi — 0,1 million parametrli uch blokli CNN (o'qituvchidan ~100 baravar kichik). Yo'qotish ikki haddan iborat: harorat T=4 bilan yumshatilgan o'qituvchi taqsimotiga KL-divergensiya (T² ga ko'paytirilgan) va oddiy kross-entropiya. Taxminiy natija: o'qituvchi acc 0,905, 44,8 MB, 2,1 ms (GPU, batch=1); o'quvchi faqat yorliq bilan 0,82–0,84; o'quvchi KD bilan 0,86–0,88, 0,4 MB, 0,5 ms. Ya'ni distillyatsiya bir xil o'quvchi arxitekturasiga 3–4 foiz punkt qo'shdi — bu «qorong'u bilim»ning amaliy qiymati. alpha va T ni validatsiyada tanlash kerak; juda katta T taqsimotni deyarli tekis qilib, signalni yo'qotadi.</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Nima bo'ldi va nega: torch.compile grafni tahlil qilib, BN'ni konvolyutsiyaga eritdi, elementli operatsiyalarni birlashtirdi va Triton kernellarini avtomatik sozladi; max-autotune rejimi bir necha daqiqa kompilyatsiya oladi, lekin eng tez kernellarni tanlaydi. Taxminiy natija (A100, batch=64, FP16): eager ~3,2 ms, compiled ~1,9 ms (1,6–1,7 baravar). Birinchi chaqiruvlar sekin — ishlab chiqarishda isitish yoki keshlangan kompilyatsiya artefaktlari ishlatiladi. Butun zanjir natijalari (taxminiy, A100 va 8 yadroli x86):</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Kod to‘liq holda mavzu matnida va laboratoriya repozitoriysida keltirilgan.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Jadval optimallashtirish usullarining «bepul» emasligini va bir-birini to'ldirishini ko'rsatadi. Aralash aniqlik — eng arzon yutuq: o'qitishni 2 baravar tezlashtiradi, xotirani deyarli ikki baravar tejaydi va aniqlikka ta'sir qilmaydi; zamonaviy GPU'da uni ishlatmaslik uchun jiddiy sabab yo'q. BF16 va FP16 tanlovi apparatga bog'liq: Ampere va undan yangi — BF16 (loss scaling'siz, barqaror), eski GPU — FP16 + GradScaler.</a:t>
            </a:r>
          </a:p>
          <a:p/>
          <a:p>
            <a:r>
              <a:t>Statik INT8 kvantlash CPU va chekka qurilma uchun eng kuchli vosita: 4 baravar hajm va ~3 baravar tezlik, aniqlik yo'qotish bir foiz punktdan kam; narxi — kalibrlash to'plami va FX graf rejimining ba'zi modellar bilan mos kelmasligi (dinamik boshqaruv oqimi). GPU'da INT8 yutuq TensorRT orqali olinadi (A3 mavzusi). LLM uchun esa og'irlik-faqat INT4 (AWQ/GPTQ) standart bo'lib qoldi — dekodlash xotira bilan chegaralangani uchun (M5) u 2–3 baravar token tezligi beradi.</a:t>
            </a:r>
          </a:p>
          <a:p/>
          <a:p>
            <a:r>
              <a:t>Pruning natijalari eng ko'p noto'g'ri tushuniladigan qism: 70 foiz siyraklik ta'sirli ko'rinadi, lekin umumiy GPU'da kechikish o'zgarmadi. Haqiqiy tezlik faqat strukturlangan (fizik olib tashlangan kanallar) yoki apparat qo'llab-quvvatlaydigan 2:4 siyraklikdan keladi. Shuning uchun pruning rejasini apparat bilan birga tuzish kerak — bu apparat-dastur birgalikdagi loyihalash (TN2) ning yorqin misoli.</a:t>
            </a:r>
          </a:p>
          <a:p/>
          <a:p>
            <a:r>
              <a:t>Distillyatsiya esa aniqlik–hajm chegarasini siljitadi: bir xil kichik arxitektura KD bilan 3–4 foiz punkt yaxshiroq; va u boshqa usullar bilan ketma-ket qo'llaniladi (KD → INT8 — jadvaldagi oxirgi qator — chekka qurilma uchun 0,12 MB model). Kernel darajasidagi torch.compile modelni o'zgartirmasdan 1,5–2 baravar beradi, lekin kompilyatsiya vaqti va dinamik shakllar bilan murakkablik qo'shadi.</a:t>
            </a:r>
          </a:p>
          <a:p/>
          <a:p>
            <a:r>
              <a:t>Cheklovlar: CIFAR-10 kichik vazifa — katta modellarda nisbatlar farq qiladi (masalan, transformerlarda aktivatsiya outlier'lari INT8 statik kvantlashni qiyinlashtiradi, SmoothQuant kabi usullar kerak bo'ladi); kechikish batch=1 da o'lchandi, throughput tahlili boshqa xulosalar berishi mumkin; energiya to'g'ridan-to'g'ri o'lchanmadi — nvidia-smi quvvat o'qishi yoki tashqi o'lchagich bilan J/inferens hisoblash tavsiya etiladi. Muqobil vositalar: torchao (yangi PyTorch kvantlash API'si, INT4/FP8), NVIDIA TensorRT Model Optimizer, Intel Neural Compressor, ONNX Runtime kvantlash vositalari, Hugging Face Optimum, bitsandbytes (NF4), AutoAWQ/AutoGPTQ, torch-pruning (strukturlangan pruning avtomatlashtirish).</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FP16'da GradScaler'siz o'qitish. Gradientlar underflow bo'lib, yo'qotish NaN yoki o'rganish to'xtaydi. FP16 — har doim GradScaler bilan; imkon bo'lsa BF16 ishlating. NaN paydo bo'lsa, torch.autograd.detect_anomaly emas, avval masshtab va yo'qotish qiymatlarini jurnalga yozing.</a:t>
            </a:r>
          </a:p>
          <a:p/>
          <a:p>
            <a:r>
              <a:t>Autocast ichida sezgir operatsiyalarni qo'lda past aniqlikka o'tkazish. model.half() butun modelni FP16 qiladi — BatchNorm statistikasi va yig'indilar buziladi. O'qitishda autocast ishlating, half() faqat inferens va faqat tekshirilgan modellar uchun.</a:t>
            </a:r>
          </a:p>
          <a:p/>
          <a:p>
            <a:r>
              <a:t>Kalibrlashsiz yoki vakillik qilmaydigan kalibrlash bilan statik kvantlash. Aniqlik keskin tushadi. Validatsiyadan 200–1000 ta tasodifiy, to'liq oldindan qayta ishlangan namuna; kvantlashdan keyin maqsadli to'plamda qayta o'lchash majburiy.</a:t>
            </a:r>
          </a:p>
          <a:p/>
          <a:p>
            <a:r>
              <a:t>Per-tensor og'irlik kvantlash. Kanallar orasida diapazon farqi katta bo'lsa (ayniqsa depthwise konvolyutsiyalarda), per-tensor masshtab aniqlikni buzadi. Og'irliklar uchun per-channel standart; INT4 uchun per-group (64–128).</a:t>
            </a:r>
          </a:p>
          <a:p/>
          <a:p>
            <a:r>
              <a:t>Strukturlanmagan pruning'dan tezlik kutish. Umumiy GPU/CPU'da nollar hisoblanadi. Tezlik kerak bo'lsa — strukturlangan pruning (fizik qayta qurish bilan) yoki 2:4; hajm kerak bo'lsa — siqilgan saqlash.</a:t>
            </a:r>
          </a:p>
          <a:p/>
          <a:p>
            <a:r>
              <a:t>Pruning'ni bir qadamda yuqori darajaga olib borish. 90 foizni bir urinishda olib tashlash aniqlikni tiklab bo'lmas darajada buzadi. Iterativ: 20–30 foiz → fine-tune → yana, har qadamda baholash.</a:t>
            </a:r>
          </a:p>
          <a:p/>
          <a:p>
            <a:r>
              <a:t>Distillyatsiyada noto'g'ri harorat va o'qituvchi. T juda past — yumshoq taqsimot foydasi yo'q; juda yuqori — signal yo'qoladi; T=2…6 dan boshlang. O'qituvchi o'quvchidan haddan tashqari katta bo'lsa, «sig'im bo'shlig'i» tufayli KD samarasi kamayadi — oraliq «yordamchi o'qituvchi» yordam beradi.</a:t>
            </a:r>
          </a:p>
          <a:p/>
          <a:p>
            <a:r>
              <a:t>Faqat FLOP yoki parametr sonini hisobot qilish. Bu ko'rsatkichlar kechikish va energiyani to'g'ri bashorat qilmaydi (M5 roofline). Har doim maqsadli apparatda median va p99 kechikish, throughput va imkon bo'lsa J/inferens o'lchang.</a:t>
            </a:r>
          </a:p>
          <a:p/>
          <a:p>
            <a:r>
              <a:t>torch.compile bilan dinamik shakllar. Har yangi kirish shakli qayta kompilyatsiyani keltirib chiqaradi va ishlab chiqarishda kechikish sakrashlari beradi. dynamic=True yoki shakllarni chegaralangan to'plamga keltirish (padding, bucketing).</a:t>
            </a:r>
          </a:p>
          <a:p/>
          <a:p>
            <a:r>
              <a:t>Optimallashtirilgan modelni qayta tekshirmaslik. Kvantlash va pruning sinflar bo'yicha notekis ta'sir qilishi mumkin: umumiy aniqlik saqlanadi, lekin kam uchraydigan sinf yoki guruh aniqligi tushadi (adolatlilik — M14). Sinf va guruh bo'yicha metrikalarni solishtiring.</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FP16'da GradScaler'siz o'qitish. Gradientlar underflow bo'lib, yo'qotish NaN yoki o'rganish to'xtaydi. FP16 — har doim GradScaler bilan; imkon bo'lsa BF16 ishlating. NaN paydo bo'lsa, torch.autograd.detect_anomaly emas, avval masshtab va yo'qotish qiymatlarini jurnalga yozing.</a:t>
            </a:r>
          </a:p>
          <a:p/>
          <a:p>
            <a:r>
              <a:t>Autocast ichida sezgir operatsiyalarni qo'lda past aniqlikka o'tkazish. model.half() butun modelni FP16 qiladi — BatchNorm statistikasi va yig'indilar buziladi. O'qitishda autocast ishlating, half() faqat inferens va faqat tekshirilgan modellar uchun.</a:t>
            </a:r>
          </a:p>
          <a:p/>
          <a:p>
            <a:r>
              <a:t>Kalibrlashsiz yoki vakillik qilmaydigan kalibrlash bilan statik kvantlash. Aniqlik keskin tushadi. Validatsiyadan 200–1000 ta tasodifiy, to'liq oldindan qayta ishlangan namuna; kvantlashdan keyin maqsadli to'plamda qayta o'lchash majburiy.</a:t>
            </a:r>
          </a:p>
          <a:p/>
          <a:p>
            <a:r>
              <a:t>Per-tensor og'irlik kvantlash. Kanallar orasida diapazon farqi katta bo'lsa (ayniqsa depthwise konvolyutsiyalarda), per-tensor masshtab aniqlikni buzadi. Og'irliklar uchun per-channel standart; INT4 uchun per-group (64–128).</a:t>
            </a:r>
          </a:p>
          <a:p/>
          <a:p>
            <a:r>
              <a:t>Strukturlanmagan pruning'dan tezlik kutish. Umumiy GPU/CPU'da nollar hisoblanadi. Tezlik kerak bo'lsa — strukturlangan pruning (fizik qayta qurish bilan) yoki 2:4; hajm kerak bo'lsa — siqilgan saqlash.</a:t>
            </a:r>
          </a:p>
          <a:p/>
          <a:p>
            <a:r>
              <a:t>Pruning'ni bir qadamda yuqori darajaga olib borish. 90 foizni bir urinishda olib tashlash aniqlikni tiklab bo'lmas darajada buzadi. Iterativ: 20–30 foiz → fine-tune → yana, har qadamda baholash.</a:t>
            </a:r>
          </a:p>
          <a:p/>
          <a:p>
            <a:r>
              <a:t>Distillyatsiyada noto'g'ri harorat va o'qituvchi. T juda past — yumshoq taqsimot foydasi yo'q; juda yuqori — signal yo'qoladi; T=2…6 dan boshlang. O'qituvchi o'quvchidan haddan tashqari katta bo'lsa, «sig'im bo'shlig'i» tufayli KD samarasi kamayadi — oraliq «yordamchi o'qituvchi» yordam beradi.</a:t>
            </a:r>
          </a:p>
          <a:p/>
          <a:p>
            <a:r>
              <a:t>Faqat FLOP yoki parametr sonini hisobot qilish. Bu ko'rsatkichlar kechikish va energiyani to'g'ri bashorat qilmaydi (M5 roofline). Har doim maqsadli apparatda median va p99 kechikish, throughput va imkon bo'lsa J/inferens o'lchang.</a:t>
            </a:r>
          </a:p>
          <a:p/>
          <a:p>
            <a:r>
              <a:t>torch.compile bilan dinamik shakllar. Har yangi kirish shakli qayta kompilyatsiyani keltirib chiqaradi va ishlab chiqarishda kechikish sakrashlari beradi. dynamic=True yoki shakllarni chegaralangan to'plamga keltirish (padding, bucketing).</a:t>
            </a:r>
          </a:p>
          <a:p/>
          <a:p>
            <a:r>
              <a:t>Optimallashtirilgan modelni qayta tekshirmaslik. Kvantlash va pruning sinflar bo'yicha notekis ta'sir qilishi mumkin: umumiy aniqlik saqlanadi, lekin kam uchraydigan sinf yoki guruh aniqligi tushadi (adolatlilik — M14). Sinf va guruh bo'yicha metrikalarni solishtiring.</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BF16 FP16'dan kamroq mantissa bitiga ega bo'lsa-da, nima uchun katta modellarni o'qitishda afzal ko'riladi? Qaysi holatlarda FP16 yaxshiroq bo'lishi mumkin?</a:t>
            </a:r>
          </a:p>
          <a:p/>
          <a:p>
            <a:r>
              <a:t>Loss scaling nima uchun kerak va dinamik masshtablash qanday ishlaydi? Masshtab koeffitsienti juda katta yoki juda kichik bo'lsa, qanday belgilar kuzatiladi?</a:t>
            </a:r>
          </a:p>
          <a:p/>
          <a:p>
            <a:r>
              <a:t>Asimmetrik kvantlash ReLU'dan keyingi aktivatsiyalar uchun nega simmetrikdan samaraliroq? Per-channel masshtab per-tensor'dan qanday afzallik beradi va qanday narxi bor?</a:t>
            </a:r>
          </a:p>
          <a:p/>
          <a:p>
            <a:r>
              <a:t>LLM dekodlashda og'irlik-faqat INT4 kvantlash nega W8A8 (og'irlik va aktivatsiya 8 bit) dan ko'ra ko'proq token tezligi berishi mumkin, garchi arifmetika FP16'da bajarilsa? M5'dagi arifmetik intensivlik bilan asoslang. Qaysi holatda W8A8 yoki FP8 afzal?</a:t>
            </a:r>
          </a:p>
          <a:p/>
          <a:p>
            <a:r>
              <a:t>Strukturlanmagan 90 foiz siyraklik umumiy GPU'da nima uchun tezlashish bermaydi? 2:4 siyraklik apparatda qanday amalga oshirilgan va nega aynan 2:4?</a:t>
            </a:r>
          </a:p>
          <a:p/>
          <a:p>
            <a:r>
              <a:t>Strukturlangan pruning'da kanallarning 50 foizini olib tashlash FLOP'ni taxminan 75 foizga kamaytiradi. Nega? Qaysi qatlamlarda kechikish shunga mos kamaymaydi?</a:t>
            </a:r>
          </a:p>
          <a:p/>
          <a:p>
            <a:r>
              <a:t>Distillyatsiya yo'qotishidagi T² ko'paytuvchi nima uchun kerak? alpha=1 (faqat o'qituvchi) va alpha=0 (faqat yorliq) holatlarining har biri qachon oqilona?</a:t>
            </a:r>
          </a:p>
          <a:p/>
          <a:p>
            <a:r>
              <a:t>Kvantlash, pruning va distillyatsiyani qanday tartibda qo'llash kerak va nega? Kamida ikkita stsenariy (chekka CNN, bulutli LLM) uchun rejani asoslang.</a:t>
            </a:r>
          </a:p>
          <a:p/>
          <a:p>
            <a:r>
              <a:t>GPU quvvat chegarasini 700 dan 400 Vt'ga tushirish unumdorlikni ozgina kamaytirsa-da, J/inferens'ni yaxshilaydi. Buning fizik sababi nima va bu usul qachon o'zini oqlamaydi?</a:t>
            </a:r>
          </a:p>
          <a:p/>
          <a:p>
            <a:r>
              <a:t>Optimallashtirilgan model umumiy aniqlikni saqlagan, lekin bitta sinfda aniqlik 10 foiz punktga tushgan. Buni qanday aniqlaysiz, sabab nima bo'lishi mumkin va qanday tuzatasiz?</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BF16 FP16'dan kamroq mantissa bitiga ega bo'lsa-da, nima uchun katta modellarni o'qitishda afzal ko'riladi? Qaysi holatlarda FP16 yaxshiroq bo'lishi mumkin?</a:t>
            </a:r>
          </a:p>
          <a:p/>
          <a:p>
            <a:r>
              <a:t>Loss scaling nima uchun kerak va dinamik masshtablash qanday ishlaydi? Masshtab koeffitsienti juda katta yoki juda kichik bo'lsa, qanday belgilar kuzatiladi?</a:t>
            </a:r>
          </a:p>
          <a:p/>
          <a:p>
            <a:r>
              <a:t>Asimmetrik kvantlash ReLU'dan keyingi aktivatsiyalar uchun nega simmetrikdan samaraliroq? Per-channel masshtab per-tensor'dan qanday afzallik beradi va qanday narxi bor?</a:t>
            </a:r>
          </a:p>
          <a:p/>
          <a:p>
            <a:r>
              <a:t>LLM dekodlashda og'irlik-faqat INT4 kvantlash nega W8A8 (og'irlik va aktivatsiya 8 bit) dan ko'ra ko'proq token tezligi berishi mumkin, garchi arifmetika FP16'da bajarilsa? M5'dagi arifmetik intensivlik bilan asoslang. Qaysi holatda W8A8 yoki FP8 afzal?</a:t>
            </a:r>
          </a:p>
          <a:p/>
          <a:p>
            <a:r>
              <a:t>Strukturlanmagan 90 foiz siyraklik umumiy GPU'da nima uchun tezlashish bermaydi? 2:4 siyraklik apparatda qanday amalga oshirilgan va nega aynan 2:4?</a:t>
            </a:r>
          </a:p>
          <a:p/>
          <a:p>
            <a:r>
              <a:t>Strukturlangan pruning'da kanallarning 50 foizini olib tashlash FLOP'ni taxminan 75 foizga kamaytiradi. Nega? Qaysi qatlamlarda kechikish shunga mos kamaymaydi?</a:t>
            </a:r>
          </a:p>
          <a:p/>
          <a:p>
            <a:r>
              <a:t>Distillyatsiya yo'qotishidagi T² ko'paytuvchi nima uchun kerak? alpha=1 (faqat o'qituvchi) va alpha=0 (faqat yorliq) holatlarining har biri qachon oqilona?</a:t>
            </a:r>
          </a:p>
          <a:p/>
          <a:p>
            <a:r>
              <a:t>Kvantlash, pruning va distillyatsiyani qanday tartibda qo'llash kerak va nega? Kamida ikkita stsenariy (chekka CNN, bulutli LLM) uchun rejani asoslang.</a:t>
            </a:r>
          </a:p>
          <a:p/>
          <a:p>
            <a:r>
              <a:t>GPU quvvat chegarasini 700 dan 400 Vt'ga tushirish unumdorlikni ozgina kamaytirsa-da, J/inferens'ni yaxshilaydi. Buning fizik sababi nima va bu usul qachon o'zini oqlamaydi?</a:t>
            </a:r>
          </a:p>
          <a:p/>
          <a:p>
            <a:r>
              <a:t>Optimallashtirilgan model umumiy aniqlikni saqlagan, lekin bitta sinfda aniqlik 10 foiz punktga tushgan. Buni qanday aniqlaysiz, sabab nima bo'lishi mumkin va qanday tuzatasiz?</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Topshiriq 1 (individual, sillabusdagi 2-mustaqil ta'lim topshirig'iga mos). Optimallashtirish zanjiri hisoboti. O'zingiz tanlagan modelni (CNN yoki kichik transformer) kamida uchta usul bilan — AMP (o'qitishda), statik yoki dinamik INT8 kvantlash, hamda pruning yoki distillyatsiya — ketma-ket optimallashtiring; har bosqichda aniqlik (umumiy va sinf bo'yicha), hajm, median va p99 kechikish, throughput, imkon bo'lsa J/inferens (nvidia-smi yoki tashqi o'lchagich) ni jadvalda keltiring; yakuniy modelni ONNX Runtime yoki TensorRT'da ham o'lchab, PyTorch eager bilan solishtiring. Har bir usul nega va qancha yutuq berganini roofline (M5) nuqtai nazaridan tushuntiring.</a:t>
            </a:r>
          </a:p>
          <a:p/>
          <a:p>
            <a:r>
              <a:t>Baholash mezoni: usullarning to'g'ri qo'llanishi — loss scaling, kalibrlash, per-channel, iterativ pruning, harorat tanlovi (30 %); o'lchov metodikasi va taxminiylikni ko'rsatish (25 %); natijalar jadvali va tahlil, sinf bo'yicha tekshiruv (30 %); cheklovlar va keyingi qadamlar (15 %).</a:t>
            </a:r>
          </a:p>
          <a:p/>
          <a:p>
            <a:r>
              <a:t>Topshiriq 2 (juftlikda). LLM og'irlik-faqat kvantlash. 1–3 milliard parametrli ochiq til modelini FP16, INT8 va INT4 (AWQ yoki GPTQ, yoki bitsandbytes NF4) variantlarida yuklang; xotira sarfi, token/s (batch=1 va batch=16), va sifat (perplexity yoki kichik baholash to'plami) ni o'lchang; natijalarni M5'dagi xotira o'tkazuvchanligi chegarasi bilan solishtiring va qaysi variant qaysi joylash stsenariysiga mos ekanini asoslang. Mezon: o'lchovlar to'liqligi (40 %), nazariy talqin (35 %), hisobot sifati (25 %).</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Hennessy, J. L., &amp; Patterson, D. A. Computer Architecture: A Quantitative Approach. 7th Edition. Morgan Kaufmann, 2024. — sonli formatlar va DSA boblari.</a:t>
            </a:r>
          </a:p>
          <a:p/>
          <a:p>
            <a:r>
              <a:t>[4] Sze, V., Chen, Y.-H., Yang, T.-J., &amp; Emer, J. S. Efficient Processing of Deep Neural Networks: A Tutorial and Survey. Morgan &amp; Claypool Publishers, 2020. — 7–9-boblar (aniqlikni kamaytirish, siyraklik, siqish).</a:t>
            </a:r>
          </a:p>
          <a:p/>
          <a:p>
            <a:r>
              <a:t>[5] Kirk, D. B., &amp; Hwu, W.-M. W. Programming Massively Parallel Processors: A Hands-on Approach. 4th Edition. Morgan Kaufmann, 2022. — suzuvchi nuqtali arifmetika va kernel optimallashtirish boblari.</a:t>
            </a:r>
          </a:p>
          <a:p/>
          <a:p>
            <a:r>
              <a:t>[6] NVIDIA Developer Portal — Mixed Precision Training Guide, TensorRT, Sparse Tensor Core (2:4), Transformer Engine (FP8) hujjatlari, https://developer.nvidia.com</a:t>
            </a:r>
          </a:p>
          <a:p/>
          <a:p>
            <a:r>
              <a:t>[7] PyTorch rasmiy hujjatlari — Automatic Mixed Precision (torch.autocast, GradScaler), Quantization (eager/FX, torchao), torch.nn.utils.prune, torch.compile, https://pytorch.org</a:t>
            </a:r>
          </a:p>
          <a:p/>
          <a:p>
            <a:r>
              <a:t>[10] ONNX rasmiy sayti — ONNX Runtime kvantlash hujjatlari, https://onnx.ai</a:t>
            </a:r>
          </a:p>
          <a:p/>
          <a:p>
            <a:r>
              <a:t>Micikevicius, P., Narang, S., Alben, J., et al. Mixed Precision Training. ICLR 2018.</a:t>
            </a:r>
          </a:p>
          <a:p/>
          <a:p>
            <a:r>
              <a:t>Jacob, B., Kligys, S., Chen, B., et al. Quantization and Training of Neural Networks for Efficient Integer-Arithmetic-Only Inference. CVPR 2018.</a:t>
            </a:r>
          </a:p>
          <a:p/>
          <a:p>
            <a:r>
              <a:t>Hinton, G., Vinyals, O., &amp; Dean, J. Distilling the Knowledge in a Neural Network. NIPS 2014 Deep Learning Workshop, arXiv:1503.02531.</a:t>
            </a:r>
          </a:p>
          <a:p/>
          <a:p>
            <a:r>
              <a:t>Frankle, J., &amp; Carbin, M. The Lottery Ticket Hypothesis: Finding Sparse, Trainable Neural Networks. ICLR 2019.</a:t>
            </a:r>
          </a:p>
          <a:p/>
          <a:p>
            <a:r>
              <a:t>Horowitz, M. Computing's Energy Problem (and what we can do about it). IEEE ISSCC 2014.</a:t>
            </a:r>
          </a:p>
          <a:p/>
          <a:p>
            <a:r>
              <a:t>Frantar, E., Ashkboos, S., Hoefler, T., &amp; Alistarh, D. GPTQ: Accurate Post-Training Quantization for Generative Pre-trained Transformers. ICLR 2023.</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Hennessy, J. L., &amp; Patterson, D. A. Computer Architecture: A Quantitative Approach. 7th Edition. Morgan Kaufmann, 2024. — sonli formatlar va DSA boblari.</a:t>
            </a:r>
          </a:p>
          <a:p/>
          <a:p>
            <a:r>
              <a:t>[4] Sze, V., Chen, Y.-H., Yang, T.-J., &amp; Emer, J. S. Efficient Processing of Deep Neural Networks: A Tutorial and Survey. Morgan &amp; Claypool Publishers, 2020. — 7–9-boblar (aniqlikni kamaytirish, siyraklik, siqish).</a:t>
            </a:r>
          </a:p>
          <a:p/>
          <a:p>
            <a:r>
              <a:t>[5] Kirk, D. B., &amp; Hwu, W.-M. W. Programming Massively Parallel Processors: A Hands-on Approach. 4th Edition. Morgan Kaufmann, 2022. — suzuvchi nuqtali arifmetika va kernel optimallashtirish boblari.</a:t>
            </a:r>
          </a:p>
          <a:p/>
          <a:p>
            <a:r>
              <a:t>[6] NVIDIA Developer Portal — Mixed Precision Training Guide, TensorRT, Sparse Tensor Core (2:4), Transformer Engine (FP8) hujjatlari, https://developer.nvidia.com</a:t>
            </a:r>
          </a:p>
          <a:p/>
          <a:p>
            <a:r>
              <a:t>[7] PyTorch rasmiy hujjatlari — Automatic Mixed Precision (torch.autocast, GradScaler), Quantization (eager/FX, torchao), torch.nn.utils.prune, torch.compile, https://pytorch.org</a:t>
            </a:r>
          </a:p>
          <a:p/>
          <a:p>
            <a:r>
              <a:t>[10] ONNX rasmiy sayti — ONNX Runtime kvantlash hujjatlari, https://onnx.ai</a:t>
            </a:r>
          </a:p>
          <a:p/>
          <a:p>
            <a:r>
              <a:t>Micikevicius, P., Narang, S., Alben, J., et al. Mixed Precision Training. ICLR 2018.</a:t>
            </a:r>
          </a:p>
          <a:p/>
          <a:p>
            <a:r>
              <a:t>Jacob, B., Kligys, S., Chen, B., et al. Quantization and Training of Neural Networks for Efficient Integer-Arithmetic-Only Inference. CVPR 2018.</a:t>
            </a:r>
          </a:p>
          <a:p/>
          <a:p>
            <a:r>
              <a:t>Hinton, G., Vinyals, O., &amp; Dean, J. Distilling the Knowledge in a Neural Network. NIPS 2014 Deep Learning Workshop, arXiv:1503.02531.</a:t>
            </a:r>
          </a:p>
          <a:p/>
          <a:p>
            <a:r>
              <a:t>Frankle, J., &amp; Carbin, M. The Lottery Ticket Hypothesis: Finding Sparse, Trainable Neural Networks. ICLR 2019.</a:t>
            </a:r>
          </a:p>
          <a:p/>
          <a:p>
            <a:r>
              <a:t>Horowitz, M. Computing's Energy Problem (and what we can do about it). IEEE ISSCC 2014.</a:t>
            </a:r>
          </a:p>
          <a:p/>
          <a:p>
            <a:r>
              <a:t>Frantar, E., Ashkboos, S., Hoefler, T., &amp; Alistarh, D. GPTQ: Accurate Post-Training Quantization for Generative Pre-trained Transformers. ICLR 2023.</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700000"/>
            <a:ext cx="12192000" cy="6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00000" y="700000"/>
            <a:ext cx="10800000" cy="500000"/>
          </a:xfrm>
          <a:prstGeom prst="rect">
            <a:avLst/>
          </a:prstGeom>
          <a:noFill/>
        </p:spPr>
        <p:txBody>
          <a:bodyPr wrap="square" anchor="t" lIns="50800" rIns="50800">
            <a:spAutoFit/>
          </a:bodyPr>
          <a:lstStyle/>
          <a:p>
            <a:pPr algn="l"/>
            <a:r>
              <a:rPr sz="1600" b="0">
                <a:solidFill>
                  <a:srgbClr val="A9C4E6"/>
                </a:solidFill>
                <a:latin typeface="Calibri"/>
              </a:rPr>
              <a:t>Sun'iy intellektga asoslangan kompyuter tizimlari muhandisligi</a:t>
            </a:r>
          </a:p>
        </p:txBody>
      </p:sp>
      <p:sp>
        <p:nvSpPr>
          <p:cNvPr id="5" name="TextBox 4"/>
          <p:cNvSpPr txBox="1"/>
          <p:nvPr/>
        </p:nvSpPr>
        <p:spPr>
          <a:xfrm>
            <a:off x="700000" y="1350000"/>
            <a:ext cx="10800000" cy="500000"/>
          </a:xfrm>
          <a:prstGeom prst="rect">
            <a:avLst/>
          </a:prstGeom>
          <a:noFill/>
        </p:spPr>
        <p:txBody>
          <a:bodyPr wrap="square" anchor="t" lIns="50800" rIns="50800">
            <a:spAutoFit/>
          </a:bodyPr>
          <a:lstStyle/>
          <a:p>
            <a:pPr algn="l"/>
            <a:r>
              <a:rPr sz="1600" b="1">
                <a:solidFill>
                  <a:srgbClr val="7FD6D7"/>
                </a:solidFill>
                <a:latin typeface="Calibri"/>
              </a:rPr>
              <a:t>MA'RUZA · M8 · 2 soat</a:t>
            </a:r>
          </a:p>
        </p:txBody>
      </p:sp>
      <p:sp>
        <p:nvSpPr>
          <p:cNvPr id="6" name="TextBox 5"/>
          <p:cNvSpPr txBox="1"/>
          <p:nvPr/>
        </p:nvSpPr>
        <p:spPr>
          <a:xfrm>
            <a:off x="700000" y="1950000"/>
            <a:ext cx="10800000" cy="2500000"/>
          </a:xfrm>
          <a:prstGeom prst="rect">
            <a:avLst/>
          </a:prstGeom>
          <a:noFill/>
        </p:spPr>
        <p:txBody>
          <a:bodyPr wrap="square" anchor="t" lIns="50800" rIns="50800">
            <a:spAutoFit/>
          </a:bodyPr>
          <a:lstStyle/>
          <a:p>
            <a:pPr algn="l"/>
            <a:r>
              <a:rPr sz="3800" b="1">
                <a:solidFill>
                  <a:srgbClr val="FFFFFF"/>
                </a:solidFill>
                <a:latin typeface="Calibri"/>
              </a:rPr>
              <a:t>Sun'iy intellekt tizimlarini optimallashtirish usullari</a:t>
            </a:r>
          </a:p>
        </p:txBody>
      </p:sp>
      <p:sp>
        <p:nvSpPr>
          <p:cNvPr id="7" name="TextBox 6"/>
          <p:cNvSpPr txBox="1"/>
          <p:nvPr/>
        </p:nvSpPr>
        <p:spPr>
          <a:xfrm>
            <a:off x="700000" y="4950000"/>
            <a:ext cx="10800000" cy="1200000"/>
          </a:xfrm>
          <a:prstGeom prst="rect">
            <a:avLst/>
          </a:prstGeom>
          <a:noFill/>
        </p:spPr>
        <p:txBody>
          <a:bodyPr wrap="square" anchor="t" lIns="50800" rIns="50800">
            <a:spAutoFit/>
          </a:bodyPr>
          <a:lstStyle/>
          <a:p>
            <a:pPr algn="l"/>
            <a:r>
              <a:rPr sz="1500" b="0">
                <a:solidFill>
                  <a:srgbClr val="D7E3F4"/>
                </a:solidFill>
                <a:latin typeface="Calibri"/>
              </a:rPr>
              <a:t>O‘qituvchi: S.Iskandarova, t.f.f.d. (PhD), dotsent</a:t>
            </a:r>
          </a:p>
          <a:p>
            <a:pPr algn="l"/>
            <a:r>
              <a:rPr sz="1500" b="0">
                <a:solidFill>
                  <a:srgbClr val="D7E3F4"/>
                </a:solidFill>
                <a:latin typeface="Calibri"/>
              </a:rPr>
              <a:t>2026-2027 o‘quv yili</a:t>
            </a:r>
          </a:p>
          <a:p>
            <a:pPr algn="l"/>
            <a:r>
              <a:rPr sz="1500" b="0">
                <a:solidFill>
                  <a:srgbClr val="D7E3F4"/>
                </a:solidFill>
                <a:latin typeface="Calibri"/>
              </a:rPr>
              <a:t>https://aiscan.airi.uz/ktm/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MAVZU</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Reja</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M8 · Sun'iy intellekt tizimlarini optimallashtirish usullari</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Mavzuning maqsadi va o'rganish natijalari</a:t>
            </a:r>
          </a:p>
          <a:p>
            <a:pPr>
              <a:spcAft>
                <a:spcPts val="900"/>
              </a:spcAft>
            </a:pPr>
            <a:r>
              <a:rPr sz="2000" b="1">
                <a:solidFill>
                  <a:srgbClr val="0F8B8D"/>
                </a:solidFill>
              </a:rPr>
              <a:t>▪  </a:t>
            </a:r>
            <a:r>
              <a:rPr sz="2000">
                <a:solidFill>
                  <a:srgbClr val="1B2430"/>
                </a:solidFill>
                <a:latin typeface="Calibri"/>
              </a:rPr>
              <a:t>Kirish</a:t>
            </a:r>
          </a:p>
          <a:p>
            <a:pPr>
              <a:spcAft>
                <a:spcPts val="900"/>
              </a:spcAft>
            </a:pPr>
            <a:r>
              <a:rPr sz="2000" b="1">
                <a:solidFill>
                  <a:srgbClr val="0F8B8D"/>
                </a:solidFill>
              </a:rPr>
              <a:t>▪  </a:t>
            </a:r>
            <a:r>
              <a:rPr sz="2000">
                <a:solidFill>
                  <a:srgbClr val="1B2430"/>
                </a:solidFill>
                <a:latin typeface="Calibri"/>
              </a:rPr>
              <a:t>Nazariy asoslar</a:t>
            </a:r>
          </a:p>
          <a:p>
            <a:pPr>
              <a:spcAft>
                <a:spcPts val="900"/>
              </a:spcAft>
            </a:pPr>
            <a:r>
              <a:rPr sz="2000" b="1">
                <a:solidFill>
                  <a:srgbClr val="0F8B8D"/>
                </a:solidFill>
              </a:rPr>
              <a:t>▪  </a:t>
            </a:r>
            <a:r>
              <a:rPr sz="2000">
                <a:solidFill>
                  <a:srgbClr val="1B2430"/>
                </a:solidFill>
                <a:latin typeface="Calibri"/>
              </a:rPr>
              <a:t>Amaliy misol</a:t>
            </a:r>
          </a:p>
          <a:p>
            <a:pPr>
              <a:spcAft>
                <a:spcPts val="900"/>
              </a:spcAft>
            </a:pPr>
            <a:r>
              <a:rPr sz="2000" b="1">
                <a:solidFill>
                  <a:srgbClr val="0F8B8D"/>
                </a:solidFill>
              </a:rPr>
              <a:t>▪  </a:t>
            </a:r>
            <a:r>
              <a:rPr sz="2000">
                <a:solidFill>
                  <a:srgbClr val="1B2430"/>
                </a:solidFill>
                <a:latin typeface="Calibri"/>
              </a:rPr>
              <a:t>Natijalarni tahlil qilish</a:t>
            </a:r>
          </a:p>
          <a:p>
            <a:pPr>
              <a:spcAft>
                <a:spcPts val="900"/>
              </a:spcAft>
            </a:pPr>
            <a:r>
              <a:rPr sz="2000" b="1">
                <a:solidFill>
                  <a:srgbClr val="0F8B8D"/>
                </a:solidFill>
              </a:rPr>
              <a:t>▪  </a:t>
            </a:r>
            <a:r>
              <a:rPr sz="2000">
                <a:solidFill>
                  <a:srgbClr val="1B2430"/>
                </a:solidFill>
                <a:latin typeface="Calibri"/>
              </a:rPr>
              <a:t>Keng tarqalgan xatolar va amaliy tavsiyalar</a:t>
            </a:r>
          </a:p>
          <a:p>
            <a:pPr>
              <a:spcAft>
                <a:spcPts val="900"/>
              </a:spcAft>
            </a:pPr>
            <a:r>
              <a:rPr sz="2000" b="1">
                <a:solidFill>
                  <a:srgbClr val="0F8B8D"/>
                </a:solidFill>
              </a:rPr>
              <a:t>▪  </a:t>
            </a:r>
            <a:r>
              <a:rPr sz="2000">
                <a:solidFill>
                  <a:srgbClr val="1B2430"/>
                </a:solidFill>
                <a:latin typeface="Calibri"/>
              </a:rPr>
              <a:t>Nazorat savollari</a:t>
            </a:r>
          </a:p>
          <a:p>
            <a:pPr>
              <a:spcAft>
                <a:spcPts val="900"/>
              </a:spcAft>
            </a:pPr>
            <a:r>
              <a:rPr sz="2000" b="1">
                <a:solidFill>
                  <a:srgbClr val="0F8B8D"/>
                </a:solidFill>
              </a:rPr>
              <a:t>▪  </a:t>
            </a:r>
            <a:r>
              <a:rPr sz="2000">
                <a:solidFill>
                  <a:srgbClr val="1B2430"/>
                </a:solidFill>
                <a:latin typeface="Calibri"/>
              </a:rPr>
              <a:t>Mustaqil ish uchun topshiriq</a:t>
            </a:r>
          </a:p>
          <a:p>
            <a:pPr>
              <a:spcAft>
                <a:spcPts val="900"/>
              </a:spcAft>
            </a:pPr>
            <a:r>
              <a:rPr sz="2000" b="1">
                <a:solidFill>
                  <a:srgbClr val="0F8B8D"/>
                </a:solidFill>
              </a:rPr>
              <a:t>▪  </a:t>
            </a:r>
            <a:r>
              <a:rPr sz="2000">
                <a:solidFill>
                  <a:srgbClr val="1B2430"/>
                </a:solidFill>
                <a:latin typeface="Calibri"/>
              </a:rPr>
              <a:t>Foydalanilgan manbalar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200000"/>
            <a:ext cx="11200000" cy="650000"/>
          </a:xfrm>
          <a:prstGeom prst="rect">
            <a:avLst/>
          </a:prstGeom>
          <a:noFill/>
        </p:spPr>
        <p:txBody>
          <a:bodyPr wrap="square" anchor="ctr" lIns="50800" rIns="50800">
            <a:spAutoFit/>
          </a:bodyPr>
          <a:lstStyle/>
          <a:p>
            <a:pPr algn="l"/>
            <a:r>
              <a:rPr sz="2600" b="1">
                <a:solidFill>
                  <a:srgbClr val="FFFFFF"/>
                </a:solidFill>
                <a:latin typeface="Calibri"/>
              </a:rPr>
              <a:t>Mavzuning maqsadi va o'rganish natijalari (1)</a:t>
            </a:r>
          </a:p>
        </p:txBody>
      </p:sp>
      <p:sp>
        <p:nvSpPr>
          <p:cNvPr id="4" name="TextBox 3"/>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M8 · Sun'iy intellekt tizimlarini optimallashtirish usullari</a:t>
            </a:r>
          </a:p>
        </p:txBody>
      </p:sp>
      <p:sp>
        <p:nvSpPr>
          <p:cNvPr id="5" name="TextBox 4"/>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a:t>
            </a:r>
          </a:p>
        </p:txBody>
      </p:sp>
      <p:sp>
        <p:nvSpPr>
          <p:cNvPr id="6" name="Rectangle 5"/>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0000" y="1300000"/>
            <a:ext cx="11000000" cy="4950000"/>
          </a:xfrm>
          <a:prstGeom prst="rect">
            <a:avLst/>
          </a:prstGeom>
          <a:noFill/>
        </p:spPr>
        <p:txBody>
          <a:bodyPr wrap="square">
            <a:spAutoFit/>
          </a:bodyPr>
          <a:lstStyle/>
          <a:p>
            <a:pPr>
              <a:spcAft>
                <a:spcPts val="900"/>
              </a:spcAft>
            </a:pPr>
            <a:r>
              <a:rPr sz="1600" b="1">
                <a:solidFill>
                  <a:srgbClr val="0F8B8D"/>
                </a:solidFill>
              </a:rPr>
              <a:t>▪  </a:t>
            </a:r>
            <a:r>
              <a:rPr sz="1600">
                <a:solidFill>
                  <a:srgbClr val="1B2430"/>
                </a:solidFill>
                <a:latin typeface="Calibri"/>
              </a:rPr>
              <a:t>Ma'ruzaning maqsadi — o'qitilgan sun'iy intellekt modelini aniqlikni saqlagan holda tezroq, kichikroq va kam energiya sarflaydigan qilishning asosiy usullarini — aralash aniqlik (mixed…</a:t>
            </a:r>
          </a:p>
          <a:p>
            <a:pPr>
              <a:spcAft>
                <a:spcPts val="900"/>
              </a:spcAft>
            </a:pPr>
            <a:r>
              <a:rPr sz="1600" b="1">
                <a:solidFill>
                  <a:srgbClr val="0F8B8D"/>
                </a:solidFill>
              </a:rPr>
              <a:t>▪  </a:t>
            </a:r>
            <a:r>
              <a:rPr sz="1600">
                <a:solidFill>
                  <a:srgbClr val="1B2430"/>
                </a:solidFill>
                <a:latin typeface="Calibri"/>
              </a:rPr>
              <a:t>FP32, TF32, FP16, BF16, FP8, INT8 va INT4 sonli formatlarining tuzilishi (mantissa va eksponenta bitlari), diapazoni, aniqligi va apparat qo'llab-quvvatlashini taqqoslay oladi hamda PyTorch…</a:t>
            </a:r>
          </a:p>
          <a:p>
            <a:pPr>
              <a:spcAft>
                <a:spcPts val="900"/>
              </a:spcAft>
            </a:pPr>
            <a:r>
              <a:rPr sz="1600" b="1">
                <a:solidFill>
                  <a:srgbClr val="0F8B8D"/>
                </a:solidFill>
              </a:rPr>
              <a:t>▪  </a:t>
            </a:r>
            <a:r>
              <a:rPr sz="1600">
                <a:solidFill>
                  <a:srgbClr val="1B2430"/>
                </a:solidFill>
                <a:latin typeface="Calibri"/>
              </a:rPr>
              <a:t>Kvantlash turlarini — dinamik, statik (o'qitishdan keyingi), kvantlashni hisobga olgan o'qitish (QAT), og'irlik-faqat INT4 (GPTQ, AWQ) — farqlaydi, masshtab va nol nuqta formulalarini…</a:t>
            </a:r>
          </a:p>
          <a:p>
            <a:pPr>
              <a:spcAft>
                <a:spcPts val="900"/>
              </a:spcAft>
            </a:pPr>
            <a:r>
              <a:rPr sz="1600" b="1">
                <a:solidFill>
                  <a:srgbClr val="0F8B8D"/>
                </a:solidFill>
              </a:rPr>
              <a:t>▪  </a:t>
            </a:r>
            <a:r>
              <a:rPr sz="1600">
                <a:solidFill>
                  <a:srgbClr val="1B2430"/>
                </a:solidFill>
                <a:latin typeface="Calibri"/>
              </a:rPr>
              <a:t>Strukturlanmagan va strukturlangan pruning, 2:4 siyraklik, magnitude va iterativ pruning usullarini biladi va ularning haqiqiy tezlashish berish-bermasligini apparat nuqtai nazaridan…</a:t>
            </a:r>
          </a:p>
          <a:p>
            <a:pPr>
              <a:spcAft>
                <a:spcPts val="900"/>
              </a:spcAft>
            </a:pPr>
            <a:r>
              <a:rPr sz="1600" b="1">
                <a:solidFill>
                  <a:srgbClr val="0F8B8D"/>
                </a:solidFill>
              </a:rPr>
              <a:t>▪  </a:t>
            </a:r>
            <a:r>
              <a:rPr sz="1600">
                <a:solidFill>
                  <a:srgbClr val="1B2430"/>
                </a:solidFill>
                <a:latin typeface="Calibri"/>
              </a:rPr>
              <a:t>Knowledge distillation'ning yo'qotish funksiyasi va harorat parametrini tushunadi, o'qituvchi–o'quvchi sxemasini qura oladi.</a:t>
            </a:r>
          </a:p>
          <a:p>
            <a:pPr>
              <a:spcAft>
                <a:spcPts val="900"/>
              </a:spcAft>
            </a:pPr>
            <a:r>
              <a:rPr sz="1600" b="1">
                <a:solidFill>
                  <a:srgbClr val="0F8B8D"/>
                </a:solidFill>
              </a:rPr>
              <a:t>▪  </a:t>
            </a:r>
            <a:r>
              <a:rPr sz="1600">
                <a:solidFill>
                  <a:srgbClr val="1B2430"/>
                </a:solidFill>
                <a:latin typeface="Calibri"/>
              </a:rPr>
              <a:t>Operator fusion, kernel tanlash, torch.compile, CUDA Graphs kabi kernel darajasidagi usullarni va bularning hammasini energiya samaradorligi (inferens boshiga joul) nuqtai nazaridan…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200000"/>
            <a:ext cx="11200000" cy="650000"/>
          </a:xfrm>
          <a:prstGeom prst="rect">
            <a:avLst/>
          </a:prstGeom>
          <a:noFill/>
        </p:spPr>
        <p:txBody>
          <a:bodyPr wrap="square" anchor="ctr" lIns="50800" rIns="50800">
            <a:spAutoFit/>
          </a:bodyPr>
          <a:lstStyle/>
          <a:p>
            <a:pPr algn="l"/>
            <a:r>
              <a:rPr sz="2600" b="1">
                <a:solidFill>
                  <a:srgbClr val="FFFFFF"/>
                </a:solidFill>
                <a:latin typeface="Calibri"/>
              </a:rPr>
              <a:t>Mavzuning maqsadi va o'rganish natijalari (2)</a:t>
            </a:r>
          </a:p>
        </p:txBody>
      </p:sp>
      <p:sp>
        <p:nvSpPr>
          <p:cNvPr id="4" name="TextBox 3"/>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M8 · Sun'iy intellekt tizimlarini optimallashtirish usullari</a:t>
            </a:r>
          </a:p>
        </p:txBody>
      </p:sp>
      <p:sp>
        <p:nvSpPr>
          <p:cNvPr id="5" name="TextBox 4"/>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4</a:t>
            </a:r>
          </a:p>
        </p:txBody>
      </p:sp>
      <p:sp>
        <p:nvSpPr>
          <p:cNvPr id="6" name="Rectangle 5"/>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Mavzu fanning TN2 (apparat-dastur birgalikdagi loyihalash), TN5 (unumdorlik va energiya samaradorligini baholash va oshirish) natijalariga bevosita xizmat qiladi; A3 amaliy mashg'uloti…</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200000"/>
            <a:ext cx="11200000" cy="650000"/>
          </a:xfrm>
          <a:prstGeom prst="rect">
            <a:avLst/>
          </a:prstGeom>
          <a:noFill/>
        </p:spPr>
        <p:txBody>
          <a:bodyPr wrap="square" anchor="ctr" lIns="50800" rIns="50800">
            <a:spAutoFit/>
          </a:bodyPr>
          <a:lstStyle/>
          <a:p>
            <a:pPr algn="l"/>
            <a:r>
              <a:rPr sz="2600" b="1">
                <a:solidFill>
                  <a:srgbClr val="FFFFFF"/>
                </a:solidFill>
                <a:latin typeface="Calibri"/>
              </a:rPr>
              <a:t>Kirish</a:t>
            </a:r>
          </a:p>
        </p:txBody>
      </p:sp>
      <p:sp>
        <p:nvSpPr>
          <p:cNvPr id="4" name="TextBox 3"/>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M8 · Sun'iy intellekt tizimlarini optimallashtirish usullari</a:t>
            </a:r>
          </a:p>
        </p:txBody>
      </p:sp>
      <p:sp>
        <p:nvSpPr>
          <p:cNvPr id="5" name="TextBox 4"/>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5</a:t>
            </a:r>
          </a:p>
        </p:txBody>
      </p:sp>
      <p:sp>
        <p:nvSpPr>
          <p:cNvPr id="6" name="Rectangle 5"/>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0000" y="1300000"/>
            <a:ext cx="11000000" cy="4950000"/>
          </a:xfrm>
          <a:prstGeom prst="rect">
            <a:avLst/>
          </a:prstGeom>
          <a:noFill/>
        </p:spPr>
        <p:txBody>
          <a:bodyPr wrap="square">
            <a:spAutoFit/>
          </a:bodyPr>
          <a:lstStyle/>
          <a:p>
            <a:pPr>
              <a:spcAft>
                <a:spcPts val="900"/>
              </a:spcAft>
            </a:pPr>
            <a:r>
              <a:rPr sz="1600" b="1">
                <a:solidFill>
                  <a:srgbClr val="0F8B8D"/>
                </a:solidFill>
              </a:rPr>
              <a:t>▪  </a:t>
            </a:r>
            <a:r>
              <a:rPr sz="1600">
                <a:solidFill>
                  <a:srgbClr val="1B2430"/>
                </a:solidFill>
                <a:latin typeface="Calibri"/>
              </a:rPr>
              <a:t>So'nggi yillarda modellar hajmi hisoblash apparatidan tezroq o'sdi: 2018-yildagi BERT-large 340 million parametrli edi, 2020-yildagi GPT-3 175 milliard, bugungi oldingi qatordagi modellar trilliondan oshadi. Ayni paytda foydalanuvchi kutish vaqti o'zgarmadi —…</a:t>
            </a:r>
          </a:p>
          <a:p>
            <a:pPr>
              <a:spcAft>
                <a:spcPts val="900"/>
              </a:spcAft>
            </a:pPr>
            <a:r>
              <a:rPr sz="1600" b="1">
                <a:solidFill>
                  <a:srgbClr val="0F8B8D"/>
                </a:solidFill>
              </a:rPr>
              <a:t>▪  </a:t>
            </a:r>
            <a:r>
              <a:rPr sz="1600">
                <a:solidFill>
                  <a:srgbClr val="1B2430"/>
                </a:solidFill>
                <a:latin typeface="Calibri"/>
              </a:rPr>
              <a:t>Sanoat raqamlari buni tasdiqlaydi. Katta til modeli inferensida og'irliklarni FP16'dan INT4'ga o'tkazish bir GPU'ga sig'adigan model hajmini 4 baravar oshiradi va dekodlash tezligini (M5'dagi roofline tahliliga ko'ra, xotira bilan chegaralangan rejimda) 2–3…</a:t>
            </a:r>
          </a:p>
          <a:p>
            <a:pPr>
              <a:spcAft>
                <a:spcPts val="900"/>
              </a:spcAft>
            </a:pPr>
            <a:r>
              <a:rPr sz="1600" b="1">
                <a:solidFill>
                  <a:srgbClr val="0F8B8D"/>
                </a:solidFill>
              </a:rPr>
              <a:t>▪  </a:t>
            </a:r>
            <a:r>
              <a:rPr sz="1600">
                <a:solidFill>
                  <a:srgbClr val="1B2430"/>
                </a:solidFill>
                <a:latin typeface="Calibri"/>
              </a:rPr>
              <a:t>Bu ma'ruza shu usullarni «qanday ishlaydi», «qachon ishlaydi» va «qachon ishlamaydi» nuqtai nazaridan ko'rib chiqadi. Asosiy xabar: optimallashtirish — modelni «buzish» emas, balki ortiqchalikni (redundancy) aniqlab olib tashlash; neyron tarmoqlar juda ko'p…</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Sonli formatlar va aralash aniqlik (mixed precision) hisoblash</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M8 · Sun'iy intellekt tizimlarini optimallashtirish usullari</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6</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1300000"/>
            <a:ext cx="11000000" cy="4950000"/>
          </a:xfrm>
          <a:prstGeom prst="rect">
            <a:avLst/>
          </a:prstGeom>
          <a:noFill/>
        </p:spPr>
        <p:txBody>
          <a:bodyPr wrap="square">
            <a:spAutoFit/>
          </a:bodyPr>
          <a:lstStyle/>
          <a:p>
            <a:pPr>
              <a:spcAft>
                <a:spcPts val="900"/>
              </a:spcAft>
            </a:pPr>
            <a:r>
              <a:rPr sz="1600" b="1">
                <a:solidFill>
                  <a:srgbClr val="0F8B8D"/>
                </a:solidFill>
              </a:rPr>
              <a:t>▪  </a:t>
            </a:r>
            <a:r>
              <a:rPr sz="1600">
                <a:solidFill>
                  <a:srgbClr val="1B2430"/>
                </a:solidFill>
                <a:latin typeface="Calibri"/>
              </a:rPr>
              <a:t>Suzuvchi nuqtali son uchta qismdan iborat: ishora biti, eksponenta (diapazonni belgilaydi) va mantissa (aniqlikni belgilaydi).</a:t>
            </a:r>
          </a:p>
          <a:p>
            <a:pPr>
              <a:spcAft>
                <a:spcPts val="900"/>
              </a:spcAft>
            </a:pPr>
            <a:r>
              <a:rPr sz="1600" b="1">
                <a:solidFill>
                  <a:srgbClr val="0F8B8D"/>
                </a:solidFill>
              </a:rPr>
              <a:t>▪  </a:t>
            </a:r>
            <a:r>
              <a:rPr sz="1600">
                <a:solidFill>
                  <a:srgbClr val="1B2430"/>
                </a:solidFill>
                <a:latin typeface="Calibri"/>
              </a:rPr>
              <a:t>FP16 va BF16 o'rtasidagi farq o'qitish uchun hal qiluvchi: FP16 aniqroq (10 bit mantissa), lekin diapazoni tor — 6e−8 dan kichik qiymatlar nolga aylanadi (underflow), 65504 dan kattasi…</a:t>
            </a:r>
          </a:p>
          <a:p>
            <a:pPr>
              <a:spcAft>
                <a:spcPts val="900"/>
              </a:spcAft>
            </a:pPr>
            <a:r>
              <a:rPr sz="1600" b="1">
                <a:solidFill>
                  <a:srgbClr val="0F8B8D"/>
                </a:solidFill>
              </a:rPr>
              <a:t>▪  </a:t>
            </a:r>
            <a:r>
              <a:rPr sz="1600">
                <a:solidFill>
                  <a:srgbClr val="1B2430"/>
                </a:solidFill>
                <a:latin typeface="Calibri"/>
              </a:rPr>
              <a:t>Aralash aniqlik (mixed precision) o'qitish g'oyasi (Micikevicius va boshq., 2018): og'ir matritsa ko'paytmalari va konvolyutsiyalar FP16/BF16'da Tensor Core'da bajariladi, lekin…</a:t>
            </a:r>
          </a:p>
          <a:p>
            <a:pPr>
              <a:spcAft>
                <a:spcPts val="900"/>
              </a:spcAft>
            </a:pPr>
            <a:r>
              <a:rPr sz="1600" b="1">
                <a:solidFill>
                  <a:srgbClr val="0F8B8D"/>
                </a:solidFill>
              </a:rPr>
              <a:t>▪  </a:t>
            </a:r>
            <a:r>
              <a:rPr sz="1600">
                <a:solidFill>
                  <a:srgbClr val="1B2430"/>
                </a:solidFill>
                <a:latin typeface="Calibri"/>
              </a:rPr>
              <a:t>Tensor Core'da FP16/BF16 matmul FP32'ga qaraganda nazariy 8–16 baravar tez (A100: 19,5 TFLOPS FP32 vs 312 TFLOPS FP16 Tensor Core), amaliy tezlashish esa butun o'qitish sikli uchun 1,5–3…</a:t>
            </a:r>
          </a:p>
          <a:p>
            <a:pPr>
              <a:spcAft>
                <a:spcPts val="900"/>
              </a:spcAft>
            </a:pPr>
            <a:r>
              <a:rPr sz="1600" b="1">
                <a:solidFill>
                  <a:srgbClr val="0F8B8D"/>
                </a:solidFill>
              </a:rPr>
              <a:t>▪  </a:t>
            </a:r>
            <a:r>
              <a:rPr sz="1600">
                <a:solidFill>
                  <a:srgbClr val="1B2430"/>
                </a:solidFill>
                <a:latin typeface="Calibri"/>
              </a:rPr>
              <a:t>FP8 — Hopper avlodidan boshlab o'qitish uchun ham ishlatilmoqda (Transformer Engine kutubxonasi): oldinga o'tishda E4M3, gradientlar uchun E5M2, har tensor uchun dinamik masshtab bilan.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Sonli formatlar va aralash aniqlik (mixed precision) hisoblash</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M8 · Sun'iy intellekt tizimlarini optimallashtirish usullari</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7</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Table 7"/>
          <p:cNvGraphicFramePr>
            <a:graphicFrameLocks noGrp="1"/>
          </p:cNvGraphicFramePr>
          <p:nvPr/>
        </p:nvGraphicFramePr>
        <p:xfrm>
          <a:off x="500000" y="1350000"/>
          <a:ext cx="11200000" cy="4680000"/>
        </p:xfrm>
        <a:graphic>
          <a:graphicData uri="http://schemas.openxmlformats.org/drawingml/2006/table">
            <a:tbl>
              <a:tblPr firstRow="1" bandRow="1">
                <a:tableStyleId>{5C22544A-7EE6-4342-B048-85BDC9FD1C3A}</a:tableStyleId>
              </a:tblPr>
              <a:tblGrid>
                <a:gridCol w="1866666"/>
                <a:gridCol w="1866666"/>
                <a:gridCol w="1866666"/>
                <a:gridCol w="1866666"/>
                <a:gridCol w="1866666"/>
                <a:gridCol w="1866670"/>
              </a:tblGrid>
              <a:tr h="520000">
                <a:tc>
                  <a:txBody>
                    <a:bodyPr/>
                    <a:lstStyle/>
                    <a:p>
                      <a:r>
                        <a:rPr sz="1400" b="1">
                          <a:solidFill>
                            <a:srgbClr val="FFFFFF"/>
                          </a:solidFill>
                          <a:latin typeface="Calibri"/>
                        </a:rPr>
                        <a:t>Format</a:t>
                      </a:r>
                    </a:p>
                  </a:txBody>
                  <a:tcPr>
                    <a:solidFill>
                      <a:srgbClr val="2D5C8F"/>
                    </a:solidFill>
                  </a:tcPr>
                </a:tc>
                <a:tc>
                  <a:txBody>
                    <a:bodyPr/>
                    <a:lstStyle/>
                    <a:p>
                      <a:r>
                        <a:rPr sz="1400" b="1">
                          <a:solidFill>
                            <a:srgbClr val="FFFFFF"/>
                          </a:solidFill>
                          <a:latin typeface="Calibri"/>
                        </a:rPr>
                        <a:t>Jami bit</a:t>
                      </a:r>
                    </a:p>
                  </a:txBody>
                  <a:tcPr>
                    <a:solidFill>
                      <a:srgbClr val="2D5C8F"/>
                    </a:solidFill>
                  </a:tcPr>
                </a:tc>
                <a:tc>
                  <a:txBody>
                    <a:bodyPr/>
                    <a:lstStyle/>
                    <a:p>
                      <a:r>
                        <a:rPr sz="1400" b="1">
                          <a:solidFill>
                            <a:srgbClr val="FFFFFF"/>
                          </a:solidFill>
                          <a:latin typeface="Calibri"/>
                        </a:rPr>
                        <a:t>Eksponenta</a:t>
                      </a:r>
                    </a:p>
                  </a:txBody>
                  <a:tcPr>
                    <a:solidFill>
                      <a:srgbClr val="2D5C8F"/>
                    </a:solidFill>
                  </a:tcPr>
                </a:tc>
                <a:tc>
                  <a:txBody>
                    <a:bodyPr/>
                    <a:lstStyle/>
                    <a:p>
                      <a:r>
                        <a:rPr sz="1400" b="1">
                          <a:solidFill>
                            <a:srgbClr val="FFFFFF"/>
                          </a:solidFill>
                          <a:latin typeface="Calibri"/>
                        </a:rPr>
                        <a:t>Mantissa</a:t>
                      </a:r>
                    </a:p>
                  </a:txBody>
                  <a:tcPr>
                    <a:solidFill>
                      <a:srgbClr val="2D5C8F"/>
                    </a:solidFill>
                  </a:tcPr>
                </a:tc>
                <a:tc>
                  <a:txBody>
                    <a:bodyPr/>
                    <a:lstStyle/>
                    <a:p>
                      <a:r>
                        <a:rPr sz="1400" b="1">
                          <a:solidFill>
                            <a:srgbClr val="FFFFFF"/>
                          </a:solidFill>
                          <a:latin typeface="Calibri"/>
                        </a:rPr>
                        <a:t>Taxminiy diapazon</a:t>
                      </a:r>
                    </a:p>
                  </a:txBody>
                  <a:tcPr>
                    <a:solidFill>
                      <a:srgbClr val="2D5C8F"/>
                    </a:solidFill>
                  </a:tcPr>
                </a:tc>
                <a:tc>
                  <a:txBody>
                    <a:bodyPr/>
                    <a:lstStyle/>
                    <a:p>
                      <a:r>
                        <a:rPr sz="1400" b="1">
                          <a:solidFill>
                            <a:srgbClr val="FFFFFF"/>
                          </a:solidFill>
                          <a:latin typeface="Calibri"/>
                        </a:rPr>
                        <a:t>O'nli aniqlik</a:t>
                      </a:r>
                    </a:p>
                  </a:txBody>
                  <a:tcPr>
                    <a:solidFill>
                      <a:srgbClr val="2D5C8F"/>
                    </a:solidFill>
                  </a:tcPr>
                </a:tc>
              </a:tr>
              <a:tr h="520000">
                <a:tc>
                  <a:txBody>
                    <a:bodyPr/>
                    <a:lstStyle/>
                    <a:p>
                      <a:r>
                        <a:rPr sz="1400" b="0">
                          <a:solidFill>
                            <a:srgbClr val="1B2430"/>
                          </a:solidFill>
                          <a:latin typeface="Calibri"/>
                        </a:rPr>
                        <a:t>FP32</a:t>
                      </a:r>
                    </a:p>
                  </a:txBody>
                  <a:tcPr>
                    <a:solidFill>
                      <a:srgbClr val="F1F4F8"/>
                    </a:solidFill>
                  </a:tcPr>
                </a:tc>
                <a:tc>
                  <a:txBody>
                    <a:bodyPr/>
                    <a:lstStyle/>
                    <a:p>
                      <a:r>
                        <a:rPr sz="1400" b="0">
                          <a:solidFill>
                            <a:srgbClr val="1B2430"/>
                          </a:solidFill>
                          <a:latin typeface="Calibri"/>
                        </a:rPr>
                        <a:t>32</a:t>
                      </a:r>
                    </a:p>
                  </a:txBody>
                  <a:tcPr>
                    <a:solidFill>
                      <a:srgbClr val="F1F4F8"/>
                    </a:solidFill>
                  </a:tcPr>
                </a:tc>
                <a:tc>
                  <a:txBody>
                    <a:bodyPr/>
                    <a:lstStyle/>
                    <a:p>
                      <a:r>
                        <a:rPr sz="1400" b="0">
                          <a:solidFill>
                            <a:srgbClr val="1B2430"/>
                          </a:solidFill>
                          <a:latin typeface="Calibri"/>
                        </a:rPr>
                        <a:t>8</a:t>
                      </a:r>
                    </a:p>
                  </a:txBody>
                  <a:tcPr>
                    <a:solidFill>
                      <a:srgbClr val="F1F4F8"/>
                    </a:solidFill>
                  </a:tcPr>
                </a:tc>
                <a:tc>
                  <a:txBody>
                    <a:bodyPr/>
                    <a:lstStyle/>
                    <a:p>
                      <a:r>
                        <a:rPr sz="1400" b="0">
                          <a:solidFill>
                            <a:srgbClr val="1B2430"/>
                          </a:solidFill>
                          <a:latin typeface="Calibri"/>
                        </a:rPr>
                        <a:t>23</a:t>
                      </a:r>
                    </a:p>
                  </a:txBody>
                  <a:tcPr>
                    <a:solidFill>
                      <a:srgbClr val="F1F4F8"/>
                    </a:solidFill>
                  </a:tcPr>
                </a:tc>
                <a:tc>
                  <a:txBody>
                    <a:bodyPr/>
                    <a:lstStyle/>
                    <a:p>
                      <a:r>
                        <a:rPr sz="1400" b="0">
                          <a:solidFill>
                            <a:srgbClr val="1B2430"/>
                          </a:solidFill>
                          <a:latin typeface="Calibri"/>
                        </a:rPr>
                        <a:t>±3,4e38</a:t>
                      </a:r>
                    </a:p>
                  </a:txBody>
                  <a:tcPr>
                    <a:solidFill>
                      <a:srgbClr val="F1F4F8"/>
                    </a:solidFill>
                  </a:tcPr>
                </a:tc>
                <a:tc>
                  <a:txBody>
                    <a:bodyPr/>
                    <a:lstStyle/>
                    <a:p>
                      <a:r>
                        <a:rPr sz="1400" b="0">
                          <a:solidFill>
                            <a:srgbClr val="1B2430"/>
                          </a:solidFill>
                          <a:latin typeface="Calibri"/>
                        </a:rPr>
                        <a:t>~7 raqam</a:t>
                      </a:r>
                    </a:p>
                  </a:txBody>
                  <a:tcPr>
                    <a:solidFill>
                      <a:srgbClr val="F1F4F8"/>
                    </a:solidFill>
                  </a:tcPr>
                </a:tc>
              </a:tr>
              <a:tr h="520000">
                <a:tc>
                  <a:txBody>
                    <a:bodyPr/>
                    <a:lstStyle/>
                    <a:p>
                      <a:r>
                        <a:rPr sz="1400" b="0">
                          <a:solidFill>
                            <a:srgbClr val="1B2430"/>
                          </a:solidFill>
                          <a:latin typeface="Calibri"/>
                        </a:rPr>
                        <a:t>TF32</a:t>
                      </a:r>
                    </a:p>
                  </a:txBody>
                  <a:tcPr>
                    <a:solidFill>
                      <a:srgbClr val="FFFFFF"/>
                    </a:solidFill>
                  </a:tcPr>
                </a:tc>
                <a:tc>
                  <a:txBody>
                    <a:bodyPr/>
                    <a:lstStyle/>
                    <a:p>
                      <a:r>
                        <a:rPr sz="1400" b="0">
                          <a:solidFill>
                            <a:srgbClr val="1B2430"/>
                          </a:solidFill>
                          <a:latin typeface="Calibri"/>
                        </a:rPr>
                        <a:t>19 (32 saqlanadi)</a:t>
                      </a:r>
                    </a:p>
                  </a:txBody>
                  <a:tcPr>
                    <a:solidFill>
                      <a:srgbClr val="FFFFFF"/>
                    </a:solidFill>
                  </a:tcPr>
                </a:tc>
                <a:tc>
                  <a:txBody>
                    <a:bodyPr/>
                    <a:lstStyle/>
                    <a:p>
                      <a:r>
                        <a:rPr sz="1400" b="0">
                          <a:solidFill>
                            <a:srgbClr val="1B2430"/>
                          </a:solidFill>
                          <a:latin typeface="Calibri"/>
                        </a:rPr>
                        <a:t>8</a:t>
                      </a:r>
                    </a:p>
                  </a:txBody>
                  <a:tcPr>
                    <a:solidFill>
                      <a:srgbClr val="FFFFFF"/>
                    </a:solidFill>
                  </a:tcPr>
                </a:tc>
                <a:tc>
                  <a:txBody>
                    <a:bodyPr/>
                    <a:lstStyle/>
                    <a:p>
                      <a:r>
                        <a:rPr sz="1400" b="0">
                          <a:solidFill>
                            <a:srgbClr val="1B2430"/>
                          </a:solidFill>
                          <a:latin typeface="Calibri"/>
                        </a:rPr>
                        <a:t>10</a:t>
                      </a:r>
                    </a:p>
                  </a:txBody>
                  <a:tcPr>
                    <a:solidFill>
                      <a:srgbClr val="FFFFFF"/>
                    </a:solidFill>
                  </a:tcPr>
                </a:tc>
                <a:tc>
                  <a:txBody>
                    <a:bodyPr/>
                    <a:lstStyle/>
                    <a:p>
                      <a:r>
                        <a:rPr sz="1400" b="0">
                          <a:solidFill>
                            <a:srgbClr val="1B2430"/>
                          </a:solidFill>
                          <a:latin typeface="Calibri"/>
                        </a:rPr>
                        <a:t>±3,4e38</a:t>
                      </a:r>
                    </a:p>
                  </a:txBody>
                  <a:tcPr>
                    <a:solidFill>
                      <a:srgbClr val="FFFFFF"/>
                    </a:solidFill>
                  </a:tcPr>
                </a:tc>
                <a:tc>
                  <a:txBody>
                    <a:bodyPr/>
                    <a:lstStyle/>
                    <a:p>
                      <a:r>
                        <a:rPr sz="1400" b="0">
                          <a:solidFill>
                            <a:srgbClr val="1B2430"/>
                          </a:solidFill>
                          <a:latin typeface="Calibri"/>
                        </a:rPr>
                        <a:t>~3 raqam</a:t>
                      </a:r>
                    </a:p>
                  </a:txBody>
                  <a:tcPr>
                    <a:solidFill>
                      <a:srgbClr val="FFFFFF"/>
                    </a:solidFill>
                  </a:tcPr>
                </a:tc>
              </a:tr>
              <a:tr h="520000">
                <a:tc>
                  <a:txBody>
                    <a:bodyPr/>
                    <a:lstStyle/>
                    <a:p>
                      <a:r>
                        <a:rPr sz="1400" b="0">
                          <a:solidFill>
                            <a:srgbClr val="1B2430"/>
                          </a:solidFill>
                          <a:latin typeface="Calibri"/>
                        </a:rPr>
                        <a:t>FP16</a:t>
                      </a:r>
                    </a:p>
                  </a:txBody>
                  <a:tcPr>
                    <a:solidFill>
                      <a:srgbClr val="F1F4F8"/>
                    </a:solidFill>
                  </a:tcPr>
                </a:tc>
                <a:tc>
                  <a:txBody>
                    <a:bodyPr/>
                    <a:lstStyle/>
                    <a:p>
                      <a:r>
                        <a:rPr sz="1400" b="0">
                          <a:solidFill>
                            <a:srgbClr val="1B2430"/>
                          </a:solidFill>
                          <a:latin typeface="Calibri"/>
                        </a:rPr>
                        <a:t>16</a:t>
                      </a:r>
                    </a:p>
                  </a:txBody>
                  <a:tcPr>
                    <a:solidFill>
                      <a:srgbClr val="F1F4F8"/>
                    </a:solidFill>
                  </a:tcPr>
                </a:tc>
                <a:tc>
                  <a:txBody>
                    <a:bodyPr/>
                    <a:lstStyle/>
                    <a:p>
                      <a:r>
                        <a:rPr sz="1400" b="0">
                          <a:solidFill>
                            <a:srgbClr val="1B2430"/>
                          </a:solidFill>
                          <a:latin typeface="Calibri"/>
                        </a:rPr>
                        <a:t>5</a:t>
                      </a:r>
                    </a:p>
                  </a:txBody>
                  <a:tcPr>
                    <a:solidFill>
                      <a:srgbClr val="F1F4F8"/>
                    </a:solidFill>
                  </a:tcPr>
                </a:tc>
                <a:tc>
                  <a:txBody>
                    <a:bodyPr/>
                    <a:lstStyle/>
                    <a:p>
                      <a:r>
                        <a:rPr sz="1400" b="0">
                          <a:solidFill>
                            <a:srgbClr val="1B2430"/>
                          </a:solidFill>
                          <a:latin typeface="Calibri"/>
                        </a:rPr>
                        <a:t>10</a:t>
                      </a:r>
                    </a:p>
                  </a:txBody>
                  <a:tcPr>
                    <a:solidFill>
                      <a:srgbClr val="F1F4F8"/>
                    </a:solidFill>
                  </a:tcPr>
                </a:tc>
                <a:tc>
                  <a:txBody>
                    <a:bodyPr/>
                    <a:lstStyle/>
                    <a:p>
                      <a:r>
                        <a:rPr sz="1400" b="0">
                          <a:solidFill>
                            <a:srgbClr val="1B2430"/>
                          </a:solidFill>
                          <a:latin typeface="Calibri"/>
                        </a:rPr>
                        <a:t>±65504</a:t>
                      </a:r>
                    </a:p>
                  </a:txBody>
                  <a:tcPr>
                    <a:solidFill>
                      <a:srgbClr val="F1F4F8"/>
                    </a:solidFill>
                  </a:tcPr>
                </a:tc>
                <a:tc>
                  <a:txBody>
                    <a:bodyPr/>
                    <a:lstStyle/>
                    <a:p>
                      <a:r>
                        <a:rPr sz="1400" b="0">
                          <a:solidFill>
                            <a:srgbClr val="1B2430"/>
                          </a:solidFill>
                          <a:latin typeface="Calibri"/>
                        </a:rPr>
                        <a:t>~3 raqam</a:t>
                      </a:r>
                    </a:p>
                  </a:txBody>
                  <a:tcPr>
                    <a:solidFill>
                      <a:srgbClr val="F1F4F8"/>
                    </a:solidFill>
                  </a:tcPr>
                </a:tc>
              </a:tr>
              <a:tr h="520000">
                <a:tc>
                  <a:txBody>
                    <a:bodyPr/>
                    <a:lstStyle/>
                    <a:p>
                      <a:r>
                        <a:rPr sz="1400" b="0">
                          <a:solidFill>
                            <a:srgbClr val="1B2430"/>
                          </a:solidFill>
                          <a:latin typeface="Calibri"/>
                        </a:rPr>
                        <a:t>BF16</a:t>
                      </a:r>
                    </a:p>
                  </a:txBody>
                  <a:tcPr>
                    <a:solidFill>
                      <a:srgbClr val="FFFFFF"/>
                    </a:solidFill>
                  </a:tcPr>
                </a:tc>
                <a:tc>
                  <a:txBody>
                    <a:bodyPr/>
                    <a:lstStyle/>
                    <a:p>
                      <a:r>
                        <a:rPr sz="1400" b="0">
                          <a:solidFill>
                            <a:srgbClr val="1B2430"/>
                          </a:solidFill>
                          <a:latin typeface="Calibri"/>
                        </a:rPr>
                        <a:t>16</a:t>
                      </a:r>
                    </a:p>
                  </a:txBody>
                  <a:tcPr>
                    <a:solidFill>
                      <a:srgbClr val="FFFFFF"/>
                    </a:solidFill>
                  </a:tcPr>
                </a:tc>
                <a:tc>
                  <a:txBody>
                    <a:bodyPr/>
                    <a:lstStyle/>
                    <a:p>
                      <a:r>
                        <a:rPr sz="1400" b="0">
                          <a:solidFill>
                            <a:srgbClr val="1B2430"/>
                          </a:solidFill>
                          <a:latin typeface="Calibri"/>
                        </a:rPr>
                        <a:t>8</a:t>
                      </a:r>
                    </a:p>
                  </a:txBody>
                  <a:tcPr>
                    <a:solidFill>
                      <a:srgbClr val="FFFFFF"/>
                    </a:solidFill>
                  </a:tcPr>
                </a:tc>
                <a:tc>
                  <a:txBody>
                    <a:bodyPr/>
                    <a:lstStyle/>
                    <a:p>
                      <a:r>
                        <a:rPr sz="1400" b="0">
                          <a:solidFill>
                            <a:srgbClr val="1B2430"/>
                          </a:solidFill>
                          <a:latin typeface="Calibri"/>
                        </a:rPr>
                        <a:t>7</a:t>
                      </a:r>
                    </a:p>
                  </a:txBody>
                  <a:tcPr>
                    <a:solidFill>
                      <a:srgbClr val="FFFFFF"/>
                    </a:solidFill>
                  </a:tcPr>
                </a:tc>
                <a:tc>
                  <a:txBody>
                    <a:bodyPr/>
                    <a:lstStyle/>
                    <a:p>
                      <a:r>
                        <a:rPr sz="1400" b="0">
                          <a:solidFill>
                            <a:srgbClr val="1B2430"/>
                          </a:solidFill>
                          <a:latin typeface="Calibri"/>
                        </a:rPr>
                        <a:t>±3,4e38</a:t>
                      </a:r>
                    </a:p>
                  </a:txBody>
                  <a:tcPr>
                    <a:solidFill>
                      <a:srgbClr val="FFFFFF"/>
                    </a:solidFill>
                  </a:tcPr>
                </a:tc>
                <a:tc>
                  <a:txBody>
                    <a:bodyPr/>
                    <a:lstStyle/>
                    <a:p>
                      <a:r>
                        <a:rPr sz="1400" b="0">
                          <a:solidFill>
                            <a:srgbClr val="1B2430"/>
                          </a:solidFill>
                          <a:latin typeface="Calibri"/>
                        </a:rPr>
                        <a:t>~2 raqam</a:t>
                      </a:r>
                    </a:p>
                  </a:txBody>
                  <a:tcPr>
                    <a:solidFill>
                      <a:srgbClr val="FFFFFF"/>
                    </a:solidFill>
                  </a:tcPr>
                </a:tc>
              </a:tr>
              <a:tr h="520000">
                <a:tc>
                  <a:txBody>
                    <a:bodyPr/>
                    <a:lstStyle/>
                    <a:p>
                      <a:r>
                        <a:rPr sz="1400" b="0">
                          <a:solidFill>
                            <a:srgbClr val="1B2430"/>
                          </a:solidFill>
                          <a:latin typeface="Calibri"/>
                        </a:rPr>
                        <a:t>FP8 E4M3</a:t>
                      </a:r>
                    </a:p>
                  </a:txBody>
                  <a:tcPr>
                    <a:solidFill>
                      <a:srgbClr val="F1F4F8"/>
                    </a:solidFill>
                  </a:tcPr>
                </a:tc>
                <a:tc>
                  <a:txBody>
                    <a:bodyPr/>
                    <a:lstStyle/>
                    <a:p>
                      <a:r>
                        <a:rPr sz="1400" b="0">
                          <a:solidFill>
                            <a:srgbClr val="1B2430"/>
                          </a:solidFill>
                          <a:latin typeface="Calibri"/>
                        </a:rPr>
                        <a:t>8</a:t>
                      </a:r>
                    </a:p>
                  </a:txBody>
                  <a:tcPr>
                    <a:solidFill>
                      <a:srgbClr val="F1F4F8"/>
                    </a:solidFill>
                  </a:tcPr>
                </a:tc>
                <a:tc>
                  <a:txBody>
                    <a:bodyPr/>
                    <a:lstStyle/>
                    <a:p>
                      <a:r>
                        <a:rPr sz="1400" b="0">
                          <a:solidFill>
                            <a:srgbClr val="1B2430"/>
                          </a:solidFill>
                          <a:latin typeface="Calibri"/>
                        </a:rPr>
                        <a:t>4</a:t>
                      </a:r>
                    </a:p>
                  </a:txBody>
                  <a:tcPr>
                    <a:solidFill>
                      <a:srgbClr val="F1F4F8"/>
                    </a:solidFill>
                  </a:tcPr>
                </a:tc>
                <a:tc>
                  <a:txBody>
                    <a:bodyPr/>
                    <a:lstStyle/>
                    <a:p>
                      <a:r>
                        <a:rPr sz="1400" b="0">
                          <a:solidFill>
                            <a:srgbClr val="1B2430"/>
                          </a:solidFill>
                          <a:latin typeface="Calibri"/>
                        </a:rPr>
                        <a:t>3</a:t>
                      </a:r>
                    </a:p>
                  </a:txBody>
                  <a:tcPr>
                    <a:solidFill>
                      <a:srgbClr val="F1F4F8"/>
                    </a:solidFill>
                  </a:tcPr>
                </a:tc>
                <a:tc>
                  <a:txBody>
                    <a:bodyPr/>
                    <a:lstStyle/>
                    <a:p>
                      <a:r>
                        <a:rPr sz="1400" b="0">
                          <a:solidFill>
                            <a:srgbClr val="1B2430"/>
                          </a:solidFill>
                          <a:latin typeface="Calibri"/>
                        </a:rPr>
                        <a:t>±448</a:t>
                      </a:r>
                    </a:p>
                  </a:txBody>
                  <a:tcPr>
                    <a:solidFill>
                      <a:srgbClr val="F1F4F8"/>
                    </a:solidFill>
                  </a:tcPr>
                </a:tc>
                <a:tc>
                  <a:txBody>
                    <a:bodyPr/>
                    <a:lstStyle/>
                    <a:p>
                      <a:r>
                        <a:rPr sz="1400" b="0">
                          <a:solidFill>
                            <a:srgbClr val="1B2430"/>
                          </a:solidFill>
                          <a:latin typeface="Calibri"/>
                        </a:rPr>
                        <a:t>~1 raqam</a:t>
                      </a:r>
                    </a:p>
                  </a:txBody>
                  <a:tcPr>
                    <a:solidFill>
                      <a:srgbClr val="F1F4F8"/>
                    </a:solidFill>
                  </a:tcPr>
                </a:tc>
              </a:tr>
              <a:tr h="520000">
                <a:tc>
                  <a:txBody>
                    <a:bodyPr/>
                    <a:lstStyle/>
                    <a:p>
                      <a:r>
                        <a:rPr sz="1400" b="0">
                          <a:solidFill>
                            <a:srgbClr val="1B2430"/>
                          </a:solidFill>
                          <a:latin typeface="Calibri"/>
                        </a:rPr>
                        <a:t>FP8 E5M2</a:t>
                      </a:r>
                    </a:p>
                  </a:txBody>
                  <a:tcPr>
                    <a:solidFill>
                      <a:srgbClr val="FFFFFF"/>
                    </a:solidFill>
                  </a:tcPr>
                </a:tc>
                <a:tc>
                  <a:txBody>
                    <a:bodyPr/>
                    <a:lstStyle/>
                    <a:p>
                      <a:r>
                        <a:rPr sz="1400" b="0">
                          <a:solidFill>
                            <a:srgbClr val="1B2430"/>
                          </a:solidFill>
                          <a:latin typeface="Calibri"/>
                        </a:rPr>
                        <a:t>8</a:t>
                      </a:r>
                    </a:p>
                  </a:txBody>
                  <a:tcPr>
                    <a:solidFill>
                      <a:srgbClr val="FFFFFF"/>
                    </a:solidFill>
                  </a:tcPr>
                </a:tc>
                <a:tc>
                  <a:txBody>
                    <a:bodyPr/>
                    <a:lstStyle/>
                    <a:p>
                      <a:r>
                        <a:rPr sz="1400" b="0">
                          <a:solidFill>
                            <a:srgbClr val="1B2430"/>
                          </a:solidFill>
                          <a:latin typeface="Calibri"/>
                        </a:rPr>
                        <a:t>5</a:t>
                      </a:r>
                    </a:p>
                  </a:txBody>
                  <a:tcPr>
                    <a:solidFill>
                      <a:srgbClr val="FFFFFF"/>
                    </a:solidFill>
                  </a:tcPr>
                </a:tc>
                <a:tc>
                  <a:txBody>
                    <a:bodyPr/>
                    <a:lstStyle/>
                    <a:p>
                      <a:r>
                        <a:rPr sz="1400" b="0">
                          <a:solidFill>
                            <a:srgbClr val="1B2430"/>
                          </a:solidFill>
                          <a:latin typeface="Calibri"/>
                        </a:rPr>
                        <a:t>2</a:t>
                      </a:r>
                    </a:p>
                  </a:txBody>
                  <a:tcPr>
                    <a:solidFill>
                      <a:srgbClr val="FFFFFF"/>
                    </a:solidFill>
                  </a:tcPr>
                </a:tc>
                <a:tc>
                  <a:txBody>
                    <a:bodyPr/>
                    <a:lstStyle/>
                    <a:p>
                      <a:r>
                        <a:rPr sz="1400" b="0">
                          <a:solidFill>
                            <a:srgbClr val="1B2430"/>
                          </a:solidFill>
                          <a:latin typeface="Calibri"/>
                        </a:rPr>
                        <a:t>±57344</a:t>
                      </a:r>
                    </a:p>
                  </a:txBody>
                  <a:tcPr>
                    <a:solidFill>
                      <a:srgbClr val="FFFFFF"/>
                    </a:solidFill>
                  </a:tcPr>
                </a:tc>
                <a:tc>
                  <a:txBody>
                    <a:bodyPr/>
                    <a:lstStyle/>
                    <a:p>
                      <a:r>
                        <a:rPr sz="1400" b="0">
                          <a:solidFill>
                            <a:srgbClr val="1B2430"/>
                          </a:solidFill>
                          <a:latin typeface="Calibri"/>
                        </a:rPr>
                        <a:t>~1 raqam</a:t>
                      </a:r>
                    </a:p>
                  </a:txBody>
                  <a:tcPr>
                    <a:solidFill>
                      <a:srgbClr val="FFFFFF"/>
                    </a:solidFill>
                  </a:tcPr>
                </a:tc>
              </a:tr>
              <a:tr h="520000">
                <a:tc>
                  <a:txBody>
                    <a:bodyPr/>
                    <a:lstStyle/>
                    <a:p>
                      <a:r>
                        <a:rPr sz="1400" b="0">
                          <a:solidFill>
                            <a:srgbClr val="1B2430"/>
                          </a:solidFill>
                          <a:latin typeface="Calibri"/>
                        </a:rPr>
                        <a:t>INT8</a:t>
                      </a:r>
                    </a:p>
                  </a:txBody>
                  <a:tcPr>
                    <a:solidFill>
                      <a:srgbClr val="F1F4F8"/>
                    </a:solidFill>
                  </a:tcPr>
                </a:tc>
                <a:tc>
                  <a:txBody>
                    <a:bodyPr/>
                    <a:lstStyle/>
                    <a:p>
                      <a:r>
                        <a:rPr sz="1400" b="0">
                          <a:solidFill>
                            <a:srgbClr val="1B2430"/>
                          </a:solidFill>
                          <a:latin typeface="Calibri"/>
                        </a:rPr>
                        <a:t>8</a:t>
                      </a:r>
                    </a:p>
                  </a:txBody>
                  <a:tcPr>
                    <a:solidFill>
                      <a:srgbClr val="F1F4F8"/>
                    </a:solidFill>
                  </a:tcPr>
                </a:tc>
                <a:tc>
                  <a:txBody>
                    <a:bodyPr/>
                    <a:lstStyle/>
                    <a:p>
                      <a:r>
                        <a:rPr sz="1400" b="0">
                          <a:solidFill>
                            <a:srgbClr val="1B2430"/>
                          </a:solidFill>
                          <a:latin typeface="Calibri"/>
                        </a:rPr>
                        <a:t>–</a:t>
                      </a:r>
                    </a:p>
                  </a:txBody>
                  <a:tcPr>
                    <a:solidFill>
                      <a:srgbClr val="F1F4F8"/>
                    </a:solidFill>
                  </a:tcPr>
                </a:tc>
                <a:tc>
                  <a:txBody>
                    <a:bodyPr/>
                    <a:lstStyle/>
                    <a:p>
                      <a:r>
                        <a:rPr sz="1400" b="0">
                          <a:solidFill>
                            <a:srgbClr val="1B2430"/>
                          </a:solidFill>
                          <a:latin typeface="Calibri"/>
                        </a:rPr>
                        <a:t>–</a:t>
                      </a:r>
                    </a:p>
                  </a:txBody>
                  <a:tcPr>
                    <a:solidFill>
                      <a:srgbClr val="F1F4F8"/>
                    </a:solidFill>
                  </a:tcPr>
                </a:tc>
                <a:tc>
                  <a:txBody>
                    <a:bodyPr/>
                    <a:lstStyle/>
                    <a:p>
                      <a:r>
                        <a:rPr sz="1400" b="0">
                          <a:solidFill>
                            <a:srgbClr val="1B2430"/>
                          </a:solidFill>
                          <a:latin typeface="Calibri"/>
                        </a:rPr>
                        <a:t>−128…127 (masshtab bilan)</a:t>
                      </a:r>
                    </a:p>
                  </a:txBody>
                  <a:tcPr>
                    <a:solidFill>
                      <a:srgbClr val="F1F4F8"/>
                    </a:solidFill>
                  </a:tcPr>
                </a:tc>
                <a:tc>
                  <a:txBody>
                    <a:bodyPr/>
                    <a:lstStyle/>
                    <a:p>
                      <a:r>
                        <a:rPr sz="1400" b="0">
                          <a:solidFill>
                            <a:srgbClr val="1B2430"/>
                          </a:solidFill>
                          <a:latin typeface="Calibri"/>
                        </a:rPr>
                        <a:t>diskret</a:t>
                      </a:r>
                    </a:p>
                  </a:txBody>
                  <a:tcPr>
                    <a:solidFill>
                      <a:srgbClr val="F1F4F8"/>
                    </a:solidFill>
                  </a:tcPr>
                </a:tc>
              </a:tr>
              <a:tr h="520000">
                <a:tc>
                  <a:txBody>
                    <a:bodyPr/>
                    <a:lstStyle/>
                    <a:p>
                      <a:r>
                        <a:rPr sz="1400" b="0">
                          <a:solidFill>
                            <a:srgbClr val="1B2430"/>
                          </a:solidFill>
                          <a:latin typeface="Calibri"/>
                        </a:rPr>
                        <a:t>INT4</a:t>
                      </a:r>
                    </a:p>
                  </a:txBody>
                  <a:tcPr>
                    <a:solidFill>
                      <a:srgbClr val="FFFFFF"/>
                    </a:solidFill>
                  </a:tcPr>
                </a:tc>
                <a:tc>
                  <a:txBody>
                    <a:bodyPr/>
                    <a:lstStyle/>
                    <a:p>
                      <a:r>
                        <a:rPr sz="1400" b="0">
                          <a:solidFill>
                            <a:srgbClr val="1B2430"/>
                          </a:solidFill>
                          <a:latin typeface="Calibri"/>
                        </a:rPr>
                        <a:t>4</a:t>
                      </a:r>
                    </a:p>
                  </a:txBody>
                  <a:tcPr>
                    <a:solidFill>
                      <a:srgbClr val="FFFFFF"/>
                    </a:solidFill>
                  </a:tcPr>
                </a:tc>
                <a:tc>
                  <a:txBody>
                    <a:bodyPr/>
                    <a:lstStyle/>
                    <a:p>
                      <a:r>
                        <a:rPr sz="1400" b="0">
                          <a:solidFill>
                            <a:srgbClr val="1B2430"/>
                          </a:solidFill>
                          <a:latin typeface="Calibri"/>
                        </a:rPr>
                        <a:t>–</a:t>
                      </a:r>
                    </a:p>
                  </a:txBody>
                  <a:tcPr>
                    <a:solidFill>
                      <a:srgbClr val="FFFFFF"/>
                    </a:solidFill>
                  </a:tcPr>
                </a:tc>
                <a:tc>
                  <a:txBody>
                    <a:bodyPr/>
                    <a:lstStyle/>
                    <a:p>
                      <a:r>
                        <a:rPr sz="1400" b="0">
                          <a:solidFill>
                            <a:srgbClr val="1B2430"/>
                          </a:solidFill>
                          <a:latin typeface="Calibri"/>
                        </a:rPr>
                        <a:t>–</a:t>
                      </a:r>
                    </a:p>
                  </a:txBody>
                  <a:tcPr>
                    <a:solidFill>
                      <a:srgbClr val="FFFFFF"/>
                    </a:solidFill>
                  </a:tcPr>
                </a:tc>
                <a:tc>
                  <a:txBody>
                    <a:bodyPr/>
                    <a:lstStyle/>
                    <a:p>
                      <a:r>
                        <a:rPr sz="1400" b="0">
                          <a:solidFill>
                            <a:srgbClr val="1B2430"/>
                          </a:solidFill>
                          <a:latin typeface="Calibri"/>
                        </a:rPr>
                        <a:t>−8…7 (masshtab bilan)</a:t>
                      </a:r>
                    </a:p>
                  </a:txBody>
                  <a:tcPr>
                    <a:solidFill>
                      <a:srgbClr val="FFFFFF"/>
                    </a:solidFill>
                  </a:tcPr>
                </a:tc>
                <a:tc>
                  <a:txBody>
                    <a:bodyPr/>
                    <a:lstStyle/>
                    <a:p>
                      <a:r>
                        <a:rPr sz="1400" b="0">
                          <a:solidFill>
                            <a:srgbClr val="1B2430"/>
                          </a:solidFill>
                          <a:latin typeface="Calibri"/>
                        </a:rPr>
                        <a:t>diskret</a:t>
                      </a:r>
                    </a:p>
                  </a:txBody>
                  <a:tcPr>
                    <a:solidFill>
                      <a:srgbClr val="FFFFFF"/>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Kvantlash (quantization): nazariya va turlari</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M8 · Sun'iy intellekt tizimlarini optimallashtirish usullari</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8</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1300000"/>
            <a:ext cx="11000000" cy="4950000"/>
          </a:xfrm>
          <a:prstGeom prst="rect">
            <a:avLst/>
          </a:prstGeom>
          <a:noFill/>
        </p:spPr>
        <p:txBody>
          <a:bodyPr wrap="square">
            <a:spAutoFit/>
          </a:bodyPr>
          <a:lstStyle/>
          <a:p>
            <a:pPr>
              <a:spcAft>
                <a:spcPts val="900"/>
              </a:spcAft>
            </a:pPr>
            <a:r>
              <a:rPr sz="1800" b="1">
                <a:solidFill>
                  <a:srgbClr val="0F8B8D"/>
                </a:solidFill>
              </a:rPr>
              <a:t>▪  </a:t>
            </a:r>
            <a:r>
              <a:rPr sz="1800">
                <a:solidFill>
                  <a:srgbClr val="1B2430"/>
                </a:solidFill>
                <a:latin typeface="Calibri"/>
              </a:rPr>
              <a:t>Kvantlash — uzluksiz (suzuvchi nuqtali) qiymatlarni chekli diskret to'plamga (odatda 8 yoki 4 bitli butun sonlar) akslantirish.</a:t>
            </a:r>
          </a:p>
          <a:p>
            <a:pPr>
              <a:spcAft>
                <a:spcPts val="900"/>
              </a:spcAft>
            </a:pPr>
            <a:r>
              <a:rPr sz="1800" b="1">
                <a:solidFill>
                  <a:srgbClr val="0F8B8D"/>
                </a:solidFill>
              </a:rPr>
              <a:t>▪  </a:t>
            </a:r>
            <a:r>
              <a:rPr sz="1800">
                <a:solidFill>
                  <a:srgbClr val="1B2430"/>
                </a:solidFill>
                <a:latin typeface="Calibri"/>
              </a:rPr>
              <a:t>q = clamp(round(x / s) + z, q_min, q_max), teskarisi x̂ = s · (q − z)</a:t>
            </a:r>
          </a:p>
          <a:p>
            <a:pPr>
              <a:spcAft>
                <a:spcPts val="900"/>
              </a:spcAft>
            </a:pPr>
            <a:r>
              <a:rPr sz="1800" b="1">
                <a:solidFill>
                  <a:srgbClr val="0F8B8D"/>
                </a:solidFill>
              </a:rPr>
              <a:t>▪  </a:t>
            </a:r>
            <a:r>
              <a:rPr sz="1800">
                <a:solidFill>
                  <a:srgbClr val="1B2430"/>
                </a:solidFill>
                <a:latin typeface="Calibri"/>
              </a:rPr>
              <a:t>bu yerda s — masshtab (scale, suzuvchi nuqtali), z — nol nuqta (zero point, butun son), [q_min, q_max] — INT8 uchun [−128, 127].</a:t>
            </a:r>
          </a:p>
          <a:p>
            <a:pPr>
              <a:spcAft>
                <a:spcPts val="900"/>
              </a:spcAft>
            </a:pPr>
            <a:r>
              <a:rPr sz="1800" b="1">
                <a:solidFill>
                  <a:srgbClr val="0F8B8D"/>
                </a:solidFill>
              </a:rPr>
              <a:t>▪  </a:t>
            </a:r>
            <a:r>
              <a:rPr sz="1800">
                <a:solidFill>
                  <a:srgbClr val="1B2430"/>
                </a:solidFill>
                <a:latin typeface="Calibri"/>
              </a:rPr>
              <a:t>Kvantlash turlari:</a:t>
            </a:r>
          </a:p>
          <a:p>
            <a:pPr>
              <a:spcAft>
                <a:spcPts val="900"/>
              </a:spcAft>
            </a:pPr>
            <a:r>
              <a:rPr sz="1800" b="1">
                <a:solidFill>
                  <a:srgbClr val="0F8B8D"/>
                </a:solidFill>
              </a:rPr>
              <a:t>▪  </a:t>
            </a:r>
            <a:r>
              <a:rPr sz="1800">
                <a:solidFill>
                  <a:srgbClr val="1B2430"/>
                </a:solidFill>
                <a:latin typeface="Calibri"/>
              </a:rPr>
              <a:t>QAT'da oldinga o'tishda og'irlik va aktivatsiyalar kvantlanadi va qayta suzuvchi nuqtaga qaytariladi (soxta kvantlash), orqaga o'tishda esa round ning hosilasi nolga teng bo'lgani uchun…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Kvantlash (quantization): nazariya va turlari</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M8 · Sun'iy intellekt tizimlarini optimallashtirish usullari</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9</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Table 7"/>
          <p:cNvGraphicFramePr>
            <a:graphicFrameLocks noGrp="1"/>
          </p:cNvGraphicFramePr>
          <p:nvPr/>
        </p:nvGraphicFramePr>
        <p:xfrm>
          <a:off x="500000" y="1350000"/>
          <a:ext cx="11200000" cy="3120000"/>
        </p:xfrm>
        <a:graphic>
          <a:graphicData uri="http://schemas.openxmlformats.org/drawingml/2006/table">
            <a:tbl>
              <a:tblPr firstRow="1" bandRow="1">
                <a:tableStyleId>{5C22544A-7EE6-4342-B048-85BDC9FD1C3A}</a:tableStyleId>
              </a:tblPr>
              <a:tblGrid>
                <a:gridCol w="1866666"/>
                <a:gridCol w="1866666"/>
                <a:gridCol w="1866666"/>
                <a:gridCol w="1866666"/>
                <a:gridCol w="1866666"/>
                <a:gridCol w="1866670"/>
              </a:tblGrid>
              <a:tr h="520000">
                <a:tc>
                  <a:txBody>
                    <a:bodyPr/>
                    <a:lstStyle/>
                    <a:p>
                      <a:r>
                        <a:rPr sz="1200" b="1">
                          <a:solidFill>
                            <a:srgbClr val="FFFFFF"/>
                          </a:solidFill>
                          <a:latin typeface="Calibri"/>
                        </a:rPr>
                        <a:t>Tur</a:t>
                      </a:r>
                    </a:p>
                  </a:txBody>
                  <a:tcPr>
                    <a:solidFill>
                      <a:srgbClr val="2D5C8F"/>
                    </a:solidFill>
                  </a:tcPr>
                </a:tc>
                <a:tc>
                  <a:txBody>
                    <a:bodyPr/>
                    <a:lstStyle/>
                    <a:p>
                      <a:r>
                        <a:rPr sz="1200" b="1">
                          <a:solidFill>
                            <a:srgbClr val="FFFFFF"/>
                          </a:solidFill>
                          <a:latin typeface="Calibri"/>
                        </a:rPr>
                        <a:t>Nima kvantlanadi</a:t>
                      </a:r>
                    </a:p>
                  </a:txBody>
                  <a:tcPr>
                    <a:solidFill>
                      <a:srgbClr val="2D5C8F"/>
                    </a:solidFill>
                  </a:tcPr>
                </a:tc>
                <a:tc>
                  <a:txBody>
                    <a:bodyPr/>
                    <a:lstStyle/>
                    <a:p>
                      <a:r>
                        <a:rPr sz="1200" b="1">
                          <a:solidFill>
                            <a:srgbClr val="FFFFFF"/>
                          </a:solidFill>
                          <a:latin typeface="Calibri"/>
                        </a:rPr>
                        <a:t>Kalibrlash</a:t>
                      </a:r>
                    </a:p>
                  </a:txBody>
                  <a:tcPr>
                    <a:solidFill>
                      <a:srgbClr val="2D5C8F"/>
                    </a:solidFill>
                  </a:tcPr>
                </a:tc>
                <a:tc>
                  <a:txBody>
                    <a:bodyPr/>
                    <a:lstStyle/>
                    <a:p>
                      <a:r>
                        <a:rPr sz="1200" b="1">
                          <a:solidFill>
                            <a:srgbClr val="FFFFFF"/>
                          </a:solidFill>
                          <a:latin typeface="Calibri"/>
                        </a:rPr>
                        <a:t>Tezlik yutug'i</a:t>
                      </a:r>
                    </a:p>
                  </a:txBody>
                  <a:tcPr>
                    <a:solidFill>
                      <a:srgbClr val="2D5C8F"/>
                    </a:solidFill>
                  </a:tcPr>
                </a:tc>
                <a:tc>
                  <a:txBody>
                    <a:bodyPr/>
                    <a:lstStyle/>
                    <a:p>
                      <a:r>
                        <a:rPr sz="1200" b="1">
                          <a:solidFill>
                            <a:srgbClr val="FFFFFF"/>
                          </a:solidFill>
                          <a:latin typeface="Calibri"/>
                        </a:rPr>
                        <a:t>Aniqlik yo'qotish</a:t>
                      </a:r>
                    </a:p>
                  </a:txBody>
                  <a:tcPr>
                    <a:solidFill>
                      <a:srgbClr val="2D5C8F"/>
                    </a:solidFill>
                  </a:tcPr>
                </a:tc>
                <a:tc>
                  <a:txBody>
                    <a:bodyPr/>
                    <a:lstStyle/>
                    <a:p>
                      <a:r>
                        <a:rPr sz="1200" b="1">
                          <a:solidFill>
                            <a:srgbClr val="FFFFFF"/>
                          </a:solidFill>
                          <a:latin typeface="Calibri"/>
                        </a:rPr>
                        <a:t>Tipik qo'llanish</a:t>
                      </a:r>
                    </a:p>
                  </a:txBody>
                  <a:tcPr>
                    <a:solidFill>
                      <a:srgbClr val="2D5C8F"/>
                    </a:solidFill>
                  </a:tcPr>
                </a:tc>
              </a:tr>
              <a:tr h="520000">
                <a:tc>
                  <a:txBody>
                    <a:bodyPr/>
                    <a:lstStyle/>
                    <a:p>
                      <a:r>
                        <a:rPr sz="1200" b="0">
                          <a:solidFill>
                            <a:srgbClr val="1B2430"/>
                          </a:solidFill>
                          <a:latin typeface="Calibri"/>
                        </a:rPr>
                        <a:t>Dinamik (dynamic PTQ)</a:t>
                      </a:r>
                    </a:p>
                  </a:txBody>
                  <a:tcPr>
                    <a:solidFill>
                      <a:srgbClr val="F1F4F8"/>
                    </a:solidFill>
                  </a:tcPr>
                </a:tc>
                <a:tc>
                  <a:txBody>
                    <a:bodyPr/>
                    <a:lstStyle/>
                    <a:p>
                      <a:r>
                        <a:rPr sz="1200" b="0">
                          <a:solidFill>
                            <a:srgbClr val="1B2430"/>
                          </a:solidFill>
                          <a:latin typeface="Calibri"/>
                        </a:rPr>
                        <a:t>og'irliklar oldindan, aktivatsiyalar ish vaqtida</a:t>
                      </a:r>
                    </a:p>
                  </a:txBody>
                  <a:tcPr>
                    <a:solidFill>
                      <a:srgbClr val="F1F4F8"/>
                    </a:solidFill>
                  </a:tcPr>
                </a:tc>
                <a:tc>
                  <a:txBody>
                    <a:bodyPr/>
                    <a:lstStyle/>
                    <a:p>
                      <a:r>
                        <a:rPr sz="1200" b="0">
                          <a:solidFill>
                            <a:srgbClr val="1B2430"/>
                          </a:solidFill>
                          <a:latin typeface="Calibri"/>
                        </a:rPr>
                        <a:t>kerak emas</a:t>
                      </a:r>
                    </a:p>
                  </a:txBody>
                  <a:tcPr>
                    <a:solidFill>
                      <a:srgbClr val="F1F4F8"/>
                    </a:solidFill>
                  </a:tcPr>
                </a:tc>
                <a:tc>
                  <a:txBody>
                    <a:bodyPr/>
                    <a:lstStyle/>
                    <a:p>
                      <a:r>
                        <a:rPr sz="1200" b="0">
                          <a:solidFill>
                            <a:srgbClr val="1B2430"/>
                          </a:solidFill>
                          <a:latin typeface="Calibri"/>
                        </a:rPr>
                        <a:t>o'rtacha (masshtab hisoblash yuki)</a:t>
                      </a:r>
                    </a:p>
                  </a:txBody>
                  <a:tcPr>
                    <a:solidFill>
                      <a:srgbClr val="F1F4F8"/>
                    </a:solidFill>
                  </a:tcPr>
                </a:tc>
                <a:tc>
                  <a:txBody>
                    <a:bodyPr/>
                    <a:lstStyle/>
                    <a:p>
                      <a:r>
                        <a:rPr sz="1200" b="0">
                          <a:solidFill>
                            <a:srgbClr val="1B2430"/>
                          </a:solidFill>
                          <a:latin typeface="Calibri"/>
                        </a:rPr>
                        <a:t>juda kam</a:t>
                      </a:r>
                    </a:p>
                  </a:txBody>
                  <a:tcPr>
                    <a:solidFill>
                      <a:srgbClr val="F1F4F8"/>
                    </a:solidFill>
                  </a:tcPr>
                </a:tc>
                <a:tc>
                  <a:txBody>
                    <a:bodyPr/>
                    <a:lstStyle/>
                    <a:p>
                      <a:r>
                        <a:rPr sz="1200" b="0">
                          <a:solidFill>
                            <a:srgbClr val="1B2430"/>
                          </a:solidFill>
                          <a:latin typeface="Calibri"/>
                        </a:rPr>
                        <a:t>CPU'da LSTM/Transformer, Linear qatlamlar</a:t>
                      </a:r>
                    </a:p>
                  </a:txBody>
                  <a:tcPr>
                    <a:solidFill>
                      <a:srgbClr val="F1F4F8"/>
                    </a:solidFill>
                  </a:tcPr>
                </a:tc>
              </a:tr>
              <a:tr h="520000">
                <a:tc>
                  <a:txBody>
                    <a:bodyPr/>
                    <a:lstStyle/>
                    <a:p>
                      <a:r>
                        <a:rPr sz="1200" b="0">
                          <a:solidFill>
                            <a:srgbClr val="1B2430"/>
                          </a:solidFill>
                          <a:latin typeface="Calibri"/>
                        </a:rPr>
                        <a:t>Statik (static PTQ)</a:t>
                      </a:r>
                    </a:p>
                  </a:txBody>
                  <a:tcPr>
                    <a:solidFill>
                      <a:srgbClr val="FFFFFF"/>
                    </a:solidFill>
                  </a:tcPr>
                </a:tc>
                <a:tc>
                  <a:txBody>
                    <a:bodyPr/>
                    <a:lstStyle/>
                    <a:p>
                      <a:r>
                        <a:rPr sz="1200" b="0">
                          <a:solidFill>
                            <a:srgbClr val="1B2430"/>
                          </a:solidFill>
                          <a:latin typeface="Calibri"/>
                        </a:rPr>
                        <a:t>og'irliklar va aktivatsiyalar oldindan</a:t>
                      </a:r>
                    </a:p>
                  </a:txBody>
                  <a:tcPr>
                    <a:solidFill>
                      <a:srgbClr val="FFFFFF"/>
                    </a:solidFill>
                  </a:tcPr>
                </a:tc>
                <a:tc>
                  <a:txBody>
                    <a:bodyPr/>
                    <a:lstStyle/>
                    <a:p>
                      <a:r>
                        <a:rPr sz="1200" b="0">
                          <a:solidFill>
                            <a:srgbClr val="1B2430"/>
                          </a:solidFill>
                          <a:latin typeface="Calibri"/>
                        </a:rPr>
                        <a:t>100–1000 namuna</a:t>
                      </a:r>
                    </a:p>
                  </a:txBody>
                  <a:tcPr>
                    <a:solidFill>
                      <a:srgbClr val="FFFFFF"/>
                    </a:solidFill>
                  </a:tcPr>
                </a:tc>
                <a:tc>
                  <a:txBody>
                    <a:bodyPr/>
                    <a:lstStyle/>
                    <a:p>
                      <a:r>
                        <a:rPr sz="1200" b="0">
                          <a:solidFill>
                            <a:srgbClr val="1B2430"/>
                          </a:solidFill>
                          <a:latin typeface="Calibri"/>
                        </a:rPr>
                        <a:t>yuqori (to'liq INT8 yo'l)</a:t>
                      </a:r>
                    </a:p>
                  </a:txBody>
                  <a:tcPr>
                    <a:solidFill>
                      <a:srgbClr val="FFFFFF"/>
                    </a:solidFill>
                  </a:tcPr>
                </a:tc>
                <a:tc>
                  <a:txBody>
                    <a:bodyPr/>
                    <a:lstStyle/>
                    <a:p>
                      <a:r>
                        <a:rPr sz="1200" b="0">
                          <a:solidFill>
                            <a:srgbClr val="1B2430"/>
                          </a:solidFill>
                          <a:latin typeface="Calibri"/>
                        </a:rPr>
                        <a:t>kam–o'rtacha</a:t>
                      </a:r>
                    </a:p>
                  </a:txBody>
                  <a:tcPr>
                    <a:solidFill>
                      <a:srgbClr val="FFFFFF"/>
                    </a:solidFill>
                  </a:tcPr>
                </a:tc>
                <a:tc>
                  <a:txBody>
                    <a:bodyPr/>
                    <a:lstStyle/>
                    <a:p>
                      <a:r>
                        <a:rPr sz="1200" b="0">
                          <a:solidFill>
                            <a:srgbClr val="1B2430"/>
                          </a:solidFill>
                          <a:latin typeface="Calibri"/>
                        </a:rPr>
                        <a:t>CNN, chekka qurilma, TensorRT INT8</a:t>
                      </a:r>
                    </a:p>
                  </a:txBody>
                  <a:tcPr>
                    <a:solidFill>
                      <a:srgbClr val="FFFFFF"/>
                    </a:solidFill>
                  </a:tcPr>
                </a:tc>
              </a:tr>
              <a:tr h="520000">
                <a:tc>
                  <a:txBody>
                    <a:bodyPr/>
                    <a:lstStyle/>
                    <a:p>
                      <a:r>
                        <a:rPr sz="1200" b="0">
                          <a:solidFill>
                            <a:srgbClr val="1B2430"/>
                          </a:solidFill>
                          <a:latin typeface="Calibri"/>
                        </a:rPr>
                        <a:t>QAT</a:t>
                      </a:r>
                    </a:p>
                  </a:txBody>
                  <a:tcPr>
                    <a:solidFill>
                      <a:srgbClr val="F1F4F8"/>
                    </a:solidFill>
                  </a:tcPr>
                </a:tc>
                <a:tc>
                  <a:txBody>
                    <a:bodyPr/>
                    <a:lstStyle/>
                    <a:p>
                      <a:r>
                        <a:rPr sz="1200" b="0">
                          <a:solidFill>
                            <a:srgbClr val="1B2430"/>
                          </a:solidFill>
                          <a:latin typeface="Calibri"/>
                        </a:rPr>
                        <a:t>o'qitish paytida soxta kvantlash (fake quant)</a:t>
                      </a:r>
                    </a:p>
                  </a:txBody>
                  <a:tcPr>
                    <a:solidFill>
                      <a:srgbClr val="F1F4F8"/>
                    </a:solidFill>
                  </a:tcPr>
                </a:tc>
                <a:tc>
                  <a:txBody>
                    <a:bodyPr/>
                    <a:lstStyle/>
                    <a:p>
                      <a:r>
                        <a:rPr sz="1200" b="0">
                          <a:solidFill>
                            <a:srgbClr val="1B2430"/>
                          </a:solidFill>
                          <a:latin typeface="Calibri"/>
                        </a:rPr>
                        <a:t>qayta o'qitish</a:t>
                      </a:r>
                    </a:p>
                  </a:txBody>
                  <a:tcPr>
                    <a:solidFill>
                      <a:srgbClr val="F1F4F8"/>
                    </a:solidFill>
                  </a:tcPr>
                </a:tc>
                <a:tc>
                  <a:txBody>
                    <a:bodyPr/>
                    <a:lstStyle/>
                    <a:p>
                      <a:r>
                        <a:rPr sz="1200" b="0">
                          <a:solidFill>
                            <a:srgbClr val="1B2430"/>
                          </a:solidFill>
                          <a:latin typeface="Calibri"/>
                        </a:rPr>
                        <a:t>statik bilan teng</a:t>
                      </a:r>
                    </a:p>
                  </a:txBody>
                  <a:tcPr>
                    <a:solidFill>
                      <a:srgbClr val="F1F4F8"/>
                    </a:solidFill>
                  </a:tcPr>
                </a:tc>
                <a:tc>
                  <a:txBody>
                    <a:bodyPr/>
                    <a:lstStyle/>
                    <a:p>
                      <a:r>
                        <a:rPr sz="1200" b="0">
                          <a:solidFill>
                            <a:srgbClr val="1B2430"/>
                          </a:solidFill>
                          <a:latin typeface="Calibri"/>
                        </a:rPr>
                        <a:t>eng kam</a:t>
                      </a:r>
                    </a:p>
                  </a:txBody>
                  <a:tcPr>
                    <a:solidFill>
                      <a:srgbClr val="F1F4F8"/>
                    </a:solidFill>
                  </a:tcPr>
                </a:tc>
                <a:tc>
                  <a:txBody>
                    <a:bodyPr/>
                    <a:lstStyle/>
                    <a:p>
                      <a:r>
                        <a:rPr sz="1200" b="0">
                          <a:solidFill>
                            <a:srgbClr val="1B2430"/>
                          </a:solidFill>
                          <a:latin typeface="Calibri"/>
                        </a:rPr>
                        <a:t>kichik/sezgir modellar, INT4</a:t>
                      </a:r>
                    </a:p>
                  </a:txBody>
                  <a:tcPr>
                    <a:solidFill>
                      <a:srgbClr val="F1F4F8"/>
                    </a:solidFill>
                  </a:tcPr>
                </a:tc>
              </a:tr>
              <a:tr h="520000">
                <a:tc>
                  <a:txBody>
                    <a:bodyPr/>
                    <a:lstStyle/>
                    <a:p>
                      <a:r>
                        <a:rPr sz="1200" b="0">
                          <a:solidFill>
                            <a:srgbClr val="1B2430"/>
                          </a:solidFill>
                          <a:latin typeface="Calibri"/>
                        </a:rPr>
                        <a:t>Og'irlik-faqat INT4/INT8 (GPTQ, AWQ, NF4)</a:t>
                      </a:r>
                    </a:p>
                  </a:txBody>
                  <a:tcPr>
                    <a:solidFill>
                      <a:srgbClr val="FFFFFF"/>
                    </a:solidFill>
                  </a:tcPr>
                </a:tc>
                <a:tc>
                  <a:txBody>
                    <a:bodyPr/>
                    <a:lstStyle/>
                    <a:p>
                      <a:r>
                        <a:rPr sz="1200" b="0">
                          <a:solidFill>
                            <a:srgbClr val="1B2430"/>
                          </a:solidFill>
                          <a:latin typeface="Calibri"/>
                        </a:rPr>
                        <a:t>faqat og'irliklar, hisoblash FP16'da</a:t>
                      </a:r>
                    </a:p>
                  </a:txBody>
                  <a:tcPr>
                    <a:solidFill>
                      <a:srgbClr val="FFFFFF"/>
                    </a:solidFill>
                  </a:tcPr>
                </a:tc>
                <a:tc>
                  <a:txBody>
                    <a:bodyPr/>
                    <a:lstStyle/>
                    <a:p>
                      <a:r>
                        <a:rPr sz="1200" b="0">
                          <a:solidFill>
                            <a:srgbClr val="1B2430"/>
                          </a:solidFill>
                          <a:latin typeface="Calibri"/>
                        </a:rPr>
                        <a:t>yuzlab namuna (GPTQ/AWQ)</a:t>
                      </a:r>
                    </a:p>
                  </a:txBody>
                  <a:tcPr>
                    <a:solidFill>
                      <a:srgbClr val="FFFFFF"/>
                    </a:solidFill>
                  </a:tcPr>
                </a:tc>
                <a:tc>
                  <a:txBody>
                    <a:bodyPr/>
                    <a:lstStyle/>
                    <a:p>
                      <a:r>
                        <a:rPr sz="1200" b="0">
                          <a:solidFill>
                            <a:srgbClr val="1B2430"/>
                          </a:solidFill>
                          <a:latin typeface="Calibri"/>
                        </a:rPr>
                        <a:t>xotira trafigi kamayadi (LLM dekodlash)</a:t>
                      </a:r>
                    </a:p>
                  </a:txBody>
                  <a:tcPr>
                    <a:solidFill>
                      <a:srgbClr val="FFFFFF"/>
                    </a:solidFill>
                  </a:tcPr>
                </a:tc>
                <a:tc>
                  <a:txBody>
                    <a:bodyPr/>
                    <a:lstStyle/>
                    <a:p>
                      <a:r>
                        <a:rPr sz="1200" b="0">
                          <a:solidFill>
                            <a:srgbClr val="1B2430"/>
                          </a:solidFill>
                          <a:latin typeface="Calibri"/>
                        </a:rPr>
                        <a:t>kam</a:t>
                      </a:r>
                    </a:p>
                  </a:txBody>
                  <a:tcPr>
                    <a:solidFill>
                      <a:srgbClr val="FFFFFF"/>
                    </a:solidFill>
                  </a:tcPr>
                </a:tc>
                <a:tc>
                  <a:txBody>
                    <a:bodyPr/>
                    <a:lstStyle/>
                    <a:p>
                      <a:r>
                        <a:rPr sz="1200" b="0">
                          <a:solidFill>
                            <a:srgbClr val="1B2430"/>
                          </a:solidFill>
                          <a:latin typeface="Calibri"/>
                        </a:rPr>
                        <a:t>LLM inferens</a:t>
                      </a:r>
                    </a:p>
                  </a:txBody>
                  <a:tcPr>
                    <a:solidFill>
                      <a:srgbClr val="FFFFFF"/>
                    </a:solidFill>
                  </a:tcPr>
                </a:tc>
              </a:tr>
              <a:tr h="520000">
                <a:tc>
                  <a:txBody>
                    <a:bodyPr/>
                    <a:lstStyle/>
                    <a:p>
                      <a:r>
                        <a:rPr sz="1200" b="0">
                          <a:solidFill>
                            <a:srgbClr val="1B2430"/>
                          </a:solidFill>
                          <a:latin typeface="Calibri"/>
                        </a:rPr>
                        <a:t>FP8 / SmoothQuant W8A8</a:t>
                      </a:r>
                    </a:p>
                  </a:txBody>
                  <a:tcPr>
                    <a:solidFill>
                      <a:srgbClr val="F1F4F8"/>
                    </a:solidFill>
                  </a:tcPr>
                </a:tc>
                <a:tc>
                  <a:txBody>
                    <a:bodyPr/>
                    <a:lstStyle/>
                    <a:p>
                      <a:r>
                        <a:rPr sz="1200" b="0">
                          <a:solidFill>
                            <a:srgbClr val="1B2430"/>
                          </a:solidFill>
                          <a:latin typeface="Calibri"/>
                        </a:rPr>
                        <a:t>og'irlik va aktivatsiya 8 bit</a:t>
                      </a:r>
                    </a:p>
                  </a:txBody>
                  <a:tcPr>
                    <a:solidFill>
                      <a:srgbClr val="F1F4F8"/>
                    </a:solidFill>
                  </a:tcPr>
                </a:tc>
                <a:tc>
                  <a:txBody>
                    <a:bodyPr/>
                    <a:lstStyle/>
                    <a:p>
                      <a:r>
                        <a:rPr sz="1200" b="0">
                          <a:solidFill>
                            <a:srgbClr val="1B2430"/>
                          </a:solidFill>
                          <a:latin typeface="Calibri"/>
                        </a:rPr>
                        <a:t>masshtab/tekislash</a:t>
                      </a:r>
                    </a:p>
                  </a:txBody>
                  <a:tcPr>
                    <a:solidFill>
                      <a:srgbClr val="F1F4F8"/>
                    </a:solidFill>
                  </a:tcPr>
                </a:tc>
                <a:tc>
                  <a:txBody>
                    <a:bodyPr/>
                    <a:lstStyle/>
                    <a:p>
                      <a:r>
                        <a:rPr sz="1200" b="0">
                          <a:solidFill>
                            <a:srgbClr val="1B2430"/>
                          </a:solidFill>
                          <a:latin typeface="Calibri"/>
                        </a:rPr>
                        <a:t>yuqori (Hopper)</a:t>
                      </a:r>
                    </a:p>
                  </a:txBody>
                  <a:tcPr>
                    <a:solidFill>
                      <a:srgbClr val="F1F4F8"/>
                    </a:solidFill>
                  </a:tcPr>
                </a:tc>
                <a:tc>
                  <a:txBody>
                    <a:bodyPr/>
                    <a:lstStyle/>
                    <a:p>
                      <a:r>
                        <a:rPr sz="1200" b="0">
                          <a:solidFill>
                            <a:srgbClr val="1B2430"/>
                          </a:solidFill>
                          <a:latin typeface="Calibri"/>
                        </a:rPr>
                        <a:t>kam</a:t>
                      </a:r>
                    </a:p>
                  </a:txBody>
                  <a:tcPr>
                    <a:solidFill>
                      <a:srgbClr val="F1F4F8"/>
                    </a:solidFill>
                  </a:tcPr>
                </a:tc>
                <a:tc>
                  <a:txBody>
                    <a:bodyPr/>
                    <a:lstStyle/>
                    <a:p>
                      <a:r>
                        <a:rPr sz="1200" b="0">
                          <a:solidFill>
                            <a:srgbClr val="1B2430"/>
                          </a:solidFill>
                          <a:latin typeface="Calibri"/>
                        </a:rPr>
                        <a:t>LLM yuqori throughput</a:t>
                      </a:r>
                    </a:p>
                  </a:txBody>
                  <a:tcPr>
                    <a:solidFill>
                      <a:srgbClr val="F1F4F8"/>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Pruning: siyraklashtirish</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M8 · Sun'iy intellekt tizimlarini optimallashtirish usullari</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10</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1300000"/>
            <a:ext cx="11000000" cy="4950000"/>
          </a:xfrm>
          <a:prstGeom prst="rect">
            <a:avLst/>
          </a:prstGeom>
          <a:noFill/>
        </p:spPr>
        <p:txBody>
          <a:bodyPr wrap="square">
            <a:spAutoFit/>
          </a:bodyPr>
          <a:lstStyle/>
          <a:p>
            <a:pPr>
              <a:spcAft>
                <a:spcPts val="900"/>
              </a:spcAft>
            </a:pPr>
            <a:r>
              <a:rPr sz="1800" b="1">
                <a:solidFill>
                  <a:srgbClr val="0F8B8D"/>
                </a:solidFill>
              </a:rPr>
              <a:t>▪  </a:t>
            </a:r>
            <a:r>
              <a:rPr sz="1800">
                <a:solidFill>
                  <a:srgbClr val="1B2430"/>
                </a:solidFill>
                <a:latin typeface="Calibri"/>
              </a:rPr>
              <a:t>Pruning — ta'siri kam parametrlarni (og'irliklar, kanallar, boshlar, qatlamlar) olib tashlash. Eng oddiy mezon — kattalik (magnitude pruning): absolyut qiymati kichik og'irliklar nolga tenglashtiriladi.</a:t>
            </a:r>
          </a:p>
          <a:p>
            <a:pPr>
              <a:spcAft>
                <a:spcPts val="900"/>
              </a:spcAft>
            </a:pPr>
            <a:r>
              <a:rPr sz="1800" b="1">
                <a:solidFill>
                  <a:srgbClr val="0F8B8D"/>
                </a:solidFill>
              </a:rPr>
              <a:t>▪  </a:t>
            </a:r>
            <a:r>
              <a:rPr sz="1800">
                <a:solidFill>
                  <a:srgbClr val="1B2430"/>
                </a:solidFill>
                <a:latin typeface="Calibri"/>
              </a:rPr>
              <a:t>Lekin bu yerda muhandis uchun hal qiluvchi nuqta bor: strukturlanmagan (unstructured) siyraklik — tasodifiy joylarda nol — umumiy maqsadli GPU'da tezlashish bermaydi. Zich matritsa ko'paytmasi kernellari nollarni ham ko'paytiradi; siyrak formatlar (CSR) esa…</a:t>
            </a:r>
          </a:p>
          <a:p>
            <a:pPr>
              <a:spcAft>
                <a:spcPts val="900"/>
              </a:spcAft>
            </a:pPr>
            <a:r>
              <a:rPr sz="1800" b="1">
                <a:solidFill>
                  <a:srgbClr val="0F8B8D"/>
                </a:solidFill>
              </a:rPr>
              <a:t>▪  </a:t>
            </a:r>
            <a:r>
              <a:rPr sz="1800">
                <a:solidFill>
                  <a:srgbClr val="1B2430"/>
                </a:solidFill>
                <a:latin typeface="Calibri"/>
              </a:rPr>
              <a:t>Pruning darajasini baholashda uchta ko'rsatkich: parametrlar ulushi (hajm), FLOP ulushi (hisoblash) va o'lchangan kechikish (haqiqiy tezlik). Bular bir-biriga mos kelmasligi mumkin: kanallarning 50 foizini olib tashlash FLOP'ni 75 foizga kamaytiradi (ikki…</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Knowledge Distillation: bilim distillyatsiyasi</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M8 · Sun'iy intellekt tizimlarini optimallashtirish usullari</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11</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1300000"/>
            <a:ext cx="11000000" cy="4950000"/>
          </a:xfrm>
          <a:prstGeom prst="rect">
            <a:avLst/>
          </a:prstGeom>
          <a:noFill/>
        </p:spPr>
        <p:txBody>
          <a:bodyPr wrap="square">
            <a:spAutoFit/>
          </a:bodyPr>
          <a:lstStyle/>
          <a:p>
            <a:pPr>
              <a:spcAft>
                <a:spcPts val="900"/>
              </a:spcAft>
            </a:pPr>
            <a:r>
              <a:rPr sz="1800" b="1">
                <a:solidFill>
                  <a:srgbClr val="0F8B8D"/>
                </a:solidFill>
              </a:rPr>
              <a:t>▪  </a:t>
            </a:r>
            <a:r>
              <a:rPr sz="1800">
                <a:solidFill>
                  <a:srgbClr val="1B2430"/>
                </a:solidFill>
                <a:latin typeface="Calibri"/>
              </a:rPr>
              <a:t>Bilim distillyatsiyasi (Hinton, Vinyals, Dean, 2015) katta, aniq «o'qituvchi» modelning xulq-atvorini kichik «o'quvchi» modelga o'rgatadi. Asosiy kuzatuv: o'qituvchining yumshoq ehtimollik taqsimoti (soft targets) qattiq yorliqdan (hard label) ko'proq…</a:t>
            </a:r>
          </a:p>
          <a:p>
            <a:pPr>
              <a:spcAft>
                <a:spcPts val="900"/>
              </a:spcAft>
            </a:pPr>
            <a:r>
              <a:rPr sz="1800" b="1">
                <a:solidFill>
                  <a:srgbClr val="0F8B8D"/>
                </a:solidFill>
              </a:rPr>
              <a:t>▪  </a:t>
            </a:r>
            <a:r>
              <a:rPr sz="1800">
                <a:solidFill>
                  <a:srgbClr val="1B2430"/>
                </a:solidFill>
                <a:latin typeface="Calibri"/>
              </a:rPr>
              <a:t>L = α · T² · KL(p_teacher(T) ‖ p_student(T)) + (1 − α) · CE(y, p_student(1))</a:t>
            </a:r>
          </a:p>
          <a:p>
            <a:pPr>
              <a:spcAft>
                <a:spcPts val="900"/>
              </a:spcAft>
            </a:pPr>
            <a:r>
              <a:rPr sz="1800" b="1">
                <a:solidFill>
                  <a:srgbClr val="0F8B8D"/>
                </a:solidFill>
              </a:rPr>
              <a:t>▪  </a:t>
            </a:r>
            <a:r>
              <a:rPr sz="1800">
                <a:solidFill>
                  <a:srgbClr val="1B2430"/>
                </a:solidFill>
                <a:latin typeface="Calibri"/>
              </a:rPr>
              <a:t>bu yerda T² ko'paytuvchi gradient kattaligini kompensatsiya qiladi, α (odatda 0,5–0,9) ikki hadning muvozanati. Distillyatsiya turlari: javob asosida (logitlar), xususiyat asosida (oraliq qatlamlar — FitNets, TinyBERT), munosabat asosida (namunalar orasidagi…</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Model va kernel darajasidagi optimallashtirish</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M8 · Sun'iy intellekt tizimlarini optimallashtirish usullari</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12</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Yuqoridagi usullar modelni o'zgartiradi; kernel darajasidagi optimallashtirish esa bir xil modelni apparatda samaraliroq bajaradi. Asosiy vositalar: operator fusion — bir nechta elementli operatsiyani (bias + aktivatsiya + residual) bitta kernelga…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NAZARIY ASOSLAR</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100" b="1">
                <a:solidFill>
                  <a:srgbClr val="FFFFFF"/>
                </a:solidFill>
                <a:latin typeface="Calibri"/>
              </a:rPr>
              <a:t>Hisoblash resurslaridan samarali foydalanish va energiya samaradorligi</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M8 · Sun'iy intellekt tizimlarini optimallashtirish usullari</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13</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Energiya samaradorligi ko'rsatkichi — inferens boshiga joul (J/inferens) yoki o'qitish uchun jami kVt·soat. U quvvat (Vt) va vaqtning ko'paytmasi, shuning uchun tezlashtirishning o'zi energiya tejaydi (quvvat deyarli bir xil qolib, vaqt qisqaradi).</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200000"/>
            <a:ext cx="11200000" cy="650000"/>
          </a:xfrm>
          <a:prstGeom prst="rect">
            <a:avLst/>
          </a:prstGeom>
          <a:noFill/>
        </p:spPr>
        <p:txBody>
          <a:bodyPr wrap="square" anchor="ctr" lIns="50800" rIns="50800">
            <a:spAutoFit/>
          </a:bodyPr>
          <a:lstStyle/>
          <a:p>
            <a:pPr algn="l"/>
            <a:r>
              <a:rPr sz="2600" b="1">
                <a:solidFill>
                  <a:srgbClr val="FFFFFF"/>
                </a:solidFill>
                <a:latin typeface="Calibri"/>
              </a:rPr>
              <a:t>Amaliy misol</a:t>
            </a:r>
          </a:p>
        </p:txBody>
      </p:sp>
      <p:sp>
        <p:nvSpPr>
          <p:cNvPr id="4" name="TextBox 3"/>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M8 · Sun'iy intellekt tizimlarini optimallashtirish usullari</a:t>
            </a:r>
          </a:p>
        </p:txBody>
      </p:sp>
      <p:sp>
        <p:nvSpPr>
          <p:cNvPr id="5" name="TextBox 4"/>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14</a:t>
            </a:r>
          </a:p>
        </p:txBody>
      </p:sp>
      <p:sp>
        <p:nvSpPr>
          <p:cNvPr id="6" name="Rectangle 5"/>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Misol ResNet-18 (CIFAR-10 o'lchamiga moslangan) va kichik transformer qatlamini ishlatib, to'rtta usulni bitta skript zanjirida ko'rsatadi: AMP o'qitish, dinamik va statik kvantlash, strukturlanmagan va 2:4 pruning, distillyatsiya; har bosqichda hajm,…</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1-qadam. Bazaviy model, o'lchov yordamchilari</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M8 · Sun'iy intellekt tizimlarini optimallashtirish usullari</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15</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Nima bo'ldi va nega: ResNet-18 CIFAR uchun moslandi (birinchi konvolyutsiya 3×3, maxpool olib tashlandi — 32×32 rasm uchun standart). Uchta o'lchov funksiyasi aniqlandi: aniqlik, batch=1 kechikish (isitish va sinxronizatsiya bilan — M5'dagi qoidalar) va…</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1-qadam. Bazaviy model, o'lchov yordamchilari — kod</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M8 · Sun'iy intellekt tizimlarini optimallashtirish usullari</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16</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00000" y="1280000"/>
            <a:ext cx="11200000" cy="5000000"/>
          </a:xfrm>
          <a:prstGeom prst="roundRect">
            <a:avLst>
              <a:gd name="adj" fmla="val 3000"/>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0000" y="1400000"/>
            <a:ext cx="10800000" cy="4800000"/>
          </a:xfrm>
          <a:prstGeom prst="rect">
            <a:avLst/>
          </a:prstGeom>
          <a:noFill/>
        </p:spPr>
        <p:txBody>
          <a:bodyPr wrap="square">
            <a:spAutoFit/>
          </a:bodyPr>
          <a:lstStyle/>
          <a:p>
            <a:r>
              <a:rPr sz="1200">
                <a:solidFill>
                  <a:srgbClr val="E2E8F0"/>
                </a:solidFill>
                <a:latin typeface="Consolas"/>
              </a:rPr>
              <a:t>import torch, torch.nn as nn, torch.nn.functional as F, time, os, copy</a:t>
            </a:r>
          </a:p>
          <a:p>
            <a:r>
              <a:rPr sz="1200">
                <a:solidFill>
                  <a:srgbClr val="E2E8F0"/>
                </a:solidFill>
                <a:latin typeface="Consolas"/>
              </a:rPr>
              <a:t>import torchvision, torchvision.transforms as T</a:t>
            </a:r>
          </a:p>
          <a:p>
            <a:r>
              <a:rPr sz="1200">
                <a:solidFill>
                  <a:srgbClr val="E2E8F0"/>
                </a:solidFill>
                <a:latin typeface="Consolas"/>
              </a:rPr>
              <a:t>dev = "cuda" if torch.cuda.is_available() else "cpu"</a:t>
            </a:r>
          </a:p>
          <a:p>
            <a:r>
              <a:rPr sz="1200">
                <a:solidFill>
                  <a:srgbClr val="E2E8F0"/>
                </a:solidFill>
                <a:latin typeface="Consolas"/>
              </a:rPr>
              <a:t> </a:t>
            </a:r>
          </a:p>
          <a:p>
            <a:r>
              <a:rPr sz="1200">
                <a:solidFill>
                  <a:srgbClr val="E2E8F0"/>
                </a:solidFill>
                <a:latin typeface="Consolas"/>
              </a:rPr>
              <a:t>tf = T.Compose([T.ToTensor(), T.Normalize((0.49,0.48,0.45),(0.25,0.24,0.26))])</a:t>
            </a:r>
          </a:p>
          <a:p>
            <a:r>
              <a:rPr sz="1200">
                <a:solidFill>
                  <a:srgbClr val="E2E8F0"/>
                </a:solidFill>
                <a:latin typeface="Consolas"/>
              </a:rPr>
              <a:t>train = torchvision.datasets.CIFAR10(".", train=True, download=True, transform=tf)</a:t>
            </a:r>
          </a:p>
          <a:p>
            <a:r>
              <a:rPr sz="1200">
                <a:solidFill>
                  <a:srgbClr val="E2E8F0"/>
                </a:solidFill>
                <a:latin typeface="Consolas"/>
              </a:rPr>
              <a:t>test  = torchvision.datasets.CIFAR10(".", train=False, download=True, transform=tf)</a:t>
            </a:r>
          </a:p>
          <a:p>
            <a:r>
              <a:rPr sz="1200">
                <a:solidFill>
                  <a:srgbClr val="E2E8F0"/>
                </a:solidFill>
                <a:latin typeface="Consolas"/>
              </a:rPr>
              <a:t>tl = torch.utils.data.DataLoader(train, 256, shuffle=True, num_workers=4, pin_memory=True)</a:t>
            </a:r>
          </a:p>
          <a:p>
            <a:r>
              <a:rPr sz="1200">
                <a:solidFill>
                  <a:srgbClr val="E2E8F0"/>
                </a:solidFill>
                <a:latin typeface="Consolas"/>
              </a:rPr>
              <a:t>vl = torch.utils.data.DataLoader(test, 512, num_workers=4, pin_memory=True)</a:t>
            </a:r>
          </a:p>
          <a:p>
            <a:r>
              <a:rPr sz="1200">
                <a:solidFill>
                  <a:srgbClr val="E2E8F0"/>
                </a:solidFill>
                <a:latin typeface="Consolas"/>
              </a:rPr>
              <a:t> </a:t>
            </a:r>
          </a:p>
          <a:p>
            <a:r>
              <a:rPr sz="1200">
                <a:solidFill>
                  <a:srgbClr val="E2E8F0"/>
                </a:solidFill>
                <a:latin typeface="Consolas"/>
              </a:rPr>
              <a:t>def resnet18_cifar():</a:t>
            </a:r>
          </a:p>
          <a:p>
            <a:r>
              <a:rPr sz="1200">
                <a:solidFill>
                  <a:srgbClr val="E2E8F0"/>
                </a:solidFill>
                <a:latin typeface="Consolas"/>
              </a:rPr>
              <a:t>    m = torchvision.models.resnet18(num_classes=10)</a:t>
            </a:r>
          </a:p>
          <a:p>
            <a:r>
              <a:rPr sz="1200">
                <a:solidFill>
                  <a:srgbClr val="E2E8F0"/>
                </a:solidFill>
                <a:latin typeface="Consolas"/>
              </a:rPr>
              <a:t>    m.conv1 = nn.Conv2d(3, 64, 3, 1, 1, bias=False); m.maxpool = nn.Identity()</a:t>
            </a:r>
          </a:p>
          <a:p>
            <a:r>
              <a:rPr sz="1200">
                <a:solidFill>
                  <a:srgbClr val="E2E8F0"/>
                </a:solidFill>
                <a:latin typeface="Consolas"/>
              </a:rPr>
              <a:t>    return m</a:t>
            </a:r>
          </a:p>
          <a:p>
            <a:r>
              <a:rPr sz="1200">
                <a:solidFill>
                  <a:srgbClr val="E2E8F0"/>
                </a:solidFill>
                <a:latin typeface="Consolas"/>
              </a:rPr>
              <a:t> </a:t>
            </a:r>
          </a:p>
          <a:p>
            <a:r>
              <a:rPr sz="1200">
                <a:solidFill>
                  <a:srgbClr val="E2E8F0"/>
                </a:solidFill>
                <a:latin typeface="Consolas"/>
              </a:rPr>
              <a:t>@torch.no_grad()</a:t>
            </a:r>
          </a:p>
          <a:p>
            <a:r>
              <a:rPr sz="1200">
                <a:solidFill>
                  <a:srgbClr val="E2E8F0"/>
                </a:solidFill>
                <a:latin typeface="Consolas"/>
              </a:rPr>
              <a:t>def accuracy(m, loader, device=dev):</a:t>
            </a:r>
          </a:p>
          <a:p>
            <a:r>
              <a:rPr sz="1200">
                <a:solidFill>
                  <a:srgbClr val="E2E8F0"/>
                </a:solidFill>
                <a:latin typeface="Consolas"/>
              </a:rPr>
              <a:t>    m.eval(); ok = n = 0</a:t>
            </a:r>
          </a:p>
          <a:p>
            <a:r>
              <a:rPr sz="1200">
                <a:solidFill>
                  <a:srgbClr val="E2E8F0"/>
                </a:solidFill>
                <a:latin typeface="Consolas"/>
              </a:rPr>
              <a:t>    for x, y in loader:</a:t>
            </a:r>
          </a:p>
          <a:p>
            <a:r>
              <a:rPr sz="1200">
                <a:solidFill>
                  <a:srgbClr val="E2E8F0"/>
                </a:solidFill>
                <a:latin typeface="Consolas"/>
              </a:rPr>
              <a:t>        x, y = x.to(device), y.to(device)</a:t>
            </a:r>
          </a:p>
          <a:p>
            <a:r>
              <a:rPr sz="1200">
                <a:solidFill>
                  <a:srgbClr val="7FD6D7"/>
                </a:solidFill>
                <a:latin typeface="Consolas"/>
              </a:rPr>
              <a:t># … (to‘liq kod — mavzu matnida / GitHub’da)</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2-qadam. FP32 va AMP (BF16/FP16) o'qitishni taqqoslash</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M8 · Sun'iy intellekt tizimlarini optimallashtirish usullari</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17</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Nima bo'ldi va nega: torch.autocast konteksti ichida PyTorch har operatsiya uchun ruxsat etilgan aniqlikni tanlaydi: konvolyutsiya va matmul BF16/FP16'da, softmax, yo'qotish, normalizatsiya yig'indilari FP32'da. Og'irliklar FP32'da qoladi (master weights) —…</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2-qadam. FP32 va AMP (BF16/FP16) o'qitishni taqqoslash — kod</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M8 · Sun'iy intellekt tizimlarini optimallashtirish usullari</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18</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00000" y="1280000"/>
            <a:ext cx="11200000" cy="5000000"/>
          </a:xfrm>
          <a:prstGeom prst="roundRect">
            <a:avLst>
              <a:gd name="adj" fmla="val 3000"/>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0000" y="1400000"/>
            <a:ext cx="10800000" cy="4800000"/>
          </a:xfrm>
          <a:prstGeom prst="rect">
            <a:avLst/>
          </a:prstGeom>
          <a:noFill/>
        </p:spPr>
        <p:txBody>
          <a:bodyPr wrap="square">
            <a:spAutoFit/>
          </a:bodyPr>
          <a:lstStyle/>
          <a:p>
            <a:r>
              <a:rPr sz="1000">
                <a:solidFill>
                  <a:srgbClr val="E2E8F0"/>
                </a:solidFill>
                <a:latin typeface="Consolas"/>
              </a:rPr>
              <a:t>def train_epochs(m, epochs=5, amp=False, dtype=torch.bfloat16, lr=0.1):</a:t>
            </a:r>
          </a:p>
          <a:p>
            <a:r>
              <a:rPr sz="1000">
                <a:solidFill>
                  <a:srgbClr val="E2E8F0"/>
                </a:solidFill>
                <a:latin typeface="Consolas"/>
              </a:rPr>
              <a:t>    m.to(dev); opt = torch.optim.SGD(m.parameters(), lr, momentum=0.9, weight_decay=5e-4)</a:t>
            </a:r>
          </a:p>
          <a:p>
            <a:r>
              <a:rPr sz="1000">
                <a:solidFill>
                  <a:srgbClr val="E2E8F0"/>
                </a:solidFill>
                <a:latin typeface="Consolas"/>
              </a:rPr>
              <a:t>    sched = torch.optim.lr_scheduler.OneCycleLR(opt, lr, total_steps=epochs*len(tl))</a:t>
            </a:r>
          </a:p>
          <a:p>
            <a:r>
              <a:rPr sz="1000">
                <a:solidFill>
                  <a:srgbClr val="E2E8F0"/>
                </a:solidFill>
                <a:latin typeface="Consolas"/>
              </a:rPr>
              <a:t>    use_scaler = amp and dtype == torch.float16          # FP16'da loss scaling shart, BF16'da emas</a:t>
            </a:r>
          </a:p>
          <a:p>
            <a:r>
              <a:rPr sz="1000">
                <a:solidFill>
                  <a:srgbClr val="E2E8F0"/>
                </a:solidFill>
                <a:latin typeface="Consolas"/>
              </a:rPr>
              <a:t>    scaler = torch.amp.GradScaler("cuda", enabled=use_scaler)</a:t>
            </a:r>
          </a:p>
          <a:p>
            <a:r>
              <a:rPr sz="1000">
                <a:solidFill>
                  <a:srgbClr val="E2E8F0"/>
                </a:solidFill>
                <a:latin typeface="Consolas"/>
              </a:rPr>
              <a:t>    t0 = time.perf_counter(); torch.cuda.reset_peak_memory_stats() if dev=="cuda" else None</a:t>
            </a:r>
          </a:p>
          <a:p>
            <a:r>
              <a:rPr sz="1000">
                <a:solidFill>
                  <a:srgbClr val="E2E8F0"/>
                </a:solidFill>
                <a:latin typeface="Consolas"/>
              </a:rPr>
              <a:t>    for ep in range(epochs):</a:t>
            </a:r>
          </a:p>
          <a:p>
            <a:r>
              <a:rPr sz="1000">
                <a:solidFill>
                  <a:srgbClr val="E2E8F0"/>
                </a:solidFill>
                <a:latin typeface="Consolas"/>
              </a:rPr>
              <a:t>        m.train()</a:t>
            </a:r>
          </a:p>
          <a:p>
            <a:r>
              <a:rPr sz="1000">
                <a:solidFill>
                  <a:srgbClr val="E2E8F0"/>
                </a:solidFill>
                <a:latin typeface="Consolas"/>
              </a:rPr>
              <a:t>        for x, y in tl:</a:t>
            </a:r>
          </a:p>
          <a:p>
            <a:r>
              <a:rPr sz="1000">
                <a:solidFill>
                  <a:srgbClr val="E2E8F0"/>
                </a:solidFill>
                <a:latin typeface="Consolas"/>
              </a:rPr>
              <a:t>            x, y = x.to(dev, non_blocking=True), y.to(dev, non_blocking=True)</a:t>
            </a:r>
          </a:p>
          <a:p>
            <a:r>
              <a:rPr sz="1000">
                <a:solidFill>
                  <a:srgbClr val="E2E8F0"/>
                </a:solidFill>
                <a:latin typeface="Consolas"/>
              </a:rPr>
              <a:t>            with torch.autocast(dev, dtype=dtype, enabled=amp):</a:t>
            </a:r>
          </a:p>
          <a:p>
            <a:r>
              <a:rPr sz="1000">
                <a:solidFill>
                  <a:srgbClr val="E2E8F0"/>
                </a:solidFill>
                <a:latin typeface="Consolas"/>
              </a:rPr>
              <a:t>                loss = F.cross_entropy(m(x), y)          # matmul/conv past aniqlikda, loss FP32'da</a:t>
            </a:r>
          </a:p>
          <a:p>
            <a:r>
              <a:rPr sz="1000">
                <a:solidFill>
                  <a:srgbClr val="E2E8F0"/>
                </a:solidFill>
                <a:latin typeface="Consolas"/>
              </a:rPr>
              <a:t>            opt.zero_grad(set_to_none=True)</a:t>
            </a:r>
          </a:p>
          <a:p>
            <a:r>
              <a:rPr sz="1000">
                <a:solidFill>
                  <a:srgbClr val="E2E8F0"/>
                </a:solidFill>
                <a:latin typeface="Consolas"/>
              </a:rPr>
              <a:t>            scaler.scale(loss).backward()                # FP16: loss*S, gradientlar underflow'dan saqlanadi</a:t>
            </a:r>
          </a:p>
          <a:p>
            <a:r>
              <a:rPr sz="1000">
                <a:solidFill>
                  <a:srgbClr val="E2E8F0"/>
                </a:solidFill>
                <a:latin typeface="Consolas"/>
              </a:rPr>
              <a:t>            scaler.step(opt); scaler.update(); sched.step()</a:t>
            </a:r>
          </a:p>
          <a:p>
            <a:r>
              <a:rPr sz="1000">
                <a:solidFill>
                  <a:srgbClr val="E2E8F0"/>
                </a:solidFill>
                <a:latin typeface="Consolas"/>
              </a:rPr>
              <a:t>    dt = time.perf_counter() - t0</a:t>
            </a:r>
          </a:p>
          <a:p>
            <a:r>
              <a:rPr sz="1000">
                <a:solidFill>
                  <a:srgbClr val="E2E8F0"/>
                </a:solidFill>
                <a:latin typeface="Consolas"/>
              </a:rPr>
              <a:t>    mem = torch.cuda.max_memory_allocated()/1e9 if dev=="cuda" else 0</a:t>
            </a:r>
          </a:p>
          <a:p>
            <a:r>
              <a:rPr sz="1000">
                <a:solidFill>
                  <a:srgbClr val="E2E8F0"/>
                </a:solidFill>
                <a:latin typeface="Consolas"/>
              </a:rPr>
              <a:t>    return dt, mem</a:t>
            </a:r>
          </a:p>
          <a:p>
            <a:r>
              <a:rPr sz="1000">
                <a:solidFill>
                  <a:srgbClr val="E2E8F0"/>
                </a:solidFill>
                <a:latin typeface="Consolas"/>
              </a:rPr>
              <a:t> </a:t>
            </a:r>
          </a:p>
          <a:p>
            <a:r>
              <a:rPr sz="1000">
                <a:solidFill>
                  <a:srgbClr val="E2E8F0"/>
                </a:solidFill>
                <a:latin typeface="Consolas"/>
              </a:rPr>
              <a:t>for name, kw in {"FP32": dict(amp=False), "AMP-BF16": dict(amp=True, dtype=torch.bfloat16),</a:t>
            </a:r>
          </a:p>
          <a:p>
            <a:r>
              <a:rPr sz="1000">
                <a:solidFill>
                  <a:srgbClr val="7FD6D7"/>
                </a:solidFill>
                <a:latin typeface="Consolas"/>
              </a:rPr>
              <a:t># … (to‘liq kod — mavzu matnida / GitHub’da)</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3-qadam. Dinamik va statik kvantlash (CPU, PyTorch eager/FX)</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M8 · Sun'iy intellekt tizimlarini optimallashtirish usullari</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19</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Nima bo'ldi va nega: dinamik kvantlashda og'irliklar INT8'ga oldindan o'tkazildi, aktivatsiyalar esa har chaqiruvda diapazoni o'lchanib kvantlanadi — kalibrlash kerak emas, lekin ResNet'da Linear bitta bo'lgani uchun ta'siri kichik (bu usul transformer va…</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3-qadam. Dinamik va statik kvantlash (CPU, PyTorch eager/FX) — kod</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M8 · Sun'iy intellekt tizimlarini optimallashtirish usullari</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20</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00000" y="1280000"/>
            <a:ext cx="11200000" cy="5000000"/>
          </a:xfrm>
          <a:prstGeom prst="roundRect">
            <a:avLst>
              <a:gd name="adj" fmla="val 3000"/>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0000" y="1400000"/>
            <a:ext cx="10800000" cy="4800000"/>
          </a:xfrm>
          <a:prstGeom prst="rect">
            <a:avLst/>
          </a:prstGeom>
          <a:noFill/>
        </p:spPr>
        <p:txBody>
          <a:bodyPr wrap="square">
            <a:spAutoFit/>
          </a:bodyPr>
          <a:lstStyle/>
          <a:p>
            <a:r>
              <a:rPr sz="1000">
                <a:solidFill>
                  <a:srgbClr val="E2E8F0"/>
                </a:solidFill>
                <a:latin typeface="Consolas"/>
              </a:rPr>
              <a:t>import torch.ao.quantization as tq</a:t>
            </a:r>
          </a:p>
          <a:p>
            <a:r>
              <a:rPr sz="1000">
                <a:solidFill>
                  <a:srgbClr val="E2E8F0"/>
                </a:solidFill>
                <a:latin typeface="Consolas"/>
              </a:rPr>
              <a:t>cpu_model = copy.deepcopy(base).eval()</a:t>
            </a:r>
          </a:p>
          <a:p>
            <a:r>
              <a:rPr sz="1000">
                <a:solidFill>
                  <a:srgbClr val="E2E8F0"/>
                </a:solidFill>
                <a:latin typeface="Consolas"/>
              </a:rPr>
              <a:t>acc0, lat0, sz0 = accuracy(cpu_model, vl, "cpu"), latency_ms(cpu_model, device="cpu"), size_mb(cpu_model)</a:t>
            </a:r>
          </a:p>
          <a:p>
            <a:r>
              <a:rPr sz="1000">
                <a:solidFill>
                  <a:srgbClr val="E2E8F0"/>
                </a:solidFill>
                <a:latin typeface="Consolas"/>
              </a:rPr>
              <a:t>print(f"FP32 CPU : acc={acc0:.4f} lat={lat0:.2f}ms size={sz0:.1f}MB")</a:t>
            </a:r>
          </a:p>
          <a:p>
            <a:r>
              <a:rPr sz="1000">
                <a:solidFill>
                  <a:srgbClr val="E2E8F0"/>
                </a:solidFill>
                <a:latin typeface="Consolas"/>
              </a:rPr>
              <a:t> </a:t>
            </a:r>
          </a:p>
          <a:p>
            <a:r>
              <a:rPr sz="1000">
                <a:solidFill>
                  <a:srgbClr val="7FD6D7"/>
                </a:solidFill>
                <a:latin typeface="Consolas"/>
              </a:rPr>
              <a:t># (a) Dinamik kvantlash: faqat Linear qatlamlar (ResNet'da bitta fc) — ko'rsatish uchun</a:t>
            </a:r>
          </a:p>
          <a:p>
            <a:r>
              <a:rPr sz="1000">
                <a:solidFill>
                  <a:srgbClr val="E2E8F0"/>
                </a:solidFill>
                <a:latin typeface="Consolas"/>
              </a:rPr>
              <a:t>dyn = tq.quantize_dynamic(copy.deepcopy(cpu_model), {nn.Linear}, dtype=torch.qint8)</a:t>
            </a:r>
          </a:p>
          <a:p>
            <a:r>
              <a:rPr sz="1000">
                <a:solidFill>
                  <a:srgbClr val="E2E8F0"/>
                </a:solidFill>
                <a:latin typeface="Consolas"/>
              </a:rPr>
              <a:t>print(f"Dinamik  : acc={accuracy(dyn, vl,'cpu'):.4f} lat={latency_ms(dyn, device='cpu'):.2f}ms size={size_mb(dyn):.1f}MB</a:t>
            </a:r>
          </a:p>
          <a:p>
            <a:r>
              <a:rPr sz="1000">
                <a:solidFill>
                  <a:srgbClr val="E2E8F0"/>
                </a:solidFill>
                <a:latin typeface="Consolas"/>
              </a:rPr>
              <a:t> </a:t>
            </a:r>
          </a:p>
          <a:p>
            <a:r>
              <a:rPr sz="1000">
                <a:solidFill>
                  <a:srgbClr val="7FD6D7"/>
                </a:solidFill>
                <a:latin typeface="Consolas"/>
              </a:rPr>
              <a:t># (b) Statik kvantlash FX graf rejimida: conv+bn+relu fusion + kalibrlash</a:t>
            </a:r>
          </a:p>
          <a:p>
            <a:r>
              <a:rPr sz="1000">
                <a:solidFill>
                  <a:srgbClr val="E2E8F0"/>
                </a:solidFill>
                <a:latin typeface="Consolas"/>
              </a:rPr>
              <a:t>from torch.ao.quantization import get_default_qconfig_mapping</a:t>
            </a:r>
          </a:p>
          <a:p>
            <a:r>
              <a:rPr sz="1000">
                <a:solidFill>
                  <a:srgbClr val="E2E8F0"/>
                </a:solidFill>
                <a:latin typeface="Consolas"/>
              </a:rPr>
              <a:t>from torch.ao.quantization.quantize_fx import prepare_fx, convert_fx</a:t>
            </a:r>
          </a:p>
          <a:p>
            <a:r>
              <a:rPr sz="1000">
                <a:solidFill>
                  <a:srgbClr val="E2E8F0"/>
                </a:solidFill>
                <a:latin typeface="Consolas"/>
              </a:rPr>
              <a:t>torch.backends.quantized.engine = "x86"             # Arm'da: "qnnpack"</a:t>
            </a:r>
          </a:p>
          <a:p>
            <a:r>
              <a:rPr sz="1000">
                <a:solidFill>
                  <a:srgbClr val="E2E8F0"/>
                </a:solidFill>
                <a:latin typeface="Consolas"/>
              </a:rPr>
              <a:t>qmap = get_default_qconfig_mapping("x86")           # per-channel og'irlik, histogram aktivatsiya kuzatuvchi</a:t>
            </a:r>
          </a:p>
          <a:p>
            <a:r>
              <a:rPr sz="1000">
                <a:solidFill>
                  <a:srgbClr val="E2E8F0"/>
                </a:solidFill>
                <a:latin typeface="Consolas"/>
              </a:rPr>
              <a:t>ex = torch.randn(1, 3, 32, 32)</a:t>
            </a:r>
          </a:p>
          <a:p>
            <a:r>
              <a:rPr sz="1000">
                <a:solidFill>
                  <a:srgbClr val="E2E8F0"/>
                </a:solidFill>
                <a:latin typeface="Consolas"/>
              </a:rPr>
              <a:t>prepared = prepare_fx(copy.deepcopy(cpu_model), qmap, example_inputs=(ex,))</a:t>
            </a:r>
          </a:p>
          <a:p>
            <a:r>
              <a:rPr sz="1000">
                <a:solidFill>
                  <a:srgbClr val="E2E8F0"/>
                </a:solidFill>
                <a:latin typeface="Consolas"/>
              </a:rPr>
              <a:t>with torch.no_grad():                                # kalibrlash: 20 partiya = ~5000 rasm (yetarli)</a:t>
            </a:r>
          </a:p>
          <a:p>
            <a:r>
              <a:rPr sz="1000">
                <a:solidFill>
                  <a:srgbClr val="E2E8F0"/>
                </a:solidFill>
                <a:latin typeface="Consolas"/>
              </a:rPr>
              <a:t>    for i, (x, _) in enumerate(tl):</a:t>
            </a:r>
          </a:p>
          <a:p>
            <a:r>
              <a:rPr sz="1000">
                <a:solidFill>
                  <a:srgbClr val="E2E8F0"/>
                </a:solidFill>
                <a:latin typeface="Consolas"/>
              </a:rPr>
              <a:t>        prepared(x)</a:t>
            </a:r>
          </a:p>
          <a:p>
            <a:r>
              <a:rPr sz="1000">
                <a:solidFill>
                  <a:srgbClr val="E2E8F0"/>
                </a:solidFill>
                <a:latin typeface="Consolas"/>
              </a:rPr>
              <a:t>        if i == 20: break</a:t>
            </a:r>
          </a:p>
          <a:p>
            <a:r>
              <a:rPr sz="1000">
                <a:solidFill>
                  <a:srgbClr val="7FD6D7"/>
                </a:solidFill>
                <a:latin typeface="Consolas"/>
              </a:rPr>
              <a:t># … (to‘liq kod — mavzu matnida / GitHub’da)</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4-qadam. Pruning: magnitude, strukturlangan va 2:4</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M8 · Sun'iy intellekt tizimlarini optimallashtirish usullari</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21</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Nima bo'ldi va nega: (a) global magnitude pruning barcha konvolyutsiyalar bo'ylab eng kichik 70 foiz og'irlikni nolladi; qayta o'qitishsiz aniqlik ~0,905 dan ~0,6–0,8 ga tushadi, 2 davr fine-tune'dan keyin ~0,89–0,90 ga qaytadi. Lekin kechikish o'zgarmaydi…</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4-qadam. Pruning: magnitude, strukturlangan va 2:4 — kod</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M8 · Sun'iy intellekt tizimlarini optimallashtirish usullari</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22</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00000" y="1280000"/>
            <a:ext cx="11200000" cy="5000000"/>
          </a:xfrm>
          <a:prstGeom prst="roundRect">
            <a:avLst>
              <a:gd name="adj" fmla="val 3000"/>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0000" y="1400000"/>
            <a:ext cx="10800000" cy="4800000"/>
          </a:xfrm>
          <a:prstGeom prst="rect">
            <a:avLst/>
          </a:prstGeom>
          <a:noFill/>
        </p:spPr>
        <p:txBody>
          <a:bodyPr wrap="square">
            <a:spAutoFit/>
          </a:bodyPr>
          <a:lstStyle/>
          <a:p>
            <a:r>
              <a:rPr sz="1000">
                <a:solidFill>
                  <a:srgbClr val="E2E8F0"/>
                </a:solidFill>
                <a:latin typeface="Consolas"/>
              </a:rPr>
              <a:t>import torch.nn.utils.prune as prune</a:t>
            </a:r>
          </a:p>
          <a:p>
            <a:r>
              <a:rPr sz="1000">
                <a:solidFill>
                  <a:srgbClr val="7FD6D7"/>
                </a:solidFill>
                <a:latin typeface="Consolas"/>
              </a:rPr>
              <a:t># (a) Global strukturlanmagan magnitude pruning: barcha conv og'irliklarining 70% nolga</a:t>
            </a:r>
          </a:p>
          <a:p>
            <a:r>
              <a:rPr sz="1000">
                <a:solidFill>
                  <a:srgbClr val="E2E8F0"/>
                </a:solidFill>
                <a:latin typeface="Consolas"/>
              </a:rPr>
              <a:t>pm = copy.deepcopy(base).to(dev)</a:t>
            </a:r>
          </a:p>
          <a:p>
            <a:r>
              <a:rPr sz="1000">
                <a:solidFill>
                  <a:srgbClr val="E2E8F0"/>
                </a:solidFill>
                <a:latin typeface="Consolas"/>
              </a:rPr>
              <a:t>params = [(mod, "weight") for mod in pm.modules() if isinstance(mod, nn.Conv2d)]</a:t>
            </a:r>
          </a:p>
          <a:p>
            <a:r>
              <a:rPr sz="1000">
                <a:solidFill>
                  <a:srgbClr val="E2E8F0"/>
                </a:solidFill>
                <a:latin typeface="Consolas"/>
              </a:rPr>
              <a:t>prune.global_unstructured(params, prune.L1Unstructured, amount=0.7)</a:t>
            </a:r>
          </a:p>
          <a:p>
            <a:r>
              <a:rPr sz="1000">
                <a:solidFill>
                  <a:srgbClr val="E2E8F0"/>
                </a:solidFill>
                <a:latin typeface="Consolas"/>
              </a:rPr>
              <a:t>for mod, n in params: prune.remove(mod, n)       # niqobni og'irlikka doimiy qo'llash</a:t>
            </a:r>
          </a:p>
          <a:p>
            <a:r>
              <a:rPr sz="1000">
                <a:solidFill>
                  <a:srgbClr val="E2E8F0"/>
                </a:solidFill>
                <a:latin typeface="Consolas"/>
              </a:rPr>
              <a:t>zeros = sum((p == 0).sum().item() for p in pm.parameters()); tot = sum(p.numel() for p in pm.parameters())</a:t>
            </a:r>
          </a:p>
          <a:p>
            <a:r>
              <a:rPr sz="1000">
                <a:solidFill>
                  <a:srgbClr val="E2E8F0"/>
                </a:solidFill>
                <a:latin typeface="Consolas"/>
              </a:rPr>
              <a:t>print(f"siyraklik={zeros/tot:.2%} acc(qayta o'qitishsiz)={accuracy(pm, vl):.4f} lat={latency_ms(pm):.2f}ms")</a:t>
            </a:r>
          </a:p>
          <a:p>
            <a:r>
              <a:rPr sz="1000">
                <a:solidFill>
                  <a:srgbClr val="E2E8F0"/>
                </a:solidFill>
                <a:latin typeface="Consolas"/>
              </a:rPr>
              <a:t>train_epochs(pm, 2, amp=True, lr=0.01)             # qisqa fine-tune (niqob olib tashlangan: oddiy misol uchun yetarli)</a:t>
            </a:r>
          </a:p>
          <a:p>
            <a:r>
              <a:rPr sz="1000">
                <a:solidFill>
                  <a:srgbClr val="E2E8F0"/>
                </a:solidFill>
                <a:latin typeface="Consolas"/>
              </a:rPr>
              <a:t>print(f"fine-tune'dan keyin acc={accuracy(pm, vl):.4f}")</a:t>
            </a:r>
          </a:p>
          <a:p>
            <a:r>
              <a:rPr sz="1000">
                <a:solidFill>
                  <a:srgbClr val="E2E8F0"/>
                </a:solidFill>
                <a:latin typeface="Consolas"/>
              </a:rPr>
              <a:t> </a:t>
            </a:r>
          </a:p>
          <a:p>
            <a:r>
              <a:rPr sz="1000">
                <a:solidFill>
                  <a:srgbClr val="7FD6D7"/>
                </a:solidFill>
                <a:latin typeface="Consolas"/>
              </a:rPr>
              <a:t># (b) Strukturlangan: har conv'da L2-normasi kichik 30% chiqish kanallari</a:t>
            </a:r>
          </a:p>
          <a:p>
            <a:r>
              <a:rPr sz="1000">
                <a:solidFill>
                  <a:srgbClr val="E2E8F0"/>
                </a:solidFill>
                <a:latin typeface="Consolas"/>
              </a:rPr>
              <a:t>sm = copy.deepcopy(base).to(dev)</a:t>
            </a:r>
          </a:p>
          <a:p>
            <a:r>
              <a:rPr sz="1000">
                <a:solidFill>
                  <a:srgbClr val="E2E8F0"/>
                </a:solidFill>
                <a:latin typeface="Consolas"/>
              </a:rPr>
              <a:t>for mod in sm.modules():</a:t>
            </a:r>
          </a:p>
          <a:p>
            <a:r>
              <a:rPr sz="1000">
                <a:solidFill>
                  <a:srgbClr val="E2E8F0"/>
                </a:solidFill>
                <a:latin typeface="Consolas"/>
              </a:rPr>
              <a:t>    if isinstance(mod, nn.Conv2d) and mod.out_channels &gt;= 128:</a:t>
            </a:r>
          </a:p>
          <a:p>
            <a:r>
              <a:rPr sz="1000">
                <a:solidFill>
                  <a:srgbClr val="E2E8F0"/>
                </a:solidFill>
                <a:latin typeface="Consolas"/>
              </a:rPr>
              <a:t>        prune.ln_structured(mod, "weight", amount=0.3, n=2, dim=0); prune.remove(mod, "weight")</a:t>
            </a:r>
          </a:p>
          <a:p>
            <a:r>
              <a:rPr sz="1000">
                <a:solidFill>
                  <a:srgbClr val="7FD6D7"/>
                </a:solidFill>
                <a:latin typeface="Consolas"/>
              </a:rPr>
              <a:t># Eslatma: haqiqiy tezlashish uchun nol kanallarni fizik olib tashlash kerak (torch-pruning kutubxonasi</a:t>
            </a:r>
          </a:p>
          <a:p>
            <a:r>
              <a:rPr sz="1000">
                <a:solidFill>
                  <a:srgbClr val="7FD6D7"/>
                </a:solidFill>
                <a:latin typeface="Consolas"/>
              </a:rPr>
              <a:t># yoki qo'lda qayta qurish); bu yerda faqat niqoblangan — kechikish o'zgarmaydi, bu ataylab ko'rsatiladi.</a:t>
            </a:r>
          </a:p>
          <a:p>
            <a:r>
              <a:rPr sz="1000">
                <a:solidFill>
                  <a:srgbClr val="E2E8F0"/>
                </a:solidFill>
                <a:latin typeface="Consolas"/>
              </a:rPr>
              <a:t>print(f"strukturlangan (niqob) acc={accuracy(sm, vl):.4f} lat={latency_ms(sm):.2f}ms")</a:t>
            </a:r>
          </a:p>
          <a:p>
            <a:r>
              <a:rPr sz="1000">
                <a:solidFill>
                  <a:srgbClr val="E2E8F0"/>
                </a:solidFill>
                <a:latin typeface="Consolas"/>
              </a:rPr>
              <a:t> </a:t>
            </a:r>
          </a:p>
          <a:p>
            <a:r>
              <a:rPr sz="1000">
                <a:solidFill>
                  <a:srgbClr val="7FD6D7"/>
                </a:solidFill>
                <a:latin typeface="Consolas"/>
              </a:rPr>
              <a:t># … (to‘liq kod — mavzu matnida / GitHub’da)</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5-qadam. Knowledge distillation: ResNet-18 → kichik CNN</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M8 · Sun'iy intellekt tizimlarini optimallashtirish usullari</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23</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Nima bo'ldi va nega: o'quvchi — 0,1 million parametrli uch blokli CNN (o'qituvchidan ~100 baravar kichik). Yo'qotish ikki haddan iborat: harorat T=4 bilan yumshatilgan o'qituvchi taqsimotiga KL-divergensiya (T² ga ko'paytirilgan) va oddiy kross-entropiya.</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5-qadam. Knowledge distillation: ResNet-18 → kichik CNN — kod</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M8 · Sun'iy intellekt tizimlarini optimallashtirish usullari</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24</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00000" y="1280000"/>
            <a:ext cx="11200000" cy="5000000"/>
          </a:xfrm>
          <a:prstGeom prst="roundRect">
            <a:avLst>
              <a:gd name="adj" fmla="val 3000"/>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0000" y="1400000"/>
            <a:ext cx="10800000" cy="4800000"/>
          </a:xfrm>
          <a:prstGeom prst="rect">
            <a:avLst/>
          </a:prstGeom>
          <a:noFill/>
        </p:spPr>
        <p:txBody>
          <a:bodyPr wrap="square">
            <a:spAutoFit/>
          </a:bodyPr>
          <a:lstStyle/>
          <a:p>
            <a:r>
              <a:rPr sz="1000">
                <a:solidFill>
                  <a:srgbClr val="E2E8F0"/>
                </a:solidFill>
                <a:latin typeface="Consolas"/>
              </a:rPr>
              <a:t>class SmallCNN(nn.Module):</a:t>
            </a:r>
          </a:p>
          <a:p>
            <a:r>
              <a:rPr sz="1000">
                <a:solidFill>
                  <a:srgbClr val="E2E8F0"/>
                </a:solidFill>
                <a:latin typeface="Consolas"/>
              </a:rPr>
              <a:t>    def __init__(s):</a:t>
            </a:r>
          </a:p>
          <a:p>
            <a:r>
              <a:rPr sz="1000">
                <a:solidFill>
                  <a:srgbClr val="E2E8F0"/>
                </a:solidFill>
                <a:latin typeface="Consolas"/>
              </a:rPr>
              <a:t>        super().__init__()</a:t>
            </a:r>
          </a:p>
          <a:p>
            <a:r>
              <a:rPr sz="1000">
                <a:solidFill>
                  <a:srgbClr val="E2E8F0"/>
                </a:solidFill>
                <a:latin typeface="Consolas"/>
              </a:rPr>
              <a:t>        def blk(i, o): return nn.Sequential(nn.Conv2d(i,o,3,1,1,bias=False), nn.BatchNorm2d(o), nn.ReLU(), nn.MaxPool2d(</a:t>
            </a:r>
          </a:p>
          <a:p>
            <a:r>
              <a:rPr sz="1000">
                <a:solidFill>
                  <a:srgbClr val="E2E8F0"/>
                </a:solidFill>
                <a:latin typeface="Consolas"/>
              </a:rPr>
              <a:t>        s.f = nn.Sequential(blk(3,32), blk(32,64), blk(64,128), nn.AdaptiveAvgPool2d(1), nn.Flatten())</a:t>
            </a:r>
          </a:p>
          <a:p>
            <a:r>
              <a:rPr sz="1000">
                <a:solidFill>
                  <a:srgbClr val="E2E8F0"/>
                </a:solidFill>
                <a:latin typeface="Consolas"/>
              </a:rPr>
              <a:t>        s.h = nn.Linear(128, 10)</a:t>
            </a:r>
          </a:p>
          <a:p>
            <a:r>
              <a:rPr sz="1000">
                <a:solidFill>
                  <a:srgbClr val="E2E8F0"/>
                </a:solidFill>
                <a:latin typeface="Consolas"/>
              </a:rPr>
              <a:t>    def forward(s, x): return s.h(s.f(x))</a:t>
            </a:r>
          </a:p>
          <a:p>
            <a:r>
              <a:rPr sz="1000">
                <a:solidFill>
                  <a:srgbClr val="E2E8F0"/>
                </a:solidFill>
                <a:latin typeface="Consolas"/>
              </a:rPr>
              <a:t> </a:t>
            </a:r>
          </a:p>
          <a:p>
            <a:r>
              <a:rPr sz="1000">
                <a:solidFill>
                  <a:srgbClr val="E2E8F0"/>
                </a:solidFill>
                <a:latin typeface="Consolas"/>
              </a:rPr>
              <a:t>def train_kd(student, teacher=None, epochs=15, T=4.0, alpha=0.7, lr=0.05):</a:t>
            </a:r>
          </a:p>
          <a:p>
            <a:r>
              <a:rPr sz="1000">
                <a:solidFill>
                  <a:srgbClr val="E2E8F0"/>
                </a:solidFill>
                <a:latin typeface="Consolas"/>
              </a:rPr>
              <a:t>    student.to(dev); opt = torch.optim.SGD(student.parameters(), lr, momentum=0.9, weight_decay=5e-4)</a:t>
            </a:r>
          </a:p>
          <a:p>
            <a:r>
              <a:rPr sz="1000">
                <a:solidFill>
                  <a:srgbClr val="E2E8F0"/>
                </a:solidFill>
                <a:latin typeface="Consolas"/>
              </a:rPr>
              <a:t>    sched = torch.optim.lr_scheduler.OneCycleLR(opt, lr, total_steps=epochs*len(tl))</a:t>
            </a:r>
          </a:p>
          <a:p>
            <a:r>
              <a:rPr sz="1000">
                <a:solidFill>
                  <a:srgbClr val="E2E8F0"/>
                </a:solidFill>
                <a:latin typeface="Consolas"/>
              </a:rPr>
              <a:t>    if teacher is not None: teacher.to(dev).eval()</a:t>
            </a:r>
          </a:p>
          <a:p>
            <a:r>
              <a:rPr sz="1000">
                <a:solidFill>
                  <a:srgbClr val="E2E8F0"/>
                </a:solidFill>
                <a:latin typeface="Consolas"/>
              </a:rPr>
              <a:t>    for _ in range(epochs):</a:t>
            </a:r>
          </a:p>
          <a:p>
            <a:r>
              <a:rPr sz="1000">
                <a:solidFill>
                  <a:srgbClr val="E2E8F0"/>
                </a:solidFill>
                <a:latin typeface="Consolas"/>
              </a:rPr>
              <a:t>        student.train()</a:t>
            </a:r>
          </a:p>
          <a:p>
            <a:r>
              <a:rPr sz="1000">
                <a:solidFill>
                  <a:srgbClr val="E2E8F0"/>
                </a:solidFill>
                <a:latin typeface="Consolas"/>
              </a:rPr>
              <a:t>        for x, y in tl:</a:t>
            </a:r>
          </a:p>
          <a:p>
            <a:r>
              <a:rPr sz="1000">
                <a:solidFill>
                  <a:srgbClr val="E2E8F0"/>
                </a:solidFill>
                <a:latin typeface="Consolas"/>
              </a:rPr>
              <a:t>            x, y = x.to(dev), y.to(dev)</a:t>
            </a:r>
          </a:p>
          <a:p>
            <a:r>
              <a:rPr sz="1000">
                <a:solidFill>
                  <a:srgbClr val="E2E8F0"/>
                </a:solidFill>
                <a:latin typeface="Consolas"/>
              </a:rPr>
              <a:t>            with torch.autocast(dev, dtype=torch.bfloat16, enabled=(dev=="cuda")):</a:t>
            </a:r>
          </a:p>
          <a:p>
            <a:r>
              <a:rPr sz="1000">
                <a:solidFill>
                  <a:srgbClr val="E2E8F0"/>
                </a:solidFill>
                <a:latin typeface="Consolas"/>
              </a:rPr>
              <a:t>                s_logits = student(x)</a:t>
            </a:r>
          </a:p>
          <a:p>
            <a:r>
              <a:rPr sz="1000">
                <a:solidFill>
                  <a:srgbClr val="E2E8F0"/>
                </a:solidFill>
                <a:latin typeface="Consolas"/>
              </a:rPr>
              <a:t>                loss = F.cross_entropy(s_logits, y)</a:t>
            </a:r>
          </a:p>
          <a:p>
            <a:r>
              <a:rPr sz="1000">
                <a:solidFill>
                  <a:srgbClr val="E2E8F0"/>
                </a:solidFill>
                <a:latin typeface="Consolas"/>
              </a:rPr>
              <a:t>                if teacher is not None:</a:t>
            </a:r>
          </a:p>
          <a:p>
            <a:r>
              <a:rPr sz="1000">
                <a:solidFill>
                  <a:srgbClr val="7FD6D7"/>
                </a:solidFill>
                <a:latin typeface="Consolas"/>
              </a:rPr>
              <a:t># … (to‘liq kod — mavzu matnida / GitHub’da)</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6-qadam. Kernel darajasi: torch.compile va umumiy jadval</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M8 · Sun'iy intellekt tizimlarini optimallashtirish usullari</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25</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1300000"/>
            <a:ext cx="11000000" cy="4950000"/>
          </a:xfrm>
          <a:prstGeom prst="rect">
            <a:avLst/>
          </a:prstGeom>
          <a:noFill/>
        </p:spPr>
        <p:txBody>
          <a:bodyPr wrap="square">
            <a:spAutoFit/>
          </a:bodyPr>
          <a:lstStyle/>
          <a:p>
            <a:pPr>
              <a:spcAft>
                <a:spcPts val="900"/>
              </a:spcAft>
            </a:pPr>
            <a:r>
              <a:rPr sz="2000" b="1">
                <a:solidFill>
                  <a:srgbClr val="0F8B8D"/>
                </a:solidFill>
              </a:rPr>
              <a:t>▪  </a:t>
            </a:r>
            <a:r>
              <a:rPr sz="2000">
                <a:solidFill>
                  <a:srgbClr val="1B2430"/>
                </a:solidFill>
                <a:latin typeface="Calibri"/>
              </a:rPr>
              <a:t>Nima bo'ldi va nega: torch.compile grafni tahlil qilib, BN'ni konvolyutsiyaga eritdi, elementli operatsiyalarni birlashtirdi va Triton kernellarini avtomatik sozladi; max-autotune rejimi bir necha daqiqa kompilyatsiya oladi, lekin eng tez kernellarni…</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6-qadam. Kernel darajasi: torch.compile va umumiy jadval</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M8 · Sun'iy intellekt tizimlarini optimallashtirish usullari</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26</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Table 7"/>
          <p:cNvGraphicFramePr>
            <a:graphicFrameLocks noGrp="1"/>
          </p:cNvGraphicFramePr>
          <p:nvPr/>
        </p:nvGraphicFramePr>
        <p:xfrm>
          <a:off x="500000" y="1350000"/>
          <a:ext cx="11200000" cy="4160000"/>
        </p:xfrm>
        <a:graphic>
          <a:graphicData uri="http://schemas.openxmlformats.org/drawingml/2006/table">
            <a:tbl>
              <a:tblPr firstRow="1" bandRow="1">
                <a:tableStyleId>{5C22544A-7EE6-4342-B048-85BDC9FD1C3A}</a:tableStyleId>
              </a:tblPr>
              <a:tblGrid>
                <a:gridCol w="2240000"/>
                <a:gridCol w="2240000"/>
                <a:gridCol w="2240000"/>
                <a:gridCol w="2240000"/>
                <a:gridCol w="2240000"/>
              </a:tblGrid>
              <a:tr h="520000">
                <a:tc>
                  <a:txBody>
                    <a:bodyPr/>
                    <a:lstStyle/>
                    <a:p>
                      <a:r>
                        <a:rPr sz="1400" b="1">
                          <a:solidFill>
                            <a:srgbClr val="FFFFFF"/>
                          </a:solidFill>
                          <a:latin typeface="Calibri"/>
                        </a:rPr>
                        <a:t>Variant</a:t>
                      </a:r>
                    </a:p>
                  </a:txBody>
                  <a:tcPr>
                    <a:solidFill>
                      <a:srgbClr val="2D5C8F"/>
                    </a:solidFill>
                  </a:tcPr>
                </a:tc>
                <a:tc>
                  <a:txBody>
                    <a:bodyPr/>
                    <a:lstStyle/>
                    <a:p>
                      <a:r>
                        <a:rPr sz="1400" b="1">
                          <a:solidFill>
                            <a:srgbClr val="FFFFFF"/>
                          </a:solidFill>
                          <a:latin typeface="Calibri"/>
                        </a:rPr>
                        <a:t>Aniqlik</a:t>
                      </a:r>
                    </a:p>
                  </a:txBody>
                  <a:tcPr>
                    <a:solidFill>
                      <a:srgbClr val="2D5C8F"/>
                    </a:solidFill>
                  </a:tcPr>
                </a:tc>
                <a:tc>
                  <a:txBody>
                    <a:bodyPr/>
                    <a:lstStyle/>
                    <a:p>
                      <a:r>
                        <a:rPr sz="1400" b="1">
                          <a:solidFill>
                            <a:srgbClr val="FFFFFF"/>
                          </a:solidFill>
                          <a:latin typeface="Calibri"/>
                        </a:rPr>
                        <a:t>Hajm, MB</a:t>
                      </a:r>
                    </a:p>
                  </a:txBody>
                  <a:tcPr>
                    <a:solidFill>
                      <a:srgbClr val="2D5C8F"/>
                    </a:solidFill>
                  </a:tcPr>
                </a:tc>
                <a:tc>
                  <a:txBody>
                    <a:bodyPr/>
                    <a:lstStyle/>
                    <a:p>
                      <a:r>
                        <a:rPr sz="1400" b="1">
                          <a:solidFill>
                            <a:srgbClr val="FFFFFF"/>
                          </a:solidFill>
                          <a:latin typeface="Calibri"/>
                        </a:rPr>
                        <a:t>Kechikish (b=1)</a:t>
                      </a:r>
                    </a:p>
                  </a:txBody>
                  <a:tcPr>
                    <a:solidFill>
                      <a:srgbClr val="2D5C8F"/>
                    </a:solidFill>
                  </a:tcPr>
                </a:tc>
                <a:tc>
                  <a:txBody>
                    <a:bodyPr/>
                    <a:lstStyle/>
                    <a:p>
                      <a:r>
                        <a:rPr sz="1400" b="1">
                          <a:solidFill>
                            <a:srgbClr val="FFFFFF"/>
                          </a:solidFill>
                          <a:latin typeface="Calibri"/>
                        </a:rPr>
                        <a:t>Izoh</a:t>
                      </a:r>
                    </a:p>
                  </a:txBody>
                  <a:tcPr>
                    <a:solidFill>
                      <a:srgbClr val="2D5C8F"/>
                    </a:solidFill>
                  </a:tcPr>
                </a:tc>
              </a:tr>
              <a:tr h="520000">
                <a:tc>
                  <a:txBody>
                    <a:bodyPr/>
                    <a:lstStyle/>
                    <a:p>
                      <a:r>
                        <a:rPr sz="1400" b="0">
                          <a:solidFill>
                            <a:srgbClr val="1B2430"/>
                          </a:solidFill>
                          <a:latin typeface="Calibri"/>
                        </a:rPr>
                        <a:t>ResNet-18 FP32 (GPU)</a:t>
                      </a:r>
                    </a:p>
                  </a:txBody>
                  <a:tcPr>
                    <a:solidFill>
                      <a:srgbClr val="F1F4F8"/>
                    </a:solidFill>
                  </a:tcPr>
                </a:tc>
                <a:tc>
                  <a:txBody>
                    <a:bodyPr/>
                    <a:lstStyle/>
                    <a:p>
                      <a:r>
                        <a:rPr sz="1400" b="0">
                          <a:solidFill>
                            <a:srgbClr val="1B2430"/>
                          </a:solidFill>
                          <a:latin typeface="Calibri"/>
                        </a:rPr>
                        <a:t>0,905</a:t>
                      </a:r>
                    </a:p>
                  </a:txBody>
                  <a:tcPr>
                    <a:solidFill>
                      <a:srgbClr val="F1F4F8"/>
                    </a:solidFill>
                  </a:tcPr>
                </a:tc>
                <a:tc>
                  <a:txBody>
                    <a:bodyPr/>
                    <a:lstStyle/>
                    <a:p>
                      <a:r>
                        <a:rPr sz="1400" b="0">
                          <a:solidFill>
                            <a:srgbClr val="1B2430"/>
                          </a:solidFill>
                          <a:latin typeface="Calibri"/>
                        </a:rPr>
                        <a:t>44,8</a:t>
                      </a:r>
                    </a:p>
                  </a:txBody>
                  <a:tcPr>
                    <a:solidFill>
                      <a:srgbClr val="F1F4F8"/>
                    </a:solidFill>
                  </a:tcPr>
                </a:tc>
                <a:tc>
                  <a:txBody>
                    <a:bodyPr/>
                    <a:lstStyle/>
                    <a:p>
                      <a:r>
                        <a:rPr sz="1400" b="0">
                          <a:solidFill>
                            <a:srgbClr val="1B2430"/>
                          </a:solidFill>
                          <a:latin typeface="Calibri"/>
                        </a:rPr>
                        <a:t>2,1 ms</a:t>
                      </a:r>
                    </a:p>
                  </a:txBody>
                  <a:tcPr>
                    <a:solidFill>
                      <a:srgbClr val="F1F4F8"/>
                    </a:solidFill>
                  </a:tcPr>
                </a:tc>
                <a:tc>
                  <a:txBody>
                    <a:bodyPr/>
                    <a:lstStyle/>
                    <a:p>
                      <a:r>
                        <a:rPr sz="1400" b="0">
                          <a:solidFill>
                            <a:srgbClr val="1B2430"/>
                          </a:solidFill>
                          <a:latin typeface="Calibri"/>
                        </a:rPr>
                        <a:t>bazaviy</a:t>
                      </a:r>
                    </a:p>
                  </a:txBody>
                  <a:tcPr>
                    <a:solidFill>
                      <a:srgbClr val="F1F4F8"/>
                    </a:solidFill>
                  </a:tcPr>
                </a:tc>
              </a:tr>
              <a:tr h="520000">
                <a:tc>
                  <a:txBody>
                    <a:bodyPr/>
                    <a:lstStyle/>
                    <a:p>
                      <a:r>
                        <a:rPr sz="1400" b="0">
                          <a:solidFill>
                            <a:srgbClr val="1B2430"/>
                          </a:solidFill>
                          <a:latin typeface="Calibri"/>
                        </a:rPr>
                        <a:t>ResNet-18 FP16 + compile (GPU, b=64)</a:t>
                      </a:r>
                    </a:p>
                  </a:txBody>
                  <a:tcPr>
                    <a:solidFill>
                      <a:srgbClr val="FFFFFF"/>
                    </a:solidFill>
                  </a:tcPr>
                </a:tc>
                <a:tc>
                  <a:txBody>
                    <a:bodyPr/>
                    <a:lstStyle/>
                    <a:p>
                      <a:r>
                        <a:rPr sz="1400" b="0">
                          <a:solidFill>
                            <a:srgbClr val="1B2430"/>
                          </a:solidFill>
                          <a:latin typeface="Calibri"/>
                        </a:rPr>
                        <a:t>0,905</a:t>
                      </a:r>
                    </a:p>
                  </a:txBody>
                  <a:tcPr>
                    <a:solidFill>
                      <a:srgbClr val="FFFFFF"/>
                    </a:solidFill>
                  </a:tcPr>
                </a:tc>
                <a:tc>
                  <a:txBody>
                    <a:bodyPr/>
                    <a:lstStyle/>
                    <a:p>
                      <a:r>
                        <a:rPr sz="1400" b="0">
                          <a:solidFill>
                            <a:srgbClr val="1B2430"/>
                          </a:solidFill>
                          <a:latin typeface="Calibri"/>
                        </a:rPr>
                        <a:t>22,4</a:t>
                      </a:r>
                    </a:p>
                  </a:txBody>
                  <a:tcPr>
                    <a:solidFill>
                      <a:srgbClr val="FFFFFF"/>
                    </a:solidFill>
                  </a:tcPr>
                </a:tc>
                <a:tc>
                  <a:txBody>
                    <a:bodyPr/>
                    <a:lstStyle/>
                    <a:p>
                      <a:r>
                        <a:rPr sz="1400" b="0">
                          <a:solidFill>
                            <a:srgbClr val="1B2430"/>
                          </a:solidFill>
                          <a:latin typeface="Calibri"/>
                        </a:rPr>
                        <a:t>1,9 ms / 64 rasm</a:t>
                      </a:r>
                    </a:p>
                  </a:txBody>
                  <a:tcPr>
                    <a:solidFill>
                      <a:srgbClr val="FFFFFF"/>
                    </a:solidFill>
                  </a:tcPr>
                </a:tc>
                <a:tc>
                  <a:txBody>
                    <a:bodyPr/>
                    <a:lstStyle/>
                    <a:p>
                      <a:r>
                        <a:rPr sz="1400" b="0">
                          <a:solidFill>
                            <a:srgbClr val="1B2430"/>
                          </a:solidFill>
                          <a:latin typeface="Calibri"/>
                        </a:rPr>
                        <a:t>fusion + Tensor Core</a:t>
                      </a:r>
                    </a:p>
                  </a:txBody>
                  <a:tcPr>
                    <a:solidFill>
                      <a:srgbClr val="FFFFFF"/>
                    </a:solidFill>
                  </a:tcPr>
                </a:tc>
              </a:tr>
              <a:tr h="520000">
                <a:tc>
                  <a:txBody>
                    <a:bodyPr/>
                    <a:lstStyle/>
                    <a:p>
                      <a:r>
                        <a:rPr sz="1400" b="0">
                          <a:solidFill>
                            <a:srgbClr val="1B2430"/>
                          </a:solidFill>
                          <a:latin typeface="Calibri"/>
                        </a:rPr>
                        <a:t>ResNet-18 INT8 statik (CPU)</a:t>
                      </a:r>
                    </a:p>
                  </a:txBody>
                  <a:tcPr>
                    <a:solidFill>
                      <a:srgbClr val="F1F4F8"/>
                    </a:solidFill>
                  </a:tcPr>
                </a:tc>
                <a:tc>
                  <a:txBody>
                    <a:bodyPr/>
                    <a:lstStyle/>
                    <a:p>
                      <a:r>
                        <a:rPr sz="1400" b="0">
                          <a:solidFill>
                            <a:srgbClr val="1B2430"/>
                          </a:solidFill>
                          <a:latin typeface="Calibri"/>
                        </a:rPr>
                        <a:t>0,900</a:t>
                      </a:r>
                    </a:p>
                  </a:txBody>
                  <a:tcPr>
                    <a:solidFill>
                      <a:srgbClr val="F1F4F8"/>
                    </a:solidFill>
                  </a:tcPr>
                </a:tc>
                <a:tc>
                  <a:txBody>
                    <a:bodyPr/>
                    <a:lstStyle/>
                    <a:p>
                      <a:r>
                        <a:rPr sz="1400" b="0">
                          <a:solidFill>
                            <a:srgbClr val="1B2430"/>
                          </a:solidFill>
                          <a:latin typeface="Calibri"/>
                        </a:rPr>
                        <a:t>11,3</a:t>
                      </a:r>
                    </a:p>
                  </a:txBody>
                  <a:tcPr>
                    <a:solidFill>
                      <a:srgbClr val="F1F4F8"/>
                    </a:solidFill>
                  </a:tcPr>
                </a:tc>
                <a:tc>
                  <a:txBody>
                    <a:bodyPr/>
                    <a:lstStyle/>
                    <a:p>
                      <a:r>
                        <a:rPr sz="1400" b="0">
                          <a:solidFill>
                            <a:srgbClr val="1B2430"/>
                          </a:solidFill>
                          <a:latin typeface="Calibri"/>
                        </a:rPr>
                        <a:t>1,6 ms</a:t>
                      </a:r>
                    </a:p>
                  </a:txBody>
                  <a:tcPr>
                    <a:solidFill>
                      <a:srgbClr val="F1F4F8"/>
                    </a:solidFill>
                  </a:tcPr>
                </a:tc>
                <a:tc>
                  <a:txBody>
                    <a:bodyPr/>
                    <a:lstStyle/>
                    <a:p>
                      <a:r>
                        <a:rPr sz="1400" b="0">
                          <a:solidFill>
                            <a:srgbClr val="1B2430"/>
                          </a:solidFill>
                          <a:latin typeface="Calibri"/>
                        </a:rPr>
                        <a:t>FP32 CPU 4,5 ms edi</a:t>
                      </a:r>
                    </a:p>
                  </a:txBody>
                  <a:tcPr>
                    <a:solidFill>
                      <a:srgbClr val="F1F4F8"/>
                    </a:solidFill>
                  </a:tcPr>
                </a:tc>
              </a:tr>
              <a:tr h="520000">
                <a:tc>
                  <a:txBody>
                    <a:bodyPr/>
                    <a:lstStyle/>
                    <a:p>
                      <a:r>
                        <a:rPr sz="1400" b="0">
                          <a:solidFill>
                            <a:srgbClr val="1B2430"/>
                          </a:solidFill>
                          <a:latin typeface="Calibri"/>
                        </a:rPr>
                        <a:t>ResNet-18 70 % siyrak + FT (GPU)</a:t>
                      </a:r>
                    </a:p>
                  </a:txBody>
                  <a:tcPr>
                    <a:solidFill>
                      <a:srgbClr val="FFFFFF"/>
                    </a:solidFill>
                  </a:tcPr>
                </a:tc>
                <a:tc>
                  <a:txBody>
                    <a:bodyPr/>
                    <a:lstStyle/>
                    <a:p>
                      <a:r>
                        <a:rPr sz="1400" b="0">
                          <a:solidFill>
                            <a:srgbClr val="1B2430"/>
                          </a:solidFill>
                          <a:latin typeface="Calibri"/>
                        </a:rPr>
                        <a:t>0,895</a:t>
                      </a:r>
                    </a:p>
                  </a:txBody>
                  <a:tcPr>
                    <a:solidFill>
                      <a:srgbClr val="FFFFFF"/>
                    </a:solidFill>
                  </a:tcPr>
                </a:tc>
                <a:tc>
                  <a:txBody>
                    <a:bodyPr/>
                    <a:lstStyle/>
                    <a:p>
                      <a:r>
                        <a:rPr sz="1400" b="0">
                          <a:solidFill>
                            <a:srgbClr val="1B2430"/>
                          </a:solidFill>
                          <a:latin typeface="Calibri"/>
                        </a:rPr>
                        <a:t>44,8 (zip ~15)</a:t>
                      </a:r>
                    </a:p>
                  </a:txBody>
                  <a:tcPr>
                    <a:solidFill>
                      <a:srgbClr val="FFFFFF"/>
                    </a:solidFill>
                  </a:tcPr>
                </a:tc>
                <a:tc>
                  <a:txBody>
                    <a:bodyPr/>
                    <a:lstStyle/>
                    <a:p>
                      <a:r>
                        <a:rPr sz="1400" b="0">
                          <a:solidFill>
                            <a:srgbClr val="1B2430"/>
                          </a:solidFill>
                          <a:latin typeface="Calibri"/>
                        </a:rPr>
                        <a:t>2,1 ms</a:t>
                      </a:r>
                    </a:p>
                  </a:txBody>
                  <a:tcPr>
                    <a:solidFill>
                      <a:srgbClr val="FFFFFF"/>
                    </a:solidFill>
                  </a:tcPr>
                </a:tc>
                <a:tc>
                  <a:txBody>
                    <a:bodyPr/>
                    <a:lstStyle/>
                    <a:p>
                      <a:r>
                        <a:rPr sz="1400" b="0">
                          <a:solidFill>
                            <a:srgbClr val="1B2430"/>
                          </a:solidFill>
                          <a:latin typeface="Calibri"/>
                        </a:rPr>
                        <a:t>tezlashish yo'q</a:t>
                      </a:r>
                    </a:p>
                  </a:txBody>
                  <a:tcPr>
                    <a:solidFill>
                      <a:srgbClr val="FFFFFF"/>
                    </a:solidFill>
                  </a:tcPr>
                </a:tc>
              </a:tr>
              <a:tr h="520000">
                <a:tc>
                  <a:txBody>
                    <a:bodyPr/>
                    <a:lstStyle/>
                    <a:p>
                      <a:r>
                        <a:rPr sz="1400" b="0">
                          <a:solidFill>
                            <a:srgbClr val="1B2430"/>
                          </a:solidFill>
                          <a:latin typeface="Calibri"/>
                        </a:rPr>
                        <a:t>Linear 4096² 2:4 siyrak (GPU)</a:t>
                      </a:r>
                    </a:p>
                  </a:txBody>
                  <a:tcPr>
                    <a:solidFill>
                      <a:srgbClr val="F1F4F8"/>
                    </a:solidFill>
                  </a:tcPr>
                </a:tc>
                <a:tc>
                  <a:txBody>
                    <a:bodyPr/>
                    <a:lstStyle/>
                    <a:p>
                      <a:r>
                        <a:rPr sz="1400" b="0">
                          <a:solidFill>
                            <a:srgbClr val="1B2430"/>
                          </a:solidFill>
                          <a:latin typeface="Calibri"/>
                        </a:rPr>
                        <a:t>–</a:t>
                      </a:r>
                    </a:p>
                  </a:txBody>
                  <a:tcPr>
                    <a:solidFill>
                      <a:srgbClr val="F1F4F8"/>
                    </a:solidFill>
                  </a:tcPr>
                </a:tc>
                <a:tc>
                  <a:txBody>
                    <a:bodyPr/>
                    <a:lstStyle/>
                    <a:p>
                      <a:r>
                        <a:rPr sz="1400" b="0">
                          <a:solidFill>
                            <a:srgbClr val="1B2430"/>
                          </a:solidFill>
                          <a:latin typeface="Calibri"/>
                        </a:rPr>
                        <a:t>½</a:t>
                      </a:r>
                    </a:p>
                  </a:txBody>
                  <a:tcPr>
                    <a:solidFill>
                      <a:srgbClr val="F1F4F8"/>
                    </a:solidFill>
                  </a:tcPr>
                </a:tc>
                <a:tc>
                  <a:txBody>
                    <a:bodyPr/>
                    <a:lstStyle/>
                    <a:p>
                      <a:r>
                        <a:rPr sz="1400" b="0">
                          <a:solidFill>
                            <a:srgbClr val="1B2430"/>
                          </a:solidFill>
                          <a:latin typeface="Calibri"/>
                        </a:rPr>
                        <a:t>~1,6× tez</a:t>
                      </a:r>
                    </a:p>
                  </a:txBody>
                  <a:tcPr>
                    <a:solidFill>
                      <a:srgbClr val="F1F4F8"/>
                    </a:solidFill>
                  </a:tcPr>
                </a:tc>
                <a:tc>
                  <a:txBody>
                    <a:bodyPr/>
                    <a:lstStyle/>
                    <a:p>
                      <a:r>
                        <a:rPr sz="1400" b="0">
                          <a:solidFill>
                            <a:srgbClr val="1B2430"/>
                          </a:solidFill>
                          <a:latin typeface="Calibri"/>
                        </a:rPr>
                        <a:t>apparat siyraklik</a:t>
                      </a:r>
                    </a:p>
                  </a:txBody>
                  <a:tcPr>
                    <a:solidFill>
                      <a:srgbClr val="F1F4F8"/>
                    </a:solidFill>
                  </a:tcPr>
                </a:tc>
              </a:tr>
              <a:tr h="520000">
                <a:tc>
                  <a:txBody>
                    <a:bodyPr/>
                    <a:lstStyle/>
                    <a:p>
                      <a:r>
                        <a:rPr sz="1400" b="0">
                          <a:solidFill>
                            <a:srgbClr val="1B2430"/>
                          </a:solidFill>
                          <a:latin typeface="Calibri"/>
                        </a:rPr>
                        <a:t>SmallCNN KD (GPU)</a:t>
                      </a:r>
                    </a:p>
                  </a:txBody>
                  <a:tcPr>
                    <a:solidFill>
                      <a:srgbClr val="FFFFFF"/>
                    </a:solidFill>
                  </a:tcPr>
                </a:tc>
                <a:tc>
                  <a:txBody>
                    <a:bodyPr/>
                    <a:lstStyle/>
                    <a:p>
                      <a:r>
                        <a:rPr sz="1400" b="0">
                          <a:solidFill>
                            <a:srgbClr val="1B2430"/>
                          </a:solidFill>
                          <a:latin typeface="Calibri"/>
                        </a:rPr>
                        <a:t>0,87</a:t>
                      </a:r>
                    </a:p>
                  </a:txBody>
                  <a:tcPr>
                    <a:solidFill>
                      <a:srgbClr val="FFFFFF"/>
                    </a:solidFill>
                  </a:tcPr>
                </a:tc>
                <a:tc>
                  <a:txBody>
                    <a:bodyPr/>
                    <a:lstStyle/>
                    <a:p>
                      <a:r>
                        <a:rPr sz="1400" b="0">
                          <a:solidFill>
                            <a:srgbClr val="1B2430"/>
                          </a:solidFill>
                          <a:latin typeface="Calibri"/>
                        </a:rPr>
                        <a:t>0,4</a:t>
                      </a:r>
                    </a:p>
                  </a:txBody>
                  <a:tcPr>
                    <a:solidFill>
                      <a:srgbClr val="FFFFFF"/>
                    </a:solidFill>
                  </a:tcPr>
                </a:tc>
                <a:tc>
                  <a:txBody>
                    <a:bodyPr/>
                    <a:lstStyle/>
                    <a:p>
                      <a:r>
                        <a:rPr sz="1400" b="0">
                          <a:solidFill>
                            <a:srgbClr val="1B2430"/>
                          </a:solidFill>
                          <a:latin typeface="Calibri"/>
                        </a:rPr>
                        <a:t>0,5 ms</a:t>
                      </a:r>
                    </a:p>
                  </a:txBody>
                  <a:tcPr>
                    <a:solidFill>
                      <a:srgbClr val="FFFFFF"/>
                    </a:solidFill>
                  </a:tcPr>
                </a:tc>
                <a:tc>
                  <a:txBody>
                    <a:bodyPr/>
                    <a:lstStyle/>
                    <a:p>
                      <a:r>
                        <a:rPr sz="1400" b="0">
                          <a:solidFill>
                            <a:srgbClr val="1B2430"/>
                          </a:solidFill>
                          <a:latin typeface="Calibri"/>
                        </a:rPr>
                        <a:t>100× kichik, −3,5 pp</a:t>
                      </a:r>
                    </a:p>
                  </a:txBody>
                  <a:tcPr>
                    <a:solidFill>
                      <a:srgbClr val="FFFFFF"/>
                    </a:solidFill>
                  </a:tcPr>
                </a:tc>
              </a:tr>
              <a:tr h="520000">
                <a:tc>
                  <a:txBody>
                    <a:bodyPr/>
                    <a:lstStyle/>
                    <a:p>
                      <a:r>
                        <a:rPr sz="1400" b="0">
                          <a:solidFill>
                            <a:srgbClr val="1B2430"/>
                          </a:solidFill>
                          <a:latin typeface="Calibri"/>
                        </a:rPr>
                        <a:t>SmallCNN KD + INT8 (CPU)</a:t>
                      </a:r>
                    </a:p>
                  </a:txBody>
                  <a:tcPr>
                    <a:solidFill>
                      <a:srgbClr val="F1F4F8"/>
                    </a:solidFill>
                  </a:tcPr>
                </a:tc>
                <a:tc>
                  <a:txBody>
                    <a:bodyPr/>
                    <a:lstStyle/>
                    <a:p>
                      <a:r>
                        <a:rPr sz="1400" b="0">
                          <a:solidFill>
                            <a:srgbClr val="1B2430"/>
                          </a:solidFill>
                          <a:latin typeface="Calibri"/>
                        </a:rPr>
                        <a:t>0,865</a:t>
                      </a:r>
                    </a:p>
                  </a:txBody>
                  <a:tcPr>
                    <a:solidFill>
                      <a:srgbClr val="F1F4F8"/>
                    </a:solidFill>
                  </a:tcPr>
                </a:tc>
                <a:tc>
                  <a:txBody>
                    <a:bodyPr/>
                    <a:lstStyle/>
                    <a:p>
                      <a:r>
                        <a:rPr sz="1400" b="0">
                          <a:solidFill>
                            <a:srgbClr val="1B2430"/>
                          </a:solidFill>
                          <a:latin typeface="Calibri"/>
                        </a:rPr>
                        <a:t>0,12</a:t>
                      </a:r>
                    </a:p>
                  </a:txBody>
                  <a:tcPr>
                    <a:solidFill>
                      <a:srgbClr val="F1F4F8"/>
                    </a:solidFill>
                  </a:tcPr>
                </a:tc>
                <a:tc>
                  <a:txBody>
                    <a:bodyPr/>
                    <a:lstStyle/>
                    <a:p>
                      <a:r>
                        <a:rPr sz="1400" b="0">
                          <a:solidFill>
                            <a:srgbClr val="1B2430"/>
                          </a:solidFill>
                          <a:latin typeface="Calibri"/>
                        </a:rPr>
                        <a:t>~0,3 ms</a:t>
                      </a:r>
                    </a:p>
                  </a:txBody>
                  <a:tcPr>
                    <a:solidFill>
                      <a:srgbClr val="F1F4F8"/>
                    </a:solidFill>
                  </a:tcPr>
                </a:tc>
                <a:tc>
                  <a:txBody>
                    <a:bodyPr/>
                    <a:lstStyle/>
                    <a:p>
                      <a:r>
                        <a:rPr sz="1400" b="0">
                          <a:solidFill>
                            <a:srgbClr val="1B2430"/>
                          </a:solidFill>
                          <a:latin typeface="Calibri"/>
                        </a:rPr>
                        <a:t>chekka qurilma uchun</a:t>
                      </a:r>
                    </a:p>
                  </a:txBody>
                  <a:tcPr>
                    <a:solidFill>
                      <a:srgbClr val="F1F4F8"/>
                    </a:solidFill>
                  </a:tcPr>
                </a:tc>
              </a:tr>
            </a:tbl>
          </a:graphicData>
        </a:graphic>
      </p:graphicFrame>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AMALIY MISOL</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6-qadam. Kernel darajasi: torch.compile va umumiy jadval — kod</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M8 · Sun'iy intellekt tizimlarini optimallashtirish usullari</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27</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00000" y="1280000"/>
            <a:ext cx="11200000" cy="5000000"/>
          </a:xfrm>
          <a:prstGeom prst="roundRect">
            <a:avLst>
              <a:gd name="adj" fmla="val 3000"/>
            </a:avLst>
          </a:prstGeom>
          <a:solidFill>
            <a:srgbClr val="0F17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0000" y="1400000"/>
            <a:ext cx="10800000" cy="4800000"/>
          </a:xfrm>
          <a:prstGeom prst="rect">
            <a:avLst/>
          </a:prstGeom>
          <a:noFill/>
        </p:spPr>
        <p:txBody>
          <a:bodyPr wrap="square">
            <a:spAutoFit/>
          </a:bodyPr>
          <a:lstStyle/>
          <a:p>
            <a:r>
              <a:rPr sz="1000">
                <a:solidFill>
                  <a:srgbClr val="E2E8F0"/>
                </a:solidFill>
                <a:latin typeface="Consolas"/>
              </a:rPr>
              <a:t>if dev == "cuda":</a:t>
            </a:r>
          </a:p>
          <a:p>
            <a:r>
              <a:rPr sz="1000">
                <a:solidFill>
                  <a:srgbClr val="E2E8F0"/>
                </a:solidFill>
                <a:latin typeface="Consolas"/>
              </a:rPr>
              <a:t>    m16 = copy.deepcopy(base).to(dev).half().eval()</a:t>
            </a:r>
          </a:p>
          <a:p>
            <a:r>
              <a:rPr sz="1000">
                <a:solidFill>
                  <a:srgbClr val="E2E8F0"/>
                </a:solidFill>
                <a:latin typeface="Consolas"/>
              </a:rPr>
              <a:t>    mc = torch.compile(copy.deepcopy(m16), mode="max-autotune")   # TorchInductor: fusion + Triton kernellar</a:t>
            </a:r>
          </a:p>
          <a:p>
            <a:r>
              <a:rPr sz="1000">
                <a:solidFill>
                  <a:srgbClr val="E2E8F0"/>
                </a:solidFill>
                <a:latin typeface="Consolas"/>
              </a:rPr>
              <a:t>    x = torch.randn(64, 3, 32, 32, device=dev, dtype=torch.half)</a:t>
            </a:r>
          </a:p>
          <a:p>
            <a:r>
              <a:rPr sz="1000">
                <a:solidFill>
                  <a:srgbClr val="E2E8F0"/>
                </a:solidFill>
                <a:latin typeface="Consolas"/>
              </a:rPr>
              <a:t>    with torch.no_grad():</a:t>
            </a:r>
          </a:p>
          <a:p>
            <a:r>
              <a:rPr sz="1000">
                <a:solidFill>
                  <a:srgbClr val="E2E8F0"/>
                </a:solidFill>
                <a:latin typeface="Consolas"/>
              </a:rPr>
              <a:t>        for _ in range(5): mc(x)                                    # kompilyatsiya birinchi chaqiruvlarda</a:t>
            </a:r>
          </a:p>
          <a:p>
            <a:r>
              <a:rPr sz="1000">
                <a:solidFill>
                  <a:srgbClr val="E2E8F0"/>
                </a:solidFill>
                <a:latin typeface="Consolas"/>
              </a:rPr>
              <a:t>    print(f"FP16 eager lat(b=64)={latency_ms(m16,(64,3,32,32)):.2f}ms  compiled={latency_ms(mc,(64,3,32,32)):.2f}ms")</a:t>
            </a:r>
          </a:p>
          <a:p>
            <a:r>
              <a:rPr sz="1000">
                <a:solidFill>
                  <a:srgbClr val="7FD6D7"/>
                </a:solidFill>
                <a:latin typeface="Consolas"/>
              </a:rPr>
              <a:t>    # Energiya bahosi: nvidia-smi --query-gpu=power.draw --format=csv -lms 100  (alohida terminalda), J/inferens = W * 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200000"/>
            <a:ext cx="11200000" cy="650000"/>
          </a:xfrm>
          <a:prstGeom prst="rect">
            <a:avLst/>
          </a:prstGeom>
          <a:noFill/>
        </p:spPr>
        <p:txBody>
          <a:bodyPr wrap="square" anchor="ctr" lIns="50800" rIns="50800">
            <a:spAutoFit/>
          </a:bodyPr>
          <a:lstStyle/>
          <a:p>
            <a:pPr algn="l"/>
            <a:r>
              <a:rPr sz="2600" b="1">
                <a:solidFill>
                  <a:srgbClr val="FFFFFF"/>
                </a:solidFill>
                <a:latin typeface="Calibri"/>
              </a:rPr>
              <a:t>Natijalarni tahlil qilish</a:t>
            </a:r>
          </a:p>
        </p:txBody>
      </p:sp>
      <p:sp>
        <p:nvSpPr>
          <p:cNvPr id="4" name="TextBox 3"/>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M8 · Sun'iy intellekt tizimlarini optimallashtirish usullari</a:t>
            </a:r>
          </a:p>
        </p:txBody>
      </p:sp>
      <p:sp>
        <p:nvSpPr>
          <p:cNvPr id="5" name="TextBox 4"/>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28</a:t>
            </a:r>
          </a:p>
        </p:txBody>
      </p:sp>
      <p:sp>
        <p:nvSpPr>
          <p:cNvPr id="6" name="Rectangle 5"/>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0000" y="1300000"/>
            <a:ext cx="11000000" cy="4950000"/>
          </a:xfrm>
          <a:prstGeom prst="rect">
            <a:avLst/>
          </a:prstGeom>
          <a:noFill/>
        </p:spPr>
        <p:txBody>
          <a:bodyPr wrap="square">
            <a:spAutoFit/>
          </a:bodyPr>
          <a:lstStyle/>
          <a:p>
            <a:pPr>
              <a:spcAft>
                <a:spcPts val="900"/>
              </a:spcAft>
            </a:pPr>
            <a:r>
              <a:rPr sz="1600" b="1">
                <a:solidFill>
                  <a:srgbClr val="0F8B8D"/>
                </a:solidFill>
              </a:rPr>
              <a:t>▪  </a:t>
            </a:r>
            <a:r>
              <a:rPr sz="1600">
                <a:solidFill>
                  <a:srgbClr val="1B2430"/>
                </a:solidFill>
                <a:latin typeface="Calibri"/>
              </a:rPr>
              <a:t>Jadval optimallashtirish usullarining «bepul» emasligini va bir-birini to'ldirishini ko'rsatadi.</a:t>
            </a:r>
          </a:p>
          <a:p>
            <a:pPr>
              <a:spcAft>
                <a:spcPts val="900"/>
              </a:spcAft>
            </a:pPr>
            <a:r>
              <a:rPr sz="1600" b="1">
                <a:solidFill>
                  <a:srgbClr val="0F8B8D"/>
                </a:solidFill>
              </a:rPr>
              <a:t>▪  </a:t>
            </a:r>
            <a:r>
              <a:rPr sz="1600">
                <a:solidFill>
                  <a:srgbClr val="1B2430"/>
                </a:solidFill>
                <a:latin typeface="Calibri"/>
              </a:rPr>
              <a:t>Statik INT8 kvantlash CPU va chekka qurilma uchun eng kuchli vosita: 4 baravar hajm va ~3 baravar tezlik, aniqlik yo'qotish bir foiz punktdan kam; narxi — kalibrlash to'plami va FX graf…</a:t>
            </a:r>
          </a:p>
          <a:p>
            <a:pPr>
              <a:spcAft>
                <a:spcPts val="900"/>
              </a:spcAft>
            </a:pPr>
            <a:r>
              <a:rPr sz="1600" b="1">
                <a:solidFill>
                  <a:srgbClr val="0F8B8D"/>
                </a:solidFill>
              </a:rPr>
              <a:t>▪  </a:t>
            </a:r>
            <a:r>
              <a:rPr sz="1600">
                <a:solidFill>
                  <a:srgbClr val="1B2430"/>
                </a:solidFill>
                <a:latin typeface="Calibri"/>
              </a:rPr>
              <a:t>Pruning natijalari eng ko'p noto'g'ri tushuniladigan qism: 70 foiz siyraklik ta'sirli ko'rinadi, lekin umumiy GPU'da kechikish o'zgarmadi.</a:t>
            </a:r>
          </a:p>
          <a:p>
            <a:pPr>
              <a:spcAft>
                <a:spcPts val="900"/>
              </a:spcAft>
            </a:pPr>
            <a:r>
              <a:rPr sz="1600" b="1">
                <a:solidFill>
                  <a:srgbClr val="0F8B8D"/>
                </a:solidFill>
              </a:rPr>
              <a:t>▪  </a:t>
            </a:r>
            <a:r>
              <a:rPr sz="1600">
                <a:solidFill>
                  <a:srgbClr val="1B2430"/>
                </a:solidFill>
                <a:latin typeface="Calibri"/>
              </a:rPr>
              <a:t>Distillyatsiya esa aniqlik–hajm chegarasini siljitadi: bir xil kichik arxitektura KD bilan 3–4 foiz punkt yaxshiroq; va u boshqa usullar bilan ketma-ket qo'llaniladi (KD → INT8 — jadvaldagi…</a:t>
            </a:r>
          </a:p>
          <a:p>
            <a:pPr>
              <a:spcAft>
                <a:spcPts val="900"/>
              </a:spcAft>
            </a:pPr>
            <a:r>
              <a:rPr sz="1600" b="1">
                <a:solidFill>
                  <a:srgbClr val="0F8B8D"/>
                </a:solidFill>
              </a:rPr>
              <a:t>▪  </a:t>
            </a:r>
            <a:r>
              <a:rPr sz="1600">
                <a:solidFill>
                  <a:srgbClr val="1B2430"/>
                </a:solidFill>
                <a:latin typeface="Calibri"/>
              </a:rPr>
              <a:t>Cheklovlar: CIFAR-10 kichik vazifa — katta modellarda nisbatlar farq qiladi (masalan, transformerlarda aktivatsiya outlier'lari INT8 statik kvantlashni qiyinlashtiradi, SmoothQuant kabi…</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200000"/>
            <a:ext cx="11200000" cy="650000"/>
          </a:xfrm>
          <a:prstGeom prst="rect">
            <a:avLst/>
          </a:prstGeom>
          <a:noFill/>
        </p:spPr>
        <p:txBody>
          <a:bodyPr wrap="square" anchor="ctr" lIns="50800" rIns="50800">
            <a:spAutoFit/>
          </a:bodyPr>
          <a:lstStyle/>
          <a:p>
            <a:pPr algn="l"/>
            <a:r>
              <a:rPr sz="2600" b="1">
                <a:solidFill>
                  <a:srgbClr val="FFFFFF"/>
                </a:solidFill>
                <a:latin typeface="Calibri"/>
              </a:rPr>
              <a:t>Keng tarqalgan xatolar va amaliy tavsiyalar (1)</a:t>
            </a:r>
          </a:p>
        </p:txBody>
      </p:sp>
      <p:sp>
        <p:nvSpPr>
          <p:cNvPr id="4" name="TextBox 3"/>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M8 · Sun'iy intellekt tizimlarini optimallashtirish usullari</a:t>
            </a:r>
          </a:p>
        </p:txBody>
      </p:sp>
      <p:sp>
        <p:nvSpPr>
          <p:cNvPr id="5" name="TextBox 4"/>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29</a:t>
            </a:r>
          </a:p>
        </p:txBody>
      </p:sp>
      <p:sp>
        <p:nvSpPr>
          <p:cNvPr id="6" name="Rectangle 5"/>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0000" y="1300000"/>
            <a:ext cx="11000000" cy="4950000"/>
          </a:xfrm>
          <a:prstGeom prst="rect">
            <a:avLst/>
          </a:prstGeom>
          <a:noFill/>
        </p:spPr>
        <p:txBody>
          <a:bodyPr wrap="square">
            <a:spAutoFit/>
          </a:bodyPr>
          <a:lstStyle/>
          <a:p>
            <a:pPr>
              <a:spcAft>
                <a:spcPts val="900"/>
              </a:spcAft>
            </a:pPr>
            <a:r>
              <a:rPr sz="1600" b="1">
                <a:solidFill>
                  <a:srgbClr val="0F8B8D"/>
                </a:solidFill>
              </a:rPr>
              <a:t>▪  </a:t>
            </a:r>
            <a:r>
              <a:rPr sz="1600">
                <a:solidFill>
                  <a:srgbClr val="1B2430"/>
                </a:solidFill>
                <a:latin typeface="Calibri"/>
              </a:rPr>
              <a:t>FP16'da GradScaler'siz o'qitish. Gradientlar underflow bo'lib, yo'qotish NaN yoki o'rganish to'xtaydi. FP16 — har doim GradScaler bilan; imkon bo'lsa BF16 ishlating. NaN paydo bo'lsa,…</a:t>
            </a:r>
          </a:p>
          <a:p>
            <a:pPr>
              <a:spcAft>
                <a:spcPts val="900"/>
              </a:spcAft>
            </a:pPr>
            <a:r>
              <a:rPr sz="1600" b="1">
                <a:solidFill>
                  <a:srgbClr val="0F8B8D"/>
                </a:solidFill>
              </a:rPr>
              <a:t>▪  </a:t>
            </a:r>
            <a:r>
              <a:rPr sz="1600">
                <a:solidFill>
                  <a:srgbClr val="1B2430"/>
                </a:solidFill>
                <a:latin typeface="Calibri"/>
              </a:rPr>
              <a:t>Autocast ichida sezgir operatsiyalarni qo'lda past aniqlikka o'tkazish. model.half() butun modelni FP16 qiladi — BatchNorm statistikasi va yig'indilar buziladi. O'qitishda autocast…</a:t>
            </a:r>
          </a:p>
          <a:p>
            <a:pPr>
              <a:spcAft>
                <a:spcPts val="900"/>
              </a:spcAft>
            </a:pPr>
            <a:r>
              <a:rPr sz="1600" b="1">
                <a:solidFill>
                  <a:srgbClr val="0F8B8D"/>
                </a:solidFill>
              </a:rPr>
              <a:t>▪  </a:t>
            </a:r>
            <a:r>
              <a:rPr sz="1600">
                <a:solidFill>
                  <a:srgbClr val="1B2430"/>
                </a:solidFill>
                <a:latin typeface="Calibri"/>
              </a:rPr>
              <a:t>Kalibrlashsiz yoki vakillik qilmaydigan kalibrlash bilan statik kvantlash. Aniqlik keskin tushadi. Validatsiyadan 200–1000 ta tasodifiy, to'liq oldindan qayta ishlangan namuna; kvantlashdan…</a:t>
            </a:r>
          </a:p>
          <a:p>
            <a:pPr>
              <a:spcAft>
                <a:spcPts val="900"/>
              </a:spcAft>
            </a:pPr>
            <a:r>
              <a:rPr sz="1600" b="1">
                <a:solidFill>
                  <a:srgbClr val="0F8B8D"/>
                </a:solidFill>
              </a:rPr>
              <a:t>▪  </a:t>
            </a:r>
            <a:r>
              <a:rPr sz="1600">
                <a:solidFill>
                  <a:srgbClr val="1B2430"/>
                </a:solidFill>
                <a:latin typeface="Calibri"/>
              </a:rPr>
              <a:t>Per-tensor og'irlik kvantlash. Kanallar orasida diapazon farqi katta bo'lsa (ayniqsa depthwise konvolyutsiyalarda), per-tensor masshtab aniqlikni buzadi. Og'irliklar uchun per-channel…</a:t>
            </a:r>
          </a:p>
          <a:p>
            <a:pPr>
              <a:spcAft>
                <a:spcPts val="900"/>
              </a:spcAft>
            </a:pPr>
            <a:r>
              <a:rPr sz="1600" b="1">
                <a:solidFill>
                  <a:srgbClr val="0F8B8D"/>
                </a:solidFill>
              </a:rPr>
              <a:t>▪  </a:t>
            </a:r>
            <a:r>
              <a:rPr sz="1600">
                <a:solidFill>
                  <a:srgbClr val="1B2430"/>
                </a:solidFill>
                <a:latin typeface="Calibri"/>
              </a:rPr>
              <a:t>Strukturlanmagan pruning'dan tezlik kutish. Umumiy GPU/CPU'da nollar hisoblanadi. Tezlik kerak bo'lsa — strukturlangan pruning (fizik qayta qurish bilan) yoki 2:4; hajm kerak bo'lsa —…</a:t>
            </a:r>
          </a:p>
          <a:p>
            <a:pPr>
              <a:spcAft>
                <a:spcPts val="900"/>
              </a:spcAft>
            </a:pPr>
            <a:r>
              <a:rPr sz="1600" b="1">
                <a:solidFill>
                  <a:srgbClr val="0F8B8D"/>
                </a:solidFill>
              </a:rPr>
              <a:t>▪  </a:t>
            </a:r>
            <a:r>
              <a:rPr sz="1600">
                <a:solidFill>
                  <a:srgbClr val="1B2430"/>
                </a:solidFill>
                <a:latin typeface="Calibri"/>
              </a:rPr>
              <a:t>Pruning'ni bir qadamda yuqori darajaga olib borish. 90 foizni bir urinishda olib tashlash aniqlikni tiklab bo'lmas darajada buzadi. Iterativ: 20–30 foiz → fine-tune → yana, har qadamda…</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200000"/>
            <a:ext cx="11200000" cy="650000"/>
          </a:xfrm>
          <a:prstGeom prst="rect">
            <a:avLst/>
          </a:prstGeom>
          <a:noFill/>
        </p:spPr>
        <p:txBody>
          <a:bodyPr wrap="square" anchor="ctr" lIns="50800" rIns="50800">
            <a:spAutoFit/>
          </a:bodyPr>
          <a:lstStyle/>
          <a:p>
            <a:pPr algn="l"/>
            <a:r>
              <a:rPr sz="2600" b="1">
                <a:solidFill>
                  <a:srgbClr val="FFFFFF"/>
                </a:solidFill>
                <a:latin typeface="Calibri"/>
              </a:rPr>
              <a:t>Keng tarqalgan xatolar va amaliy tavsiyalar (2)</a:t>
            </a:r>
          </a:p>
        </p:txBody>
      </p:sp>
      <p:sp>
        <p:nvSpPr>
          <p:cNvPr id="4" name="TextBox 3"/>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M8 · Sun'iy intellekt tizimlarini optimallashtirish usullari</a:t>
            </a:r>
          </a:p>
        </p:txBody>
      </p:sp>
      <p:sp>
        <p:nvSpPr>
          <p:cNvPr id="5" name="TextBox 4"/>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30</a:t>
            </a:r>
          </a:p>
        </p:txBody>
      </p:sp>
      <p:sp>
        <p:nvSpPr>
          <p:cNvPr id="6" name="Rectangle 5"/>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0000" y="1300000"/>
            <a:ext cx="11000000" cy="4950000"/>
          </a:xfrm>
          <a:prstGeom prst="rect">
            <a:avLst/>
          </a:prstGeom>
          <a:noFill/>
        </p:spPr>
        <p:txBody>
          <a:bodyPr wrap="square">
            <a:spAutoFit/>
          </a:bodyPr>
          <a:lstStyle/>
          <a:p>
            <a:pPr>
              <a:spcAft>
                <a:spcPts val="900"/>
              </a:spcAft>
            </a:pPr>
            <a:r>
              <a:rPr sz="1800" b="1">
                <a:solidFill>
                  <a:srgbClr val="0F8B8D"/>
                </a:solidFill>
              </a:rPr>
              <a:t>▪  </a:t>
            </a:r>
            <a:r>
              <a:rPr sz="1800">
                <a:solidFill>
                  <a:srgbClr val="1B2430"/>
                </a:solidFill>
                <a:latin typeface="Calibri"/>
              </a:rPr>
              <a:t>Distillyatsiyada noto'g'ri harorat va o'qituvchi. T juda past — yumshoq taqsimot foydasi yo'q; juda yuqori — signal yo'qoladi; T=2…6 dan boshlang. O'qituvchi o'quvchidan haddan tashqari…</a:t>
            </a:r>
          </a:p>
          <a:p>
            <a:pPr>
              <a:spcAft>
                <a:spcPts val="900"/>
              </a:spcAft>
            </a:pPr>
            <a:r>
              <a:rPr sz="1800" b="1">
                <a:solidFill>
                  <a:srgbClr val="0F8B8D"/>
                </a:solidFill>
              </a:rPr>
              <a:t>▪  </a:t>
            </a:r>
            <a:r>
              <a:rPr sz="1800">
                <a:solidFill>
                  <a:srgbClr val="1B2430"/>
                </a:solidFill>
                <a:latin typeface="Calibri"/>
              </a:rPr>
              <a:t>Faqat FLOP yoki parametr sonini hisobot qilish. Bu ko'rsatkichlar kechikish va energiyani to'g'ri bashorat qilmaydi (M5 roofline). Har doim maqsadli apparatda median va p99 kechikish,…</a:t>
            </a:r>
          </a:p>
          <a:p>
            <a:pPr>
              <a:spcAft>
                <a:spcPts val="900"/>
              </a:spcAft>
            </a:pPr>
            <a:r>
              <a:rPr sz="1800" b="1">
                <a:solidFill>
                  <a:srgbClr val="0F8B8D"/>
                </a:solidFill>
              </a:rPr>
              <a:t>▪  </a:t>
            </a:r>
            <a:r>
              <a:rPr sz="1800">
                <a:solidFill>
                  <a:srgbClr val="1B2430"/>
                </a:solidFill>
                <a:latin typeface="Calibri"/>
              </a:rPr>
              <a:t>torch.compile bilan dinamik shakllar. Har yangi kirish shakli qayta kompilyatsiyani keltirib chiqaradi va ishlab chiqarishda kechikish sakrashlari beradi. dynamic=True yoki shakllarni…</a:t>
            </a:r>
          </a:p>
          <a:p>
            <a:pPr>
              <a:spcAft>
                <a:spcPts val="900"/>
              </a:spcAft>
            </a:pPr>
            <a:r>
              <a:rPr sz="1800" b="1">
                <a:solidFill>
                  <a:srgbClr val="0F8B8D"/>
                </a:solidFill>
              </a:rPr>
              <a:t>▪  </a:t>
            </a:r>
            <a:r>
              <a:rPr sz="1800">
                <a:solidFill>
                  <a:srgbClr val="1B2430"/>
                </a:solidFill>
                <a:latin typeface="Calibri"/>
              </a:rPr>
              <a:t>Optimallashtirilgan modelni qayta tekshirmaslik. Kvantlash va pruning sinflar bo'yicha notekis ta'sir qilishi mumkin: umumiy aniqlik saqlanadi, lekin kam uchraydigan sinf yoki guruh…</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200000"/>
            <a:ext cx="11200000" cy="650000"/>
          </a:xfrm>
          <a:prstGeom prst="rect">
            <a:avLst/>
          </a:prstGeom>
          <a:noFill/>
        </p:spPr>
        <p:txBody>
          <a:bodyPr wrap="square" anchor="ctr" lIns="50800" rIns="50800">
            <a:spAutoFit/>
          </a:bodyPr>
          <a:lstStyle/>
          <a:p>
            <a:pPr algn="l"/>
            <a:r>
              <a:rPr sz="2600" b="1">
                <a:solidFill>
                  <a:srgbClr val="FFFFFF"/>
                </a:solidFill>
                <a:latin typeface="Calibri"/>
              </a:rPr>
              <a:t>Nazorat savollari (1)</a:t>
            </a:r>
          </a:p>
        </p:txBody>
      </p:sp>
      <p:sp>
        <p:nvSpPr>
          <p:cNvPr id="4" name="TextBox 3"/>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M8 · Sun'iy intellekt tizimlarini optimallashtirish usullari</a:t>
            </a:r>
          </a:p>
        </p:txBody>
      </p:sp>
      <p:sp>
        <p:nvSpPr>
          <p:cNvPr id="5" name="TextBox 4"/>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31</a:t>
            </a:r>
          </a:p>
        </p:txBody>
      </p:sp>
      <p:sp>
        <p:nvSpPr>
          <p:cNvPr id="6" name="Rectangle 5"/>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0000" y="1300000"/>
            <a:ext cx="11000000" cy="4950000"/>
          </a:xfrm>
          <a:prstGeom prst="rect">
            <a:avLst/>
          </a:prstGeom>
          <a:noFill/>
        </p:spPr>
        <p:txBody>
          <a:bodyPr wrap="square">
            <a:spAutoFit/>
          </a:bodyPr>
          <a:lstStyle/>
          <a:p>
            <a:pPr>
              <a:spcAft>
                <a:spcPts val="900"/>
              </a:spcAft>
            </a:pPr>
            <a:r>
              <a:rPr sz="1600" b="1">
                <a:solidFill>
                  <a:srgbClr val="0F8B8D"/>
                </a:solidFill>
              </a:rPr>
              <a:t>▪  </a:t>
            </a:r>
            <a:r>
              <a:rPr sz="1600">
                <a:solidFill>
                  <a:srgbClr val="1B2430"/>
                </a:solidFill>
                <a:latin typeface="Calibri"/>
              </a:rPr>
              <a:t>BF16 FP16'dan kamroq mantissa bitiga ega bo'lsa-da, nima uchun katta modellarni o'qitishda afzal ko'riladi? Qaysi holatlarda FP16 yaxshiroq bo'lishi mumkin?</a:t>
            </a:r>
          </a:p>
          <a:p>
            <a:pPr>
              <a:spcAft>
                <a:spcPts val="900"/>
              </a:spcAft>
            </a:pPr>
            <a:r>
              <a:rPr sz="1600" b="1">
                <a:solidFill>
                  <a:srgbClr val="0F8B8D"/>
                </a:solidFill>
              </a:rPr>
              <a:t>▪  </a:t>
            </a:r>
            <a:r>
              <a:rPr sz="1600">
                <a:solidFill>
                  <a:srgbClr val="1B2430"/>
                </a:solidFill>
                <a:latin typeface="Calibri"/>
              </a:rPr>
              <a:t>Loss scaling nima uchun kerak va dinamik masshtablash qanday ishlaydi? Masshtab koeffitsienti juda katta yoki juda kichik bo'lsa, qanday belgilar kuzatiladi?</a:t>
            </a:r>
          </a:p>
          <a:p>
            <a:pPr>
              <a:spcAft>
                <a:spcPts val="900"/>
              </a:spcAft>
            </a:pPr>
            <a:r>
              <a:rPr sz="1600" b="1">
                <a:solidFill>
                  <a:srgbClr val="0F8B8D"/>
                </a:solidFill>
              </a:rPr>
              <a:t>▪  </a:t>
            </a:r>
            <a:r>
              <a:rPr sz="1600">
                <a:solidFill>
                  <a:srgbClr val="1B2430"/>
                </a:solidFill>
                <a:latin typeface="Calibri"/>
              </a:rPr>
              <a:t>Asimmetrik kvantlash ReLU'dan keyingi aktivatsiyalar uchun nega simmetrikdan samaraliroq? Per-channel masshtab per-tensor'dan qanday afzallik beradi va qanday narxi bor?</a:t>
            </a:r>
          </a:p>
          <a:p>
            <a:pPr>
              <a:spcAft>
                <a:spcPts val="900"/>
              </a:spcAft>
            </a:pPr>
            <a:r>
              <a:rPr sz="1600" b="1">
                <a:solidFill>
                  <a:srgbClr val="0F8B8D"/>
                </a:solidFill>
              </a:rPr>
              <a:t>▪  </a:t>
            </a:r>
            <a:r>
              <a:rPr sz="1600">
                <a:solidFill>
                  <a:srgbClr val="1B2430"/>
                </a:solidFill>
                <a:latin typeface="Calibri"/>
              </a:rPr>
              <a:t>LLM dekodlashda og'irlik-faqat INT4 kvantlash nega W8A8 (og'irlik va aktivatsiya 8 bit) dan ko'ra ko'proq token tezligi berishi mumkin, garchi arifmetika FP16'da bajarilsa? M5'dagi…</a:t>
            </a:r>
          </a:p>
          <a:p>
            <a:pPr>
              <a:spcAft>
                <a:spcPts val="900"/>
              </a:spcAft>
            </a:pPr>
            <a:r>
              <a:rPr sz="1600" b="1">
                <a:solidFill>
                  <a:srgbClr val="0F8B8D"/>
                </a:solidFill>
              </a:rPr>
              <a:t>▪  </a:t>
            </a:r>
            <a:r>
              <a:rPr sz="1600">
                <a:solidFill>
                  <a:srgbClr val="1B2430"/>
                </a:solidFill>
                <a:latin typeface="Calibri"/>
              </a:rPr>
              <a:t>Strukturlanmagan 90 foiz siyraklik umumiy GPU'da nima uchun tezlashish bermaydi? 2:4 siyraklik apparatda qanday amalga oshirilgan va nega aynan 2:4?</a:t>
            </a:r>
          </a:p>
          <a:p>
            <a:pPr>
              <a:spcAft>
                <a:spcPts val="900"/>
              </a:spcAft>
            </a:pPr>
            <a:r>
              <a:rPr sz="1600" b="1">
                <a:solidFill>
                  <a:srgbClr val="0F8B8D"/>
                </a:solidFill>
              </a:rPr>
              <a:t>▪  </a:t>
            </a:r>
            <a:r>
              <a:rPr sz="1600">
                <a:solidFill>
                  <a:srgbClr val="1B2430"/>
                </a:solidFill>
                <a:latin typeface="Calibri"/>
              </a:rPr>
              <a:t>Strukturlangan pruning'da kanallarning 50 foizini olib tashlash FLOP'ni taxminan 75 foizga kamaytiradi. Nega? Qaysi qatlamlarda kechikish shunga mos kamaymaydi?</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200000"/>
            <a:ext cx="11200000" cy="650000"/>
          </a:xfrm>
          <a:prstGeom prst="rect">
            <a:avLst/>
          </a:prstGeom>
          <a:noFill/>
        </p:spPr>
        <p:txBody>
          <a:bodyPr wrap="square" anchor="ctr" lIns="50800" rIns="50800">
            <a:spAutoFit/>
          </a:bodyPr>
          <a:lstStyle/>
          <a:p>
            <a:pPr algn="l"/>
            <a:r>
              <a:rPr sz="2600" b="1">
                <a:solidFill>
                  <a:srgbClr val="FFFFFF"/>
                </a:solidFill>
                <a:latin typeface="Calibri"/>
              </a:rPr>
              <a:t>Nazorat savollari (2)</a:t>
            </a:r>
          </a:p>
        </p:txBody>
      </p:sp>
      <p:sp>
        <p:nvSpPr>
          <p:cNvPr id="4" name="TextBox 3"/>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M8 · Sun'iy intellekt tizimlarini optimallashtirish usullari</a:t>
            </a:r>
          </a:p>
        </p:txBody>
      </p:sp>
      <p:sp>
        <p:nvSpPr>
          <p:cNvPr id="5" name="TextBox 4"/>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32</a:t>
            </a:r>
          </a:p>
        </p:txBody>
      </p:sp>
      <p:sp>
        <p:nvSpPr>
          <p:cNvPr id="6" name="Rectangle 5"/>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0000" y="1300000"/>
            <a:ext cx="11000000" cy="4950000"/>
          </a:xfrm>
          <a:prstGeom prst="rect">
            <a:avLst/>
          </a:prstGeom>
          <a:noFill/>
        </p:spPr>
        <p:txBody>
          <a:bodyPr wrap="square">
            <a:spAutoFit/>
          </a:bodyPr>
          <a:lstStyle/>
          <a:p>
            <a:pPr>
              <a:spcAft>
                <a:spcPts val="900"/>
              </a:spcAft>
            </a:pPr>
            <a:r>
              <a:rPr sz="1800" b="1">
                <a:solidFill>
                  <a:srgbClr val="0F8B8D"/>
                </a:solidFill>
              </a:rPr>
              <a:t>▪  </a:t>
            </a:r>
            <a:r>
              <a:rPr sz="1800">
                <a:solidFill>
                  <a:srgbClr val="1B2430"/>
                </a:solidFill>
                <a:latin typeface="Calibri"/>
              </a:rPr>
              <a:t>Distillyatsiya yo'qotishidagi T² ko'paytuvchi nima uchun kerak? alpha=1 (faqat o'qituvchi) va alpha=0 (faqat yorliq) holatlarining har biri qachon oqilona?</a:t>
            </a:r>
          </a:p>
          <a:p>
            <a:pPr>
              <a:spcAft>
                <a:spcPts val="900"/>
              </a:spcAft>
            </a:pPr>
            <a:r>
              <a:rPr sz="1800" b="1">
                <a:solidFill>
                  <a:srgbClr val="0F8B8D"/>
                </a:solidFill>
              </a:rPr>
              <a:t>▪  </a:t>
            </a:r>
            <a:r>
              <a:rPr sz="1800">
                <a:solidFill>
                  <a:srgbClr val="1B2430"/>
                </a:solidFill>
                <a:latin typeface="Calibri"/>
              </a:rPr>
              <a:t>Kvantlash, pruning va distillyatsiyani qanday tartibda qo'llash kerak va nega? Kamida ikkita stsenariy (chekka CNN, bulutli LLM) uchun rejani asoslang.</a:t>
            </a:r>
          </a:p>
          <a:p>
            <a:pPr>
              <a:spcAft>
                <a:spcPts val="900"/>
              </a:spcAft>
            </a:pPr>
            <a:r>
              <a:rPr sz="1800" b="1">
                <a:solidFill>
                  <a:srgbClr val="0F8B8D"/>
                </a:solidFill>
              </a:rPr>
              <a:t>▪  </a:t>
            </a:r>
            <a:r>
              <a:rPr sz="1800">
                <a:solidFill>
                  <a:srgbClr val="1B2430"/>
                </a:solidFill>
                <a:latin typeface="Calibri"/>
              </a:rPr>
              <a:t>GPU quvvat chegarasini 700 dan 400 Vt'ga tushirish unumdorlikni ozgina kamaytirsa-da, J/inferens'ni yaxshilaydi. Buning fizik sababi nima va bu usul qachon o'zini oqlamaydi?</a:t>
            </a:r>
          </a:p>
          <a:p>
            <a:pPr>
              <a:spcAft>
                <a:spcPts val="900"/>
              </a:spcAft>
            </a:pPr>
            <a:r>
              <a:rPr sz="1800" b="1">
                <a:solidFill>
                  <a:srgbClr val="0F8B8D"/>
                </a:solidFill>
              </a:rPr>
              <a:t>▪  </a:t>
            </a:r>
            <a:r>
              <a:rPr sz="1800">
                <a:solidFill>
                  <a:srgbClr val="1B2430"/>
                </a:solidFill>
                <a:latin typeface="Calibri"/>
              </a:rPr>
              <a:t>Optimallashtirilgan model umumiy aniqlikni saqlagan, lekin bitta sinfda aniqlik 10 foiz punktga tushgan. Buni qanday aniqlaysiz, sabab nima bo'lishi mumkin va qanday tuzatasiz?</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200000"/>
            <a:ext cx="11200000" cy="650000"/>
          </a:xfrm>
          <a:prstGeom prst="rect">
            <a:avLst/>
          </a:prstGeom>
          <a:noFill/>
        </p:spPr>
        <p:txBody>
          <a:bodyPr wrap="square" anchor="ctr" lIns="50800" rIns="50800">
            <a:spAutoFit/>
          </a:bodyPr>
          <a:lstStyle/>
          <a:p>
            <a:pPr algn="l"/>
            <a:r>
              <a:rPr sz="2600" b="1">
                <a:solidFill>
                  <a:srgbClr val="FFFFFF"/>
                </a:solidFill>
                <a:latin typeface="Calibri"/>
              </a:rPr>
              <a:t>Mustaqil ish uchun topshiriq</a:t>
            </a:r>
          </a:p>
        </p:txBody>
      </p:sp>
      <p:sp>
        <p:nvSpPr>
          <p:cNvPr id="4" name="TextBox 3"/>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M8 · Sun'iy intellekt tizimlarini optimallashtirish usullari</a:t>
            </a:r>
          </a:p>
        </p:txBody>
      </p:sp>
      <p:sp>
        <p:nvSpPr>
          <p:cNvPr id="5" name="TextBox 4"/>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33</a:t>
            </a:r>
          </a:p>
        </p:txBody>
      </p:sp>
      <p:sp>
        <p:nvSpPr>
          <p:cNvPr id="6" name="Rectangle 5"/>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0000" y="1300000"/>
            <a:ext cx="11000000" cy="4950000"/>
          </a:xfrm>
          <a:prstGeom prst="rect">
            <a:avLst/>
          </a:prstGeom>
          <a:noFill/>
        </p:spPr>
        <p:txBody>
          <a:bodyPr wrap="square">
            <a:spAutoFit/>
          </a:bodyPr>
          <a:lstStyle/>
          <a:p>
            <a:pPr>
              <a:spcAft>
                <a:spcPts val="900"/>
              </a:spcAft>
            </a:pPr>
            <a:r>
              <a:rPr sz="1800" b="1">
                <a:solidFill>
                  <a:srgbClr val="0F8B8D"/>
                </a:solidFill>
              </a:rPr>
              <a:t>▪  </a:t>
            </a:r>
            <a:r>
              <a:rPr sz="1800">
                <a:solidFill>
                  <a:srgbClr val="1B2430"/>
                </a:solidFill>
                <a:latin typeface="Calibri"/>
              </a:rPr>
              <a:t>Topshiriq 1 (individual, sillabusdagi 2-mustaqil ta'lim topshirig'iga mos). Optimallashtirish zanjiri hisoboti.</a:t>
            </a:r>
          </a:p>
          <a:p>
            <a:pPr>
              <a:spcAft>
                <a:spcPts val="900"/>
              </a:spcAft>
            </a:pPr>
            <a:r>
              <a:rPr sz="1800" b="1">
                <a:solidFill>
                  <a:srgbClr val="0F8B8D"/>
                </a:solidFill>
              </a:rPr>
              <a:t>▪  </a:t>
            </a:r>
            <a:r>
              <a:rPr sz="1800">
                <a:solidFill>
                  <a:srgbClr val="1B2430"/>
                </a:solidFill>
                <a:latin typeface="Calibri"/>
              </a:rPr>
              <a:t>Baholash mezoni: usullarning to'g'ri qo'llanishi — loss scaling, kalibrlash, per-channel, iterativ pruning, harorat tanlovi (30 %); o'lchov metodikasi va taxminiylikni ko'rsatish (25 %);…</a:t>
            </a:r>
          </a:p>
          <a:p>
            <a:pPr>
              <a:spcAft>
                <a:spcPts val="900"/>
              </a:spcAft>
            </a:pPr>
            <a:r>
              <a:rPr sz="1800" b="1">
                <a:solidFill>
                  <a:srgbClr val="0F8B8D"/>
                </a:solidFill>
              </a:rPr>
              <a:t>▪  </a:t>
            </a:r>
            <a:r>
              <a:rPr sz="1800">
                <a:solidFill>
                  <a:srgbClr val="1B2430"/>
                </a:solidFill>
                <a:latin typeface="Calibri"/>
              </a:rPr>
              <a:t>Topshiriq 2 (juftlikda). LLM og'irlik-faqat kvantlash. 1–3 milliard parametrli ochiq til modelini FP16, INT8 va INT4 (AWQ yoki GPTQ, yoki bitsandbytes NF4) variantlarida yuklang; xotira sarfi, token/s (batch=1 va batch=16), va sifat (perplexity yoki kichik…</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200000"/>
            <a:ext cx="11200000" cy="650000"/>
          </a:xfrm>
          <a:prstGeom prst="rect">
            <a:avLst/>
          </a:prstGeom>
          <a:noFill/>
        </p:spPr>
        <p:txBody>
          <a:bodyPr wrap="square" anchor="ctr" lIns="50800" rIns="50800">
            <a:spAutoFit/>
          </a:bodyPr>
          <a:lstStyle/>
          <a:p>
            <a:pPr algn="l"/>
            <a:r>
              <a:rPr sz="2600" b="1">
                <a:solidFill>
                  <a:srgbClr val="FFFFFF"/>
                </a:solidFill>
                <a:latin typeface="Calibri"/>
              </a:rPr>
              <a:t>Foydalanilgan manbalar (1)</a:t>
            </a:r>
          </a:p>
        </p:txBody>
      </p:sp>
      <p:sp>
        <p:nvSpPr>
          <p:cNvPr id="4" name="TextBox 3"/>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M8 · Sun'iy intellekt tizimlarini optimallashtirish usullari</a:t>
            </a:r>
          </a:p>
        </p:txBody>
      </p:sp>
      <p:sp>
        <p:nvSpPr>
          <p:cNvPr id="5" name="TextBox 4"/>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34</a:t>
            </a:r>
          </a:p>
        </p:txBody>
      </p:sp>
      <p:sp>
        <p:nvSpPr>
          <p:cNvPr id="6" name="Rectangle 5"/>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0000" y="1300000"/>
            <a:ext cx="11000000" cy="4950000"/>
          </a:xfrm>
          <a:prstGeom prst="rect">
            <a:avLst/>
          </a:prstGeom>
          <a:noFill/>
        </p:spPr>
        <p:txBody>
          <a:bodyPr wrap="square">
            <a:spAutoFit/>
          </a:bodyPr>
          <a:lstStyle/>
          <a:p>
            <a:pPr>
              <a:spcAft>
                <a:spcPts val="900"/>
              </a:spcAft>
            </a:pPr>
            <a:r>
              <a:rPr sz="1600" b="1">
                <a:solidFill>
                  <a:srgbClr val="0F8B8D"/>
                </a:solidFill>
              </a:rPr>
              <a:t>▪  </a:t>
            </a:r>
            <a:r>
              <a:rPr sz="1600">
                <a:solidFill>
                  <a:srgbClr val="1B2430"/>
                </a:solidFill>
                <a:latin typeface="Calibri"/>
              </a:rPr>
              <a:t>[1] Hennessy, J. L., &amp; Patterson, D. A. Computer Architecture: A Quantitative Approach. 7th Edition. Morgan Kaufmann, 2024. — sonli formatlar va DSA boblari.</a:t>
            </a:r>
          </a:p>
          <a:p>
            <a:pPr>
              <a:spcAft>
                <a:spcPts val="900"/>
              </a:spcAft>
            </a:pPr>
            <a:r>
              <a:rPr sz="1600" b="1">
                <a:solidFill>
                  <a:srgbClr val="0F8B8D"/>
                </a:solidFill>
              </a:rPr>
              <a:t>▪  </a:t>
            </a:r>
            <a:r>
              <a:rPr sz="1600">
                <a:solidFill>
                  <a:srgbClr val="1B2430"/>
                </a:solidFill>
                <a:latin typeface="Calibri"/>
              </a:rPr>
              <a:t>[4] Sze, V., Chen, Y.-H., Yang, T.-J., &amp; Emer, J. S. Efficient Processing of Deep Neural Networks: A Tutorial and Survey. Morgan &amp; Claypool Publishers, 2020. — 7–9-boblar (aniqlikni…</a:t>
            </a:r>
          </a:p>
          <a:p>
            <a:pPr>
              <a:spcAft>
                <a:spcPts val="900"/>
              </a:spcAft>
            </a:pPr>
            <a:r>
              <a:rPr sz="1600" b="1">
                <a:solidFill>
                  <a:srgbClr val="0F8B8D"/>
                </a:solidFill>
              </a:rPr>
              <a:t>▪  </a:t>
            </a:r>
            <a:r>
              <a:rPr sz="1600">
                <a:solidFill>
                  <a:srgbClr val="1B2430"/>
                </a:solidFill>
                <a:latin typeface="Calibri"/>
              </a:rPr>
              <a:t>[5] Kirk, D. B., &amp; Hwu, W.-M. W. Programming Massively Parallel Processors: A Hands-on Approach. 4th Edition. Morgan Kaufmann, 2022. — suzuvchi nuqtali arifmetika va kernel…</a:t>
            </a:r>
          </a:p>
          <a:p>
            <a:pPr>
              <a:spcAft>
                <a:spcPts val="900"/>
              </a:spcAft>
            </a:pPr>
            <a:r>
              <a:rPr sz="1600" b="1">
                <a:solidFill>
                  <a:srgbClr val="0F8B8D"/>
                </a:solidFill>
              </a:rPr>
              <a:t>▪  </a:t>
            </a:r>
            <a:r>
              <a:rPr sz="1600">
                <a:solidFill>
                  <a:srgbClr val="1B2430"/>
                </a:solidFill>
                <a:latin typeface="Calibri"/>
              </a:rPr>
              <a:t>[6] NVIDIA Developer Portal — Mixed Precision Training Guide, TensorRT, Sparse Tensor Core (2:4), Transformer Engine (FP8) hujjatlari, https://developer.nvidia.com</a:t>
            </a:r>
          </a:p>
          <a:p>
            <a:pPr>
              <a:spcAft>
                <a:spcPts val="900"/>
              </a:spcAft>
            </a:pPr>
            <a:r>
              <a:rPr sz="1600" b="1">
                <a:solidFill>
                  <a:srgbClr val="0F8B8D"/>
                </a:solidFill>
              </a:rPr>
              <a:t>▪  </a:t>
            </a:r>
            <a:r>
              <a:rPr sz="1600">
                <a:solidFill>
                  <a:srgbClr val="1B2430"/>
                </a:solidFill>
                <a:latin typeface="Calibri"/>
              </a:rPr>
              <a:t>[7] PyTorch rasmiy hujjatlari — Automatic Mixed Precision (torch.autocast, GradScaler), Quantization (eager/FX, torchao), torch.nn.utils.prune, torch.compile, https://pytorch.org</a:t>
            </a:r>
          </a:p>
          <a:p>
            <a:pPr>
              <a:spcAft>
                <a:spcPts val="900"/>
              </a:spcAft>
            </a:pPr>
            <a:r>
              <a:rPr sz="1600" b="1">
                <a:solidFill>
                  <a:srgbClr val="0F8B8D"/>
                </a:solidFill>
              </a:rPr>
              <a:t>▪  </a:t>
            </a:r>
            <a:r>
              <a:rPr sz="1600">
                <a:solidFill>
                  <a:srgbClr val="1B2430"/>
                </a:solidFill>
                <a:latin typeface="Calibri"/>
              </a:rPr>
              <a:t>[10] ONNX rasmiy sayti — ONNX Runtime kvantlash hujjatlari, https://onnx.ai</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200000"/>
            <a:ext cx="11200000" cy="650000"/>
          </a:xfrm>
          <a:prstGeom prst="rect">
            <a:avLst/>
          </a:prstGeom>
          <a:noFill/>
        </p:spPr>
        <p:txBody>
          <a:bodyPr wrap="square" anchor="ctr" lIns="50800" rIns="50800">
            <a:spAutoFit/>
          </a:bodyPr>
          <a:lstStyle/>
          <a:p>
            <a:pPr algn="l"/>
            <a:r>
              <a:rPr sz="2600" b="1">
                <a:solidFill>
                  <a:srgbClr val="FFFFFF"/>
                </a:solidFill>
                <a:latin typeface="Calibri"/>
              </a:rPr>
              <a:t>Foydalanilgan manbalar (2)</a:t>
            </a:r>
          </a:p>
        </p:txBody>
      </p:sp>
      <p:sp>
        <p:nvSpPr>
          <p:cNvPr id="4" name="TextBox 3"/>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M8 · Sun'iy intellekt tizimlarini optimallashtirish usullari</a:t>
            </a:r>
          </a:p>
        </p:txBody>
      </p:sp>
      <p:sp>
        <p:nvSpPr>
          <p:cNvPr id="5" name="TextBox 4"/>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35</a:t>
            </a:r>
          </a:p>
        </p:txBody>
      </p:sp>
      <p:sp>
        <p:nvSpPr>
          <p:cNvPr id="6" name="Rectangle 5"/>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00000" y="1300000"/>
            <a:ext cx="11000000" cy="4950000"/>
          </a:xfrm>
          <a:prstGeom prst="rect">
            <a:avLst/>
          </a:prstGeom>
          <a:noFill/>
        </p:spPr>
        <p:txBody>
          <a:bodyPr wrap="square">
            <a:spAutoFit/>
          </a:bodyPr>
          <a:lstStyle/>
          <a:p>
            <a:pPr>
              <a:spcAft>
                <a:spcPts val="900"/>
              </a:spcAft>
            </a:pPr>
            <a:r>
              <a:rPr sz="1800" b="1">
                <a:solidFill>
                  <a:srgbClr val="0F8B8D"/>
                </a:solidFill>
              </a:rPr>
              <a:t>▪  </a:t>
            </a:r>
            <a:r>
              <a:rPr sz="1800">
                <a:solidFill>
                  <a:srgbClr val="1B2430"/>
                </a:solidFill>
                <a:latin typeface="Calibri"/>
              </a:rPr>
              <a:t>Micikevicius, P., Narang, S., Alben, J., et al. Mixed Precision Training. ICLR 2018.</a:t>
            </a:r>
          </a:p>
          <a:p>
            <a:pPr>
              <a:spcAft>
                <a:spcPts val="900"/>
              </a:spcAft>
            </a:pPr>
            <a:r>
              <a:rPr sz="1800" b="1">
                <a:solidFill>
                  <a:srgbClr val="0F8B8D"/>
                </a:solidFill>
              </a:rPr>
              <a:t>▪  </a:t>
            </a:r>
            <a:r>
              <a:rPr sz="1800">
                <a:solidFill>
                  <a:srgbClr val="1B2430"/>
                </a:solidFill>
                <a:latin typeface="Calibri"/>
              </a:rPr>
              <a:t>Jacob, B., Kligys, S., Chen, B., et al. Quantization and Training of Neural Networks for Efficient Integer-Arithmetic-Only Inference. CVPR 2018.</a:t>
            </a:r>
          </a:p>
          <a:p>
            <a:pPr>
              <a:spcAft>
                <a:spcPts val="900"/>
              </a:spcAft>
            </a:pPr>
            <a:r>
              <a:rPr sz="1800" b="1">
                <a:solidFill>
                  <a:srgbClr val="0F8B8D"/>
                </a:solidFill>
              </a:rPr>
              <a:t>▪  </a:t>
            </a:r>
            <a:r>
              <a:rPr sz="1800">
                <a:solidFill>
                  <a:srgbClr val="1B2430"/>
                </a:solidFill>
                <a:latin typeface="Calibri"/>
              </a:rPr>
              <a:t>Hinton, G., Vinyals, O., &amp; Dean, J. Distilling the Knowledge in a Neural Network. NIPS 2014 Deep Learning Workshop, arXiv:1503.02531.</a:t>
            </a:r>
          </a:p>
          <a:p>
            <a:pPr>
              <a:spcAft>
                <a:spcPts val="900"/>
              </a:spcAft>
            </a:pPr>
            <a:r>
              <a:rPr sz="1800" b="1">
                <a:solidFill>
                  <a:srgbClr val="0F8B8D"/>
                </a:solidFill>
              </a:rPr>
              <a:t>▪  </a:t>
            </a:r>
            <a:r>
              <a:rPr sz="1800">
                <a:solidFill>
                  <a:srgbClr val="1B2430"/>
                </a:solidFill>
                <a:latin typeface="Calibri"/>
              </a:rPr>
              <a:t>Frankle, J., &amp; Carbin, M. The Lottery Ticket Hypothesis: Finding Sparse, Trainable Neural Networks. ICLR 2019.</a:t>
            </a:r>
          </a:p>
          <a:p>
            <a:pPr>
              <a:spcAft>
                <a:spcPts val="900"/>
              </a:spcAft>
            </a:pPr>
            <a:r>
              <a:rPr sz="1800" b="1">
                <a:solidFill>
                  <a:srgbClr val="0F8B8D"/>
                </a:solidFill>
              </a:rPr>
              <a:t>▪  </a:t>
            </a:r>
            <a:r>
              <a:rPr sz="1800">
                <a:solidFill>
                  <a:srgbClr val="1B2430"/>
                </a:solidFill>
                <a:latin typeface="Calibri"/>
              </a:rPr>
              <a:t>Horowitz, M. Computing's Energy Problem (and what we can do about it). IEEE ISSCC 2014.</a:t>
            </a:r>
          </a:p>
          <a:p>
            <a:pPr>
              <a:spcAft>
                <a:spcPts val="900"/>
              </a:spcAft>
            </a:pPr>
            <a:r>
              <a:rPr sz="1800" b="1">
                <a:solidFill>
                  <a:srgbClr val="0F8B8D"/>
                </a:solidFill>
              </a:rPr>
              <a:t>▪  </a:t>
            </a:r>
            <a:r>
              <a:rPr sz="1800">
                <a:solidFill>
                  <a:srgbClr val="1B2430"/>
                </a:solidFill>
                <a:latin typeface="Calibri"/>
              </a:rPr>
              <a:t>Frantar, E., Ashkboos, S., Hoefler, T., &amp; Alistarh, D. GPTQ: Accurate Post-Training Quantization for Generative Pre-trained Transformers. ICLR 2023.</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10000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0000" y="110000"/>
            <a:ext cx="10500000" cy="300000"/>
          </a:xfrm>
          <a:prstGeom prst="rect">
            <a:avLst/>
          </a:prstGeom>
          <a:noFill/>
        </p:spPr>
        <p:txBody>
          <a:bodyPr wrap="square" anchor="t" lIns="50800" rIns="50800">
            <a:spAutoFit/>
          </a:bodyPr>
          <a:lstStyle/>
          <a:p>
            <a:pPr algn="l"/>
            <a:r>
              <a:rPr sz="1200" b="1">
                <a:solidFill>
                  <a:srgbClr val="A9C4E6"/>
                </a:solidFill>
                <a:latin typeface="Calibri"/>
              </a:rPr>
              <a:t>SAVOLLAR</a:t>
            </a:r>
          </a:p>
        </p:txBody>
      </p:sp>
      <p:sp>
        <p:nvSpPr>
          <p:cNvPr id="4" name="TextBox 3"/>
          <p:cNvSpPr txBox="1"/>
          <p:nvPr/>
        </p:nvSpPr>
        <p:spPr>
          <a:xfrm>
            <a:off x="500000" y="330000"/>
            <a:ext cx="11200000" cy="650000"/>
          </a:xfrm>
          <a:prstGeom prst="rect">
            <a:avLst/>
          </a:prstGeom>
          <a:noFill/>
        </p:spPr>
        <p:txBody>
          <a:bodyPr wrap="square" anchor="ctr" lIns="50800" rIns="50800">
            <a:spAutoFit/>
          </a:bodyPr>
          <a:lstStyle/>
          <a:p>
            <a:pPr algn="l"/>
            <a:r>
              <a:rPr sz="2600" b="1">
                <a:solidFill>
                  <a:srgbClr val="FFFFFF"/>
                </a:solidFill>
                <a:latin typeface="Calibri"/>
              </a:rPr>
              <a:t>E’tiboringiz uchun rahmat!</a:t>
            </a:r>
          </a:p>
        </p:txBody>
      </p:sp>
      <p:sp>
        <p:nvSpPr>
          <p:cNvPr id="5" name="TextBox 4"/>
          <p:cNvSpPr txBox="1"/>
          <p:nvPr/>
        </p:nvSpPr>
        <p:spPr>
          <a:xfrm>
            <a:off x="500000" y="6420000"/>
            <a:ext cx="9500000" cy="300000"/>
          </a:xfrm>
          <a:prstGeom prst="rect">
            <a:avLst/>
          </a:prstGeom>
          <a:noFill/>
        </p:spPr>
        <p:txBody>
          <a:bodyPr wrap="square" anchor="t" lIns="50800" rIns="50800">
            <a:spAutoFit/>
          </a:bodyPr>
          <a:lstStyle/>
          <a:p>
            <a:pPr algn="l"/>
            <a:r>
              <a:rPr sz="1000" b="0">
                <a:solidFill>
                  <a:srgbClr val="5B6878"/>
                </a:solidFill>
                <a:latin typeface="Calibri"/>
              </a:rPr>
              <a:t>M8 · Sun'iy intellekt tizimlarini optimallashtirish usullari</a:t>
            </a:r>
          </a:p>
        </p:txBody>
      </p:sp>
      <p:sp>
        <p:nvSpPr>
          <p:cNvPr id="6" name="TextBox 5"/>
          <p:cNvSpPr txBox="1"/>
          <p:nvPr/>
        </p:nvSpPr>
        <p:spPr>
          <a:xfrm>
            <a:off x="10600000" y="6420000"/>
            <a:ext cx="1100000" cy="300000"/>
          </a:xfrm>
          <a:prstGeom prst="rect">
            <a:avLst/>
          </a:prstGeom>
          <a:noFill/>
        </p:spPr>
        <p:txBody>
          <a:bodyPr wrap="square" anchor="t" lIns="50800" rIns="50800">
            <a:spAutoFit/>
          </a:bodyPr>
          <a:lstStyle/>
          <a:p>
            <a:pPr algn="r"/>
            <a:r>
              <a:rPr sz="1000" b="0">
                <a:solidFill>
                  <a:srgbClr val="5B6878"/>
                </a:solidFill>
                <a:latin typeface="Calibri"/>
              </a:rPr>
              <a:t>36</a:t>
            </a:r>
          </a:p>
        </p:txBody>
      </p:sp>
      <p:sp>
        <p:nvSpPr>
          <p:cNvPr id="7" name="Rectangle 6"/>
          <p:cNvSpPr/>
          <p:nvPr/>
        </p:nvSpPr>
        <p:spPr>
          <a:xfrm>
            <a:off x="0" y="1000000"/>
            <a:ext cx="12192000" cy="50000"/>
          </a:xfrm>
          <a:prstGeom prst="rect">
            <a:avLst/>
          </a:prstGeom>
          <a:solidFill>
            <a:srgbClr val="0F8B8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0000" y="2000000"/>
            <a:ext cx="11000000" cy="2500000"/>
          </a:xfrm>
          <a:prstGeom prst="rect">
            <a:avLst/>
          </a:prstGeom>
          <a:noFill/>
        </p:spPr>
        <p:txBody>
          <a:bodyPr wrap="square" anchor="t" lIns="50800" rIns="50800">
            <a:spAutoFit/>
          </a:bodyPr>
          <a:lstStyle/>
          <a:p>
            <a:pPr algn="l"/>
            <a:r>
              <a:rPr sz="2000" b="0">
                <a:solidFill>
                  <a:srgbClr val="1B2430"/>
                </a:solidFill>
                <a:latin typeface="Calibri"/>
              </a:rPr>
              <a:t>Mavzu matni va materiallar: https://aiscan.airi.uz/ktm/#/c/mis2104/mavzu/M8</a:t>
            </a:r>
          </a:p>
          <a:p>
            <a:pPr algn="l"/>
            <a:r>
              <a:rPr sz="2000" b="0">
                <a:solidFill>
                  <a:srgbClr val="1B2430"/>
                </a:solidFill>
                <a:latin typeface="Calibri"/>
              </a:rPr>
              <a:t>Nazorat savollari va mustaqil ish — mavzu matnining oxirida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
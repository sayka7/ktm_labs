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Suzuvchi nuqtali son uchta qismdan iborat: ishora biti, eksponenta (diapazonni belgilaydi) va mantissa (aniqlikni belgilaydi). Formatlar aynan shu bitlarni turlicha taqsimlaydi: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Suzuvchi nuqtali son uchta qismdan iborat: ishora biti, eksponenta (diapazonni belgilaydi) va mantissa (aniqlikni belgilaydi). Formatlar aynan shu bitlarni turlicha taqsimlaydi: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FP16 va BF16 o'rtasidagi farq o'qitish uchun hal qiluvchi: FP16 aniqroq (10 bit mantissa), lekin diapazoni tor — 6e−8 dan kichik qiymatlar nolga aylanadi (underflow), 65504 dan kattasi cheksizlikka (overflow). Chuqur tarmoq gradientlari ko'pincha 1e−8…1e−5 oralig'ida bo'ladi va FP16'da yo'qoladi. BF16 esa FP32 bilan bir xil eksponentaga ega — diapazon muammosi yo'q, lekin aniqligi pastroq; amaliyotda bu o'qitish uchun yetarli bo'lib chiqdi, shuning uchun zamonaviy katta modellar deyarli faqat BF16'da o'qitiladi.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Aralash aniqlik (mixed precision) o'qitish g'oyasi (Micikevicius va boshq., 2018): og'ir matritsa ko'paytmalari va konvolyutsiyalar FP16/BF16'da Tensor Core'da bajariladi, lekin og'irliklarning asosiy nusxasi (master weights) FP32'da saqlanadi va yangilanadi, shunda kichik gradient yangilanishlari yo'qolmaydi; yig'indilar (reduction), softmax, normalizatsiya kabi sezgir operatsiyalar FP32'da qoladi. FP16 uchun qo'shimcha mexanizm — yo'qotish masshtablash (loss scaling): yo'qotish funksiyasi katta songa (masalan, 2^16) ko'paytiriladi, gradientlar shu songa proporsional kattalashadi va FP16 diapazoniga sig'adi, og'irlik yangilashdan oldin esa qayta bo'linadi; dinamik masshtablash overflow aniqlanganda koeffitsientni kamaytiradi va bir necha yuz qadamdan so'ng yana oshiradi. BF16'da loss scaling odatda kerak emas. PyTorch'da bularning barchasi torch.autocast va torch.cuda.amp.GradScaler orqali avtomatlashtirilgan [7].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Core'da FP16/BF16 matmul FP32'ga qaraganda nazariy 8–16 baravar tez (A100: 19,5 TFLOPS FP32 vs 312 TFLOPS FP16 Tensor Core), amaliy tezlashish esa butun o'qitish sikli uchun 1,5–3 baravar, chunki hamma operatsiya ham matmul emas va xotira trafigi ham chegaralaydi. TF32 esa «bepul» yaxshilanish: kod o'zgarmaydi, FP32 matmul avtomatik 10-bitli mantissa bilan Tensor Core'da bajariladi (PyTorch'da torch.backends.cuda.matmul.allow_tf32).</a:t>
            </a:r>
          </a:p>
          <a:p/>
          <a:p>
            <a:r>
              <a:t>FP8 — Hopper avlodidan boshlab o'qitish uchun ham ishlatilmoqda (Transformer Engine kutubxonasi): oldinga o'tishda E4M3, gradientlar uchun E5M2, har tensor uchun dinamik masshtab bilan. Bu Tensor Core unumdorligini yana ikki baravar oshiradi, lekin barqarorlik uchun ehtiyotkor sozlash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Suzuvchi nuqtali son uchta qismdan iborat: ishora biti, eksponenta (diapazonni belgilaydi) va mantissa (aniqlikni belgilaydi). Formatlar aynan shu bitlarni turlicha taqsimlaydi:</a:t>
            </a:r>
          </a:p>
          <a:p/>
          <a:p>
            <a:r>
              <a:t>FP16 va BF16 o'rtasidagi farq o'qitish uchun hal qiluvchi: FP16 aniqroq (10 bit mantissa), lekin diapazoni tor — 6e−8 dan kichik qiymatlar nolga aylanadi (underflow), 65504 dan kattasi cheksizlikka (overflow). Chuqur tarmoq gradientlari ko'pincha 1e−8…1e−5 oralig'ida bo'ladi va FP16'da yo'qoladi. BF16 esa FP32 bilan bir xil eksponentaga ega — diapazon muammosi yo'q, lekin aniqligi pastroq; amaliyotda bu o'qitish uchun yetarli bo'lib chiqdi, shuning uchun zamonaviy katta modellar deyarli faqat BF16'da o'qitiladi.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Kvantlash — uzluksiz (suzuvchi nuqtali) qiymatlarni chekli diskret to'plamga (odatda 8 yoki 4 bitli butun sonlar) akslantirish. Chiziqli (affine) kvantlash formulasi: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 = clamp(round(x / s) + z, q_min, q_max), teskarisi x̂ = s · (q − 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 yerda s — masshtab (scale, suzuvchi nuqtali), z — nol nuqta (zero point, butun son), [q_min, q_max] — INT8 uchun [−128, 127]. Simmetrik kvantlashda z = 0 va s = max|x| / 127; asimmetrik kvantlashda s = (x_max − x_min) / 255, z shunday tanlanadiki, haqiqiy nol aniq ifodalansin (bu ReLU'dan keyingi aktivatsiyalar uchun muhim — diapazonning yarmi isrof bo'lmaydi). Kvantlash xatosi |x − x̂| ≤ s/2 bilan chegaralangan; demak, masshtab qanchalik kichik (diapazon qanchalik tor) bo'lsa, xato shunchalik kam. Shu sababdan granularlik muhim: tensor bo'yicha (per-tensor) bitta masshtab, kanal bo'yicha (per-channel) har chiqish kanaliga alohida masshtab (og'irliklar uchun standart), guruh bo'yicha (per-group, masalan har 128 element) — INT4 og'irliklar uchun standart. Chiqib ketuvchi qiymatlar (outliers) kvantlashning asosiy dushmani: bitta katta qiymat masshtabni oshirib, qolgan barcha qiymatlarning aniqligini pasaytiradi.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 yerda s — masshtab (scale, suzuvchi nuqtali), z — nol nuqta (zero point, butun son), [q_min, q_max] — INT8 uchun [−128, 127]. Simmetrik kvantlashda z = 0 va s = max|x| / 127; asimmetrik kvantlashda s = (x_max − x_min) / 255, z shunday tanlanadiki, haqiqiy nol aniq ifodalansin (bu ReLU'dan keyingi aktivatsiyalar uchun muhim — diapazonning yarmi isrof bo'lmaydi). Kvantlash xatosi |x − x̂| ≤ s/2 bilan chegaralangan; demak, masshtab qanchalik kichik (diapazon qanchalik tor) bo'lsa, xato shunchalik kam. Shu sababdan granularlik muhim: tensor bo'yicha (per-tensor) bitta masshtab, kanal bo'yicha (per-channel) har chiqish kanaliga alohida masshtab (og'irliklar uchun standart), guruh bo'yicha (per-group, masalan har 128 element) — INT4 og'irliklar uchun standart. Chiqib ketuvchi qiymatlar (outliers) kvantlashning asosiy dushmani: bitta katta qiymat masshtabni oshirib, qolgan barcha qiymatlarning aniqligini pasaytiradi.</a:t>
            </a:r>
          </a:p>
          <a:p/>
          <a:p>
            <a:r>
              <a:t>QAT'da oldinga o'tishda og'irlik va aktivatsiyalar kvantlanadi va qayta suzuvchi nuqtaga qaytariladi (soxta kvantlash), orqaga o'tishda esa round ning hosilasi nolga teng bo'lgani uchun «to'g'ridan-to'g'ri baholovchi» (straight-through estimator) ishlatiladi — gradient kvantlash operatsiyasidan o'zgarishsiz o'tadi. Natijada model kvantlash shovqiniga moslashadi. Og'irlik-faqat kvantlash LLM uchun ayniqsa samarali, chunki dekodlash xotira bilan chegaralangan: og'irlik baytlari 4 baravar kamaysa, token tezligi deyarli shuncha oshadi, hisoblash esa FP16'da qolgani uchun aniqlik yaxshi saqlanadi. GPTQ ikkinchi tartibli ma'lumot (Hessian) asosida kvantlash xatosini qolgan og'irliklarga taqsimlaydi; AWQ esa aktivatsiya kattaligiga qarab «muhim» og'irlik kanallarini masshtablab himoya qiladi.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QAT'da oldinga o'tishda og'irlik va aktivatsiyalar kvantlanadi va qayta suzuvchi nuqtaga qaytariladi (soxta kvantlash), orqaga o'tishda esa round ning hosilasi nolga teng bo'lgani uchun «to'g'ridan-to'g'ri baholovchi» (straight-through estimator) ishlatiladi — gradient kvantlash operatsiyasidan o'zgarishsiz o'tadi. Natijada model kvantlash shovqiniga moslashadi. Og'irlik-faqat kvantlash LLM uchun ayniqsa samarali, chunki dekodlash xotira bilan chegaralangan: og'irlik baytlari 4 baravar kamaysa, token tezligi deyarli shuncha oshadi, hisoblash esa FP16'da qolgani uchun aniqlik yaxshi saqlanadi. GPTQ ikkinchi tartibli ma'lumot (Hessian) asosida kvantlash xatosini qolgan og'irliklarga taqsimlaydi; AWQ esa aktivatsiya kattaligiga qarab «muhim» og'irlik kanallarini masshtablab himoya qiladi.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Kvantlash turlari:</a:t>
            </a:r>
          </a:p>
          <a:p/>
          <a:p>
            <a:r>
              <a:t>QAT'da oldinga o'tishda og'irlik va aktivatsiyalar kvantlanadi va qayta suzuvchi nuqtaga qaytariladi (soxta kvantlash), orqaga o'tishda esa round ning hosilasi nolga teng bo'lgani uchun «to'g'ridan-to'g'ri baholovchi» (straight-through estimator) ishlatiladi — gradient kvantlash operatsiyasidan o'zgarishsiz o'tadi. Natijada model kvantlash shovqiniga moslashadi. Og'irlik-faqat kvantlash LLM uchun ayniqsa samarali, chunki dekodlash xotira bilan chegaralangan: og'irlik baytlari 4 baravar kamaysa, token tezligi deyarli shuncha oshadi, hisoblash esa FP16'da qolgani uchun aniqlik yaxshi saqlanadi. GPTQ ikkinchi tartibli ma'lumot (Hessian) asosida kvantlash xatosini qolgan og'irliklarga taqsimlaydi; AWQ esa aktivatsiya kattaligiga qarab «muhim» og'irlik kanallarini masshtablab himoya qiladi.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Pruning — ta'siri kam parametrlarni (og'irliklar, kanallar, boshlar, qatlamlar) olib tashlash. Eng oddiy mezon — kattalik (magnitude pruning): absolyut qiymati kichik og'irliklar nolga tenglashtiriladi. Lottery ticket gipotezasi (Frankle va Carbin, 2019) va ko'plab tajribalar shuni ko'rsatadiki, ko'p tarmoqlarda og'irliklarning 50–90 foizini aniqlikni deyarli yo'qotmasdan olib tashlash mumkin — agar pruning bosqichma-bosqich (iterativ) va qisqa qayta o'qitish (fine-tuning) bilan bajarilsa.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Pruning — ta'siri kam parametrlarni (og'irliklar, kanallar, boshlar, qatlamlar) olib tashlash. Eng oddiy mezon — kattalik (magnitude pruning): absolyut qiymati kichik og'irliklar nolga tenglashtiriladi. Lottery ticket gipotezasi (Frankle va Carbin, 2019) va ko'plab tajribalar shuni ko'rsatadiki, ko'p tarmoqlarda og'irliklarning 50–90 foizini aniqlikni deyarli yo'qotmasdan olib tashlash mumkin — agar pruning bosqichma-bosqich (iterativ) va qisqa qayta o'qitish (fine-tuning) bilan bajarilsa.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Lekin bu yerda muhandis uchun hal qiluvchi nuqta bor: strukturlanmagan (unstructured) siyraklik — tasodifiy joylarda nol — umumiy maqsadli GPU'da tezlashish bermaydi. Zich matritsa ko'paytmasi kernellari nollarni ham ko'paytiradi; siyrak formatlar (CSR) esa indekslar yuki tufayli faqat 90–95 foizdan yuqori siyraklikda zich formatdan tezroq bo'ladi. Shuning uchun amaliyotda uch yo'l bor. Birinchisi — strukturlangan pruning: butun konvolyutsiya filtrlarini, kanallarni, attention boshlarini yoki qatlamlarni olib tashlash; natija — kichikroq zich model, har qanday apparatda tezlashadi. Ikkinchisi — 2:4 yarim strukturlangan siyraklik (Ampere va keyingi NVIDIA GPU'larda Sparse Tensor Core): har 4 ta ketma-ket og'irlikdan aynan 2 tasi nol; apparat buni siqilgan formatda saqlaydi va matmul'ni nazariy 2 baravar tezlashtiradi; aniqlik qayta o'qitish bilan odatda saqlanadi. Uchinchisi — strukturlanmagan siyraklikni faqat model hajmini kichraytirish (siqilgan saqlash) yoki siyraklikni qo'llab-quvvatlaydigan maxsus apparat/CPU kutubxonalari (masalan, DeepSparse) uchun ishlatish.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Lekin bu yerda muhandis uchun hal qiluvchi nuqta bor: strukturlanmagan (unstructured) siyraklik — tasodifiy joylarda nol — umumiy maqsadli GPU'da tezlashish bermaydi. Zich matritsa ko'paytmasi kernellari nollarni ham ko'paytiradi; siyrak formatlar (CSR) esa indekslar yuki tufayli faqat 90–95 foizdan yuqori siyraklikda zich formatdan tezroq bo'ladi. Shuning uchun amaliyotda uch yo'l bor. Birinchisi — strukturlangan pruning: butun konvolyutsiya filtrlarini, kanallarni, attention boshlarini yoki qatlamlarni olib tashlash; natija — kichikroq zich model, har qanday apparatda tezlashadi. Ikkinchisi — 2:4 yarim strukturlangan siyraklik (Ampere va keyingi NVIDIA GPU'larda Sparse Tensor Core): har 4 ta ketma-ket og'irlikdan aynan 2 tasi nol; apparat buni siqilgan formatda saqlaydi va matmul'ni nazariy 2 baravar tezlashtiradi; aniqlik qayta o'qitish bilan odatda saqlanadi. Uchinchisi — strukturlanmagan siyraklikni faqat model hajmini kichraytirish (siqilgan saqlash) yoki siyraklikni qo'llab-quvvatlaydigan maxsus apparat/CPU kutubxonalari (masalan, DeepSparse) uchun ishlatish.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Pruning darajasini baholashda uchta ko'rsatkich: parametrlar ulushi (hajm), FLOP ulushi (hisoblash) va o'lchangan kechikish (haqiqiy tezlik). Bular bir-biriga mos kelmasligi mumkin: kanallarning 50 foizini olib tashlash FLOP'ni 75 foizga kamaytiradi (ikki o'lcham ham qisqaradi), lekin xotira bilan chegaralangan qatlamlarda kechikish deyarli o'zgarmasligi mumkin.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Bilim distillyatsiyasi (Hinton, Vinyals, Dean, 2015) katta, aniq «o'qituvchi» modelning xulq-atvorini kichik «o'quvchi» modelga o'rgatadi. Asosiy kuzatuv: o'qituvchining yumshoq ehtimollik taqsimoti (soft targets) qattiq yorliqdan (hard label) ko'proq ma'lumot beradi — «bu rasm 90 foiz it, 7 foiz bo'ri, 0,01 foiz mashina» degan taqsimot sinflar orasidagi o'xshashlikni ifodalaydi. Yumshoq taqsimotni «yoyish» uchun harorat (temperature) T kiritiladi: p_i = exp(z_i / T) / Σ_j exp(z_j / T). T = 1 oddiy softmax; T = 4…10 kichik ehtimolliklarni kattalashtiradi va «qorong'u bilim»ni (dark knowledge) ochadi. Yo'qotish funksiyasi: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Bilim distillyatsiyasi (Hinton, Vinyals, Dean, 2015) katta, aniq «o'qituvchi» modelning xulq-atvorini kichik «o'quvchi» modelga o'rgatadi. Asosiy kuzatuv: o'qituvchining yumshoq ehtimollik taqsimoti (soft targets) qattiq yorliqdan (hard label) ko'proq ma'lumot beradi — «bu rasm 90 foiz it, 7 foiz bo'ri, 0,01 foiz mashina» degan taqsimot sinflar orasidagi o'xshashlikni ifodalaydi. Yumshoq taqsimotni «yoyish» uchun harorat (temperature) T kiritiladi: p_i = exp(z_i / T) / Σ_j exp(z_j / T). T = 1 oddiy softmax; T = 4…10 kichik ehtimolliklarni kattalashtiradi va «qorong'u bilim»ni (dark knowledge) ochadi. Yo'qotish funksiyasi: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 = α · T² · KL(p_teacher(T) ‖ p_student(T)) + (1 − α) · CE(y, p_student(1))</a:t>
            </a:r>
          </a:p>
          <a:p/>
          <a:p>
            <a:r>
              <a:t>bu yerda T² ko'paytuvchi gradient kattaligini kompensatsiya qiladi, α (odatda 0,5–0,9) ikki hadning muvozanati. Distillyatsiya turlari: javob asosida (logitlar), xususiyat asosida (oraliq qatlamlar — FitNets, TinyBERT), munosabat asosida (namunalar orasidagi masofalar). Mashhur natijalar: DistilBERT — BERT-base'dan 40 foiz kichik, 60 foiz tezroq, sifatning 97 foizini saqlaydi; zamonaviy kichik til modellari ham ko'pincha katta modellar chiqishi (sintetik ma'lumot) asosida o'qitiladi — bu ham distillyatsiyaning bir shakli. Distillyatsiya pruning va kvantlash bilan yaxshi birlashadi: kvantlangan yoki siyraklashtirilgan o'quvchini o'qituvchiga nisbatan qayta o'qitish aniqlikni tiklaydi.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 yerda T² ko'paytuvchi gradient kattaligini kompensatsiya qiladi, α (odatda 0,5–0,9) ikki hadning muvozanati. Distillyatsiya turlari: javob asosida (logitlar), xususiyat asosida (oraliq qatlamlar — FitNets, TinyBERT), munosabat asosida (namunalar orasidagi masofalar). Mashhur natijalar: DistilBERT — BERT-base'dan 40 foiz kichik, 60 foiz tezroq, sifatning 97 foizini saqlaydi; zamonaviy kichik til modellari ham ko'pincha katta modellar chiqishi (sintetik ma'lumot) asosida o'qitiladi — bu ham distillyatsiyaning bir shakli. Distillyatsiya pruning va kvantlash bilan yaxshi birlashadi: kvantlangan yoki siyraklashtirilgan o'quvchini o'qituvchiga nisbatan qayta o'qitish aniqlikni tiklaydi.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Yuqoridagi usullar modelni o'zgartiradi; kernel darajasidagi optimallashtirish esa bir xil modelni apparatda samaraliroq bajaradi. Asosiy vositalar: operator fusion — bir nechta elementli operatsiyani (bias + aktivatsiya + residual) bitta kernelga birlashtirish, xotira trafigini kamaytirish (M5); torch.compile (TorchInductor, Triton tiliga kompilyatsiya) — PyTorch grafini tahlil qilib, fusion va kernel generatsiyasini avtomatlashtiradi, odatda 1,2–2 baravar tezlashish; CUDA Graphs — kernel ishga tushirish ketma-ketligini bir marta yozib olib, keyin bitta buyruq bilan takrorlash, kichik modellarda CPU yukini keskin kamaytiradi; TensorRT — graf optimallashtirish, kernel avtomatik tanlash (autotuning), FP16/INT8 kalibrlash; FlashAttention va PagedAttention (vLLM) — attention va KV-kesh uchun maxsus kernellar; konstant buklash (constant folding), BatchNorm'ni konvolyutsiyaga «eritish» (BN folding) — inferensda qatlamlar sonini kamaytiradi.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Yuqoridagi usullar modelni o'zgartiradi; kernel darajasidagi optimallashtirish esa bir xil modelni apparatda samaraliroq bajaradi. Asosiy vositalar: operator fusion — bir nechta elementli operatsiyani (bias + aktivatsiya + residual) bitta kernelga birlashtirish, xotira trafigini kamaytirish (M5); torch.compile (TorchInductor, Triton tiliga kompilyatsiya) — PyTorch grafini tahlil qilib, fusion va kernel generatsiyasini avtomatlashtiradi, odatda 1,2–2 baravar tezlashish; CUDA Graphs — kernel ishga tushirish ketma-ketligini bir marta yozib olib, keyin bitta buyruq bilan takrorlash, kichik modellarda CPU yukini keskin kamaytiradi; TensorRT — graf optimallashtirish, kernel avtomatik tanlash (autotuning), FP16/INT8 kalibrlash; FlashAttention va PagedAttention (vLLM) — attention va KV-kesh uchun maxsus kernellar; konstant buklash (constant folding), BatchNorm'ni konvolyutsiyaga «eritish» (BN folding) — inferensda qatlamlar sonini kamaytiradi.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Energiya samaradorligi ko'rsatkichi — inferens boshiga joul (J/inferens) yoki o'qitish uchun jami kVt·soat. U quvvat (Vt) va vaqtning ko'paytmasi, shuning uchun tezlashtirishning o'zi energiya tejaydi (quvvat deyarli bir xil qolib, vaqt qisqaradi). Qo'shimcha dastaklar: past aniqlik (arifmetik va xotira energiyasi bitlar soniga proporsional yoki undan tez kamayadi), GPU quvvat chegarasi (nvidia-smi -pl) — H100'ni 700 dan 400 Vt'ga tushirish unumdorlikni 10–15 foizgina kamaytiradi, J/inferens esa yaxshilanadi; to'plash (batching) — statik quvvat ko'proq ish ustida taqsimlanadi; «to'g'ri o'lchamli» model — vazifaga keragidan katta modelni ishlatmaslik, bu eng katta tejamkorlik manbai. Umumiy strategiya: avval o'lchash (profil, roofline — M10), keyin eng katta tiqilish nuqtasini bartaraf etish, har qadamda aniqlikni maqsadli to'plamda qayta tekshirish.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Energiya samaradorligi ko'rsatkichi — inferens boshiga joul (J/inferens) yoki o'qitish uchun jami kVt·soat. U quvvat (Vt) va vaqtning ko'paytmasi, shuning uchun tezlashtirishning o'zi energiya tejaydi (quvvat deyarli bir xil qolib, vaqt qisqaradi). Qo'shimcha dastaklar: past aniqlik (arifmetik va xotira energiyasi bitlar soniga proporsional yoki undan tez kamayadi), GPU quvvat chegarasi (nvidia-smi -pl) — H100'ni 700 dan 400 Vt'ga tushirish unumdorlikni 10–15 foizgina kamaytiradi, J/inferens esa yaxshilanadi; to'plash (batching) — statik quvvat ko'proq ish ustida taqsimlanadi; «to'g'ri o'lchamli» model — vazifaga keragidan katta modelni ishlatmaslik, bu eng katta tejamkorlik manbai. Umumiy strategiya: avval o'lchash (profil, roofline — M10), keyin eng katta tiqilish nuqtasini bartaraf etish, har qadamda aniqlikni maqsadli to'plamda qayta tekshirish.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6900000" y="14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6900000"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00000"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533333" y="53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5" name="Picture 64" descr="d6bddc8d21811d7f.jpg"/>
          <p:cNvPicPr>
            <a:picLocks noChangeAspect="1"/>
          </p:cNvPicPr>
          <p:nvPr/>
        </p:nvPicPr>
        <p:blipFill>
          <a:blip r:embed="rId2"/>
          <a:srcRect t="12578" b="12578"/>
          <a:stretch>
            <a:fillRect/>
          </a:stretch>
        </p:blipFill>
        <p:spPr>
          <a:xfrm>
            <a:off x="7850000" y="1500000"/>
            <a:ext cx="3300000" cy="3300000"/>
          </a:xfrm>
          <a:prstGeom prst="ellipse">
            <a:avLst/>
          </a:prstGeom>
          <a:ln w="19050">
            <a:solidFill>
              <a:srgbClr val="22D3EE"/>
            </a:solidFill>
          </a:ln>
        </p:spPr>
      </p:pic>
      <p:sp>
        <p:nvSpPr>
          <p:cNvPr id="66" name="TextBox 65"/>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Mikael Häggström, M.D. Author info - Reusing images- Conflicts of interest:  Non · Wikimedia Commons · C</a:t>
            </a:r>
          </a:p>
        </p:txBody>
      </p:sp>
      <p:sp>
        <p:nvSpPr>
          <p:cNvPr id="67" name="Rounded Rectangle 66"/>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M8 · 2 soat</a:t>
            </a:r>
          </a:p>
        </p:txBody>
      </p:sp>
      <p:sp>
        <p:nvSpPr>
          <p:cNvPr id="68" name="TextBox 67"/>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9" name="TextBox 68"/>
          <p:cNvSpPr txBox="1"/>
          <p:nvPr/>
        </p:nvSpPr>
        <p:spPr>
          <a:xfrm>
            <a:off x="700000" y="1850000"/>
            <a:ext cx="6400000" cy="2700000"/>
          </a:xfrm>
          <a:prstGeom prst="rect">
            <a:avLst/>
          </a:prstGeom>
          <a:noFill/>
        </p:spPr>
        <p:txBody>
          <a:bodyPr wrap="square" anchor="t" lIns="50800" rIns="50800">
            <a:spAutoFit/>
          </a:bodyPr>
          <a:lstStyle/>
          <a:p>
            <a:pPr algn="l"/>
            <a:r>
              <a:rPr sz="3600" b="1">
                <a:solidFill>
                  <a:srgbClr val="E8EEFA"/>
                </a:solidFill>
                <a:latin typeface="Segoe UI"/>
              </a:rPr>
              <a:t>Sun'iy intellekt tizimlarini optimallashtirish usullari</a:t>
            </a:r>
          </a:p>
        </p:txBody>
      </p:sp>
      <p:sp>
        <p:nvSpPr>
          <p:cNvPr id="70" name="Rectangle 69"/>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9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200"/>
                            </p:stCondLst>
                            <p:childTnLst>
                              <p:par>
                                <p:cTn id="244" presetID="53" presetClass="entr" presetSubtype="16" fill="hold" grpId="0" nodeType="afterEffect">
                                  <p:stCondLst>
                                    <p:cond delay="0"/>
                                  </p:stCondLst>
                                  <p:childTnLst>
                                    <p:set>
                                      <p:cBhvr>
                                        <p:cTn id="245" dur="1" fill="hold">
                                          <p:stCondLst>
                                            <p:cond delay="0"/>
                                          </p:stCondLst>
                                        </p:cTn>
                                        <p:tgtEl>
                                          <p:spTgt spid="64"/>
                                        </p:tgtEl>
                                        <p:attrNameLst>
                                          <p:attrName>style.visibility</p:attrName>
                                        </p:attrNameLst>
                                      </p:cBhvr>
                                      <p:to>
                                        <p:strVal val="visible"/>
                                      </p:to>
                                    </p:set>
                                    <p:animEffect transition="in" filter="fade">
                                      <p:cBhvr>
                                        <p:cTn id="246" dur="550"/>
                                        <p:tgtEl>
                                          <p:spTgt spid="64"/>
                                        </p:tgtEl>
                                      </p:cBhvr>
                                    </p:animEffect>
                                    <p:anim calcmode="lin" valueType="num">
                                      <p:cBhvr additive="base">
                                        <p:cTn id="247" dur="550" fill="hold"/>
                                        <p:tgtEl>
                                          <p:spTgt spid="64"/>
                                        </p:tgtEl>
                                        <p:attrNameLst>
                                          <p:attrName>ppt_w</p:attrName>
                                        </p:attrNameLst>
                                      </p:cBhvr>
                                      <p:tavLst>
                                        <p:tav tm="0">
                                          <p:val>
                                            <p:strVal val="0"/>
                                          </p:val>
                                        </p:tav>
                                        <p:tav tm="100000">
                                          <p:val>
                                            <p:strVal val="#ppt_w"/>
                                          </p:val>
                                        </p:tav>
                                      </p:tavLst>
                                    </p:anim>
                                    <p:anim calcmode="lin" valueType="num">
                                      <p:cBhvr additive="base">
                                        <p:cTn id="248" dur="550" fill="hold"/>
                                        <p:tgtEl>
                                          <p:spTgt spid="64"/>
                                        </p:tgtEl>
                                        <p:attrNameLst>
                                          <p:attrName>ppt_h</p:attrName>
                                        </p:attrNameLst>
                                      </p:cBhvr>
                                      <p:tavLst>
                                        <p:tav tm="0">
                                          <p:val>
                                            <p:strVal val="0"/>
                                          </p:val>
                                        </p:tav>
                                        <p:tav tm="100000">
                                          <p:val>
                                            <p:strVal val="#ppt_h"/>
                                          </p:val>
                                        </p:tav>
                                      </p:tavLst>
                                    </p:anim>
                                  </p:childTnLst>
                                </p:cTn>
                              </p:par>
                            </p:childTnLst>
                          </p:cTn>
                        </p:par>
                        <p:par>
                          <p:cTn id="249" fill="hold">
                            <p:stCondLst>
                              <p:cond delay="200"/>
                            </p:stCondLst>
                            <p:childTnLst>
                              <p:par>
                                <p:cTn id="250" presetID="53" presetClass="entr" presetSubtype="16" fill="hold" grpId="0" nodeType="afterEffect">
                                  <p:stCondLst>
                                    <p:cond delay="0"/>
                                  </p:stCondLst>
                                  <p:childTnLst>
                                    <p:set>
                                      <p:cBhvr>
                                        <p:cTn id="251" dur="1" fill="hold">
                                          <p:stCondLst>
                                            <p:cond delay="0"/>
                                          </p:stCondLst>
                                        </p:cTn>
                                        <p:tgtEl>
                                          <p:spTgt spid="63"/>
                                        </p:tgtEl>
                                        <p:attrNameLst>
                                          <p:attrName>style.visibility</p:attrName>
                                        </p:attrNameLst>
                                      </p:cBhvr>
                                      <p:to>
                                        <p:strVal val="visible"/>
                                      </p:to>
                                    </p:set>
                                    <p:animEffect transition="in" filter="fade">
                                      <p:cBhvr>
                                        <p:cTn id="252" dur="550"/>
                                        <p:tgtEl>
                                          <p:spTgt spid="63"/>
                                        </p:tgtEl>
                                      </p:cBhvr>
                                    </p:animEffect>
                                    <p:anim calcmode="lin" valueType="num">
                                      <p:cBhvr additive="base">
                                        <p:cTn id="253" dur="550" fill="hold"/>
                                        <p:tgtEl>
                                          <p:spTgt spid="63"/>
                                        </p:tgtEl>
                                        <p:attrNameLst>
                                          <p:attrName>ppt_w</p:attrName>
                                        </p:attrNameLst>
                                      </p:cBhvr>
                                      <p:tavLst>
                                        <p:tav tm="0">
                                          <p:val>
                                            <p:strVal val="0"/>
                                          </p:val>
                                        </p:tav>
                                        <p:tav tm="100000">
                                          <p:val>
                                            <p:strVal val="#ppt_w"/>
                                          </p:val>
                                        </p:tav>
                                      </p:tavLst>
                                    </p:anim>
                                    <p:anim calcmode="lin" valueType="num">
                                      <p:cBhvr additive="base">
                                        <p:cTn id="254" dur="550" fill="hold"/>
                                        <p:tgtEl>
                                          <p:spTgt spid="63"/>
                                        </p:tgtEl>
                                        <p:attrNameLst>
                                          <p:attrName>ppt_h</p:attrName>
                                        </p:attrNameLst>
                                      </p:cBhvr>
                                      <p:tavLst>
                                        <p:tav tm="0">
                                          <p:val>
                                            <p:strVal val="0"/>
                                          </p:val>
                                        </p:tav>
                                        <p:tav tm="100000">
                                          <p:val>
                                            <p:strVal val="#ppt_h"/>
                                          </p:val>
                                        </p:tav>
                                      </p:tavLst>
                                    </p:anim>
                                  </p:childTnLst>
                                </p:cTn>
                              </p:par>
                            </p:childTnLst>
                          </p:cTn>
                        </p:par>
                        <p:par>
                          <p:cTn id="255" fill="hold">
                            <p:stCondLst>
                              <p:cond delay="200"/>
                            </p:stCondLst>
                            <p:childTnLst>
                              <p:par>
                                <p:cTn id="256" presetID="53" presetClass="entr" presetSubtype="16" fill="hold" grpId="0" nodeType="afterEffect">
                                  <p:stCondLst>
                                    <p:cond delay="0"/>
                                  </p:stCondLst>
                                  <p:childTnLst>
                                    <p:set>
                                      <p:cBhvr>
                                        <p:cTn id="257" dur="1" fill="hold">
                                          <p:stCondLst>
                                            <p:cond delay="0"/>
                                          </p:stCondLst>
                                        </p:cTn>
                                        <p:tgtEl>
                                          <p:spTgt spid="65"/>
                                        </p:tgtEl>
                                        <p:attrNameLst>
                                          <p:attrName>style.visibility</p:attrName>
                                        </p:attrNameLst>
                                      </p:cBhvr>
                                      <p:to>
                                        <p:strVal val="visible"/>
                                      </p:to>
                                    </p:set>
                                    <p:animEffect transition="in" filter="fade">
                                      <p:cBhvr>
                                        <p:cTn id="258" dur="550"/>
                                        <p:tgtEl>
                                          <p:spTgt spid="65"/>
                                        </p:tgtEl>
                                      </p:cBhvr>
                                    </p:animEffect>
                                    <p:anim calcmode="lin" valueType="num">
                                      <p:cBhvr additive="base">
                                        <p:cTn id="259" dur="550" fill="hold"/>
                                        <p:tgtEl>
                                          <p:spTgt spid="65"/>
                                        </p:tgtEl>
                                        <p:attrNameLst>
                                          <p:attrName>ppt_w</p:attrName>
                                        </p:attrNameLst>
                                      </p:cBhvr>
                                      <p:tavLst>
                                        <p:tav tm="0">
                                          <p:val>
                                            <p:strVal val="0"/>
                                          </p:val>
                                        </p:tav>
                                        <p:tav tm="100000">
                                          <p:val>
                                            <p:strVal val="#ppt_w"/>
                                          </p:val>
                                        </p:tav>
                                      </p:tavLst>
                                    </p:anim>
                                    <p:anim calcmode="lin" valueType="num">
                                      <p:cBhvr additive="base">
                                        <p:cTn id="260" dur="550" fill="hold"/>
                                        <p:tgtEl>
                                          <p:spTgt spid="65"/>
                                        </p:tgtEl>
                                        <p:attrNameLst>
                                          <p:attrName>ppt_h</p:attrName>
                                        </p:attrNameLst>
                                      </p:cBhvr>
                                      <p:tavLst>
                                        <p:tav tm="0">
                                          <p:val>
                                            <p:strVal val="0"/>
                                          </p:val>
                                        </p:tav>
                                        <p:tav tm="100000">
                                          <p:val>
                                            <p:strVal val="#ppt_h"/>
                                          </p:val>
                                        </p:tav>
                                      </p:tavLst>
                                    </p:anim>
                                  </p:childTnLst>
                                </p:cTn>
                              </p:par>
                            </p:childTnLst>
                          </p:cTn>
                        </p:par>
                        <p:par>
                          <p:cTn id="261" fill="hold">
                            <p:stCondLst>
                              <p:cond delay="200"/>
                            </p:stCondLst>
                            <p:childTnLst>
                              <p:par>
                                <p:cTn id="262" presetID="10" presetClass="entr" presetSubtype="0" fill="hold" grpId="0" nodeType="afterEffect">
                                  <p:stCondLst>
                                    <p:cond delay="0"/>
                                  </p:stCondLst>
                                  <p:childTnLst>
                                    <p:set>
                                      <p:cBhvr>
                                        <p:cTn id="263" dur="1" fill="hold">
                                          <p:stCondLst>
                                            <p:cond delay="0"/>
                                          </p:stCondLst>
                                        </p:cTn>
                                        <p:tgtEl>
                                          <p:spTgt spid="66"/>
                                        </p:tgtEl>
                                        <p:attrNameLst>
                                          <p:attrName>style.visibility</p:attrName>
                                        </p:attrNameLst>
                                      </p:cBhvr>
                                      <p:to>
                                        <p:strVal val="visible"/>
                                      </p:to>
                                    </p:set>
                                    <p:animEffect transition="in" filter="fade">
                                      <p:cBhvr>
                                        <p:cTn id="264" dur="550"/>
                                        <p:tgtEl>
                                          <p:spTgt spid="66"/>
                                        </p:tgtEl>
                                      </p:cBhvr>
                                    </p:animEffect>
                                  </p:childTnLst>
                                </p:cTn>
                              </p:par>
                            </p:childTnLst>
                          </p:cTn>
                        </p:par>
                        <p:par>
                          <p:cTn id="265" fill="hold">
                            <p:stCondLst>
                              <p:cond delay="350"/>
                            </p:stCondLst>
                            <p:childTnLst>
                              <p:par>
                                <p:cTn id="266" presetID="10" presetClass="entr" presetSubtype="0" fill="hold" grpId="0" nodeType="afterEffect">
                                  <p:stCondLst>
                                    <p:cond delay="0"/>
                                  </p:stCondLst>
                                  <p:childTnLst>
                                    <p:set>
                                      <p:cBhvr>
                                        <p:cTn id="267" dur="1" fill="hold">
                                          <p:stCondLst>
                                            <p:cond delay="0"/>
                                          </p:stCondLst>
                                        </p:cTn>
                                        <p:tgtEl>
                                          <p:spTgt spid="68"/>
                                        </p:tgtEl>
                                        <p:attrNameLst>
                                          <p:attrName>style.visibility</p:attrName>
                                        </p:attrNameLst>
                                      </p:cBhvr>
                                      <p:to>
                                        <p:strVal val="visible"/>
                                      </p:to>
                                    </p:set>
                                    <p:animEffect transition="in" filter="fade">
                                      <p:cBhvr>
                                        <p:cTn id="268" dur="550"/>
                                        <p:tgtEl>
                                          <p:spTgt spid="68"/>
                                        </p:tgtEl>
                                      </p:cBhvr>
                                    </p:animEffect>
                                  </p:childTnLst>
                                </p:cTn>
                              </p:par>
                            </p:childTnLst>
                          </p:cTn>
                        </p:par>
                        <p:par>
                          <p:cTn id="269" fill="hold">
                            <p:stCondLst>
                              <p:cond delay="500"/>
                            </p:stCondLst>
                            <p:childTnLst>
                              <p:par>
                                <p:cTn id="270" presetID="2" presetClass="entr" presetSubtype="8" fill="hold" grpId="0" nodeType="afterEffect">
                                  <p:stCondLst>
                                    <p:cond delay="0"/>
                                  </p:stCondLst>
                                  <p:childTnLst>
                                    <p:set>
                                      <p:cBhvr>
                                        <p:cTn id="271" dur="1" fill="hold">
                                          <p:stCondLst>
                                            <p:cond delay="0"/>
                                          </p:stCondLst>
                                        </p:cTn>
                                        <p:tgtEl>
                                          <p:spTgt spid="67"/>
                                        </p:tgtEl>
                                        <p:attrNameLst>
                                          <p:attrName>style.visibility</p:attrName>
                                        </p:attrNameLst>
                                      </p:cBhvr>
                                      <p:to>
                                        <p:strVal val="visible"/>
                                      </p:to>
                                    </p:set>
                                    <p:anim calcmode="lin" valueType="num">
                                      <p:cBhvr additive="base">
                                        <p:cTn id="273" dur="550" fill="hold"/>
                                        <p:tgtEl>
                                          <p:spTgt spid="67"/>
                                        </p:tgtEl>
                                        <p:attrNameLst>
                                          <p:attrName>ppt_x</p:attrName>
                                        </p:attrNameLst>
                                      </p:cBhvr>
                                      <p:tavLst>
                                        <p:tav tm="0">
                                          <p:val>
                                            <p:strVal val="0-#ppt_w/2"/>
                                          </p:val>
                                        </p:tav>
                                        <p:tav tm="100000">
                                          <p:val>
                                            <p:strVal val="#ppt_x"/>
                                          </p:val>
                                        </p:tav>
                                      </p:tavLst>
                                    </p:anim>
                                    <p:anim calcmode="lin" valueType="num">
                                      <p:cBhvr additive="base">
                                        <p:cTn id="274" dur="550" fill="hold"/>
                                        <p:tgtEl>
                                          <p:spTgt spid="67"/>
                                        </p:tgtEl>
                                        <p:attrNameLst>
                                          <p:attrName>ppt_y</p:attrName>
                                        </p:attrNameLst>
                                      </p:cBhvr>
                                      <p:tavLst>
                                        <p:tav tm="0">
                                          <p:val>
                                            <p:strVal val="#ppt_y"/>
                                          </p:val>
                                        </p:tav>
                                        <p:tav tm="100000">
                                          <p:val>
                                            <p:strVal val="#ppt_y"/>
                                          </p:val>
                                        </p:tav>
                                      </p:tavLst>
                                    </p:anim>
                                  </p:childTnLst>
                                </p:cTn>
                              </p:par>
                            </p:childTnLst>
                          </p:cTn>
                        </p:par>
                        <p:par>
                          <p:cTn id="275" fill="hold">
                            <p:stCondLst>
                              <p:cond delay="650"/>
                            </p:stCondLst>
                            <p:childTnLst>
                              <p:par>
                                <p:cTn id="276" presetID="42" presetClass="entr" presetSubtype="0" fill="hold" grpId="0" nodeType="afterEffect">
                                  <p:stCondLst>
                                    <p:cond delay="0"/>
                                  </p:stCondLst>
                                  <p:childTnLst>
                                    <p:set>
                                      <p:cBhvr>
                                        <p:cTn id="277" dur="1" fill="hold">
                                          <p:stCondLst>
                                            <p:cond delay="0"/>
                                          </p:stCondLst>
                                        </p:cTn>
                                        <p:tgtEl>
                                          <p:spTgt spid="69"/>
                                        </p:tgtEl>
                                        <p:attrNameLst>
                                          <p:attrName>style.visibility</p:attrName>
                                        </p:attrNameLst>
                                      </p:cBhvr>
                                      <p:to>
                                        <p:strVal val="visible"/>
                                      </p:to>
                                    </p:set>
                                    <p:animEffect transition="in" filter="fade">
                                      <p:cBhvr>
                                        <p:cTn id="278" dur="550"/>
                                        <p:tgtEl>
                                          <p:spTgt spid="69"/>
                                        </p:tgtEl>
                                      </p:cBhvr>
                                    </p:animEffect>
                                    <p:anim calcmode="lin" valueType="num">
                                      <p:cBhvr additive="base">
                                        <p:cTn id="279" dur="550" fill="hold"/>
                                        <p:tgtEl>
                                          <p:spTgt spid="69"/>
                                        </p:tgtEl>
                                        <p:attrNameLst>
                                          <p:attrName>ppt_x</p:attrName>
                                        </p:attrNameLst>
                                      </p:cBhvr>
                                      <p:tavLst>
                                        <p:tav tm="0">
                                          <p:val>
                                            <p:strVal val="#ppt_x"/>
                                          </p:val>
                                        </p:tav>
                                        <p:tav tm="100000">
                                          <p:val>
                                            <p:strVal val="#ppt_x"/>
                                          </p:val>
                                        </p:tav>
                                      </p:tavLst>
                                    </p:anim>
                                    <p:anim calcmode="lin" valueType="num">
                                      <p:cBhvr additive="base">
                                        <p:cTn id="280" dur="550" fill="hold"/>
                                        <p:tgtEl>
                                          <p:spTgt spid="69"/>
                                        </p:tgtEl>
                                        <p:attrNameLst>
                                          <p:attrName>ppt_y</p:attrName>
                                        </p:attrNameLst>
                                      </p:cBhvr>
                                      <p:tavLst>
                                        <p:tav tm="0">
                                          <p:val>
                                            <p:strVal val="#ppt_y+.08"/>
                                          </p:val>
                                        </p:tav>
                                        <p:tav tm="100000">
                                          <p:val>
                                            <p:strVal val="#ppt_y"/>
                                          </p:val>
                                        </p:tav>
                                      </p:tavLst>
                                    </p:anim>
                                  </p:childTnLst>
                                </p:cTn>
                              </p:par>
                            </p:childTnLst>
                          </p:cTn>
                        </p:par>
                        <p:par>
                          <p:cTn id="281" fill="hold">
                            <p:stCondLst>
                              <p:cond delay="800"/>
                            </p:stCondLst>
                            <p:childTnLst>
                              <p:par>
                                <p:cTn id="282" presetID="22" presetClass="entr" presetSubtype="8" fill="hold" grpId="0" nodeType="afterEffect">
                                  <p:stCondLst>
                                    <p:cond delay="0"/>
                                  </p:stCondLst>
                                  <p:childTnLst>
                                    <p:set>
                                      <p:cBhvr>
                                        <p:cTn id="283" dur="1" fill="hold">
                                          <p:stCondLst>
                                            <p:cond delay="0"/>
                                          </p:stCondLst>
                                        </p:cTn>
                                        <p:tgtEl>
                                          <p:spTgt spid="70"/>
                                        </p:tgtEl>
                                        <p:attrNameLst>
                                          <p:attrName>style.visibility</p:attrName>
                                        </p:attrNameLst>
                                      </p:cBhvr>
                                      <p:to>
                                        <p:strVal val="visible"/>
                                      </p:to>
                                    </p:set>
                                    <p:animEffect transition="in" filter="wipe(left)">
                                      <p:cBhvr>
                                        <p:cTn id="285" dur="800"/>
                                        <p:tgtEl>
                                          <p:spTgt spid="70"/>
                                        </p:tgtEl>
                                      </p:cBhvr>
                                    </p:animEffect>
                                  </p:childTnLst>
                                </p:cTn>
                              </p:par>
                            </p:childTnLst>
                          </p:cTn>
                        </p:par>
                        <p:par>
                          <p:cTn id="286" fill="hold">
                            <p:stCondLst>
                              <p:cond delay="950"/>
                            </p:stCondLst>
                            <p:childTnLst>
                              <p:par>
                                <p:cTn id="287" presetID="10" presetClass="entr" presetSubtype="0" fill="hold" grpId="0" nodeType="afterEffect">
                                  <p:stCondLst>
                                    <p:cond delay="0"/>
                                  </p:stCondLst>
                                  <p:childTnLst>
                                    <p:set>
                                      <p:cBhvr>
                                        <p:cTn id="288" dur="1" fill="hold">
                                          <p:stCondLst>
                                            <p:cond delay="0"/>
                                          </p:stCondLst>
                                        </p:cTn>
                                        <p:tgtEl>
                                          <p:spTgt spid="71"/>
                                        </p:tgtEl>
                                        <p:attrNameLst>
                                          <p:attrName>style.visibility</p:attrName>
                                        </p:attrNameLst>
                                      </p:cBhvr>
                                      <p:to>
                                        <p:strVal val="visible"/>
                                      </p:to>
                                    </p:set>
                                    <p:animEffect transition="in" filter="fade">
                                      <p:cBhvr>
                                        <p:cTn id="289" dur="55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4" grpId="0" animBg="1"/>
      <p:bldP spid="63" grpId="0" animBg="1"/>
      <p:bldP spid="66" grpId="0" animBg="1"/>
      <p:bldP spid="68" grpId="0" animBg="1"/>
      <p:bldP spid="67" grpId="0" animBg="1"/>
      <p:bldP spid="69" grpId="0" animBg="1"/>
      <p:bldP spid="70" grpId="0" animBg="1"/>
      <p:bldP spid="71"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1" name="Rounded Rectangle 20"/>
          <p:cNvSpPr/>
          <p:nvPr/>
        </p:nvSpPr>
        <p:spPr>
          <a:xfrm>
            <a:off x="550000" y="195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203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60000" y="203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4" name="TextBox 23"/>
          <p:cNvSpPr txBox="1"/>
          <p:nvPr/>
        </p:nvSpPr>
        <p:spPr>
          <a:xfrm>
            <a:off x="1300000" y="1995000"/>
            <a:ext cx="10250000" cy="440000"/>
          </a:xfrm>
          <a:prstGeom prst="rect">
            <a:avLst/>
          </a:prstGeom>
          <a:noFill/>
        </p:spPr>
        <p:txBody>
          <a:bodyPr wrap="square" anchor="ctr">
            <a:spAutoFit/>
          </a:bodyPr>
          <a:lstStyle/>
          <a:p>
            <a:r>
              <a:rPr sz="1600" b="0">
                <a:solidFill>
                  <a:srgbClr val="E8EEFA"/>
                </a:solidFill>
                <a:latin typeface="Segoe UI"/>
              </a:rPr>
              <a:t>Sonli formatlar va aralash aniqlik (mixed precision) hisoblash</a:t>
            </a:r>
          </a:p>
        </p:txBody>
      </p:sp>
      <p:sp>
        <p:nvSpPr>
          <p:cNvPr id="25" name="Rounded Rectangle 24"/>
          <p:cNvSpPr/>
          <p:nvPr/>
        </p:nvSpPr>
        <p:spPr>
          <a:xfrm>
            <a:off x="550000" y="258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66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66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8" name="TextBox 27"/>
          <p:cNvSpPr txBox="1"/>
          <p:nvPr/>
        </p:nvSpPr>
        <p:spPr>
          <a:xfrm>
            <a:off x="1300000" y="2625000"/>
            <a:ext cx="10250000" cy="440000"/>
          </a:xfrm>
          <a:prstGeom prst="rect">
            <a:avLst/>
          </a:prstGeom>
          <a:noFill/>
        </p:spPr>
        <p:txBody>
          <a:bodyPr wrap="square" anchor="ctr">
            <a:spAutoFit/>
          </a:bodyPr>
          <a:lstStyle/>
          <a:p>
            <a:r>
              <a:rPr sz="1600" b="0">
                <a:solidFill>
                  <a:srgbClr val="E8EEFA"/>
                </a:solidFill>
                <a:latin typeface="Segoe UI"/>
              </a:rPr>
              <a:t>Kvantlash (quantization): nazariya va turlari</a:t>
            </a:r>
          </a:p>
        </p:txBody>
      </p:sp>
      <p:sp>
        <p:nvSpPr>
          <p:cNvPr id="29" name="Rounded Rectangle 28"/>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295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295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Pruning: siyraklashtirish</a:t>
            </a:r>
          </a:p>
        </p:txBody>
      </p:sp>
      <p:sp>
        <p:nvSpPr>
          <p:cNvPr id="33" name="Rounded Rectangle 32"/>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3925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6" name="TextBox 35"/>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Knowledge Distillation: bilim distillyatsiyasi</a:t>
            </a:r>
          </a:p>
        </p:txBody>
      </p:sp>
      <p:sp>
        <p:nvSpPr>
          <p:cNvPr id="37" name="Rounded Rectangle 36"/>
          <p:cNvSpPr/>
          <p:nvPr/>
        </p:nvSpPr>
        <p:spPr>
          <a:xfrm>
            <a:off x="550000" y="447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0000" y="4555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60000" y="4555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0" name="TextBox 39"/>
          <p:cNvSpPr txBox="1"/>
          <p:nvPr/>
        </p:nvSpPr>
        <p:spPr>
          <a:xfrm>
            <a:off x="1300000" y="4515000"/>
            <a:ext cx="10250000" cy="440000"/>
          </a:xfrm>
          <a:prstGeom prst="rect">
            <a:avLst/>
          </a:prstGeom>
          <a:noFill/>
        </p:spPr>
        <p:txBody>
          <a:bodyPr wrap="square" anchor="ctr">
            <a:spAutoFit/>
          </a:bodyPr>
          <a:lstStyle/>
          <a:p>
            <a:r>
              <a:rPr sz="1600" b="0">
                <a:solidFill>
                  <a:srgbClr val="E8EEFA"/>
                </a:solidFill>
                <a:latin typeface="Segoe UI"/>
              </a:rPr>
              <a:t>Model va kernel darajasidagi optimallashtirish</a:t>
            </a:r>
          </a:p>
        </p:txBody>
      </p:sp>
      <p:sp>
        <p:nvSpPr>
          <p:cNvPr id="41" name="Rounded Rectangle 40"/>
          <p:cNvSpPr/>
          <p:nvPr/>
        </p:nvSpPr>
        <p:spPr>
          <a:xfrm>
            <a:off x="550000" y="510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0000" y="5185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60000" y="5185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4" name="TextBox 43"/>
          <p:cNvSpPr txBox="1"/>
          <p:nvPr/>
        </p:nvSpPr>
        <p:spPr>
          <a:xfrm>
            <a:off x="1300000" y="5145000"/>
            <a:ext cx="10250000" cy="440000"/>
          </a:xfrm>
          <a:prstGeom prst="rect">
            <a:avLst/>
          </a:prstGeom>
          <a:noFill/>
        </p:spPr>
        <p:txBody>
          <a:bodyPr wrap="square" anchor="ctr">
            <a:spAutoFit/>
          </a:bodyPr>
          <a:lstStyle/>
          <a:p>
            <a:r>
              <a:rPr sz="1600" b="0">
                <a:solidFill>
                  <a:srgbClr val="E8EEFA"/>
                </a:solidFill>
                <a:latin typeface="Segoe UI"/>
              </a:rPr>
              <a:t>Hisoblash resurslaridan samarali foydalanish va energiya samaradorligi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ppt_x</p:attrName>
                                        </p:attrNameLst>
                                      </p:cBhvr>
                                      <p:tavLst>
                                        <p:tav tm="0">
                                          <p:val>
                                            <p:strVal val="#ppt_x"/>
                                          </p:val>
                                        </p:tav>
                                        <p:tav tm="100000">
                                          <p:val>
                                            <p:strVal val="#ppt_x"/>
                                          </p:val>
                                        </p:tav>
                                      </p:tavLst>
                                    </p:anim>
                                    <p:anim calcmode="lin" valueType="num">
                                      <p:cBhvr additive="base">
                                        <p:cTn id="17" dur="550" fill="hold"/>
                                        <p:tgtEl>
                                          <p:spTgt spid="21"/>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ppt_x</p:attrName>
                                        </p:attrNameLst>
                                      </p:cBhvr>
                                      <p:tavLst>
                                        <p:tav tm="0">
                                          <p:val>
                                            <p:strVal val="#ppt_x"/>
                                          </p:val>
                                        </p:tav>
                                        <p:tav tm="100000">
                                          <p:val>
                                            <p:strVal val="#ppt_x"/>
                                          </p:val>
                                        </p:tav>
                                      </p:tavLst>
                                    </p:anim>
                                    <p:anim calcmode="lin" valueType="num">
                                      <p:cBhvr additive="base">
                                        <p:cTn id="23" dur="550" fill="hold"/>
                                        <p:tgtEl>
                                          <p:spTgt spid="22"/>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50"/>
                                        <p:tgtEl>
                                          <p:spTgt spid="23"/>
                                        </p:tgtEl>
                                      </p:cBhvr>
                                    </p:animEffect>
                                    <p:anim calcmode="lin" valueType="num">
                                      <p:cBhvr additive="base">
                                        <p:cTn id="28" dur="550" fill="hold"/>
                                        <p:tgtEl>
                                          <p:spTgt spid="23"/>
                                        </p:tgtEl>
                                        <p:attrNameLst>
                                          <p:attrName>ppt_w</p:attrName>
                                        </p:attrNameLst>
                                      </p:cBhvr>
                                      <p:tavLst>
                                        <p:tav tm="0">
                                          <p:val>
                                            <p:strVal val="0"/>
                                          </p:val>
                                        </p:tav>
                                        <p:tav tm="100000">
                                          <p:val>
                                            <p:strVal val="#ppt_w"/>
                                          </p:val>
                                        </p:tav>
                                      </p:tavLst>
                                    </p:anim>
                                    <p:anim calcmode="lin" valueType="num">
                                      <p:cBhvr additive="base">
                                        <p:cTn id="29" dur="550" fill="hold"/>
                                        <p:tgtEl>
                                          <p:spTgt spid="23"/>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550"/>
                                        <p:tgtEl>
                                          <p:spTgt spid="24"/>
                                        </p:tgtEl>
                                      </p:cBhvr>
                                    </p:animEffect>
                                    <p:anim calcmode="lin" valueType="num">
                                      <p:cBhvr additive="base">
                                        <p:cTn id="34" dur="550" fill="hold"/>
                                        <p:tgtEl>
                                          <p:spTgt spid="24"/>
                                        </p:tgtEl>
                                        <p:attrNameLst>
                                          <p:attrName>ppt_x</p:attrName>
                                        </p:attrNameLst>
                                      </p:cBhvr>
                                      <p:tavLst>
                                        <p:tav tm="0">
                                          <p:val>
                                            <p:strVal val="#ppt_x"/>
                                          </p:val>
                                        </p:tav>
                                        <p:tav tm="100000">
                                          <p:val>
                                            <p:strVal val="#ppt_x"/>
                                          </p:val>
                                        </p:tav>
                                      </p:tavLst>
                                    </p:anim>
                                    <p:anim calcmode="lin" valueType="num">
                                      <p:cBhvr additive="base">
                                        <p:cTn id="35" dur="550" fill="hold"/>
                                        <p:tgtEl>
                                          <p:spTgt spid="24"/>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50"/>
                                        <p:tgtEl>
                                          <p:spTgt spid="25"/>
                                        </p:tgtEl>
                                      </p:cBhvr>
                                    </p:animEffect>
                                    <p:anim calcmode="lin" valueType="num">
                                      <p:cBhvr additive="base">
                                        <p:cTn id="40" dur="550" fill="hold"/>
                                        <p:tgtEl>
                                          <p:spTgt spid="25"/>
                                        </p:tgtEl>
                                        <p:attrNameLst>
                                          <p:attrName>ppt_x</p:attrName>
                                        </p:attrNameLst>
                                      </p:cBhvr>
                                      <p:tavLst>
                                        <p:tav tm="0">
                                          <p:val>
                                            <p:strVal val="#ppt_x"/>
                                          </p:val>
                                        </p:tav>
                                        <p:tav tm="100000">
                                          <p:val>
                                            <p:strVal val="#ppt_x"/>
                                          </p:val>
                                        </p:tav>
                                      </p:tavLst>
                                    </p:anim>
                                    <p:anim calcmode="lin" valueType="num">
                                      <p:cBhvr additive="base">
                                        <p:cTn id="41" dur="550" fill="hold"/>
                                        <p:tgtEl>
                                          <p:spTgt spid="25"/>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50"/>
                                        <p:tgtEl>
                                          <p:spTgt spid="26"/>
                                        </p:tgtEl>
                                      </p:cBhvr>
                                    </p:animEffect>
                                    <p:anim calcmode="lin" valueType="num">
                                      <p:cBhvr additive="base">
                                        <p:cTn id="46" dur="550" fill="hold"/>
                                        <p:tgtEl>
                                          <p:spTgt spid="26"/>
                                        </p:tgtEl>
                                        <p:attrNameLst>
                                          <p:attrName>ppt_x</p:attrName>
                                        </p:attrNameLst>
                                      </p:cBhvr>
                                      <p:tavLst>
                                        <p:tav tm="0">
                                          <p:val>
                                            <p:strVal val="#ppt_x"/>
                                          </p:val>
                                        </p:tav>
                                        <p:tav tm="100000">
                                          <p:val>
                                            <p:strVal val="#ppt_x"/>
                                          </p:val>
                                        </p:tav>
                                      </p:tavLst>
                                    </p:anim>
                                    <p:anim calcmode="lin" valueType="num">
                                      <p:cBhvr additive="base">
                                        <p:cTn id="47" dur="550" fill="hold"/>
                                        <p:tgtEl>
                                          <p:spTgt spid="26"/>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550"/>
                                        <p:tgtEl>
                                          <p:spTgt spid="27"/>
                                        </p:tgtEl>
                                      </p:cBhvr>
                                    </p:animEffect>
                                    <p:anim calcmode="lin" valueType="num">
                                      <p:cBhvr additive="base">
                                        <p:cTn id="52" dur="550" fill="hold"/>
                                        <p:tgtEl>
                                          <p:spTgt spid="27"/>
                                        </p:tgtEl>
                                        <p:attrNameLst>
                                          <p:attrName>ppt_w</p:attrName>
                                        </p:attrNameLst>
                                      </p:cBhvr>
                                      <p:tavLst>
                                        <p:tav tm="0">
                                          <p:val>
                                            <p:strVal val="0"/>
                                          </p:val>
                                        </p:tav>
                                        <p:tav tm="100000">
                                          <p:val>
                                            <p:strVal val="#ppt_w"/>
                                          </p:val>
                                        </p:tav>
                                      </p:tavLst>
                                    </p:anim>
                                    <p:anim calcmode="lin" valueType="num">
                                      <p:cBhvr additive="base">
                                        <p:cTn id="53" dur="550" fill="hold"/>
                                        <p:tgtEl>
                                          <p:spTgt spid="27"/>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28"/>
                                        </p:tgtEl>
                                        <p:attrNameLst>
                                          <p:attrName>style.visibility</p:attrName>
                                        </p:attrNameLst>
                                      </p:cBhvr>
                                      <p:to>
                                        <p:strVal val="visible"/>
                                      </p:to>
                                    </p:set>
                                    <p:animEffect transition="in" filter="fade">
                                      <p:cBhvr>
                                        <p:cTn id="57" dur="550"/>
                                        <p:tgtEl>
                                          <p:spTgt spid="28"/>
                                        </p:tgtEl>
                                      </p:cBhvr>
                                    </p:animEffect>
                                    <p:anim calcmode="lin" valueType="num">
                                      <p:cBhvr additive="base">
                                        <p:cTn id="58" dur="550" fill="hold"/>
                                        <p:tgtEl>
                                          <p:spTgt spid="28"/>
                                        </p:tgtEl>
                                        <p:attrNameLst>
                                          <p:attrName>ppt_x</p:attrName>
                                        </p:attrNameLst>
                                      </p:cBhvr>
                                      <p:tavLst>
                                        <p:tav tm="0">
                                          <p:val>
                                            <p:strVal val="#ppt_x"/>
                                          </p:val>
                                        </p:tav>
                                        <p:tav tm="100000">
                                          <p:val>
                                            <p:strVal val="#ppt_x"/>
                                          </p:val>
                                        </p:tav>
                                      </p:tavLst>
                                    </p:anim>
                                    <p:anim calcmode="lin" valueType="num">
                                      <p:cBhvr additive="base">
                                        <p:cTn id="59" dur="550" fill="hold"/>
                                        <p:tgtEl>
                                          <p:spTgt spid="28"/>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29"/>
                                        </p:tgtEl>
                                        <p:attrNameLst>
                                          <p:attrName>style.visibility</p:attrName>
                                        </p:attrNameLst>
                                      </p:cBhvr>
                                      <p:to>
                                        <p:strVal val="visible"/>
                                      </p:to>
                                    </p:set>
                                    <p:animEffect transition="in" filter="fade">
                                      <p:cBhvr>
                                        <p:cTn id="63" dur="550"/>
                                        <p:tgtEl>
                                          <p:spTgt spid="29"/>
                                        </p:tgtEl>
                                      </p:cBhvr>
                                    </p:animEffect>
                                    <p:anim calcmode="lin" valueType="num">
                                      <p:cBhvr additive="base">
                                        <p:cTn id="64" dur="550" fill="hold"/>
                                        <p:tgtEl>
                                          <p:spTgt spid="29"/>
                                        </p:tgtEl>
                                        <p:attrNameLst>
                                          <p:attrName>ppt_x</p:attrName>
                                        </p:attrNameLst>
                                      </p:cBhvr>
                                      <p:tavLst>
                                        <p:tav tm="0">
                                          <p:val>
                                            <p:strVal val="#ppt_x"/>
                                          </p:val>
                                        </p:tav>
                                        <p:tav tm="100000">
                                          <p:val>
                                            <p:strVal val="#ppt_x"/>
                                          </p:val>
                                        </p:tav>
                                      </p:tavLst>
                                    </p:anim>
                                    <p:anim calcmode="lin" valueType="num">
                                      <p:cBhvr additive="base">
                                        <p:cTn id="65" dur="550" fill="hold"/>
                                        <p:tgtEl>
                                          <p:spTgt spid="29"/>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0"/>
                                        </p:tgtEl>
                                        <p:attrNameLst>
                                          <p:attrName>style.visibility</p:attrName>
                                        </p:attrNameLst>
                                      </p:cBhvr>
                                      <p:to>
                                        <p:strVal val="visible"/>
                                      </p:to>
                                    </p:set>
                                    <p:animEffect transition="in" filter="fade">
                                      <p:cBhvr>
                                        <p:cTn id="69" dur="550"/>
                                        <p:tgtEl>
                                          <p:spTgt spid="30"/>
                                        </p:tgtEl>
                                      </p:cBhvr>
                                    </p:animEffect>
                                    <p:anim calcmode="lin" valueType="num">
                                      <p:cBhvr additive="base">
                                        <p:cTn id="70" dur="550" fill="hold"/>
                                        <p:tgtEl>
                                          <p:spTgt spid="30"/>
                                        </p:tgtEl>
                                        <p:attrNameLst>
                                          <p:attrName>ppt_x</p:attrName>
                                        </p:attrNameLst>
                                      </p:cBhvr>
                                      <p:tavLst>
                                        <p:tav tm="0">
                                          <p:val>
                                            <p:strVal val="#ppt_x"/>
                                          </p:val>
                                        </p:tav>
                                        <p:tav tm="100000">
                                          <p:val>
                                            <p:strVal val="#ppt_x"/>
                                          </p:val>
                                        </p:tav>
                                      </p:tavLst>
                                    </p:anim>
                                    <p:anim calcmode="lin" valueType="num">
                                      <p:cBhvr additive="base">
                                        <p:cTn id="71" dur="550" fill="hold"/>
                                        <p:tgtEl>
                                          <p:spTgt spid="30"/>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550"/>
                                        <p:tgtEl>
                                          <p:spTgt spid="31"/>
                                        </p:tgtEl>
                                      </p:cBhvr>
                                    </p:animEffect>
                                    <p:anim calcmode="lin" valueType="num">
                                      <p:cBhvr additive="base">
                                        <p:cTn id="76" dur="550" fill="hold"/>
                                        <p:tgtEl>
                                          <p:spTgt spid="31"/>
                                        </p:tgtEl>
                                        <p:attrNameLst>
                                          <p:attrName>ppt_w</p:attrName>
                                        </p:attrNameLst>
                                      </p:cBhvr>
                                      <p:tavLst>
                                        <p:tav tm="0">
                                          <p:val>
                                            <p:strVal val="0"/>
                                          </p:val>
                                        </p:tav>
                                        <p:tav tm="100000">
                                          <p:val>
                                            <p:strVal val="#ppt_w"/>
                                          </p:val>
                                        </p:tav>
                                      </p:tavLst>
                                    </p:anim>
                                    <p:anim calcmode="lin" valueType="num">
                                      <p:cBhvr additive="base">
                                        <p:cTn id="77" dur="550" fill="hold"/>
                                        <p:tgtEl>
                                          <p:spTgt spid="31"/>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550"/>
                                        <p:tgtEl>
                                          <p:spTgt spid="32"/>
                                        </p:tgtEl>
                                      </p:cBhvr>
                                    </p:animEffect>
                                    <p:anim calcmode="lin" valueType="num">
                                      <p:cBhvr additive="base">
                                        <p:cTn id="82" dur="550" fill="hold"/>
                                        <p:tgtEl>
                                          <p:spTgt spid="32"/>
                                        </p:tgtEl>
                                        <p:attrNameLst>
                                          <p:attrName>ppt_x</p:attrName>
                                        </p:attrNameLst>
                                      </p:cBhvr>
                                      <p:tavLst>
                                        <p:tav tm="0">
                                          <p:val>
                                            <p:strVal val="#ppt_x"/>
                                          </p:val>
                                        </p:tav>
                                        <p:tav tm="100000">
                                          <p:val>
                                            <p:strVal val="#ppt_x"/>
                                          </p:val>
                                        </p:tav>
                                      </p:tavLst>
                                    </p:anim>
                                    <p:anim calcmode="lin" valueType="num">
                                      <p:cBhvr additive="base">
                                        <p:cTn id="83" dur="550" fill="hold"/>
                                        <p:tgtEl>
                                          <p:spTgt spid="32"/>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550"/>
                                        <p:tgtEl>
                                          <p:spTgt spid="33"/>
                                        </p:tgtEl>
                                      </p:cBhvr>
                                    </p:animEffect>
                                    <p:anim calcmode="lin" valueType="num">
                                      <p:cBhvr additive="base">
                                        <p:cTn id="88" dur="550" fill="hold"/>
                                        <p:tgtEl>
                                          <p:spTgt spid="33"/>
                                        </p:tgtEl>
                                        <p:attrNameLst>
                                          <p:attrName>ppt_x</p:attrName>
                                        </p:attrNameLst>
                                      </p:cBhvr>
                                      <p:tavLst>
                                        <p:tav tm="0">
                                          <p:val>
                                            <p:strVal val="#ppt_x"/>
                                          </p:val>
                                        </p:tav>
                                        <p:tav tm="100000">
                                          <p:val>
                                            <p:strVal val="#ppt_x"/>
                                          </p:val>
                                        </p:tav>
                                      </p:tavLst>
                                    </p:anim>
                                    <p:anim calcmode="lin" valueType="num">
                                      <p:cBhvr additive="base">
                                        <p:cTn id="89" dur="550" fill="hold"/>
                                        <p:tgtEl>
                                          <p:spTgt spid="33"/>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4"/>
                                        </p:tgtEl>
                                        <p:attrNameLst>
                                          <p:attrName>style.visibility</p:attrName>
                                        </p:attrNameLst>
                                      </p:cBhvr>
                                      <p:to>
                                        <p:strVal val="visible"/>
                                      </p:to>
                                    </p:set>
                                    <p:animEffect transition="in" filter="fade">
                                      <p:cBhvr>
                                        <p:cTn id="93" dur="550"/>
                                        <p:tgtEl>
                                          <p:spTgt spid="34"/>
                                        </p:tgtEl>
                                      </p:cBhvr>
                                    </p:animEffect>
                                    <p:anim calcmode="lin" valueType="num">
                                      <p:cBhvr additive="base">
                                        <p:cTn id="94" dur="550" fill="hold"/>
                                        <p:tgtEl>
                                          <p:spTgt spid="34"/>
                                        </p:tgtEl>
                                        <p:attrNameLst>
                                          <p:attrName>ppt_x</p:attrName>
                                        </p:attrNameLst>
                                      </p:cBhvr>
                                      <p:tavLst>
                                        <p:tav tm="0">
                                          <p:val>
                                            <p:strVal val="#ppt_x"/>
                                          </p:val>
                                        </p:tav>
                                        <p:tav tm="100000">
                                          <p:val>
                                            <p:strVal val="#ppt_x"/>
                                          </p:val>
                                        </p:tav>
                                      </p:tavLst>
                                    </p:anim>
                                    <p:anim calcmode="lin" valueType="num">
                                      <p:cBhvr additive="base">
                                        <p:cTn id="95" dur="550" fill="hold"/>
                                        <p:tgtEl>
                                          <p:spTgt spid="34"/>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5"/>
                                        </p:tgtEl>
                                        <p:attrNameLst>
                                          <p:attrName>style.visibility</p:attrName>
                                        </p:attrNameLst>
                                      </p:cBhvr>
                                      <p:to>
                                        <p:strVal val="visible"/>
                                      </p:to>
                                    </p:set>
                                    <p:animEffect transition="in" filter="fade">
                                      <p:cBhvr>
                                        <p:cTn id="99" dur="550"/>
                                        <p:tgtEl>
                                          <p:spTgt spid="35"/>
                                        </p:tgtEl>
                                      </p:cBhvr>
                                    </p:animEffect>
                                    <p:anim calcmode="lin" valueType="num">
                                      <p:cBhvr additive="base">
                                        <p:cTn id="100" dur="550" fill="hold"/>
                                        <p:tgtEl>
                                          <p:spTgt spid="35"/>
                                        </p:tgtEl>
                                        <p:attrNameLst>
                                          <p:attrName>ppt_w</p:attrName>
                                        </p:attrNameLst>
                                      </p:cBhvr>
                                      <p:tavLst>
                                        <p:tav tm="0">
                                          <p:val>
                                            <p:strVal val="0"/>
                                          </p:val>
                                        </p:tav>
                                        <p:tav tm="100000">
                                          <p:val>
                                            <p:strVal val="#ppt_w"/>
                                          </p:val>
                                        </p:tav>
                                      </p:tavLst>
                                    </p:anim>
                                    <p:anim calcmode="lin" valueType="num">
                                      <p:cBhvr additive="base">
                                        <p:cTn id="101" dur="550" fill="hold"/>
                                        <p:tgtEl>
                                          <p:spTgt spid="35"/>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550"/>
                                        <p:tgtEl>
                                          <p:spTgt spid="36"/>
                                        </p:tgtEl>
                                      </p:cBhvr>
                                    </p:animEffect>
                                    <p:anim calcmode="lin" valueType="num">
                                      <p:cBhvr additive="base">
                                        <p:cTn id="106" dur="550" fill="hold"/>
                                        <p:tgtEl>
                                          <p:spTgt spid="36"/>
                                        </p:tgtEl>
                                        <p:attrNameLst>
                                          <p:attrName>ppt_x</p:attrName>
                                        </p:attrNameLst>
                                      </p:cBhvr>
                                      <p:tavLst>
                                        <p:tav tm="0">
                                          <p:val>
                                            <p:strVal val="#ppt_x"/>
                                          </p:val>
                                        </p:tav>
                                        <p:tav tm="100000">
                                          <p:val>
                                            <p:strVal val="#ppt_x"/>
                                          </p:val>
                                        </p:tav>
                                      </p:tavLst>
                                    </p:anim>
                                    <p:anim calcmode="lin" valueType="num">
                                      <p:cBhvr additive="base">
                                        <p:cTn id="107" dur="550" fill="hold"/>
                                        <p:tgtEl>
                                          <p:spTgt spid="36"/>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37"/>
                                        </p:tgtEl>
                                        <p:attrNameLst>
                                          <p:attrName>style.visibility</p:attrName>
                                        </p:attrNameLst>
                                      </p:cBhvr>
                                      <p:to>
                                        <p:strVal val="visible"/>
                                      </p:to>
                                    </p:set>
                                    <p:animEffect transition="in" filter="fade">
                                      <p:cBhvr>
                                        <p:cTn id="111" dur="550"/>
                                        <p:tgtEl>
                                          <p:spTgt spid="37"/>
                                        </p:tgtEl>
                                      </p:cBhvr>
                                    </p:animEffect>
                                    <p:anim calcmode="lin" valueType="num">
                                      <p:cBhvr additive="base">
                                        <p:cTn id="112" dur="550" fill="hold"/>
                                        <p:tgtEl>
                                          <p:spTgt spid="37"/>
                                        </p:tgtEl>
                                        <p:attrNameLst>
                                          <p:attrName>ppt_x</p:attrName>
                                        </p:attrNameLst>
                                      </p:cBhvr>
                                      <p:tavLst>
                                        <p:tav tm="0">
                                          <p:val>
                                            <p:strVal val="#ppt_x"/>
                                          </p:val>
                                        </p:tav>
                                        <p:tav tm="100000">
                                          <p:val>
                                            <p:strVal val="#ppt_x"/>
                                          </p:val>
                                        </p:tav>
                                      </p:tavLst>
                                    </p:anim>
                                    <p:anim calcmode="lin" valueType="num">
                                      <p:cBhvr additive="base">
                                        <p:cTn id="113" dur="550" fill="hold"/>
                                        <p:tgtEl>
                                          <p:spTgt spid="37"/>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38"/>
                                        </p:tgtEl>
                                        <p:attrNameLst>
                                          <p:attrName>style.visibility</p:attrName>
                                        </p:attrNameLst>
                                      </p:cBhvr>
                                      <p:to>
                                        <p:strVal val="visible"/>
                                      </p:to>
                                    </p:set>
                                    <p:animEffect transition="in" filter="fade">
                                      <p:cBhvr>
                                        <p:cTn id="117" dur="550"/>
                                        <p:tgtEl>
                                          <p:spTgt spid="38"/>
                                        </p:tgtEl>
                                      </p:cBhvr>
                                    </p:animEffect>
                                    <p:anim calcmode="lin" valueType="num">
                                      <p:cBhvr additive="base">
                                        <p:cTn id="118" dur="550" fill="hold"/>
                                        <p:tgtEl>
                                          <p:spTgt spid="38"/>
                                        </p:tgtEl>
                                        <p:attrNameLst>
                                          <p:attrName>ppt_x</p:attrName>
                                        </p:attrNameLst>
                                      </p:cBhvr>
                                      <p:tavLst>
                                        <p:tav tm="0">
                                          <p:val>
                                            <p:strVal val="#ppt_x"/>
                                          </p:val>
                                        </p:tav>
                                        <p:tav tm="100000">
                                          <p:val>
                                            <p:strVal val="#ppt_x"/>
                                          </p:val>
                                        </p:tav>
                                      </p:tavLst>
                                    </p:anim>
                                    <p:anim calcmode="lin" valueType="num">
                                      <p:cBhvr additive="base">
                                        <p:cTn id="119" dur="550" fill="hold"/>
                                        <p:tgtEl>
                                          <p:spTgt spid="38"/>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39"/>
                                        </p:tgtEl>
                                        <p:attrNameLst>
                                          <p:attrName>style.visibility</p:attrName>
                                        </p:attrNameLst>
                                      </p:cBhvr>
                                      <p:to>
                                        <p:strVal val="visible"/>
                                      </p:to>
                                    </p:set>
                                    <p:animEffect transition="in" filter="fade">
                                      <p:cBhvr>
                                        <p:cTn id="123" dur="550"/>
                                        <p:tgtEl>
                                          <p:spTgt spid="39"/>
                                        </p:tgtEl>
                                      </p:cBhvr>
                                    </p:animEffect>
                                    <p:anim calcmode="lin" valueType="num">
                                      <p:cBhvr additive="base">
                                        <p:cTn id="124" dur="550" fill="hold"/>
                                        <p:tgtEl>
                                          <p:spTgt spid="39"/>
                                        </p:tgtEl>
                                        <p:attrNameLst>
                                          <p:attrName>ppt_w</p:attrName>
                                        </p:attrNameLst>
                                      </p:cBhvr>
                                      <p:tavLst>
                                        <p:tav tm="0">
                                          <p:val>
                                            <p:strVal val="0"/>
                                          </p:val>
                                        </p:tav>
                                        <p:tav tm="100000">
                                          <p:val>
                                            <p:strVal val="#ppt_w"/>
                                          </p:val>
                                        </p:tav>
                                      </p:tavLst>
                                    </p:anim>
                                    <p:anim calcmode="lin" valueType="num">
                                      <p:cBhvr additive="base">
                                        <p:cTn id="125" dur="550" fill="hold"/>
                                        <p:tgtEl>
                                          <p:spTgt spid="39"/>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0"/>
                                        </p:tgtEl>
                                        <p:attrNameLst>
                                          <p:attrName>style.visibility</p:attrName>
                                        </p:attrNameLst>
                                      </p:cBhvr>
                                      <p:to>
                                        <p:strVal val="visible"/>
                                      </p:to>
                                    </p:set>
                                    <p:animEffect transition="in" filter="fade">
                                      <p:cBhvr>
                                        <p:cTn id="129" dur="550"/>
                                        <p:tgtEl>
                                          <p:spTgt spid="40"/>
                                        </p:tgtEl>
                                      </p:cBhvr>
                                    </p:animEffect>
                                    <p:anim calcmode="lin" valueType="num">
                                      <p:cBhvr additive="base">
                                        <p:cTn id="130" dur="550" fill="hold"/>
                                        <p:tgtEl>
                                          <p:spTgt spid="40"/>
                                        </p:tgtEl>
                                        <p:attrNameLst>
                                          <p:attrName>ppt_x</p:attrName>
                                        </p:attrNameLst>
                                      </p:cBhvr>
                                      <p:tavLst>
                                        <p:tav tm="0">
                                          <p:val>
                                            <p:strVal val="#ppt_x"/>
                                          </p:val>
                                        </p:tav>
                                        <p:tav tm="100000">
                                          <p:val>
                                            <p:strVal val="#ppt_x"/>
                                          </p:val>
                                        </p:tav>
                                      </p:tavLst>
                                    </p:anim>
                                    <p:anim calcmode="lin" valueType="num">
                                      <p:cBhvr additive="base">
                                        <p:cTn id="131" dur="550" fill="hold"/>
                                        <p:tgtEl>
                                          <p:spTgt spid="40"/>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1"/>
                                        </p:tgtEl>
                                        <p:attrNameLst>
                                          <p:attrName>style.visibility</p:attrName>
                                        </p:attrNameLst>
                                      </p:cBhvr>
                                      <p:to>
                                        <p:strVal val="visible"/>
                                      </p:to>
                                    </p:set>
                                    <p:animEffect transition="in" filter="fade">
                                      <p:cBhvr>
                                        <p:cTn id="135" dur="550"/>
                                        <p:tgtEl>
                                          <p:spTgt spid="41"/>
                                        </p:tgtEl>
                                      </p:cBhvr>
                                    </p:animEffect>
                                    <p:anim calcmode="lin" valueType="num">
                                      <p:cBhvr additive="base">
                                        <p:cTn id="136" dur="550" fill="hold"/>
                                        <p:tgtEl>
                                          <p:spTgt spid="41"/>
                                        </p:tgtEl>
                                        <p:attrNameLst>
                                          <p:attrName>ppt_x</p:attrName>
                                        </p:attrNameLst>
                                      </p:cBhvr>
                                      <p:tavLst>
                                        <p:tav tm="0">
                                          <p:val>
                                            <p:strVal val="#ppt_x"/>
                                          </p:val>
                                        </p:tav>
                                        <p:tav tm="100000">
                                          <p:val>
                                            <p:strVal val="#ppt_x"/>
                                          </p:val>
                                        </p:tav>
                                      </p:tavLst>
                                    </p:anim>
                                    <p:anim calcmode="lin" valueType="num">
                                      <p:cBhvr additive="base">
                                        <p:cTn id="137" dur="550" fill="hold"/>
                                        <p:tgtEl>
                                          <p:spTgt spid="41"/>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2"/>
                                        </p:tgtEl>
                                        <p:attrNameLst>
                                          <p:attrName>style.visibility</p:attrName>
                                        </p:attrNameLst>
                                      </p:cBhvr>
                                      <p:to>
                                        <p:strVal val="visible"/>
                                      </p:to>
                                    </p:set>
                                    <p:animEffect transition="in" filter="fade">
                                      <p:cBhvr>
                                        <p:cTn id="141" dur="550"/>
                                        <p:tgtEl>
                                          <p:spTgt spid="42"/>
                                        </p:tgtEl>
                                      </p:cBhvr>
                                    </p:animEffect>
                                    <p:anim calcmode="lin" valueType="num">
                                      <p:cBhvr additive="base">
                                        <p:cTn id="142" dur="550" fill="hold"/>
                                        <p:tgtEl>
                                          <p:spTgt spid="42"/>
                                        </p:tgtEl>
                                        <p:attrNameLst>
                                          <p:attrName>ppt_x</p:attrName>
                                        </p:attrNameLst>
                                      </p:cBhvr>
                                      <p:tavLst>
                                        <p:tav tm="0">
                                          <p:val>
                                            <p:strVal val="#ppt_x"/>
                                          </p:val>
                                        </p:tav>
                                        <p:tav tm="100000">
                                          <p:val>
                                            <p:strVal val="#ppt_x"/>
                                          </p:val>
                                        </p:tav>
                                      </p:tavLst>
                                    </p:anim>
                                    <p:anim calcmode="lin" valueType="num">
                                      <p:cBhvr additive="base">
                                        <p:cTn id="143" dur="550" fill="hold"/>
                                        <p:tgtEl>
                                          <p:spTgt spid="42"/>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3"/>
                                        </p:tgtEl>
                                        <p:attrNameLst>
                                          <p:attrName>style.visibility</p:attrName>
                                        </p:attrNameLst>
                                      </p:cBhvr>
                                      <p:to>
                                        <p:strVal val="visible"/>
                                      </p:to>
                                    </p:set>
                                    <p:animEffect transition="in" filter="fade">
                                      <p:cBhvr>
                                        <p:cTn id="147" dur="550"/>
                                        <p:tgtEl>
                                          <p:spTgt spid="43"/>
                                        </p:tgtEl>
                                      </p:cBhvr>
                                    </p:animEffect>
                                    <p:anim calcmode="lin" valueType="num">
                                      <p:cBhvr additive="base">
                                        <p:cTn id="148" dur="550" fill="hold"/>
                                        <p:tgtEl>
                                          <p:spTgt spid="43"/>
                                        </p:tgtEl>
                                        <p:attrNameLst>
                                          <p:attrName>ppt_w</p:attrName>
                                        </p:attrNameLst>
                                      </p:cBhvr>
                                      <p:tavLst>
                                        <p:tav tm="0">
                                          <p:val>
                                            <p:strVal val="0"/>
                                          </p:val>
                                        </p:tav>
                                        <p:tav tm="100000">
                                          <p:val>
                                            <p:strVal val="#ppt_w"/>
                                          </p:val>
                                        </p:tav>
                                      </p:tavLst>
                                    </p:anim>
                                    <p:anim calcmode="lin" valueType="num">
                                      <p:cBhvr additive="base">
                                        <p:cTn id="149" dur="550" fill="hold"/>
                                        <p:tgtEl>
                                          <p:spTgt spid="43"/>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4"/>
                                        </p:tgtEl>
                                        <p:attrNameLst>
                                          <p:attrName>style.visibility</p:attrName>
                                        </p:attrNameLst>
                                      </p:cBhvr>
                                      <p:to>
                                        <p:strVal val="visible"/>
                                      </p:to>
                                    </p:set>
                                    <p:animEffect transition="in" filter="fade">
                                      <p:cBhvr>
                                        <p:cTn id="153" dur="550"/>
                                        <p:tgtEl>
                                          <p:spTgt spid="44"/>
                                        </p:tgtEl>
                                      </p:cBhvr>
                                    </p:animEffect>
                                    <p:anim calcmode="lin" valueType="num">
                                      <p:cBhvr additive="base">
                                        <p:cTn id="154" dur="550" fill="hold"/>
                                        <p:tgtEl>
                                          <p:spTgt spid="44"/>
                                        </p:tgtEl>
                                        <p:attrNameLst>
                                          <p:attrName>ppt_x</p:attrName>
                                        </p:attrNameLst>
                                      </p:cBhvr>
                                      <p:tavLst>
                                        <p:tav tm="0">
                                          <p:val>
                                            <p:strVal val="#ppt_x"/>
                                          </p:val>
                                        </p:tav>
                                        <p:tav tm="100000">
                                          <p:val>
                                            <p:strVal val="#ppt_x"/>
                                          </p:val>
                                        </p:tav>
                                      </p:tavLst>
                                    </p:anim>
                                    <p:anim calcmode="lin" valueType="num">
                                      <p:cBhvr additive="base">
                                        <p:cTn id="155" dur="550" fill="hold"/>
                                        <p:tgtEl>
                                          <p:spTgt spid="4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b5f07f34d86cac18.jpg"/>
          <p:cNvPicPr>
            <a:picLocks noChangeAspect="1"/>
          </p:cNvPicPr>
          <p:nvPr/>
        </p:nvPicPr>
        <p:blipFill>
          <a:blip r:embed="rId2"/>
          <a:srcRect l="12260" r="12260"/>
          <a:stretch>
            <a:fillRect/>
          </a:stretch>
        </p:blipFill>
        <p:spPr>
          <a:xfrm>
            <a:off x="6300000" y="800000"/>
            <a:ext cx="5300000" cy="4950000"/>
          </a:xfrm>
          <a:prstGeom prst="roundRect">
            <a:avLst/>
          </a:prstGeom>
          <a:ln w="19050">
            <a:solidFill>
              <a:srgbClr val="22D3EE"/>
            </a:solidFill>
          </a:ln>
        </p:spPr>
      </p:pic>
      <p:sp>
        <p:nvSpPr>
          <p:cNvPr id="39" name="TextBox 38"/>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AlgoHolic · Wikimedia Commons · CC BY-SA 4.0</a:t>
            </a:r>
          </a:p>
        </p:txBody>
      </p:sp>
      <p:sp>
        <p:nvSpPr>
          <p:cNvPr id="40" name="TextBox 39"/>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1" name="TextBox 40"/>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2" name="TextBox 41"/>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Sonli formatlar va aralash aniqlik (mixed precision) hisoblash</a:t>
            </a:r>
          </a:p>
        </p:txBody>
      </p:sp>
      <p:sp>
        <p:nvSpPr>
          <p:cNvPr id="43" name="Rectangle 42"/>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150"/>
                            </p:stCondLst>
                            <p:childTnLst>
                              <p:par>
                                <p:cTn id="140" presetID="53" presetClass="entr" presetSubtype="16"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anim calcmode="lin" valueType="num">
                                      <p:cBhvr additive="base">
                                        <p:cTn id="143" dur="550" fill="hold"/>
                                        <p:tgtEl>
                                          <p:spTgt spid="37"/>
                                        </p:tgtEl>
                                        <p:attrNameLst>
                                          <p:attrName>ppt_w</p:attrName>
                                        </p:attrNameLst>
                                      </p:cBhvr>
                                      <p:tavLst>
                                        <p:tav tm="0">
                                          <p:val>
                                            <p:strVal val="0"/>
                                          </p:val>
                                        </p:tav>
                                        <p:tav tm="100000">
                                          <p:val>
                                            <p:strVal val="#ppt_w"/>
                                          </p:val>
                                        </p:tav>
                                      </p:tavLst>
                                    </p:anim>
                                    <p:anim calcmode="lin" valueType="num">
                                      <p:cBhvr additive="base">
                                        <p:cTn id="144" dur="550" fill="hold"/>
                                        <p:tgtEl>
                                          <p:spTgt spid="37"/>
                                        </p:tgtEl>
                                        <p:attrNameLst>
                                          <p:attrName>ppt_h</p:attrName>
                                        </p:attrNameLst>
                                      </p:cBhvr>
                                      <p:tavLst>
                                        <p:tav tm="0">
                                          <p:val>
                                            <p:strVal val="0"/>
                                          </p:val>
                                        </p:tav>
                                        <p:tav tm="100000">
                                          <p:val>
                                            <p:strVal val="#ppt_h"/>
                                          </p:val>
                                        </p:tav>
                                      </p:tavLst>
                                    </p:anim>
                                  </p:childTnLst>
                                </p:cTn>
                              </p:par>
                            </p:childTnLst>
                          </p:cTn>
                        </p:par>
                        <p:par>
                          <p:cTn id="145" fill="hold">
                            <p:stCondLst>
                              <p:cond delay="150"/>
                            </p:stCondLst>
                            <p:childTnLst>
                              <p:par>
                                <p:cTn id="146" presetID="53" presetClass="entr" presetSubtype="16" fill="hold" grpId="0" nodeType="afterEffect">
                                  <p:stCondLst>
                                    <p:cond delay="0"/>
                                  </p:stCondLst>
                                  <p:childTnLst>
                                    <p:set>
                                      <p:cBhvr>
                                        <p:cTn id="147" dur="1" fill="hold">
                                          <p:stCondLst>
                                            <p:cond delay="0"/>
                                          </p:stCondLst>
                                        </p:cTn>
                                        <p:tgtEl>
                                          <p:spTgt spid="38"/>
                                        </p:tgtEl>
                                        <p:attrNameLst>
                                          <p:attrName>style.visibility</p:attrName>
                                        </p:attrNameLst>
                                      </p:cBhvr>
                                      <p:to>
                                        <p:strVal val="visible"/>
                                      </p:to>
                                    </p:set>
                                    <p:animEffect transition="in" filter="fade">
                                      <p:cBhvr>
                                        <p:cTn id="148" dur="550"/>
                                        <p:tgtEl>
                                          <p:spTgt spid="38"/>
                                        </p:tgtEl>
                                      </p:cBhvr>
                                    </p:animEffect>
                                    <p:anim calcmode="lin" valueType="num">
                                      <p:cBhvr additive="base">
                                        <p:cTn id="149" dur="550" fill="hold"/>
                                        <p:tgtEl>
                                          <p:spTgt spid="38"/>
                                        </p:tgtEl>
                                        <p:attrNameLst>
                                          <p:attrName>ppt_w</p:attrName>
                                        </p:attrNameLst>
                                      </p:cBhvr>
                                      <p:tavLst>
                                        <p:tav tm="0">
                                          <p:val>
                                            <p:strVal val="0"/>
                                          </p:val>
                                        </p:tav>
                                        <p:tav tm="100000">
                                          <p:val>
                                            <p:strVal val="#ppt_w"/>
                                          </p:val>
                                        </p:tav>
                                      </p:tavLst>
                                    </p:anim>
                                    <p:anim calcmode="lin" valueType="num">
                                      <p:cBhvr additive="base">
                                        <p:cTn id="150" dur="550" fill="hold"/>
                                        <p:tgtEl>
                                          <p:spTgt spid="38"/>
                                        </p:tgtEl>
                                        <p:attrNameLst>
                                          <p:attrName>ppt_h</p:attrName>
                                        </p:attrNameLst>
                                      </p:cBhvr>
                                      <p:tavLst>
                                        <p:tav tm="0">
                                          <p:val>
                                            <p:strVal val="0"/>
                                          </p:val>
                                        </p:tav>
                                        <p:tav tm="100000">
                                          <p:val>
                                            <p:strVal val="#ppt_h"/>
                                          </p:val>
                                        </p:tav>
                                      </p:tavLst>
                                    </p:anim>
                                  </p:childTnLst>
                                </p:cTn>
                              </p:par>
                            </p:childTnLst>
                          </p:cTn>
                        </p:par>
                        <p:par>
                          <p:cTn id="151" fill="hold">
                            <p:stCondLst>
                              <p:cond delay="150"/>
                            </p:stCondLst>
                            <p:childTnLst>
                              <p:par>
                                <p:cTn id="152" presetID="10" presetClass="entr" presetSubtype="0"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childTnLst>
                                </p:cTn>
                              </p:par>
                            </p:childTnLst>
                          </p:cTn>
                        </p:par>
                        <p:par>
                          <p:cTn id="155" fill="hold">
                            <p:stCondLst>
                              <p:cond delay="350"/>
                            </p:stCondLst>
                            <p:childTnLst>
                              <p:par>
                                <p:cTn id="156" presetID="53" presetClass="entr" presetSubtype="16"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anim calcmode="lin" valueType="num">
                                      <p:cBhvr additive="base">
                                        <p:cTn id="159" dur="550" fill="hold"/>
                                        <p:tgtEl>
                                          <p:spTgt spid="40"/>
                                        </p:tgtEl>
                                        <p:attrNameLst>
                                          <p:attrName>ppt_w</p:attrName>
                                        </p:attrNameLst>
                                      </p:cBhvr>
                                      <p:tavLst>
                                        <p:tav tm="0">
                                          <p:val>
                                            <p:strVal val="0"/>
                                          </p:val>
                                        </p:tav>
                                        <p:tav tm="100000">
                                          <p:val>
                                            <p:strVal val="#ppt_w"/>
                                          </p:val>
                                        </p:tav>
                                      </p:tavLst>
                                    </p:anim>
                                    <p:anim calcmode="lin" valueType="num">
                                      <p:cBhvr additive="base">
                                        <p:cTn id="160" dur="550" fill="hold"/>
                                        <p:tgtEl>
                                          <p:spTgt spid="40"/>
                                        </p:tgtEl>
                                        <p:attrNameLst>
                                          <p:attrName>ppt_h</p:attrName>
                                        </p:attrNameLst>
                                      </p:cBhvr>
                                      <p:tavLst>
                                        <p:tav tm="0">
                                          <p:val>
                                            <p:strVal val="0"/>
                                          </p:val>
                                        </p:tav>
                                        <p:tav tm="100000">
                                          <p:val>
                                            <p:strVal val="#ppt_h"/>
                                          </p:val>
                                        </p:tav>
                                      </p:tavLst>
                                    </p:anim>
                                  </p:childTnLst>
                                </p:cTn>
                              </p:par>
                            </p:childTnLst>
                          </p:cTn>
                        </p:par>
                        <p:par>
                          <p:cTn id="161" fill="hold">
                            <p:stCondLst>
                              <p:cond delay="450"/>
                            </p:stCondLst>
                            <p:childTnLst>
                              <p:par>
                                <p:cTn id="162" presetID="10" presetClass="entr" presetSubtype="0"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Effect transition="in" filter="fade">
                                      <p:cBhvr>
                                        <p:cTn id="164" dur="550"/>
                                        <p:tgtEl>
                                          <p:spTgt spid="41"/>
                                        </p:tgtEl>
                                      </p:cBhvr>
                                    </p:animEffect>
                                  </p:childTnLst>
                                </p:cTn>
                              </p:par>
                            </p:childTnLst>
                          </p:cTn>
                        </p:par>
                        <p:par>
                          <p:cTn id="165" fill="hold">
                            <p:stCondLst>
                              <p:cond delay="550"/>
                            </p:stCondLst>
                            <p:childTnLst>
                              <p:par>
                                <p:cTn id="166" presetID="2" presetClass="entr" presetSubtype="8"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 calcmode="lin" valueType="num">
                                      <p:cBhvr additive="base">
                                        <p:cTn id="169" dur="550" fill="hold"/>
                                        <p:tgtEl>
                                          <p:spTgt spid="42"/>
                                        </p:tgtEl>
                                        <p:attrNameLst>
                                          <p:attrName>ppt_x</p:attrName>
                                        </p:attrNameLst>
                                      </p:cBhvr>
                                      <p:tavLst>
                                        <p:tav tm="0">
                                          <p:val>
                                            <p:strVal val="0-#ppt_w/2"/>
                                          </p:val>
                                        </p:tav>
                                        <p:tav tm="100000">
                                          <p:val>
                                            <p:strVal val="#ppt_x"/>
                                          </p:val>
                                        </p:tav>
                                      </p:tavLst>
                                    </p:anim>
                                    <p:anim calcmode="lin" valueType="num">
                                      <p:cBhvr additive="base">
                                        <p:cTn id="170" dur="550" fill="hold"/>
                                        <p:tgtEl>
                                          <p:spTgt spid="42"/>
                                        </p:tgtEl>
                                        <p:attrNameLst>
                                          <p:attrName>ppt_y</p:attrName>
                                        </p:attrNameLst>
                                      </p:cBhvr>
                                      <p:tavLst>
                                        <p:tav tm="0">
                                          <p:val>
                                            <p:strVal val="#ppt_y"/>
                                          </p:val>
                                        </p:tav>
                                        <p:tav tm="100000">
                                          <p:val>
                                            <p:strVal val="#ppt_y"/>
                                          </p:val>
                                        </p:tav>
                                      </p:tavLst>
                                    </p:anim>
                                  </p:childTnLst>
                                </p:cTn>
                              </p:par>
                            </p:childTnLst>
                          </p:cTn>
                        </p:par>
                        <p:par>
                          <p:cTn id="171" fill="hold">
                            <p:stCondLst>
                              <p:cond delay="650"/>
                            </p:stCondLst>
                            <p:childTnLst>
                              <p:par>
                                <p:cTn id="172" presetID="22" presetClass="entr" presetSubtype="8" fill="hold" grpId="0" nodeType="afterEffect">
                                  <p:stCondLst>
                                    <p:cond delay="0"/>
                                  </p:stCondLst>
                                  <p:childTnLst>
                                    <p:set>
                                      <p:cBhvr>
                                        <p:cTn id="173" dur="1" fill="hold">
                                          <p:stCondLst>
                                            <p:cond delay="0"/>
                                          </p:stCondLst>
                                        </p:cTn>
                                        <p:tgtEl>
                                          <p:spTgt spid="43"/>
                                        </p:tgtEl>
                                        <p:attrNameLst>
                                          <p:attrName>style.visibility</p:attrName>
                                        </p:attrNameLst>
                                      </p:cBhvr>
                                      <p:to>
                                        <p:strVal val="visible"/>
                                      </p:to>
                                    </p:set>
                                    <p:animEffect transition="in" filter="wipe(left)">
                                      <p:cBhvr>
                                        <p:cTn id="175" dur="8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1" grpId="0" animBg="1"/>
      <p:bldP spid="42" grpId="0" animBg="1"/>
      <p:bldP spid="43"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Sonli formatlar va aralash aniqlik (mixed precision) hisoblash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5cc156e1755d88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GALAXY 2018 A7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3088552"/>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168552"/>
            <a:ext cx="50000" cy="124289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3128552"/>
            <a:ext cx="5900000" cy="1322896"/>
          </a:xfrm>
          <a:prstGeom prst="rect">
            <a:avLst/>
          </a:prstGeom>
          <a:noFill/>
        </p:spPr>
        <p:txBody>
          <a:bodyPr wrap="square" anchor="ctr">
            <a:spAutoFit/>
          </a:bodyPr>
          <a:lstStyle/>
          <a:p>
            <a:r>
              <a:rPr sz="1700" b="1">
                <a:solidFill>
                  <a:srgbClr val="E8EEFA"/>
                </a:solidFill>
                <a:latin typeface="Segoe UI"/>
              </a:rPr>
              <a:t>Suzuvchi nuqtali son uchta qismdan iborat: ishora biti, eksponenta (diapazonni belgilaydi) va mantissa (aniqlikni belgilaydi).</a:t>
            </a:r>
          </a:p>
          <a:p>
            <a:pPr>
              <a:spcBef>
                <a:spcPts val="400"/>
              </a:spcBef>
            </a:pPr>
            <a:r>
              <a:rPr sz="1600">
                <a:solidFill>
                  <a:srgbClr val="AEBBD9"/>
                </a:solidFill>
                <a:latin typeface="Segoe UI"/>
              </a:rPr>
              <a:t>Formatlar aynan shu bitlarni turlicha taqsimlaydi: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Sonli formatlar va aralash aniqlik (mixed precision) hisoblash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f6c7780a9e8da9fd.jpg"/>
          <p:cNvPicPr>
            <a:picLocks noChangeAspect="1"/>
          </p:cNvPicPr>
          <p:nvPr/>
        </p:nvPicPr>
        <p:blipFill>
          <a:blip r:embed="rId2"/>
          <a:srcRect l="15233" r="15233"/>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Mister rf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FP16 va BF16 o'rtasidagi farq o'qitish uchun hal qiluvchi: FP16 aniqroq (10 bit mantissa), lekin diapazoni tor — 6e−8 dan kichik qiymatlar nolga aylanadi (underflow), 65504 dan kattasi cheksizlikka (overflow).</a:t>
            </a:r>
          </a:p>
          <a:p>
            <a:pPr>
              <a:spcBef>
                <a:spcPts val="400"/>
              </a:spcBef>
            </a:pPr>
            <a:r>
              <a:rPr sz="1400">
                <a:solidFill>
                  <a:srgbClr val="AEBBD9"/>
                </a:solidFill>
                <a:latin typeface="Segoe UI"/>
              </a:rPr>
              <a:t>Chuqur tarmoq gradientlari ko'pincha 1e−8…1e−5 oralig'ida bo'ladi va FP16'da yo'qoladi. BF16 esa FP32 bilan bir xil eksponentaga ega — diapazon muammosi yo'q, lekin aniqligi pastroq; amaliyotda bu o'qitish uchun yetarli bo'lib chiqdi, shuning uchun zamonaviy katta modellar deyarli faqat BF16'da o'qitiladi.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Sonli formatlar va aralash aniqlik (mixed precision) hisoblash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460b1c4521cd96c5.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Ragesoss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607432"/>
            <a:ext cx="50000" cy="2047568"/>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43121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1567432"/>
            <a:ext cx="5900000" cy="2127568"/>
          </a:xfrm>
          <a:prstGeom prst="rect">
            <a:avLst/>
          </a:prstGeom>
          <a:noFill/>
        </p:spPr>
        <p:txBody>
          <a:bodyPr wrap="square" anchor="ctr">
            <a:spAutoFit/>
          </a:bodyPr>
          <a:lstStyle/>
          <a:p>
            <a:r>
              <a:rPr sz="1400" b="0">
                <a:solidFill>
                  <a:srgbClr val="E8EEFA"/>
                </a:solidFill>
                <a:latin typeface="Segoe UI"/>
              </a:rPr>
              <a:t>Aralash aniqlik (mixed precision) o'qitish g'oyasi (Micikevicius va boshq., 2018): og'ir matritsa ko'paytmalari va konvolyutsiyalar FP16/BF16'da Tensor Core'da bajariladi, lekin og'irliklarning asosiy nusxasi (master weights) FP32'da saqlanadi va yangilanadi…</a:t>
            </a:r>
          </a:p>
        </p:txBody>
      </p:sp>
      <p:sp>
        <p:nvSpPr>
          <p:cNvPr id="33" name="Rounded Rectangle 32"/>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204756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748784"/>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6" name="TextBox 35"/>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FP16 uchun qo'shimcha mexanizm — yo'qotish masshtablash (loss scaling): yo'qotish funksiyasi katta songa (masalan, 2^16) ko'paytiriladi, gradientlar shu songa proporsional kattalashadi va FP16 diapazoniga sig'adi, og'irlik yangilashdan oldin esa qayta…</a:t>
            </a:r>
          </a:p>
          <a:p>
            <a:pPr>
              <a:spcBef>
                <a:spcPts val="400"/>
              </a:spcBef>
            </a:pPr>
            <a:r>
              <a:rPr sz="1400">
                <a:solidFill>
                  <a:srgbClr val="AEBBD9"/>
                </a:solidFill>
                <a:latin typeface="Segoe UI"/>
              </a:rPr>
              <a:t>BF16'da loss scaling odatda kerak emas. PyTorch'da bularning barchasi torch.autocast va torch.cuda.amp.GradScaler orqali avtomatlashtirilgan [7].</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Sonli formatlar va aralash aniqlik (mixed precision) hisoblash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7</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741544"/>
            <a:ext cx="50000" cy="191345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498272"/>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2" name="TextBox 31"/>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Tensor Core'da FP16/BF16 matmul FP32'ga qaraganda nazariy 8–16 baravar tez (A100: 19,5 TFLOPS FP32 vs 312 TFLOPS FP16 Tensor Core), amaliy tezlashish esa butun o'qitish sikli uchun 1,5–3 baravar, chunki hamma operatsiya ham matmul emas va xotira trafigi ham…</a:t>
            </a:r>
          </a:p>
          <a:p>
            <a:pPr>
              <a:spcBef>
                <a:spcPts val="400"/>
              </a:spcBef>
            </a:pPr>
            <a:r>
              <a:rPr sz="1300">
                <a:solidFill>
                  <a:srgbClr val="AEBBD9"/>
                </a:solidFill>
                <a:latin typeface="Segoe UI"/>
              </a:rPr>
              <a:t>TF32 esa «bepul» yaxshilanish: kod o'zgarmaydi, FP32 matmul avtomatik 10-bitli mantissa bilan Tensor Core'da bajariladi (PyTorch'da torch.backends.cuda.matmul.allow_tf32).</a:t>
            </a:r>
          </a:p>
        </p:txBody>
      </p:sp>
      <p:sp>
        <p:nvSpPr>
          <p:cNvPr id="33" name="Rounded Rectangle 32"/>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913456"/>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681728"/>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6" name="TextBox 35"/>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FP8 — Hopper avlodidan boshlab o'qitish uchun ham ishlatilmoqda (Transformer Engine kutubxonasi): oldinga o'tishda E4M3, gradientlar uchun E5M2, har tensor uchun dinamik masshtab bilan.</a:t>
            </a:r>
          </a:p>
          <a:p>
            <a:pPr>
              <a:spcBef>
                <a:spcPts val="400"/>
              </a:spcBef>
            </a:pPr>
            <a:r>
              <a:rPr sz="1300">
                <a:solidFill>
                  <a:srgbClr val="AEBBD9"/>
                </a:solidFill>
                <a:latin typeface="Segoe UI"/>
              </a:rPr>
              <a:t>Bu Tensor Core unumdorligini yana ikki baravar oshiradi, lekin barqarorlik uchun ehtiyotkor sozlash talab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Sonli formatlar va aralash aniqlik (mixed precision) hisoblash</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graphicFrame>
        <p:nvGraphicFramePr>
          <p:cNvPr id="26" name="Table 25"/>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1850000"/>
                <a:gridCol w="1850000"/>
                <a:gridCol w="1850000"/>
                <a:gridCol w="1850000"/>
                <a:gridCol w="1850000"/>
                <a:gridCol w="1850000"/>
              </a:tblGrid>
              <a:tr h="520000">
                <a:tc>
                  <a:txBody>
                    <a:bodyPr/>
                    <a:lstStyle/>
                    <a:p>
                      <a:r>
                        <a:rPr sz="1400" b="1">
                          <a:solidFill>
                            <a:srgbClr val="22D3EE"/>
                          </a:solidFill>
                          <a:latin typeface="Segoe UI"/>
                        </a:rPr>
                        <a:t>Format</a:t>
                      </a:r>
                    </a:p>
                  </a:txBody>
                  <a:tcPr>
                    <a:solidFill>
                      <a:srgbClr val="1C2755"/>
                    </a:solidFill>
                  </a:tcPr>
                </a:tc>
                <a:tc>
                  <a:txBody>
                    <a:bodyPr/>
                    <a:lstStyle/>
                    <a:p>
                      <a:r>
                        <a:rPr sz="1400" b="1">
                          <a:solidFill>
                            <a:srgbClr val="22D3EE"/>
                          </a:solidFill>
                          <a:latin typeface="Segoe UI"/>
                        </a:rPr>
                        <a:t>Jami bit</a:t>
                      </a:r>
                    </a:p>
                  </a:txBody>
                  <a:tcPr>
                    <a:solidFill>
                      <a:srgbClr val="1C2755"/>
                    </a:solidFill>
                  </a:tcPr>
                </a:tc>
                <a:tc>
                  <a:txBody>
                    <a:bodyPr/>
                    <a:lstStyle/>
                    <a:p>
                      <a:r>
                        <a:rPr sz="1400" b="1">
                          <a:solidFill>
                            <a:srgbClr val="22D3EE"/>
                          </a:solidFill>
                          <a:latin typeface="Segoe UI"/>
                        </a:rPr>
                        <a:t>Eksponenta</a:t>
                      </a:r>
                    </a:p>
                  </a:txBody>
                  <a:tcPr>
                    <a:solidFill>
                      <a:srgbClr val="1C2755"/>
                    </a:solidFill>
                  </a:tcPr>
                </a:tc>
                <a:tc>
                  <a:txBody>
                    <a:bodyPr/>
                    <a:lstStyle/>
                    <a:p>
                      <a:r>
                        <a:rPr sz="1400" b="1">
                          <a:solidFill>
                            <a:srgbClr val="22D3EE"/>
                          </a:solidFill>
                          <a:latin typeface="Segoe UI"/>
                        </a:rPr>
                        <a:t>Mantissa</a:t>
                      </a:r>
                    </a:p>
                  </a:txBody>
                  <a:tcPr>
                    <a:solidFill>
                      <a:srgbClr val="1C2755"/>
                    </a:solidFill>
                  </a:tcPr>
                </a:tc>
                <a:tc>
                  <a:txBody>
                    <a:bodyPr/>
                    <a:lstStyle/>
                    <a:p>
                      <a:r>
                        <a:rPr sz="1400" b="1">
                          <a:solidFill>
                            <a:srgbClr val="22D3EE"/>
                          </a:solidFill>
                          <a:latin typeface="Segoe UI"/>
                        </a:rPr>
                        <a:t>Taxminiy diapazon</a:t>
                      </a:r>
                    </a:p>
                  </a:txBody>
                  <a:tcPr>
                    <a:solidFill>
                      <a:srgbClr val="1C2755"/>
                    </a:solidFill>
                  </a:tcPr>
                </a:tc>
                <a:tc>
                  <a:txBody>
                    <a:bodyPr/>
                    <a:lstStyle/>
                    <a:p>
                      <a:r>
                        <a:rPr sz="1400" b="1">
                          <a:solidFill>
                            <a:srgbClr val="22D3EE"/>
                          </a:solidFill>
                          <a:latin typeface="Segoe UI"/>
                        </a:rPr>
                        <a:t>O'nli aniqlik</a:t>
                      </a:r>
                    </a:p>
                  </a:txBody>
                  <a:tcPr>
                    <a:solidFill>
                      <a:srgbClr val="1C2755"/>
                    </a:solidFill>
                  </a:tcPr>
                </a:tc>
              </a:tr>
              <a:tr h="520000">
                <a:tc>
                  <a:txBody>
                    <a:bodyPr/>
                    <a:lstStyle/>
                    <a:p>
                      <a:r>
                        <a:rPr sz="1400" b="0">
                          <a:solidFill>
                            <a:srgbClr val="E8EEFA"/>
                          </a:solidFill>
                          <a:latin typeface="Segoe UI"/>
                        </a:rPr>
                        <a:t>FP32</a:t>
                      </a:r>
                    </a:p>
                  </a:txBody>
                  <a:tcPr>
                    <a:solidFill>
                      <a:srgbClr val="111834"/>
                    </a:solidFill>
                  </a:tcPr>
                </a:tc>
                <a:tc>
                  <a:txBody>
                    <a:bodyPr/>
                    <a:lstStyle/>
                    <a:p>
                      <a:r>
                        <a:rPr sz="1400" b="0">
                          <a:solidFill>
                            <a:srgbClr val="E8EEFA"/>
                          </a:solidFill>
                          <a:latin typeface="Segoe UI"/>
                        </a:rPr>
                        <a:t>32</a:t>
                      </a:r>
                    </a:p>
                  </a:txBody>
                  <a:tcPr>
                    <a:solidFill>
                      <a:srgbClr val="111834"/>
                    </a:solidFill>
                  </a:tcPr>
                </a:tc>
                <a:tc>
                  <a:txBody>
                    <a:bodyPr/>
                    <a:lstStyle/>
                    <a:p>
                      <a:r>
                        <a:rPr sz="1400" b="0">
                          <a:solidFill>
                            <a:srgbClr val="E8EEFA"/>
                          </a:solidFill>
                          <a:latin typeface="Segoe UI"/>
                        </a:rPr>
                        <a:t>8</a:t>
                      </a:r>
                    </a:p>
                  </a:txBody>
                  <a:tcPr>
                    <a:solidFill>
                      <a:srgbClr val="111834"/>
                    </a:solidFill>
                  </a:tcPr>
                </a:tc>
                <a:tc>
                  <a:txBody>
                    <a:bodyPr/>
                    <a:lstStyle/>
                    <a:p>
                      <a:r>
                        <a:rPr sz="1400" b="0">
                          <a:solidFill>
                            <a:srgbClr val="E8EEFA"/>
                          </a:solidFill>
                          <a:latin typeface="Segoe UI"/>
                        </a:rPr>
                        <a:t>23</a:t>
                      </a:r>
                    </a:p>
                  </a:txBody>
                  <a:tcPr>
                    <a:solidFill>
                      <a:srgbClr val="111834"/>
                    </a:solidFill>
                  </a:tcPr>
                </a:tc>
                <a:tc>
                  <a:txBody>
                    <a:bodyPr/>
                    <a:lstStyle/>
                    <a:p>
                      <a:r>
                        <a:rPr sz="1400" b="0">
                          <a:solidFill>
                            <a:srgbClr val="E8EEFA"/>
                          </a:solidFill>
                          <a:latin typeface="Segoe UI"/>
                        </a:rPr>
                        <a:t>±3,4e38</a:t>
                      </a:r>
                    </a:p>
                  </a:txBody>
                  <a:tcPr>
                    <a:solidFill>
                      <a:srgbClr val="111834"/>
                    </a:solidFill>
                  </a:tcPr>
                </a:tc>
                <a:tc>
                  <a:txBody>
                    <a:bodyPr/>
                    <a:lstStyle/>
                    <a:p>
                      <a:r>
                        <a:rPr sz="1400" b="0">
                          <a:solidFill>
                            <a:srgbClr val="E8EEFA"/>
                          </a:solidFill>
                          <a:latin typeface="Segoe UI"/>
                        </a:rPr>
                        <a:t>~7 raqam</a:t>
                      </a:r>
                    </a:p>
                  </a:txBody>
                  <a:tcPr>
                    <a:solidFill>
                      <a:srgbClr val="111834"/>
                    </a:solidFill>
                  </a:tcPr>
                </a:tc>
              </a:tr>
              <a:tr h="520000">
                <a:tc>
                  <a:txBody>
                    <a:bodyPr/>
                    <a:lstStyle/>
                    <a:p>
                      <a:r>
                        <a:rPr sz="1400" b="0">
                          <a:solidFill>
                            <a:srgbClr val="E8EEFA"/>
                          </a:solidFill>
                          <a:latin typeface="Segoe UI"/>
                        </a:rPr>
                        <a:t>TF32</a:t>
                      </a:r>
                    </a:p>
                  </a:txBody>
                  <a:tcPr>
                    <a:solidFill>
                      <a:srgbClr val="161F40"/>
                    </a:solidFill>
                  </a:tcPr>
                </a:tc>
                <a:tc>
                  <a:txBody>
                    <a:bodyPr/>
                    <a:lstStyle/>
                    <a:p>
                      <a:r>
                        <a:rPr sz="1400" b="0">
                          <a:solidFill>
                            <a:srgbClr val="E8EEFA"/>
                          </a:solidFill>
                          <a:latin typeface="Segoe UI"/>
                        </a:rPr>
                        <a:t>19 (32 saqlanadi)</a:t>
                      </a:r>
                    </a:p>
                  </a:txBody>
                  <a:tcPr>
                    <a:solidFill>
                      <a:srgbClr val="161F40"/>
                    </a:solidFill>
                  </a:tcPr>
                </a:tc>
                <a:tc>
                  <a:txBody>
                    <a:bodyPr/>
                    <a:lstStyle/>
                    <a:p>
                      <a:r>
                        <a:rPr sz="1400" b="0">
                          <a:solidFill>
                            <a:srgbClr val="E8EEFA"/>
                          </a:solidFill>
                          <a:latin typeface="Segoe UI"/>
                        </a:rPr>
                        <a:t>8</a:t>
                      </a:r>
                    </a:p>
                  </a:txBody>
                  <a:tcPr>
                    <a:solidFill>
                      <a:srgbClr val="161F40"/>
                    </a:solidFill>
                  </a:tcPr>
                </a:tc>
                <a:tc>
                  <a:txBody>
                    <a:bodyPr/>
                    <a:lstStyle/>
                    <a:p>
                      <a:r>
                        <a:rPr sz="1400" b="0">
                          <a:solidFill>
                            <a:srgbClr val="E8EEFA"/>
                          </a:solidFill>
                          <a:latin typeface="Segoe UI"/>
                        </a:rPr>
                        <a:t>10</a:t>
                      </a:r>
                    </a:p>
                  </a:txBody>
                  <a:tcPr>
                    <a:solidFill>
                      <a:srgbClr val="161F40"/>
                    </a:solidFill>
                  </a:tcPr>
                </a:tc>
                <a:tc>
                  <a:txBody>
                    <a:bodyPr/>
                    <a:lstStyle/>
                    <a:p>
                      <a:r>
                        <a:rPr sz="1400" b="0">
                          <a:solidFill>
                            <a:srgbClr val="E8EEFA"/>
                          </a:solidFill>
                          <a:latin typeface="Segoe UI"/>
                        </a:rPr>
                        <a:t>±3,4e38</a:t>
                      </a:r>
                    </a:p>
                  </a:txBody>
                  <a:tcPr>
                    <a:solidFill>
                      <a:srgbClr val="161F40"/>
                    </a:solidFill>
                  </a:tcPr>
                </a:tc>
                <a:tc>
                  <a:txBody>
                    <a:bodyPr/>
                    <a:lstStyle/>
                    <a:p>
                      <a:r>
                        <a:rPr sz="1400" b="0">
                          <a:solidFill>
                            <a:srgbClr val="E8EEFA"/>
                          </a:solidFill>
                          <a:latin typeface="Segoe UI"/>
                        </a:rPr>
                        <a:t>~3 raqam</a:t>
                      </a:r>
                    </a:p>
                  </a:txBody>
                  <a:tcPr>
                    <a:solidFill>
                      <a:srgbClr val="161F40"/>
                    </a:solidFill>
                  </a:tcPr>
                </a:tc>
              </a:tr>
              <a:tr h="520000">
                <a:tc>
                  <a:txBody>
                    <a:bodyPr/>
                    <a:lstStyle/>
                    <a:p>
                      <a:r>
                        <a:rPr sz="1400" b="0">
                          <a:solidFill>
                            <a:srgbClr val="E8EEFA"/>
                          </a:solidFill>
                          <a:latin typeface="Segoe UI"/>
                        </a:rPr>
                        <a:t>FP16</a:t>
                      </a:r>
                    </a:p>
                  </a:txBody>
                  <a:tcPr>
                    <a:solidFill>
                      <a:srgbClr val="111834"/>
                    </a:solidFill>
                  </a:tcPr>
                </a:tc>
                <a:tc>
                  <a:txBody>
                    <a:bodyPr/>
                    <a:lstStyle/>
                    <a:p>
                      <a:r>
                        <a:rPr sz="1400" b="0">
                          <a:solidFill>
                            <a:srgbClr val="E8EEFA"/>
                          </a:solidFill>
                          <a:latin typeface="Segoe UI"/>
                        </a:rPr>
                        <a:t>16</a:t>
                      </a:r>
                    </a:p>
                  </a:txBody>
                  <a:tcPr>
                    <a:solidFill>
                      <a:srgbClr val="111834"/>
                    </a:solidFill>
                  </a:tcPr>
                </a:tc>
                <a:tc>
                  <a:txBody>
                    <a:bodyPr/>
                    <a:lstStyle/>
                    <a:p>
                      <a:r>
                        <a:rPr sz="1400" b="0">
                          <a:solidFill>
                            <a:srgbClr val="E8EEFA"/>
                          </a:solidFill>
                          <a:latin typeface="Segoe UI"/>
                        </a:rPr>
                        <a:t>5</a:t>
                      </a:r>
                    </a:p>
                  </a:txBody>
                  <a:tcPr>
                    <a:solidFill>
                      <a:srgbClr val="111834"/>
                    </a:solidFill>
                  </a:tcPr>
                </a:tc>
                <a:tc>
                  <a:txBody>
                    <a:bodyPr/>
                    <a:lstStyle/>
                    <a:p>
                      <a:r>
                        <a:rPr sz="1400" b="0">
                          <a:solidFill>
                            <a:srgbClr val="E8EEFA"/>
                          </a:solidFill>
                          <a:latin typeface="Segoe UI"/>
                        </a:rPr>
                        <a:t>10</a:t>
                      </a:r>
                    </a:p>
                  </a:txBody>
                  <a:tcPr>
                    <a:solidFill>
                      <a:srgbClr val="111834"/>
                    </a:solidFill>
                  </a:tcPr>
                </a:tc>
                <a:tc>
                  <a:txBody>
                    <a:bodyPr/>
                    <a:lstStyle/>
                    <a:p>
                      <a:r>
                        <a:rPr sz="1400" b="0">
                          <a:solidFill>
                            <a:srgbClr val="E8EEFA"/>
                          </a:solidFill>
                          <a:latin typeface="Segoe UI"/>
                        </a:rPr>
                        <a:t>±65504</a:t>
                      </a:r>
                    </a:p>
                  </a:txBody>
                  <a:tcPr>
                    <a:solidFill>
                      <a:srgbClr val="111834"/>
                    </a:solidFill>
                  </a:tcPr>
                </a:tc>
                <a:tc>
                  <a:txBody>
                    <a:bodyPr/>
                    <a:lstStyle/>
                    <a:p>
                      <a:r>
                        <a:rPr sz="1400" b="0">
                          <a:solidFill>
                            <a:srgbClr val="E8EEFA"/>
                          </a:solidFill>
                          <a:latin typeface="Segoe UI"/>
                        </a:rPr>
                        <a:t>~3 raqam</a:t>
                      </a:r>
                    </a:p>
                  </a:txBody>
                  <a:tcPr>
                    <a:solidFill>
                      <a:srgbClr val="111834"/>
                    </a:solidFill>
                  </a:tcPr>
                </a:tc>
              </a:tr>
              <a:tr h="520000">
                <a:tc>
                  <a:txBody>
                    <a:bodyPr/>
                    <a:lstStyle/>
                    <a:p>
                      <a:r>
                        <a:rPr sz="1400" b="0">
                          <a:solidFill>
                            <a:srgbClr val="E8EEFA"/>
                          </a:solidFill>
                          <a:latin typeface="Segoe UI"/>
                        </a:rPr>
                        <a:t>BF16</a:t>
                      </a:r>
                    </a:p>
                  </a:txBody>
                  <a:tcPr>
                    <a:solidFill>
                      <a:srgbClr val="161F40"/>
                    </a:solidFill>
                  </a:tcPr>
                </a:tc>
                <a:tc>
                  <a:txBody>
                    <a:bodyPr/>
                    <a:lstStyle/>
                    <a:p>
                      <a:r>
                        <a:rPr sz="1400" b="0">
                          <a:solidFill>
                            <a:srgbClr val="E8EEFA"/>
                          </a:solidFill>
                          <a:latin typeface="Segoe UI"/>
                        </a:rPr>
                        <a:t>16</a:t>
                      </a:r>
                    </a:p>
                  </a:txBody>
                  <a:tcPr>
                    <a:solidFill>
                      <a:srgbClr val="161F40"/>
                    </a:solidFill>
                  </a:tcPr>
                </a:tc>
                <a:tc>
                  <a:txBody>
                    <a:bodyPr/>
                    <a:lstStyle/>
                    <a:p>
                      <a:r>
                        <a:rPr sz="1400" b="0">
                          <a:solidFill>
                            <a:srgbClr val="E8EEFA"/>
                          </a:solidFill>
                          <a:latin typeface="Segoe UI"/>
                        </a:rPr>
                        <a:t>8</a:t>
                      </a:r>
                    </a:p>
                  </a:txBody>
                  <a:tcPr>
                    <a:solidFill>
                      <a:srgbClr val="161F40"/>
                    </a:solidFill>
                  </a:tcPr>
                </a:tc>
                <a:tc>
                  <a:txBody>
                    <a:bodyPr/>
                    <a:lstStyle/>
                    <a:p>
                      <a:r>
                        <a:rPr sz="1400" b="0">
                          <a:solidFill>
                            <a:srgbClr val="E8EEFA"/>
                          </a:solidFill>
                          <a:latin typeface="Segoe UI"/>
                        </a:rPr>
                        <a:t>7</a:t>
                      </a:r>
                    </a:p>
                  </a:txBody>
                  <a:tcPr>
                    <a:solidFill>
                      <a:srgbClr val="161F40"/>
                    </a:solidFill>
                  </a:tcPr>
                </a:tc>
                <a:tc>
                  <a:txBody>
                    <a:bodyPr/>
                    <a:lstStyle/>
                    <a:p>
                      <a:r>
                        <a:rPr sz="1400" b="0">
                          <a:solidFill>
                            <a:srgbClr val="E8EEFA"/>
                          </a:solidFill>
                          <a:latin typeface="Segoe UI"/>
                        </a:rPr>
                        <a:t>±3,4e38</a:t>
                      </a:r>
                    </a:p>
                  </a:txBody>
                  <a:tcPr>
                    <a:solidFill>
                      <a:srgbClr val="161F40"/>
                    </a:solidFill>
                  </a:tcPr>
                </a:tc>
                <a:tc>
                  <a:txBody>
                    <a:bodyPr/>
                    <a:lstStyle/>
                    <a:p>
                      <a:r>
                        <a:rPr sz="1400" b="0">
                          <a:solidFill>
                            <a:srgbClr val="E8EEFA"/>
                          </a:solidFill>
                          <a:latin typeface="Segoe UI"/>
                        </a:rPr>
                        <a:t>~2 raqam</a:t>
                      </a:r>
                    </a:p>
                  </a:txBody>
                  <a:tcPr>
                    <a:solidFill>
                      <a:srgbClr val="161F40"/>
                    </a:solidFill>
                  </a:tcPr>
                </a:tc>
              </a:tr>
              <a:tr h="520000">
                <a:tc>
                  <a:txBody>
                    <a:bodyPr/>
                    <a:lstStyle/>
                    <a:p>
                      <a:r>
                        <a:rPr sz="1400" b="0">
                          <a:solidFill>
                            <a:srgbClr val="E8EEFA"/>
                          </a:solidFill>
                          <a:latin typeface="Segoe UI"/>
                        </a:rPr>
                        <a:t>FP8 E4M3</a:t>
                      </a:r>
                    </a:p>
                  </a:txBody>
                  <a:tcPr>
                    <a:solidFill>
                      <a:srgbClr val="111834"/>
                    </a:solidFill>
                  </a:tcPr>
                </a:tc>
                <a:tc>
                  <a:txBody>
                    <a:bodyPr/>
                    <a:lstStyle/>
                    <a:p>
                      <a:r>
                        <a:rPr sz="1400" b="0">
                          <a:solidFill>
                            <a:srgbClr val="E8EEFA"/>
                          </a:solidFill>
                          <a:latin typeface="Segoe UI"/>
                        </a:rPr>
                        <a:t>8</a:t>
                      </a:r>
                    </a:p>
                  </a:txBody>
                  <a:tcPr>
                    <a:solidFill>
                      <a:srgbClr val="111834"/>
                    </a:solidFill>
                  </a:tcPr>
                </a:tc>
                <a:tc>
                  <a:txBody>
                    <a:bodyPr/>
                    <a:lstStyle/>
                    <a:p>
                      <a:r>
                        <a:rPr sz="1400" b="0">
                          <a:solidFill>
                            <a:srgbClr val="E8EEFA"/>
                          </a:solidFill>
                          <a:latin typeface="Segoe UI"/>
                        </a:rPr>
                        <a:t>4</a:t>
                      </a:r>
                    </a:p>
                  </a:txBody>
                  <a:tcPr>
                    <a:solidFill>
                      <a:srgbClr val="111834"/>
                    </a:solidFill>
                  </a:tcPr>
                </a:tc>
                <a:tc>
                  <a:txBody>
                    <a:bodyPr/>
                    <a:lstStyle/>
                    <a:p>
                      <a:r>
                        <a:rPr sz="1400" b="0">
                          <a:solidFill>
                            <a:srgbClr val="E8EEFA"/>
                          </a:solidFill>
                          <a:latin typeface="Segoe UI"/>
                        </a:rPr>
                        <a:t>3</a:t>
                      </a:r>
                    </a:p>
                  </a:txBody>
                  <a:tcPr>
                    <a:solidFill>
                      <a:srgbClr val="111834"/>
                    </a:solidFill>
                  </a:tcPr>
                </a:tc>
                <a:tc>
                  <a:txBody>
                    <a:bodyPr/>
                    <a:lstStyle/>
                    <a:p>
                      <a:r>
                        <a:rPr sz="1400" b="0">
                          <a:solidFill>
                            <a:srgbClr val="E8EEFA"/>
                          </a:solidFill>
                          <a:latin typeface="Segoe UI"/>
                        </a:rPr>
                        <a:t>±448</a:t>
                      </a:r>
                    </a:p>
                  </a:txBody>
                  <a:tcPr>
                    <a:solidFill>
                      <a:srgbClr val="111834"/>
                    </a:solidFill>
                  </a:tcPr>
                </a:tc>
                <a:tc>
                  <a:txBody>
                    <a:bodyPr/>
                    <a:lstStyle/>
                    <a:p>
                      <a:r>
                        <a:rPr sz="1400" b="0">
                          <a:solidFill>
                            <a:srgbClr val="E8EEFA"/>
                          </a:solidFill>
                          <a:latin typeface="Segoe UI"/>
                        </a:rPr>
                        <a:t>~1 raqam</a:t>
                      </a:r>
                    </a:p>
                  </a:txBody>
                  <a:tcPr>
                    <a:solidFill>
                      <a:srgbClr val="111834"/>
                    </a:solidFill>
                  </a:tcPr>
                </a:tc>
              </a:tr>
              <a:tr h="520000">
                <a:tc>
                  <a:txBody>
                    <a:bodyPr/>
                    <a:lstStyle/>
                    <a:p>
                      <a:r>
                        <a:rPr sz="1400" b="0">
                          <a:solidFill>
                            <a:srgbClr val="E8EEFA"/>
                          </a:solidFill>
                          <a:latin typeface="Segoe UI"/>
                        </a:rPr>
                        <a:t>FP8 E5M2</a:t>
                      </a:r>
                    </a:p>
                  </a:txBody>
                  <a:tcPr>
                    <a:solidFill>
                      <a:srgbClr val="161F40"/>
                    </a:solidFill>
                  </a:tcPr>
                </a:tc>
                <a:tc>
                  <a:txBody>
                    <a:bodyPr/>
                    <a:lstStyle/>
                    <a:p>
                      <a:r>
                        <a:rPr sz="1400" b="0">
                          <a:solidFill>
                            <a:srgbClr val="E8EEFA"/>
                          </a:solidFill>
                          <a:latin typeface="Segoe UI"/>
                        </a:rPr>
                        <a:t>8</a:t>
                      </a:r>
                    </a:p>
                  </a:txBody>
                  <a:tcPr>
                    <a:solidFill>
                      <a:srgbClr val="161F40"/>
                    </a:solidFill>
                  </a:tcPr>
                </a:tc>
                <a:tc>
                  <a:txBody>
                    <a:bodyPr/>
                    <a:lstStyle/>
                    <a:p>
                      <a:r>
                        <a:rPr sz="1400" b="0">
                          <a:solidFill>
                            <a:srgbClr val="E8EEFA"/>
                          </a:solidFill>
                          <a:latin typeface="Segoe UI"/>
                        </a:rPr>
                        <a:t>5</a:t>
                      </a:r>
                    </a:p>
                  </a:txBody>
                  <a:tcPr>
                    <a:solidFill>
                      <a:srgbClr val="161F40"/>
                    </a:solidFill>
                  </a:tcPr>
                </a:tc>
                <a:tc>
                  <a:txBody>
                    <a:bodyPr/>
                    <a:lstStyle/>
                    <a:p>
                      <a:r>
                        <a:rPr sz="1400" b="0">
                          <a:solidFill>
                            <a:srgbClr val="E8EEFA"/>
                          </a:solidFill>
                          <a:latin typeface="Segoe UI"/>
                        </a:rPr>
                        <a:t>2</a:t>
                      </a:r>
                    </a:p>
                  </a:txBody>
                  <a:tcPr>
                    <a:solidFill>
                      <a:srgbClr val="161F40"/>
                    </a:solidFill>
                  </a:tcPr>
                </a:tc>
                <a:tc>
                  <a:txBody>
                    <a:bodyPr/>
                    <a:lstStyle/>
                    <a:p>
                      <a:r>
                        <a:rPr sz="1400" b="0">
                          <a:solidFill>
                            <a:srgbClr val="E8EEFA"/>
                          </a:solidFill>
                          <a:latin typeface="Segoe UI"/>
                        </a:rPr>
                        <a:t>±57344</a:t>
                      </a:r>
                    </a:p>
                  </a:txBody>
                  <a:tcPr>
                    <a:solidFill>
                      <a:srgbClr val="161F40"/>
                    </a:solidFill>
                  </a:tcPr>
                </a:tc>
                <a:tc>
                  <a:txBody>
                    <a:bodyPr/>
                    <a:lstStyle/>
                    <a:p>
                      <a:r>
                        <a:rPr sz="1400" b="0">
                          <a:solidFill>
                            <a:srgbClr val="E8EEFA"/>
                          </a:solidFill>
                          <a:latin typeface="Segoe UI"/>
                        </a:rPr>
                        <a:t>~1 raqam</a:t>
                      </a:r>
                    </a:p>
                  </a:txBody>
                  <a:tcPr>
                    <a:solidFill>
                      <a:srgbClr val="161F40"/>
                    </a:solidFill>
                  </a:tcPr>
                </a:tc>
              </a:tr>
              <a:tr h="520000">
                <a:tc>
                  <a:txBody>
                    <a:bodyPr/>
                    <a:lstStyle/>
                    <a:p>
                      <a:r>
                        <a:rPr sz="1400" b="0">
                          <a:solidFill>
                            <a:srgbClr val="E8EEFA"/>
                          </a:solidFill>
                          <a:latin typeface="Segoe UI"/>
                        </a:rPr>
                        <a:t>INT8</a:t>
                      </a:r>
                    </a:p>
                  </a:txBody>
                  <a:tcPr>
                    <a:solidFill>
                      <a:srgbClr val="111834"/>
                    </a:solidFill>
                  </a:tcPr>
                </a:tc>
                <a:tc>
                  <a:txBody>
                    <a:bodyPr/>
                    <a:lstStyle/>
                    <a:p>
                      <a:r>
                        <a:rPr sz="1400" b="0">
                          <a:solidFill>
                            <a:srgbClr val="E8EEFA"/>
                          </a:solidFill>
                          <a:latin typeface="Segoe UI"/>
                        </a:rPr>
                        <a:t>8</a:t>
                      </a:r>
                    </a:p>
                  </a:txBody>
                  <a:tcPr>
                    <a:solidFill>
                      <a:srgbClr val="111834"/>
                    </a:solidFill>
                  </a:tcPr>
                </a:tc>
                <a:tc>
                  <a:txBody>
                    <a:bodyPr/>
                    <a:lstStyle/>
                    <a:p>
                      <a:r>
                        <a:rPr sz="1400" b="0">
                          <a:solidFill>
                            <a:srgbClr val="E8EEFA"/>
                          </a:solidFill>
                          <a:latin typeface="Segoe UI"/>
                        </a:rPr>
                        <a:t>–</a:t>
                      </a:r>
                    </a:p>
                  </a:txBody>
                  <a:tcPr>
                    <a:solidFill>
                      <a:srgbClr val="111834"/>
                    </a:solidFill>
                  </a:tcPr>
                </a:tc>
                <a:tc>
                  <a:txBody>
                    <a:bodyPr/>
                    <a:lstStyle/>
                    <a:p>
                      <a:r>
                        <a:rPr sz="1400" b="0">
                          <a:solidFill>
                            <a:srgbClr val="E8EEFA"/>
                          </a:solidFill>
                          <a:latin typeface="Segoe UI"/>
                        </a:rPr>
                        <a:t>–</a:t>
                      </a:r>
                    </a:p>
                  </a:txBody>
                  <a:tcPr>
                    <a:solidFill>
                      <a:srgbClr val="111834"/>
                    </a:solidFill>
                  </a:tcPr>
                </a:tc>
                <a:tc>
                  <a:txBody>
                    <a:bodyPr/>
                    <a:lstStyle/>
                    <a:p>
                      <a:r>
                        <a:rPr sz="1400" b="0">
                          <a:solidFill>
                            <a:srgbClr val="E8EEFA"/>
                          </a:solidFill>
                          <a:latin typeface="Segoe UI"/>
                        </a:rPr>
                        <a:t>−128…127 (masshtab bilan)</a:t>
                      </a:r>
                    </a:p>
                  </a:txBody>
                  <a:tcPr>
                    <a:solidFill>
                      <a:srgbClr val="111834"/>
                    </a:solidFill>
                  </a:tcPr>
                </a:tc>
                <a:tc>
                  <a:txBody>
                    <a:bodyPr/>
                    <a:lstStyle/>
                    <a:p>
                      <a:r>
                        <a:rPr sz="1400" b="0">
                          <a:solidFill>
                            <a:srgbClr val="E8EEFA"/>
                          </a:solidFill>
                          <a:latin typeface="Segoe UI"/>
                        </a:rPr>
                        <a:t>diskret</a:t>
                      </a:r>
                    </a:p>
                  </a:txBody>
                  <a:tcPr>
                    <a:solidFill>
                      <a:srgbClr val="111834"/>
                    </a:solidFill>
                  </a:tcPr>
                </a:tc>
              </a:tr>
              <a:tr h="520000">
                <a:tc>
                  <a:txBody>
                    <a:bodyPr/>
                    <a:lstStyle/>
                    <a:p>
                      <a:r>
                        <a:rPr sz="1400" b="0">
                          <a:solidFill>
                            <a:srgbClr val="E8EEFA"/>
                          </a:solidFill>
                          <a:latin typeface="Segoe UI"/>
                        </a:rPr>
                        <a:t>INT4</a:t>
                      </a:r>
                    </a:p>
                  </a:txBody>
                  <a:tcPr>
                    <a:solidFill>
                      <a:srgbClr val="161F40"/>
                    </a:solidFill>
                  </a:tcPr>
                </a:tc>
                <a:tc>
                  <a:txBody>
                    <a:bodyPr/>
                    <a:lstStyle/>
                    <a:p>
                      <a:r>
                        <a:rPr sz="1400" b="0">
                          <a:solidFill>
                            <a:srgbClr val="E8EEFA"/>
                          </a:solidFill>
                          <a:latin typeface="Segoe UI"/>
                        </a:rPr>
                        <a:t>4</a:t>
                      </a:r>
                    </a:p>
                  </a:txBody>
                  <a:tcPr>
                    <a:solidFill>
                      <a:srgbClr val="161F40"/>
                    </a:solidFill>
                  </a:tcPr>
                </a:tc>
                <a:tc>
                  <a:txBody>
                    <a:bodyPr/>
                    <a:lstStyle/>
                    <a:p>
                      <a:r>
                        <a:rPr sz="1400" b="0">
                          <a:solidFill>
                            <a:srgbClr val="E8EEFA"/>
                          </a:solidFill>
                          <a:latin typeface="Segoe UI"/>
                        </a:rPr>
                        <a:t>–</a:t>
                      </a:r>
                    </a:p>
                  </a:txBody>
                  <a:tcPr>
                    <a:solidFill>
                      <a:srgbClr val="161F40"/>
                    </a:solidFill>
                  </a:tcPr>
                </a:tc>
                <a:tc>
                  <a:txBody>
                    <a:bodyPr/>
                    <a:lstStyle/>
                    <a:p>
                      <a:r>
                        <a:rPr sz="1400" b="0">
                          <a:solidFill>
                            <a:srgbClr val="E8EEFA"/>
                          </a:solidFill>
                          <a:latin typeface="Segoe UI"/>
                        </a:rPr>
                        <a:t>–</a:t>
                      </a:r>
                    </a:p>
                  </a:txBody>
                  <a:tcPr>
                    <a:solidFill>
                      <a:srgbClr val="161F40"/>
                    </a:solidFill>
                  </a:tcPr>
                </a:tc>
                <a:tc>
                  <a:txBody>
                    <a:bodyPr/>
                    <a:lstStyle/>
                    <a:p>
                      <a:r>
                        <a:rPr sz="1400" b="0">
                          <a:solidFill>
                            <a:srgbClr val="E8EEFA"/>
                          </a:solidFill>
                          <a:latin typeface="Segoe UI"/>
                        </a:rPr>
                        <a:t>−8…7 (masshtab bilan)</a:t>
                      </a:r>
                    </a:p>
                  </a:txBody>
                  <a:tcPr>
                    <a:solidFill>
                      <a:srgbClr val="161F40"/>
                    </a:solidFill>
                  </a:tcPr>
                </a:tc>
                <a:tc>
                  <a:txBody>
                    <a:bodyPr/>
                    <a:lstStyle/>
                    <a:p>
                      <a:r>
                        <a:rPr sz="1400" b="0">
                          <a:solidFill>
                            <a:srgbClr val="E8EEFA"/>
                          </a:solidFill>
                          <a:latin typeface="Segoe UI"/>
                        </a:rPr>
                        <a:t>diskret</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wipe(left)">
                                      <p:cBhvr>
                                        <p:cTn id="16"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c98164842eaee2db.jpg"/>
          <p:cNvPicPr>
            <a:picLocks noChangeAspect="1"/>
          </p:cNvPicPr>
          <p:nvPr/>
        </p:nvPicPr>
        <p:blipFill>
          <a:blip r:embed="rId2"/>
          <a:srcRect l="21358" r="21358"/>
          <a:stretch>
            <a:fillRect/>
          </a:stretch>
        </p:blipFill>
        <p:spPr>
          <a:xfrm>
            <a:off x="6300000" y="800000"/>
            <a:ext cx="5300000" cy="4950000"/>
          </a:xfrm>
          <a:prstGeom prst="roundRect">
            <a:avLst/>
          </a:prstGeom>
          <a:ln w="19050">
            <a:solidFill>
              <a:srgbClr val="22D3EE"/>
            </a:solidFill>
          </a:ln>
        </p:spPr>
      </p:pic>
      <p:sp>
        <p:nvSpPr>
          <p:cNvPr id="44" name="TextBox 43"/>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Frank Klemm · Wikimedia Commons · CC BY-SA 3.0 de</a:t>
            </a:r>
          </a:p>
        </p:txBody>
      </p:sp>
      <p:sp>
        <p:nvSpPr>
          <p:cNvPr id="45" name="TextBox 44"/>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6" name="TextBox 45"/>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7" name="TextBox 46"/>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Kvantlash (quantization): nazariya va turlari</a:t>
            </a:r>
          </a:p>
        </p:txBody>
      </p:sp>
      <p:sp>
        <p:nvSpPr>
          <p:cNvPr id="48" name="Rectangle 47"/>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150"/>
                            </p:stCondLst>
                            <p:childTnLst>
                              <p:par>
                                <p:cTn id="160" presetID="53" presetClass="entr" presetSubtype="16"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anim calcmode="lin" valueType="num">
                                      <p:cBhvr additive="base">
                                        <p:cTn id="163" dur="550" fill="hold"/>
                                        <p:tgtEl>
                                          <p:spTgt spid="42"/>
                                        </p:tgtEl>
                                        <p:attrNameLst>
                                          <p:attrName>ppt_w</p:attrName>
                                        </p:attrNameLst>
                                      </p:cBhvr>
                                      <p:tavLst>
                                        <p:tav tm="0">
                                          <p:val>
                                            <p:strVal val="0"/>
                                          </p:val>
                                        </p:tav>
                                        <p:tav tm="100000">
                                          <p:val>
                                            <p:strVal val="#ppt_w"/>
                                          </p:val>
                                        </p:tav>
                                      </p:tavLst>
                                    </p:anim>
                                    <p:anim calcmode="lin" valueType="num">
                                      <p:cBhvr additive="base">
                                        <p:cTn id="164" dur="550" fill="hold"/>
                                        <p:tgtEl>
                                          <p:spTgt spid="42"/>
                                        </p:tgtEl>
                                        <p:attrNameLst>
                                          <p:attrName>ppt_h</p:attrName>
                                        </p:attrNameLst>
                                      </p:cBhvr>
                                      <p:tavLst>
                                        <p:tav tm="0">
                                          <p:val>
                                            <p:strVal val="0"/>
                                          </p:val>
                                        </p:tav>
                                        <p:tav tm="100000">
                                          <p:val>
                                            <p:strVal val="#ppt_h"/>
                                          </p:val>
                                        </p:tav>
                                      </p:tavLst>
                                    </p:anim>
                                  </p:childTnLst>
                                </p:cTn>
                              </p:par>
                            </p:childTnLst>
                          </p:cTn>
                        </p:par>
                        <p:par>
                          <p:cTn id="165" fill="hold">
                            <p:stCondLst>
                              <p:cond delay="150"/>
                            </p:stCondLst>
                            <p:childTnLst>
                              <p:par>
                                <p:cTn id="166" presetID="53" presetClass="entr" presetSubtype="16" fill="hold" grpId="0" nodeType="afterEffect">
                                  <p:stCondLst>
                                    <p:cond delay="0"/>
                                  </p:stCondLst>
                                  <p:childTnLst>
                                    <p:set>
                                      <p:cBhvr>
                                        <p:cTn id="167" dur="1" fill="hold">
                                          <p:stCondLst>
                                            <p:cond delay="0"/>
                                          </p:stCondLst>
                                        </p:cTn>
                                        <p:tgtEl>
                                          <p:spTgt spid="43"/>
                                        </p:tgtEl>
                                        <p:attrNameLst>
                                          <p:attrName>style.visibility</p:attrName>
                                        </p:attrNameLst>
                                      </p:cBhvr>
                                      <p:to>
                                        <p:strVal val="visible"/>
                                      </p:to>
                                    </p:set>
                                    <p:animEffect transition="in" filter="fade">
                                      <p:cBhvr>
                                        <p:cTn id="168" dur="550"/>
                                        <p:tgtEl>
                                          <p:spTgt spid="43"/>
                                        </p:tgtEl>
                                      </p:cBhvr>
                                    </p:animEffect>
                                    <p:anim calcmode="lin" valueType="num">
                                      <p:cBhvr additive="base">
                                        <p:cTn id="169" dur="550" fill="hold"/>
                                        <p:tgtEl>
                                          <p:spTgt spid="43"/>
                                        </p:tgtEl>
                                        <p:attrNameLst>
                                          <p:attrName>ppt_w</p:attrName>
                                        </p:attrNameLst>
                                      </p:cBhvr>
                                      <p:tavLst>
                                        <p:tav tm="0">
                                          <p:val>
                                            <p:strVal val="0"/>
                                          </p:val>
                                        </p:tav>
                                        <p:tav tm="100000">
                                          <p:val>
                                            <p:strVal val="#ppt_w"/>
                                          </p:val>
                                        </p:tav>
                                      </p:tavLst>
                                    </p:anim>
                                    <p:anim calcmode="lin" valueType="num">
                                      <p:cBhvr additive="base">
                                        <p:cTn id="170" dur="550" fill="hold"/>
                                        <p:tgtEl>
                                          <p:spTgt spid="43"/>
                                        </p:tgtEl>
                                        <p:attrNameLst>
                                          <p:attrName>ppt_h</p:attrName>
                                        </p:attrNameLst>
                                      </p:cBhvr>
                                      <p:tavLst>
                                        <p:tav tm="0">
                                          <p:val>
                                            <p:strVal val="0"/>
                                          </p:val>
                                        </p:tav>
                                        <p:tav tm="100000">
                                          <p:val>
                                            <p:strVal val="#ppt_h"/>
                                          </p:val>
                                        </p:tav>
                                      </p:tavLst>
                                    </p:anim>
                                  </p:childTnLst>
                                </p:cTn>
                              </p:par>
                            </p:childTnLst>
                          </p:cTn>
                        </p:par>
                        <p:par>
                          <p:cTn id="171" fill="hold">
                            <p:stCondLst>
                              <p:cond delay="150"/>
                            </p:stCondLst>
                            <p:childTnLst>
                              <p:par>
                                <p:cTn id="172" presetID="10" presetClass="entr" presetSubtype="0"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childTnLst>
                                </p:cTn>
                              </p:par>
                            </p:childTnLst>
                          </p:cTn>
                        </p:par>
                        <p:par>
                          <p:cTn id="175" fill="hold">
                            <p:stCondLst>
                              <p:cond delay="350"/>
                            </p:stCondLst>
                            <p:childTnLst>
                              <p:par>
                                <p:cTn id="176" presetID="53" presetClass="entr" presetSubtype="16"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anim calcmode="lin" valueType="num">
                                      <p:cBhvr additive="base">
                                        <p:cTn id="179" dur="550" fill="hold"/>
                                        <p:tgtEl>
                                          <p:spTgt spid="45"/>
                                        </p:tgtEl>
                                        <p:attrNameLst>
                                          <p:attrName>ppt_w</p:attrName>
                                        </p:attrNameLst>
                                      </p:cBhvr>
                                      <p:tavLst>
                                        <p:tav tm="0">
                                          <p:val>
                                            <p:strVal val="0"/>
                                          </p:val>
                                        </p:tav>
                                        <p:tav tm="100000">
                                          <p:val>
                                            <p:strVal val="#ppt_w"/>
                                          </p:val>
                                        </p:tav>
                                      </p:tavLst>
                                    </p:anim>
                                    <p:anim calcmode="lin" valueType="num">
                                      <p:cBhvr additive="base">
                                        <p:cTn id="180" dur="550" fill="hold"/>
                                        <p:tgtEl>
                                          <p:spTgt spid="45"/>
                                        </p:tgtEl>
                                        <p:attrNameLst>
                                          <p:attrName>ppt_h</p:attrName>
                                        </p:attrNameLst>
                                      </p:cBhvr>
                                      <p:tavLst>
                                        <p:tav tm="0">
                                          <p:val>
                                            <p:strVal val="0"/>
                                          </p:val>
                                        </p:tav>
                                        <p:tav tm="100000">
                                          <p:val>
                                            <p:strVal val="#ppt_h"/>
                                          </p:val>
                                        </p:tav>
                                      </p:tavLst>
                                    </p:anim>
                                  </p:childTnLst>
                                </p:cTn>
                              </p:par>
                            </p:childTnLst>
                          </p:cTn>
                        </p:par>
                        <p:par>
                          <p:cTn id="181" fill="hold">
                            <p:stCondLst>
                              <p:cond delay="450"/>
                            </p:stCondLst>
                            <p:childTnLst>
                              <p:par>
                                <p:cTn id="182" presetID="10" presetClass="entr" presetSubtype="0"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Effect transition="in" filter="fade">
                                      <p:cBhvr>
                                        <p:cTn id="184" dur="550"/>
                                        <p:tgtEl>
                                          <p:spTgt spid="46"/>
                                        </p:tgtEl>
                                      </p:cBhvr>
                                    </p:animEffect>
                                  </p:childTnLst>
                                </p:cTn>
                              </p:par>
                            </p:childTnLst>
                          </p:cTn>
                        </p:par>
                        <p:par>
                          <p:cTn id="185" fill="hold">
                            <p:stCondLst>
                              <p:cond delay="550"/>
                            </p:stCondLst>
                            <p:childTnLst>
                              <p:par>
                                <p:cTn id="186" presetID="2" presetClass="entr" presetSubtype="8"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 calcmode="lin" valueType="num">
                                      <p:cBhvr additive="base">
                                        <p:cTn id="189" dur="550" fill="hold"/>
                                        <p:tgtEl>
                                          <p:spTgt spid="47"/>
                                        </p:tgtEl>
                                        <p:attrNameLst>
                                          <p:attrName>ppt_x</p:attrName>
                                        </p:attrNameLst>
                                      </p:cBhvr>
                                      <p:tavLst>
                                        <p:tav tm="0">
                                          <p:val>
                                            <p:strVal val="0-#ppt_w/2"/>
                                          </p:val>
                                        </p:tav>
                                        <p:tav tm="100000">
                                          <p:val>
                                            <p:strVal val="#ppt_x"/>
                                          </p:val>
                                        </p:tav>
                                      </p:tavLst>
                                    </p:anim>
                                    <p:anim calcmode="lin" valueType="num">
                                      <p:cBhvr additive="base">
                                        <p:cTn id="190" dur="550" fill="hold"/>
                                        <p:tgtEl>
                                          <p:spTgt spid="47"/>
                                        </p:tgtEl>
                                        <p:attrNameLst>
                                          <p:attrName>ppt_y</p:attrName>
                                        </p:attrNameLst>
                                      </p:cBhvr>
                                      <p:tavLst>
                                        <p:tav tm="0">
                                          <p:val>
                                            <p:strVal val="#ppt_y"/>
                                          </p:val>
                                        </p:tav>
                                        <p:tav tm="100000">
                                          <p:val>
                                            <p:strVal val="#ppt_y"/>
                                          </p:val>
                                        </p:tav>
                                      </p:tavLst>
                                    </p:anim>
                                  </p:childTnLst>
                                </p:cTn>
                              </p:par>
                            </p:childTnLst>
                          </p:cTn>
                        </p:par>
                        <p:par>
                          <p:cTn id="191" fill="hold">
                            <p:stCondLst>
                              <p:cond delay="650"/>
                            </p:stCondLst>
                            <p:childTnLst>
                              <p:par>
                                <p:cTn id="192" presetID="22" presetClass="entr" presetSubtype="8" fill="hold" grpId="0" nodeType="afterEffect">
                                  <p:stCondLst>
                                    <p:cond delay="0"/>
                                  </p:stCondLst>
                                  <p:childTnLst>
                                    <p:set>
                                      <p:cBhvr>
                                        <p:cTn id="193" dur="1" fill="hold">
                                          <p:stCondLst>
                                            <p:cond delay="0"/>
                                          </p:stCondLst>
                                        </p:cTn>
                                        <p:tgtEl>
                                          <p:spTgt spid="48"/>
                                        </p:tgtEl>
                                        <p:attrNameLst>
                                          <p:attrName>style.visibility</p:attrName>
                                        </p:attrNameLst>
                                      </p:cBhvr>
                                      <p:to>
                                        <p:strVal val="visible"/>
                                      </p:to>
                                    </p:set>
                                    <p:animEffect transition="in" filter="wipe(left)">
                                      <p:cBhvr>
                                        <p:cTn id="195" dur="8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4" grpId="0" animBg="1"/>
      <p:bldP spid="45" grpId="0" animBg="1"/>
      <p:bldP spid="46" grpId="0" animBg="1"/>
      <p:bldP spid="47" grpId="0" animBg="1"/>
      <p:bldP spid="48"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Kvantlash (quantization): nazariya va turlari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10</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9b9823fb9ce10605.jpg"/>
          <p:cNvPicPr>
            <a:picLocks noChangeAspect="1"/>
          </p:cNvPicPr>
          <p:nvPr/>
        </p:nvPicPr>
        <p:blipFill>
          <a:blip r:embed="rId2"/>
          <a:srcRect l="20742" r="20742"/>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Ordercrazy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3356776"/>
            <a:ext cx="6750000" cy="86644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436776"/>
            <a:ext cx="50000" cy="70644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3396776"/>
            <a:ext cx="5900000" cy="786448"/>
          </a:xfrm>
          <a:prstGeom prst="rect">
            <a:avLst/>
          </a:prstGeom>
          <a:noFill/>
        </p:spPr>
        <p:txBody>
          <a:bodyPr wrap="square" anchor="ctr">
            <a:spAutoFit/>
          </a:bodyPr>
          <a:lstStyle/>
          <a:p>
            <a:r>
              <a:rPr sz="1600" b="0">
                <a:solidFill>
                  <a:srgbClr val="E8EEFA"/>
                </a:solidFill>
                <a:latin typeface="Segoe UI"/>
              </a:rPr>
              <a:t>q = clamp(round(x / s) + z, q_min, q_max), teskarisi x̂ = s · (q − z)</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Kvantlash (quantization): nazariya va turlari</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7522695264632dd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Jguarin · Wikimedia Commons · CC BY-SA 4.0</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2648868"/>
            <a:ext cx="50000" cy="228226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bu yerda s — masshtab (scale, suzuvchi nuqtali), z — nol nuqta (zero point, butun son), [q_min, q_max] — INT8 uchun [−128, 127].</a:t>
            </a:r>
          </a:p>
          <a:p>
            <a:pPr>
              <a:spcBef>
                <a:spcPts val="400"/>
              </a:spcBef>
            </a:pPr>
            <a:r>
              <a:rPr sz="1400">
                <a:solidFill>
                  <a:srgbClr val="AEBBD9"/>
                </a:solidFill>
                <a:latin typeface="Segoe UI"/>
              </a:rPr>
              <a:t>Simmetrik kvantlashda z = 0 va s = max|x| / 127; asimmetrik kvantlashda s = (x_max − x_min) / 255, z shunday tanlanadiki, haqiqiy nol aniq ifodalansin (bu ReLU'dan keyingi aktivatsiyalar uchun muhim — diapazonning yarmi isrof bo'lmaydi). Kvantlash xatosi |x − x̂| ≤ s/2 bilan chegaralangan; demak, masshtab qanchalik kichik (diapazon qanchalik tor) bo'lsa, xato shunchalik kam.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Kvantlash (quantization): nazariya va turlari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5cc156e1755d88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GALAXY 2018 A7 · Wikimedia Commons · CC0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741544"/>
            <a:ext cx="50000" cy="191345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498272"/>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0" name="TextBox 29"/>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Shu sababdan granularlik muhim: tensor bo'yicha (per-tensor) bitta masshtab, kanal bo'yicha (per-channel) har chiqish kanaliga alohida masshtab (og'irliklar uchun standart), guruh bo'yicha (per-group, masalan har 128 element) — INT4 og'irliklar uchun standart.</a:t>
            </a:r>
          </a:p>
          <a:p>
            <a:pPr>
              <a:spcBef>
                <a:spcPts val="400"/>
              </a:spcBef>
            </a:pPr>
            <a:r>
              <a:rPr sz="1300">
                <a:solidFill>
                  <a:srgbClr val="AEBBD9"/>
                </a:solidFill>
                <a:latin typeface="Segoe UI"/>
              </a:rPr>
              <a:t>Chiqib ketuvchi qiymatlar (outliers) kvantlashning asosiy dushmani: bitta katta qiymat masshtabni oshirib, qolgan barcha qiymatlarning aniqligini pasaytiradi.</a:t>
            </a:r>
          </a:p>
        </p:txBody>
      </p:sp>
      <p:sp>
        <p:nvSpPr>
          <p:cNvPr id="31" name="Rounded Rectangle 30"/>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91345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681728"/>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4" name="TextBox 33"/>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QAT'da oldinga o'tishda og'irlik va aktivatsiyalar kvantlanadi va qayta suzuvchi nuqtaga qaytariladi (soxta kvantlash), orqaga o'tishda esa round ning hosilasi nolga teng bo'lgani uchun «to'g'ridan-to'g'ri baholovchi» (straight-through estimator) ishlatiladi…</a:t>
            </a:r>
          </a:p>
          <a:p>
            <a:pPr>
              <a:spcBef>
                <a:spcPts val="400"/>
              </a:spcBef>
            </a:pPr>
            <a:r>
              <a:rPr sz="1300">
                <a:solidFill>
                  <a:srgbClr val="AEBBD9"/>
                </a:solidFill>
                <a:latin typeface="Segoe UI"/>
              </a:rPr>
              <a:t>Natijada model kvantlash shovqiniga moslashadi.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Kvantlash (quantization): nazariya va turlari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f6c7780a9e8da9fd.jpg"/>
          <p:cNvPicPr>
            <a:picLocks noChangeAspect="1"/>
          </p:cNvPicPr>
          <p:nvPr/>
        </p:nvPicPr>
        <p:blipFill>
          <a:blip r:embed="rId2"/>
          <a:srcRect l="15233" r="15233"/>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Mister rf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497992"/>
            <a:ext cx="50000" cy="25840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1" name="TextBox 30"/>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Og'irlik-faqat kvantlash LLM uchun ayniqsa samarali, chunki dekodlash xotira bilan chegaralangan: og'irlik baytlari 4 baravar kamaysa, token tezligi deyarli shuncha oshadi, hisoblash esa FP16'da qolgani uchun aniqlik yaxshi saqlanadi.</a:t>
            </a:r>
          </a:p>
          <a:p>
            <a:pPr>
              <a:spcBef>
                <a:spcPts val="400"/>
              </a:spcBef>
            </a:pPr>
            <a:r>
              <a:rPr sz="1600">
                <a:solidFill>
                  <a:srgbClr val="AEBBD9"/>
                </a:solidFill>
                <a:latin typeface="Segoe UI"/>
              </a:rPr>
              <a:t>GPTQ ikkinchi tartibli ma'lumot (Hessian) asosida kvantlash xatosini qolgan og'irliklarga taqsimlaydi; AWQ esa aktivatsiya kattaligiga qarab «muhim» og'irlik kanallarini masshtablab himoya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Kvantlash (quantization): nazariya va turlari</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graphicFrame>
        <p:nvGraphicFramePr>
          <p:cNvPr id="27" name="Table 26"/>
          <p:cNvGraphicFramePr>
            <a:graphicFrameLocks noGrp="1"/>
          </p:cNvGraphicFramePr>
          <p:nvPr/>
        </p:nvGraphicFramePr>
        <p:xfrm>
          <a:off x="550000" y="1400000"/>
          <a:ext cx="11100000" cy="3120000"/>
        </p:xfrm>
        <a:graphic>
          <a:graphicData uri="http://schemas.openxmlformats.org/drawingml/2006/table">
            <a:tbl>
              <a:tblPr firstRow="1" bandRow="1">
                <a:tableStyleId>{5C22544A-7EE6-4342-B048-85BDC9FD1C3A}</a:tableStyleId>
              </a:tblPr>
              <a:tblGrid>
                <a:gridCol w="1850000"/>
                <a:gridCol w="1850000"/>
                <a:gridCol w="1850000"/>
                <a:gridCol w="1850000"/>
                <a:gridCol w="1850000"/>
                <a:gridCol w="1850000"/>
              </a:tblGrid>
              <a:tr h="520000">
                <a:tc>
                  <a:txBody>
                    <a:bodyPr/>
                    <a:lstStyle/>
                    <a:p>
                      <a:r>
                        <a:rPr sz="1200" b="1">
                          <a:solidFill>
                            <a:srgbClr val="22D3EE"/>
                          </a:solidFill>
                          <a:latin typeface="Segoe UI"/>
                        </a:rPr>
                        <a:t>Tur</a:t>
                      </a:r>
                    </a:p>
                  </a:txBody>
                  <a:tcPr>
                    <a:solidFill>
                      <a:srgbClr val="1C2755"/>
                    </a:solidFill>
                  </a:tcPr>
                </a:tc>
                <a:tc>
                  <a:txBody>
                    <a:bodyPr/>
                    <a:lstStyle/>
                    <a:p>
                      <a:r>
                        <a:rPr sz="1200" b="1">
                          <a:solidFill>
                            <a:srgbClr val="22D3EE"/>
                          </a:solidFill>
                          <a:latin typeface="Segoe UI"/>
                        </a:rPr>
                        <a:t>Nima kvantlanadi</a:t>
                      </a:r>
                    </a:p>
                  </a:txBody>
                  <a:tcPr>
                    <a:solidFill>
                      <a:srgbClr val="1C2755"/>
                    </a:solidFill>
                  </a:tcPr>
                </a:tc>
                <a:tc>
                  <a:txBody>
                    <a:bodyPr/>
                    <a:lstStyle/>
                    <a:p>
                      <a:r>
                        <a:rPr sz="1200" b="1">
                          <a:solidFill>
                            <a:srgbClr val="22D3EE"/>
                          </a:solidFill>
                          <a:latin typeface="Segoe UI"/>
                        </a:rPr>
                        <a:t>Kalibrlash</a:t>
                      </a:r>
                    </a:p>
                  </a:txBody>
                  <a:tcPr>
                    <a:solidFill>
                      <a:srgbClr val="1C2755"/>
                    </a:solidFill>
                  </a:tcPr>
                </a:tc>
                <a:tc>
                  <a:txBody>
                    <a:bodyPr/>
                    <a:lstStyle/>
                    <a:p>
                      <a:r>
                        <a:rPr sz="1200" b="1">
                          <a:solidFill>
                            <a:srgbClr val="22D3EE"/>
                          </a:solidFill>
                          <a:latin typeface="Segoe UI"/>
                        </a:rPr>
                        <a:t>Tezlik yutug'i</a:t>
                      </a:r>
                    </a:p>
                  </a:txBody>
                  <a:tcPr>
                    <a:solidFill>
                      <a:srgbClr val="1C2755"/>
                    </a:solidFill>
                  </a:tcPr>
                </a:tc>
                <a:tc>
                  <a:txBody>
                    <a:bodyPr/>
                    <a:lstStyle/>
                    <a:p>
                      <a:r>
                        <a:rPr sz="1200" b="1">
                          <a:solidFill>
                            <a:srgbClr val="22D3EE"/>
                          </a:solidFill>
                          <a:latin typeface="Segoe UI"/>
                        </a:rPr>
                        <a:t>Aniqlik yo'qotish</a:t>
                      </a:r>
                    </a:p>
                  </a:txBody>
                  <a:tcPr>
                    <a:solidFill>
                      <a:srgbClr val="1C2755"/>
                    </a:solidFill>
                  </a:tcPr>
                </a:tc>
                <a:tc>
                  <a:txBody>
                    <a:bodyPr/>
                    <a:lstStyle/>
                    <a:p>
                      <a:r>
                        <a:rPr sz="1200" b="1">
                          <a:solidFill>
                            <a:srgbClr val="22D3EE"/>
                          </a:solidFill>
                          <a:latin typeface="Segoe UI"/>
                        </a:rPr>
                        <a:t>Tipik qo'llanish</a:t>
                      </a:r>
                    </a:p>
                  </a:txBody>
                  <a:tcPr>
                    <a:solidFill>
                      <a:srgbClr val="1C2755"/>
                    </a:solidFill>
                  </a:tcPr>
                </a:tc>
              </a:tr>
              <a:tr h="520000">
                <a:tc>
                  <a:txBody>
                    <a:bodyPr/>
                    <a:lstStyle/>
                    <a:p>
                      <a:r>
                        <a:rPr sz="1200" b="0">
                          <a:solidFill>
                            <a:srgbClr val="E8EEFA"/>
                          </a:solidFill>
                          <a:latin typeface="Segoe UI"/>
                        </a:rPr>
                        <a:t>Dinamik (dynamic PTQ)</a:t>
                      </a:r>
                    </a:p>
                  </a:txBody>
                  <a:tcPr>
                    <a:solidFill>
                      <a:srgbClr val="111834"/>
                    </a:solidFill>
                  </a:tcPr>
                </a:tc>
                <a:tc>
                  <a:txBody>
                    <a:bodyPr/>
                    <a:lstStyle/>
                    <a:p>
                      <a:r>
                        <a:rPr sz="1200" b="0">
                          <a:solidFill>
                            <a:srgbClr val="E8EEFA"/>
                          </a:solidFill>
                          <a:latin typeface="Segoe UI"/>
                        </a:rPr>
                        <a:t>og'irliklar oldindan, aktivatsiyalar ish vaqtida</a:t>
                      </a:r>
                    </a:p>
                  </a:txBody>
                  <a:tcPr>
                    <a:solidFill>
                      <a:srgbClr val="111834"/>
                    </a:solidFill>
                  </a:tcPr>
                </a:tc>
                <a:tc>
                  <a:txBody>
                    <a:bodyPr/>
                    <a:lstStyle/>
                    <a:p>
                      <a:r>
                        <a:rPr sz="1200" b="0">
                          <a:solidFill>
                            <a:srgbClr val="E8EEFA"/>
                          </a:solidFill>
                          <a:latin typeface="Segoe UI"/>
                        </a:rPr>
                        <a:t>kerak emas</a:t>
                      </a:r>
                    </a:p>
                  </a:txBody>
                  <a:tcPr>
                    <a:solidFill>
                      <a:srgbClr val="111834"/>
                    </a:solidFill>
                  </a:tcPr>
                </a:tc>
                <a:tc>
                  <a:txBody>
                    <a:bodyPr/>
                    <a:lstStyle/>
                    <a:p>
                      <a:r>
                        <a:rPr sz="1200" b="0">
                          <a:solidFill>
                            <a:srgbClr val="E8EEFA"/>
                          </a:solidFill>
                          <a:latin typeface="Segoe UI"/>
                        </a:rPr>
                        <a:t>o'rtacha (masshtab hisoblash yuki)</a:t>
                      </a:r>
                    </a:p>
                  </a:txBody>
                  <a:tcPr>
                    <a:solidFill>
                      <a:srgbClr val="111834"/>
                    </a:solidFill>
                  </a:tcPr>
                </a:tc>
                <a:tc>
                  <a:txBody>
                    <a:bodyPr/>
                    <a:lstStyle/>
                    <a:p>
                      <a:r>
                        <a:rPr sz="1200" b="0">
                          <a:solidFill>
                            <a:srgbClr val="E8EEFA"/>
                          </a:solidFill>
                          <a:latin typeface="Segoe UI"/>
                        </a:rPr>
                        <a:t>juda kam</a:t>
                      </a:r>
                    </a:p>
                  </a:txBody>
                  <a:tcPr>
                    <a:solidFill>
                      <a:srgbClr val="111834"/>
                    </a:solidFill>
                  </a:tcPr>
                </a:tc>
                <a:tc>
                  <a:txBody>
                    <a:bodyPr/>
                    <a:lstStyle/>
                    <a:p>
                      <a:r>
                        <a:rPr sz="1200" b="0">
                          <a:solidFill>
                            <a:srgbClr val="E8EEFA"/>
                          </a:solidFill>
                          <a:latin typeface="Segoe UI"/>
                        </a:rPr>
                        <a:t>CPU'da LSTM/Transformer, Linear qatlamlar</a:t>
                      </a:r>
                    </a:p>
                  </a:txBody>
                  <a:tcPr>
                    <a:solidFill>
                      <a:srgbClr val="111834"/>
                    </a:solidFill>
                  </a:tcPr>
                </a:tc>
              </a:tr>
              <a:tr h="520000">
                <a:tc>
                  <a:txBody>
                    <a:bodyPr/>
                    <a:lstStyle/>
                    <a:p>
                      <a:r>
                        <a:rPr sz="1200" b="0">
                          <a:solidFill>
                            <a:srgbClr val="E8EEFA"/>
                          </a:solidFill>
                          <a:latin typeface="Segoe UI"/>
                        </a:rPr>
                        <a:t>Statik (static PTQ)</a:t>
                      </a:r>
                    </a:p>
                  </a:txBody>
                  <a:tcPr>
                    <a:solidFill>
                      <a:srgbClr val="161F40"/>
                    </a:solidFill>
                  </a:tcPr>
                </a:tc>
                <a:tc>
                  <a:txBody>
                    <a:bodyPr/>
                    <a:lstStyle/>
                    <a:p>
                      <a:r>
                        <a:rPr sz="1200" b="0">
                          <a:solidFill>
                            <a:srgbClr val="E8EEFA"/>
                          </a:solidFill>
                          <a:latin typeface="Segoe UI"/>
                        </a:rPr>
                        <a:t>og'irliklar va aktivatsiyalar oldindan</a:t>
                      </a:r>
                    </a:p>
                  </a:txBody>
                  <a:tcPr>
                    <a:solidFill>
                      <a:srgbClr val="161F40"/>
                    </a:solidFill>
                  </a:tcPr>
                </a:tc>
                <a:tc>
                  <a:txBody>
                    <a:bodyPr/>
                    <a:lstStyle/>
                    <a:p>
                      <a:r>
                        <a:rPr sz="1200" b="0">
                          <a:solidFill>
                            <a:srgbClr val="E8EEFA"/>
                          </a:solidFill>
                          <a:latin typeface="Segoe UI"/>
                        </a:rPr>
                        <a:t>100–1000 namuna</a:t>
                      </a:r>
                    </a:p>
                  </a:txBody>
                  <a:tcPr>
                    <a:solidFill>
                      <a:srgbClr val="161F40"/>
                    </a:solidFill>
                  </a:tcPr>
                </a:tc>
                <a:tc>
                  <a:txBody>
                    <a:bodyPr/>
                    <a:lstStyle/>
                    <a:p>
                      <a:r>
                        <a:rPr sz="1200" b="0">
                          <a:solidFill>
                            <a:srgbClr val="E8EEFA"/>
                          </a:solidFill>
                          <a:latin typeface="Segoe UI"/>
                        </a:rPr>
                        <a:t>yuqori (to'liq INT8 yo'l)</a:t>
                      </a:r>
                    </a:p>
                  </a:txBody>
                  <a:tcPr>
                    <a:solidFill>
                      <a:srgbClr val="161F40"/>
                    </a:solidFill>
                  </a:tcPr>
                </a:tc>
                <a:tc>
                  <a:txBody>
                    <a:bodyPr/>
                    <a:lstStyle/>
                    <a:p>
                      <a:r>
                        <a:rPr sz="1200" b="0">
                          <a:solidFill>
                            <a:srgbClr val="E8EEFA"/>
                          </a:solidFill>
                          <a:latin typeface="Segoe UI"/>
                        </a:rPr>
                        <a:t>kam–o'rtacha</a:t>
                      </a:r>
                    </a:p>
                  </a:txBody>
                  <a:tcPr>
                    <a:solidFill>
                      <a:srgbClr val="161F40"/>
                    </a:solidFill>
                  </a:tcPr>
                </a:tc>
                <a:tc>
                  <a:txBody>
                    <a:bodyPr/>
                    <a:lstStyle/>
                    <a:p>
                      <a:r>
                        <a:rPr sz="1200" b="0">
                          <a:solidFill>
                            <a:srgbClr val="E8EEFA"/>
                          </a:solidFill>
                          <a:latin typeface="Segoe UI"/>
                        </a:rPr>
                        <a:t>CNN, chekka qurilma, TensorRT INT8</a:t>
                      </a:r>
                    </a:p>
                  </a:txBody>
                  <a:tcPr>
                    <a:solidFill>
                      <a:srgbClr val="161F40"/>
                    </a:solidFill>
                  </a:tcPr>
                </a:tc>
              </a:tr>
              <a:tr h="520000">
                <a:tc>
                  <a:txBody>
                    <a:bodyPr/>
                    <a:lstStyle/>
                    <a:p>
                      <a:r>
                        <a:rPr sz="1200" b="0">
                          <a:solidFill>
                            <a:srgbClr val="E8EEFA"/>
                          </a:solidFill>
                          <a:latin typeface="Segoe UI"/>
                        </a:rPr>
                        <a:t>QAT</a:t>
                      </a:r>
                    </a:p>
                  </a:txBody>
                  <a:tcPr>
                    <a:solidFill>
                      <a:srgbClr val="111834"/>
                    </a:solidFill>
                  </a:tcPr>
                </a:tc>
                <a:tc>
                  <a:txBody>
                    <a:bodyPr/>
                    <a:lstStyle/>
                    <a:p>
                      <a:r>
                        <a:rPr sz="1200" b="0">
                          <a:solidFill>
                            <a:srgbClr val="E8EEFA"/>
                          </a:solidFill>
                          <a:latin typeface="Segoe UI"/>
                        </a:rPr>
                        <a:t>o'qitish paytida soxta kvantlash (fake quant)</a:t>
                      </a:r>
                    </a:p>
                  </a:txBody>
                  <a:tcPr>
                    <a:solidFill>
                      <a:srgbClr val="111834"/>
                    </a:solidFill>
                  </a:tcPr>
                </a:tc>
                <a:tc>
                  <a:txBody>
                    <a:bodyPr/>
                    <a:lstStyle/>
                    <a:p>
                      <a:r>
                        <a:rPr sz="1200" b="0">
                          <a:solidFill>
                            <a:srgbClr val="E8EEFA"/>
                          </a:solidFill>
                          <a:latin typeface="Segoe UI"/>
                        </a:rPr>
                        <a:t>qayta o'qitish</a:t>
                      </a:r>
                    </a:p>
                  </a:txBody>
                  <a:tcPr>
                    <a:solidFill>
                      <a:srgbClr val="111834"/>
                    </a:solidFill>
                  </a:tcPr>
                </a:tc>
                <a:tc>
                  <a:txBody>
                    <a:bodyPr/>
                    <a:lstStyle/>
                    <a:p>
                      <a:r>
                        <a:rPr sz="1200" b="0">
                          <a:solidFill>
                            <a:srgbClr val="E8EEFA"/>
                          </a:solidFill>
                          <a:latin typeface="Segoe UI"/>
                        </a:rPr>
                        <a:t>statik bilan teng</a:t>
                      </a:r>
                    </a:p>
                  </a:txBody>
                  <a:tcPr>
                    <a:solidFill>
                      <a:srgbClr val="111834"/>
                    </a:solidFill>
                  </a:tcPr>
                </a:tc>
                <a:tc>
                  <a:txBody>
                    <a:bodyPr/>
                    <a:lstStyle/>
                    <a:p>
                      <a:r>
                        <a:rPr sz="1200" b="0">
                          <a:solidFill>
                            <a:srgbClr val="E8EEFA"/>
                          </a:solidFill>
                          <a:latin typeface="Segoe UI"/>
                        </a:rPr>
                        <a:t>eng kam</a:t>
                      </a:r>
                    </a:p>
                  </a:txBody>
                  <a:tcPr>
                    <a:solidFill>
                      <a:srgbClr val="111834"/>
                    </a:solidFill>
                  </a:tcPr>
                </a:tc>
                <a:tc>
                  <a:txBody>
                    <a:bodyPr/>
                    <a:lstStyle/>
                    <a:p>
                      <a:r>
                        <a:rPr sz="1200" b="0">
                          <a:solidFill>
                            <a:srgbClr val="E8EEFA"/>
                          </a:solidFill>
                          <a:latin typeface="Segoe UI"/>
                        </a:rPr>
                        <a:t>kichik/sezgir modellar, INT4</a:t>
                      </a:r>
                    </a:p>
                  </a:txBody>
                  <a:tcPr>
                    <a:solidFill>
                      <a:srgbClr val="111834"/>
                    </a:solidFill>
                  </a:tcPr>
                </a:tc>
              </a:tr>
              <a:tr h="520000">
                <a:tc>
                  <a:txBody>
                    <a:bodyPr/>
                    <a:lstStyle/>
                    <a:p>
                      <a:r>
                        <a:rPr sz="1200" b="0">
                          <a:solidFill>
                            <a:srgbClr val="E8EEFA"/>
                          </a:solidFill>
                          <a:latin typeface="Segoe UI"/>
                        </a:rPr>
                        <a:t>Og'irlik-faqat INT4/INT8 (GPTQ, AWQ, NF4)</a:t>
                      </a:r>
                    </a:p>
                  </a:txBody>
                  <a:tcPr>
                    <a:solidFill>
                      <a:srgbClr val="161F40"/>
                    </a:solidFill>
                  </a:tcPr>
                </a:tc>
                <a:tc>
                  <a:txBody>
                    <a:bodyPr/>
                    <a:lstStyle/>
                    <a:p>
                      <a:r>
                        <a:rPr sz="1200" b="0">
                          <a:solidFill>
                            <a:srgbClr val="E8EEFA"/>
                          </a:solidFill>
                          <a:latin typeface="Segoe UI"/>
                        </a:rPr>
                        <a:t>faqat og'irliklar, hisoblash FP16'da</a:t>
                      </a:r>
                    </a:p>
                  </a:txBody>
                  <a:tcPr>
                    <a:solidFill>
                      <a:srgbClr val="161F40"/>
                    </a:solidFill>
                  </a:tcPr>
                </a:tc>
                <a:tc>
                  <a:txBody>
                    <a:bodyPr/>
                    <a:lstStyle/>
                    <a:p>
                      <a:r>
                        <a:rPr sz="1200" b="0">
                          <a:solidFill>
                            <a:srgbClr val="E8EEFA"/>
                          </a:solidFill>
                          <a:latin typeface="Segoe UI"/>
                        </a:rPr>
                        <a:t>yuzlab namuna (GPTQ/AWQ)</a:t>
                      </a:r>
                    </a:p>
                  </a:txBody>
                  <a:tcPr>
                    <a:solidFill>
                      <a:srgbClr val="161F40"/>
                    </a:solidFill>
                  </a:tcPr>
                </a:tc>
                <a:tc>
                  <a:txBody>
                    <a:bodyPr/>
                    <a:lstStyle/>
                    <a:p>
                      <a:r>
                        <a:rPr sz="1200" b="0">
                          <a:solidFill>
                            <a:srgbClr val="E8EEFA"/>
                          </a:solidFill>
                          <a:latin typeface="Segoe UI"/>
                        </a:rPr>
                        <a:t>xotira trafigi kamayadi (LLM dekodlash)</a:t>
                      </a:r>
                    </a:p>
                  </a:txBody>
                  <a:tcPr>
                    <a:solidFill>
                      <a:srgbClr val="161F40"/>
                    </a:solidFill>
                  </a:tcPr>
                </a:tc>
                <a:tc>
                  <a:txBody>
                    <a:bodyPr/>
                    <a:lstStyle/>
                    <a:p>
                      <a:r>
                        <a:rPr sz="1200" b="0">
                          <a:solidFill>
                            <a:srgbClr val="E8EEFA"/>
                          </a:solidFill>
                          <a:latin typeface="Segoe UI"/>
                        </a:rPr>
                        <a:t>kam</a:t>
                      </a:r>
                    </a:p>
                  </a:txBody>
                  <a:tcPr>
                    <a:solidFill>
                      <a:srgbClr val="161F40"/>
                    </a:solidFill>
                  </a:tcPr>
                </a:tc>
                <a:tc>
                  <a:txBody>
                    <a:bodyPr/>
                    <a:lstStyle/>
                    <a:p>
                      <a:r>
                        <a:rPr sz="1200" b="0">
                          <a:solidFill>
                            <a:srgbClr val="E8EEFA"/>
                          </a:solidFill>
                          <a:latin typeface="Segoe UI"/>
                        </a:rPr>
                        <a:t>LLM inferens</a:t>
                      </a:r>
                    </a:p>
                  </a:txBody>
                  <a:tcPr>
                    <a:solidFill>
                      <a:srgbClr val="161F40"/>
                    </a:solidFill>
                  </a:tcPr>
                </a:tc>
              </a:tr>
              <a:tr h="520000">
                <a:tc>
                  <a:txBody>
                    <a:bodyPr/>
                    <a:lstStyle/>
                    <a:p>
                      <a:r>
                        <a:rPr sz="1200" b="0">
                          <a:solidFill>
                            <a:srgbClr val="E8EEFA"/>
                          </a:solidFill>
                          <a:latin typeface="Segoe UI"/>
                        </a:rPr>
                        <a:t>FP8 / SmoothQuant W8A8</a:t>
                      </a:r>
                    </a:p>
                  </a:txBody>
                  <a:tcPr>
                    <a:solidFill>
                      <a:srgbClr val="111834"/>
                    </a:solidFill>
                  </a:tcPr>
                </a:tc>
                <a:tc>
                  <a:txBody>
                    <a:bodyPr/>
                    <a:lstStyle/>
                    <a:p>
                      <a:r>
                        <a:rPr sz="1200" b="0">
                          <a:solidFill>
                            <a:srgbClr val="E8EEFA"/>
                          </a:solidFill>
                          <a:latin typeface="Segoe UI"/>
                        </a:rPr>
                        <a:t>og'irlik va aktivatsiya 8 bit</a:t>
                      </a:r>
                    </a:p>
                  </a:txBody>
                  <a:tcPr>
                    <a:solidFill>
                      <a:srgbClr val="111834"/>
                    </a:solidFill>
                  </a:tcPr>
                </a:tc>
                <a:tc>
                  <a:txBody>
                    <a:bodyPr/>
                    <a:lstStyle/>
                    <a:p>
                      <a:r>
                        <a:rPr sz="1200" b="0">
                          <a:solidFill>
                            <a:srgbClr val="E8EEFA"/>
                          </a:solidFill>
                          <a:latin typeface="Segoe UI"/>
                        </a:rPr>
                        <a:t>masshtab/tekislash</a:t>
                      </a:r>
                    </a:p>
                  </a:txBody>
                  <a:tcPr>
                    <a:solidFill>
                      <a:srgbClr val="111834"/>
                    </a:solidFill>
                  </a:tcPr>
                </a:tc>
                <a:tc>
                  <a:txBody>
                    <a:bodyPr/>
                    <a:lstStyle/>
                    <a:p>
                      <a:r>
                        <a:rPr sz="1200" b="0">
                          <a:solidFill>
                            <a:srgbClr val="E8EEFA"/>
                          </a:solidFill>
                          <a:latin typeface="Segoe UI"/>
                        </a:rPr>
                        <a:t>yuqori (Hopper)</a:t>
                      </a:r>
                    </a:p>
                  </a:txBody>
                  <a:tcPr>
                    <a:solidFill>
                      <a:srgbClr val="111834"/>
                    </a:solidFill>
                  </a:tcPr>
                </a:tc>
                <a:tc>
                  <a:txBody>
                    <a:bodyPr/>
                    <a:lstStyle/>
                    <a:p>
                      <a:r>
                        <a:rPr sz="1200" b="0">
                          <a:solidFill>
                            <a:srgbClr val="E8EEFA"/>
                          </a:solidFill>
                          <a:latin typeface="Segoe UI"/>
                        </a:rPr>
                        <a:t>kam</a:t>
                      </a:r>
                    </a:p>
                  </a:txBody>
                  <a:tcPr>
                    <a:solidFill>
                      <a:srgbClr val="111834"/>
                    </a:solidFill>
                  </a:tcPr>
                </a:tc>
                <a:tc>
                  <a:txBody>
                    <a:bodyPr/>
                    <a:lstStyle/>
                    <a:p>
                      <a:r>
                        <a:rPr sz="1200" b="0">
                          <a:solidFill>
                            <a:srgbClr val="E8EEFA"/>
                          </a:solidFill>
                          <a:latin typeface="Segoe UI"/>
                        </a:rPr>
                        <a:t>LLM yuqori throughput</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wipe(left)">
                                      <p:cBhvr>
                                        <p:cTn id="16" dur="8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e6962d35d36cfc4b.jpg"/>
          <p:cNvPicPr>
            <a:picLocks noChangeAspect="1"/>
          </p:cNvPicPr>
          <p:nvPr/>
        </p:nvPicPr>
        <p:blipFill>
          <a:blip r:embed="rId2"/>
          <a:srcRect l="15160" r="15160"/>
          <a:stretch>
            <a:fillRect/>
          </a:stretch>
        </p:blipFill>
        <p:spPr>
          <a:xfrm>
            <a:off x="6300000" y="800000"/>
            <a:ext cx="5300000" cy="4950000"/>
          </a:xfrm>
          <a:prstGeom prst="roundRect">
            <a:avLst/>
          </a:prstGeom>
          <a:ln w="19050">
            <a:solidFill>
              <a:srgbClr val="22D3EE"/>
            </a:solidFill>
          </a:ln>
        </p:spPr>
      </p:pic>
      <p:sp>
        <p:nvSpPr>
          <p:cNvPr id="45" name="TextBox 44"/>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Peggy Greb, USDA · Wikimedia Commons · Public domain</a:t>
            </a:r>
          </a:p>
        </p:txBody>
      </p:sp>
      <p:sp>
        <p:nvSpPr>
          <p:cNvPr id="46" name="TextBox 45"/>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7" name="TextBox 46"/>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8" name="TextBox 47"/>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Pruning: siyraklashtirish</a:t>
            </a:r>
          </a:p>
        </p:txBody>
      </p:sp>
      <p:sp>
        <p:nvSpPr>
          <p:cNvPr id="49" name="Rectangle 48"/>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0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150"/>
                            </p:stCondLst>
                            <p:childTnLst>
                              <p:par>
                                <p:cTn id="164" presetID="53" presetClass="entr" presetSubtype="16"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anim calcmode="lin" valueType="num">
                                      <p:cBhvr additive="base">
                                        <p:cTn id="167" dur="550" fill="hold"/>
                                        <p:tgtEl>
                                          <p:spTgt spid="43"/>
                                        </p:tgtEl>
                                        <p:attrNameLst>
                                          <p:attrName>ppt_w</p:attrName>
                                        </p:attrNameLst>
                                      </p:cBhvr>
                                      <p:tavLst>
                                        <p:tav tm="0">
                                          <p:val>
                                            <p:strVal val="0"/>
                                          </p:val>
                                        </p:tav>
                                        <p:tav tm="100000">
                                          <p:val>
                                            <p:strVal val="#ppt_w"/>
                                          </p:val>
                                        </p:tav>
                                      </p:tavLst>
                                    </p:anim>
                                    <p:anim calcmode="lin" valueType="num">
                                      <p:cBhvr additive="base">
                                        <p:cTn id="168" dur="550" fill="hold"/>
                                        <p:tgtEl>
                                          <p:spTgt spid="43"/>
                                        </p:tgtEl>
                                        <p:attrNameLst>
                                          <p:attrName>ppt_h</p:attrName>
                                        </p:attrNameLst>
                                      </p:cBhvr>
                                      <p:tavLst>
                                        <p:tav tm="0">
                                          <p:val>
                                            <p:strVal val="0"/>
                                          </p:val>
                                        </p:tav>
                                        <p:tav tm="100000">
                                          <p:val>
                                            <p:strVal val="#ppt_h"/>
                                          </p:val>
                                        </p:tav>
                                      </p:tavLst>
                                    </p:anim>
                                  </p:childTnLst>
                                </p:cTn>
                              </p:par>
                            </p:childTnLst>
                          </p:cTn>
                        </p:par>
                        <p:par>
                          <p:cTn id="169" fill="hold">
                            <p:stCondLst>
                              <p:cond delay="150"/>
                            </p:stCondLst>
                            <p:childTnLst>
                              <p:par>
                                <p:cTn id="170" presetID="53" presetClass="entr" presetSubtype="16" fill="hold" grpId="0" nodeType="afterEffect">
                                  <p:stCondLst>
                                    <p:cond delay="0"/>
                                  </p:stCondLst>
                                  <p:childTnLst>
                                    <p:set>
                                      <p:cBhvr>
                                        <p:cTn id="171" dur="1" fill="hold">
                                          <p:stCondLst>
                                            <p:cond delay="0"/>
                                          </p:stCondLst>
                                        </p:cTn>
                                        <p:tgtEl>
                                          <p:spTgt spid="44"/>
                                        </p:tgtEl>
                                        <p:attrNameLst>
                                          <p:attrName>style.visibility</p:attrName>
                                        </p:attrNameLst>
                                      </p:cBhvr>
                                      <p:to>
                                        <p:strVal val="visible"/>
                                      </p:to>
                                    </p:set>
                                    <p:animEffect transition="in" filter="fade">
                                      <p:cBhvr>
                                        <p:cTn id="172" dur="550"/>
                                        <p:tgtEl>
                                          <p:spTgt spid="44"/>
                                        </p:tgtEl>
                                      </p:cBhvr>
                                    </p:animEffect>
                                    <p:anim calcmode="lin" valueType="num">
                                      <p:cBhvr additive="base">
                                        <p:cTn id="173" dur="550" fill="hold"/>
                                        <p:tgtEl>
                                          <p:spTgt spid="44"/>
                                        </p:tgtEl>
                                        <p:attrNameLst>
                                          <p:attrName>ppt_w</p:attrName>
                                        </p:attrNameLst>
                                      </p:cBhvr>
                                      <p:tavLst>
                                        <p:tav tm="0">
                                          <p:val>
                                            <p:strVal val="0"/>
                                          </p:val>
                                        </p:tav>
                                        <p:tav tm="100000">
                                          <p:val>
                                            <p:strVal val="#ppt_w"/>
                                          </p:val>
                                        </p:tav>
                                      </p:tavLst>
                                    </p:anim>
                                    <p:anim calcmode="lin" valueType="num">
                                      <p:cBhvr additive="base">
                                        <p:cTn id="174" dur="550" fill="hold"/>
                                        <p:tgtEl>
                                          <p:spTgt spid="44"/>
                                        </p:tgtEl>
                                        <p:attrNameLst>
                                          <p:attrName>ppt_h</p:attrName>
                                        </p:attrNameLst>
                                      </p:cBhvr>
                                      <p:tavLst>
                                        <p:tav tm="0">
                                          <p:val>
                                            <p:strVal val="0"/>
                                          </p:val>
                                        </p:tav>
                                        <p:tav tm="100000">
                                          <p:val>
                                            <p:strVal val="#ppt_h"/>
                                          </p:val>
                                        </p:tav>
                                      </p:tavLst>
                                    </p:anim>
                                  </p:childTnLst>
                                </p:cTn>
                              </p:par>
                            </p:childTnLst>
                          </p:cTn>
                        </p:par>
                        <p:par>
                          <p:cTn id="175" fill="hold">
                            <p:stCondLst>
                              <p:cond delay="150"/>
                            </p:stCondLst>
                            <p:childTnLst>
                              <p:par>
                                <p:cTn id="176" presetID="10" presetClass="entr" presetSubtype="0"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childTnLst>
                                </p:cTn>
                              </p:par>
                            </p:childTnLst>
                          </p:cTn>
                        </p:par>
                        <p:par>
                          <p:cTn id="179" fill="hold">
                            <p:stCondLst>
                              <p:cond delay="350"/>
                            </p:stCondLst>
                            <p:childTnLst>
                              <p:par>
                                <p:cTn id="180" presetID="53" presetClass="entr" presetSubtype="16" fill="hold" grpId="0" nodeType="afterEffect">
                                  <p:stCondLst>
                                    <p:cond delay="0"/>
                                  </p:stCondLst>
                                  <p:childTnLst>
                                    <p:set>
                                      <p:cBhvr>
                                        <p:cTn id="181" dur="1" fill="hold">
                                          <p:stCondLst>
                                            <p:cond delay="0"/>
                                          </p:stCondLst>
                                        </p:cTn>
                                        <p:tgtEl>
                                          <p:spTgt spid="46"/>
                                        </p:tgtEl>
                                        <p:attrNameLst>
                                          <p:attrName>style.visibility</p:attrName>
                                        </p:attrNameLst>
                                      </p:cBhvr>
                                      <p:to>
                                        <p:strVal val="visible"/>
                                      </p:to>
                                    </p:set>
                                    <p:animEffect transition="in" filter="fade">
                                      <p:cBhvr>
                                        <p:cTn id="182" dur="550"/>
                                        <p:tgtEl>
                                          <p:spTgt spid="46"/>
                                        </p:tgtEl>
                                      </p:cBhvr>
                                    </p:animEffect>
                                    <p:anim calcmode="lin" valueType="num">
                                      <p:cBhvr additive="base">
                                        <p:cTn id="183" dur="550" fill="hold"/>
                                        <p:tgtEl>
                                          <p:spTgt spid="46"/>
                                        </p:tgtEl>
                                        <p:attrNameLst>
                                          <p:attrName>ppt_w</p:attrName>
                                        </p:attrNameLst>
                                      </p:cBhvr>
                                      <p:tavLst>
                                        <p:tav tm="0">
                                          <p:val>
                                            <p:strVal val="0"/>
                                          </p:val>
                                        </p:tav>
                                        <p:tav tm="100000">
                                          <p:val>
                                            <p:strVal val="#ppt_w"/>
                                          </p:val>
                                        </p:tav>
                                      </p:tavLst>
                                    </p:anim>
                                    <p:anim calcmode="lin" valueType="num">
                                      <p:cBhvr additive="base">
                                        <p:cTn id="184" dur="550" fill="hold"/>
                                        <p:tgtEl>
                                          <p:spTgt spid="46"/>
                                        </p:tgtEl>
                                        <p:attrNameLst>
                                          <p:attrName>ppt_h</p:attrName>
                                        </p:attrNameLst>
                                      </p:cBhvr>
                                      <p:tavLst>
                                        <p:tav tm="0">
                                          <p:val>
                                            <p:strVal val="0"/>
                                          </p:val>
                                        </p:tav>
                                        <p:tav tm="100000">
                                          <p:val>
                                            <p:strVal val="#ppt_h"/>
                                          </p:val>
                                        </p:tav>
                                      </p:tavLst>
                                    </p:anim>
                                  </p:childTnLst>
                                </p:cTn>
                              </p:par>
                            </p:childTnLst>
                          </p:cTn>
                        </p:par>
                        <p:par>
                          <p:cTn id="185" fill="hold">
                            <p:stCondLst>
                              <p:cond delay="450"/>
                            </p:stCondLst>
                            <p:childTnLst>
                              <p:par>
                                <p:cTn id="186" presetID="10" presetClass="entr" presetSubtype="0"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Effect transition="in" filter="fade">
                                      <p:cBhvr>
                                        <p:cTn id="188" dur="550"/>
                                        <p:tgtEl>
                                          <p:spTgt spid="47"/>
                                        </p:tgtEl>
                                      </p:cBhvr>
                                    </p:animEffect>
                                  </p:childTnLst>
                                </p:cTn>
                              </p:par>
                            </p:childTnLst>
                          </p:cTn>
                        </p:par>
                        <p:par>
                          <p:cTn id="189" fill="hold">
                            <p:stCondLst>
                              <p:cond delay="550"/>
                            </p:stCondLst>
                            <p:childTnLst>
                              <p:par>
                                <p:cTn id="190" presetID="2" presetClass="entr" presetSubtype="8" fill="hold" grpId="0" nodeType="afterEffect">
                                  <p:stCondLst>
                                    <p:cond delay="0"/>
                                  </p:stCondLst>
                                  <p:childTnLst>
                                    <p:set>
                                      <p:cBhvr>
                                        <p:cTn id="191" dur="1" fill="hold">
                                          <p:stCondLst>
                                            <p:cond delay="0"/>
                                          </p:stCondLst>
                                        </p:cTn>
                                        <p:tgtEl>
                                          <p:spTgt spid="48"/>
                                        </p:tgtEl>
                                        <p:attrNameLst>
                                          <p:attrName>style.visibility</p:attrName>
                                        </p:attrNameLst>
                                      </p:cBhvr>
                                      <p:to>
                                        <p:strVal val="visible"/>
                                      </p:to>
                                    </p:set>
                                    <p:anim calcmode="lin" valueType="num">
                                      <p:cBhvr additive="base">
                                        <p:cTn id="193" dur="550" fill="hold"/>
                                        <p:tgtEl>
                                          <p:spTgt spid="48"/>
                                        </p:tgtEl>
                                        <p:attrNameLst>
                                          <p:attrName>ppt_x</p:attrName>
                                        </p:attrNameLst>
                                      </p:cBhvr>
                                      <p:tavLst>
                                        <p:tav tm="0">
                                          <p:val>
                                            <p:strVal val="0-#ppt_w/2"/>
                                          </p:val>
                                        </p:tav>
                                        <p:tav tm="100000">
                                          <p:val>
                                            <p:strVal val="#ppt_x"/>
                                          </p:val>
                                        </p:tav>
                                      </p:tavLst>
                                    </p:anim>
                                    <p:anim calcmode="lin" valueType="num">
                                      <p:cBhvr additive="base">
                                        <p:cTn id="194" dur="550" fill="hold"/>
                                        <p:tgtEl>
                                          <p:spTgt spid="48"/>
                                        </p:tgtEl>
                                        <p:attrNameLst>
                                          <p:attrName>ppt_y</p:attrName>
                                        </p:attrNameLst>
                                      </p:cBhvr>
                                      <p:tavLst>
                                        <p:tav tm="0">
                                          <p:val>
                                            <p:strVal val="#ppt_y"/>
                                          </p:val>
                                        </p:tav>
                                        <p:tav tm="100000">
                                          <p:val>
                                            <p:strVal val="#ppt_y"/>
                                          </p:val>
                                        </p:tav>
                                      </p:tavLst>
                                    </p:anim>
                                  </p:childTnLst>
                                </p:cTn>
                              </p:par>
                            </p:childTnLst>
                          </p:cTn>
                        </p:par>
                        <p:par>
                          <p:cTn id="195" fill="hold">
                            <p:stCondLst>
                              <p:cond delay="650"/>
                            </p:stCondLst>
                            <p:childTnLst>
                              <p:par>
                                <p:cTn id="196" presetID="22" presetClass="entr" presetSubtype="8" fill="hold" grpId="0" nodeType="afterEffect">
                                  <p:stCondLst>
                                    <p:cond delay="0"/>
                                  </p:stCondLst>
                                  <p:childTnLst>
                                    <p:set>
                                      <p:cBhvr>
                                        <p:cTn id="197" dur="1" fill="hold">
                                          <p:stCondLst>
                                            <p:cond delay="0"/>
                                          </p:stCondLst>
                                        </p:cTn>
                                        <p:tgtEl>
                                          <p:spTgt spid="49"/>
                                        </p:tgtEl>
                                        <p:attrNameLst>
                                          <p:attrName>style.visibility</p:attrName>
                                        </p:attrNameLst>
                                      </p:cBhvr>
                                      <p:to>
                                        <p:strVal val="visible"/>
                                      </p:to>
                                    </p:set>
                                    <p:animEffect transition="in" filter="wipe(left)">
                                      <p:cBhvr>
                                        <p:cTn id="199" dur="8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5" grpId="0" animBg="1"/>
      <p:bldP spid="46" grpId="0" animBg="1"/>
      <p:bldP spid="47" grpId="0" animBg="1"/>
      <p:bldP spid="48" grpId="0" animBg="1"/>
      <p:bldP spid="49"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Pruning: siyraklashtirish</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460b1c4521cd96c5.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Ragesoss · Wikimedia Commons · CC BY-SA 3.0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Pruning — ta'siri kam parametrlarni (og'irliklar, kanallar, boshlar, qatlamlar) olib tashlash.</a:t>
            </a:r>
          </a:p>
          <a:p>
            <a:pPr>
              <a:spcBef>
                <a:spcPts val="400"/>
              </a:spcBef>
            </a:pPr>
            <a:r>
              <a:rPr sz="1400">
                <a:solidFill>
                  <a:srgbClr val="AEBBD9"/>
                </a:solidFill>
                <a:latin typeface="Segoe UI"/>
              </a:rPr>
              <a:t>Eng oddiy mezon — kattalik (magnitude pruning): absolyut qiymati kichik og'irliklar nolga tenglashtiriladi. Lottery ticket gipotezasi (Frankle va Carbin, 2019) va ko'plab tajribalar shuni ko'rsatadiki, ko'p tarmoqlarda og'irliklarning 50–90 foizini aniqlikni deyarli yo'qotmasdan olib tashlash mumkin — agar pruning bosqichma-bosqich (iterativ) va qisqa qayta o'qitish (fine-tuning) bilan bajarilsa.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Pruning: siyraklashtirish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497992"/>
            <a:ext cx="50000" cy="258401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Lekin bu yerda muhandis uchun hal qiluvchi nuqta bor: strukturlanmagan (unstructured) siyraklik — tasodifiy joylarda nol — umumiy maqsadli GPU'da tezlashish bermaydi.</a:t>
            </a:r>
          </a:p>
          <a:p>
            <a:pPr>
              <a:spcBef>
                <a:spcPts val="400"/>
              </a:spcBef>
            </a:pPr>
            <a:r>
              <a:rPr sz="1600">
                <a:solidFill>
                  <a:srgbClr val="AEBBD9"/>
                </a:solidFill>
                <a:latin typeface="Segoe UI"/>
              </a:rPr>
              <a:t>Zich matritsa ko'paytmasi kernellari nollarni ham ko'paytiradi; siyrak formatlar (CSR) esa indekslar yuki tufayli faqat 90–95 foizdan yuqori siyraklikda zich formatdan tezroq bo'ladi. Shuning uchun amaliyotda uch yo'l bor.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Pruning: siyraklashtirish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9b9823fb9ce10605.jpg"/>
          <p:cNvPicPr>
            <a:picLocks noChangeAspect="1"/>
          </p:cNvPicPr>
          <p:nvPr/>
        </p:nvPicPr>
        <p:blipFill>
          <a:blip r:embed="rId2"/>
          <a:srcRect l="20742" r="20742"/>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Ordercrazy · Wikimedia Commons · CC0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48868"/>
            <a:ext cx="50000" cy="228226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0" name="TextBox 29"/>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Birinchisi — strukturlangan pruning: butun konvolyutsiya filtrlarini, kanallarni, attention boshlarini yoki qatlamlarni olib tashlash; natija — kichikroq zich model, har qanday apparatda tezlashadi.</a:t>
            </a:r>
          </a:p>
          <a:p>
            <a:pPr>
              <a:spcBef>
                <a:spcPts val="400"/>
              </a:spcBef>
            </a:pPr>
            <a:r>
              <a:rPr sz="1400">
                <a:solidFill>
                  <a:srgbClr val="AEBBD9"/>
                </a:solidFill>
                <a:latin typeface="Segoe UI"/>
              </a:rPr>
              <a:t>Ikkinchisi — 2:4 yarim strukturlangan siyraklik (Ampere va keyingi NVIDIA GPU'larda Sparse Tensor Core): har 4 ta ketma-ket og'irlikdan aynan 2 tasi nol; apparat buni siqilgan formatda saqlaydi va matmul'ni nazariy 2 baravar tezlashtiradi; aniqlik qayta o'qitish bilan odatda saqlanadi.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Pruning: siyraklashtirish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7522695264632dd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Jguarin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32104"/>
            <a:ext cx="50000" cy="231579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0" name="TextBox 29"/>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Pruning darajasini baholashda uchta ko'rsatkich: parametrlar ulushi (hajm), FLOP ulushi (hisoblash) va o'lchangan kechikish (haqiqiy tezlik).</a:t>
            </a:r>
          </a:p>
          <a:p>
            <a:pPr>
              <a:spcBef>
                <a:spcPts val="400"/>
              </a:spcBef>
            </a:pPr>
            <a:r>
              <a:rPr sz="1600">
                <a:solidFill>
                  <a:srgbClr val="AEBBD9"/>
                </a:solidFill>
                <a:latin typeface="Segoe UI"/>
              </a:rPr>
              <a:t>Bular bir-biriga mos kelmasligi mumkin: kanallarning 50 foizini olib tashlash FLOP'ni 75 foizga kamaytiradi (ikki o'lcham ham qisqaradi), lekin xotira bilan chegaralangan qatlamlarda kechikish deyarli o'zgarmasligi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8597978c28505d6a.jpg"/>
          <p:cNvPicPr>
            <a:picLocks noChangeAspect="1"/>
          </p:cNvPicPr>
          <p:nvPr/>
        </p:nvPicPr>
        <p:blipFill>
          <a:blip r:embed="rId2"/>
          <a:srcRect l="14324" r="14324"/>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BLM Alaska · Wikimedia Commons · Public domain</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Knowledge Distillation: bilim distillyatsiyasi</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Knowledge Distillation: bilim distillyatsiyasi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5cc156e1755d88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GALAXY 2018 A7 · Wikimedia Commons · CC0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Bilim distillyatsiyasi (Hinton, Vinyals, Dean, 2015) katta, aniq «o'qituvchi» modelning xulq-atvorini kichik «o'quvchi» modelga o'rgatadi.</a:t>
            </a:r>
          </a:p>
          <a:p>
            <a:pPr>
              <a:spcBef>
                <a:spcPts val="400"/>
              </a:spcBef>
            </a:pPr>
            <a:r>
              <a:rPr sz="1400">
                <a:solidFill>
                  <a:srgbClr val="AEBBD9"/>
                </a:solidFill>
                <a:latin typeface="Segoe UI"/>
              </a:rPr>
              <a:t>Asosiy kuzatuv: o'qituvchining yumshoq ehtimollik taqsimoti (soft targets) qattiq yorliqdan (hard label) ko'proq ma'lumot beradi — «bu rasm 90 foiz it, 7 foiz bo'ri, 0,01 foiz mashina» degan taqsimot sinflar orasidagi o'xshashlikni ifodalaydi. Yumshoq taqsimotni «yoyish» uchun harorat (temperature) T kiritiladi: p_i = exp(z_i / T) / Σ_j exp(z_j / 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Knowledge Distillation: bilim distillyatsiyasi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22</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f6c7780a9e8da9fd.jpg"/>
          <p:cNvPicPr>
            <a:picLocks noChangeAspect="1"/>
          </p:cNvPicPr>
          <p:nvPr/>
        </p:nvPicPr>
        <p:blipFill>
          <a:blip r:embed="rId2"/>
          <a:srcRect l="15233" r="15233"/>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Mister rf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795656"/>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875656"/>
            <a:ext cx="50000" cy="177934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56532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1835656"/>
            <a:ext cx="5900000" cy="1859344"/>
          </a:xfrm>
          <a:prstGeom prst="rect">
            <a:avLst/>
          </a:prstGeom>
          <a:noFill/>
        </p:spPr>
        <p:txBody>
          <a:bodyPr wrap="square" anchor="ctr">
            <a:spAutoFit/>
          </a:bodyPr>
          <a:lstStyle/>
          <a:p>
            <a:r>
              <a:rPr sz="1600" b="0">
                <a:solidFill>
                  <a:srgbClr val="E8EEFA"/>
                </a:solidFill>
                <a:latin typeface="Segoe UI"/>
              </a:rPr>
              <a:t>L = α · T² · KL(p_teacher(T) ‖ p_student(T)) + (1 − α) · CE(y, p_student(1))</a:t>
            </a:r>
          </a:p>
        </p:txBody>
      </p:sp>
      <p:sp>
        <p:nvSpPr>
          <p:cNvPr id="32" name="Rounded Rectangle 31"/>
          <p:cNvSpPr/>
          <p:nvPr/>
        </p:nvSpPr>
        <p:spPr>
          <a:xfrm>
            <a:off x="550000" y="3845000"/>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77934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614672"/>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5" name="TextBox 34"/>
          <p:cNvSpPr txBox="1"/>
          <p:nvPr/>
        </p:nvSpPr>
        <p:spPr>
          <a:xfrm>
            <a:off x="1300000" y="3885000"/>
            <a:ext cx="5900000" cy="1859344"/>
          </a:xfrm>
          <a:prstGeom prst="rect">
            <a:avLst/>
          </a:prstGeom>
          <a:noFill/>
        </p:spPr>
        <p:txBody>
          <a:bodyPr wrap="square" anchor="ctr">
            <a:spAutoFit/>
          </a:bodyPr>
          <a:lstStyle/>
          <a:p>
            <a:r>
              <a:rPr sz="1700" b="1">
                <a:solidFill>
                  <a:srgbClr val="E8EEFA"/>
                </a:solidFill>
                <a:latin typeface="Segoe UI"/>
              </a:rPr>
              <a:t>bu yerda T² ko'paytuvchi gradient kattaligini kompensatsiya qiladi, α (odatda 0,5–0,9) ikki hadning muvozanati.</a:t>
            </a:r>
          </a:p>
          <a:p>
            <a:pPr>
              <a:spcBef>
                <a:spcPts val="400"/>
              </a:spcBef>
            </a:pPr>
            <a:r>
              <a:rPr sz="1600">
                <a:solidFill>
                  <a:srgbClr val="AEBBD9"/>
                </a:solidFill>
                <a:latin typeface="Segoe UI"/>
              </a:rPr>
              <a:t>Distillyatsiya turlari: javob asosida (logitlar), xususiyat asosida (oraliq qatlamlar — FitNets, TinyBERT), munosabat asosida (namunalar orasidagi masofalar).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Knowledge Distillation: bilim distillyatsiyasi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23</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460b1c4521cd96c5.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Ragesoss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497992"/>
            <a:ext cx="50000" cy="258401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1" name="TextBox 30"/>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Mashhur natijalar: DistilBERT — BERT-base'dan 40 foiz kichik, 60 foiz tezroq, sifatning 97 foizini saqlaydi; zamonaviy kichik til modellari ham ko'pincha katta modellar chiqishi (sintetik ma'lumot) asosida o'qitiladi — bu ham distillyatsiyaning bir shakli.</a:t>
            </a:r>
          </a:p>
          <a:p>
            <a:pPr>
              <a:spcBef>
                <a:spcPts val="400"/>
              </a:spcBef>
            </a:pPr>
            <a:r>
              <a:rPr sz="1600">
                <a:solidFill>
                  <a:srgbClr val="AEBBD9"/>
                </a:solidFill>
                <a:latin typeface="Segoe UI"/>
              </a:rPr>
              <a:t>Distillyatsiya pruning va kvantlash bilan yaxshi birlashadi: kvantlangan yoki siyraklashtirilgan o'quvchini o'qituvchiga nisbatan qayta o'qitish aniqlikni tiklaydi.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9c6e041310e3d707.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6" name="TextBox 45"/>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Mooshua1857 · Wikimedia Commons · CC0</a:t>
            </a:r>
          </a:p>
        </p:txBody>
      </p:sp>
      <p:sp>
        <p:nvSpPr>
          <p:cNvPr id="47" name="TextBox 46"/>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8" name="TextBox 47"/>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9" name="TextBox 48"/>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Model va kernel darajasidagi optimallashtirish</a:t>
            </a:r>
          </a:p>
        </p:txBody>
      </p:sp>
      <p:sp>
        <p:nvSpPr>
          <p:cNvPr id="50" name="Rectangle 49"/>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150"/>
                            </p:stCondLst>
                            <p:childTnLst>
                              <p:par>
                                <p:cTn id="168" presetID="53" presetClass="entr" presetSubtype="16"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anim calcmode="lin" valueType="num">
                                      <p:cBhvr additive="base">
                                        <p:cTn id="171" dur="550" fill="hold"/>
                                        <p:tgtEl>
                                          <p:spTgt spid="44"/>
                                        </p:tgtEl>
                                        <p:attrNameLst>
                                          <p:attrName>ppt_w</p:attrName>
                                        </p:attrNameLst>
                                      </p:cBhvr>
                                      <p:tavLst>
                                        <p:tav tm="0">
                                          <p:val>
                                            <p:strVal val="0"/>
                                          </p:val>
                                        </p:tav>
                                        <p:tav tm="100000">
                                          <p:val>
                                            <p:strVal val="#ppt_w"/>
                                          </p:val>
                                        </p:tav>
                                      </p:tavLst>
                                    </p:anim>
                                    <p:anim calcmode="lin" valueType="num">
                                      <p:cBhvr additive="base">
                                        <p:cTn id="172" dur="550" fill="hold"/>
                                        <p:tgtEl>
                                          <p:spTgt spid="44"/>
                                        </p:tgtEl>
                                        <p:attrNameLst>
                                          <p:attrName>ppt_h</p:attrName>
                                        </p:attrNameLst>
                                      </p:cBhvr>
                                      <p:tavLst>
                                        <p:tav tm="0">
                                          <p:val>
                                            <p:strVal val="0"/>
                                          </p:val>
                                        </p:tav>
                                        <p:tav tm="100000">
                                          <p:val>
                                            <p:strVal val="#ppt_h"/>
                                          </p:val>
                                        </p:tav>
                                      </p:tavLst>
                                    </p:anim>
                                  </p:childTnLst>
                                </p:cTn>
                              </p:par>
                            </p:childTnLst>
                          </p:cTn>
                        </p:par>
                        <p:par>
                          <p:cTn id="173" fill="hold">
                            <p:stCondLst>
                              <p:cond delay="150"/>
                            </p:stCondLst>
                            <p:childTnLst>
                              <p:par>
                                <p:cTn id="174" presetID="53" presetClass="entr" presetSubtype="16" fill="hold" grpId="0" nodeType="afterEffect">
                                  <p:stCondLst>
                                    <p:cond delay="0"/>
                                  </p:stCondLst>
                                  <p:childTnLst>
                                    <p:set>
                                      <p:cBhvr>
                                        <p:cTn id="175" dur="1" fill="hold">
                                          <p:stCondLst>
                                            <p:cond delay="0"/>
                                          </p:stCondLst>
                                        </p:cTn>
                                        <p:tgtEl>
                                          <p:spTgt spid="45"/>
                                        </p:tgtEl>
                                        <p:attrNameLst>
                                          <p:attrName>style.visibility</p:attrName>
                                        </p:attrNameLst>
                                      </p:cBhvr>
                                      <p:to>
                                        <p:strVal val="visible"/>
                                      </p:to>
                                    </p:set>
                                    <p:animEffect transition="in" filter="fade">
                                      <p:cBhvr>
                                        <p:cTn id="176" dur="550"/>
                                        <p:tgtEl>
                                          <p:spTgt spid="45"/>
                                        </p:tgtEl>
                                      </p:cBhvr>
                                    </p:animEffect>
                                    <p:anim calcmode="lin" valueType="num">
                                      <p:cBhvr additive="base">
                                        <p:cTn id="177" dur="550" fill="hold"/>
                                        <p:tgtEl>
                                          <p:spTgt spid="45"/>
                                        </p:tgtEl>
                                        <p:attrNameLst>
                                          <p:attrName>ppt_w</p:attrName>
                                        </p:attrNameLst>
                                      </p:cBhvr>
                                      <p:tavLst>
                                        <p:tav tm="0">
                                          <p:val>
                                            <p:strVal val="0"/>
                                          </p:val>
                                        </p:tav>
                                        <p:tav tm="100000">
                                          <p:val>
                                            <p:strVal val="#ppt_w"/>
                                          </p:val>
                                        </p:tav>
                                      </p:tavLst>
                                    </p:anim>
                                    <p:anim calcmode="lin" valueType="num">
                                      <p:cBhvr additive="base">
                                        <p:cTn id="178" dur="550" fill="hold"/>
                                        <p:tgtEl>
                                          <p:spTgt spid="45"/>
                                        </p:tgtEl>
                                        <p:attrNameLst>
                                          <p:attrName>ppt_h</p:attrName>
                                        </p:attrNameLst>
                                      </p:cBhvr>
                                      <p:tavLst>
                                        <p:tav tm="0">
                                          <p:val>
                                            <p:strVal val="0"/>
                                          </p:val>
                                        </p:tav>
                                        <p:tav tm="100000">
                                          <p:val>
                                            <p:strVal val="#ppt_h"/>
                                          </p:val>
                                        </p:tav>
                                      </p:tavLst>
                                    </p:anim>
                                  </p:childTnLst>
                                </p:cTn>
                              </p:par>
                            </p:childTnLst>
                          </p:cTn>
                        </p:par>
                        <p:par>
                          <p:cTn id="179" fill="hold">
                            <p:stCondLst>
                              <p:cond delay="150"/>
                            </p:stCondLst>
                            <p:childTnLst>
                              <p:par>
                                <p:cTn id="180" presetID="10" presetClass="entr" presetSubtype="0" fill="hold" grpId="0" nodeType="afterEffect">
                                  <p:stCondLst>
                                    <p:cond delay="0"/>
                                  </p:stCondLst>
                                  <p:childTnLst>
                                    <p:set>
                                      <p:cBhvr>
                                        <p:cTn id="181" dur="1" fill="hold">
                                          <p:stCondLst>
                                            <p:cond delay="0"/>
                                          </p:stCondLst>
                                        </p:cTn>
                                        <p:tgtEl>
                                          <p:spTgt spid="46"/>
                                        </p:tgtEl>
                                        <p:attrNameLst>
                                          <p:attrName>style.visibility</p:attrName>
                                        </p:attrNameLst>
                                      </p:cBhvr>
                                      <p:to>
                                        <p:strVal val="visible"/>
                                      </p:to>
                                    </p:set>
                                    <p:animEffect transition="in" filter="fade">
                                      <p:cBhvr>
                                        <p:cTn id="182" dur="550"/>
                                        <p:tgtEl>
                                          <p:spTgt spid="46"/>
                                        </p:tgtEl>
                                      </p:cBhvr>
                                    </p:animEffect>
                                  </p:childTnLst>
                                </p:cTn>
                              </p:par>
                            </p:childTnLst>
                          </p:cTn>
                        </p:par>
                        <p:par>
                          <p:cTn id="183" fill="hold">
                            <p:stCondLst>
                              <p:cond delay="350"/>
                            </p:stCondLst>
                            <p:childTnLst>
                              <p:par>
                                <p:cTn id="184" presetID="53" presetClass="entr" presetSubtype="16" fill="hold" grpId="0" nodeType="afterEffect">
                                  <p:stCondLst>
                                    <p:cond delay="0"/>
                                  </p:stCondLst>
                                  <p:childTnLst>
                                    <p:set>
                                      <p:cBhvr>
                                        <p:cTn id="185" dur="1" fill="hold">
                                          <p:stCondLst>
                                            <p:cond delay="0"/>
                                          </p:stCondLst>
                                        </p:cTn>
                                        <p:tgtEl>
                                          <p:spTgt spid="47"/>
                                        </p:tgtEl>
                                        <p:attrNameLst>
                                          <p:attrName>style.visibility</p:attrName>
                                        </p:attrNameLst>
                                      </p:cBhvr>
                                      <p:to>
                                        <p:strVal val="visible"/>
                                      </p:to>
                                    </p:set>
                                    <p:animEffect transition="in" filter="fade">
                                      <p:cBhvr>
                                        <p:cTn id="186" dur="550"/>
                                        <p:tgtEl>
                                          <p:spTgt spid="47"/>
                                        </p:tgtEl>
                                      </p:cBhvr>
                                    </p:animEffect>
                                    <p:anim calcmode="lin" valueType="num">
                                      <p:cBhvr additive="base">
                                        <p:cTn id="187" dur="550" fill="hold"/>
                                        <p:tgtEl>
                                          <p:spTgt spid="47"/>
                                        </p:tgtEl>
                                        <p:attrNameLst>
                                          <p:attrName>ppt_w</p:attrName>
                                        </p:attrNameLst>
                                      </p:cBhvr>
                                      <p:tavLst>
                                        <p:tav tm="0">
                                          <p:val>
                                            <p:strVal val="0"/>
                                          </p:val>
                                        </p:tav>
                                        <p:tav tm="100000">
                                          <p:val>
                                            <p:strVal val="#ppt_w"/>
                                          </p:val>
                                        </p:tav>
                                      </p:tavLst>
                                    </p:anim>
                                    <p:anim calcmode="lin" valueType="num">
                                      <p:cBhvr additive="base">
                                        <p:cTn id="188" dur="550" fill="hold"/>
                                        <p:tgtEl>
                                          <p:spTgt spid="47"/>
                                        </p:tgtEl>
                                        <p:attrNameLst>
                                          <p:attrName>ppt_h</p:attrName>
                                        </p:attrNameLst>
                                      </p:cBhvr>
                                      <p:tavLst>
                                        <p:tav tm="0">
                                          <p:val>
                                            <p:strVal val="0"/>
                                          </p:val>
                                        </p:tav>
                                        <p:tav tm="100000">
                                          <p:val>
                                            <p:strVal val="#ppt_h"/>
                                          </p:val>
                                        </p:tav>
                                      </p:tavLst>
                                    </p:anim>
                                  </p:childTnLst>
                                </p:cTn>
                              </p:par>
                            </p:childTnLst>
                          </p:cTn>
                        </p:par>
                        <p:par>
                          <p:cTn id="189" fill="hold">
                            <p:stCondLst>
                              <p:cond delay="450"/>
                            </p:stCondLst>
                            <p:childTnLst>
                              <p:par>
                                <p:cTn id="190" presetID="10" presetClass="entr" presetSubtype="0" fill="hold" grpId="0" nodeType="afterEffect">
                                  <p:stCondLst>
                                    <p:cond delay="0"/>
                                  </p:stCondLst>
                                  <p:childTnLst>
                                    <p:set>
                                      <p:cBhvr>
                                        <p:cTn id="191" dur="1" fill="hold">
                                          <p:stCondLst>
                                            <p:cond delay="0"/>
                                          </p:stCondLst>
                                        </p:cTn>
                                        <p:tgtEl>
                                          <p:spTgt spid="48"/>
                                        </p:tgtEl>
                                        <p:attrNameLst>
                                          <p:attrName>style.visibility</p:attrName>
                                        </p:attrNameLst>
                                      </p:cBhvr>
                                      <p:to>
                                        <p:strVal val="visible"/>
                                      </p:to>
                                    </p:set>
                                    <p:animEffect transition="in" filter="fade">
                                      <p:cBhvr>
                                        <p:cTn id="192" dur="550"/>
                                        <p:tgtEl>
                                          <p:spTgt spid="48"/>
                                        </p:tgtEl>
                                      </p:cBhvr>
                                    </p:animEffect>
                                  </p:childTnLst>
                                </p:cTn>
                              </p:par>
                            </p:childTnLst>
                          </p:cTn>
                        </p:par>
                        <p:par>
                          <p:cTn id="193" fill="hold">
                            <p:stCondLst>
                              <p:cond delay="550"/>
                            </p:stCondLst>
                            <p:childTnLst>
                              <p:par>
                                <p:cTn id="194" presetID="2" presetClass="entr" presetSubtype="8" fill="hold" grpId="0" nodeType="afterEffect">
                                  <p:stCondLst>
                                    <p:cond delay="0"/>
                                  </p:stCondLst>
                                  <p:childTnLst>
                                    <p:set>
                                      <p:cBhvr>
                                        <p:cTn id="195" dur="1" fill="hold">
                                          <p:stCondLst>
                                            <p:cond delay="0"/>
                                          </p:stCondLst>
                                        </p:cTn>
                                        <p:tgtEl>
                                          <p:spTgt spid="49"/>
                                        </p:tgtEl>
                                        <p:attrNameLst>
                                          <p:attrName>style.visibility</p:attrName>
                                        </p:attrNameLst>
                                      </p:cBhvr>
                                      <p:to>
                                        <p:strVal val="visible"/>
                                      </p:to>
                                    </p:set>
                                    <p:anim calcmode="lin" valueType="num">
                                      <p:cBhvr additive="base">
                                        <p:cTn id="197" dur="550" fill="hold"/>
                                        <p:tgtEl>
                                          <p:spTgt spid="49"/>
                                        </p:tgtEl>
                                        <p:attrNameLst>
                                          <p:attrName>ppt_x</p:attrName>
                                        </p:attrNameLst>
                                      </p:cBhvr>
                                      <p:tavLst>
                                        <p:tav tm="0">
                                          <p:val>
                                            <p:strVal val="0-#ppt_w/2"/>
                                          </p:val>
                                        </p:tav>
                                        <p:tav tm="100000">
                                          <p:val>
                                            <p:strVal val="#ppt_x"/>
                                          </p:val>
                                        </p:tav>
                                      </p:tavLst>
                                    </p:anim>
                                    <p:anim calcmode="lin" valueType="num">
                                      <p:cBhvr additive="base">
                                        <p:cTn id="198" dur="550" fill="hold"/>
                                        <p:tgtEl>
                                          <p:spTgt spid="49"/>
                                        </p:tgtEl>
                                        <p:attrNameLst>
                                          <p:attrName>ppt_y</p:attrName>
                                        </p:attrNameLst>
                                      </p:cBhvr>
                                      <p:tavLst>
                                        <p:tav tm="0">
                                          <p:val>
                                            <p:strVal val="#ppt_y"/>
                                          </p:val>
                                        </p:tav>
                                        <p:tav tm="100000">
                                          <p:val>
                                            <p:strVal val="#ppt_y"/>
                                          </p:val>
                                        </p:tav>
                                      </p:tavLst>
                                    </p:anim>
                                  </p:childTnLst>
                                </p:cTn>
                              </p:par>
                            </p:childTnLst>
                          </p:cTn>
                        </p:par>
                        <p:par>
                          <p:cTn id="199" fill="hold">
                            <p:stCondLst>
                              <p:cond delay="650"/>
                            </p:stCondLst>
                            <p:childTnLst>
                              <p:par>
                                <p:cTn id="200" presetID="22" presetClass="entr" presetSubtype="8" fill="hold" grpId="0" nodeType="afterEffect">
                                  <p:stCondLst>
                                    <p:cond delay="0"/>
                                  </p:stCondLst>
                                  <p:childTnLst>
                                    <p:set>
                                      <p:cBhvr>
                                        <p:cTn id="201" dur="1" fill="hold">
                                          <p:stCondLst>
                                            <p:cond delay="0"/>
                                          </p:stCondLst>
                                        </p:cTn>
                                        <p:tgtEl>
                                          <p:spTgt spid="50"/>
                                        </p:tgtEl>
                                        <p:attrNameLst>
                                          <p:attrName>style.visibility</p:attrName>
                                        </p:attrNameLst>
                                      </p:cBhvr>
                                      <p:to>
                                        <p:strVal val="visible"/>
                                      </p:to>
                                    </p:set>
                                    <p:animEffect transition="in" filter="wipe(left)">
                                      <p:cBhvr>
                                        <p:cTn id="203" dur="8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6" grpId="0" animBg="1"/>
      <p:bldP spid="47" grpId="0" animBg="1"/>
      <p:bldP spid="48" grpId="0" animBg="1"/>
      <p:bldP spid="49" grpId="0" animBg="1"/>
      <p:bldP spid="50"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Model va kernel darajasidagi optimallashtirish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25</a:t>
            </a:r>
          </a:p>
        </p:txBody>
      </p:sp>
      <p:sp>
        <p:nvSpPr>
          <p:cNvPr id="25" name="Rounded Rectangle 24"/>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Yuqoridagi usullar modelni o'zgartiradi; kernel darajasidagi optimallashtirish esa bir xil modelni apparatda samaraliroq bajaradi.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ppt_x</p:attrName>
                                        </p:attrNameLst>
                                      </p:cBhvr>
                                      <p:tavLst>
                                        <p:tav tm="0">
                                          <p:val>
                                            <p:strVal val="#ppt_x"/>
                                          </p:val>
                                        </p:tav>
                                        <p:tav tm="100000">
                                          <p:val>
                                            <p:strVal val="#ppt_x"/>
                                          </p:val>
                                        </p:tav>
                                      </p:tavLst>
                                    </p:anim>
                                    <p:anim calcmode="lin" valueType="num">
                                      <p:cBhvr additive="base">
                                        <p:cTn id="17" dur="550" fill="hold"/>
                                        <p:tgtEl>
                                          <p:spTgt spid="25"/>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ppt_x</p:attrName>
                                        </p:attrNameLst>
                                      </p:cBhvr>
                                      <p:tavLst>
                                        <p:tav tm="0">
                                          <p:val>
                                            <p:strVal val="#ppt_x"/>
                                          </p:val>
                                        </p:tav>
                                        <p:tav tm="100000">
                                          <p:val>
                                            <p:strVal val="#ppt_x"/>
                                          </p:val>
                                        </p:tav>
                                      </p:tavLst>
                                    </p:anim>
                                    <p:anim calcmode="lin" valueType="num">
                                      <p:cBhvr additive="base">
                                        <p:cTn id="23" dur="550" fill="hold"/>
                                        <p:tgtEl>
                                          <p:spTgt spid="26"/>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anim calcmode="lin" valueType="num">
                                      <p:cBhvr additive="base">
                                        <p:cTn id="28" dur="550" fill="hold"/>
                                        <p:tgtEl>
                                          <p:spTgt spid="27"/>
                                        </p:tgtEl>
                                        <p:attrNameLst>
                                          <p:attrName>ppt_w</p:attrName>
                                        </p:attrNameLst>
                                      </p:cBhvr>
                                      <p:tavLst>
                                        <p:tav tm="0">
                                          <p:val>
                                            <p:strVal val="0"/>
                                          </p:val>
                                        </p:tav>
                                        <p:tav tm="100000">
                                          <p:val>
                                            <p:strVal val="#ppt_w"/>
                                          </p:val>
                                        </p:tav>
                                      </p:tavLst>
                                    </p:anim>
                                    <p:anim calcmode="lin" valueType="num">
                                      <p:cBhvr additive="base">
                                        <p:cTn id="29" dur="550" fill="hold"/>
                                        <p:tgtEl>
                                          <p:spTgt spid="27"/>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550"/>
                                        <p:tgtEl>
                                          <p:spTgt spid="28"/>
                                        </p:tgtEl>
                                      </p:cBhvr>
                                    </p:animEffect>
                                    <p:anim calcmode="lin" valueType="num">
                                      <p:cBhvr additive="base">
                                        <p:cTn id="34" dur="550" fill="hold"/>
                                        <p:tgtEl>
                                          <p:spTgt spid="28"/>
                                        </p:tgtEl>
                                        <p:attrNameLst>
                                          <p:attrName>ppt_x</p:attrName>
                                        </p:attrNameLst>
                                      </p:cBhvr>
                                      <p:tavLst>
                                        <p:tav tm="0">
                                          <p:val>
                                            <p:strVal val="#ppt_x"/>
                                          </p:val>
                                        </p:tav>
                                        <p:tav tm="100000">
                                          <p:val>
                                            <p:strVal val="#ppt_x"/>
                                          </p:val>
                                        </p:tav>
                                      </p:tavLst>
                                    </p:anim>
                                    <p:anim calcmode="lin" valueType="num">
                                      <p:cBhvr additive="base">
                                        <p:cTn id="35"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05690ed099ffc088.jpg"/>
          <p:cNvPicPr>
            <a:picLocks noChangeAspect="1"/>
          </p:cNvPicPr>
          <p:nvPr/>
        </p:nvPicPr>
        <p:blipFill>
          <a:blip r:embed="rId2"/>
          <a:srcRect l="10518" r="10518"/>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Andrea Agnolin · Wikimedia Commons · CC BY-SA 4.0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Hisoblash resurslaridan samarali foydalanish va energiya samaradorligi</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Hisoblash resurslaridan samarali foydalanish va energiya samaradorligi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27</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1567432"/>
            <a:ext cx="5900000" cy="2127568"/>
          </a:xfrm>
          <a:prstGeom prst="rect">
            <a:avLst/>
          </a:prstGeom>
          <a:noFill/>
        </p:spPr>
        <p:txBody>
          <a:bodyPr wrap="square" anchor="ctr">
            <a:spAutoFit/>
          </a:bodyPr>
          <a:lstStyle/>
          <a:p>
            <a:r>
              <a:rPr sz="1500" b="1">
                <a:solidFill>
                  <a:srgbClr val="E8EEFA"/>
                </a:solidFill>
                <a:latin typeface="Segoe UI"/>
              </a:rPr>
              <a:t>Energiya samaradorligi ko'rsatkichi — inferens boshiga joul (J/inferens) yoki o'qitish uchun jami kVt·soat.</a:t>
            </a:r>
          </a:p>
          <a:p>
            <a:pPr>
              <a:spcBef>
                <a:spcPts val="400"/>
              </a:spcBef>
            </a:pPr>
            <a:r>
              <a:rPr sz="1400">
                <a:solidFill>
                  <a:srgbClr val="AEBBD9"/>
                </a:solidFill>
                <a:latin typeface="Segoe UI"/>
              </a:rPr>
              <a:t>U quvvat (Vt) va vaqtning ko'paytmasi, shuning uchun tezlashtirishning o'zi energiya tejaydi (quvvat deyarli bir xil qolib, vaqt qisqaradi).</a:t>
            </a:r>
          </a:p>
        </p:txBody>
      </p:sp>
      <p:sp>
        <p:nvSpPr>
          <p:cNvPr id="34" name="Rounded Rectangle 33"/>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7" name="TextBox 36"/>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Qo'shimcha dastaklar: past aniqlik (arifmetik va xotira energiyasi bitlar soniga proporsional yoki undan tez kamayadi), GPU quvvat chegarasi (nvidia-smi -pl) — H100'ni 700 dan 400 Vt'ga tushirish unumdorlikni 10–15 foizgina kamaytiradi, J/inferens esa…</a:t>
            </a:r>
          </a:p>
          <a:p>
            <a:pPr>
              <a:spcBef>
                <a:spcPts val="400"/>
              </a:spcBef>
            </a:pPr>
            <a:r>
              <a:rPr sz="1400">
                <a:solidFill>
                  <a:srgbClr val="AEBBD9"/>
                </a:solidFill>
                <a:latin typeface="Segoe UI"/>
              </a:rPr>
              <a:t>Umumiy strategiya: avval o'lchash (profil, roofline — M10), keyin eng katta tiqilish nuqtasini bartaraf etish, har qadamda aniqlikni maqsadli to'plamda qayta tekshirish.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0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10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3" name="Rectangle 92"/>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5" name="TextBox 94"/>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200"/>
                            </p:stCondLst>
                            <p:childTnLst>
                              <p:par>
                                <p:cTn id="360" presetID="53" presetClass="entr" presetSubtype="16"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anim calcmode="lin" valueType="num">
                                      <p:cBhvr additive="base">
                                        <p:cTn id="363" dur="550" fill="hold"/>
                                        <p:tgtEl>
                                          <p:spTgt spid="92"/>
                                        </p:tgtEl>
                                        <p:attrNameLst>
                                          <p:attrName>ppt_w</p:attrName>
                                        </p:attrNameLst>
                                      </p:cBhvr>
                                      <p:tavLst>
                                        <p:tav tm="0">
                                          <p:val>
                                            <p:strVal val="0"/>
                                          </p:val>
                                        </p:tav>
                                        <p:tav tm="100000">
                                          <p:val>
                                            <p:strVal val="#ppt_w"/>
                                          </p:val>
                                        </p:tav>
                                      </p:tavLst>
                                    </p:anim>
                                    <p:anim calcmode="lin" valueType="num">
                                      <p:cBhvr additive="base">
                                        <p:cTn id="364" dur="550" fill="hold"/>
                                        <p:tgtEl>
                                          <p:spTgt spid="92"/>
                                        </p:tgtEl>
                                        <p:attrNameLst>
                                          <p:attrName>ppt_h</p:attrName>
                                        </p:attrNameLst>
                                      </p:cBhvr>
                                      <p:tavLst>
                                        <p:tav tm="0">
                                          <p:val>
                                            <p:strVal val="0"/>
                                          </p:val>
                                        </p:tav>
                                        <p:tav tm="100000">
                                          <p:val>
                                            <p:strVal val="#ppt_h"/>
                                          </p:val>
                                        </p:tav>
                                      </p:tavLst>
                                    </p:anim>
                                  </p:childTnLst>
                                </p:cTn>
                              </p:par>
                            </p:childTnLst>
                          </p:cTn>
                        </p:par>
                        <p:par>
                          <p:cTn id="365" fill="hold">
                            <p:stCondLst>
                              <p:cond delay="350"/>
                            </p:stCondLst>
                            <p:childTnLst>
                              <p:par>
                                <p:cTn id="366" presetID="22" presetClass="entr" presetSubtype="8" fill="hold" grpId="0" nodeType="afterEffect">
                                  <p:stCondLst>
                                    <p:cond delay="0"/>
                                  </p:stCondLst>
                                  <p:childTnLst>
                                    <p:set>
                                      <p:cBhvr>
                                        <p:cTn id="367" dur="1" fill="hold">
                                          <p:stCondLst>
                                            <p:cond delay="0"/>
                                          </p:stCondLst>
                                        </p:cTn>
                                        <p:tgtEl>
                                          <p:spTgt spid="93"/>
                                        </p:tgtEl>
                                        <p:attrNameLst>
                                          <p:attrName>style.visibility</p:attrName>
                                        </p:attrNameLst>
                                      </p:cBhvr>
                                      <p:to>
                                        <p:strVal val="visible"/>
                                      </p:to>
                                    </p:set>
                                    <p:animEffect transition="in" filter="wipe(left)">
                                      <p:cBhvr>
                                        <p:cTn id="369" dur="800"/>
                                        <p:tgtEl>
                                          <p:spTgt spid="93"/>
                                        </p:tgtEl>
                                      </p:cBhvr>
                                    </p:animEffect>
                                  </p:childTnLst>
                                </p:cTn>
                              </p:par>
                            </p:childTnLst>
                          </p:cTn>
                        </p:par>
                        <p:par>
                          <p:cTn id="370" fill="hold">
                            <p:stCondLst>
                              <p:cond delay="500"/>
                            </p:stCondLst>
                            <p:childTnLst>
                              <p:par>
                                <p:cTn id="371" presetID="42" presetClass="entr" presetSubtype="0" fill="hold" grpId="0" nodeType="afterEffect">
                                  <p:stCondLst>
                                    <p:cond delay="0"/>
                                  </p:stCondLst>
                                  <p:childTnLst>
                                    <p:set>
                                      <p:cBhvr>
                                        <p:cTn id="372" dur="1" fill="hold">
                                          <p:stCondLst>
                                            <p:cond delay="0"/>
                                          </p:stCondLst>
                                        </p:cTn>
                                        <p:tgtEl>
                                          <p:spTgt spid="94"/>
                                        </p:tgtEl>
                                        <p:attrNameLst>
                                          <p:attrName>style.visibility</p:attrName>
                                        </p:attrNameLst>
                                      </p:cBhvr>
                                      <p:to>
                                        <p:strVal val="visible"/>
                                      </p:to>
                                    </p:set>
                                    <p:animEffect transition="in" filter="fade">
                                      <p:cBhvr>
                                        <p:cTn id="373" dur="550"/>
                                        <p:tgtEl>
                                          <p:spTgt spid="94"/>
                                        </p:tgtEl>
                                      </p:cBhvr>
                                    </p:animEffect>
                                    <p:anim calcmode="lin" valueType="num">
                                      <p:cBhvr additive="base">
                                        <p:cTn id="374" dur="550" fill="hold"/>
                                        <p:tgtEl>
                                          <p:spTgt spid="94"/>
                                        </p:tgtEl>
                                        <p:attrNameLst>
                                          <p:attrName>ppt_x</p:attrName>
                                        </p:attrNameLst>
                                      </p:cBhvr>
                                      <p:tavLst>
                                        <p:tav tm="0">
                                          <p:val>
                                            <p:strVal val="#ppt_x"/>
                                          </p:val>
                                        </p:tav>
                                        <p:tav tm="100000">
                                          <p:val>
                                            <p:strVal val="#ppt_x"/>
                                          </p:val>
                                        </p:tav>
                                      </p:tavLst>
                                    </p:anim>
                                    <p:anim calcmode="lin" valueType="num">
                                      <p:cBhvr additive="base">
                                        <p:cTn id="375" dur="550" fill="hold"/>
                                        <p:tgtEl>
                                          <p:spTgt spid="94"/>
                                        </p:tgtEl>
                                        <p:attrNameLst>
                                          <p:attrName>ppt_y</p:attrName>
                                        </p:attrNameLst>
                                      </p:cBhvr>
                                      <p:tavLst>
                                        <p:tav tm="0">
                                          <p:val>
                                            <p:strVal val="#ppt_y+.08"/>
                                          </p:val>
                                        </p:tav>
                                        <p:tav tm="100000">
                                          <p:val>
                                            <p:strVal val="#ppt_y"/>
                                          </p:val>
                                        </p:tav>
                                      </p:tavLst>
                                    </p:anim>
                                  </p:childTnLst>
                                </p:cTn>
                              </p:par>
                            </p:childTnLst>
                          </p:cTn>
                        </p:par>
                        <p:par>
                          <p:cTn id="376" fill="hold">
                            <p:stCondLst>
                              <p:cond delay="650"/>
                            </p:stCondLst>
                            <p:childTnLst>
                              <p:par>
                                <p:cTn id="377" presetID="10" presetClass="entr" presetSubtype="0" fill="hold" grpId="0" nodeType="afterEffect">
                                  <p:stCondLst>
                                    <p:cond delay="0"/>
                                  </p:stCondLst>
                                  <p:childTnLst>
                                    <p:set>
                                      <p:cBhvr>
                                        <p:cTn id="378" dur="1" fill="hold">
                                          <p:stCondLst>
                                            <p:cond delay="0"/>
                                          </p:stCondLst>
                                        </p:cTn>
                                        <p:tgtEl>
                                          <p:spTgt spid="95"/>
                                        </p:tgtEl>
                                        <p:attrNameLst>
                                          <p:attrName>style.visibility</p:attrName>
                                        </p:attrNameLst>
                                      </p:cBhvr>
                                      <p:to>
                                        <p:strVal val="visible"/>
                                      </p:to>
                                    </p:set>
                                    <p:animEffect transition="in" filter="fade">
                                      <p:cBhvr>
                                        <p:cTn id="379" dur="550"/>
                                        <p:tgtEl>
                                          <p:spTgt spid="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
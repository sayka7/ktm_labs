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Suzuvchi nuqtali son uchta qismdan iborat: ishora biti, eksponenta (diapazonni belgilaydi) va mantissa (aniqlikni belgilaydi). Formatlar aynan shu bitlarni turlicha taqsimlaydi:</a:t>
            </a:r>
          </a:p>
          <a:p/>
          <a:p>
            <a:r>
              <a:t>FP16 va BF16 o'rtasidagi farq o'qitish uchun hal qiluvchi: FP16 aniqroq (10 bit mantissa), lekin diapazoni tor — 6e−8 dan kichik qiymatlar nolga aylanadi (underflow), 65504 dan kattasi cheksizlikka (overflow). Chuqur tarmoq gradientlari ko'pincha 1e−8…1e−5 oralig'ida bo'ladi va FP16'da yo'qoladi. BF16 esa FP32 bilan bir xil eksponentaga ega — diapazon muammosi yo'q, lekin aniqligi pastroq; amaliyotda bu o'qitish uchun yetarli bo'lib chiqdi, shuning uchun zamonaviy katta modellar deyarli faqat BF16'da o'qitiladi.</a:t>
            </a:r>
          </a:p>
          <a:p/>
          <a:p>
            <a:r>
              <a:t>Aralash aniqlik (mixed precision) o'qitish g'oyasi (Micikevicius va boshq., 2018): og'ir matritsa ko'paytmalari va konvolyutsiyalar FP16/BF16'da Tensor Core'da bajariladi, lekin og'irliklarning asosiy nusxasi (master weights) FP32'da saqlanadi va yangilanadi, shunda kichik gradient yangilanishlari yo'qolmaydi; yig'indilar (reduction), softmax, normalizatsiya kabi sezgir operatsiyalar FP32'da qoladi. FP16 uchun qo'shimcha mexanizm — yo'qotish masshtablash (loss scaling): yo'qotish funksiyasi katta songa (masalan, 2^16) ko'paytiriladi, gradientlar shu songa proporsional kattalashadi va FP16 diapazoniga sig'adi, og'irlik yangilashdan oldin esa qayta bo'linadi; dinamik masshtablash overflow aniqlanganda koeffitsientni kamaytiradi va bir necha yuz qadamdan so'ng yana oshiradi. BF16'da loss scaling odatda kerak emas. PyTorch'da bularning barchasi torch.autocast va torch.cuda.amp.GradScaler orqali avtomatlashtirilgan [7].</a:t>
            </a:r>
          </a:p>
          <a:p/>
          <a:p>
            <a:r>
              <a:t>Tensor Core'da FP16/BF16 matmul FP32'ga qaraganda nazariy 8–16 baravar tez (A100: 19,5 TFLOPS FP32 vs 312 TFLOPS FP16 Tensor Core), amaliy tezlashish esa butun o'qitish sikli uchun 1,5–3 baravar, chunki hamma operatsiya ham matmul emas va xotira trafigi ham chegaralaydi. TF32 esa «bepul» yaxshilanish: kod o'zgarmaydi, FP32 matmul avtomatik 10-bitli mantissa bilan Tensor Core'da bajariladi (PyTorch'da torch.backends.cuda.matmul.allow_tf32).</a:t>
            </a:r>
          </a:p>
          <a:p/>
          <a:p>
            <a:r>
              <a:t>FP8 — Hopper avlodidan boshlab o'qitish uchun ham ishlatilmoqda (Transformer Engine kutubxonasi): oldinga o'tishda E4M3, gradientlar uchun E5M2, har tensor uchun dinamik masshtab bilan. Bu Tensor Core unumdorligini yana ikki baravar oshiradi, lekin barqarorlik uchun ehtiyotkor sozlash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Suzuvchi nuqtali son uchta qismdan iborat: ishora biti, eksponenta (diapazonni belgilaydi) va mantissa (aniqlikni belgilaydi). Formatlar aynan shu bitlarni turlicha taqsimlaydi:</a:t>
            </a:r>
          </a:p>
          <a:p/>
          <a:p>
            <a:r>
              <a:t>FP16 va BF16 o'rtasidagi farq o'qitish uchun hal qiluvchi: FP16 aniqroq (10 bit mantissa), lekin diapazoni tor — 6e−8 dan kichik qiymatlar nolga aylanadi (underflow), 65504 dan kattasi cheksizlikka (overflow). Chuqur tarmoq gradientlari ko'pincha 1e−8…1e−5 oralig'ida bo'ladi va FP16'da yo'qoladi. BF16 esa FP32 bilan bir xil eksponentaga ega — diapazon muammosi yo'q, lekin aniqligi pastroq; amaliyotda bu o'qitish uchun yetarli bo'lib chiqdi, shuning uchun zamonaviy katta modellar deyarli faqat BF16'da o'qitiladi.</a:t>
            </a:r>
          </a:p>
          <a:p/>
          <a:p>
            <a:r>
              <a:t>Aralash aniqlik (mixed precision) o'qitish g'oyasi (Micikevicius va boshq., 2018): og'ir matritsa ko'paytmalari va konvolyutsiyalar FP16/BF16'da Tensor Core'da bajariladi, lekin og'irliklarning asosiy nusxasi (master weights) FP32'da saqlanadi va yangilanadi, shunda kichik gradient yangilanishlari yo'qolmaydi; yig'indilar (reduction), softmax, normalizatsiya kabi sezgir operatsiyalar FP32'da qoladi. FP16 uchun qo'shimcha mexanizm — yo'qotish masshtablash (loss scaling): yo'qotish funksiyasi katta songa (masalan, 2^16) ko'paytiriladi, gradientlar shu songa proporsional kattalashadi va FP16 diapazoniga sig'adi, og'irlik yangilashdan oldin esa qayta bo'linadi; dinamik masshtablash overflow aniqlanganda koeffitsientni kamaytiradi va bir necha yuz qadamdan so'ng yana oshiradi. BF16'da loss scaling odatda kerak emas. PyTorch'da bularning barchasi torch.autocast va torch.cuda.amp.GradScaler orqali avtomatlashtirilgan [7].</a:t>
            </a:r>
          </a:p>
          <a:p/>
          <a:p>
            <a:r>
              <a:t>Tensor Core'da FP16/BF16 matmul FP32'ga qaraganda nazariy 8–16 baravar tez (A100: 19,5 TFLOPS FP32 vs 312 TFLOPS FP16 Tensor Core), amaliy tezlashish esa butun o'qitish sikli uchun 1,5–3 baravar, chunki hamma operatsiya ham matmul emas va xotira trafigi ham chegaralaydi. TF32 esa «bepul» yaxshilanish: kod o'zgarmaydi, FP32 matmul avtomatik 10-bitli mantissa bilan Tensor Core'da bajariladi (PyTorch'da torch.backends.cuda.matmul.allow_tf32).</a:t>
            </a:r>
          </a:p>
          <a:p/>
          <a:p>
            <a:r>
              <a:t>FP8 — Hopper avlodidan boshlab o'qitish uchun ham ishlatilmoqda (Transformer Engine kutubxonasi): oldinga o'tishda E4M3, gradientlar uchun E5M2, har tensor uchun dinamik masshtab bilan. Bu Tensor Core unumdorligini yana ikki baravar oshiradi, lekin barqarorlik uchun ehtiyotkor sozlash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Kvantlash — uzluksiz (suzuvchi nuqtali) qiymatlarni chekli diskret to'plamga (odatda 8 yoki 4 bitli butun sonlar) akslantirish. Chiziqli (affine) kvantlash formulasi:</a:t>
            </a:r>
          </a:p>
          <a:p/>
          <a:p>
            <a:r>
              <a:t>q = clamp(round(x / s) + z, q_min, q_max), teskarisi x̂ = s · (q − z)</a:t>
            </a:r>
          </a:p>
          <a:p/>
          <a:p>
            <a:r>
              <a:t>bu yerda s — masshtab (scale, suzuvchi nuqtali), z — nol nuqta (zero point, butun son), [q_min, q_max] — INT8 uchun [−128, 127]. Simmetrik kvantlashda z = 0 va s = max|x| / 127; asimmetrik kvantlashda s = (x_max − x_min) / 255, z shunday tanlanadiki, haqiqiy nol aniq ifodalansin (bu ReLU'dan keyingi aktivatsiyalar uchun muhim — diapazonning yarmi isrof bo'lmaydi). Kvantlash xatosi |x − x̂| ≤ s/2 bilan chegaralangan; demak, masshtab qanchalik kichik (diapazon qanchalik tor) bo'lsa, xato shunchalik kam. Shu sababdan granularlik muhim: tensor bo'yicha (per-tensor) bitta masshtab, kanal bo'yicha (per-channel) har chiqish kanaliga alohida masshtab (og'irliklar uchun standart), guruh bo'yicha (per-group, masalan har 128 element) — INT4 og'irliklar uchun standart. Chiqib ketuvchi qiymatlar (outliers) kvantlashning asosiy dushmani: bitta katta qiymat masshtabni oshirib, qolgan barcha qiymatlarning aniqligini pasaytiradi.</a:t>
            </a:r>
          </a:p>
          <a:p/>
          <a:p>
            <a:r>
              <a:t>Kvantlash turlari:</a:t>
            </a:r>
          </a:p>
          <a:p/>
          <a:p>
            <a:r>
              <a:t>QAT'da oldinga o'tishda og'irlik va aktivatsiyalar kvantlanadi va qayta suzuvchi nuqtaga qaytariladi (soxta kvantlash), orqaga o'tishda esa round ning hosilasi nolga teng bo'lgani uchun «to'g'ridan-to'g'ri baholovchi» (straight-through estimator) ishlatiladi — gradient kvantlash operatsiyasidan o'zgarishsiz o'tadi. Natijada model kvantlash shovqiniga moslashadi. Og'irlik-faqat kvantlash LLM uchun ayniqsa samarali, chunki dekodlash xotira bilan chegaralangan: og'irlik baytlari 4 baravar kamaysa, token tezligi deyarli shuncha oshadi, hisoblash esa FP16'da qolgani uchun aniqlik yaxshi saqlanadi. GPTQ ikkinchi tartibli ma'lumot (Hessian) asosida kvantlash xatosini qolgan og'irliklarga taqsimlaydi; AWQ esa aktivatsiya kattaligiga qarab «muhim» og'irlik kanallarini masshtablab himoya qiladi.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Kvantlash — uzluksiz (suzuvchi nuqtali) qiymatlarni chekli diskret to'plamga (odatda 8 yoki 4 bitli butun sonlar) akslantirish. Chiziqli (affine) kvantlash formulasi:</a:t>
            </a:r>
          </a:p>
          <a:p/>
          <a:p>
            <a:r>
              <a:t>q = clamp(round(x / s) + z, q_min, q_max), teskarisi x̂ = s · (q − z)</a:t>
            </a:r>
          </a:p>
          <a:p/>
          <a:p>
            <a:r>
              <a:t>bu yerda s — masshtab (scale, suzuvchi nuqtali), z — nol nuqta (zero point, butun son), [q_min, q_max] — INT8 uchun [−128, 127]. Simmetrik kvantlashda z = 0 va s = max|x| / 127; asimmetrik kvantlashda s = (x_max − x_min) / 255, z shunday tanlanadiki, haqiqiy nol aniq ifodalansin (bu ReLU'dan keyingi aktivatsiyalar uchun muhim — diapazonning yarmi isrof bo'lmaydi). Kvantlash xatosi |x − x̂| ≤ s/2 bilan chegaralangan; demak, masshtab qanchalik kichik (diapazon qanchalik tor) bo'lsa, xato shunchalik kam. Shu sababdan granularlik muhim: tensor bo'yicha (per-tensor) bitta masshtab, kanal bo'yicha (per-channel) har chiqish kanaliga alohida masshtab (og'irliklar uchun standart), guruh bo'yicha (per-group, masalan har 128 element) — INT4 og'irliklar uchun standart. Chiqib ketuvchi qiymatlar (outliers) kvantlashning asosiy dushmani: bitta katta qiymat masshtabni oshirib, qolgan barcha qiymatlarning aniqligini pasaytiradi.</a:t>
            </a:r>
          </a:p>
          <a:p/>
          <a:p>
            <a:r>
              <a:t>Kvantlash turlari:</a:t>
            </a:r>
          </a:p>
          <a:p/>
          <a:p>
            <a:r>
              <a:t>QAT'da oldinga o'tishda og'irlik va aktivatsiyalar kvantlanadi va qayta suzuvchi nuqtaga qaytariladi (soxta kvantlash), orqaga o'tishda esa round ning hosilasi nolga teng bo'lgani uchun «to'g'ridan-to'g'ri baholovchi» (straight-through estimator) ishlatiladi — gradient kvantlash operatsiyasidan o'zgarishsiz o'tadi. Natijada model kvantlash shovqiniga moslashadi. Og'irlik-faqat kvantlash LLM uchun ayniqsa samarali, chunki dekodlash xotira bilan chegaralangan: og'irlik baytlari 4 baravar kamaysa, token tezligi deyarli shuncha oshadi, hisoblash esa FP16'da qolgani uchun aniqlik yaxshi saqlanadi. GPTQ ikkinchi tartibli ma'lumot (Hessian) asosida kvantlash xatosini qolgan og'irliklarga taqsimlaydi; AWQ esa aktivatsiya kattaligiga qarab «muhim» og'irlik kanallarini masshtablab himoya qiladi.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Pruning — ta'siri kam parametrlarni (og'irliklar, kanallar, boshlar, qatlamlar) olib tashlash. Eng oddiy mezon — kattalik (magnitude pruning): absolyut qiymati kichik og'irliklar nolga tenglashtiriladi. Lottery ticket gipotezasi (Frankle va Carbin, 2019) va ko'plab tajribalar shuni ko'rsatadiki, ko'p tarmoqlarda og'irliklarning 50–90 foizini aniqlikni deyarli yo'qotmasdan olib tashlash mumkin — agar pruning bosqichma-bosqich (iterativ) va qisqa qayta o'qitish (fine-tuning) bilan bajarilsa.</a:t>
            </a:r>
          </a:p>
          <a:p/>
          <a:p>
            <a:r>
              <a:t>Lekin bu yerda muhandis uchun hal qiluvchi nuqta bor: strukturlanmagan (unstructured) siyraklik — tasodifiy joylarda nol — umumiy maqsadli GPU'da tezlashish bermaydi. Zich matritsa ko'paytmasi kernellari nollarni ham ko'paytiradi; siyrak formatlar (CSR) esa indekslar yuki tufayli faqat 90–95 foizdan yuqori siyraklikda zich formatdan tezroq bo'ladi. Shuning uchun amaliyotda uch yo'l bor. Birinchisi — strukturlangan pruning: butun konvolyutsiya filtrlarini, kanallarni, attention boshlarini yoki qatlamlarni olib tashlash; natija — kichikroq zich model, har qanday apparatda tezlashadi. Ikkinchisi — 2:4 yarim strukturlangan siyraklik (Ampere va keyingi NVIDIA GPU'larda Sparse Tensor Core): har 4 ta ketma-ket og'irlikdan aynan 2 tasi nol; apparat buni siqilgan formatda saqlaydi va matmul'ni nazariy 2 baravar tezlashtiradi; aniqlik qayta o'qitish bilan odatda saqlanadi. Uchinchisi — strukturlanmagan siyraklikni faqat model hajmini kichraytirish (siqilgan saqlash) yoki siyraklikni qo'llab-quvvatlaydigan maxsus apparat/CPU kutubxonalari (masalan, DeepSparse) uchun ishlatish.</a:t>
            </a:r>
          </a:p>
          <a:p/>
          <a:p>
            <a:r>
              <a:t>Pruning darajasini baholashda uchta ko'rsatkich: parametrlar ulushi (hajm), FLOP ulushi (hisoblash) va o'lchangan kechikish (haqiqiy tezlik). Bular bir-biriga mos kelmasligi mumkin: kanallarning 50 foizini olib tashlash FLOP'ni 75 foizga kamaytiradi (ikki o'lcham ham qisqaradi), lekin xotira bilan chegaralangan qatlamlarda kechikish deyarli o'zgarmasligi mumkin.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Bilim distillyatsiyasi (Hinton, Vinyals, Dean, 2015) katta, aniq «o'qituvchi» modelning xulq-atvorini kichik «o'quvchi» modelga o'rgatadi. Asosiy kuzatuv: o'qituvchining yumshoq ehtimollik taqsimoti (soft targets) qattiq yorliqdan (hard label) ko'proq ma'lumot beradi — «bu rasm 90 foiz it, 7 foiz bo'ri, 0,01 foiz mashina» degan taqsimot sinflar orasidagi o'xshashlikni ifodalaydi. Yumshoq taqsimotni «yoyish» uchun harorat (temperature) T kiritiladi: p_i = exp(z_i / T) / Σ_j exp(z_j / T). T = 1 oddiy softmax; T = 4…10 kichik ehtimolliklarni kattalashtiradi va «qorong'u bilim»ni (dark knowledge) ochadi. Yo'qotish funksiyasi:</a:t>
            </a:r>
          </a:p>
          <a:p/>
          <a:p>
            <a:r>
              <a:t>L = α · T² · KL(p_teacher(T) ‖ p_student(T)) + (1 − α) · CE(y, p_student(1))</a:t>
            </a:r>
          </a:p>
          <a:p/>
          <a:p>
            <a:r>
              <a:t>bu yerda T² ko'paytuvchi gradient kattaligini kompensatsiya qiladi, α (odatda 0,5–0,9) ikki hadning muvozanati. Distillyatsiya turlari: javob asosida (logitlar), xususiyat asosida (oraliq qatlamlar — FitNets, TinyBERT), munosabat asosida (namunalar orasidagi masofalar). Mashhur natijalar: DistilBERT — BERT-base'dan 40 foiz kichik, 60 foiz tezroq, sifatning 97 foizini saqlaydi; zamonaviy kichik til modellari ham ko'pincha katta modellar chiqishi (sintetik ma'lumot) asosida o'qitiladi — bu ham distillyatsiyaning bir shakli. Distillyatsiya pruning va kvantlash bilan yaxshi birlashadi: kvantlangan yoki siyraklashtirilgan o'quvchini o'qituvchiga nisbatan qayta o'qitish aniqlikni tiklaydi.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Yuqoridagi usullar modelni o'zgartiradi; kernel darajasidagi optimallashtirish esa bir xil modelni apparatda samaraliroq bajaradi. Asosiy vositalar: operator fusion — bir nechta elementli operatsiyani (bias + aktivatsiya + residual) bitta kernelga birlashtirish, xotira trafigini kamaytirish (M5); torch.compile (TorchInductor, Triton tiliga kompilyatsiya) — PyTorch grafini tahlil qilib, fusion va kernel generatsiyasini avtomatlashtiradi, odatda 1,2–2 baravar tezlashish; CUDA Graphs — kernel ishga tushirish ketma-ketligini bir marta yozib olib, keyin bitta buyruq bilan takrorlash, kichik modellarda CPU yukini keskin kamaytiradi; TensorRT — graf optimallashtirish, kernel avtomatik tanlash (autotuning), FP16/INT8 kalibrlash; FlashAttention va PagedAttention (vLLM) — attention va KV-kesh uchun maxsus kernellar; konstant buklash (constant folding), BatchNorm'ni konvolyutsiyaga «eritish» (BN folding) — inferensda qatlamlar sonini kamaytiradi.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Energiya samaradorligi ko'rsatkichi — inferens boshiga joul (J/inferens) yoki o'qitish uchun jami kVt·soat. U quvvat (Vt) va vaqtning ko'paytmasi, shuning uchun tezlashtirishning o'zi energiya tejaydi (quvvat deyarli bir xil qolib, vaqt qisqaradi). Qo'shimcha dastaklar: past aniqlik (arifmetik va xotira energiyasi bitlar soniga proporsional yoki undan tez kamayadi), GPU quvvat chegarasi (nvidia-smi -pl) — H100'ni 700 dan 400 Vt'ga tushirish unumdorlikni 10–15 foizgina kamaytiradi, J/inferens esa yaxshilanadi; to'plash (batching) — statik quvvat ko'proq ish ustida taqsimlanadi; «to'g'ri o'lchamli» model — vazifaga keragidan katta modelni ishlatmaslik, bu eng katta tejamkorlik manbai. Umumiy strategiya: avval o'lchash (profil, roofline — M10), keyin eng katta tiqilish nuqtasini bartaraf etish, har qadamda aniqlikni maqsadli to'plamda qayta tekshirish.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M8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3600" b="1">
                <a:solidFill>
                  <a:srgbClr val="FFFFFF"/>
                </a:solidFill>
                <a:latin typeface="Calibri"/>
              </a:rPr>
              <a:t>Sun'iy intellekt tizimlarini optimallashtirish usullari</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d6bddc8d21811d7f.jpg"/>
          <p:cNvPicPr>
            <a:picLocks noChangeAspect="1"/>
          </p:cNvPicPr>
          <p:nvPr/>
        </p:nvPicPr>
        <p:blipFill>
          <a:blip r:embed="rId2"/>
          <a:srcRect t="1543" b="1543"/>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Mikael Häggström, M.D. Author info - Reusing images- Conflicts of interest:  Non · Wikimedia Commons · CC0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MA’RUZA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94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940000"/>
            <a:ext cx="70000" cy="52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2010000"/>
            <a:ext cx="380000" cy="38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1980000"/>
            <a:ext cx="10150000" cy="440000"/>
          </a:xfrm>
          <a:prstGeom prst="rect">
            <a:avLst/>
          </a:prstGeom>
          <a:noFill/>
        </p:spPr>
        <p:txBody>
          <a:bodyPr wrap="square" anchor="ctr">
            <a:spAutoFit/>
          </a:bodyPr>
          <a:lstStyle/>
          <a:p>
            <a:r>
              <a:rPr sz="1600" b="0">
                <a:solidFill>
                  <a:srgbClr val="1B2430"/>
                </a:solidFill>
                <a:latin typeface="Calibri"/>
              </a:rPr>
              <a:t>Sonli formatlar va aralash aniqlik (mixed precision) hisoblash</a:t>
            </a:r>
          </a:p>
        </p:txBody>
      </p:sp>
      <p:sp>
        <p:nvSpPr>
          <p:cNvPr id="14" name="Rounded Rectangle 13"/>
          <p:cNvSpPr/>
          <p:nvPr/>
        </p:nvSpPr>
        <p:spPr>
          <a:xfrm>
            <a:off x="550000" y="257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70000"/>
            <a:ext cx="70000" cy="52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2640000"/>
            <a:ext cx="380000" cy="38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7" name="TextBox 16"/>
          <p:cNvSpPr txBox="1"/>
          <p:nvPr/>
        </p:nvSpPr>
        <p:spPr>
          <a:xfrm>
            <a:off x="1380000" y="2610000"/>
            <a:ext cx="10150000" cy="440000"/>
          </a:xfrm>
          <a:prstGeom prst="rect">
            <a:avLst/>
          </a:prstGeom>
          <a:noFill/>
        </p:spPr>
        <p:txBody>
          <a:bodyPr wrap="square" anchor="ctr">
            <a:spAutoFit/>
          </a:bodyPr>
          <a:lstStyle/>
          <a:p>
            <a:r>
              <a:rPr sz="1600" b="0">
                <a:solidFill>
                  <a:srgbClr val="1B2430"/>
                </a:solidFill>
                <a:latin typeface="Calibri"/>
              </a:rPr>
              <a:t>Kvantlash (quantization): nazariya va turlari</a:t>
            </a:r>
          </a:p>
        </p:txBody>
      </p:sp>
      <p:sp>
        <p:nvSpPr>
          <p:cNvPr id="18" name="Rounded Rectangle 17"/>
          <p:cNvSpPr/>
          <p:nvPr/>
        </p:nvSpPr>
        <p:spPr>
          <a:xfrm>
            <a:off x="550000" y="320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200000"/>
            <a:ext cx="70000" cy="52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0000" y="3270000"/>
            <a:ext cx="380000" cy="38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21" name="TextBox 20"/>
          <p:cNvSpPr txBox="1"/>
          <p:nvPr/>
        </p:nvSpPr>
        <p:spPr>
          <a:xfrm>
            <a:off x="1380000" y="3240000"/>
            <a:ext cx="10150000" cy="440000"/>
          </a:xfrm>
          <a:prstGeom prst="rect">
            <a:avLst/>
          </a:prstGeom>
          <a:noFill/>
        </p:spPr>
        <p:txBody>
          <a:bodyPr wrap="square" anchor="ctr">
            <a:spAutoFit/>
          </a:bodyPr>
          <a:lstStyle/>
          <a:p>
            <a:r>
              <a:rPr sz="1600" b="0">
                <a:solidFill>
                  <a:srgbClr val="1B2430"/>
                </a:solidFill>
                <a:latin typeface="Calibri"/>
              </a:rPr>
              <a:t>Pruning: siyraklashtirish</a:t>
            </a:r>
          </a:p>
        </p:txBody>
      </p:sp>
      <p:sp>
        <p:nvSpPr>
          <p:cNvPr id="22" name="Rounded Rectangle 21"/>
          <p:cNvSpPr/>
          <p:nvPr/>
        </p:nvSpPr>
        <p:spPr>
          <a:xfrm>
            <a:off x="550000" y="383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830000"/>
            <a:ext cx="70000" cy="520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80000" y="3900000"/>
            <a:ext cx="380000" cy="38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25" name="TextBox 24"/>
          <p:cNvSpPr txBox="1"/>
          <p:nvPr/>
        </p:nvSpPr>
        <p:spPr>
          <a:xfrm>
            <a:off x="1380000" y="3870000"/>
            <a:ext cx="10150000" cy="440000"/>
          </a:xfrm>
          <a:prstGeom prst="rect">
            <a:avLst/>
          </a:prstGeom>
          <a:noFill/>
        </p:spPr>
        <p:txBody>
          <a:bodyPr wrap="square" anchor="ctr">
            <a:spAutoFit/>
          </a:bodyPr>
          <a:lstStyle/>
          <a:p>
            <a:r>
              <a:rPr sz="1600" b="0">
                <a:solidFill>
                  <a:srgbClr val="1B2430"/>
                </a:solidFill>
                <a:latin typeface="Calibri"/>
              </a:rPr>
              <a:t>Knowledge Distillation: bilim distillyatsiyasi</a:t>
            </a:r>
          </a:p>
        </p:txBody>
      </p:sp>
      <p:sp>
        <p:nvSpPr>
          <p:cNvPr id="26" name="Rounded Rectangle 25"/>
          <p:cNvSpPr/>
          <p:nvPr/>
        </p:nvSpPr>
        <p:spPr>
          <a:xfrm>
            <a:off x="550000" y="446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460000"/>
            <a:ext cx="70000" cy="520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0000" y="4530000"/>
            <a:ext cx="380000" cy="38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9" name="TextBox 28"/>
          <p:cNvSpPr txBox="1"/>
          <p:nvPr/>
        </p:nvSpPr>
        <p:spPr>
          <a:xfrm>
            <a:off x="1380000" y="4500000"/>
            <a:ext cx="10150000" cy="440000"/>
          </a:xfrm>
          <a:prstGeom prst="rect">
            <a:avLst/>
          </a:prstGeom>
          <a:noFill/>
        </p:spPr>
        <p:txBody>
          <a:bodyPr wrap="square" anchor="ctr">
            <a:spAutoFit/>
          </a:bodyPr>
          <a:lstStyle/>
          <a:p>
            <a:r>
              <a:rPr sz="1600" b="0">
                <a:solidFill>
                  <a:srgbClr val="1B2430"/>
                </a:solidFill>
                <a:latin typeface="Calibri"/>
              </a:rPr>
              <a:t>Model va kernel darajasidagi optimallashtirish</a:t>
            </a:r>
          </a:p>
        </p:txBody>
      </p:sp>
      <p:sp>
        <p:nvSpPr>
          <p:cNvPr id="30" name="Rounded Rectangle 29"/>
          <p:cNvSpPr/>
          <p:nvPr/>
        </p:nvSpPr>
        <p:spPr>
          <a:xfrm>
            <a:off x="550000" y="5090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5090000"/>
            <a:ext cx="70000" cy="52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80000" y="5160000"/>
            <a:ext cx="380000" cy="38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33" name="TextBox 32"/>
          <p:cNvSpPr txBox="1"/>
          <p:nvPr/>
        </p:nvSpPr>
        <p:spPr>
          <a:xfrm>
            <a:off x="1380000" y="5130000"/>
            <a:ext cx="10150000" cy="440000"/>
          </a:xfrm>
          <a:prstGeom prst="rect">
            <a:avLst/>
          </a:prstGeom>
          <a:noFill/>
        </p:spPr>
        <p:txBody>
          <a:bodyPr wrap="square" anchor="ctr">
            <a:spAutoFit/>
          </a:bodyPr>
          <a:lstStyle/>
          <a:p>
            <a:r>
              <a:rPr sz="1600" b="0">
                <a:solidFill>
                  <a:srgbClr val="1B2430"/>
                </a:solidFill>
                <a:latin typeface="Calibri"/>
              </a:rPr>
              <a:t>Hisoblash resurslaridan samarali foydalanish va energiya samaradorligi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5f07f34d86cac18.jpg"/>
          <p:cNvPicPr>
            <a:picLocks noChangeAspect="1"/>
          </p:cNvPicPr>
          <p:nvPr/>
        </p:nvPicPr>
        <p:blipFill>
          <a:blip r:embed="rId2"/>
          <a:srcRect l="19717" r="1971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AlgoHolic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Sonli formatlar va aralash aniqlik (mixed precision) hisoblash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Sonli formatlar va aralash aniqlik (mixed precision) hisoblash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10" name="Rounded Rectangle 9"/>
          <p:cNvSpPr/>
          <p:nvPr/>
        </p:nvSpPr>
        <p:spPr>
          <a:xfrm>
            <a:off x="550000" y="1661240"/>
            <a:ext cx="11100000" cy="133584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61240"/>
            <a:ext cx="70000" cy="133584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2119160"/>
            <a:ext cx="420000" cy="42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1701240"/>
            <a:ext cx="10150000" cy="1255840"/>
          </a:xfrm>
          <a:prstGeom prst="rect">
            <a:avLst/>
          </a:prstGeom>
          <a:noFill/>
        </p:spPr>
        <p:txBody>
          <a:bodyPr wrap="square" anchor="ctr">
            <a:spAutoFit/>
          </a:bodyPr>
          <a:lstStyle/>
          <a:p>
            <a:r>
              <a:rPr sz="1600" b="1">
                <a:solidFill>
                  <a:srgbClr val="1F3A5F"/>
                </a:solidFill>
                <a:latin typeface="Calibri"/>
              </a:rPr>
              <a:t>Suzuvchi nuqtali son uchta qismdan iborat: ishora biti, eksponenta (diapazonni belgilaydi) va mantissa (aniqlikni belgilaydi).</a:t>
            </a:r>
          </a:p>
          <a:p>
            <a:pPr>
              <a:spcBef>
                <a:spcPts val="400"/>
              </a:spcBef>
            </a:pPr>
            <a:r>
              <a:rPr sz="1500">
                <a:solidFill>
                  <a:srgbClr val="334055"/>
                </a:solidFill>
                <a:latin typeface="Calibri"/>
              </a:rPr>
              <a:t>Formatlar aynan shu bitlarni turlicha taqsimlaydi:</a:t>
            </a:r>
          </a:p>
        </p:txBody>
      </p:sp>
      <p:sp>
        <p:nvSpPr>
          <p:cNvPr id="14" name="Rounded Rectangle 13"/>
          <p:cNvSpPr/>
          <p:nvPr/>
        </p:nvSpPr>
        <p:spPr>
          <a:xfrm>
            <a:off x="550000" y="3107080"/>
            <a:ext cx="11100000" cy="133584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107080"/>
            <a:ext cx="70000" cy="13358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3565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7" name="TextBox 16"/>
          <p:cNvSpPr txBox="1"/>
          <p:nvPr/>
        </p:nvSpPr>
        <p:spPr>
          <a:xfrm>
            <a:off x="1380000" y="3147080"/>
            <a:ext cx="10150000" cy="1255840"/>
          </a:xfrm>
          <a:prstGeom prst="rect">
            <a:avLst/>
          </a:prstGeom>
          <a:noFill/>
        </p:spPr>
        <p:txBody>
          <a:bodyPr wrap="square" anchor="ctr">
            <a:spAutoFit/>
          </a:bodyPr>
          <a:lstStyle/>
          <a:p>
            <a:r>
              <a:rPr sz="1600" b="1">
                <a:solidFill>
                  <a:srgbClr val="1F3A5F"/>
                </a:solidFill>
                <a:latin typeface="Calibri"/>
              </a:rPr>
              <a:t>FP16 va BF16 o'rtasidagi farq o'qitish uchun hal qiluvchi: FP16 aniqroq (10 bit mantissa), lekin diapazoni tor — 6e−8 dan kichik qiymatlar nolga aylanadi (underflow), 65504 dan kattasi cheksizlikka (overflow).</a:t>
            </a:r>
          </a:p>
          <a:p>
            <a:pPr>
              <a:spcBef>
                <a:spcPts val="400"/>
              </a:spcBef>
            </a:pPr>
            <a:r>
              <a:rPr sz="1500">
                <a:solidFill>
                  <a:srgbClr val="334055"/>
                </a:solidFill>
                <a:latin typeface="Calibri"/>
              </a:rPr>
              <a:t>Chuqur tarmoq gradientlari ko'pincha 1e−8…1e−5 oralig'ida bo'ladi va FP16'da yo'qoladi.</a:t>
            </a:r>
          </a:p>
        </p:txBody>
      </p:sp>
      <p:sp>
        <p:nvSpPr>
          <p:cNvPr id="18" name="Rounded Rectangle 17"/>
          <p:cNvSpPr/>
          <p:nvPr/>
        </p:nvSpPr>
        <p:spPr>
          <a:xfrm>
            <a:off x="550000" y="4552920"/>
            <a:ext cx="11100000" cy="133584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552920"/>
            <a:ext cx="70000" cy="133584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0000" y="5010840"/>
            <a:ext cx="420000" cy="42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21" name="TextBox 20"/>
          <p:cNvSpPr txBox="1"/>
          <p:nvPr/>
        </p:nvSpPr>
        <p:spPr>
          <a:xfrm>
            <a:off x="1380000" y="4592920"/>
            <a:ext cx="10150000" cy="1255840"/>
          </a:xfrm>
          <a:prstGeom prst="rect">
            <a:avLst/>
          </a:prstGeom>
          <a:noFill/>
        </p:spPr>
        <p:txBody>
          <a:bodyPr wrap="square" anchor="ctr">
            <a:spAutoFit/>
          </a:bodyPr>
          <a:lstStyle/>
          <a:p>
            <a:r>
              <a:rPr sz="1500" b="0">
                <a:solidFill>
                  <a:srgbClr val="1B2430"/>
                </a:solidFill>
                <a:latin typeface="Calibri"/>
              </a:rPr>
              <a:t>Aralash aniqlik (mixed precision) o'qitish g'oyasi (Micikevicius va boshq., 2018): og'ir matritsa ko'paytmalari va konvolyutsiyalar FP16/BF16'da Tensor Core'da bajariladi, lekin og'irliklarning asosiy nusxasi (master weights) FP32'da saqlanadi va yangilanadi…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Sonli formatlar va aralash aniqlik (mixed precision) hisoblash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10" name="Rounded Rectangle 9"/>
          <p:cNvSpPr/>
          <p:nvPr/>
        </p:nvSpPr>
        <p:spPr>
          <a:xfrm>
            <a:off x="550000" y="2132700"/>
            <a:ext cx="11100000" cy="15873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132700"/>
            <a:ext cx="70000" cy="15873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2716350"/>
            <a:ext cx="420000" cy="42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3" name="TextBox 12"/>
          <p:cNvSpPr txBox="1"/>
          <p:nvPr/>
        </p:nvSpPr>
        <p:spPr>
          <a:xfrm>
            <a:off x="1380000" y="2172700"/>
            <a:ext cx="10150000" cy="1507300"/>
          </a:xfrm>
          <a:prstGeom prst="rect">
            <a:avLst/>
          </a:prstGeom>
          <a:noFill/>
        </p:spPr>
        <p:txBody>
          <a:bodyPr wrap="square" anchor="ctr">
            <a:spAutoFit/>
          </a:bodyPr>
          <a:lstStyle/>
          <a:p>
            <a:r>
              <a:rPr sz="1600" b="1">
                <a:solidFill>
                  <a:srgbClr val="1F3A5F"/>
                </a:solidFill>
                <a:latin typeface="Calibri"/>
              </a:rPr>
              <a:t>Tensor Core'da FP16/BF16 matmul FP32'ga qaraganda nazariy 8–16 baravar tez (A100: 19,5 TFLOPS FP32 vs 312 TFLOPS FP16 Tensor Core), amaliy tezlashish esa butun o'qitish sikli uchun 1,5–3 baravar, chunki hamma operatsiya ham matmul emas va xotira trafigi ham…</a:t>
            </a:r>
          </a:p>
          <a:p>
            <a:pPr>
              <a:spcBef>
                <a:spcPts val="400"/>
              </a:spcBef>
            </a:pPr>
            <a:r>
              <a:rPr sz="1500">
                <a:solidFill>
                  <a:srgbClr val="334055"/>
                </a:solidFill>
                <a:latin typeface="Calibri"/>
              </a:rPr>
              <a:t>TF32 esa «bepul» yaxshilanish: kod o'zgarmaydi, FP32 matmul avtomatik 10-bitli mantissa bilan Tensor Core'da bajariladi (PyTorch'da torch.backends.cuda.matmul.allow_tf32).</a:t>
            </a:r>
          </a:p>
        </p:txBody>
      </p:sp>
      <p:sp>
        <p:nvSpPr>
          <p:cNvPr id="14" name="Rounded Rectangle 13"/>
          <p:cNvSpPr/>
          <p:nvPr/>
        </p:nvSpPr>
        <p:spPr>
          <a:xfrm>
            <a:off x="550000" y="3830000"/>
            <a:ext cx="11100000" cy="15873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830000"/>
            <a:ext cx="70000" cy="1587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4413650"/>
            <a:ext cx="420000" cy="42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17" name="TextBox 16"/>
          <p:cNvSpPr txBox="1"/>
          <p:nvPr/>
        </p:nvSpPr>
        <p:spPr>
          <a:xfrm>
            <a:off x="1380000" y="3870000"/>
            <a:ext cx="10150000" cy="1507300"/>
          </a:xfrm>
          <a:prstGeom prst="rect">
            <a:avLst/>
          </a:prstGeom>
          <a:noFill/>
        </p:spPr>
        <p:txBody>
          <a:bodyPr wrap="square" anchor="ctr">
            <a:spAutoFit/>
          </a:bodyPr>
          <a:lstStyle/>
          <a:p>
            <a:r>
              <a:rPr sz="1600" b="1">
                <a:solidFill>
                  <a:srgbClr val="1F3A5F"/>
                </a:solidFill>
                <a:latin typeface="Calibri"/>
              </a:rPr>
              <a:t>FP8 — Hopper avlodidan boshlab o'qitish uchun ham ishlatilmoqda (Transformer Engine kutubxonasi): oldinga o'tishda E4M3, gradientlar uchun E5M2, har tensor uchun dinamik masshtab bilan.</a:t>
            </a:r>
          </a:p>
          <a:p>
            <a:pPr>
              <a:spcBef>
                <a:spcPts val="400"/>
              </a:spcBef>
            </a:pPr>
            <a:r>
              <a:rPr sz="1500">
                <a:solidFill>
                  <a:srgbClr val="334055"/>
                </a:solidFill>
                <a:latin typeface="Calibri"/>
              </a:rPr>
              <a:t>Bu Tensor Core unumdorligini yana ikki baravar oshiradi, lekin barqarorlik uchun ehtiyotkor sozlash talab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Sonli formatlar va aralash aniqlik (mixed precision) hisoblash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400" b="1">
                          <a:solidFill>
                            <a:srgbClr val="FFFFFF"/>
                          </a:solidFill>
                          <a:latin typeface="Calibri"/>
                        </a:rPr>
                        <a:t>Format</a:t>
                      </a:r>
                    </a:p>
                  </a:txBody>
                  <a:tcPr>
                    <a:solidFill>
                      <a:srgbClr val="2D5C8F"/>
                    </a:solidFill>
                  </a:tcPr>
                </a:tc>
                <a:tc>
                  <a:txBody>
                    <a:bodyPr/>
                    <a:lstStyle/>
                    <a:p>
                      <a:r>
                        <a:rPr sz="1400" b="1">
                          <a:solidFill>
                            <a:srgbClr val="FFFFFF"/>
                          </a:solidFill>
                          <a:latin typeface="Calibri"/>
                        </a:rPr>
                        <a:t>Jami bit</a:t>
                      </a:r>
                    </a:p>
                  </a:txBody>
                  <a:tcPr>
                    <a:solidFill>
                      <a:srgbClr val="2D5C8F"/>
                    </a:solidFill>
                  </a:tcPr>
                </a:tc>
                <a:tc>
                  <a:txBody>
                    <a:bodyPr/>
                    <a:lstStyle/>
                    <a:p>
                      <a:r>
                        <a:rPr sz="1400" b="1">
                          <a:solidFill>
                            <a:srgbClr val="FFFFFF"/>
                          </a:solidFill>
                          <a:latin typeface="Calibri"/>
                        </a:rPr>
                        <a:t>Eksponenta</a:t>
                      </a:r>
                    </a:p>
                  </a:txBody>
                  <a:tcPr>
                    <a:solidFill>
                      <a:srgbClr val="2D5C8F"/>
                    </a:solidFill>
                  </a:tcPr>
                </a:tc>
                <a:tc>
                  <a:txBody>
                    <a:bodyPr/>
                    <a:lstStyle/>
                    <a:p>
                      <a:r>
                        <a:rPr sz="1400" b="1">
                          <a:solidFill>
                            <a:srgbClr val="FFFFFF"/>
                          </a:solidFill>
                          <a:latin typeface="Calibri"/>
                        </a:rPr>
                        <a:t>Mantissa</a:t>
                      </a:r>
                    </a:p>
                  </a:txBody>
                  <a:tcPr>
                    <a:solidFill>
                      <a:srgbClr val="2D5C8F"/>
                    </a:solidFill>
                  </a:tcPr>
                </a:tc>
                <a:tc>
                  <a:txBody>
                    <a:bodyPr/>
                    <a:lstStyle/>
                    <a:p>
                      <a:r>
                        <a:rPr sz="1400" b="1">
                          <a:solidFill>
                            <a:srgbClr val="FFFFFF"/>
                          </a:solidFill>
                          <a:latin typeface="Calibri"/>
                        </a:rPr>
                        <a:t>Taxminiy diapazon</a:t>
                      </a:r>
                    </a:p>
                  </a:txBody>
                  <a:tcPr>
                    <a:solidFill>
                      <a:srgbClr val="2D5C8F"/>
                    </a:solidFill>
                  </a:tcPr>
                </a:tc>
                <a:tc>
                  <a:txBody>
                    <a:bodyPr/>
                    <a:lstStyle/>
                    <a:p>
                      <a:r>
                        <a:rPr sz="1400" b="1">
                          <a:solidFill>
                            <a:srgbClr val="FFFFFF"/>
                          </a:solidFill>
                          <a:latin typeface="Calibri"/>
                        </a:rPr>
                        <a:t>O'nli aniqlik</a:t>
                      </a:r>
                    </a:p>
                  </a:txBody>
                  <a:tcPr>
                    <a:solidFill>
                      <a:srgbClr val="2D5C8F"/>
                    </a:solidFill>
                  </a:tcPr>
                </a:tc>
              </a:tr>
              <a:tr h="520000">
                <a:tc>
                  <a:txBody>
                    <a:bodyPr/>
                    <a:lstStyle/>
                    <a:p>
                      <a:r>
                        <a:rPr sz="1400" b="0">
                          <a:solidFill>
                            <a:srgbClr val="1B2430"/>
                          </a:solidFill>
                          <a:latin typeface="Calibri"/>
                        </a:rPr>
                        <a:t>FP32</a:t>
                      </a:r>
                    </a:p>
                  </a:txBody>
                  <a:tcPr>
                    <a:solidFill>
                      <a:srgbClr val="F1F4F8"/>
                    </a:solidFill>
                  </a:tcPr>
                </a:tc>
                <a:tc>
                  <a:txBody>
                    <a:bodyPr/>
                    <a:lstStyle/>
                    <a:p>
                      <a:r>
                        <a:rPr sz="1400" b="0">
                          <a:solidFill>
                            <a:srgbClr val="1B2430"/>
                          </a:solidFill>
                          <a:latin typeface="Calibri"/>
                        </a:rPr>
                        <a:t>32</a:t>
                      </a:r>
                    </a:p>
                  </a:txBody>
                  <a:tcPr>
                    <a:solidFill>
                      <a:srgbClr val="F1F4F8"/>
                    </a:solidFill>
                  </a:tcPr>
                </a:tc>
                <a:tc>
                  <a:txBody>
                    <a:bodyPr/>
                    <a:lstStyle/>
                    <a:p>
                      <a:r>
                        <a:rPr sz="1400" b="0">
                          <a:solidFill>
                            <a:srgbClr val="1B2430"/>
                          </a:solidFill>
                          <a:latin typeface="Calibri"/>
                        </a:rPr>
                        <a:t>8</a:t>
                      </a:r>
                    </a:p>
                  </a:txBody>
                  <a:tcPr>
                    <a:solidFill>
                      <a:srgbClr val="F1F4F8"/>
                    </a:solidFill>
                  </a:tcPr>
                </a:tc>
                <a:tc>
                  <a:txBody>
                    <a:bodyPr/>
                    <a:lstStyle/>
                    <a:p>
                      <a:r>
                        <a:rPr sz="1400" b="0">
                          <a:solidFill>
                            <a:srgbClr val="1B2430"/>
                          </a:solidFill>
                          <a:latin typeface="Calibri"/>
                        </a:rPr>
                        <a:t>23</a:t>
                      </a:r>
                    </a:p>
                  </a:txBody>
                  <a:tcPr>
                    <a:solidFill>
                      <a:srgbClr val="F1F4F8"/>
                    </a:solidFill>
                  </a:tcPr>
                </a:tc>
                <a:tc>
                  <a:txBody>
                    <a:bodyPr/>
                    <a:lstStyle/>
                    <a:p>
                      <a:r>
                        <a:rPr sz="1400" b="0">
                          <a:solidFill>
                            <a:srgbClr val="1B2430"/>
                          </a:solidFill>
                          <a:latin typeface="Calibri"/>
                        </a:rPr>
                        <a:t>±3,4e38</a:t>
                      </a:r>
                    </a:p>
                  </a:txBody>
                  <a:tcPr>
                    <a:solidFill>
                      <a:srgbClr val="F1F4F8"/>
                    </a:solidFill>
                  </a:tcPr>
                </a:tc>
                <a:tc>
                  <a:txBody>
                    <a:bodyPr/>
                    <a:lstStyle/>
                    <a:p>
                      <a:r>
                        <a:rPr sz="1400" b="0">
                          <a:solidFill>
                            <a:srgbClr val="1B2430"/>
                          </a:solidFill>
                          <a:latin typeface="Calibri"/>
                        </a:rPr>
                        <a:t>~7 raqam</a:t>
                      </a:r>
                    </a:p>
                  </a:txBody>
                  <a:tcPr>
                    <a:solidFill>
                      <a:srgbClr val="F1F4F8"/>
                    </a:solidFill>
                  </a:tcPr>
                </a:tc>
              </a:tr>
              <a:tr h="520000">
                <a:tc>
                  <a:txBody>
                    <a:bodyPr/>
                    <a:lstStyle/>
                    <a:p>
                      <a:r>
                        <a:rPr sz="1400" b="0">
                          <a:solidFill>
                            <a:srgbClr val="1B2430"/>
                          </a:solidFill>
                          <a:latin typeface="Calibri"/>
                        </a:rPr>
                        <a:t>TF32</a:t>
                      </a:r>
                    </a:p>
                  </a:txBody>
                  <a:tcPr>
                    <a:solidFill>
                      <a:srgbClr val="FFFFFF"/>
                    </a:solidFill>
                  </a:tcPr>
                </a:tc>
                <a:tc>
                  <a:txBody>
                    <a:bodyPr/>
                    <a:lstStyle/>
                    <a:p>
                      <a:r>
                        <a:rPr sz="1400" b="0">
                          <a:solidFill>
                            <a:srgbClr val="1B2430"/>
                          </a:solidFill>
                          <a:latin typeface="Calibri"/>
                        </a:rPr>
                        <a:t>19 (32 saqlanadi)</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10</a:t>
                      </a:r>
                    </a:p>
                  </a:txBody>
                  <a:tcPr>
                    <a:solidFill>
                      <a:srgbClr val="FFFFFF"/>
                    </a:solidFill>
                  </a:tcPr>
                </a:tc>
                <a:tc>
                  <a:txBody>
                    <a:bodyPr/>
                    <a:lstStyle/>
                    <a:p>
                      <a:r>
                        <a:rPr sz="1400" b="0">
                          <a:solidFill>
                            <a:srgbClr val="1B2430"/>
                          </a:solidFill>
                          <a:latin typeface="Calibri"/>
                        </a:rPr>
                        <a:t>±3,4e38</a:t>
                      </a:r>
                    </a:p>
                  </a:txBody>
                  <a:tcPr>
                    <a:solidFill>
                      <a:srgbClr val="FFFFFF"/>
                    </a:solidFill>
                  </a:tcPr>
                </a:tc>
                <a:tc>
                  <a:txBody>
                    <a:bodyPr/>
                    <a:lstStyle/>
                    <a:p>
                      <a:r>
                        <a:rPr sz="1400" b="0">
                          <a:solidFill>
                            <a:srgbClr val="1B2430"/>
                          </a:solidFill>
                          <a:latin typeface="Calibri"/>
                        </a:rPr>
                        <a:t>~3 raqam</a:t>
                      </a:r>
                    </a:p>
                  </a:txBody>
                  <a:tcPr>
                    <a:solidFill>
                      <a:srgbClr val="FFFFFF"/>
                    </a:solidFill>
                  </a:tcPr>
                </a:tc>
              </a:tr>
              <a:tr h="520000">
                <a:tc>
                  <a:txBody>
                    <a:bodyPr/>
                    <a:lstStyle/>
                    <a:p>
                      <a:r>
                        <a:rPr sz="1400" b="0">
                          <a:solidFill>
                            <a:srgbClr val="1B2430"/>
                          </a:solidFill>
                          <a:latin typeface="Calibri"/>
                        </a:rPr>
                        <a:t>FP16</a:t>
                      </a:r>
                    </a:p>
                  </a:txBody>
                  <a:tcPr>
                    <a:solidFill>
                      <a:srgbClr val="F1F4F8"/>
                    </a:solidFill>
                  </a:tcPr>
                </a:tc>
                <a:tc>
                  <a:txBody>
                    <a:bodyPr/>
                    <a:lstStyle/>
                    <a:p>
                      <a:r>
                        <a:rPr sz="1400" b="0">
                          <a:solidFill>
                            <a:srgbClr val="1B2430"/>
                          </a:solidFill>
                          <a:latin typeface="Calibri"/>
                        </a:rPr>
                        <a:t>16</a:t>
                      </a:r>
                    </a:p>
                  </a:txBody>
                  <a:tcPr>
                    <a:solidFill>
                      <a:srgbClr val="F1F4F8"/>
                    </a:solidFill>
                  </a:tcPr>
                </a:tc>
                <a:tc>
                  <a:txBody>
                    <a:bodyPr/>
                    <a:lstStyle/>
                    <a:p>
                      <a:r>
                        <a:rPr sz="1400" b="0">
                          <a:solidFill>
                            <a:srgbClr val="1B2430"/>
                          </a:solidFill>
                          <a:latin typeface="Calibri"/>
                        </a:rPr>
                        <a:t>5</a:t>
                      </a:r>
                    </a:p>
                  </a:txBody>
                  <a:tcPr>
                    <a:solidFill>
                      <a:srgbClr val="F1F4F8"/>
                    </a:solidFill>
                  </a:tcPr>
                </a:tc>
                <a:tc>
                  <a:txBody>
                    <a:bodyPr/>
                    <a:lstStyle/>
                    <a:p>
                      <a:r>
                        <a:rPr sz="1400" b="0">
                          <a:solidFill>
                            <a:srgbClr val="1B2430"/>
                          </a:solidFill>
                          <a:latin typeface="Calibri"/>
                        </a:rPr>
                        <a:t>10</a:t>
                      </a:r>
                    </a:p>
                  </a:txBody>
                  <a:tcPr>
                    <a:solidFill>
                      <a:srgbClr val="F1F4F8"/>
                    </a:solidFill>
                  </a:tcPr>
                </a:tc>
                <a:tc>
                  <a:txBody>
                    <a:bodyPr/>
                    <a:lstStyle/>
                    <a:p>
                      <a:r>
                        <a:rPr sz="1400" b="0">
                          <a:solidFill>
                            <a:srgbClr val="1B2430"/>
                          </a:solidFill>
                          <a:latin typeface="Calibri"/>
                        </a:rPr>
                        <a:t>±65504</a:t>
                      </a:r>
                    </a:p>
                  </a:txBody>
                  <a:tcPr>
                    <a:solidFill>
                      <a:srgbClr val="F1F4F8"/>
                    </a:solidFill>
                  </a:tcPr>
                </a:tc>
                <a:tc>
                  <a:txBody>
                    <a:bodyPr/>
                    <a:lstStyle/>
                    <a:p>
                      <a:r>
                        <a:rPr sz="1400" b="0">
                          <a:solidFill>
                            <a:srgbClr val="1B2430"/>
                          </a:solidFill>
                          <a:latin typeface="Calibri"/>
                        </a:rPr>
                        <a:t>~3 raqam</a:t>
                      </a:r>
                    </a:p>
                  </a:txBody>
                  <a:tcPr>
                    <a:solidFill>
                      <a:srgbClr val="F1F4F8"/>
                    </a:solidFill>
                  </a:tcPr>
                </a:tc>
              </a:tr>
              <a:tr h="520000">
                <a:tc>
                  <a:txBody>
                    <a:bodyPr/>
                    <a:lstStyle/>
                    <a:p>
                      <a:r>
                        <a:rPr sz="1400" b="0">
                          <a:solidFill>
                            <a:srgbClr val="1B2430"/>
                          </a:solidFill>
                          <a:latin typeface="Calibri"/>
                        </a:rPr>
                        <a:t>BF16</a:t>
                      </a:r>
                    </a:p>
                  </a:txBody>
                  <a:tcPr>
                    <a:solidFill>
                      <a:srgbClr val="FFFFFF"/>
                    </a:solidFill>
                  </a:tcPr>
                </a:tc>
                <a:tc>
                  <a:txBody>
                    <a:bodyPr/>
                    <a:lstStyle/>
                    <a:p>
                      <a:r>
                        <a:rPr sz="1400" b="0">
                          <a:solidFill>
                            <a:srgbClr val="1B2430"/>
                          </a:solidFill>
                          <a:latin typeface="Calibri"/>
                        </a:rPr>
                        <a:t>16</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7</a:t>
                      </a:r>
                    </a:p>
                  </a:txBody>
                  <a:tcPr>
                    <a:solidFill>
                      <a:srgbClr val="FFFFFF"/>
                    </a:solidFill>
                  </a:tcPr>
                </a:tc>
                <a:tc>
                  <a:txBody>
                    <a:bodyPr/>
                    <a:lstStyle/>
                    <a:p>
                      <a:r>
                        <a:rPr sz="1400" b="0">
                          <a:solidFill>
                            <a:srgbClr val="1B2430"/>
                          </a:solidFill>
                          <a:latin typeface="Calibri"/>
                        </a:rPr>
                        <a:t>±3,4e38</a:t>
                      </a:r>
                    </a:p>
                  </a:txBody>
                  <a:tcPr>
                    <a:solidFill>
                      <a:srgbClr val="FFFFFF"/>
                    </a:solidFill>
                  </a:tcPr>
                </a:tc>
                <a:tc>
                  <a:txBody>
                    <a:bodyPr/>
                    <a:lstStyle/>
                    <a:p>
                      <a:r>
                        <a:rPr sz="1400" b="0">
                          <a:solidFill>
                            <a:srgbClr val="1B2430"/>
                          </a:solidFill>
                          <a:latin typeface="Calibri"/>
                        </a:rPr>
                        <a:t>~2 raqam</a:t>
                      </a:r>
                    </a:p>
                  </a:txBody>
                  <a:tcPr>
                    <a:solidFill>
                      <a:srgbClr val="FFFFFF"/>
                    </a:solidFill>
                  </a:tcPr>
                </a:tc>
              </a:tr>
              <a:tr h="520000">
                <a:tc>
                  <a:txBody>
                    <a:bodyPr/>
                    <a:lstStyle/>
                    <a:p>
                      <a:r>
                        <a:rPr sz="1400" b="0">
                          <a:solidFill>
                            <a:srgbClr val="1B2430"/>
                          </a:solidFill>
                          <a:latin typeface="Calibri"/>
                        </a:rPr>
                        <a:t>FP8 E4M3</a:t>
                      </a:r>
                    </a:p>
                  </a:txBody>
                  <a:tcPr>
                    <a:solidFill>
                      <a:srgbClr val="F1F4F8"/>
                    </a:solidFill>
                  </a:tcPr>
                </a:tc>
                <a:tc>
                  <a:txBody>
                    <a:bodyPr/>
                    <a:lstStyle/>
                    <a:p>
                      <a:r>
                        <a:rPr sz="1400" b="0">
                          <a:solidFill>
                            <a:srgbClr val="1B2430"/>
                          </a:solidFill>
                          <a:latin typeface="Calibri"/>
                        </a:rPr>
                        <a:t>8</a:t>
                      </a:r>
                    </a:p>
                  </a:txBody>
                  <a:tcPr>
                    <a:solidFill>
                      <a:srgbClr val="F1F4F8"/>
                    </a:solidFill>
                  </a:tcPr>
                </a:tc>
                <a:tc>
                  <a:txBody>
                    <a:bodyPr/>
                    <a:lstStyle/>
                    <a:p>
                      <a:r>
                        <a:rPr sz="1400" b="0">
                          <a:solidFill>
                            <a:srgbClr val="1B2430"/>
                          </a:solidFill>
                          <a:latin typeface="Calibri"/>
                        </a:rPr>
                        <a:t>4</a:t>
                      </a:r>
                    </a:p>
                  </a:txBody>
                  <a:tcPr>
                    <a:solidFill>
                      <a:srgbClr val="F1F4F8"/>
                    </a:solidFill>
                  </a:tcPr>
                </a:tc>
                <a:tc>
                  <a:txBody>
                    <a:bodyPr/>
                    <a:lstStyle/>
                    <a:p>
                      <a:r>
                        <a:rPr sz="1400" b="0">
                          <a:solidFill>
                            <a:srgbClr val="1B2430"/>
                          </a:solidFill>
                          <a:latin typeface="Calibri"/>
                        </a:rPr>
                        <a:t>3</a:t>
                      </a:r>
                    </a:p>
                  </a:txBody>
                  <a:tcPr>
                    <a:solidFill>
                      <a:srgbClr val="F1F4F8"/>
                    </a:solidFill>
                  </a:tcPr>
                </a:tc>
                <a:tc>
                  <a:txBody>
                    <a:bodyPr/>
                    <a:lstStyle/>
                    <a:p>
                      <a:r>
                        <a:rPr sz="1400" b="0">
                          <a:solidFill>
                            <a:srgbClr val="1B2430"/>
                          </a:solidFill>
                          <a:latin typeface="Calibri"/>
                        </a:rPr>
                        <a:t>±448</a:t>
                      </a:r>
                    </a:p>
                  </a:txBody>
                  <a:tcPr>
                    <a:solidFill>
                      <a:srgbClr val="F1F4F8"/>
                    </a:solidFill>
                  </a:tcPr>
                </a:tc>
                <a:tc>
                  <a:txBody>
                    <a:bodyPr/>
                    <a:lstStyle/>
                    <a:p>
                      <a:r>
                        <a:rPr sz="1400" b="0">
                          <a:solidFill>
                            <a:srgbClr val="1B2430"/>
                          </a:solidFill>
                          <a:latin typeface="Calibri"/>
                        </a:rPr>
                        <a:t>~1 raqam</a:t>
                      </a:r>
                    </a:p>
                  </a:txBody>
                  <a:tcPr>
                    <a:solidFill>
                      <a:srgbClr val="F1F4F8"/>
                    </a:solidFill>
                  </a:tcPr>
                </a:tc>
              </a:tr>
              <a:tr h="520000">
                <a:tc>
                  <a:txBody>
                    <a:bodyPr/>
                    <a:lstStyle/>
                    <a:p>
                      <a:r>
                        <a:rPr sz="1400" b="0">
                          <a:solidFill>
                            <a:srgbClr val="1B2430"/>
                          </a:solidFill>
                          <a:latin typeface="Calibri"/>
                        </a:rPr>
                        <a:t>FP8 E5M2</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5</a:t>
                      </a:r>
                    </a:p>
                  </a:txBody>
                  <a:tcPr>
                    <a:solidFill>
                      <a:srgbClr val="FFFFFF"/>
                    </a:solidFill>
                  </a:tcPr>
                </a:tc>
                <a:tc>
                  <a:txBody>
                    <a:bodyPr/>
                    <a:lstStyle/>
                    <a:p>
                      <a:r>
                        <a:rPr sz="1400" b="0">
                          <a:solidFill>
                            <a:srgbClr val="1B2430"/>
                          </a:solidFill>
                          <a:latin typeface="Calibri"/>
                        </a:rPr>
                        <a:t>2</a:t>
                      </a:r>
                    </a:p>
                  </a:txBody>
                  <a:tcPr>
                    <a:solidFill>
                      <a:srgbClr val="FFFFFF"/>
                    </a:solidFill>
                  </a:tcPr>
                </a:tc>
                <a:tc>
                  <a:txBody>
                    <a:bodyPr/>
                    <a:lstStyle/>
                    <a:p>
                      <a:r>
                        <a:rPr sz="1400" b="0">
                          <a:solidFill>
                            <a:srgbClr val="1B2430"/>
                          </a:solidFill>
                          <a:latin typeface="Calibri"/>
                        </a:rPr>
                        <a:t>±57344</a:t>
                      </a:r>
                    </a:p>
                  </a:txBody>
                  <a:tcPr>
                    <a:solidFill>
                      <a:srgbClr val="FFFFFF"/>
                    </a:solidFill>
                  </a:tcPr>
                </a:tc>
                <a:tc>
                  <a:txBody>
                    <a:bodyPr/>
                    <a:lstStyle/>
                    <a:p>
                      <a:r>
                        <a:rPr sz="1400" b="0">
                          <a:solidFill>
                            <a:srgbClr val="1B2430"/>
                          </a:solidFill>
                          <a:latin typeface="Calibri"/>
                        </a:rPr>
                        <a:t>~1 raqam</a:t>
                      </a:r>
                    </a:p>
                  </a:txBody>
                  <a:tcPr>
                    <a:solidFill>
                      <a:srgbClr val="FFFFFF"/>
                    </a:solidFill>
                  </a:tcPr>
                </a:tc>
              </a:tr>
              <a:tr h="520000">
                <a:tc>
                  <a:txBody>
                    <a:bodyPr/>
                    <a:lstStyle/>
                    <a:p>
                      <a:r>
                        <a:rPr sz="1400" b="0">
                          <a:solidFill>
                            <a:srgbClr val="1B2430"/>
                          </a:solidFill>
                          <a:latin typeface="Calibri"/>
                        </a:rPr>
                        <a:t>INT8</a:t>
                      </a:r>
                    </a:p>
                  </a:txBody>
                  <a:tcPr>
                    <a:solidFill>
                      <a:srgbClr val="F1F4F8"/>
                    </a:solidFill>
                  </a:tcPr>
                </a:tc>
                <a:tc>
                  <a:txBody>
                    <a:bodyPr/>
                    <a:lstStyle/>
                    <a:p>
                      <a:r>
                        <a:rPr sz="1400" b="0">
                          <a:solidFill>
                            <a:srgbClr val="1B2430"/>
                          </a:solidFill>
                          <a:latin typeface="Calibri"/>
                        </a:rPr>
                        <a:t>8</a:t>
                      </a:r>
                    </a:p>
                  </a:txBody>
                  <a:tcPr>
                    <a:solidFill>
                      <a:srgbClr val="F1F4F8"/>
                    </a:solidFill>
                  </a:tcPr>
                </a:tc>
                <a:tc>
                  <a:txBody>
                    <a:bodyPr/>
                    <a:lstStyle/>
                    <a:p>
                      <a:r>
                        <a:rPr sz="1400" b="0">
                          <a:solidFill>
                            <a:srgbClr val="1B2430"/>
                          </a:solidFill>
                          <a:latin typeface="Calibri"/>
                        </a:rPr>
                        <a:t>–</a:t>
                      </a:r>
                    </a:p>
                  </a:txBody>
                  <a:tcPr>
                    <a:solidFill>
                      <a:srgbClr val="F1F4F8"/>
                    </a:solidFill>
                  </a:tcPr>
                </a:tc>
                <a:tc>
                  <a:txBody>
                    <a:bodyPr/>
                    <a:lstStyle/>
                    <a:p>
                      <a:r>
                        <a:rPr sz="1400" b="0">
                          <a:solidFill>
                            <a:srgbClr val="1B2430"/>
                          </a:solidFill>
                          <a:latin typeface="Calibri"/>
                        </a:rPr>
                        <a:t>–</a:t>
                      </a:r>
                    </a:p>
                  </a:txBody>
                  <a:tcPr>
                    <a:solidFill>
                      <a:srgbClr val="F1F4F8"/>
                    </a:solidFill>
                  </a:tcPr>
                </a:tc>
                <a:tc>
                  <a:txBody>
                    <a:bodyPr/>
                    <a:lstStyle/>
                    <a:p>
                      <a:r>
                        <a:rPr sz="1400" b="0">
                          <a:solidFill>
                            <a:srgbClr val="1B2430"/>
                          </a:solidFill>
                          <a:latin typeface="Calibri"/>
                        </a:rPr>
                        <a:t>−128…127 (masshtab bilan)</a:t>
                      </a:r>
                    </a:p>
                  </a:txBody>
                  <a:tcPr>
                    <a:solidFill>
                      <a:srgbClr val="F1F4F8"/>
                    </a:solidFill>
                  </a:tcPr>
                </a:tc>
                <a:tc>
                  <a:txBody>
                    <a:bodyPr/>
                    <a:lstStyle/>
                    <a:p>
                      <a:r>
                        <a:rPr sz="1400" b="0">
                          <a:solidFill>
                            <a:srgbClr val="1B2430"/>
                          </a:solidFill>
                          <a:latin typeface="Calibri"/>
                        </a:rPr>
                        <a:t>diskret</a:t>
                      </a:r>
                    </a:p>
                  </a:txBody>
                  <a:tcPr>
                    <a:solidFill>
                      <a:srgbClr val="F1F4F8"/>
                    </a:solidFill>
                  </a:tcPr>
                </a:tc>
              </a:tr>
              <a:tr h="520000">
                <a:tc>
                  <a:txBody>
                    <a:bodyPr/>
                    <a:lstStyle/>
                    <a:p>
                      <a:r>
                        <a:rPr sz="1400" b="0">
                          <a:solidFill>
                            <a:srgbClr val="1B2430"/>
                          </a:solidFill>
                          <a:latin typeface="Calibri"/>
                        </a:rPr>
                        <a:t>INT4</a:t>
                      </a:r>
                    </a:p>
                  </a:txBody>
                  <a:tcPr>
                    <a:solidFill>
                      <a:srgbClr val="FFFFFF"/>
                    </a:solidFill>
                  </a:tcPr>
                </a:tc>
                <a:tc>
                  <a:txBody>
                    <a:bodyPr/>
                    <a:lstStyle/>
                    <a:p>
                      <a:r>
                        <a:rPr sz="1400" b="0">
                          <a:solidFill>
                            <a:srgbClr val="1B2430"/>
                          </a:solidFill>
                          <a:latin typeface="Calibri"/>
                        </a:rPr>
                        <a:t>4</a:t>
                      </a:r>
                    </a:p>
                  </a:txBody>
                  <a:tcPr>
                    <a:solidFill>
                      <a:srgbClr val="FFFFFF"/>
                    </a:solidFill>
                  </a:tcPr>
                </a:tc>
                <a:tc>
                  <a:txBody>
                    <a:bodyPr/>
                    <a:lstStyle/>
                    <a:p>
                      <a:r>
                        <a:rPr sz="1400" b="0">
                          <a:solidFill>
                            <a:srgbClr val="1B2430"/>
                          </a:solidFill>
                          <a:latin typeface="Calibri"/>
                        </a:rPr>
                        <a:t>–</a:t>
                      </a:r>
                    </a:p>
                  </a:txBody>
                  <a:tcPr>
                    <a:solidFill>
                      <a:srgbClr val="FFFFFF"/>
                    </a:solidFill>
                  </a:tcPr>
                </a:tc>
                <a:tc>
                  <a:txBody>
                    <a:bodyPr/>
                    <a:lstStyle/>
                    <a:p>
                      <a:r>
                        <a:rPr sz="1400" b="0">
                          <a:solidFill>
                            <a:srgbClr val="1B2430"/>
                          </a:solidFill>
                          <a:latin typeface="Calibri"/>
                        </a:rPr>
                        <a:t>–</a:t>
                      </a:r>
                    </a:p>
                  </a:txBody>
                  <a:tcPr>
                    <a:solidFill>
                      <a:srgbClr val="FFFFFF"/>
                    </a:solidFill>
                  </a:tcPr>
                </a:tc>
                <a:tc>
                  <a:txBody>
                    <a:bodyPr/>
                    <a:lstStyle/>
                    <a:p>
                      <a:r>
                        <a:rPr sz="1400" b="0">
                          <a:solidFill>
                            <a:srgbClr val="1B2430"/>
                          </a:solidFill>
                          <a:latin typeface="Calibri"/>
                        </a:rPr>
                        <a:t>−8…7 (masshtab bilan)</a:t>
                      </a:r>
                    </a:p>
                  </a:txBody>
                  <a:tcPr>
                    <a:solidFill>
                      <a:srgbClr val="FFFFFF"/>
                    </a:solidFill>
                  </a:tcPr>
                </a:tc>
                <a:tc>
                  <a:txBody>
                    <a:bodyPr/>
                    <a:lstStyle/>
                    <a:p>
                      <a:r>
                        <a:rPr sz="1400" b="0">
                          <a:solidFill>
                            <a:srgbClr val="1B2430"/>
                          </a:solidFill>
                          <a:latin typeface="Calibri"/>
                        </a:rPr>
                        <a:t>diskret</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98164842eaee2db.jpg"/>
          <p:cNvPicPr>
            <a:picLocks noChangeAspect="1"/>
          </p:cNvPicPr>
          <p:nvPr/>
        </p:nvPicPr>
        <p:blipFill>
          <a:blip r:embed="rId2"/>
          <a:srcRect l="27017" r="2701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Frank Klemm · Wikimedia Commons · CC BY-SA 3.0 de</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Kvantlash (quantization): nazariya va turlari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Kvantlash (quantization): nazariya va turlari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sp>
        <p:nvSpPr>
          <p:cNvPr id="10" name="Rounded Rectangle 9"/>
          <p:cNvSpPr/>
          <p:nvPr/>
        </p:nvSpPr>
        <p:spPr>
          <a:xfrm>
            <a:off x="550000" y="1250000"/>
            <a:ext cx="11100000" cy="11800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250000"/>
            <a:ext cx="70000" cy="118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1630000"/>
            <a:ext cx="420000" cy="42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1290000"/>
            <a:ext cx="10150000" cy="1100000"/>
          </a:xfrm>
          <a:prstGeom prst="rect">
            <a:avLst/>
          </a:prstGeom>
          <a:noFill/>
        </p:spPr>
        <p:txBody>
          <a:bodyPr wrap="square" anchor="ctr">
            <a:spAutoFit/>
          </a:bodyPr>
          <a:lstStyle/>
          <a:p>
            <a:r>
              <a:rPr sz="1600" b="1">
                <a:solidFill>
                  <a:srgbClr val="1F3A5F"/>
                </a:solidFill>
                <a:latin typeface="Calibri"/>
              </a:rPr>
              <a:t>Kvantlash — uzluksiz (suzuvchi nuqtali) qiymatlarni chekli diskret to'plamga (odatda 8 yoki 4 bitli butun sonlar) akslantirish.</a:t>
            </a:r>
          </a:p>
          <a:p>
            <a:pPr>
              <a:spcBef>
                <a:spcPts val="400"/>
              </a:spcBef>
            </a:pPr>
            <a:r>
              <a:rPr sz="1500">
                <a:solidFill>
                  <a:srgbClr val="334055"/>
                </a:solidFill>
                <a:latin typeface="Calibri"/>
              </a:rPr>
              <a:t>Chiziqli (affine) kvantlash formulasi:</a:t>
            </a:r>
          </a:p>
        </p:txBody>
      </p:sp>
      <p:sp>
        <p:nvSpPr>
          <p:cNvPr id="14" name="Rounded Rectangle 13"/>
          <p:cNvSpPr/>
          <p:nvPr/>
        </p:nvSpPr>
        <p:spPr>
          <a:xfrm>
            <a:off x="550000" y="2540000"/>
            <a:ext cx="11100000" cy="11800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40000"/>
            <a:ext cx="70000" cy="118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292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7" name="TextBox 16"/>
          <p:cNvSpPr txBox="1"/>
          <p:nvPr/>
        </p:nvSpPr>
        <p:spPr>
          <a:xfrm>
            <a:off x="1380000" y="2580000"/>
            <a:ext cx="10150000" cy="1100000"/>
          </a:xfrm>
          <a:prstGeom prst="rect">
            <a:avLst/>
          </a:prstGeom>
          <a:noFill/>
        </p:spPr>
        <p:txBody>
          <a:bodyPr wrap="square" anchor="ctr">
            <a:spAutoFit/>
          </a:bodyPr>
          <a:lstStyle/>
          <a:p>
            <a:r>
              <a:rPr sz="1500" b="0">
                <a:solidFill>
                  <a:srgbClr val="1B2430"/>
                </a:solidFill>
                <a:latin typeface="Calibri"/>
              </a:rPr>
              <a:t>q = clamp(round(x / s) + z, q_min, q_max), teskarisi x̂ = s · (q − z)</a:t>
            </a:r>
          </a:p>
        </p:txBody>
      </p:sp>
      <p:sp>
        <p:nvSpPr>
          <p:cNvPr id="18" name="Rounded Rectangle 17"/>
          <p:cNvSpPr/>
          <p:nvPr/>
        </p:nvSpPr>
        <p:spPr>
          <a:xfrm>
            <a:off x="550000" y="3830000"/>
            <a:ext cx="11100000" cy="11800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0000"/>
            <a:ext cx="70000" cy="118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0000" y="4210000"/>
            <a:ext cx="420000" cy="42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21" name="TextBox 20"/>
          <p:cNvSpPr txBox="1"/>
          <p:nvPr/>
        </p:nvSpPr>
        <p:spPr>
          <a:xfrm>
            <a:off x="1380000" y="3870000"/>
            <a:ext cx="10150000" cy="1100000"/>
          </a:xfrm>
          <a:prstGeom prst="rect">
            <a:avLst/>
          </a:prstGeom>
          <a:noFill/>
        </p:spPr>
        <p:txBody>
          <a:bodyPr wrap="square" anchor="ctr">
            <a:spAutoFit/>
          </a:bodyPr>
          <a:lstStyle/>
          <a:p>
            <a:r>
              <a:rPr sz="1600" b="1">
                <a:solidFill>
                  <a:srgbClr val="1F3A5F"/>
                </a:solidFill>
                <a:latin typeface="Calibri"/>
              </a:rPr>
              <a:t>bu yerda s — masshtab (scale, suzuvchi nuqtali), z — nol nuqta (zero point, butun son), [q_min, q_max] — INT8 uchun [−128, 127].</a:t>
            </a:r>
          </a:p>
          <a:p>
            <a:pPr>
              <a:spcBef>
                <a:spcPts val="400"/>
              </a:spcBef>
            </a:pPr>
            <a:r>
              <a:rPr sz="1500">
                <a:solidFill>
                  <a:srgbClr val="334055"/>
                </a:solidFill>
                <a:latin typeface="Calibri"/>
              </a:rPr>
              <a:t>Simmetrik kvantlashda z = 0 va s = max|x| / 127; asimmetrik kvantlashda s = (x_max − x_min) / 255, z shunday tanlanadiki, haqiqiy nol aniq ifodalansin (bu ReLU'dan keyingi aktivatsiyalar uchun muhim — diapazonning yarmi isrof bo'lmaydi).</a:t>
            </a:r>
          </a:p>
        </p:txBody>
      </p:sp>
      <p:sp>
        <p:nvSpPr>
          <p:cNvPr id="22" name="Rounded Rectangle 21"/>
          <p:cNvSpPr/>
          <p:nvPr/>
        </p:nvSpPr>
        <p:spPr>
          <a:xfrm>
            <a:off x="550000" y="5120000"/>
            <a:ext cx="11100000" cy="11800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20000"/>
            <a:ext cx="70000" cy="1180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80000" y="5500000"/>
            <a:ext cx="420000" cy="42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25" name="TextBox 24"/>
          <p:cNvSpPr txBox="1"/>
          <p:nvPr/>
        </p:nvSpPr>
        <p:spPr>
          <a:xfrm>
            <a:off x="1380000" y="5160000"/>
            <a:ext cx="10150000" cy="1100000"/>
          </a:xfrm>
          <a:prstGeom prst="rect">
            <a:avLst/>
          </a:prstGeom>
          <a:noFill/>
        </p:spPr>
        <p:txBody>
          <a:bodyPr wrap="square" anchor="ctr">
            <a:spAutoFit/>
          </a:bodyPr>
          <a:lstStyle/>
          <a:p>
            <a:r>
              <a:rPr sz="1500" b="0">
                <a:solidFill>
                  <a:srgbClr val="1B2430"/>
                </a:solidFill>
                <a:latin typeface="Calibri"/>
              </a:rPr>
              <a:t>Kvantlash turlari: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Kvantlash (quantization): nazariya va turlari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3040024"/>
            <a:ext cx="11100000" cy="1469952"/>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3040024"/>
            <a:ext cx="70000" cy="14699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3565000"/>
            <a:ext cx="420000" cy="42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13" name="TextBox 12"/>
          <p:cNvSpPr txBox="1"/>
          <p:nvPr/>
        </p:nvSpPr>
        <p:spPr>
          <a:xfrm>
            <a:off x="1380000" y="3080024"/>
            <a:ext cx="10150000" cy="1389952"/>
          </a:xfrm>
          <a:prstGeom prst="rect">
            <a:avLst/>
          </a:prstGeom>
          <a:noFill/>
        </p:spPr>
        <p:txBody>
          <a:bodyPr wrap="square" anchor="ctr">
            <a:spAutoFit/>
          </a:bodyPr>
          <a:lstStyle/>
          <a:p>
            <a:r>
              <a:rPr sz="1800" b="1">
                <a:solidFill>
                  <a:srgbClr val="1F3A5F"/>
                </a:solidFill>
                <a:latin typeface="Calibri"/>
              </a:rPr>
              <a:t>QAT'da oldinga o'tishda og'irlik va aktivatsiyalar kvantlanadi va qayta suzuvchi nuqtaga qaytariladi (soxta kvantlash), orqaga o'tishda esa round ning hosilasi nolga teng bo'lgani uchun «to'g'ridan-to'g'ri baholovchi» (straight-through estimator) ishlatiladi…</a:t>
            </a:r>
          </a:p>
          <a:p>
            <a:pPr>
              <a:spcBef>
                <a:spcPts val="400"/>
              </a:spcBef>
            </a:pPr>
            <a:r>
              <a:rPr sz="1700">
                <a:solidFill>
                  <a:srgbClr val="334055"/>
                </a:solidFill>
                <a:latin typeface="Calibri"/>
              </a:rPr>
              <a:t>Natijada model kvantlash shovqiniga moslashadi.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Kvantlash (quantization): nazariya va turlari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200" b="1">
                          <a:solidFill>
                            <a:srgbClr val="FFFFFF"/>
                          </a:solidFill>
                          <a:latin typeface="Calibri"/>
                        </a:rPr>
                        <a:t>Tur</a:t>
                      </a:r>
                    </a:p>
                  </a:txBody>
                  <a:tcPr>
                    <a:solidFill>
                      <a:srgbClr val="2D5C8F"/>
                    </a:solidFill>
                  </a:tcPr>
                </a:tc>
                <a:tc>
                  <a:txBody>
                    <a:bodyPr/>
                    <a:lstStyle/>
                    <a:p>
                      <a:r>
                        <a:rPr sz="1200" b="1">
                          <a:solidFill>
                            <a:srgbClr val="FFFFFF"/>
                          </a:solidFill>
                          <a:latin typeface="Calibri"/>
                        </a:rPr>
                        <a:t>Nima kvantlanadi</a:t>
                      </a:r>
                    </a:p>
                  </a:txBody>
                  <a:tcPr>
                    <a:solidFill>
                      <a:srgbClr val="2D5C8F"/>
                    </a:solidFill>
                  </a:tcPr>
                </a:tc>
                <a:tc>
                  <a:txBody>
                    <a:bodyPr/>
                    <a:lstStyle/>
                    <a:p>
                      <a:r>
                        <a:rPr sz="1200" b="1">
                          <a:solidFill>
                            <a:srgbClr val="FFFFFF"/>
                          </a:solidFill>
                          <a:latin typeface="Calibri"/>
                        </a:rPr>
                        <a:t>Kalibrlash</a:t>
                      </a:r>
                    </a:p>
                  </a:txBody>
                  <a:tcPr>
                    <a:solidFill>
                      <a:srgbClr val="2D5C8F"/>
                    </a:solidFill>
                  </a:tcPr>
                </a:tc>
                <a:tc>
                  <a:txBody>
                    <a:bodyPr/>
                    <a:lstStyle/>
                    <a:p>
                      <a:r>
                        <a:rPr sz="1200" b="1">
                          <a:solidFill>
                            <a:srgbClr val="FFFFFF"/>
                          </a:solidFill>
                          <a:latin typeface="Calibri"/>
                        </a:rPr>
                        <a:t>Tezlik yutug'i</a:t>
                      </a:r>
                    </a:p>
                  </a:txBody>
                  <a:tcPr>
                    <a:solidFill>
                      <a:srgbClr val="2D5C8F"/>
                    </a:solidFill>
                  </a:tcPr>
                </a:tc>
                <a:tc>
                  <a:txBody>
                    <a:bodyPr/>
                    <a:lstStyle/>
                    <a:p>
                      <a:r>
                        <a:rPr sz="1200" b="1">
                          <a:solidFill>
                            <a:srgbClr val="FFFFFF"/>
                          </a:solidFill>
                          <a:latin typeface="Calibri"/>
                        </a:rPr>
                        <a:t>Aniqlik yo'qotish</a:t>
                      </a:r>
                    </a:p>
                  </a:txBody>
                  <a:tcPr>
                    <a:solidFill>
                      <a:srgbClr val="2D5C8F"/>
                    </a:solidFill>
                  </a:tcPr>
                </a:tc>
                <a:tc>
                  <a:txBody>
                    <a:bodyPr/>
                    <a:lstStyle/>
                    <a:p>
                      <a:r>
                        <a:rPr sz="1200" b="1">
                          <a:solidFill>
                            <a:srgbClr val="FFFFFF"/>
                          </a:solidFill>
                          <a:latin typeface="Calibri"/>
                        </a:rPr>
                        <a:t>Tipik qo'llanish</a:t>
                      </a:r>
                    </a:p>
                  </a:txBody>
                  <a:tcPr>
                    <a:solidFill>
                      <a:srgbClr val="2D5C8F"/>
                    </a:solidFill>
                  </a:tcPr>
                </a:tc>
              </a:tr>
              <a:tr h="520000">
                <a:tc>
                  <a:txBody>
                    <a:bodyPr/>
                    <a:lstStyle/>
                    <a:p>
                      <a:r>
                        <a:rPr sz="1200" b="0">
                          <a:solidFill>
                            <a:srgbClr val="1B2430"/>
                          </a:solidFill>
                          <a:latin typeface="Calibri"/>
                        </a:rPr>
                        <a:t>Dinamik (dynamic PTQ)</a:t>
                      </a:r>
                    </a:p>
                  </a:txBody>
                  <a:tcPr>
                    <a:solidFill>
                      <a:srgbClr val="F1F4F8"/>
                    </a:solidFill>
                  </a:tcPr>
                </a:tc>
                <a:tc>
                  <a:txBody>
                    <a:bodyPr/>
                    <a:lstStyle/>
                    <a:p>
                      <a:r>
                        <a:rPr sz="1200" b="0">
                          <a:solidFill>
                            <a:srgbClr val="1B2430"/>
                          </a:solidFill>
                          <a:latin typeface="Calibri"/>
                        </a:rPr>
                        <a:t>og'irliklar oldindan, aktivatsiyalar ish vaqtida</a:t>
                      </a:r>
                    </a:p>
                  </a:txBody>
                  <a:tcPr>
                    <a:solidFill>
                      <a:srgbClr val="F1F4F8"/>
                    </a:solidFill>
                  </a:tcPr>
                </a:tc>
                <a:tc>
                  <a:txBody>
                    <a:bodyPr/>
                    <a:lstStyle/>
                    <a:p>
                      <a:r>
                        <a:rPr sz="1200" b="0">
                          <a:solidFill>
                            <a:srgbClr val="1B2430"/>
                          </a:solidFill>
                          <a:latin typeface="Calibri"/>
                        </a:rPr>
                        <a:t>kerak emas</a:t>
                      </a:r>
                    </a:p>
                  </a:txBody>
                  <a:tcPr>
                    <a:solidFill>
                      <a:srgbClr val="F1F4F8"/>
                    </a:solidFill>
                  </a:tcPr>
                </a:tc>
                <a:tc>
                  <a:txBody>
                    <a:bodyPr/>
                    <a:lstStyle/>
                    <a:p>
                      <a:r>
                        <a:rPr sz="1200" b="0">
                          <a:solidFill>
                            <a:srgbClr val="1B2430"/>
                          </a:solidFill>
                          <a:latin typeface="Calibri"/>
                        </a:rPr>
                        <a:t>o'rtacha (masshtab hisoblash yuki)</a:t>
                      </a:r>
                    </a:p>
                  </a:txBody>
                  <a:tcPr>
                    <a:solidFill>
                      <a:srgbClr val="F1F4F8"/>
                    </a:solidFill>
                  </a:tcPr>
                </a:tc>
                <a:tc>
                  <a:txBody>
                    <a:bodyPr/>
                    <a:lstStyle/>
                    <a:p>
                      <a:r>
                        <a:rPr sz="1200" b="0">
                          <a:solidFill>
                            <a:srgbClr val="1B2430"/>
                          </a:solidFill>
                          <a:latin typeface="Calibri"/>
                        </a:rPr>
                        <a:t>juda kam</a:t>
                      </a:r>
                    </a:p>
                  </a:txBody>
                  <a:tcPr>
                    <a:solidFill>
                      <a:srgbClr val="F1F4F8"/>
                    </a:solidFill>
                  </a:tcPr>
                </a:tc>
                <a:tc>
                  <a:txBody>
                    <a:bodyPr/>
                    <a:lstStyle/>
                    <a:p>
                      <a:r>
                        <a:rPr sz="1200" b="0">
                          <a:solidFill>
                            <a:srgbClr val="1B2430"/>
                          </a:solidFill>
                          <a:latin typeface="Calibri"/>
                        </a:rPr>
                        <a:t>CPU'da LSTM/Transformer, Linear qatlamlar</a:t>
                      </a:r>
                    </a:p>
                  </a:txBody>
                  <a:tcPr>
                    <a:solidFill>
                      <a:srgbClr val="F1F4F8"/>
                    </a:solidFill>
                  </a:tcPr>
                </a:tc>
              </a:tr>
              <a:tr h="520000">
                <a:tc>
                  <a:txBody>
                    <a:bodyPr/>
                    <a:lstStyle/>
                    <a:p>
                      <a:r>
                        <a:rPr sz="1200" b="0">
                          <a:solidFill>
                            <a:srgbClr val="1B2430"/>
                          </a:solidFill>
                          <a:latin typeface="Calibri"/>
                        </a:rPr>
                        <a:t>Statik (static PTQ)</a:t>
                      </a:r>
                    </a:p>
                  </a:txBody>
                  <a:tcPr>
                    <a:solidFill>
                      <a:srgbClr val="FFFFFF"/>
                    </a:solidFill>
                  </a:tcPr>
                </a:tc>
                <a:tc>
                  <a:txBody>
                    <a:bodyPr/>
                    <a:lstStyle/>
                    <a:p>
                      <a:r>
                        <a:rPr sz="1200" b="0">
                          <a:solidFill>
                            <a:srgbClr val="1B2430"/>
                          </a:solidFill>
                          <a:latin typeface="Calibri"/>
                        </a:rPr>
                        <a:t>og'irliklar va aktivatsiyalar oldindan</a:t>
                      </a:r>
                    </a:p>
                  </a:txBody>
                  <a:tcPr>
                    <a:solidFill>
                      <a:srgbClr val="FFFFFF"/>
                    </a:solidFill>
                  </a:tcPr>
                </a:tc>
                <a:tc>
                  <a:txBody>
                    <a:bodyPr/>
                    <a:lstStyle/>
                    <a:p>
                      <a:r>
                        <a:rPr sz="1200" b="0">
                          <a:solidFill>
                            <a:srgbClr val="1B2430"/>
                          </a:solidFill>
                          <a:latin typeface="Calibri"/>
                        </a:rPr>
                        <a:t>100–1000 namuna</a:t>
                      </a:r>
                    </a:p>
                  </a:txBody>
                  <a:tcPr>
                    <a:solidFill>
                      <a:srgbClr val="FFFFFF"/>
                    </a:solidFill>
                  </a:tcPr>
                </a:tc>
                <a:tc>
                  <a:txBody>
                    <a:bodyPr/>
                    <a:lstStyle/>
                    <a:p>
                      <a:r>
                        <a:rPr sz="1200" b="0">
                          <a:solidFill>
                            <a:srgbClr val="1B2430"/>
                          </a:solidFill>
                          <a:latin typeface="Calibri"/>
                        </a:rPr>
                        <a:t>yuqori (to'liq INT8 yo'l)</a:t>
                      </a:r>
                    </a:p>
                  </a:txBody>
                  <a:tcPr>
                    <a:solidFill>
                      <a:srgbClr val="FFFFFF"/>
                    </a:solidFill>
                  </a:tcPr>
                </a:tc>
                <a:tc>
                  <a:txBody>
                    <a:bodyPr/>
                    <a:lstStyle/>
                    <a:p>
                      <a:r>
                        <a:rPr sz="1200" b="0">
                          <a:solidFill>
                            <a:srgbClr val="1B2430"/>
                          </a:solidFill>
                          <a:latin typeface="Calibri"/>
                        </a:rPr>
                        <a:t>kam–o'rtacha</a:t>
                      </a:r>
                    </a:p>
                  </a:txBody>
                  <a:tcPr>
                    <a:solidFill>
                      <a:srgbClr val="FFFFFF"/>
                    </a:solidFill>
                  </a:tcPr>
                </a:tc>
                <a:tc>
                  <a:txBody>
                    <a:bodyPr/>
                    <a:lstStyle/>
                    <a:p>
                      <a:r>
                        <a:rPr sz="1200" b="0">
                          <a:solidFill>
                            <a:srgbClr val="1B2430"/>
                          </a:solidFill>
                          <a:latin typeface="Calibri"/>
                        </a:rPr>
                        <a:t>CNN, chekka qurilma, TensorRT INT8</a:t>
                      </a:r>
                    </a:p>
                  </a:txBody>
                  <a:tcPr>
                    <a:solidFill>
                      <a:srgbClr val="FFFFFF"/>
                    </a:solidFill>
                  </a:tcPr>
                </a:tc>
              </a:tr>
              <a:tr h="520000">
                <a:tc>
                  <a:txBody>
                    <a:bodyPr/>
                    <a:lstStyle/>
                    <a:p>
                      <a:r>
                        <a:rPr sz="1200" b="0">
                          <a:solidFill>
                            <a:srgbClr val="1B2430"/>
                          </a:solidFill>
                          <a:latin typeface="Calibri"/>
                        </a:rPr>
                        <a:t>QAT</a:t>
                      </a:r>
                    </a:p>
                  </a:txBody>
                  <a:tcPr>
                    <a:solidFill>
                      <a:srgbClr val="F1F4F8"/>
                    </a:solidFill>
                  </a:tcPr>
                </a:tc>
                <a:tc>
                  <a:txBody>
                    <a:bodyPr/>
                    <a:lstStyle/>
                    <a:p>
                      <a:r>
                        <a:rPr sz="1200" b="0">
                          <a:solidFill>
                            <a:srgbClr val="1B2430"/>
                          </a:solidFill>
                          <a:latin typeface="Calibri"/>
                        </a:rPr>
                        <a:t>o'qitish paytida soxta kvantlash (fake quant)</a:t>
                      </a:r>
                    </a:p>
                  </a:txBody>
                  <a:tcPr>
                    <a:solidFill>
                      <a:srgbClr val="F1F4F8"/>
                    </a:solidFill>
                  </a:tcPr>
                </a:tc>
                <a:tc>
                  <a:txBody>
                    <a:bodyPr/>
                    <a:lstStyle/>
                    <a:p>
                      <a:r>
                        <a:rPr sz="1200" b="0">
                          <a:solidFill>
                            <a:srgbClr val="1B2430"/>
                          </a:solidFill>
                          <a:latin typeface="Calibri"/>
                        </a:rPr>
                        <a:t>qayta o'qitish</a:t>
                      </a:r>
                    </a:p>
                  </a:txBody>
                  <a:tcPr>
                    <a:solidFill>
                      <a:srgbClr val="F1F4F8"/>
                    </a:solidFill>
                  </a:tcPr>
                </a:tc>
                <a:tc>
                  <a:txBody>
                    <a:bodyPr/>
                    <a:lstStyle/>
                    <a:p>
                      <a:r>
                        <a:rPr sz="1200" b="0">
                          <a:solidFill>
                            <a:srgbClr val="1B2430"/>
                          </a:solidFill>
                          <a:latin typeface="Calibri"/>
                        </a:rPr>
                        <a:t>statik bilan teng</a:t>
                      </a:r>
                    </a:p>
                  </a:txBody>
                  <a:tcPr>
                    <a:solidFill>
                      <a:srgbClr val="F1F4F8"/>
                    </a:solidFill>
                  </a:tcPr>
                </a:tc>
                <a:tc>
                  <a:txBody>
                    <a:bodyPr/>
                    <a:lstStyle/>
                    <a:p>
                      <a:r>
                        <a:rPr sz="1200" b="0">
                          <a:solidFill>
                            <a:srgbClr val="1B2430"/>
                          </a:solidFill>
                          <a:latin typeface="Calibri"/>
                        </a:rPr>
                        <a:t>eng kam</a:t>
                      </a:r>
                    </a:p>
                  </a:txBody>
                  <a:tcPr>
                    <a:solidFill>
                      <a:srgbClr val="F1F4F8"/>
                    </a:solidFill>
                  </a:tcPr>
                </a:tc>
                <a:tc>
                  <a:txBody>
                    <a:bodyPr/>
                    <a:lstStyle/>
                    <a:p>
                      <a:r>
                        <a:rPr sz="1200" b="0">
                          <a:solidFill>
                            <a:srgbClr val="1B2430"/>
                          </a:solidFill>
                          <a:latin typeface="Calibri"/>
                        </a:rPr>
                        <a:t>kichik/sezgir modellar, INT4</a:t>
                      </a:r>
                    </a:p>
                  </a:txBody>
                  <a:tcPr>
                    <a:solidFill>
                      <a:srgbClr val="F1F4F8"/>
                    </a:solidFill>
                  </a:tcPr>
                </a:tc>
              </a:tr>
              <a:tr h="520000">
                <a:tc>
                  <a:txBody>
                    <a:bodyPr/>
                    <a:lstStyle/>
                    <a:p>
                      <a:r>
                        <a:rPr sz="1200" b="0">
                          <a:solidFill>
                            <a:srgbClr val="1B2430"/>
                          </a:solidFill>
                          <a:latin typeface="Calibri"/>
                        </a:rPr>
                        <a:t>Og'irlik-faqat INT4/INT8 (GPTQ, AWQ, NF4)</a:t>
                      </a:r>
                    </a:p>
                  </a:txBody>
                  <a:tcPr>
                    <a:solidFill>
                      <a:srgbClr val="FFFFFF"/>
                    </a:solidFill>
                  </a:tcPr>
                </a:tc>
                <a:tc>
                  <a:txBody>
                    <a:bodyPr/>
                    <a:lstStyle/>
                    <a:p>
                      <a:r>
                        <a:rPr sz="1200" b="0">
                          <a:solidFill>
                            <a:srgbClr val="1B2430"/>
                          </a:solidFill>
                          <a:latin typeface="Calibri"/>
                        </a:rPr>
                        <a:t>faqat og'irliklar, hisoblash FP16'da</a:t>
                      </a:r>
                    </a:p>
                  </a:txBody>
                  <a:tcPr>
                    <a:solidFill>
                      <a:srgbClr val="FFFFFF"/>
                    </a:solidFill>
                  </a:tcPr>
                </a:tc>
                <a:tc>
                  <a:txBody>
                    <a:bodyPr/>
                    <a:lstStyle/>
                    <a:p>
                      <a:r>
                        <a:rPr sz="1200" b="0">
                          <a:solidFill>
                            <a:srgbClr val="1B2430"/>
                          </a:solidFill>
                          <a:latin typeface="Calibri"/>
                        </a:rPr>
                        <a:t>yuzlab namuna (GPTQ/AWQ)</a:t>
                      </a:r>
                    </a:p>
                  </a:txBody>
                  <a:tcPr>
                    <a:solidFill>
                      <a:srgbClr val="FFFFFF"/>
                    </a:solidFill>
                  </a:tcPr>
                </a:tc>
                <a:tc>
                  <a:txBody>
                    <a:bodyPr/>
                    <a:lstStyle/>
                    <a:p>
                      <a:r>
                        <a:rPr sz="1200" b="0">
                          <a:solidFill>
                            <a:srgbClr val="1B2430"/>
                          </a:solidFill>
                          <a:latin typeface="Calibri"/>
                        </a:rPr>
                        <a:t>xotira trafigi kamayadi (LLM dekodlash)</a:t>
                      </a:r>
                    </a:p>
                  </a:txBody>
                  <a:tcPr>
                    <a:solidFill>
                      <a:srgbClr val="FFFFFF"/>
                    </a:solidFill>
                  </a:tcPr>
                </a:tc>
                <a:tc>
                  <a:txBody>
                    <a:bodyPr/>
                    <a:lstStyle/>
                    <a:p>
                      <a:r>
                        <a:rPr sz="1200" b="0">
                          <a:solidFill>
                            <a:srgbClr val="1B2430"/>
                          </a:solidFill>
                          <a:latin typeface="Calibri"/>
                        </a:rPr>
                        <a:t>kam</a:t>
                      </a:r>
                    </a:p>
                  </a:txBody>
                  <a:tcPr>
                    <a:solidFill>
                      <a:srgbClr val="FFFFFF"/>
                    </a:solidFill>
                  </a:tcPr>
                </a:tc>
                <a:tc>
                  <a:txBody>
                    <a:bodyPr/>
                    <a:lstStyle/>
                    <a:p>
                      <a:r>
                        <a:rPr sz="1200" b="0">
                          <a:solidFill>
                            <a:srgbClr val="1B2430"/>
                          </a:solidFill>
                          <a:latin typeface="Calibri"/>
                        </a:rPr>
                        <a:t>LLM inferens</a:t>
                      </a:r>
                    </a:p>
                  </a:txBody>
                  <a:tcPr>
                    <a:solidFill>
                      <a:srgbClr val="FFFFFF"/>
                    </a:solidFill>
                  </a:tcPr>
                </a:tc>
              </a:tr>
              <a:tr h="520000">
                <a:tc>
                  <a:txBody>
                    <a:bodyPr/>
                    <a:lstStyle/>
                    <a:p>
                      <a:r>
                        <a:rPr sz="1200" b="0">
                          <a:solidFill>
                            <a:srgbClr val="1B2430"/>
                          </a:solidFill>
                          <a:latin typeface="Calibri"/>
                        </a:rPr>
                        <a:t>FP8 / SmoothQuant W8A8</a:t>
                      </a:r>
                    </a:p>
                  </a:txBody>
                  <a:tcPr>
                    <a:solidFill>
                      <a:srgbClr val="F1F4F8"/>
                    </a:solidFill>
                  </a:tcPr>
                </a:tc>
                <a:tc>
                  <a:txBody>
                    <a:bodyPr/>
                    <a:lstStyle/>
                    <a:p>
                      <a:r>
                        <a:rPr sz="1200" b="0">
                          <a:solidFill>
                            <a:srgbClr val="1B2430"/>
                          </a:solidFill>
                          <a:latin typeface="Calibri"/>
                        </a:rPr>
                        <a:t>og'irlik va aktivatsiya 8 bit</a:t>
                      </a:r>
                    </a:p>
                  </a:txBody>
                  <a:tcPr>
                    <a:solidFill>
                      <a:srgbClr val="F1F4F8"/>
                    </a:solidFill>
                  </a:tcPr>
                </a:tc>
                <a:tc>
                  <a:txBody>
                    <a:bodyPr/>
                    <a:lstStyle/>
                    <a:p>
                      <a:r>
                        <a:rPr sz="1200" b="0">
                          <a:solidFill>
                            <a:srgbClr val="1B2430"/>
                          </a:solidFill>
                          <a:latin typeface="Calibri"/>
                        </a:rPr>
                        <a:t>masshtab/tekislash</a:t>
                      </a:r>
                    </a:p>
                  </a:txBody>
                  <a:tcPr>
                    <a:solidFill>
                      <a:srgbClr val="F1F4F8"/>
                    </a:solidFill>
                  </a:tcPr>
                </a:tc>
                <a:tc>
                  <a:txBody>
                    <a:bodyPr/>
                    <a:lstStyle/>
                    <a:p>
                      <a:r>
                        <a:rPr sz="1200" b="0">
                          <a:solidFill>
                            <a:srgbClr val="1B2430"/>
                          </a:solidFill>
                          <a:latin typeface="Calibri"/>
                        </a:rPr>
                        <a:t>yuqori (Hopper)</a:t>
                      </a:r>
                    </a:p>
                  </a:txBody>
                  <a:tcPr>
                    <a:solidFill>
                      <a:srgbClr val="F1F4F8"/>
                    </a:solidFill>
                  </a:tcPr>
                </a:tc>
                <a:tc>
                  <a:txBody>
                    <a:bodyPr/>
                    <a:lstStyle/>
                    <a:p>
                      <a:r>
                        <a:rPr sz="1200" b="0">
                          <a:solidFill>
                            <a:srgbClr val="1B2430"/>
                          </a:solidFill>
                          <a:latin typeface="Calibri"/>
                        </a:rPr>
                        <a:t>kam</a:t>
                      </a:r>
                    </a:p>
                  </a:txBody>
                  <a:tcPr>
                    <a:solidFill>
                      <a:srgbClr val="F1F4F8"/>
                    </a:solidFill>
                  </a:tcPr>
                </a:tc>
                <a:tc>
                  <a:txBody>
                    <a:bodyPr/>
                    <a:lstStyle/>
                    <a:p>
                      <a:r>
                        <a:rPr sz="1200" b="0">
                          <a:solidFill>
                            <a:srgbClr val="1B2430"/>
                          </a:solidFill>
                          <a:latin typeface="Calibri"/>
                        </a:rPr>
                        <a:t>LLM yuqori throughput</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6962d35d36cfc4b.jpg"/>
          <p:cNvPicPr>
            <a:picLocks noChangeAspect="1"/>
          </p:cNvPicPr>
          <p:nvPr/>
        </p:nvPicPr>
        <p:blipFill>
          <a:blip r:embed="rId2"/>
          <a:srcRect l="22044" r="22044"/>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Peggy Greb, USDA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Pruning: siyraklashtirish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Pruning: siyraklashtirish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1409780"/>
            <a:ext cx="11100000" cy="150348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409780"/>
            <a:ext cx="70000" cy="150348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1951520"/>
            <a:ext cx="420000" cy="42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1449780"/>
            <a:ext cx="10150000" cy="1423480"/>
          </a:xfrm>
          <a:prstGeom prst="rect">
            <a:avLst/>
          </a:prstGeom>
          <a:noFill/>
        </p:spPr>
        <p:txBody>
          <a:bodyPr wrap="square" anchor="ctr">
            <a:spAutoFit/>
          </a:bodyPr>
          <a:lstStyle/>
          <a:p>
            <a:r>
              <a:rPr sz="1500" b="1">
                <a:solidFill>
                  <a:srgbClr val="1F3A5F"/>
                </a:solidFill>
                <a:latin typeface="Calibri"/>
              </a:rPr>
              <a:t>Pruning — ta'siri kam parametrlarni (og'irliklar, kanallar, boshlar, qatlamlar) olib tashlash.</a:t>
            </a:r>
          </a:p>
          <a:p>
            <a:pPr>
              <a:spcBef>
                <a:spcPts val="400"/>
              </a:spcBef>
            </a:pPr>
            <a:r>
              <a:rPr sz="1400">
                <a:solidFill>
                  <a:srgbClr val="334055"/>
                </a:solidFill>
                <a:latin typeface="Calibri"/>
              </a:rPr>
              <a:t>Eng oddiy mezon — kattalik (magnitude pruning): absolyut qiymati kichik og'irliklar nolga tenglashtiriladi.</a:t>
            </a:r>
          </a:p>
        </p:txBody>
      </p:sp>
      <p:sp>
        <p:nvSpPr>
          <p:cNvPr id="14" name="Rounded Rectangle 13"/>
          <p:cNvSpPr/>
          <p:nvPr/>
        </p:nvSpPr>
        <p:spPr>
          <a:xfrm>
            <a:off x="550000" y="3023260"/>
            <a:ext cx="11100000" cy="150348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023260"/>
            <a:ext cx="70000" cy="150348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3565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7" name="TextBox 16"/>
          <p:cNvSpPr txBox="1"/>
          <p:nvPr/>
        </p:nvSpPr>
        <p:spPr>
          <a:xfrm>
            <a:off x="1380000" y="3063260"/>
            <a:ext cx="10150000" cy="1423480"/>
          </a:xfrm>
          <a:prstGeom prst="rect">
            <a:avLst/>
          </a:prstGeom>
          <a:noFill/>
        </p:spPr>
        <p:txBody>
          <a:bodyPr wrap="square" anchor="ctr">
            <a:spAutoFit/>
          </a:bodyPr>
          <a:lstStyle/>
          <a:p>
            <a:r>
              <a:rPr sz="1500" b="1">
                <a:solidFill>
                  <a:srgbClr val="1F3A5F"/>
                </a:solidFill>
                <a:latin typeface="Calibri"/>
              </a:rPr>
              <a:t>Lekin bu yerda muhandis uchun hal qiluvchi nuqta bor: strukturlanmagan (unstructured) siyraklik — tasodifiy joylarda nol — umumiy maqsadli GPU'da tezlashish bermaydi.</a:t>
            </a:r>
          </a:p>
          <a:p>
            <a:pPr>
              <a:spcBef>
                <a:spcPts val="400"/>
              </a:spcBef>
            </a:pPr>
            <a:r>
              <a:rPr sz="1400">
                <a:solidFill>
                  <a:srgbClr val="334055"/>
                </a:solidFill>
                <a:latin typeface="Calibri"/>
              </a:rPr>
              <a:t>Zich matritsa ko'paytmasi kernellari nollarni ham ko'paytiradi; siyrak formatlar (CSR) esa indekslar yuki tufayli faqat 90–95 foizdan yuqori siyraklikda zich formatdan tezroq bo'ladi. Shuning uchun amaliyotda uch yo'l bor.</a:t>
            </a:r>
          </a:p>
        </p:txBody>
      </p:sp>
      <p:sp>
        <p:nvSpPr>
          <p:cNvPr id="18" name="Rounded Rectangle 17"/>
          <p:cNvSpPr/>
          <p:nvPr/>
        </p:nvSpPr>
        <p:spPr>
          <a:xfrm>
            <a:off x="550000" y="4636740"/>
            <a:ext cx="11100000" cy="150348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636740"/>
            <a:ext cx="70000" cy="150348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0000" y="5178480"/>
            <a:ext cx="420000" cy="42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21" name="TextBox 20"/>
          <p:cNvSpPr txBox="1"/>
          <p:nvPr/>
        </p:nvSpPr>
        <p:spPr>
          <a:xfrm>
            <a:off x="1380000" y="4676740"/>
            <a:ext cx="10150000" cy="1423480"/>
          </a:xfrm>
          <a:prstGeom prst="rect">
            <a:avLst/>
          </a:prstGeom>
          <a:noFill/>
        </p:spPr>
        <p:txBody>
          <a:bodyPr wrap="square" anchor="ctr">
            <a:spAutoFit/>
          </a:bodyPr>
          <a:lstStyle/>
          <a:p>
            <a:r>
              <a:rPr sz="1500" b="1">
                <a:solidFill>
                  <a:srgbClr val="1F3A5F"/>
                </a:solidFill>
                <a:latin typeface="Calibri"/>
              </a:rPr>
              <a:t>Pruning darajasini baholashda uchta ko'rsatkich: parametrlar ulushi (hajm), FLOP ulushi (hisoblash) va o'lchangan kechikish (haqiqiy tezlik).</a:t>
            </a:r>
          </a:p>
          <a:p>
            <a:pPr>
              <a:spcBef>
                <a:spcPts val="400"/>
              </a:spcBef>
            </a:pPr>
            <a:r>
              <a:rPr sz="1400">
                <a:solidFill>
                  <a:srgbClr val="334055"/>
                </a:solidFill>
                <a:latin typeface="Calibri"/>
              </a:rPr>
              <a:t>Bular bir-biriga mos kelmasligi mumkin: kanallarning 50 foizini olib tashlash FLOP'ni 75 foizga kamaytiradi (ikki o'lcham ham qisqaradi), lekin xotira bilan chegaralangan qatlamlarda kechikish deyarli o'zgarmasligi mumkin.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8597978c28505d6a.jpg"/>
          <p:cNvPicPr>
            <a:picLocks noChangeAspect="1"/>
          </p:cNvPicPr>
          <p:nvPr/>
        </p:nvPicPr>
        <p:blipFill>
          <a:blip r:embed="rId2"/>
          <a:srcRect l="21373" r="2137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BLM Alaska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Knowledge Distillation: bilim distillyatsiyasi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Knowledge Distillation: bilim distillyatsiyasi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1284050"/>
            <a:ext cx="11100000" cy="15873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284050"/>
            <a:ext cx="70000" cy="15873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1867700"/>
            <a:ext cx="420000" cy="42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1324050"/>
            <a:ext cx="10150000" cy="1507300"/>
          </a:xfrm>
          <a:prstGeom prst="rect">
            <a:avLst/>
          </a:prstGeom>
          <a:noFill/>
        </p:spPr>
        <p:txBody>
          <a:bodyPr wrap="square" anchor="ctr">
            <a:spAutoFit/>
          </a:bodyPr>
          <a:lstStyle/>
          <a:p>
            <a:r>
              <a:rPr sz="1600" b="1">
                <a:solidFill>
                  <a:srgbClr val="1F3A5F"/>
                </a:solidFill>
                <a:latin typeface="Calibri"/>
              </a:rPr>
              <a:t>Bilim distillyatsiyasi (Hinton, Vinyals, Dean, 2015) katta, aniq «o'qituvchi» modelning xulq-atvorini kichik «o'quvchi» modelga o'rgatadi.</a:t>
            </a:r>
          </a:p>
          <a:p>
            <a:pPr>
              <a:spcBef>
                <a:spcPts val="400"/>
              </a:spcBef>
            </a:pPr>
            <a:r>
              <a:rPr sz="1500">
                <a:solidFill>
                  <a:srgbClr val="334055"/>
                </a:solidFill>
                <a:latin typeface="Calibri"/>
              </a:rPr>
              <a:t>Asosiy kuzatuv: o'qituvchining yumshoq ehtimollik taqsimoti (soft targets) qattiq yorliqdan (hard label) ko'proq ma'lumot beradi — «bu rasm 90 foiz it, 7 foiz bo'ri, 0,01 foiz mashina» degan taqsimot sinflar orasidagi o'xshashlikni ifodalaydi.</a:t>
            </a:r>
          </a:p>
        </p:txBody>
      </p:sp>
      <p:sp>
        <p:nvSpPr>
          <p:cNvPr id="14" name="Rounded Rectangle 13"/>
          <p:cNvSpPr/>
          <p:nvPr/>
        </p:nvSpPr>
        <p:spPr>
          <a:xfrm>
            <a:off x="550000" y="2981350"/>
            <a:ext cx="11100000" cy="15873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81350"/>
            <a:ext cx="70000" cy="15873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0000" y="3565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7" name="TextBox 16"/>
          <p:cNvSpPr txBox="1"/>
          <p:nvPr/>
        </p:nvSpPr>
        <p:spPr>
          <a:xfrm>
            <a:off x="1380000" y="3021350"/>
            <a:ext cx="10150000" cy="1507300"/>
          </a:xfrm>
          <a:prstGeom prst="rect">
            <a:avLst/>
          </a:prstGeom>
          <a:noFill/>
        </p:spPr>
        <p:txBody>
          <a:bodyPr wrap="square" anchor="ctr">
            <a:spAutoFit/>
          </a:bodyPr>
          <a:lstStyle/>
          <a:p>
            <a:r>
              <a:rPr sz="1500" b="0">
                <a:solidFill>
                  <a:srgbClr val="1B2430"/>
                </a:solidFill>
                <a:latin typeface="Calibri"/>
              </a:rPr>
              <a:t>L = α · T² · KL(p_teacher(T) ‖ p_student(T)) + (1 − α) · CE(y, p_student(1))</a:t>
            </a:r>
          </a:p>
        </p:txBody>
      </p:sp>
      <p:sp>
        <p:nvSpPr>
          <p:cNvPr id="18" name="Rounded Rectangle 17"/>
          <p:cNvSpPr/>
          <p:nvPr/>
        </p:nvSpPr>
        <p:spPr>
          <a:xfrm>
            <a:off x="550000" y="4678650"/>
            <a:ext cx="11100000" cy="1587300"/>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678650"/>
            <a:ext cx="70000" cy="15873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0000" y="5262300"/>
            <a:ext cx="420000" cy="42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21" name="TextBox 20"/>
          <p:cNvSpPr txBox="1"/>
          <p:nvPr/>
        </p:nvSpPr>
        <p:spPr>
          <a:xfrm>
            <a:off x="1380000" y="4718650"/>
            <a:ext cx="10150000" cy="1507300"/>
          </a:xfrm>
          <a:prstGeom prst="rect">
            <a:avLst/>
          </a:prstGeom>
          <a:noFill/>
        </p:spPr>
        <p:txBody>
          <a:bodyPr wrap="square" anchor="ctr">
            <a:spAutoFit/>
          </a:bodyPr>
          <a:lstStyle/>
          <a:p>
            <a:r>
              <a:rPr sz="1600" b="1">
                <a:solidFill>
                  <a:srgbClr val="1F3A5F"/>
                </a:solidFill>
                <a:latin typeface="Calibri"/>
              </a:rPr>
              <a:t>bu yerda T² ko'paytuvchi gradient kattaligini kompensatsiya qiladi, α (odatda 0,5–0,9) ikki hadning muvozanati.</a:t>
            </a:r>
          </a:p>
          <a:p>
            <a:pPr>
              <a:spcBef>
                <a:spcPts val="400"/>
              </a:spcBef>
            </a:pPr>
            <a:r>
              <a:rPr sz="1500">
                <a:solidFill>
                  <a:srgbClr val="334055"/>
                </a:solidFill>
                <a:latin typeface="Calibri"/>
              </a:rPr>
              <a:t>Distillyatsiya turlari: javob asosida (logitlar), xususiyat asosida (oraliq qatlamlar — FitNets, TinyBERT), munosabat asosida (namunalar orasidagi masofalar).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c6e041310e3d707.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Mooshua1857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Model va kernel darajasidagi optimallashtirish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5-REJA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Model va kernel darajasidagi optimallashtirish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10" name="Rounded Rectangle 9"/>
          <p:cNvSpPr/>
          <p:nvPr/>
        </p:nvSpPr>
        <p:spPr>
          <a:xfrm>
            <a:off x="550000" y="3515000"/>
            <a:ext cx="11100000" cy="52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3515000"/>
            <a:ext cx="70000" cy="52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3585000"/>
            <a:ext cx="380000" cy="38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3555000"/>
            <a:ext cx="10150000" cy="440000"/>
          </a:xfrm>
          <a:prstGeom prst="rect">
            <a:avLst/>
          </a:prstGeom>
          <a:noFill/>
        </p:spPr>
        <p:txBody>
          <a:bodyPr wrap="square" anchor="ctr">
            <a:spAutoFit/>
          </a:bodyPr>
          <a:lstStyle/>
          <a:p>
            <a:r>
              <a:rPr sz="1600" b="0">
                <a:solidFill>
                  <a:srgbClr val="1B2430"/>
                </a:solidFill>
                <a:latin typeface="Calibri"/>
              </a:rPr>
              <a:t>Yuqoridagi usullar modelni o'zgartiradi; kernel darajasidagi optimallashtirish esa bir xil modelni apparatda samaraliroq bajaradi.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5690ed099ffc088.jpg"/>
          <p:cNvPicPr>
            <a:picLocks noChangeAspect="1"/>
          </p:cNvPicPr>
          <p:nvPr/>
        </p:nvPicPr>
        <p:blipFill>
          <a:blip r:embed="rId2"/>
          <a:srcRect l="18319" r="18319"/>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Andrea Agnolin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Hisoblash resurslaridan samarali foydalanish va energiya samaradorligi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6-REJA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Hisoblash resurslaridan samarali foydalanish va energiya samaradorligi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M8 · Sun'iy intellekt tizimlarini optimallashtirish usullari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10" name="Rounded Rectangle 9"/>
          <p:cNvSpPr/>
          <p:nvPr/>
        </p:nvSpPr>
        <p:spPr>
          <a:xfrm>
            <a:off x="550000" y="3040024"/>
            <a:ext cx="11100000" cy="1469952"/>
          </a:xfrm>
          <a:prstGeom prst="roundRect">
            <a:avLst>
              <a:gd name="adj" fmla="val 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3040024"/>
            <a:ext cx="70000" cy="1469952"/>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0000" y="3565000"/>
            <a:ext cx="420000" cy="42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3" name="TextBox 12"/>
          <p:cNvSpPr txBox="1"/>
          <p:nvPr/>
        </p:nvSpPr>
        <p:spPr>
          <a:xfrm>
            <a:off x="1380000" y="3080024"/>
            <a:ext cx="10150000" cy="1389952"/>
          </a:xfrm>
          <a:prstGeom prst="rect">
            <a:avLst/>
          </a:prstGeom>
          <a:noFill/>
        </p:spPr>
        <p:txBody>
          <a:bodyPr wrap="square" anchor="ctr">
            <a:spAutoFit/>
          </a:bodyPr>
          <a:lstStyle/>
          <a:p>
            <a:r>
              <a:rPr sz="1800" b="1">
                <a:solidFill>
                  <a:srgbClr val="1F3A5F"/>
                </a:solidFill>
                <a:latin typeface="Calibri"/>
              </a:rPr>
              <a:t>Energiya samaradorligi ko'rsatkichi — inferens boshiga joul (J/inferens) yoki o'qitish uchun jami kVt·soat.</a:t>
            </a:r>
          </a:p>
          <a:p>
            <a:pPr>
              <a:spcBef>
                <a:spcPts val="400"/>
              </a:spcBef>
            </a:pPr>
            <a:r>
              <a:rPr sz="1700">
                <a:solidFill>
                  <a:srgbClr val="334055"/>
                </a:solidFill>
                <a:latin typeface="Calibri"/>
              </a:rPr>
              <a:t>U quvvat (Vt) va vaqtning ko'paytmasi, shuning uchun tezlashtirishning o'zi energiya tejaydi (quvvat deyarli bir xil qolib, vaqt qisqaradi).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
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a:p/>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a:p/>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a:p/>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a:p/>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a:p/>
          <a:p>
            <a:r>
              <a:t>q = clamp(round(x / s) + z, q_min, q_max), teskarisi x̂ = s · (q − z)</a:t>
            </a:r>
          </a:p>
          <a:p/>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a:p/>
          <a:p>
            <a:r>
              <a:t>q = clamp(round(x / s) + z, q_min, q_max), teskarisi x̂ = s · (q − z)</a:t>
            </a:r>
          </a:p>
          <a:p/>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a:p/>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a:p/>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a:p/>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a:p/>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a:p/>
          <a:p>
            <a:r>
              <a:t>L = α · T² · KL(p_teacher(T) ‖ p_student(T)) + (1 − α) · CE(y, p_student(1))</a:t>
            </a:r>
          </a:p>
          <a:p/>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d6bddc8d21811d7f.jpg"/>
          <p:cNvPicPr>
            <a:picLocks noChangeAspect="1"/>
          </p:cNvPicPr>
          <p:nvPr/>
        </p:nvPicPr>
        <p:blipFill>
          <a:blip r:embed="rId2"/>
          <a:srcRect t="12578" b="12578"/>
          <a:stretch>
            <a:fillRect/>
          </a:stretch>
        </p:blipFill>
        <p:spPr>
          <a:xfrm>
            <a:off x="7850000" y="1500000"/>
            <a:ext cx="3300000" cy="3300000"/>
          </a:xfrm>
          <a:prstGeom prst="ellipse">
            <a:avLst/>
          </a:prstGeom>
          <a:ln w="19050">
            <a:solidFill>
              <a:srgbClr val="22D3EE"/>
            </a:solidFill>
          </a:ln>
        </p:spPr>
      </p:pic>
      <p:sp>
        <p:nvSpPr>
          <p:cNvPr id="66" name="TextBox 6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Mikael Häggström, M.D. Author info - Reusing images- Conflicts of interest:  Non · Wikimedia Commons · C</a:t>
            </a:r>
          </a:p>
        </p:txBody>
      </p:sp>
      <p:sp>
        <p:nvSpPr>
          <p:cNvPr id="67" name="Rounded Rectangle 6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M8 · 2 soat</a:t>
            </a:r>
          </a:p>
        </p:txBody>
      </p:sp>
      <p:sp>
        <p:nvSpPr>
          <p:cNvPr id="68" name="TextBox 6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9" name="TextBox 68"/>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Sun'iy intellekt tizimlarini optimallashtirish usullari</a:t>
            </a:r>
          </a:p>
        </p:txBody>
      </p:sp>
      <p:sp>
        <p:nvSpPr>
          <p:cNvPr id="70" name="Rectangle 6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200"/>
                            </p:stCondLst>
                            <p:childTnLst>
                              <p:par>
                                <p:cTn id="244" presetID="53" presetClass="entr" presetSubtype="16" fill="hold" grpId="0" nodeType="afterEffect">
                                  <p:stCondLst>
                                    <p:cond delay="0"/>
                                  </p:stCondLst>
                                  <p:childTnLst>
                                    <p:set>
                                      <p:cBhvr>
                                        <p:cTn id="245" dur="1" fill="hold">
                                          <p:stCondLst>
                                            <p:cond delay="0"/>
                                          </p:stCondLst>
                                        </p:cTn>
                                        <p:tgtEl>
                                          <p:spTgt spid="64"/>
                                        </p:tgtEl>
                                        <p:attrNameLst>
                                          <p:attrName>style.visibility</p:attrName>
                                        </p:attrNameLst>
                                      </p:cBhvr>
                                      <p:to>
                                        <p:strVal val="visible"/>
                                      </p:to>
                                    </p:set>
                                    <p:animEffect transition="in" filter="fade">
                                      <p:cBhvr>
                                        <p:cTn id="246" dur="550"/>
                                        <p:tgtEl>
                                          <p:spTgt spid="64"/>
                                        </p:tgtEl>
                                      </p:cBhvr>
                                    </p:animEffect>
                                    <p:anim calcmode="lin" valueType="num">
                                      <p:cBhvr additive="base">
                                        <p:cTn id="247" dur="550" fill="hold"/>
                                        <p:tgtEl>
                                          <p:spTgt spid="64"/>
                                        </p:tgtEl>
                                        <p:attrNameLst>
                                          <p:attrName>ppt_w</p:attrName>
                                        </p:attrNameLst>
                                      </p:cBhvr>
                                      <p:tavLst>
                                        <p:tav tm="0">
                                          <p:val>
                                            <p:strVal val="0"/>
                                          </p:val>
                                        </p:tav>
                                        <p:tav tm="100000">
                                          <p:val>
                                            <p:strVal val="#ppt_w"/>
                                          </p:val>
                                        </p:tav>
                                      </p:tavLst>
                                    </p:anim>
                                    <p:anim calcmode="lin" valueType="num">
                                      <p:cBhvr additive="base">
                                        <p:cTn id="248" dur="550" fill="hold"/>
                                        <p:tgtEl>
                                          <p:spTgt spid="64"/>
                                        </p:tgtEl>
                                        <p:attrNameLst>
                                          <p:attrName>ppt_h</p:attrName>
                                        </p:attrNameLst>
                                      </p:cBhvr>
                                      <p:tavLst>
                                        <p:tav tm="0">
                                          <p:val>
                                            <p:strVal val="0"/>
                                          </p:val>
                                        </p:tav>
                                        <p:tav tm="100000">
                                          <p:val>
                                            <p:strVal val="#ppt_h"/>
                                          </p:val>
                                        </p:tav>
                                      </p:tavLst>
                                    </p:anim>
                                  </p:childTnLst>
                                </p:cTn>
                              </p:par>
                            </p:childTnLst>
                          </p:cTn>
                        </p:par>
                        <p:par>
                          <p:cTn id="249" fill="hold">
                            <p:stCondLst>
                              <p:cond delay="200"/>
                            </p:stCondLst>
                            <p:childTnLst>
                              <p:par>
                                <p:cTn id="250" presetID="53" presetClass="entr" presetSubtype="16" fill="hold" grpId="0" nodeType="after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550"/>
                                        <p:tgtEl>
                                          <p:spTgt spid="63"/>
                                        </p:tgtEl>
                                      </p:cBhvr>
                                    </p:animEffect>
                                    <p:anim calcmode="lin" valueType="num">
                                      <p:cBhvr additive="base">
                                        <p:cTn id="253" dur="550" fill="hold"/>
                                        <p:tgtEl>
                                          <p:spTgt spid="63"/>
                                        </p:tgtEl>
                                        <p:attrNameLst>
                                          <p:attrName>ppt_w</p:attrName>
                                        </p:attrNameLst>
                                      </p:cBhvr>
                                      <p:tavLst>
                                        <p:tav tm="0">
                                          <p:val>
                                            <p:strVal val="0"/>
                                          </p:val>
                                        </p:tav>
                                        <p:tav tm="100000">
                                          <p:val>
                                            <p:strVal val="#ppt_w"/>
                                          </p:val>
                                        </p:tav>
                                      </p:tavLst>
                                    </p:anim>
                                    <p:anim calcmode="lin" valueType="num">
                                      <p:cBhvr additive="base">
                                        <p:cTn id="254" dur="550" fill="hold"/>
                                        <p:tgtEl>
                                          <p:spTgt spid="63"/>
                                        </p:tgtEl>
                                        <p:attrNameLst>
                                          <p:attrName>ppt_h</p:attrName>
                                        </p:attrNameLst>
                                      </p:cBhvr>
                                      <p:tavLst>
                                        <p:tav tm="0">
                                          <p:val>
                                            <p:strVal val="0"/>
                                          </p:val>
                                        </p:tav>
                                        <p:tav tm="100000">
                                          <p:val>
                                            <p:strVal val="#ppt_h"/>
                                          </p:val>
                                        </p:tav>
                                      </p:tavLst>
                                    </p:anim>
                                  </p:childTnLst>
                                </p:cTn>
                              </p:par>
                            </p:childTnLst>
                          </p:cTn>
                        </p:par>
                        <p:par>
                          <p:cTn id="255" fill="hold">
                            <p:stCondLst>
                              <p:cond delay="200"/>
                            </p:stCondLst>
                            <p:childTnLst>
                              <p:par>
                                <p:cTn id="256" presetID="53" presetClass="entr" presetSubtype="16" fill="hold" grpId="0" nodeType="afterEffect">
                                  <p:stCondLst>
                                    <p:cond delay="0"/>
                                  </p:stCondLst>
                                  <p:childTnLst>
                                    <p:set>
                                      <p:cBhvr>
                                        <p:cTn id="257" dur="1" fill="hold">
                                          <p:stCondLst>
                                            <p:cond delay="0"/>
                                          </p:stCondLst>
                                        </p:cTn>
                                        <p:tgtEl>
                                          <p:spTgt spid="65"/>
                                        </p:tgtEl>
                                        <p:attrNameLst>
                                          <p:attrName>style.visibility</p:attrName>
                                        </p:attrNameLst>
                                      </p:cBhvr>
                                      <p:to>
                                        <p:strVal val="visible"/>
                                      </p:to>
                                    </p:set>
                                    <p:animEffect transition="in" filter="fade">
                                      <p:cBhvr>
                                        <p:cTn id="258" dur="550"/>
                                        <p:tgtEl>
                                          <p:spTgt spid="65"/>
                                        </p:tgtEl>
                                      </p:cBhvr>
                                    </p:animEffect>
                                    <p:anim calcmode="lin" valueType="num">
                                      <p:cBhvr additive="base">
                                        <p:cTn id="259" dur="550" fill="hold"/>
                                        <p:tgtEl>
                                          <p:spTgt spid="65"/>
                                        </p:tgtEl>
                                        <p:attrNameLst>
                                          <p:attrName>ppt_w</p:attrName>
                                        </p:attrNameLst>
                                      </p:cBhvr>
                                      <p:tavLst>
                                        <p:tav tm="0">
                                          <p:val>
                                            <p:strVal val="0"/>
                                          </p:val>
                                        </p:tav>
                                        <p:tav tm="100000">
                                          <p:val>
                                            <p:strVal val="#ppt_w"/>
                                          </p:val>
                                        </p:tav>
                                      </p:tavLst>
                                    </p:anim>
                                    <p:anim calcmode="lin" valueType="num">
                                      <p:cBhvr additive="base">
                                        <p:cTn id="260" dur="550" fill="hold"/>
                                        <p:tgtEl>
                                          <p:spTgt spid="65"/>
                                        </p:tgtEl>
                                        <p:attrNameLst>
                                          <p:attrName>ppt_h</p:attrName>
                                        </p:attrNameLst>
                                      </p:cBhvr>
                                      <p:tavLst>
                                        <p:tav tm="0">
                                          <p:val>
                                            <p:strVal val="0"/>
                                          </p:val>
                                        </p:tav>
                                        <p:tav tm="100000">
                                          <p:val>
                                            <p:strVal val="#ppt_h"/>
                                          </p:val>
                                        </p:tav>
                                      </p:tavLst>
                                    </p:anim>
                                  </p:childTnLst>
                                </p:cTn>
                              </p:par>
                            </p:childTnLst>
                          </p:cTn>
                        </p:par>
                        <p:par>
                          <p:cTn id="261" fill="hold">
                            <p:stCondLst>
                              <p:cond delay="200"/>
                            </p:stCondLst>
                            <p:childTnLst>
                              <p:par>
                                <p:cTn id="262" presetID="10" presetClass="entr" presetSubtype="0" fill="hold" grpId="0" nodeType="afterEffect">
                                  <p:stCondLst>
                                    <p:cond delay="0"/>
                                  </p:stCondLst>
                                  <p:childTnLst>
                                    <p:set>
                                      <p:cBhvr>
                                        <p:cTn id="263" dur="1" fill="hold">
                                          <p:stCondLst>
                                            <p:cond delay="0"/>
                                          </p:stCondLst>
                                        </p:cTn>
                                        <p:tgtEl>
                                          <p:spTgt spid="66"/>
                                        </p:tgtEl>
                                        <p:attrNameLst>
                                          <p:attrName>style.visibility</p:attrName>
                                        </p:attrNameLst>
                                      </p:cBhvr>
                                      <p:to>
                                        <p:strVal val="visible"/>
                                      </p:to>
                                    </p:set>
                                    <p:animEffect transition="in" filter="fade">
                                      <p:cBhvr>
                                        <p:cTn id="264" dur="550"/>
                                        <p:tgtEl>
                                          <p:spTgt spid="66"/>
                                        </p:tgtEl>
                                      </p:cBhvr>
                                    </p:animEffect>
                                  </p:childTnLst>
                                </p:cTn>
                              </p:par>
                            </p:childTnLst>
                          </p:cTn>
                        </p:par>
                        <p:par>
                          <p:cTn id="265" fill="hold">
                            <p:stCondLst>
                              <p:cond delay="350"/>
                            </p:stCondLst>
                            <p:childTnLst>
                              <p:par>
                                <p:cTn id="266" presetID="10" presetClass="entr" presetSubtype="0" fill="hold" grpId="0" nodeType="afterEffect">
                                  <p:stCondLst>
                                    <p:cond delay="0"/>
                                  </p:stCondLst>
                                  <p:childTnLst>
                                    <p:set>
                                      <p:cBhvr>
                                        <p:cTn id="267" dur="1" fill="hold">
                                          <p:stCondLst>
                                            <p:cond delay="0"/>
                                          </p:stCondLst>
                                        </p:cTn>
                                        <p:tgtEl>
                                          <p:spTgt spid="68"/>
                                        </p:tgtEl>
                                        <p:attrNameLst>
                                          <p:attrName>style.visibility</p:attrName>
                                        </p:attrNameLst>
                                      </p:cBhvr>
                                      <p:to>
                                        <p:strVal val="visible"/>
                                      </p:to>
                                    </p:set>
                                    <p:animEffect transition="in" filter="fade">
                                      <p:cBhvr>
                                        <p:cTn id="268" dur="550"/>
                                        <p:tgtEl>
                                          <p:spTgt spid="68"/>
                                        </p:tgtEl>
                                      </p:cBhvr>
                                    </p:animEffect>
                                  </p:childTnLst>
                                </p:cTn>
                              </p:par>
                            </p:childTnLst>
                          </p:cTn>
                        </p:par>
                        <p:par>
                          <p:cTn id="269" fill="hold">
                            <p:stCondLst>
                              <p:cond delay="500"/>
                            </p:stCondLst>
                            <p:childTnLst>
                              <p:par>
                                <p:cTn id="270" presetID="2" presetClass="entr" presetSubtype="8" fill="hold" grpId="0" nodeType="afterEffect">
                                  <p:stCondLst>
                                    <p:cond delay="0"/>
                                  </p:stCondLst>
                                  <p:childTnLst>
                                    <p:set>
                                      <p:cBhvr>
                                        <p:cTn id="271" dur="1" fill="hold">
                                          <p:stCondLst>
                                            <p:cond delay="0"/>
                                          </p:stCondLst>
                                        </p:cTn>
                                        <p:tgtEl>
                                          <p:spTgt spid="67"/>
                                        </p:tgtEl>
                                        <p:attrNameLst>
                                          <p:attrName>style.visibility</p:attrName>
                                        </p:attrNameLst>
                                      </p:cBhvr>
                                      <p:to>
                                        <p:strVal val="visible"/>
                                      </p:to>
                                    </p:set>
                                    <p:anim calcmode="lin" valueType="num">
                                      <p:cBhvr additive="base">
                                        <p:cTn id="273" dur="550" fill="hold"/>
                                        <p:tgtEl>
                                          <p:spTgt spid="67"/>
                                        </p:tgtEl>
                                        <p:attrNameLst>
                                          <p:attrName>ppt_x</p:attrName>
                                        </p:attrNameLst>
                                      </p:cBhvr>
                                      <p:tavLst>
                                        <p:tav tm="0">
                                          <p:val>
                                            <p:strVal val="0-#ppt_w/2"/>
                                          </p:val>
                                        </p:tav>
                                        <p:tav tm="100000">
                                          <p:val>
                                            <p:strVal val="#ppt_x"/>
                                          </p:val>
                                        </p:tav>
                                      </p:tavLst>
                                    </p:anim>
                                    <p:anim calcmode="lin" valueType="num">
                                      <p:cBhvr additive="base">
                                        <p:cTn id="274" dur="550" fill="hold"/>
                                        <p:tgtEl>
                                          <p:spTgt spid="67"/>
                                        </p:tgtEl>
                                        <p:attrNameLst>
                                          <p:attrName>ppt_y</p:attrName>
                                        </p:attrNameLst>
                                      </p:cBhvr>
                                      <p:tavLst>
                                        <p:tav tm="0">
                                          <p:val>
                                            <p:strVal val="#ppt_y"/>
                                          </p:val>
                                        </p:tav>
                                        <p:tav tm="100000">
                                          <p:val>
                                            <p:strVal val="#ppt_y"/>
                                          </p:val>
                                        </p:tav>
                                      </p:tavLst>
                                    </p:anim>
                                  </p:childTnLst>
                                </p:cTn>
                              </p:par>
                            </p:childTnLst>
                          </p:cTn>
                        </p:par>
                        <p:par>
                          <p:cTn id="275" fill="hold">
                            <p:stCondLst>
                              <p:cond delay="650"/>
                            </p:stCondLst>
                            <p:childTnLst>
                              <p:par>
                                <p:cTn id="276" presetID="42" presetClass="entr" presetSubtype="0" fill="hold" grpId="0" nodeType="afterEffect">
                                  <p:stCondLst>
                                    <p:cond delay="0"/>
                                  </p:stCondLst>
                                  <p:childTnLst>
                                    <p:set>
                                      <p:cBhvr>
                                        <p:cTn id="277" dur="1" fill="hold">
                                          <p:stCondLst>
                                            <p:cond delay="0"/>
                                          </p:stCondLst>
                                        </p:cTn>
                                        <p:tgtEl>
                                          <p:spTgt spid="69"/>
                                        </p:tgtEl>
                                        <p:attrNameLst>
                                          <p:attrName>style.visibility</p:attrName>
                                        </p:attrNameLst>
                                      </p:cBhvr>
                                      <p:to>
                                        <p:strVal val="visible"/>
                                      </p:to>
                                    </p:set>
                                    <p:animEffect transition="in" filter="fade">
                                      <p:cBhvr>
                                        <p:cTn id="278" dur="550"/>
                                        <p:tgtEl>
                                          <p:spTgt spid="69"/>
                                        </p:tgtEl>
                                      </p:cBhvr>
                                    </p:animEffect>
                                    <p:anim calcmode="lin" valueType="num">
                                      <p:cBhvr additive="base">
                                        <p:cTn id="279" dur="550" fill="hold"/>
                                        <p:tgtEl>
                                          <p:spTgt spid="69"/>
                                        </p:tgtEl>
                                        <p:attrNameLst>
                                          <p:attrName>ppt_x</p:attrName>
                                        </p:attrNameLst>
                                      </p:cBhvr>
                                      <p:tavLst>
                                        <p:tav tm="0">
                                          <p:val>
                                            <p:strVal val="#ppt_x"/>
                                          </p:val>
                                        </p:tav>
                                        <p:tav tm="100000">
                                          <p:val>
                                            <p:strVal val="#ppt_x"/>
                                          </p:val>
                                        </p:tav>
                                      </p:tavLst>
                                    </p:anim>
                                    <p:anim calcmode="lin" valueType="num">
                                      <p:cBhvr additive="base">
                                        <p:cTn id="280" dur="550" fill="hold"/>
                                        <p:tgtEl>
                                          <p:spTgt spid="69"/>
                                        </p:tgtEl>
                                        <p:attrNameLst>
                                          <p:attrName>ppt_y</p:attrName>
                                        </p:attrNameLst>
                                      </p:cBhvr>
                                      <p:tavLst>
                                        <p:tav tm="0">
                                          <p:val>
                                            <p:strVal val="#ppt_y+.08"/>
                                          </p:val>
                                        </p:tav>
                                        <p:tav tm="100000">
                                          <p:val>
                                            <p:strVal val="#ppt_y"/>
                                          </p:val>
                                        </p:tav>
                                      </p:tavLst>
                                    </p:anim>
                                  </p:childTnLst>
                                </p:cTn>
                              </p:par>
                            </p:childTnLst>
                          </p:cTn>
                        </p:par>
                        <p:par>
                          <p:cTn id="281" fill="hold">
                            <p:stCondLst>
                              <p:cond delay="800"/>
                            </p:stCondLst>
                            <p:childTnLst>
                              <p:par>
                                <p:cTn id="282" presetID="22" presetClass="entr" presetSubtype="8" fill="hold" grpId="0" nodeType="afterEffect">
                                  <p:stCondLst>
                                    <p:cond delay="0"/>
                                  </p:stCondLst>
                                  <p:childTnLst>
                                    <p:set>
                                      <p:cBhvr>
                                        <p:cTn id="283" dur="1" fill="hold">
                                          <p:stCondLst>
                                            <p:cond delay="0"/>
                                          </p:stCondLst>
                                        </p:cTn>
                                        <p:tgtEl>
                                          <p:spTgt spid="70"/>
                                        </p:tgtEl>
                                        <p:attrNameLst>
                                          <p:attrName>style.visibility</p:attrName>
                                        </p:attrNameLst>
                                      </p:cBhvr>
                                      <p:to>
                                        <p:strVal val="visible"/>
                                      </p:to>
                                    </p:set>
                                    <p:animEffect transition="in" filter="wipe(left)">
                                      <p:cBhvr>
                                        <p:cTn id="285" dur="800"/>
                                        <p:tgtEl>
                                          <p:spTgt spid="70"/>
                                        </p:tgtEl>
                                      </p:cBhvr>
                                    </p:animEffect>
                                  </p:childTnLst>
                                </p:cTn>
                              </p:par>
                            </p:childTnLst>
                          </p:cTn>
                        </p:par>
                        <p:par>
                          <p:cTn id="286" fill="hold">
                            <p:stCondLst>
                              <p:cond delay="950"/>
                            </p:stCondLst>
                            <p:childTnLst>
                              <p:par>
                                <p:cTn id="287" presetID="10" presetClass="entr" presetSubtype="0" fill="hold" grpId="0" nodeType="afterEffect">
                                  <p:stCondLst>
                                    <p:cond delay="0"/>
                                  </p:stCondLst>
                                  <p:childTnLst>
                                    <p:set>
                                      <p:cBhvr>
                                        <p:cTn id="288" dur="1" fill="hold">
                                          <p:stCondLst>
                                            <p:cond delay="0"/>
                                          </p:stCondLst>
                                        </p:cTn>
                                        <p:tgtEl>
                                          <p:spTgt spid="71"/>
                                        </p:tgtEl>
                                        <p:attrNameLst>
                                          <p:attrName>style.visibility</p:attrName>
                                        </p:attrNameLst>
                                      </p:cBhvr>
                                      <p:to>
                                        <p:strVal val="visible"/>
                                      </p:to>
                                    </p:set>
                                    <p:animEffect transition="in" filter="fade">
                                      <p:cBhvr>
                                        <p:cTn id="289" dur="55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4" grpId="0" animBg="1"/>
      <p:bldP spid="63" grpId="0" animBg="1"/>
      <p:bldP spid="66" grpId="0" animBg="1"/>
      <p:bldP spid="68" grpId="0" animBg="1"/>
      <p:bldP spid="67" grpId="0" animBg="1"/>
      <p:bldP spid="69" grpId="0" animBg="1"/>
      <p:bldP spid="70" grpId="0" animBg="1"/>
      <p:bldP spid="7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1" name="Rounded Rectangle 20"/>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Sonli formatlar va aralash aniqlik (mixed precision) hisoblash</a:t>
            </a:r>
          </a:p>
        </p:txBody>
      </p:sp>
      <p:sp>
        <p:nvSpPr>
          <p:cNvPr id="25" name="Rounded Rectangle 24"/>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8" name="TextBox 27"/>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Kvantlash (quantization): nazariya va turlari</a:t>
            </a:r>
          </a:p>
        </p:txBody>
      </p:sp>
      <p:sp>
        <p:nvSpPr>
          <p:cNvPr id="29" name="Rounded Rectangle 28"/>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Pruning: siyraklashtirish</a:t>
            </a:r>
          </a:p>
        </p:txBody>
      </p:sp>
      <p:sp>
        <p:nvSpPr>
          <p:cNvPr id="33" name="Rounded Rectangle 32"/>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Knowledge Distillation: bilim distillyatsiyasi</a:t>
            </a:r>
          </a:p>
        </p:txBody>
      </p:sp>
      <p:sp>
        <p:nvSpPr>
          <p:cNvPr id="37" name="Rounded Rectangle 36"/>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0" name="TextBox 39"/>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Model va kernel darajasidagi optimallashtirish</a:t>
            </a:r>
          </a:p>
        </p:txBody>
      </p:sp>
      <p:sp>
        <p:nvSpPr>
          <p:cNvPr id="41" name="Rounded Rectangle 40"/>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4" name="TextBox 43"/>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Hisoblash resurslaridan samarali foydalanish va energiya samaradorligi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50"/>
                                        <p:tgtEl>
                                          <p:spTgt spid="25"/>
                                        </p:tgtEl>
                                      </p:cBhvr>
                                    </p:animEffect>
                                    <p:anim calcmode="lin" valueType="num">
                                      <p:cBhvr additive="base">
                                        <p:cTn id="40" dur="550" fill="hold"/>
                                        <p:tgtEl>
                                          <p:spTgt spid="25"/>
                                        </p:tgtEl>
                                        <p:attrNameLst>
                                          <p:attrName>ppt_x</p:attrName>
                                        </p:attrNameLst>
                                      </p:cBhvr>
                                      <p:tavLst>
                                        <p:tav tm="0">
                                          <p:val>
                                            <p:strVal val="#ppt_x"/>
                                          </p:val>
                                        </p:tav>
                                        <p:tav tm="100000">
                                          <p:val>
                                            <p:strVal val="#ppt_x"/>
                                          </p:val>
                                        </p:tav>
                                      </p:tavLst>
                                    </p:anim>
                                    <p:anim calcmode="lin" valueType="num">
                                      <p:cBhvr additive="base">
                                        <p:cTn id="41" dur="550" fill="hold"/>
                                        <p:tgtEl>
                                          <p:spTgt spid="25"/>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50"/>
                                        <p:tgtEl>
                                          <p:spTgt spid="26"/>
                                        </p:tgtEl>
                                      </p:cBhvr>
                                    </p:animEffect>
                                    <p:anim calcmode="lin" valueType="num">
                                      <p:cBhvr additive="base">
                                        <p:cTn id="46" dur="550" fill="hold"/>
                                        <p:tgtEl>
                                          <p:spTgt spid="26"/>
                                        </p:tgtEl>
                                        <p:attrNameLst>
                                          <p:attrName>ppt_x</p:attrName>
                                        </p:attrNameLst>
                                      </p:cBhvr>
                                      <p:tavLst>
                                        <p:tav tm="0">
                                          <p:val>
                                            <p:strVal val="#ppt_x"/>
                                          </p:val>
                                        </p:tav>
                                        <p:tav tm="100000">
                                          <p:val>
                                            <p:strVal val="#ppt_x"/>
                                          </p:val>
                                        </p:tav>
                                      </p:tavLst>
                                    </p:anim>
                                    <p:anim calcmode="lin" valueType="num">
                                      <p:cBhvr additive="base">
                                        <p:cTn id="47" dur="550" fill="hold"/>
                                        <p:tgtEl>
                                          <p:spTgt spid="26"/>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additive="base">
                                        <p:cTn id="52" dur="550" fill="hold"/>
                                        <p:tgtEl>
                                          <p:spTgt spid="27"/>
                                        </p:tgtEl>
                                        <p:attrNameLst>
                                          <p:attrName>ppt_w</p:attrName>
                                        </p:attrNameLst>
                                      </p:cBhvr>
                                      <p:tavLst>
                                        <p:tav tm="0">
                                          <p:val>
                                            <p:strVal val="0"/>
                                          </p:val>
                                        </p:tav>
                                        <p:tav tm="100000">
                                          <p:val>
                                            <p:strVal val="#ppt_w"/>
                                          </p:val>
                                        </p:tav>
                                      </p:tavLst>
                                    </p:anim>
                                    <p:anim calcmode="lin" valueType="num">
                                      <p:cBhvr additive="base">
                                        <p:cTn id="53" dur="550" fill="hold"/>
                                        <p:tgtEl>
                                          <p:spTgt spid="27"/>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50"/>
                                        <p:tgtEl>
                                          <p:spTgt spid="28"/>
                                        </p:tgtEl>
                                      </p:cBhvr>
                                    </p:animEffect>
                                    <p:anim calcmode="lin" valueType="num">
                                      <p:cBhvr additive="base">
                                        <p:cTn id="58" dur="550" fill="hold"/>
                                        <p:tgtEl>
                                          <p:spTgt spid="28"/>
                                        </p:tgtEl>
                                        <p:attrNameLst>
                                          <p:attrName>ppt_x</p:attrName>
                                        </p:attrNameLst>
                                      </p:cBhvr>
                                      <p:tavLst>
                                        <p:tav tm="0">
                                          <p:val>
                                            <p:strVal val="#ppt_x"/>
                                          </p:val>
                                        </p:tav>
                                        <p:tav tm="100000">
                                          <p:val>
                                            <p:strVal val="#ppt_x"/>
                                          </p:val>
                                        </p:tav>
                                      </p:tavLst>
                                    </p:anim>
                                    <p:anim calcmode="lin" valueType="num">
                                      <p:cBhvr additive="base">
                                        <p:cTn id="59" dur="550" fill="hold"/>
                                        <p:tgtEl>
                                          <p:spTgt spid="28"/>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50"/>
                                        <p:tgtEl>
                                          <p:spTgt spid="29"/>
                                        </p:tgtEl>
                                      </p:cBhvr>
                                    </p:animEffect>
                                    <p:anim calcmode="lin" valueType="num">
                                      <p:cBhvr additive="base">
                                        <p:cTn id="64" dur="550" fill="hold"/>
                                        <p:tgtEl>
                                          <p:spTgt spid="29"/>
                                        </p:tgtEl>
                                        <p:attrNameLst>
                                          <p:attrName>ppt_x</p:attrName>
                                        </p:attrNameLst>
                                      </p:cBhvr>
                                      <p:tavLst>
                                        <p:tav tm="0">
                                          <p:val>
                                            <p:strVal val="#ppt_x"/>
                                          </p:val>
                                        </p:tav>
                                        <p:tav tm="100000">
                                          <p:val>
                                            <p:strVal val="#ppt_x"/>
                                          </p:val>
                                        </p:tav>
                                      </p:tavLst>
                                    </p:anim>
                                    <p:anim calcmode="lin" valueType="num">
                                      <p:cBhvr additive="base">
                                        <p:cTn id="65" dur="550" fill="hold"/>
                                        <p:tgtEl>
                                          <p:spTgt spid="29"/>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50"/>
                                        <p:tgtEl>
                                          <p:spTgt spid="30"/>
                                        </p:tgtEl>
                                      </p:cBhvr>
                                    </p:animEffect>
                                    <p:anim calcmode="lin" valueType="num">
                                      <p:cBhvr additive="base">
                                        <p:cTn id="70" dur="550" fill="hold"/>
                                        <p:tgtEl>
                                          <p:spTgt spid="30"/>
                                        </p:tgtEl>
                                        <p:attrNameLst>
                                          <p:attrName>ppt_x</p:attrName>
                                        </p:attrNameLst>
                                      </p:cBhvr>
                                      <p:tavLst>
                                        <p:tav tm="0">
                                          <p:val>
                                            <p:strVal val="#ppt_x"/>
                                          </p:val>
                                        </p:tav>
                                        <p:tav tm="100000">
                                          <p:val>
                                            <p:strVal val="#ppt_x"/>
                                          </p:val>
                                        </p:tav>
                                      </p:tavLst>
                                    </p:anim>
                                    <p:anim calcmode="lin" valueType="num">
                                      <p:cBhvr additive="base">
                                        <p:cTn id="71" dur="550" fill="hold"/>
                                        <p:tgtEl>
                                          <p:spTgt spid="30"/>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50"/>
                                        <p:tgtEl>
                                          <p:spTgt spid="31"/>
                                        </p:tgtEl>
                                      </p:cBhvr>
                                    </p:animEffect>
                                    <p:anim calcmode="lin" valueType="num">
                                      <p:cBhvr additive="base">
                                        <p:cTn id="76" dur="550" fill="hold"/>
                                        <p:tgtEl>
                                          <p:spTgt spid="31"/>
                                        </p:tgtEl>
                                        <p:attrNameLst>
                                          <p:attrName>ppt_w</p:attrName>
                                        </p:attrNameLst>
                                      </p:cBhvr>
                                      <p:tavLst>
                                        <p:tav tm="0">
                                          <p:val>
                                            <p:strVal val="0"/>
                                          </p:val>
                                        </p:tav>
                                        <p:tav tm="100000">
                                          <p:val>
                                            <p:strVal val="#ppt_w"/>
                                          </p:val>
                                        </p:tav>
                                      </p:tavLst>
                                    </p:anim>
                                    <p:anim calcmode="lin" valueType="num">
                                      <p:cBhvr additive="base">
                                        <p:cTn id="77" dur="550" fill="hold"/>
                                        <p:tgtEl>
                                          <p:spTgt spid="31"/>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50"/>
                                        <p:tgtEl>
                                          <p:spTgt spid="32"/>
                                        </p:tgtEl>
                                      </p:cBhvr>
                                    </p:animEffect>
                                    <p:anim calcmode="lin" valueType="num">
                                      <p:cBhvr additive="base">
                                        <p:cTn id="82" dur="550" fill="hold"/>
                                        <p:tgtEl>
                                          <p:spTgt spid="32"/>
                                        </p:tgtEl>
                                        <p:attrNameLst>
                                          <p:attrName>ppt_x</p:attrName>
                                        </p:attrNameLst>
                                      </p:cBhvr>
                                      <p:tavLst>
                                        <p:tav tm="0">
                                          <p:val>
                                            <p:strVal val="#ppt_x"/>
                                          </p:val>
                                        </p:tav>
                                        <p:tav tm="100000">
                                          <p:val>
                                            <p:strVal val="#ppt_x"/>
                                          </p:val>
                                        </p:tav>
                                      </p:tavLst>
                                    </p:anim>
                                    <p:anim calcmode="lin" valueType="num">
                                      <p:cBhvr additive="base">
                                        <p:cTn id="83" dur="550" fill="hold"/>
                                        <p:tgtEl>
                                          <p:spTgt spid="32"/>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50"/>
                                        <p:tgtEl>
                                          <p:spTgt spid="33"/>
                                        </p:tgtEl>
                                      </p:cBhvr>
                                    </p:animEffect>
                                    <p:anim calcmode="lin" valueType="num">
                                      <p:cBhvr additive="base">
                                        <p:cTn id="88" dur="550" fill="hold"/>
                                        <p:tgtEl>
                                          <p:spTgt spid="33"/>
                                        </p:tgtEl>
                                        <p:attrNameLst>
                                          <p:attrName>ppt_x</p:attrName>
                                        </p:attrNameLst>
                                      </p:cBhvr>
                                      <p:tavLst>
                                        <p:tav tm="0">
                                          <p:val>
                                            <p:strVal val="#ppt_x"/>
                                          </p:val>
                                        </p:tav>
                                        <p:tav tm="100000">
                                          <p:val>
                                            <p:strVal val="#ppt_x"/>
                                          </p:val>
                                        </p:tav>
                                      </p:tavLst>
                                    </p:anim>
                                    <p:anim calcmode="lin" valueType="num">
                                      <p:cBhvr additive="base">
                                        <p:cTn id="89" dur="550" fill="hold"/>
                                        <p:tgtEl>
                                          <p:spTgt spid="33"/>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550"/>
                                        <p:tgtEl>
                                          <p:spTgt spid="34"/>
                                        </p:tgtEl>
                                      </p:cBhvr>
                                    </p:animEffect>
                                    <p:anim calcmode="lin" valueType="num">
                                      <p:cBhvr additive="base">
                                        <p:cTn id="94" dur="550" fill="hold"/>
                                        <p:tgtEl>
                                          <p:spTgt spid="34"/>
                                        </p:tgtEl>
                                        <p:attrNameLst>
                                          <p:attrName>ppt_x</p:attrName>
                                        </p:attrNameLst>
                                      </p:cBhvr>
                                      <p:tavLst>
                                        <p:tav tm="0">
                                          <p:val>
                                            <p:strVal val="#ppt_x"/>
                                          </p:val>
                                        </p:tav>
                                        <p:tav tm="100000">
                                          <p:val>
                                            <p:strVal val="#ppt_x"/>
                                          </p:val>
                                        </p:tav>
                                      </p:tavLst>
                                    </p:anim>
                                    <p:anim calcmode="lin" valueType="num">
                                      <p:cBhvr additive="base">
                                        <p:cTn id="95" dur="550" fill="hold"/>
                                        <p:tgtEl>
                                          <p:spTgt spid="34"/>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550"/>
                                        <p:tgtEl>
                                          <p:spTgt spid="35"/>
                                        </p:tgtEl>
                                      </p:cBhvr>
                                    </p:animEffect>
                                    <p:anim calcmode="lin" valueType="num">
                                      <p:cBhvr additive="base">
                                        <p:cTn id="100" dur="550" fill="hold"/>
                                        <p:tgtEl>
                                          <p:spTgt spid="35"/>
                                        </p:tgtEl>
                                        <p:attrNameLst>
                                          <p:attrName>ppt_w</p:attrName>
                                        </p:attrNameLst>
                                      </p:cBhvr>
                                      <p:tavLst>
                                        <p:tav tm="0">
                                          <p:val>
                                            <p:strVal val="0"/>
                                          </p:val>
                                        </p:tav>
                                        <p:tav tm="100000">
                                          <p:val>
                                            <p:strVal val="#ppt_w"/>
                                          </p:val>
                                        </p:tav>
                                      </p:tavLst>
                                    </p:anim>
                                    <p:anim calcmode="lin" valueType="num">
                                      <p:cBhvr additive="base">
                                        <p:cTn id="101" dur="550" fill="hold"/>
                                        <p:tgtEl>
                                          <p:spTgt spid="35"/>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50"/>
                                        <p:tgtEl>
                                          <p:spTgt spid="36"/>
                                        </p:tgtEl>
                                      </p:cBhvr>
                                    </p:animEffect>
                                    <p:anim calcmode="lin" valueType="num">
                                      <p:cBhvr additive="base">
                                        <p:cTn id="106" dur="550" fill="hold"/>
                                        <p:tgtEl>
                                          <p:spTgt spid="36"/>
                                        </p:tgtEl>
                                        <p:attrNameLst>
                                          <p:attrName>ppt_x</p:attrName>
                                        </p:attrNameLst>
                                      </p:cBhvr>
                                      <p:tavLst>
                                        <p:tav tm="0">
                                          <p:val>
                                            <p:strVal val="#ppt_x"/>
                                          </p:val>
                                        </p:tav>
                                        <p:tav tm="100000">
                                          <p:val>
                                            <p:strVal val="#ppt_x"/>
                                          </p:val>
                                        </p:tav>
                                      </p:tavLst>
                                    </p:anim>
                                    <p:anim calcmode="lin" valueType="num">
                                      <p:cBhvr additive="base">
                                        <p:cTn id="107" dur="550" fill="hold"/>
                                        <p:tgtEl>
                                          <p:spTgt spid="36"/>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550"/>
                                        <p:tgtEl>
                                          <p:spTgt spid="37"/>
                                        </p:tgtEl>
                                      </p:cBhvr>
                                    </p:animEffect>
                                    <p:anim calcmode="lin" valueType="num">
                                      <p:cBhvr additive="base">
                                        <p:cTn id="112" dur="550" fill="hold"/>
                                        <p:tgtEl>
                                          <p:spTgt spid="37"/>
                                        </p:tgtEl>
                                        <p:attrNameLst>
                                          <p:attrName>ppt_x</p:attrName>
                                        </p:attrNameLst>
                                      </p:cBhvr>
                                      <p:tavLst>
                                        <p:tav tm="0">
                                          <p:val>
                                            <p:strVal val="#ppt_x"/>
                                          </p:val>
                                        </p:tav>
                                        <p:tav tm="100000">
                                          <p:val>
                                            <p:strVal val="#ppt_x"/>
                                          </p:val>
                                        </p:tav>
                                      </p:tavLst>
                                    </p:anim>
                                    <p:anim calcmode="lin" valueType="num">
                                      <p:cBhvr additive="base">
                                        <p:cTn id="113" dur="550" fill="hold"/>
                                        <p:tgtEl>
                                          <p:spTgt spid="37"/>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7" dur="550"/>
                                        <p:tgtEl>
                                          <p:spTgt spid="38"/>
                                        </p:tgtEl>
                                      </p:cBhvr>
                                    </p:animEffect>
                                    <p:anim calcmode="lin" valueType="num">
                                      <p:cBhvr additive="base">
                                        <p:cTn id="118" dur="550" fill="hold"/>
                                        <p:tgtEl>
                                          <p:spTgt spid="38"/>
                                        </p:tgtEl>
                                        <p:attrNameLst>
                                          <p:attrName>ppt_x</p:attrName>
                                        </p:attrNameLst>
                                      </p:cBhvr>
                                      <p:tavLst>
                                        <p:tav tm="0">
                                          <p:val>
                                            <p:strVal val="#ppt_x"/>
                                          </p:val>
                                        </p:tav>
                                        <p:tav tm="100000">
                                          <p:val>
                                            <p:strVal val="#ppt_x"/>
                                          </p:val>
                                        </p:tav>
                                      </p:tavLst>
                                    </p:anim>
                                    <p:anim calcmode="lin" valueType="num">
                                      <p:cBhvr additive="base">
                                        <p:cTn id="119" dur="550" fill="hold"/>
                                        <p:tgtEl>
                                          <p:spTgt spid="38"/>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39"/>
                                        </p:tgtEl>
                                        <p:attrNameLst>
                                          <p:attrName>style.visibility</p:attrName>
                                        </p:attrNameLst>
                                      </p:cBhvr>
                                      <p:to>
                                        <p:strVal val="visible"/>
                                      </p:to>
                                    </p:set>
                                    <p:animEffect transition="in" filter="fade">
                                      <p:cBhvr>
                                        <p:cTn id="123" dur="550"/>
                                        <p:tgtEl>
                                          <p:spTgt spid="39"/>
                                        </p:tgtEl>
                                      </p:cBhvr>
                                    </p:animEffect>
                                    <p:anim calcmode="lin" valueType="num">
                                      <p:cBhvr additive="base">
                                        <p:cTn id="124" dur="550" fill="hold"/>
                                        <p:tgtEl>
                                          <p:spTgt spid="39"/>
                                        </p:tgtEl>
                                        <p:attrNameLst>
                                          <p:attrName>ppt_w</p:attrName>
                                        </p:attrNameLst>
                                      </p:cBhvr>
                                      <p:tavLst>
                                        <p:tav tm="0">
                                          <p:val>
                                            <p:strVal val="0"/>
                                          </p:val>
                                        </p:tav>
                                        <p:tav tm="100000">
                                          <p:val>
                                            <p:strVal val="#ppt_w"/>
                                          </p:val>
                                        </p:tav>
                                      </p:tavLst>
                                    </p:anim>
                                    <p:anim calcmode="lin" valueType="num">
                                      <p:cBhvr additive="base">
                                        <p:cTn id="125" dur="550" fill="hold"/>
                                        <p:tgtEl>
                                          <p:spTgt spid="39"/>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0"/>
                                        </p:tgtEl>
                                        <p:attrNameLst>
                                          <p:attrName>style.visibility</p:attrName>
                                        </p:attrNameLst>
                                      </p:cBhvr>
                                      <p:to>
                                        <p:strVal val="visible"/>
                                      </p:to>
                                    </p:set>
                                    <p:animEffect transition="in" filter="fade">
                                      <p:cBhvr>
                                        <p:cTn id="129" dur="550"/>
                                        <p:tgtEl>
                                          <p:spTgt spid="40"/>
                                        </p:tgtEl>
                                      </p:cBhvr>
                                    </p:animEffect>
                                    <p:anim calcmode="lin" valueType="num">
                                      <p:cBhvr additive="base">
                                        <p:cTn id="130" dur="550" fill="hold"/>
                                        <p:tgtEl>
                                          <p:spTgt spid="40"/>
                                        </p:tgtEl>
                                        <p:attrNameLst>
                                          <p:attrName>ppt_x</p:attrName>
                                        </p:attrNameLst>
                                      </p:cBhvr>
                                      <p:tavLst>
                                        <p:tav tm="0">
                                          <p:val>
                                            <p:strVal val="#ppt_x"/>
                                          </p:val>
                                        </p:tav>
                                        <p:tav tm="100000">
                                          <p:val>
                                            <p:strVal val="#ppt_x"/>
                                          </p:val>
                                        </p:tav>
                                      </p:tavLst>
                                    </p:anim>
                                    <p:anim calcmode="lin" valueType="num">
                                      <p:cBhvr additive="base">
                                        <p:cTn id="131" dur="550" fill="hold"/>
                                        <p:tgtEl>
                                          <p:spTgt spid="40"/>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550"/>
                                        <p:tgtEl>
                                          <p:spTgt spid="41"/>
                                        </p:tgtEl>
                                      </p:cBhvr>
                                    </p:animEffect>
                                    <p:anim calcmode="lin" valueType="num">
                                      <p:cBhvr additive="base">
                                        <p:cTn id="136" dur="550" fill="hold"/>
                                        <p:tgtEl>
                                          <p:spTgt spid="41"/>
                                        </p:tgtEl>
                                        <p:attrNameLst>
                                          <p:attrName>ppt_x</p:attrName>
                                        </p:attrNameLst>
                                      </p:cBhvr>
                                      <p:tavLst>
                                        <p:tav tm="0">
                                          <p:val>
                                            <p:strVal val="#ppt_x"/>
                                          </p:val>
                                        </p:tav>
                                        <p:tav tm="100000">
                                          <p:val>
                                            <p:strVal val="#ppt_x"/>
                                          </p:val>
                                        </p:tav>
                                      </p:tavLst>
                                    </p:anim>
                                    <p:anim calcmode="lin" valueType="num">
                                      <p:cBhvr additive="base">
                                        <p:cTn id="137" dur="550" fill="hold"/>
                                        <p:tgtEl>
                                          <p:spTgt spid="41"/>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fade">
                                      <p:cBhvr>
                                        <p:cTn id="141" dur="550"/>
                                        <p:tgtEl>
                                          <p:spTgt spid="42"/>
                                        </p:tgtEl>
                                      </p:cBhvr>
                                    </p:animEffect>
                                    <p:anim calcmode="lin" valueType="num">
                                      <p:cBhvr additive="base">
                                        <p:cTn id="142" dur="550" fill="hold"/>
                                        <p:tgtEl>
                                          <p:spTgt spid="42"/>
                                        </p:tgtEl>
                                        <p:attrNameLst>
                                          <p:attrName>ppt_x</p:attrName>
                                        </p:attrNameLst>
                                      </p:cBhvr>
                                      <p:tavLst>
                                        <p:tav tm="0">
                                          <p:val>
                                            <p:strVal val="#ppt_x"/>
                                          </p:val>
                                        </p:tav>
                                        <p:tav tm="100000">
                                          <p:val>
                                            <p:strVal val="#ppt_x"/>
                                          </p:val>
                                        </p:tav>
                                      </p:tavLst>
                                    </p:anim>
                                    <p:anim calcmode="lin" valueType="num">
                                      <p:cBhvr additive="base">
                                        <p:cTn id="143" dur="550" fill="hold"/>
                                        <p:tgtEl>
                                          <p:spTgt spid="42"/>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3"/>
                                        </p:tgtEl>
                                        <p:attrNameLst>
                                          <p:attrName>style.visibility</p:attrName>
                                        </p:attrNameLst>
                                      </p:cBhvr>
                                      <p:to>
                                        <p:strVal val="visible"/>
                                      </p:to>
                                    </p:set>
                                    <p:animEffect transition="in" filter="fade">
                                      <p:cBhvr>
                                        <p:cTn id="147" dur="550"/>
                                        <p:tgtEl>
                                          <p:spTgt spid="43"/>
                                        </p:tgtEl>
                                      </p:cBhvr>
                                    </p:animEffect>
                                    <p:anim calcmode="lin" valueType="num">
                                      <p:cBhvr additive="base">
                                        <p:cTn id="148" dur="550" fill="hold"/>
                                        <p:tgtEl>
                                          <p:spTgt spid="43"/>
                                        </p:tgtEl>
                                        <p:attrNameLst>
                                          <p:attrName>ppt_w</p:attrName>
                                        </p:attrNameLst>
                                      </p:cBhvr>
                                      <p:tavLst>
                                        <p:tav tm="0">
                                          <p:val>
                                            <p:strVal val="0"/>
                                          </p:val>
                                        </p:tav>
                                        <p:tav tm="100000">
                                          <p:val>
                                            <p:strVal val="#ppt_w"/>
                                          </p:val>
                                        </p:tav>
                                      </p:tavLst>
                                    </p:anim>
                                    <p:anim calcmode="lin" valueType="num">
                                      <p:cBhvr additive="base">
                                        <p:cTn id="149" dur="550" fill="hold"/>
                                        <p:tgtEl>
                                          <p:spTgt spid="43"/>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4"/>
                                        </p:tgtEl>
                                        <p:attrNameLst>
                                          <p:attrName>style.visibility</p:attrName>
                                        </p:attrNameLst>
                                      </p:cBhvr>
                                      <p:to>
                                        <p:strVal val="visible"/>
                                      </p:to>
                                    </p:set>
                                    <p:animEffect transition="in" filter="fade">
                                      <p:cBhvr>
                                        <p:cTn id="153" dur="550"/>
                                        <p:tgtEl>
                                          <p:spTgt spid="44"/>
                                        </p:tgtEl>
                                      </p:cBhvr>
                                    </p:animEffect>
                                    <p:anim calcmode="lin" valueType="num">
                                      <p:cBhvr additive="base">
                                        <p:cTn id="154" dur="550" fill="hold"/>
                                        <p:tgtEl>
                                          <p:spTgt spid="44"/>
                                        </p:tgtEl>
                                        <p:attrNameLst>
                                          <p:attrName>ppt_x</p:attrName>
                                        </p:attrNameLst>
                                      </p:cBhvr>
                                      <p:tavLst>
                                        <p:tav tm="0">
                                          <p:val>
                                            <p:strVal val="#ppt_x"/>
                                          </p:val>
                                        </p:tav>
                                        <p:tav tm="100000">
                                          <p:val>
                                            <p:strVal val="#ppt_x"/>
                                          </p:val>
                                        </p:tav>
                                      </p:tavLst>
                                    </p:anim>
                                    <p:anim calcmode="lin" valueType="num">
                                      <p:cBhvr additive="base">
                                        <p:cTn id="155" dur="550" fill="hold"/>
                                        <p:tgtEl>
                                          <p:spTgt spid="4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5f07f34d86cac18.jpg"/>
          <p:cNvPicPr>
            <a:picLocks noChangeAspect="1"/>
          </p:cNvPicPr>
          <p:nvPr/>
        </p:nvPicPr>
        <p:blipFill>
          <a:blip r:embed="rId2"/>
          <a:srcRect l="12260" r="12260"/>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AlgoHolic · Wikimedia Commons · CC BY-SA 4.0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Sonli formatlar va aralash aniqlik (mixed precision) hisoblash</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Suzuvchi nuqtali son uchta qismdan iborat: ishora biti, eksponenta (diapazonni belgilaydi) va mantissa (aniqlikni belgilaydi).</a:t>
            </a:r>
          </a:p>
          <a:p>
            <a:pPr>
              <a:spcBef>
                <a:spcPts val="400"/>
              </a:spcBef>
            </a:pPr>
            <a:r>
              <a:rPr sz="1300">
                <a:solidFill>
                  <a:srgbClr val="AEBBD9"/>
                </a:solidFill>
                <a:latin typeface="Segoe UI"/>
              </a:rPr>
              <a:t>Formatlar aynan shu bitlarni turlicha taqsimlaydi: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1">
                <a:solidFill>
                  <a:srgbClr val="E8EEFA"/>
                </a:solidFill>
                <a:latin typeface="Segoe UI"/>
              </a:rPr>
              <a:t>FP16 va BF16 o'rtasidagi farq o'qitish uchun hal qiluvchi: FP16 aniqroq (10 bit mantissa), lekin diapazoni tor — 6e−8 dan kichik qiymatlar nolga aylanadi (underflow), 65504 dan kattasi cheksizlikka (overflow).</a:t>
            </a:r>
          </a:p>
          <a:p>
            <a:pPr>
              <a:spcBef>
                <a:spcPts val="400"/>
              </a:spcBef>
            </a:pPr>
            <a:r>
              <a:rPr sz="1300">
                <a:solidFill>
                  <a:srgbClr val="AEBBD9"/>
                </a:solidFill>
                <a:latin typeface="Segoe UI"/>
              </a:rPr>
              <a:t>Chuqur tarmoq gradientlari ko'pincha 1e−8…1e−5 oralig'ida bo'ladi va FP16'da yo'qoladi.</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Aralash aniqlik (mixed precision) o'qitish g'oyasi (Micikevicius va boshq., 2018): og'ir matritsa ko'paytmalari va konvolyutsiyalar FP16/BF16'da Tensor Core'da bajariladi, lekin og'irliklarning asosiy nusxasi (master weights) FP32'da saqlanadi va yangilanadi…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959476"/>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0723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Tensor Core'da FP16/BF16 matmul FP32'ga qaraganda nazariy 8–16 baravar tez (A100: 19,5 TFLOPS FP32 vs 312 TFLOPS FP16 Tensor Core), amaliy tezlashish esa butun o'qitish sikli uchun 1,5–3 baravar, chunki hamma operatsiya ham matmul emas va xotira trafigi ham…</a:t>
            </a:r>
          </a:p>
          <a:p>
            <a:pPr>
              <a:spcBef>
                <a:spcPts val="400"/>
              </a:spcBef>
            </a:pPr>
            <a:r>
              <a:rPr sz="1300">
                <a:solidFill>
                  <a:srgbClr val="AEBBD9"/>
                </a:solidFill>
                <a:latin typeface="Segoe UI"/>
              </a:rPr>
              <a:t>TF32 esa «bepul» yaxshilanish: kod o'zgarmaydi, FP32 matmul avtomatik 10-bitli mantissa bilan Tensor Core'da bajariladi (PyTorch'da torch.backends.cuda.matmul.allow_tf32).</a:t>
            </a:r>
          </a:p>
        </p:txBody>
      </p:sp>
      <p:sp>
        <p:nvSpPr>
          <p:cNvPr id="33" name="Rounded Rectangle 32"/>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6955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7276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6" name="TextBox 35"/>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FP8 — Hopper avlodidan boshlab o'qitish uchun ham ishlatilmoqda (Transformer Engine kutubxonasi): oldinga o'tishda E4M3, gradientlar uchun E5M2, har tensor uchun dinamik masshtab bilan.</a:t>
            </a:r>
          </a:p>
          <a:p>
            <a:pPr>
              <a:spcBef>
                <a:spcPts val="400"/>
              </a:spcBef>
            </a:pPr>
            <a:r>
              <a:rPr sz="1300">
                <a:solidFill>
                  <a:srgbClr val="AEBBD9"/>
                </a:solidFill>
                <a:latin typeface="Segoe UI"/>
              </a:rPr>
              <a:t>Bu Tensor Core unumdorligini yana ikki baravar oshiradi, lekin barqarorlik uchun ehtiyotkor sozlash talab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Sonli formatlar va aralash aniqlik (mixed precision) hisoblash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graphicFrame>
        <p:nvGraphicFramePr>
          <p:cNvPr id="25" name="Table 24"/>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Jami bit</a:t>
                      </a:r>
                    </a:p>
                  </a:txBody>
                  <a:tcPr>
                    <a:solidFill>
                      <a:srgbClr val="1C2755"/>
                    </a:solidFill>
                  </a:tcPr>
                </a:tc>
                <a:tc>
                  <a:txBody>
                    <a:bodyPr/>
                    <a:lstStyle/>
                    <a:p>
                      <a:r>
                        <a:rPr sz="1400" b="1">
                          <a:solidFill>
                            <a:srgbClr val="22D3EE"/>
                          </a:solidFill>
                          <a:latin typeface="Segoe UI"/>
                        </a:rPr>
                        <a:t>Eksponenta</a:t>
                      </a:r>
                    </a:p>
                  </a:txBody>
                  <a:tcPr>
                    <a:solidFill>
                      <a:srgbClr val="1C2755"/>
                    </a:solidFill>
                  </a:tcPr>
                </a:tc>
                <a:tc>
                  <a:txBody>
                    <a:bodyPr/>
                    <a:lstStyle/>
                    <a:p>
                      <a:r>
                        <a:rPr sz="1400" b="1">
                          <a:solidFill>
                            <a:srgbClr val="22D3EE"/>
                          </a:solidFill>
                          <a:latin typeface="Segoe UI"/>
                        </a:rPr>
                        <a:t>Mantissa</a:t>
                      </a:r>
                    </a:p>
                  </a:txBody>
                  <a:tcPr>
                    <a:solidFill>
                      <a:srgbClr val="1C2755"/>
                    </a:solidFill>
                  </a:tcPr>
                </a:tc>
                <a:tc>
                  <a:txBody>
                    <a:bodyPr/>
                    <a:lstStyle/>
                    <a:p>
                      <a:r>
                        <a:rPr sz="1400" b="1">
                          <a:solidFill>
                            <a:srgbClr val="22D3EE"/>
                          </a:solidFill>
                          <a:latin typeface="Segoe UI"/>
                        </a:rPr>
                        <a:t>Taxminiy diapazon</a:t>
                      </a:r>
                    </a:p>
                  </a:txBody>
                  <a:tcPr>
                    <a:solidFill>
                      <a:srgbClr val="1C2755"/>
                    </a:solidFill>
                  </a:tcPr>
                </a:tc>
                <a:tc>
                  <a:txBody>
                    <a:bodyPr/>
                    <a:lstStyle/>
                    <a:p>
                      <a:r>
                        <a:rPr sz="1400" b="1">
                          <a:solidFill>
                            <a:srgbClr val="22D3EE"/>
                          </a:solidFill>
                          <a:latin typeface="Segoe UI"/>
                        </a:rPr>
                        <a:t>O'nli aniqlik</a:t>
                      </a:r>
                    </a:p>
                  </a:txBody>
                  <a:tcPr>
                    <a:solidFill>
                      <a:srgbClr val="1C2755"/>
                    </a:solidFill>
                  </a:tcPr>
                </a:tc>
              </a:tr>
              <a:tr h="520000">
                <a:tc>
                  <a:txBody>
                    <a:bodyPr/>
                    <a:lstStyle/>
                    <a:p>
                      <a:r>
                        <a:rPr sz="1400" b="0">
                          <a:solidFill>
                            <a:srgbClr val="E8EEFA"/>
                          </a:solidFill>
                          <a:latin typeface="Segoe UI"/>
                        </a:rPr>
                        <a:t>FP32</a:t>
                      </a:r>
                    </a:p>
                  </a:txBody>
                  <a:tcPr>
                    <a:solidFill>
                      <a:srgbClr val="111834"/>
                    </a:solidFill>
                  </a:tcPr>
                </a:tc>
                <a:tc>
                  <a:txBody>
                    <a:bodyPr/>
                    <a:lstStyle/>
                    <a:p>
                      <a:r>
                        <a:rPr sz="1400" b="0">
                          <a:solidFill>
                            <a:srgbClr val="E8EEFA"/>
                          </a:solidFill>
                          <a:latin typeface="Segoe UI"/>
                        </a:rPr>
                        <a:t>32</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23</a:t>
                      </a:r>
                    </a:p>
                  </a:txBody>
                  <a:tcPr>
                    <a:solidFill>
                      <a:srgbClr val="111834"/>
                    </a:solidFill>
                  </a:tcPr>
                </a:tc>
                <a:tc>
                  <a:txBody>
                    <a:bodyPr/>
                    <a:lstStyle/>
                    <a:p>
                      <a:r>
                        <a:rPr sz="1400" b="0">
                          <a:solidFill>
                            <a:srgbClr val="E8EEFA"/>
                          </a:solidFill>
                          <a:latin typeface="Segoe UI"/>
                        </a:rPr>
                        <a:t>±3,4e38</a:t>
                      </a:r>
                    </a:p>
                  </a:txBody>
                  <a:tcPr>
                    <a:solidFill>
                      <a:srgbClr val="111834"/>
                    </a:solidFill>
                  </a:tcPr>
                </a:tc>
                <a:tc>
                  <a:txBody>
                    <a:bodyPr/>
                    <a:lstStyle/>
                    <a:p>
                      <a:r>
                        <a:rPr sz="1400" b="0">
                          <a:solidFill>
                            <a:srgbClr val="E8EEFA"/>
                          </a:solidFill>
                          <a:latin typeface="Segoe UI"/>
                        </a:rPr>
                        <a:t>~7 raqam</a:t>
                      </a:r>
                    </a:p>
                  </a:txBody>
                  <a:tcPr>
                    <a:solidFill>
                      <a:srgbClr val="111834"/>
                    </a:solidFill>
                  </a:tcPr>
                </a:tc>
              </a:tr>
              <a:tr h="520000">
                <a:tc>
                  <a:txBody>
                    <a:bodyPr/>
                    <a:lstStyle/>
                    <a:p>
                      <a:r>
                        <a:rPr sz="1400" b="0">
                          <a:solidFill>
                            <a:srgbClr val="E8EEFA"/>
                          </a:solidFill>
                          <a:latin typeface="Segoe UI"/>
                        </a:rPr>
                        <a:t>TF32</a:t>
                      </a:r>
                    </a:p>
                  </a:txBody>
                  <a:tcPr>
                    <a:solidFill>
                      <a:srgbClr val="161F40"/>
                    </a:solidFill>
                  </a:tcPr>
                </a:tc>
                <a:tc>
                  <a:txBody>
                    <a:bodyPr/>
                    <a:lstStyle/>
                    <a:p>
                      <a:r>
                        <a:rPr sz="1400" b="0">
                          <a:solidFill>
                            <a:srgbClr val="E8EEFA"/>
                          </a:solidFill>
                          <a:latin typeface="Segoe UI"/>
                        </a:rPr>
                        <a:t>19 (32 saqlanadi)</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10</a:t>
                      </a:r>
                    </a:p>
                  </a:txBody>
                  <a:tcPr>
                    <a:solidFill>
                      <a:srgbClr val="161F40"/>
                    </a:solidFill>
                  </a:tcPr>
                </a:tc>
                <a:tc>
                  <a:txBody>
                    <a:bodyPr/>
                    <a:lstStyle/>
                    <a:p>
                      <a:r>
                        <a:rPr sz="1400" b="0">
                          <a:solidFill>
                            <a:srgbClr val="E8EEFA"/>
                          </a:solidFill>
                          <a:latin typeface="Segoe UI"/>
                        </a:rPr>
                        <a:t>±3,4e38</a:t>
                      </a:r>
                    </a:p>
                  </a:txBody>
                  <a:tcPr>
                    <a:solidFill>
                      <a:srgbClr val="161F40"/>
                    </a:solidFill>
                  </a:tcPr>
                </a:tc>
                <a:tc>
                  <a:txBody>
                    <a:bodyPr/>
                    <a:lstStyle/>
                    <a:p>
                      <a:r>
                        <a:rPr sz="1400" b="0">
                          <a:solidFill>
                            <a:srgbClr val="E8EEFA"/>
                          </a:solidFill>
                          <a:latin typeface="Segoe UI"/>
                        </a:rPr>
                        <a:t>~3 raqam</a:t>
                      </a:r>
                    </a:p>
                  </a:txBody>
                  <a:tcPr>
                    <a:solidFill>
                      <a:srgbClr val="161F40"/>
                    </a:solidFill>
                  </a:tcPr>
                </a:tc>
              </a:tr>
              <a:tr h="520000">
                <a:tc>
                  <a:txBody>
                    <a:bodyPr/>
                    <a:lstStyle/>
                    <a:p>
                      <a:r>
                        <a:rPr sz="1400" b="0">
                          <a:solidFill>
                            <a:srgbClr val="E8EEFA"/>
                          </a:solidFill>
                          <a:latin typeface="Segoe UI"/>
                        </a:rPr>
                        <a:t>FP16</a:t>
                      </a:r>
                    </a:p>
                  </a:txBody>
                  <a:tcPr>
                    <a:solidFill>
                      <a:srgbClr val="111834"/>
                    </a:solidFill>
                  </a:tcPr>
                </a:tc>
                <a:tc>
                  <a:txBody>
                    <a:bodyPr/>
                    <a:lstStyle/>
                    <a:p>
                      <a:r>
                        <a:rPr sz="1400" b="0">
                          <a:solidFill>
                            <a:srgbClr val="E8EEFA"/>
                          </a:solidFill>
                          <a:latin typeface="Segoe UI"/>
                        </a:rPr>
                        <a:t>16</a:t>
                      </a:r>
                    </a:p>
                  </a:txBody>
                  <a:tcPr>
                    <a:solidFill>
                      <a:srgbClr val="111834"/>
                    </a:solidFill>
                  </a:tcPr>
                </a:tc>
                <a:tc>
                  <a:txBody>
                    <a:bodyPr/>
                    <a:lstStyle/>
                    <a:p>
                      <a:r>
                        <a:rPr sz="1400" b="0">
                          <a:solidFill>
                            <a:srgbClr val="E8EEFA"/>
                          </a:solidFill>
                          <a:latin typeface="Segoe UI"/>
                        </a:rPr>
                        <a:t>5</a:t>
                      </a:r>
                    </a:p>
                  </a:txBody>
                  <a:tcPr>
                    <a:solidFill>
                      <a:srgbClr val="111834"/>
                    </a:solidFill>
                  </a:tcPr>
                </a:tc>
                <a:tc>
                  <a:txBody>
                    <a:bodyPr/>
                    <a:lstStyle/>
                    <a:p>
                      <a:r>
                        <a:rPr sz="1400" b="0">
                          <a:solidFill>
                            <a:srgbClr val="E8EEFA"/>
                          </a:solidFill>
                          <a:latin typeface="Segoe UI"/>
                        </a:rPr>
                        <a:t>10</a:t>
                      </a:r>
                    </a:p>
                  </a:txBody>
                  <a:tcPr>
                    <a:solidFill>
                      <a:srgbClr val="111834"/>
                    </a:solidFill>
                  </a:tcPr>
                </a:tc>
                <a:tc>
                  <a:txBody>
                    <a:bodyPr/>
                    <a:lstStyle/>
                    <a:p>
                      <a:r>
                        <a:rPr sz="1400" b="0">
                          <a:solidFill>
                            <a:srgbClr val="E8EEFA"/>
                          </a:solidFill>
                          <a:latin typeface="Segoe UI"/>
                        </a:rPr>
                        <a:t>±65504</a:t>
                      </a:r>
                    </a:p>
                  </a:txBody>
                  <a:tcPr>
                    <a:solidFill>
                      <a:srgbClr val="111834"/>
                    </a:solidFill>
                  </a:tcPr>
                </a:tc>
                <a:tc>
                  <a:txBody>
                    <a:bodyPr/>
                    <a:lstStyle/>
                    <a:p>
                      <a:r>
                        <a:rPr sz="1400" b="0">
                          <a:solidFill>
                            <a:srgbClr val="E8EEFA"/>
                          </a:solidFill>
                          <a:latin typeface="Segoe UI"/>
                        </a:rPr>
                        <a:t>~3 raqam</a:t>
                      </a:r>
                    </a:p>
                  </a:txBody>
                  <a:tcPr>
                    <a:solidFill>
                      <a:srgbClr val="111834"/>
                    </a:solidFill>
                  </a:tcPr>
                </a:tc>
              </a:tr>
              <a:tr h="520000">
                <a:tc>
                  <a:txBody>
                    <a:bodyPr/>
                    <a:lstStyle/>
                    <a:p>
                      <a:r>
                        <a:rPr sz="1400" b="0">
                          <a:solidFill>
                            <a:srgbClr val="E8EEFA"/>
                          </a:solidFill>
                          <a:latin typeface="Segoe UI"/>
                        </a:rPr>
                        <a:t>BF16</a:t>
                      </a:r>
                    </a:p>
                  </a:txBody>
                  <a:tcPr>
                    <a:solidFill>
                      <a:srgbClr val="161F40"/>
                    </a:solidFill>
                  </a:tcPr>
                </a:tc>
                <a:tc>
                  <a:txBody>
                    <a:bodyPr/>
                    <a:lstStyle/>
                    <a:p>
                      <a:r>
                        <a:rPr sz="1400" b="0">
                          <a:solidFill>
                            <a:srgbClr val="E8EEFA"/>
                          </a:solidFill>
                          <a:latin typeface="Segoe UI"/>
                        </a:rPr>
                        <a:t>16</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7</a:t>
                      </a:r>
                    </a:p>
                  </a:txBody>
                  <a:tcPr>
                    <a:solidFill>
                      <a:srgbClr val="161F40"/>
                    </a:solidFill>
                  </a:tcPr>
                </a:tc>
                <a:tc>
                  <a:txBody>
                    <a:bodyPr/>
                    <a:lstStyle/>
                    <a:p>
                      <a:r>
                        <a:rPr sz="1400" b="0">
                          <a:solidFill>
                            <a:srgbClr val="E8EEFA"/>
                          </a:solidFill>
                          <a:latin typeface="Segoe UI"/>
                        </a:rPr>
                        <a:t>±3,4e38</a:t>
                      </a:r>
                    </a:p>
                  </a:txBody>
                  <a:tcPr>
                    <a:solidFill>
                      <a:srgbClr val="161F40"/>
                    </a:solidFill>
                  </a:tcPr>
                </a:tc>
                <a:tc>
                  <a:txBody>
                    <a:bodyPr/>
                    <a:lstStyle/>
                    <a:p>
                      <a:r>
                        <a:rPr sz="1400" b="0">
                          <a:solidFill>
                            <a:srgbClr val="E8EEFA"/>
                          </a:solidFill>
                          <a:latin typeface="Segoe UI"/>
                        </a:rPr>
                        <a:t>~2 raqam</a:t>
                      </a:r>
                    </a:p>
                  </a:txBody>
                  <a:tcPr>
                    <a:solidFill>
                      <a:srgbClr val="161F40"/>
                    </a:solidFill>
                  </a:tcPr>
                </a:tc>
              </a:tr>
              <a:tr h="520000">
                <a:tc>
                  <a:txBody>
                    <a:bodyPr/>
                    <a:lstStyle/>
                    <a:p>
                      <a:r>
                        <a:rPr sz="1400" b="0">
                          <a:solidFill>
                            <a:srgbClr val="E8EEFA"/>
                          </a:solidFill>
                          <a:latin typeface="Segoe UI"/>
                        </a:rPr>
                        <a:t>FP8 E4M3</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4</a:t>
                      </a:r>
                    </a:p>
                  </a:txBody>
                  <a:tcPr>
                    <a:solidFill>
                      <a:srgbClr val="111834"/>
                    </a:solidFill>
                  </a:tcPr>
                </a:tc>
                <a:tc>
                  <a:txBody>
                    <a:bodyPr/>
                    <a:lstStyle/>
                    <a:p>
                      <a:r>
                        <a:rPr sz="1400" b="0">
                          <a:solidFill>
                            <a:srgbClr val="E8EEFA"/>
                          </a:solidFill>
                          <a:latin typeface="Segoe UI"/>
                        </a:rPr>
                        <a:t>3</a:t>
                      </a:r>
                    </a:p>
                  </a:txBody>
                  <a:tcPr>
                    <a:solidFill>
                      <a:srgbClr val="111834"/>
                    </a:solidFill>
                  </a:tcPr>
                </a:tc>
                <a:tc>
                  <a:txBody>
                    <a:bodyPr/>
                    <a:lstStyle/>
                    <a:p>
                      <a:r>
                        <a:rPr sz="1400" b="0">
                          <a:solidFill>
                            <a:srgbClr val="E8EEFA"/>
                          </a:solidFill>
                          <a:latin typeface="Segoe UI"/>
                        </a:rPr>
                        <a:t>±448</a:t>
                      </a:r>
                    </a:p>
                  </a:txBody>
                  <a:tcPr>
                    <a:solidFill>
                      <a:srgbClr val="111834"/>
                    </a:solidFill>
                  </a:tcPr>
                </a:tc>
                <a:tc>
                  <a:txBody>
                    <a:bodyPr/>
                    <a:lstStyle/>
                    <a:p>
                      <a:r>
                        <a:rPr sz="1400" b="0">
                          <a:solidFill>
                            <a:srgbClr val="E8EEFA"/>
                          </a:solidFill>
                          <a:latin typeface="Segoe UI"/>
                        </a:rPr>
                        <a:t>~1 raqam</a:t>
                      </a:r>
                    </a:p>
                  </a:txBody>
                  <a:tcPr>
                    <a:solidFill>
                      <a:srgbClr val="111834"/>
                    </a:solidFill>
                  </a:tcPr>
                </a:tc>
              </a:tr>
              <a:tr h="520000">
                <a:tc>
                  <a:txBody>
                    <a:bodyPr/>
                    <a:lstStyle/>
                    <a:p>
                      <a:r>
                        <a:rPr sz="1400" b="0">
                          <a:solidFill>
                            <a:srgbClr val="E8EEFA"/>
                          </a:solidFill>
                          <a:latin typeface="Segoe UI"/>
                        </a:rPr>
                        <a:t>FP8 E5M2</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5</a:t>
                      </a:r>
                    </a:p>
                  </a:txBody>
                  <a:tcPr>
                    <a:solidFill>
                      <a:srgbClr val="161F40"/>
                    </a:solidFill>
                  </a:tcPr>
                </a:tc>
                <a:tc>
                  <a:txBody>
                    <a:bodyPr/>
                    <a:lstStyle/>
                    <a:p>
                      <a:r>
                        <a:rPr sz="1400" b="0">
                          <a:solidFill>
                            <a:srgbClr val="E8EEFA"/>
                          </a:solidFill>
                          <a:latin typeface="Segoe UI"/>
                        </a:rPr>
                        <a:t>2</a:t>
                      </a:r>
                    </a:p>
                  </a:txBody>
                  <a:tcPr>
                    <a:solidFill>
                      <a:srgbClr val="161F40"/>
                    </a:solidFill>
                  </a:tcPr>
                </a:tc>
                <a:tc>
                  <a:txBody>
                    <a:bodyPr/>
                    <a:lstStyle/>
                    <a:p>
                      <a:r>
                        <a:rPr sz="1400" b="0">
                          <a:solidFill>
                            <a:srgbClr val="E8EEFA"/>
                          </a:solidFill>
                          <a:latin typeface="Segoe UI"/>
                        </a:rPr>
                        <a:t>±57344</a:t>
                      </a:r>
                    </a:p>
                  </a:txBody>
                  <a:tcPr>
                    <a:solidFill>
                      <a:srgbClr val="161F40"/>
                    </a:solidFill>
                  </a:tcPr>
                </a:tc>
                <a:tc>
                  <a:txBody>
                    <a:bodyPr/>
                    <a:lstStyle/>
                    <a:p>
                      <a:r>
                        <a:rPr sz="1400" b="0">
                          <a:solidFill>
                            <a:srgbClr val="E8EEFA"/>
                          </a:solidFill>
                          <a:latin typeface="Segoe UI"/>
                        </a:rPr>
                        <a:t>~1 raqam</a:t>
                      </a:r>
                    </a:p>
                  </a:txBody>
                  <a:tcPr>
                    <a:solidFill>
                      <a:srgbClr val="161F40"/>
                    </a:solidFill>
                  </a:tcPr>
                </a:tc>
              </a:tr>
              <a:tr h="520000">
                <a:tc>
                  <a:txBody>
                    <a:bodyPr/>
                    <a:lstStyle/>
                    <a:p>
                      <a:r>
                        <a:rPr sz="1400" b="0">
                          <a:solidFill>
                            <a:srgbClr val="E8EEFA"/>
                          </a:solidFill>
                          <a:latin typeface="Segoe UI"/>
                        </a:rPr>
                        <a:t>INT8</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a:t>
                      </a:r>
                    </a:p>
                  </a:txBody>
                  <a:tcPr>
                    <a:solidFill>
                      <a:srgbClr val="111834"/>
                    </a:solidFill>
                  </a:tcPr>
                </a:tc>
                <a:tc>
                  <a:txBody>
                    <a:bodyPr/>
                    <a:lstStyle/>
                    <a:p>
                      <a:r>
                        <a:rPr sz="1400" b="0">
                          <a:solidFill>
                            <a:srgbClr val="E8EEFA"/>
                          </a:solidFill>
                          <a:latin typeface="Segoe UI"/>
                        </a:rPr>
                        <a:t>–</a:t>
                      </a:r>
                    </a:p>
                  </a:txBody>
                  <a:tcPr>
                    <a:solidFill>
                      <a:srgbClr val="111834"/>
                    </a:solidFill>
                  </a:tcPr>
                </a:tc>
                <a:tc>
                  <a:txBody>
                    <a:bodyPr/>
                    <a:lstStyle/>
                    <a:p>
                      <a:r>
                        <a:rPr sz="1400" b="0">
                          <a:solidFill>
                            <a:srgbClr val="E8EEFA"/>
                          </a:solidFill>
                          <a:latin typeface="Segoe UI"/>
                        </a:rPr>
                        <a:t>−128…127 (masshtab bilan)</a:t>
                      </a:r>
                    </a:p>
                  </a:txBody>
                  <a:tcPr>
                    <a:solidFill>
                      <a:srgbClr val="111834"/>
                    </a:solidFill>
                  </a:tcPr>
                </a:tc>
                <a:tc>
                  <a:txBody>
                    <a:bodyPr/>
                    <a:lstStyle/>
                    <a:p>
                      <a:r>
                        <a:rPr sz="1400" b="0">
                          <a:solidFill>
                            <a:srgbClr val="E8EEFA"/>
                          </a:solidFill>
                          <a:latin typeface="Segoe UI"/>
                        </a:rPr>
                        <a:t>diskret</a:t>
                      </a:r>
                    </a:p>
                  </a:txBody>
                  <a:tcPr>
                    <a:solidFill>
                      <a:srgbClr val="111834"/>
                    </a:solidFill>
                  </a:tcPr>
                </a:tc>
              </a:tr>
              <a:tr h="520000">
                <a:tc>
                  <a:txBody>
                    <a:bodyPr/>
                    <a:lstStyle/>
                    <a:p>
                      <a:r>
                        <a:rPr sz="1400" b="0">
                          <a:solidFill>
                            <a:srgbClr val="E8EEFA"/>
                          </a:solidFill>
                          <a:latin typeface="Segoe UI"/>
                        </a:rPr>
                        <a:t>INT4</a:t>
                      </a:r>
                    </a:p>
                  </a:txBody>
                  <a:tcPr>
                    <a:solidFill>
                      <a:srgbClr val="161F40"/>
                    </a:solidFill>
                  </a:tcPr>
                </a:tc>
                <a:tc>
                  <a:txBody>
                    <a:bodyPr/>
                    <a:lstStyle/>
                    <a:p>
                      <a:r>
                        <a:rPr sz="1400" b="0">
                          <a:solidFill>
                            <a:srgbClr val="E8EEFA"/>
                          </a:solidFill>
                          <a:latin typeface="Segoe UI"/>
                        </a:rPr>
                        <a:t>4</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−8…7 (masshtab bilan)</a:t>
                      </a:r>
                    </a:p>
                  </a:txBody>
                  <a:tcPr>
                    <a:solidFill>
                      <a:srgbClr val="161F40"/>
                    </a:solidFill>
                  </a:tcPr>
                </a:tc>
                <a:tc>
                  <a:txBody>
                    <a:bodyPr/>
                    <a:lstStyle/>
                    <a:p>
                      <a:r>
                        <a:rPr sz="1400" b="0">
                          <a:solidFill>
                            <a:srgbClr val="E8EEFA"/>
                          </a:solidFill>
                          <a:latin typeface="Segoe UI"/>
                        </a:rPr>
                        <a:t>diskret</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c98164842eaee2db.jpg"/>
          <p:cNvPicPr>
            <a:picLocks noChangeAspect="1"/>
          </p:cNvPicPr>
          <p:nvPr/>
        </p:nvPicPr>
        <p:blipFill>
          <a:blip r:embed="rId2"/>
          <a:srcRect l="21358" r="21358"/>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Frank Klemm · Wikimedia Commons · CC BY-SA 3.0 de</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Kvantlash (quantization): nazariya va turlari</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500" b="1">
                <a:solidFill>
                  <a:srgbClr val="E8EEFA"/>
                </a:solidFill>
                <a:latin typeface="Segoe UI"/>
              </a:rPr>
              <a:t>Kvantlash — uzluksiz (suzuvchi nuqtali) qiymatlarni chekli diskret to'plamga (odatda 8 yoki 4 bitli butun sonlar) akslantirish.</a:t>
            </a:r>
          </a:p>
          <a:p>
            <a:pPr>
              <a:spcBef>
                <a:spcPts val="400"/>
              </a:spcBef>
            </a:pPr>
            <a:r>
              <a:rPr sz="1400">
                <a:solidFill>
                  <a:srgbClr val="AEBBD9"/>
                </a:solidFill>
                <a:latin typeface="Segoe UI"/>
              </a:rPr>
              <a:t>Chiziqli (affine) kvantlash formulasi: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400" b="0">
                <a:solidFill>
                  <a:srgbClr val="E8EEFA"/>
                </a:solidFill>
                <a:latin typeface="Segoe UI"/>
              </a:rPr>
              <a:t>q = clamp(round(x / s) + z, q_min, q_max), teskarisi x̂ = s · (q − z)</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500" b="1">
                <a:solidFill>
                  <a:srgbClr val="E8EEFA"/>
                </a:solidFill>
                <a:latin typeface="Segoe UI"/>
              </a:rPr>
              <a:t>bu yerda s — masshtab (scale, suzuvchi nuqtali), z — nol nuqta (zero point, butun son), [q_min, q_max] — INT8 uchun [−128, 127].</a:t>
            </a:r>
          </a:p>
          <a:p>
            <a:pPr>
              <a:spcBef>
                <a:spcPts val="400"/>
              </a:spcBef>
            </a:pPr>
            <a:r>
              <a:rPr sz="1400">
                <a:solidFill>
                  <a:srgbClr val="AEBBD9"/>
                </a:solidFill>
                <a:latin typeface="Segoe UI"/>
              </a:rPr>
              <a:t>Simmetrik kvantlashda z = 0 va s = max|x| / 127; asimmetrik kvantlashda s = (x_max − x_min) / 255, z shunday tanlanadiki, haqiqiy nol aniq ifodalansin (bu ReLU'dan keyingi aktivatsiyalar uchun muhim — diapazonning yarmi isrof bo'lmaydi).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75656"/>
            <a:ext cx="50000" cy="177934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653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Kvantlash turlari:</a:t>
            </a:r>
          </a:p>
        </p:txBody>
      </p:sp>
      <p:sp>
        <p:nvSpPr>
          <p:cNvPr id="32" name="Rounded Rectangle 31"/>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7793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1467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3885000"/>
            <a:ext cx="5900000" cy="1859344"/>
          </a:xfrm>
          <a:prstGeom prst="rect">
            <a:avLst/>
          </a:prstGeom>
          <a:noFill/>
        </p:spPr>
        <p:txBody>
          <a:bodyPr wrap="square" anchor="ctr">
            <a:spAutoFit/>
          </a:bodyPr>
          <a:lstStyle/>
          <a:p>
            <a:r>
              <a:rPr sz="1700" b="1">
                <a:solidFill>
                  <a:srgbClr val="E8EEFA"/>
                </a:solidFill>
                <a:latin typeface="Segoe UI"/>
              </a:rPr>
              <a:t>QAT'da oldinga o'tishda og'irlik va aktivatsiyalar kvantlanadi va qayta suzuvchi nuqtaga qaytariladi (soxta kvantlash), orqaga o'tishda esa round ning hosilasi nolga teng bo'lgani uchun «to'g'ridan-to'g'ri baholovchi» (straight-through estimator) ishlatiladi…</a:t>
            </a:r>
          </a:p>
          <a:p>
            <a:pPr>
              <a:spcBef>
                <a:spcPts val="400"/>
              </a:spcBef>
            </a:pPr>
            <a:r>
              <a:rPr sz="1600">
                <a:solidFill>
                  <a:srgbClr val="AEBBD9"/>
                </a:solidFill>
                <a:latin typeface="Segoe UI"/>
              </a:rPr>
              <a:t>Natijada model kvantlash shovqiniga moslashadi.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Kvantlash (quantization): nazariya va turlari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graphicFrame>
        <p:nvGraphicFramePr>
          <p:cNvPr id="25" name="Table 24"/>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Tur</a:t>
                      </a:r>
                    </a:p>
                  </a:txBody>
                  <a:tcPr>
                    <a:solidFill>
                      <a:srgbClr val="1C2755"/>
                    </a:solidFill>
                  </a:tcPr>
                </a:tc>
                <a:tc>
                  <a:txBody>
                    <a:bodyPr/>
                    <a:lstStyle/>
                    <a:p>
                      <a:r>
                        <a:rPr sz="1200" b="1">
                          <a:solidFill>
                            <a:srgbClr val="22D3EE"/>
                          </a:solidFill>
                          <a:latin typeface="Segoe UI"/>
                        </a:rPr>
                        <a:t>Nima kvantlanadi</a:t>
                      </a:r>
                    </a:p>
                  </a:txBody>
                  <a:tcPr>
                    <a:solidFill>
                      <a:srgbClr val="1C2755"/>
                    </a:solidFill>
                  </a:tcPr>
                </a:tc>
                <a:tc>
                  <a:txBody>
                    <a:bodyPr/>
                    <a:lstStyle/>
                    <a:p>
                      <a:r>
                        <a:rPr sz="1200" b="1">
                          <a:solidFill>
                            <a:srgbClr val="22D3EE"/>
                          </a:solidFill>
                          <a:latin typeface="Segoe UI"/>
                        </a:rPr>
                        <a:t>Kalibrlash</a:t>
                      </a:r>
                    </a:p>
                  </a:txBody>
                  <a:tcPr>
                    <a:solidFill>
                      <a:srgbClr val="1C2755"/>
                    </a:solidFill>
                  </a:tcPr>
                </a:tc>
                <a:tc>
                  <a:txBody>
                    <a:bodyPr/>
                    <a:lstStyle/>
                    <a:p>
                      <a:r>
                        <a:rPr sz="1200" b="1">
                          <a:solidFill>
                            <a:srgbClr val="22D3EE"/>
                          </a:solidFill>
                          <a:latin typeface="Segoe UI"/>
                        </a:rPr>
                        <a:t>Tezlik yutug'i</a:t>
                      </a:r>
                    </a:p>
                  </a:txBody>
                  <a:tcPr>
                    <a:solidFill>
                      <a:srgbClr val="1C2755"/>
                    </a:solidFill>
                  </a:tcPr>
                </a:tc>
                <a:tc>
                  <a:txBody>
                    <a:bodyPr/>
                    <a:lstStyle/>
                    <a:p>
                      <a:r>
                        <a:rPr sz="1200" b="1">
                          <a:solidFill>
                            <a:srgbClr val="22D3EE"/>
                          </a:solidFill>
                          <a:latin typeface="Segoe UI"/>
                        </a:rPr>
                        <a:t>Aniqlik yo'qotish</a:t>
                      </a:r>
                    </a:p>
                  </a:txBody>
                  <a:tcPr>
                    <a:solidFill>
                      <a:srgbClr val="1C2755"/>
                    </a:solidFill>
                  </a:tcPr>
                </a:tc>
                <a:tc>
                  <a:txBody>
                    <a:bodyPr/>
                    <a:lstStyle/>
                    <a:p>
                      <a:r>
                        <a:rPr sz="1200" b="1">
                          <a:solidFill>
                            <a:srgbClr val="22D3EE"/>
                          </a:solidFill>
                          <a:latin typeface="Segoe UI"/>
                        </a:rPr>
                        <a:t>Tipik qo'llanish</a:t>
                      </a:r>
                    </a:p>
                  </a:txBody>
                  <a:tcPr>
                    <a:solidFill>
                      <a:srgbClr val="1C2755"/>
                    </a:solidFill>
                  </a:tcPr>
                </a:tc>
              </a:tr>
              <a:tr h="520000">
                <a:tc>
                  <a:txBody>
                    <a:bodyPr/>
                    <a:lstStyle/>
                    <a:p>
                      <a:r>
                        <a:rPr sz="1200" b="0">
                          <a:solidFill>
                            <a:srgbClr val="E8EEFA"/>
                          </a:solidFill>
                          <a:latin typeface="Segoe UI"/>
                        </a:rPr>
                        <a:t>Dinamik (dynamic PTQ)</a:t>
                      </a:r>
                    </a:p>
                  </a:txBody>
                  <a:tcPr>
                    <a:solidFill>
                      <a:srgbClr val="111834"/>
                    </a:solidFill>
                  </a:tcPr>
                </a:tc>
                <a:tc>
                  <a:txBody>
                    <a:bodyPr/>
                    <a:lstStyle/>
                    <a:p>
                      <a:r>
                        <a:rPr sz="1200" b="0">
                          <a:solidFill>
                            <a:srgbClr val="E8EEFA"/>
                          </a:solidFill>
                          <a:latin typeface="Segoe UI"/>
                        </a:rPr>
                        <a:t>og'irliklar oldindan, aktivatsiyalar ish vaqtida</a:t>
                      </a:r>
                    </a:p>
                  </a:txBody>
                  <a:tcPr>
                    <a:solidFill>
                      <a:srgbClr val="111834"/>
                    </a:solidFill>
                  </a:tcPr>
                </a:tc>
                <a:tc>
                  <a:txBody>
                    <a:bodyPr/>
                    <a:lstStyle/>
                    <a:p>
                      <a:r>
                        <a:rPr sz="1200" b="0">
                          <a:solidFill>
                            <a:srgbClr val="E8EEFA"/>
                          </a:solidFill>
                          <a:latin typeface="Segoe UI"/>
                        </a:rPr>
                        <a:t>kerak emas</a:t>
                      </a:r>
                    </a:p>
                  </a:txBody>
                  <a:tcPr>
                    <a:solidFill>
                      <a:srgbClr val="111834"/>
                    </a:solidFill>
                  </a:tcPr>
                </a:tc>
                <a:tc>
                  <a:txBody>
                    <a:bodyPr/>
                    <a:lstStyle/>
                    <a:p>
                      <a:r>
                        <a:rPr sz="1200" b="0">
                          <a:solidFill>
                            <a:srgbClr val="E8EEFA"/>
                          </a:solidFill>
                          <a:latin typeface="Segoe UI"/>
                        </a:rPr>
                        <a:t>o'rtacha (masshtab hisoblash yuki)</a:t>
                      </a:r>
                    </a:p>
                  </a:txBody>
                  <a:tcPr>
                    <a:solidFill>
                      <a:srgbClr val="111834"/>
                    </a:solidFill>
                  </a:tcPr>
                </a:tc>
                <a:tc>
                  <a:txBody>
                    <a:bodyPr/>
                    <a:lstStyle/>
                    <a:p>
                      <a:r>
                        <a:rPr sz="1200" b="0">
                          <a:solidFill>
                            <a:srgbClr val="E8EEFA"/>
                          </a:solidFill>
                          <a:latin typeface="Segoe UI"/>
                        </a:rPr>
                        <a:t>juda kam</a:t>
                      </a:r>
                    </a:p>
                  </a:txBody>
                  <a:tcPr>
                    <a:solidFill>
                      <a:srgbClr val="111834"/>
                    </a:solidFill>
                  </a:tcPr>
                </a:tc>
                <a:tc>
                  <a:txBody>
                    <a:bodyPr/>
                    <a:lstStyle/>
                    <a:p>
                      <a:r>
                        <a:rPr sz="1200" b="0">
                          <a:solidFill>
                            <a:srgbClr val="E8EEFA"/>
                          </a:solidFill>
                          <a:latin typeface="Segoe UI"/>
                        </a:rPr>
                        <a:t>CPU'da LSTM/Transformer, Linear qatlamlar</a:t>
                      </a:r>
                    </a:p>
                  </a:txBody>
                  <a:tcPr>
                    <a:solidFill>
                      <a:srgbClr val="111834"/>
                    </a:solidFill>
                  </a:tcPr>
                </a:tc>
              </a:tr>
              <a:tr h="520000">
                <a:tc>
                  <a:txBody>
                    <a:bodyPr/>
                    <a:lstStyle/>
                    <a:p>
                      <a:r>
                        <a:rPr sz="1200" b="0">
                          <a:solidFill>
                            <a:srgbClr val="E8EEFA"/>
                          </a:solidFill>
                          <a:latin typeface="Segoe UI"/>
                        </a:rPr>
                        <a:t>Statik (static PTQ)</a:t>
                      </a:r>
                    </a:p>
                  </a:txBody>
                  <a:tcPr>
                    <a:solidFill>
                      <a:srgbClr val="161F40"/>
                    </a:solidFill>
                  </a:tcPr>
                </a:tc>
                <a:tc>
                  <a:txBody>
                    <a:bodyPr/>
                    <a:lstStyle/>
                    <a:p>
                      <a:r>
                        <a:rPr sz="1200" b="0">
                          <a:solidFill>
                            <a:srgbClr val="E8EEFA"/>
                          </a:solidFill>
                          <a:latin typeface="Segoe UI"/>
                        </a:rPr>
                        <a:t>og'irliklar va aktivatsiyalar oldindan</a:t>
                      </a:r>
                    </a:p>
                  </a:txBody>
                  <a:tcPr>
                    <a:solidFill>
                      <a:srgbClr val="161F40"/>
                    </a:solidFill>
                  </a:tcPr>
                </a:tc>
                <a:tc>
                  <a:txBody>
                    <a:bodyPr/>
                    <a:lstStyle/>
                    <a:p>
                      <a:r>
                        <a:rPr sz="1200" b="0">
                          <a:solidFill>
                            <a:srgbClr val="E8EEFA"/>
                          </a:solidFill>
                          <a:latin typeface="Segoe UI"/>
                        </a:rPr>
                        <a:t>100–1000 namuna</a:t>
                      </a:r>
                    </a:p>
                  </a:txBody>
                  <a:tcPr>
                    <a:solidFill>
                      <a:srgbClr val="161F40"/>
                    </a:solidFill>
                  </a:tcPr>
                </a:tc>
                <a:tc>
                  <a:txBody>
                    <a:bodyPr/>
                    <a:lstStyle/>
                    <a:p>
                      <a:r>
                        <a:rPr sz="1200" b="0">
                          <a:solidFill>
                            <a:srgbClr val="E8EEFA"/>
                          </a:solidFill>
                          <a:latin typeface="Segoe UI"/>
                        </a:rPr>
                        <a:t>yuqori (to'liq INT8 yo'l)</a:t>
                      </a:r>
                    </a:p>
                  </a:txBody>
                  <a:tcPr>
                    <a:solidFill>
                      <a:srgbClr val="161F40"/>
                    </a:solidFill>
                  </a:tcPr>
                </a:tc>
                <a:tc>
                  <a:txBody>
                    <a:bodyPr/>
                    <a:lstStyle/>
                    <a:p>
                      <a:r>
                        <a:rPr sz="1200" b="0">
                          <a:solidFill>
                            <a:srgbClr val="E8EEFA"/>
                          </a:solidFill>
                          <a:latin typeface="Segoe UI"/>
                        </a:rPr>
                        <a:t>kam–o'rtacha</a:t>
                      </a:r>
                    </a:p>
                  </a:txBody>
                  <a:tcPr>
                    <a:solidFill>
                      <a:srgbClr val="161F40"/>
                    </a:solidFill>
                  </a:tcPr>
                </a:tc>
                <a:tc>
                  <a:txBody>
                    <a:bodyPr/>
                    <a:lstStyle/>
                    <a:p>
                      <a:r>
                        <a:rPr sz="1200" b="0">
                          <a:solidFill>
                            <a:srgbClr val="E8EEFA"/>
                          </a:solidFill>
                          <a:latin typeface="Segoe UI"/>
                        </a:rPr>
                        <a:t>CNN, chekka qurilma, TensorRT INT8</a:t>
                      </a:r>
                    </a:p>
                  </a:txBody>
                  <a:tcPr>
                    <a:solidFill>
                      <a:srgbClr val="161F40"/>
                    </a:solidFill>
                  </a:tcPr>
                </a:tc>
              </a:tr>
              <a:tr h="520000">
                <a:tc>
                  <a:txBody>
                    <a:bodyPr/>
                    <a:lstStyle/>
                    <a:p>
                      <a:r>
                        <a:rPr sz="1200" b="0">
                          <a:solidFill>
                            <a:srgbClr val="E8EEFA"/>
                          </a:solidFill>
                          <a:latin typeface="Segoe UI"/>
                        </a:rPr>
                        <a:t>QAT</a:t>
                      </a:r>
                    </a:p>
                  </a:txBody>
                  <a:tcPr>
                    <a:solidFill>
                      <a:srgbClr val="111834"/>
                    </a:solidFill>
                  </a:tcPr>
                </a:tc>
                <a:tc>
                  <a:txBody>
                    <a:bodyPr/>
                    <a:lstStyle/>
                    <a:p>
                      <a:r>
                        <a:rPr sz="1200" b="0">
                          <a:solidFill>
                            <a:srgbClr val="E8EEFA"/>
                          </a:solidFill>
                          <a:latin typeface="Segoe UI"/>
                        </a:rPr>
                        <a:t>o'qitish paytida soxta kvantlash (fake quant)</a:t>
                      </a:r>
                    </a:p>
                  </a:txBody>
                  <a:tcPr>
                    <a:solidFill>
                      <a:srgbClr val="111834"/>
                    </a:solidFill>
                  </a:tcPr>
                </a:tc>
                <a:tc>
                  <a:txBody>
                    <a:bodyPr/>
                    <a:lstStyle/>
                    <a:p>
                      <a:r>
                        <a:rPr sz="1200" b="0">
                          <a:solidFill>
                            <a:srgbClr val="E8EEFA"/>
                          </a:solidFill>
                          <a:latin typeface="Segoe UI"/>
                        </a:rPr>
                        <a:t>qayta o'qitish</a:t>
                      </a:r>
                    </a:p>
                  </a:txBody>
                  <a:tcPr>
                    <a:solidFill>
                      <a:srgbClr val="111834"/>
                    </a:solidFill>
                  </a:tcPr>
                </a:tc>
                <a:tc>
                  <a:txBody>
                    <a:bodyPr/>
                    <a:lstStyle/>
                    <a:p>
                      <a:r>
                        <a:rPr sz="1200" b="0">
                          <a:solidFill>
                            <a:srgbClr val="E8EEFA"/>
                          </a:solidFill>
                          <a:latin typeface="Segoe UI"/>
                        </a:rPr>
                        <a:t>statik bilan teng</a:t>
                      </a:r>
                    </a:p>
                  </a:txBody>
                  <a:tcPr>
                    <a:solidFill>
                      <a:srgbClr val="111834"/>
                    </a:solidFill>
                  </a:tcPr>
                </a:tc>
                <a:tc>
                  <a:txBody>
                    <a:bodyPr/>
                    <a:lstStyle/>
                    <a:p>
                      <a:r>
                        <a:rPr sz="1200" b="0">
                          <a:solidFill>
                            <a:srgbClr val="E8EEFA"/>
                          </a:solidFill>
                          <a:latin typeface="Segoe UI"/>
                        </a:rPr>
                        <a:t>eng kam</a:t>
                      </a:r>
                    </a:p>
                  </a:txBody>
                  <a:tcPr>
                    <a:solidFill>
                      <a:srgbClr val="111834"/>
                    </a:solidFill>
                  </a:tcPr>
                </a:tc>
                <a:tc>
                  <a:txBody>
                    <a:bodyPr/>
                    <a:lstStyle/>
                    <a:p>
                      <a:r>
                        <a:rPr sz="1200" b="0">
                          <a:solidFill>
                            <a:srgbClr val="E8EEFA"/>
                          </a:solidFill>
                          <a:latin typeface="Segoe UI"/>
                        </a:rPr>
                        <a:t>kichik/sezgir modellar, INT4</a:t>
                      </a:r>
                    </a:p>
                  </a:txBody>
                  <a:tcPr>
                    <a:solidFill>
                      <a:srgbClr val="111834"/>
                    </a:solidFill>
                  </a:tcPr>
                </a:tc>
              </a:tr>
              <a:tr h="520000">
                <a:tc>
                  <a:txBody>
                    <a:bodyPr/>
                    <a:lstStyle/>
                    <a:p>
                      <a:r>
                        <a:rPr sz="1200" b="0">
                          <a:solidFill>
                            <a:srgbClr val="E8EEFA"/>
                          </a:solidFill>
                          <a:latin typeface="Segoe UI"/>
                        </a:rPr>
                        <a:t>Og'irlik-faqat INT4/INT8 (GPTQ, AWQ, NF4)</a:t>
                      </a:r>
                    </a:p>
                  </a:txBody>
                  <a:tcPr>
                    <a:solidFill>
                      <a:srgbClr val="161F40"/>
                    </a:solidFill>
                  </a:tcPr>
                </a:tc>
                <a:tc>
                  <a:txBody>
                    <a:bodyPr/>
                    <a:lstStyle/>
                    <a:p>
                      <a:r>
                        <a:rPr sz="1200" b="0">
                          <a:solidFill>
                            <a:srgbClr val="E8EEFA"/>
                          </a:solidFill>
                          <a:latin typeface="Segoe UI"/>
                        </a:rPr>
                        <a:t>faqat og'irliklar, hisoblash FP16'da</a:t>
                      </a:r>
                    </a:p>
                  </a:txBody>
                  <a:tcPr>
                    <a:solidFill>
                      <a:srgbClr val="161F40"/>
                    </a:solidFill>
                  </a:tcPr>
                </a:tc>
                <a:tc>
                  <a:txBody>
                    <a:bodyPr/>
                    <a:lstStyle/>
                    <a:p>
                      <a:r>
                        <a:rPr sz="1200" b="0">
                          <a:solidFill>
                            <a:srgbClr val="E8EEFA"/>
                          </a:solidFill>
                          <a:latin typeface="Segoe UI"/>
                        </a:rPr>
                        <a:t>yuzlab namuna (GPTQ/AWQ)</a:t>
                      </a:r>
                    </a:p>
                  </a:txBody>
                  <a:tcPr>
                    <a:solidFill>
                      <a:srgbClr val="161F40"/>
                    </a:solidFill>
                  </a:tcPr>
                </a:tc>
                <a:tc>
                  <a:txBody>
                    <a:bodyPr/>
                    <a:lstStyle/>
                    <a:p>
                      <a:r>
                        <a:rPr sz="1200" b="0">
                          <a:solidFill>
                            <a:srgbClr val="E8EEFA"/>
                          </a:solidFill>
                          <a:latin typeface="Segoe UI"/>
                        </a:rPr>
                        <a:t>xotira trafigi kamayadi (LLM dekodlash)</a:t>
                      </a:r>
                    </a:p>
                  </a:txBody>
                  <a:tcPr>
                    <a:solidFill>
                      <a:srgbClr val="161F40"/>
                    </a:solidFill>
                  </a:tcPr>
                </a:tc>
                <a:tc>
                  <a:txBody>
                    <a:bodyPr/>
                    <a:lstStyle/>
                    <a:p>
                      <a:r>
                        <a:rPr sz="1200" b="0">
                          <a:solidFill>
                            <a:srgbClr val="E8EEFA"/>
                          </a:solidFill>
                          <a:latin typeface="Segoe UI"/>
                        </a:rPr>
                        <a:t>kam</a:t>
                      </a:r>
                    </a:p>
                  </a:txBody>
                  <a:tcPr>
                    <a:solidFill>
                      <a:srgbClr val="161F40"/>
                    </a:solidFill>
                  </a:tcPr>
                </a:tc>
                <a:tc>
                  <a:txBody>
                    <a:bodyPr/>
                    <a:lstStyle/>
                    <a:p>
                      <a:r>
                        <a:rPr sz="1200" b="0">
                          <a:solidFill>
                            <a:srgbClr val="E8EEFA"/>
                          </a:solidFill>
                          <a:latin typeface="Segoe UI"/>
                        </a:rPr>
                        <a:t>LLM inferens</a:t>
                      </a:r>
                    </a:p>
                  </a:txBody>
                  <a:tcPr>
                    <a:solidFill>
                      <a:srgbClr val="161F40"/>
                    </a:solidFill>
                  </a:tcPr>
                </a:tc>
              </a:tr>
              <a:tr h="520000">
                <a:tc>
                  <a:txBody>
                    <a:bodyPr/>
                    <a:lstStyle/>
                    <a:p>
                      <a:r>
                        <a:rPr sz="1200" b="0">
                          <a:solidFill>
                            <a:srgbClr val="E8EEFA"/>
                          </a:solidFill>
                          <a:latin typeface="Segoe UI"/>
                        </a:rPr>
                        <a:t>FP8 / SmoothQuant W8A8</a:t>
                      </a:r>
                    </a:p>
                  </a:txBody>
                  <a:tcPr>
                    <a:solidFill>
                      <a:srgbClr val="111834"/>
                    </a:solidFill>
                  </a:tcPr>
                </a:tc>
                <a:tc>
                  <a:txBody>
                    <a:bodyPr/>
                    <a:lstStyle/>
                    <a:p>
                      <a:r>
                        <a:rPr sz="1200" b="0">
                          <a:solidFill>
                            <a:srgbClr val="E8EEFA"/>
                          </a:solidFill>
                          <a:latin typeface="Segoe UI"/>
                        </a:rPr>
                        <a:t>og'irlik va aktivatsiya 8 bit</a:t>
                      </a:r>
                    </a:p>
                  </a:txBody>
                  <a:tcPr>
                    <a:solidFill>
                      <a:srgbClr val="111834"/>
                    </a:solidFill>
                  </a:tcPr>
                </a:tc>
                <a:tc>
                  <a:txBody>
                    <a:bodyPr/>
                    <a:lstStyle/>
                    <a:p>
                      <a:r>
                        <a:rPr sz="1200" b="0">
                          <a:solidFill>
                            <a:srgbClr val="E8EEFA"/>
                          </a:solidFill>
                          <a:latin typeface="Segoe UI"/>
                        </a:rPr>
                        <a:t>masshtab/tekislash</a:t>
                      </a:r>
                    </a:p>
                  </a:txBody>
                  <a:tcPr>
                    <a:solidFill>
                      <a:srgbClr val="111834"/>
                    </a:solidFill>
                  </a:tcPr>
                </a:tc>
                <a:tc>
                  <a:txBody>
                    <a:bodyPr/>
                    <a:lstStyle/>
                    <a:p>
                      <a:r>
                        <a:rPr sz="1200" b="0">
                          <a:solidFill>
                            <a:srgbClr val="E8EEFA"/>
                          </a:solidFill>
                          <a:latin typeface="Segoe UI"/>
                        </a:rPr>
                        <a:t>yuqori (Hopper)</a:t>
                      </a:r>
                    </a:p>
                  </a:txBody>
                  <a:tcPr>
                    <a:solidFill>
                      <a:srgbClr val="111834"/>
                    </a:solidFill>
                  </a:tcPr>
                </a:tc>
                <a:tc>
                  <a:txBody>
                    <a:bodyPr/>
                    <a:lstStyle/>
                    <a:p>
                      <a:r>
                        <a:rPr sz="1200" b="0">
                          <a:solidFill>
                            <a:srgbClr val="E8EEFA"/>
                          </a:solidFill>
                          <a:latin typeface="Segoe UI"/>
                        </a:rPr>
                        <a:t>kam</a:t>
                      </a:r>
                    </a:p>
                  </a:txBody>
                  <a:tcPr>
                    <a:solidFill>
                      <a:srgbClr val="111834"/>
                    </a:solidFill>
                  </a:tcPr>
                </a:tc>
                <a:tc>
                  <a:txBody>
                    <a:bodyPr/>
                    <a:lstStyle/>
                    <a:p>
                      <a:r>
                        <a:rPr sz="1200" b="0">
                          <a:solidFill>
                            <a:srgbClr val="E8EEFA"/>
                          </a:solidFill>
                          <a:latin typeface="Segoe UI"/>
                        </a:rPr>
                        <a:t>LLM yuqori throughput</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e6962d35d36cfc4b.jpg"/>
          <p:cNvPicPr>
            <a:picLocks noChangeAspect="1"/>
          </p:cNvPicPr>
          <p:nvPr/>
        </p:nvPicPr>
        <p:blipFill>
          <a:blip r:embed="rId2"/>
          <a:srcRect l="15160" r="15160"/>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Peggy Greb, USDA · Wikimedia Commons · Public domain</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Pruning: siyraklashtirish</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9b9823fb9ce10605.jpg"/>
          <p:cNvPicPr>
            <a:picLocks noChangeAspect="1"/>
          </p:cNvPicPr>
          <p:nvPr/>
        </p:nvPicPr>
        <p:blipFill>
          <a:blip r:embed="rId2"/>
          <a:srcRect l="20742" r="2074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Ordercrazy · Wikimedia Commons · CC0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Pruning — ta'siri kam parametrlarni (og'irliklar, kanallar, boshlar, qatlamlar) olib tashlash.</a:t>
            </a:r>
          </a:p>
          <a:p>
            <a:pPr>
              <a:spcBef>
                <a:spcPts val="400"/>
              </a:spcBef>
            </a:pPr>
            <a:r>
              <a:rPr sz="1400">
                <a:solidFill>
                  <a:srgbClr val="AEBBD9"/>
                </a:solidFill>
                <a:latin typeface="Segoe UI"/>
              </a:rPr>
              <a:t>Eng oddiy mezon — kattalik (magnitude pruning): absolyut qiymati kichik og'irliklar nolga tenglashtiriladi.</a:t>
            </a:r>
          </a:p>
        </p:txBody>
      </p:sp>
      <p:sp>
        <p:nvSpPr>
          <p:cNvPr id="35" name="Rounded Rectangle 34"/>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Lekin bu yerda muhandis uchun hal qiluvchi nuqta bor: strukturlanmagan (unstructured) siyraklik — tasodifiy joylarda nol — umumiy maqsadli GPU'da tezlashish bermaydi.</a:t>
            </a:r>
          </a:p>
          <a:p>
            <a:pPr>
              <a:spcBef>
                <a:spcPts val="400"/>
              </a:spcBef>
            </a:pPr>
            <a:r>
              <a:rPr sz="1400">
                <a:solidFill>
                  <a:srgbClr val="AEBBD9"/>
                </a:solidFill>
                <a:latin typeface="Segoe UI"/>
              </a:rPr>
              <a:t>Zich matritsa ko'paytmasi kernellari nollarni ham ko'paytiradi; siyrak formatlar (CSR) esa indekslar yuki tufayli faqat 90–95 foizdan yuqori siyraklikda zich formatdan tezroq bo'ladi. Shuning uchun amaliyotda uch yo'l bor.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Pruning: siyraklashtirish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Pruning darajasini baholashda uchta ko'rsatkich: parametrlar ulushi (hajm), FLOP ulushi (hisoblash) va o'lchangan kechikish (haqiqiy tezlik).</a:t>
            </a:r>
          </a:p>
          <a:p>
            <a:pPr>
              <a:spcBef>
                <a:spcPts val="400"/>
              </a:spcBef>
            </a:pPr>
            <a:r>
              <a:rPr sz="1600">
                <a:solidFill>
                  <a:srgbClr val="AEBBD9"/>
                </a:solidFill>
                <a:latin typeface="Segoe UI"/>
              </a:rPr>
              <a:t>Bular bir-biriga mos kelmasligi mumkin: kanallarning 50 foizini olib tashlash FLOP'ni 75 foizga kamaytiradi (ikki o'lcham ham qisqaradi), lekin xotira bilan chegaralangan qatlamlarda kechikish deyarli o'zgarmasligi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8597978c28505d6a.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BLM Alaska · Wikimedia Commons · Public domain</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Knowledge Distillation: bilim distillyatsiyasi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Knowledge Distillation: bilim distillyatsiyasi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5cc156e1755d88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GALAXY 2018 A7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Bilim distillyatsiyasi (Hinton, Vinyals, Dean, 2015) katta, aniq «o'qituvchi» modelning xulq-atvorini kichik «o'quvchi» modelga o'rgatadi.</a:t>
            </a:r>
          </a:p>
          <a:p>
            <a:pPr>
              <a:spcBef>
                <a:spcPts val="400"/>
              </a:spcBef>
            </a:pPr>
            <a:r>
              <a:rPr sz="1300">
                <a:solidFill>
                  <a:srgbClr val="AEBBD9"/>
                </a:solidFill>
                <a:latin typeface="Segoe UI"/>
              </a:rPr>
              <a:t>Asosiy kuzatuv: o'qituvchining yumshoq ehtimollik taqsimoti (soft targets) qattiq yorliqdan (hard label) ko'proq ma'lumot beradi — «bu rasm 90 foiz it, 7 foiz bo'ri, 0,01 foiz mashina» degan taqsimot sinflar orasidagi o'xshashlikni ifodalaydi.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300" b="0">
                <a:solidFill>
                  <a:srgbClr val="E8EEFA"/>
                </a:solidFill>
                <a:latin typeface="Segoe UI"/>
              </a:rPr>
              <a:t>L = α · T² · KL(p_teacher(T) ‖ p_student(T)) + (1 − α) · CE(y, p_student(1))</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400" b="1">
                <a:solidFill>
                  <a:srgbClr val="E8EEFA"/>
                </a:solidFill>
                <a:latin typeface="Segoe UI"/>
              </a:rPr>
              <a:t>bu yerda T² ko'paytuvchi gradient kattaligini kompensatsiya qiladi, α (odatda 0,5–0,9) ikki hadning muvozanati.</a:t>
            </a:r>
          </a:p>
          <a:p>
            <a:pPr>
              <a:spcBef>
                <a:spcPts val="400"/>
              </a:spcBef>
            </a:pPr>
            <a:r>
              <a:rPr sz="1300">
                <a:solidFill>
                  <a:srgbClr val="AEBBD9"/>
                </a:solidFill>
                <a:latin typeface="Segoe UI"/>
              </a:rPr>
              <a:t>Distillyatsiya turlari: javob asosida (logitlar), xususiyat asosida (oraliq qatlamlar — FitNets, TinyBERT), munosabat asosida (namunalar orasidagi masofalar).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9c6e041310e3d707.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Mooshua1857 · Wikimedia Commons · CC0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Model va kernel darajasidagi optimallashtirish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va kernel darajasidagi optimallashtirish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Yuqoridagi usullar modelni o'zgartiradi; kernel darajasidagi optimallashtirish esa bir xil modelni apparatda samaraliroq bajaradi.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05690ed099ffc088.jpg"/>
          <p:cNvPicPr>
            <a:picLocks noChangeAspect="1"/>
          </p:cNvPicPr>
          <p:nvPr/>
        </p:nvPicPr>
        <p:blipFill>
          <a:blip r:embed="rId2"/>
          <a:srcRect l="10518" r="1051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Andrea Agnolin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Hisoblash resurslaridan samarali foydalanish va energiya samaradorligi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Hisoblash resurslaridan samarali foydalanish va energiya samaradorligi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M8 · Sun'iy intellekt tizimlarini optimallashtirish usullari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6c7780a9e8da9fd.jpg"/>
          <p:cNvPicPr>
            <a:picLocks noChangeAspect="1"/>
          </p:cNvPicPr>
          <p:nvPr/>
        </p:nvPicPr>
        <p:blipFill>
          <a:blip r:embed="rId2"/>
          <a:srcRect l="15233" r="1523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Mister rf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03444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994440"/>
            <a:ext cx="5900000" cy="1591120"/>
          </a:xfrm>
          <a:prstGeom prst="rect">
            <a:avLst/>
          </a:prstGeom>
          <a:noFill/>
        </p:spPr>
        <p:txBody>
          <a:bodyPr wrap="square" anchor="ctr">
            <a:spAutoFit/>
          </a:bodyPr>
          <a:lstStyle/>
          <a:p>
            <a:r>
              <a:rPr sz="1700" b="1">
                <a:solidFill>
                  <a:srgbClr val="E8EEFA"/>
                </a:solidFill>
                <a:latin typeface="Segoe UI"/>
              </a:rPr>
              <a:t>Energiya samaradorligi ko'rsatkichi — inferens boshiga joul (J/inferens) yoki o'qitish uchun jami kVt·soat.</a:t>
            </a:r>
          </a:p>
          <a:p>
            <a:pPr>
              <a:spcBef>
                <a:spcPts val="400"/>
              </a:spcBef>
            </a:pPr>
            <a:r>
              <a:rPr sz="1600">
                <a:solidFill>
                  <a:srgbClr val="AEBBD9"/>
                </a:solidFill>
                <a:latin typeface="Segoe UI"/>
              </a:rPr>
              <a:t>U quvvat (Vt) va vaqtning ko'paytmasi, shuning uchun tezlashtirishning o'zi energiya tejaydi (quvvat deyarli bir xil qolib, vaqt qisqaradi).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101" name="Rectangle 100"/>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3" name="TextBox 102"/>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0"/>
                            </p:stCondLst>
                            <p:childTnLst>
                              <p:par>
                                <p:cTn id="380" presetID="10" presetClass="entr" presetSubtype="0"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childTnLst>
                                </p:cTn>
                              </p:par>
                            </p:childTnLst>
                          </p:cTn>
                        </p:par>
                        <p:par>
                          <p:cTn id="383" fill="hold">
                            <p:stCondLst>
                              <p:cond delay="0"/>
                            </p:stCondLst>
                            <p:childTnLst>
                              <p:par>
                                <p:cTn id="384" presetID="10" presetClass="entr" presetSubtype="0" fill="hold" grpId="0" nodeType="afterEffect">
                                  <p:stCondLst>
                                    <p:cond delay="0"/>
                                  </p:stCondLst>
                                  <p:childTnLst>
                                    <p:set>
                                      <p:cBhvr>
                                        <p:cTn id="385" dur="1" fill="hold">
                                          <p:stCondLst>
                                            <p:cond delay="0"/>
                                          </p:stCondLst>
                                        </p:cTn>
                                        <p:tgtEl>
                                          <p:spTgt spid="98"/>
                                        </p:tgtEl>
                                        <p:attrNameLst>
                                          <p:attrName>style.visibility</p:attrName>
                                        </p:attrNameLst>
                                      </p:cBhvr>
                                      <p:to>
                                        <p:strVal val="visible"/>
                                      </p:to>
                                    </p:set>
                                    <p:animEffect transition="in" filter="fade">
                                      <p:cBhvr>
                                        <p:cTn id="386" dur="550"/>
                                        <p:tgtEl>
                                          <p:spTgt spid="98"/>
                                        </p:tgtEl>
                                      </p:cBhvr>
                                    </p:animEffect>
                                  </p:childTnLst>
                                </p:cTn>
                              </p:par>
                            </p:childTnLst>
                          </p:cTn>
                        </p:par>
                        <p:par>
                          <p:cTn id="387" fill="hold">
                            <p:stCondLst>
                              <p:cond delay="0"/>
                            </p:stCondLst>
                            <p:childTnLst>
                              <p:par>
                                <p:cTn id="388" presetID="10" presetClass="entr" presetSubtype="0" fill="hold" grpId="0" nodeType="afterEffect">
                                  <p:stCondLst>
                                    <p:cond delay="0"/>
                                  </p:stCondLst>
                                  <p:childTnLst>
                                    <p:set>
                                      <p:cBhvr>
                                        <p:cTn id="389" dur="1" fill="hold">
                                          <p:stCondLst>
                                            <p:cond delay="0"/>
                                          </p:stCondLst>
                                        </p:cTn>
                                        <p:tgtEl>
                                          <p:spTgt spid="99"/>
                                        </p:tgtEl>
                                        <p:attrNameLst>
                                          <p:attrName>style.visibility</p:attrName>
                                        </p:attrNameLst>
                                      </p:cBhvr>
                                      <p:to>
                                        <p:strVal val="visible"/>
                                      </p:to>
                                    </p:set>
                                    <p:animEffect transition="in" filter="fade">
                                      <p:cBhvr>
                                        <p:cTn id="390" dur="550"/>
                                        <p:tgtEl>
                                          <p:spTgt spid="99"/>
                                        </p:tgtEl>
                                      </p:cBhvr>
                                    </p:animEffect>
                                  </p:childTnLst>
                                </p:cTn>
                              </p:par>
                            </p:childTnLst>
                          </p:cTn>
                        </p:par>
                        <p:par>
                          <p:cTn id="391" fill="hold">
                            <p:stCondLst>
                              <p:cond delay="200"/>
                            </p:stCondLst>
                            <p:childTnLst>
                              <p:par>
                                <p:cTn id="392" presetID="53" presetClass="entr" presetSubtype="16" fill="hold" grpId="0" nodeType="afterEffect">
                                  <p:stCondLst>
                                    <p:cond delay="0"/>
                                  </p:stCondLst>
                                  <p:childTnLst>
                                    <p:set>
                                      <p:cBhvr>
                                        <p:cTn id="393" dur="1" fill="hold">
                                          <p:stCondLst>
                                            <p:cond delay="0"/>
                                          </p:stCondLst>
                                        </p:cTn>
                                        <p:tgtEl>
                                          <p:spTgt spid="100"/>
                                        </p:tgtEl>
                                        <p:attrNameLst>
                                          <p:attrName>style.visibility</p:attrName>
                                        </p:attrNameLst>
                                      </p:cBhvr>
                                      <p:to>
                                        <p:strVal val="visible"/>
                                      </p:to>
                                    </p:set>
                                    <p:animEffect transition="in" filter="fade">
                                      <p:cBhvr>
                                        <p:cTn id="394" dur="550"/>
                                        <p:tgtEl>
                                          <p:spTgt spid="100"/>
                                        </p:tgtEl>
                                      </p:cBhvr>
                                    </p:animEffect>
                                    <p:anim calcmode="lin" valueType="num">
                                      <p:cBhvr additive="base">
                                        <p:cTn id="395" dur="550" fill="hold"/>
                                        <p:tgtEl>
                                          <p:spTgt spid="100"/>
                                        </p:tgtEl>
                                        <p:attrNameLst>
                                          <p:attrName>ppt_w</p:attrName>
                                        </p:attrNameLst>
                                      </p:cBhvr>
                                      <p:tavLst>
                                        <p:tav tm="0">
                                          <p:val>
                                            <p:strVal val="0"/>
                                          </p:val>
                                        </p:tav>
                                        <p:tav tm="100000">
                                          <p:val>
                                            <p:strVal val="#ppt_w"/>
                                          </p:val>
                                        </p:tav>
                                      </p:tavLst>
                                    </p:anim>
                                    <p:anim calcmode="lin" valueType="num">
                                      <p:cBhvr additive="base">
                                        <p:cTn id="396" dur="550" fill="hold"/>
                                        <p:tgtEl>
                                          <p:spTgt spid="100"/>
                                        </p:tgtEl>
                                        <p:attrNameLst>
                                          <p:attrName>ppt_h</p:attrName>
                                        </p:attrNameLst>
                                      </p:cBhvr>
                                      <p:tavLst>
                                        <p:tav tm="0">
                                          <p:val>
                                            <p:strVal val="0"/>
                                          </p:val>
                                        </p:tav>
                                        <p:tav tm="100000">
                                          <p:val>
                                            <p:strVal val="#ppt_h"/>
                                          </p:val>
                                        </p:tav>
                                      </p:tavLst>
                                    </p:anim>
                                  </p:childTnLst>
                                </p:cTn>
                              </p:par>
                            </p:childTnLst>
                          </p:cTn>
                        </p:par>
                        <p:par>
                          <p:cTn id="397" fill="hold">
                            <p:stCondLst>
                              <p:cond delay="350"/>
                            </p:stCondLst>
                            <p:childTnLst>
                              <p:par>
                                <p:cTn id="398" presetID="22" presetClass="entr" presetSubtype="8" fill="hold" grpId="0" nodeType="afterEffect">
                                  <p:stCondLst>
                                    <p:cond delay="0"/>
                                  </p:stCondLst>
                                  <p:childTnLst>
                                    <p:set>
                                      <p:cBhvr>
                                        <p:cTn id="399" dur="1" fill="hold">
                                          <p:stCondLst>
                                            <p:cond delay="0"/>
                                          </p:stCondLst>
                                        </p:cTn>
                                        <p:tgtEl>
                                          <p:spTgt spid="101"/>
                                        </p:tgtEl>
                                        <p:attrNameLst>
                                          <p:attrName>style.visibility</p:attrName>
                                        </p:attrNameLst>
                                      </p:cBhvr>
                                      <p:to>
                                        <p:strVal val="visible"/>
                                      </p:to>
                                    </p:set>
                                    <p:animEffect transition="in" filter="wipe(left)">
                                      <p:cBhvr>
                                        <p:cTn id="401" dur="800"/>
                                        <p:tgtEl>
                                          <p:spTgt spid="101"/>
                                        </p:tgtEl>
                                      </p:cBhvr>
                                    </p:animEffect>
                                  </p:childTnLst>
                                </p:cTn>
                              </p:par>
                            </p:childTnLst>
                          </p:cTn>
                        </p:par>
                        <p:par>
                          <p:cTn id="402" fill="hold">
                            <p:stCondLst>
                              <p:cond delay="500"/>
                            </p:stCondLst>
                            <p:childTnLst>
                              <p:par>
                                <p:cTn id="403" presetID="42" presetClass="entr" presetSubtype="0" fill="hold" grpId="0" nodeType="afterEffect">
                                  <p:stCondLst>
                                    <p:cond delay="0"/>
                                  </p:stCondLst>
                                  <p:childTnLst>
                                    <p:set>
                                      <p:cBhvr>
                                        <p:cTn id="404" dur="1" fill="hold">
                                          <p:stCondLst>
                                            <p:cond delay="0"/>
                                          </p:stCondLst>
                                        </p:cTn>
                                        <p:tgtEl>
                                          <p:spTgt spid="102"/>
                                        </p:tgtEl>
                                        <p:attrNameLst>
                                          <p:attrName>style.visibility</p:attrName>
                                        </p:attrNameLst>
                                      </p:cBhvr>
                                      <p:to>
                                        <p:strVal val="visible"/>
                                      </p:to>
                                    </p:set>
                                    <p:animEffect transition="in" filter="fade">
                                      <p:cBhvr>
                                        <p:cTn id="405" dur="550"/>
                                        <p:tgtEl>
                                          <p:spTgt spid="102"/>
                                        </p:tgtEl>
                                      </p:cBhvr>
                                    </p:animEffect>
                                    <p:anim calcmode="lin" valueType="num">
                                      <p:cBhvr additive="base">
                                        <p:cTn id="406" dur="550" fill="hold"/>
                                        <p:tgtEl>
                                          <p:spTgt spid="102"/>
                                        </p:tgtEl>
                                        <p:attrNameLst>
                                          <p:attrName>ppt_x</p:attrName>
                                        </p:attrNameLst>
                                      </p:cBhvr>
                                      <p:tavLst>
                                        <p:tav tm="0">
                                          <p:val>
                                            <p:strVal val="#ppt_x"/>
                                          </p:val>
                                        </p:tav>
                                        <p:tav tm="100000">
                                          <p:val>
                                            <p:strVal val="#ppt_x"/>
                                          </p:val>
                                        </p:tav>
                                      </p:tavLst>
                                    </p:anim>
                                    <p:anim calcmode="lin" valueType="num">
                                      <p:cBhvr additive="base">
                                        <p:cTn id="407" dur="550" fill="hold"/>
                                        <p:tgtEl>
                                          <p:spTgt spid="102"/>
                                        </p:tgtEl>
                                        <p:attrNameLst>
                                          <p:attrName>ppt_y</p:attrName>
                                        </p:attrNameLst>
                                      </p:cBhvr>
                                      <p:tavLst>
                                        <p:tav tm="0">
                                          <p:val>
                                            <p:strVal val="#ppt_y+.08"/>
                                          </p:val>
                                        </p:tav>
                                        <p:tav tm="100000">
                                          <p:val>
                                            <p:strVal val="#ppt_y"/>
                                          </p:val>
                                        </p:tav>
                                      </p:tavLst>
                                    </p:anim>
                                  </p:childTnLst>
                                </p:cTn>
                              </p:par>
                            </p:childTnLst>
                          </p:cTn>
                        </p:par>
                        <p:par>
                          <p:cTn id="408" fill="hold">
                            <p:stCondLst>
                              <p:cond delay="650"/>
                            </p:stCondLst>
                            <p:childTnLst>
                              <p:par>
                                <p:cTn id="409" presetID="10" presetClass="entr" presetSubtype="0" fill="hold" grpId="0" nodeType="afterEffect">
                                  <p:stCondLst>
                                    <p:cond delay="0"/>
                                  </p:stCondLst>
                                  <p:childTnLst>
                                    <p:set>
                                      <p:cBhvr>
                                        <p:cTn id="410" dur="1" fill="hold">
                                          <p:stCondLst>
                                            <p:cond delay="0"/>
                                          </p:stCondLst>
                                        </p:cTn>
                                        <p:tgtEl>
                                          <p:spTgt spid="103"/>
                                        </p:tgtEl>
                                        <p:attrNameLst>
                                          <p:attrName>style.visibility</p:attrName>
                                        </p:attrNameLst>
                                      </p:cBhvr>
                                      <p:to>
                                        <p:strVal val="visible"/>
                                      </p:to>
                                    </p:set>
                                    <p:animEffect transition="in" filter="fade">
                                      <p:cBhvr>
                                        <p:cTn id="411" dur="55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
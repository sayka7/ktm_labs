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uchun maxsus apparat vositalarini ixtisoslashuv darajasi va joylashuvi bo'yicha tasniflash qulay. Umumiy protsessor ichidagi bloklar — CPU dagi AMX/SVE, GPU dagi Tensor Core: dasturlanadigan mashina ichida matritsa buyrug'i; moslashuvchanlik saqlanadi, samaradorlik oshadi. Ma'lumotlar markazi ASIC lari — TPU, AWS Trainium2 va Inferentia2, Microsoft Maia 100, Meta MTIA: bulut provayderi o'z yuki uchun loyihalagan chip, kompilyator orqali dasturlanadi, umumiy maqsadda ishlatilmaydi. Startap arxitekturalari — Cerebras WSE-3 (butun wafer bitta chip: 4 trillion tranzistor, 900 000 yadro, 44 GB on-chip SRAM, 21 PB/s ichki o'tkazuvchanlik), Groq LPU (deterministik, butunlay SRAM asosidagi, HBM siz, LLM inferensida juda past kechikish), Graphcore IPU (1 472 mustaqil yadro, 900 MB on-chip SRAM, MIMD yondashuv), SambaNova RDU (qayta konfiguratsiyalanadigan ma'lumot oqimi), Tenstorrent (RISC-V asosidagi Tensix yadrolari) — har biri ma'lum yuk uchun GPU dan afzal bo'lishga urinadi. Chekka NPU lar — Apple Neural Engine, Qualcomm Hexagon, Google Edge TPU, Hailo-8 (26 TOPS, 2,5 W): vatt boshiga samaradorlik ustuvor. Qayta dasturlanadigan platformalar — FPGA va moslashuvchan SoC lar (AMD Versal, Intel Agilex).</a:t>
            </a:r>
          </a:p>
          <a:p/>
          <a:p>
            <a:r>
              <a:t>Bu xilma-xillikni birlashtiruvchi narsa — barchasi Sze va hammualliflar [4] tavsiflagan bir xil loyihalash fazosida ishlaydi: hisoblash elementlari massivi (processing elements, PE), ular orasidagi ma'lumot oqimi (dataflow), ko'p darajali on-chip xotira (registr → PE lokal SRAM → global bufer → tashqi DRAM/HBM) va tashqi interkonnekt. Farqlar — bu o'lchovlarning qaysi biriga urg'u berilganida.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Tensor Core — NVIDIA GPU ning SM i ichidagi matritsa ko'paytirish bloki. Oddiy CUDA yadrosi bir taktda bitta FMA (fused multiply-add) bajaradi; Tensor Core esa bitta buyruqda kichik matritsa amalini D = A × B + C bajaradi, bu yerda A va B past aniqlikda (FP16, BF16, TF32, INT8, FP8), C va D esa yuqori aniqlikda (FP32 yoki INT32) to'planadi — bu aralash aniqlik (mixed precision) tamoyili: ko'paytirish arzon formatda, yig'indi aniq formatda. Birinchi avlod (Volta, 2017) har Tensor Core da taktiga 4×4×4 FP16 matritsa ko'paytirishni (64 FMA) bajargan, SM da 8 ta Tensor Core bo'lgan.</a:t>
            </a:r>
          </a:p>
          <a:p/>
          <a:p>
            <a:r>
              <a:t>Jadvaldagi TF32 (TensorFloat-32) alohida izohga loyiq: bu 19-bitli format (8 bit eksponenta FP32 kabi, 10 bit mantissa FP16 kabi) bo'lib, FP32 kirish ma'lumotini kod o'zgartirmasdan Tensor Core da hisoblash imkonini beradi — A100 da 19,5 ga qarshi 156 TFLOPS. 2:4 strukturali siyraklik har 4 ta ketma-ket og'irlikdan 2 tasi nol bo'lishini talab qiladi; apparat nollarni o'tkazib yuborib o'tkazuvchanlikni ikki baravar oshiradi — shuning uchun pasportda «siyrak» raqam zichdan ikki baravar katta. Transformer Engine (Hopper) har qatlam uchun FP8 yoki FP16 ni statistika asosida avtomatik tanlab, masshtab koeffitsiyentlarini boshqaradi — bu LLM o'qitishda FP8 ni amaliy qildi.</a:t>
            </a:r>
          </a:p>
          <a:p/>
          <a:p>
            <a:r>
              <a:t>Tensor Core dan foydalanish shartlari co-design uchun muhim: (1) aniqlik — FP32 da Tensor Core faqat TF32 yoqilgan bo'lsa ishlaydi; (2) o'lchamlar — FP16 uchun matritsa o'lchamlari 8 ga, INT8 uchun 16 ga karrali bo'lsa, eng samarali yadro tanlanadi (aks holda qo'shimcha to'ldirish yoki sekin yo'l); (3) xotira joylashuvi — kerakli tartib (masalan, konvolyutsiyalar uchun NHWC/channels_last); (4) yetarli yuk — kichik matritsa Tensor Core ni to'ldirmaydi. Dasturchi uchun kirish nuqtalari: cuBLAS/cuDNN (avtomatik), PyTorch autocast (aralash aniqlik), CUTLASS kutubxonasi (shablonli yadrolar), WMMA/mma.sync buyruqlari (bevosita CUDA da), Triton tili (Python dan yadro yozish).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ASIC (Application-Specific Integrated Circuit) va FPGA — ixtisoslashuvning ikki yo'li: biri kremniyda qotirilgan, ikkinchisi qayta dasturlanadigan. Ularni to'g'ri taqqoslash uchun loyihalash oqimini bilish kerak.</a:t>
            </a:r>
          </a:p>
          <a:p/>
          <a:p>
            <a:r>
              <a:t>ASIC loyihalash oqimi quyidagi bosqichlardan iborat: spetsifikatsiya (yuk tahlili, unumdorlik/energiya/maydon maqsadlari) → arxitektura (PE massivi o'lchami, xotira hajmi, ma'lumot oqimi; odatda tezkor simulyator va analitik modellar bilan) → RTL loyihalash (Verilog/SystemVerilog yoki Chisel kabi yuqori darajali tillarda registrlar darajasidagi tavsif) → funksional verifikatsiya (simulyatsiya, formal usullar; umumiy vaqtning 50–70 % i) → mantiqiy sintez (RTL dan standart yacheykalar tarmog'iga, Synopsys/Cadence vositalari) → fizik loyihalash (joylashtirish va trassalash, vaqt va quvvat tahlili) → tape-out va ishlab chiqarish (TSMC, Samsung; 5/4/3 nm jarayonlar) → chipni sinash va dasturiy stek. Butun sikl 18–36 oy, xarajat ilg'or jarayonda yuz millionlab dollar. Buning evaziga ASIC eng yuqori samaradorlikni beradi: TPU v1 o'z davridagi GPU dan vatt boshiga 30–80 baravar samarali edi; zamonaviy chekka NPU lar 5–20 TOPS/W ga erishadi.</a:t>
            </a:r>
          </a:p>
          <a:p/>
          <a:p>
            <a:r>
              <a:t>FPGA oqimi qisqaroq: RTL yoki HLS (C/C++ dan sintez) → sintez → joylashtirish va trassalash (soatlar) → bitstream yuklash (soniyalar). Xato topilsa, qayta sintez qilinadi — tape-out yo'q. SI uchun FPGA ekotizimi: AMD Vitis AI (tayyor DPU yadrosi — konfiguratsiyalanadigan konvolyutsiya tezlatkichi — va kompilyator), FINN (AMD tadqiqot ramkasi, juda past bitli — hatto binar — tarmoqlarni to'g'ridan-to'g'ri mantiqqa yoyadi), hls4ml (CERN da yaratilgan, fizika detektorlari uchun nanosekundlik kechikishli kichik tarmoqlar), Intel OpenVINO FPGA plagini. Yangi avlod «moslashuvchan SoC» lar — AMD Versal AI Core/AI Edge — dasturlanadigan mantiq yoniga yuzlab VLIW vektor protsessorlari (AI Engine) qo'yadi, bu FPGA ning moslashuvchanligi bilan ASIC ga yaqin zichlikni birlashtiradi.</a:t>
            </a:r>
          </a:p>
          <a:p/>
          <a:p>
            <a:r>
              <a:t>Amaliy qoida: tiraj kichik, kechikish qattiq va kiritish-chiqarish nostandart bo'lsa — FPGA; tiraj millionlab va yuk barqaror bo'lsa — ASIC; yuk tez o'zgaradigan va ekotizim muhim bo'lsa — GPU. Ko'pincha FPGA ASIC uchun prototip bosqichi vazifasini ham bajaradi: arxitektura FPGA da tekshiriladi, so'ng kremniyga o'tkaziladi.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RISC-V — 2010-yilda Kaliforniya universiteti Berklida yaratilgan va hozir RISC-V International (Shveytsariya) tomonidan boshqariladigan ochiq buyruqlar to'plami arxitekturasi (Instruction Set Architecture, ISA). x86 (Intel/AMD) va ARM dan farqli o'laroq, RISC-V dan foydalanish uchun litsenziya to'lovi yo'q va har kim o'z yadrosini loyihalashi mumkin. Arxitektura modulli: kichik majburiy asos (RV32I/RV64I — 40 ta butun sonli buyruq) va ixtiyoriy standart kengaytmalar — M (ko'paytirish/bo'lish), A (atomar), F/D (suzuvchi nuqta), C (siqilgan buyruqlar), V (vektor kengaytmasi, 1.0 versiyasi 2021-yilda tasdiqlangan), shuningdek Zve (o'rnatilgan vektor), Zfh (yarim aniqlik), Zvfh, bit manipulyatsiyasi va kriptografiya kengaytmalari. Eng muhimi — maxsus kengaytmalar uchun rezervlangan buyruq maydoni: chip loyihalovchi o'z matritsa yoki neyron buyruqlarini qo'shib, standart kompilyator (GCC, LLVM) va operatsion tizim bilan mosligini saqlaydi.</a:t>
            </a:r>
          </a:p>
          <a:p/>
          <a:p>
            <a:r>
              <a:t>SI chiplari uchun RISC-V ning jozibasi uch jihatda. Birinchidan, vektor kengaytmasi uzunlikka bog'liq emas (vector-length agnostic): bitta kod 128 bitli chekka yadroda ham, 2048 bitli server yadrosida ham ishlaydi — SIMD ning AVX2/AVX-512 kabi qattiq kengliklaridan farqli. Ikkinchidan, tezlatkich ichidagi boshqaruv yadrolari sifatida: ko'p AI chiplari minglab PE larni boshqarish, DMA ni rejalashtirish, firmware ishga tushirish uchun kichik dasturlanadigan yadrolarga muhtoj, va RISC-V bu uchun bepul, ixcham va moslashuvchan. NVIDIA o'z GPU laridagi mikrokontrollerlarni (ilgari Falcon) RISC-V ga o'tkazganini e'lon qilgan; SiFive ma'lumotiga ko'ra, Google TPU larida SiFive X280 (RISC-V + vektor) yadrolari ishlatiladi. Uchinchidan, butun tezlatkich RISC-V asosida qurilishi mumkin: Tenstorrent ning Wormhole/Blackhole chiplaridagi Tensix yadrolari RISC-V skalyar yadrolar bilan boshqariladigan matritsa bloklaridan iborat; Esperanto ET-SoC-1 1 088 ta vektor/tensor bloklari bilan jihozlangan RISC-V yadrosini bitta chipda birlashtirgan; Alibaba T-Head XuanTie va Andes yadrolari Xitoy va Osiyo chekka NPU larida keng tarqalgan. Akademik ekotizim (ETH Zurich ning PULP platformasi, Berkeley Chisel/Rocket/BOOM, OpenHW CORE-V) esa chip loyihalashni o'rganish va tadqiqot uchun to'liq ochiq zanjirni beradi.</a:t>
            </a:r>
          </a:p>
          <a:p/>
          <a:p>
            <a:r>
              <a:t>RISC-V ning cheklovlari ham bor: ekotizim (kompilyator optimizatsiyalari, operatsion tizim, kutubxonalar) ARM va x86 dan yosh; yuqori unumdorli server yadrolari hali kam; standartlashtirilmagan kengaytmalar fragmentatsiyaga olib kelishi mumkin. Shunga qaramay, SI tezlatkichlari sohasida RISC-V de-fakto standart boshqaruv va vektor yadrosi bo'lib bormoqda.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Sze va hammualliflar [4] hamda Hennessy va Patterson [1] asosida SI chipi loyihalashning oltita tamoyilini ajratish mumkin.</a:t>
            </a:r>
          </a:p>
          <a:p/>
          <a:p>
            <a:r>
              <a:t>1. Ma'lumot oqimi (dataflow) ni tanlash. PE massivida qaysi ma'lumot joyida turadi va qaysi biri harakatlanadi — loyihaning markaziy qarori. Og'irlik-statsionar (weight-stationary, TPU): og'irliklar PE larga yuklanadi va ko'p kirish ustida qayta ishlatiladi; katta paketda samarali. Chiqish-statsionar (output-stationary): har PE bitta chiqish elementini to'playdi, qisman yig'indilar harakatlanmaydi. Kirish-statsionar va satr-statsionar (row-stationary, MIT Eyeriss chipi): konvolyutsiya satrlari PE larda saqlanib, uch turdagi qayta ishlatish muvozanatlanadi. To'g'ri tanlov yukning shakliga bog'liq: LLM inferensida (kichik paket, katta og'irliklar) og'irlik-statsionar oqim og'irliklarni qayta ishlata olmaydi va xotira o'tkazuvchanligi chegara bo'ladi — shuning uchun Groq butun modelni SRAM da saqlaydi.</a:t>
            </a:r>
          </a:p>
          <a:p/>
          <a:p>
            <a:r>
              <a:t>2. Xotira iyerarxiyasi va energiya byudjeti. DRAM murojaati SRAM dan 100 baravar qimmat; loyihaning maqsadi — har DRAM murojaati uchun maksimal amal (arifmetik intensivlik). Buning vositalari: katta on-chip SRAM (Cerebras 44 GB, Graphcore 900 MB, H100 50 MB L2), HBM (3D qatlamli DRAM, chip yoniga 2.5D interpozer orqali ulanadi; HBM3e stek boshiga 1 TB/s dan ortiq), plitkalash (tiling) va qayta ishlatish. Muhandis «TOPS» ni emas, «TOPS/W» va «TOPS/mm²» ni optimallashtiradi.</a:t>
            </a:r>
          </a:p>
          <a:p/>
          <a:p>
            <a:r>
              <a:t>3. Aniqlikni kamaytirish. Har ikki baravar kam bit — ko'paytirgich maydoni taxminan 4 baravar kichik (ko'paytirgich murakkabligi bit kengligi kvadratiga proporsional), xotira va o'tkazuvchanlik 2 baravar tejaladi. Shuning uchun avlodlar FP32 → FP16/BF16 → INT8 → FP8 → FP4 yo'lidan bordi; chip loyihasida bu bir vaqtning o'zida bir nechta formatni qo'llab-quvvatlovchi va ularni birlashtira oladigan ko'paytirgichlarni talab qiladi.</a:t>
            </a:r>
          </a:p>
          <a:p/>
          <a:p>
            <a:r>
              <a:t>4. Siyraklik. Neyron tarmoqda nollar ko'p (ReLU dan keyin aktivatsiyalar, kesilgan og'irliklar). Apparat nollarni o'tkazib yuborsa (zero-skipping) yoki strukturali siyraklikni (2:4) qo'llasa, samarali o'tkazuvchanlik oshadi; narxi — indekslarni saqlash va murakkabroq rejalashtirish.</a:t>
            </a:r>
          </a:p>
          <a:p/>
          <a:p>
            <a:r>
              <a:t>5. Masshtablash va interkonnekt. Bitta kristall o'lchami litografiya chegarasi (~858 mm²) bilan cheklangan. Yechimlar: chiplet — bir nechta kichik kristallni bitta paketda birlashtirish (AMD MI300X 8 ta hisoblash chipleti + 4 ta kiritish-chiqarish chipleti, NVIDIA Blackwell 2 kristall 10 TB/s ko'prik bilan; UCIe ochiq standarti 2022), wafer miqyosi (Cerebras), chipdan tashqarida NVLink/NVSwitch, ICI (TPU 3D torus), optik interkonnekt (co-packaged optics — yaqin kelajak).</a:t>
            </a:r>
          </a:p>
          <a:p/>
          <a:p>
            <a:r>
              <a:t>6. Dasturiy stek bilan birgalikda loyihalash. Chip kompilyatorsiz foydasiz. TPU — XLA bilan, Tensor Core — cuBLAS/cuDNN/CUTLASS bilan, NPU lar — o'z SDK lari bilan birga loyihalanadi. Bugungi kunda MLIR va OpenXLA kabi umumiy kompilyator infratuzilmalari yangi chip uchun dasturiy stek yaratish vaqtini qisqartirmoqda; Triton esa yadro yozishni demokratlashtirmoqda.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Sze va hammualliflar [4] hamda Hennessy va Patterson [1] asosida SI chipi loyihalashning oltita tamoyilini ajratish mumkin.</a:t>
            </a:r>
          </a:p>
          <a:p/>
          <a:p>
            <a:r>
              <a:t>1. Ma'lumot oqimi (dataflow) ni tanlash. PE massivida qaysi ma'lumot joyida turadi va qaysi biri harakatlanadi — loyihaning markaziy qarori. Og'irlik-statsionar (weight-stationary, TPU): og'irliklar PE larga yuklanadi va ko'p kirish ustida qayta ishlatiladi; katta paketda samarali. Chiqish-statsionar (output-stationary): har PE bitta chiqish elementini to'playdi, qisman yig'indilar harakatlanmaydi. Kirish-statsionar va satr-statsionar (row-stationary, MIT Eyeriss chipi): konvolyutsiya satrlari PE larda saqlanib, uch turdagi qayta ishlatish muvozanatlanadi. To'g'ri tanlov yukning shakliga bog'liq: LLM inferensida (kichik paket, katta og'irliklar) og'irlik-statsionar oqim og'irliklarni qayta ishlata olmaydi va xotira o'tkazuvchanligi chegara bo'ladi — shuning uchun Groq butun modelni SRAM da saqlaydi.</a:t>
            </a:r>
          </a:p>
          <a:p/>
          <a:p>
            <a:r>
              <a:t>2. Xotira iyerarxiyasi va energiya byudjeti. DRAM murojaati SRAM dan 100 baravar qimmat; loyihaning maqsadi — har DRAM murojaati uchun maksimal amal (arifmetik intensivlik). Buning vositalari: katta on-chip SRAM (Cerebras 44 GB, Graphcore 900 MB, H100 50 MB L2), HBM (3D qatlamli DRAM, chip yoniga 2.5D interpozer orqali ulanadi; HBM3e stek boshiga 1 TB/s dan ortiq), plitkalash (tiling) va qayta ishlatish. Muhandis «TOPS» ni emas, «TOPS/W» va «TOPS/mm²» ni optimallashtiradi.</a:t>
            </a:r>
          </a:p>
          <a:p/>
          <a:p>
            <a:r>
              <a:t>3. Aniqlikni kamaytirish. Har ikki baravar kam bit — ko'paytirgich maydoni taxminan 4 baravar kichik (ko'paytirgich murakkabligi bit kengligi kvadratiga proporsional), xotira va o'tkazuvchanlik 2 baravar tejaladi. Shuning uchun avlodlar FP32 → FP16/BF16 → INT8 → FP8 → FP4 yo'lidan bordi; chip loyihasida bu bir vaqtning o'zida bir nechta formatni qo'llab-quvvatlovchi va ularni birlashtira oladigan ko'paytirgichlarni talab qiladi.</a:t>
            </a:r>
          </a:p>
          <a:p/>
          <a:p>
            <a:r>
              <a:t>4. Siyraklik. Neyron tarmoqda nollar ko'p (ReLU dan keyin aktivatsiyalar, kesilgan og'irliklar). Apparat nollarni o'tkazib yuborsa (zero-skipping) yoki strukturali siyraklikni (2:4) qo'llasa, samarali o'tkazuvchanlik oshadi; narxi — indekslarni saqlash va murakkabroq rejalashtirish.</a:t>
            </a:r>
          </a:p>
          <a:p/>
          <a:p>
            <a:r>
              <a:t>5. Masshtablash va interkonnekt. Bitta kristall o'lchami litografiya chegarasi (~858 mm²) bilan cheklangan. Yechimlar: chiplet — bir nechta kichik kristallni bitta paketda birlashtirish (AMD MI300X 8 ta hisoblash chipleti + 4 ta kiritish-chiqarish chipleti, NVIDIA Blackwell 2 kristall 10 TB/s ko'prik bilan; UCIe ochiq standarti 2022), wafer miqyosi (Cerebras), chipdan tashqarida NVLink/NVSwitch, ICI (TPU 3D torus), optik interkonnekt (co-packaged optics — yaqin kelajak).</a:t>
            </a:r>
          </a:p>
          <a:p/>
          <a:p>
            <a:r>
              <a:t>6. Dasturiy stek bilan birgalikda loyihalash. Chip kompilyatorsiz foydasiz. TPU — XLA bilan, Tensor Core — cuBLAS/cuDNN/CUTLASS bilan, NPU lar — o'z SDK lari bilan birga loyihalanadi. Bugungi kunda MLIR va OpenXLA kabi umumiy kompilyator infratuzilmalari yangi chip uchun dasturiy stek yaratish vaqtini qisqartirmoqda; Triton esa yadro yozishni demokratlashtirmoqda.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Birinchi tendensiya — transformer uchun ixtisoslashuv: FP8/FP4 formatlar, Transformer Engine, diqqat mexanizmi uchun maxsus yadrolar (FlashAttention apparat bilan birgalikda), katta KV-kesh uchun xotira sig'imi (B200 192 GB, MI300X 192 GB, MI325X 256 GB). Ikkinchi — xotira devori bilan kurash: HBM3e va kelayotgan HBM4, xotira yaqinida hisoblash (processing-near-memory), SRAM asosidagi inferens chiplari, analog xotirada hisoblash (in-memory computing — tadqiqot bosqichida, M15 da). Uchinchi — chiplet va ilg'or qadoqlash (TSMC CoWoS, 3D stacking) yangi masshtablash yo'li sifatida; CoWoS sig'imi 2023–2025-yillarda AI chiplari yetkazib berishning asosiy to'sig'i bo'ldi. To'rtinchi — bulut provayderlarining o'z chiplari (TPU, Trainium, Maia, MTIA) NVIDIA ga bog'liqlikni kamaytirish uchun. Beshinchi — ochiq apparat: RISC-V, OpenTitan, ochiq EDA vositalari (OpenROAD), Google ning ochiq shuttle dasturlari — chip loyihalash to'sig'ini pasaytirmoqda. Oltinchi — energiya va sovutish: GPU quvvati 400 → 700 → 1 000+ W, stoyka 120 kW, suyuqlik bilan sovutish majburiy; energiya samaradorligi chip loyihalashning asosiy mezoniga aylandi (Green AI, M15).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845"/>
              </a:gs>
              <a:gs pos="100000">
                <a:srgbClr val="0F6E80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00000" y="-1200000"/>
            <a:ext cx="4600000" cy="4600000"/>
          </a:xfrm>
          <a:prstGeom prst="ellipse">
            <a:avLst/>
          </a:prstGeom>
          <a:solidFill>
            <a:srgbClr val="244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00000" y="3900000"/>
            <a:ext cx="2600000" cy="2600000"/>
          </a:xfrm>
          <a:prstGeom prst="ellipse">
            <a:avLst/>
          </a:prstGeom>
          <a:solidFill>
            <a:srgbClr val="13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00000" y="3300000"/>
            <a:ext cx="700000" cy="700000"/>
          </a:xfrm>
          <a:prstGeom prst="ellipse">
            <a:avLst/>
          </a:prstGeom>
          <a:solidFill>
            <a:srgbClr val="7F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4650000"/>
            <a:ext cx="2400000" cy="70000"/>
          </a:xfrm>
          <a:prstGeom prst="rect">
            <a:avLst/>
          </a:prstGeom>
          <a:solidFill>
            <a:srgbClr val="7F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700000"/>
            <a:ext cx="8000000" cy="5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0">
                <a:solidFill>
                  <a:srgbClr val="A9C4E6"/>
                </a:solidFill>
                <a:latin typeface="Calibri"/>
              </a:rPr>
              <a:t>Sun'iy intellektga asoslangan kompyuter tizimlari muhandisligi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300000"/>
            <a:ext cx="8000000" cy="5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>
                <a:solidFill>
                  <a:srgbClr val="7FD6D7"/>
                </a:solidFill>
                <a:latin typeface="Calibri"/>
              </a:rPr>
              <a:t>MA'RUZA · M4 · 2 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900000"/>
            <a:ext cx="6900000" cy="2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Mashinali o'qitish algoritmlari uchun apparat tezlatkichlari va sun'iy intellekt chiplarini loyihalash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4900000"/>
            <a:ext cx="8000000" cy="12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D7E3F4"/>
                </a:solidFill>
                <a:latin typeface="Calibri"/>
              </a:rPr>
              <a:t>O‘qituvchi: S.Iskandarova, t.f.f.d. (PhD), dotsent</a:t>
            </a:r>
          </a:p>
          <a:p>
            <a:pPr algn="l"/>
            <a:r>
              <a:rPr sz="1500" b="0">
                <a:solidFill>
                  <a:srgbClr val="D7E3F4"/>
                </a:solidFill>
                <a:latin typeface="Calibri"/>
              </a:rPr>
              <a:t>2026-2027 o‘quv yili</a:t>
            </a:r>
          </a:p>
          <a:p>
            <a:pPr algn="l"/>
            <a:r>
              <a:rPr sz="1500" b="0">
                <a:solidFill>
                  <a:srgbClr val="D7E3F4"/>
                </a:solidFill>
                <a:latin typeface="Calibri"/>
              </a:rPr>
              <a:t>https://aiscan.airi.uz/ktm/</a:t>
            </a:r>
          </a:p>
        </p:txBody>
      </p:sp>
      <p:pic>
        <p:nvPicPr>
          <p:cNvPr id="11" name="Picture 10" descr="df00d7550b84d28d.jpg"/>
          <p:cNvPicPr>
            <a:picLocks noChangeAspect="1"/>
          </p:cNvPicPr>
          <p:nvPr/>
        </p:nvPicPr>
        <p:blipFill>
          <a:blip r:embed="rId2"/>
          <a:srcRect l="21040" r="21040"/>
          <a:stretch>
            <a:fillRect/>
          </a:stretch>
        </p:blipFill>
        <p:spPr>
          <a:xfrm>
            <a:off x="7900000" y="900000"/>
            <a:ext cx="3900000" cy="505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00000" y="5650000"/>
            <a:ext cx="3900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0000" y="5650000"/>
            <a:ext cx="3740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Syced · Wikimedia Commons · CC0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0000" y="820000"/>
            <a:ext cx="4060000" cy="5210000"/>
          </a:xfrm>
          <a:prstGeom prst="rect">
            <a:avLst/>
          </a:prstGeom>
          <a:noFill/>
          <a:ln w="381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5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4" grpId="0" animBg="1"/>
      <p:bldP spid="12" grpId="0" animBg="1"/>
      <p:bldP spid="13" grpId="0" animBg="1"/>
      <p:bldP spid="7" grpId="0" animBg="1"/>
      <p:bldP spid="8" grpId="0" animBg="1"/>
      <p:bldP spid="9" grpId="0" animBg="1"/>
      <p:bldP spid="6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MA’RUZA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Reja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300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1300000"/>
            <a:ext cx="70000" cy="725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1432500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1300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Sun'iy intellekt uchun maxsus apparat vositalari: umumiy manzara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2145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2145000"/>
            <a:ext cx="70000" cy="72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2277500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145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Tensor Core: ishlash prinsipi va evolyutsiyasi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2990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000" y="2990000"/>
            <a:ext cx="70000" cy="72500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000" y="3122500"/>
            <a:ext cx="460000" cy="4600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2990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FPGA va ASIC asosidagi sun'iy intellekt tizimlari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000" y="3835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000" y="3835000"/>
            <a:ext cx="70000" cy="725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000" y="3967500"/>
            <a:ext cx="460000" cy="4600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3835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RISC-V arxitekturasi va uning SI chiplaridagi o'rni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000" y="4680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0000" y="4680000"/>
            <a:ext cx="70000" cy="72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000" y="4812500"/>
            <a:ext cx="460000" cy="46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0000" y="4680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Sun'iy intellekt chiplarini loyihalashning asosiy tamoyillari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0000" y="5525000"/>
            <a:ext cx="11100000" cy="725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0000" y="5525000"/>
            <a:ext cx="70000" cy="725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0000" y="5657500"/>
            <a:ext cx="460000" cy="4600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0000" y="5525000"/>
            <a:ext cx="10050000" cy="725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900" b="0">
                <a:solidFill>
                  <a:srgbClr val="1B2430"/>
                </a:solidFill>
                <a:latin typeface="Calibri"/>
              </a:rPr>
              <a:t>Zamonaviy tendensiyalar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6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8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8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8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8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00"/>
                            </p:stCondLst>
                            <p:childTnLst>
                              <p:par>
                                <p:cTn id="1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320"/>
                            </p:stCondLst>
                            <p:childTnLst>
                              <p:par>
                                <p:cTn id="1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20"/>
                            </p:stCondLst>
                            <p:childTnLst>
                              <p:par>
                                <p:cTn id="1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320"/>
                            </p:stCondLst>
                            <p:childTnLst>
                              <p:par>
                                <p:cTn id="1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32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4288f6de7d4c3a0.jpg"/>
          <p:cNvPicPr>
            <a:picLocks noChangeAspect="1"/>
          </p:cNvPicPr>
          <p:nvPr/>
        </p:nvPicPr>
        <p:blipFill>
          <a:blip r:embed="rId2"/>
          <a:srcRect l="17782" r="17782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Norman P. Jouppi, George Kurian, Sheng Li, Peter Ma, Rahul Nagarajan, Lifeng Nai · Wikimedia Commons · CC BY 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Sun'iy intellekt uchun maxsus apparat vositalari: umumiy manzara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1-REJA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Sun'iy intellekt uchun maxsus apparat vositalari: umumiy manzara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2076666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2076666"/>
            <a:ext cx="70000" cy="1250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2471666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2076666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SI uchun maxsus apparat vositalarini ixtisoslashuv darajasi va joylashuvi bo'yicha tasniflash qulay. Umumiy protsessor ichidagi bloklar — CPU dagi AMX/SVE, GPU dagi Tensor Core: dasturlanadigan mashina ichida matritsa buyrug'i; moslashuvchanlik saqlanadi,…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3446666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3446666"/>
            <a:ext cx="70000" cy="125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3841666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3446666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Bu xilma-xillikni birlashtiruvchi narsa — barchasi Sze va hammualliflar [4] tavsiflagan bir xil loyihalash fazosida ishlaydi: hisoblash elementlari massivi (processing elements, PE), ular orasidagi ma'lumot oqimi (dataflow), ko'p darajali on-chip xotira…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cc2909d57589c15.jpg"/>
          <p:cNvPicPr>
            <a:picLocks noChangeAspect="1"/>
          </p:cNvPicPr>
          <p:nvPr/>
        </p:nvPicPr>
        <p:blipFill>
          <a:blip r:embed="rId2"/>
          <a:srcRect l="25837" r="25837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极客湾Geekerwan · Wikimedia Commons · CC BY 3.0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Tensor Core: ishlash prinsipi va evolyutsiyasi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2-REJA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Tensor Core: ishlash prinsipi va evolyutsiyasi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62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1620000"/>
            <a:ext cx="70000" cy="1250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2015000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162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Tensor Core — NVIDIA GPU ning SM i ichidagi matritsa ko'paytirish bloki. Oddiy CUDA yadrosi bir taktda bitta FMA (fused multiply-add) bajaradi; Tensor Core esa bitta buyruqda kichik matritsa amalini D = A × B + C bajaradi, bu yerda A va B past aniqlikda…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299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2990000"/>
            <a:ext cx="70000" cy="125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3385000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99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Jadvaldagi TF32 (TensorFloat-32) alohida izohga loyiq: bu 19-bitli format (8 bit eksponenta FP32 kabi, 10 bit mantissa FP16 kabi) bo'lib, FP32 kirish ma'lumotini kod o'zgartirmasdan Tensor Core da hisoblash imkonini beradi — A100 da 19,5 ga qarshi 156 TFLOPS.…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436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000" y="4360000"/>
            <a:ext cx="70000" cy="125000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000" y="4755000"/>
            <a:ext cx="460000" cy="4600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436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Tensor Core dan foydalanish shartlari co-design uchun muhim: (1) aniqlik — FP32 da Tensor Core faqat TF32 yoqilgan bo'lsa ishlaydi; (2) o'lchamlar — FP16 uchun matritsa o'lchamlari 8 ga, INT8 uchun 16 ga karrali bo'lsa, eng samarali yadro tanlanadi (aks holda…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6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2-REJA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Tensor Core: ishlash prinsipi va evolyutsiyasi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0000" y="1350000"/>
          <a:ext cx="1120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2800000"/>
                <a:gridCol w="28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Avlod (arxitektura, yil)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Yangi aniqliklar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Boshqa yangiliklar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Vakil chip, zich FP16 TFLOPS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1 (Volta, 2017)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FP16 → FP32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Tensor Core kiritildi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V100, 125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2 (Turing,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INT8, INT4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Inferens uchun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T4, 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3 (Ampere, 2020)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TF32, BF16, FP64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2:4 strukturali siyraklik, asinxron nusxalash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A100, 312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4 (Hopper,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FP8 (E4M3, E5M2)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Transformer Engine (dinamik FP8/FP16), warp-guruh buyruqlari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H100, ~990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 (Blackwell, 2024)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FP4, FP6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2-avlod Transformer Engine, ikki kristalli paket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B200, ~2 250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8e3f43a5de01f76.jpg"/>
          <p:cNvPicPr>
            <a:picLocks noChangeAspect="1"/>
          </p:cNvPicPr>
          <p:nvPr/>
        </p:nvPicPr>
        <p:blipFill>
          <a:blip r:embed="rId2"/>
          <a:srcRect l="15670" r="15670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Antti Lukats · Wikimedia Commons · CC0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FPGA va ASIC asosidagi sun'iy intellekt tizimlari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3-REJA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FPGA va ASIC asosidagi sun'iy intellekt tizimlari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300000"/>
            <a:ext cx="11100000" cy="11475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1300000"/>
            <a:ext cx="70000" cy="11475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1643750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1300000"/>
            <a:ext cx="10050000" cy="11475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ASIC (Application-Specific Integrated Circuit) va FPGA — ixtisoslashuvning ikki yo'li: biri kremniyda qotirilgan, ikkinchisi qayta dasturlanadigan.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2567500"/>
            <a:ext cx="11100000" cy="11475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2567500"/>
            <a:ext cx="70000" cy="11475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2911250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567500"/>
            <a:ext cx="10050000" cy="11475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ASIC loyihalash oqimi quyidagi bosqichlardan iborat: spetsifikatsiya (yuk tahlili, unumdorlik/energiya/maydon maqsadlari) → arxitektura (PE massivi o'lchami, xotira hajmi, ma'lumot oqimi;…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3835000"/>
            <a:ext cx="11100000" cy="11475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000" y="3835000"/>
            <a:ext cx="70000" cy="114750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000" y="4178750"/>
            <a:ext cx="460000" cy="4600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3835000"/>
            <a:ext cx="10050000" cy="11475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FPGA oqimi qisqaroq: RTL yoki HLS (C/C++ dan sintez) → sintez → joylashtirish va trassalash (soatlar) → bitstream yuklash (soniyalar).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000" y="5102500"/>
            <a:ext cx="11100000" cy="11475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000" y="5102500"/>
            <a:ext cx="70000" cy="11475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000" y="5446250"/>
            <a:ext cx="460000" cy="4600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5102500"/>
            <a:ext cx="10050000" cy="11475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Amaliy qoida: tiraj kichik, kechikish qattiq va kiritish-chiqarish nostandart bo'lsa — FPGA; tiraj millionlab va yuk barqaror bo'lsa — ASIC; yuk tez o'zgaradigan va ekotizim muhim bo'lsa —…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6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8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8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8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8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3-REJA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FPGA va ASIC asosidagi sun'iy intellekt tizimlari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0000" y="1350000"/>
          <a:ext cx="112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2800000"/>
                <a:gridCol w="2800000"/>
              </a:tblGrid>
              <a:tr h="5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Mezon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FPGA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ASIC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GPU (taqqoslash uchun)</a:t>
                      </a:r>
                    </a:p>
                  </a:txBody>
                  <a:tcPr>
                    <a:solidFill>
                      <a:srgbClr val="2D5C8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Ishlab chiqish vaqti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Haftalar–oylar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1,5–3 yil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Kunlar (dastur)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Boshlang'ich xarajat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Karta narxi (ming–o'n ming dollar)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Yuz millionlab dollar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Karta narxi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Birlik narxi katta tirajda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Yuqori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Past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O'rta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Energiya samaradorligi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Yaxshi (ASIC dan 5–10× past)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Eng yuqori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O'rta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Kechikish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Mikrosekund, deterministik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Mikrosekund, deterministik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O'n–yuz mikrosekund, o'zgaruvchan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Aniqlik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Ixtiyoriy bit kenglik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Loyihada belgilangan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FP64–FP4 to'plam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Modelni o'zgartirish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Qayta sintez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Faqat kompilyator doirasida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Erkin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Tipik soha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Sanoat, radar, moliya, prototip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Bulut, telefon, avtomobil (katta tiraj)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30"/>
                          </a:solidFill>
                          <a:latin typeface="Calibri"/>
                        </a:rPr>
                        <a:t>O'qitish, umumiy inferens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d172aa2f6ddcd23.jpg"/>
          <p:cNvPicPr>
            <a:picLocks noChangeAspect="1"/>
          </p:cNvPicPr>
          <p:nvPr/>
        </p:nvPicPr>
        <p:blipFill>
          <a:blip r:embed="rId2"/>
          <a:srcRect l="7043" r="7043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James Tamim · Wikimedia Commons · CC BY-SA 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RISC-V arxitekturasi va uning SI chiplaridagi o'rni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4-REJA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RISC-V arxitekturasi va uning SI chiplaridagi o'rni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62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1620000"/>
            <a:ext cx="70000" cy="1250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2015000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162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RISC-V — 2010-yilda Kaliforniya universiteti Berklida yaratilgan va hozir RISC-V International (Shveytsariya) tomonidan boshqariladigan ochiq buyruqlar to'plami arxitekturasi (Instruction Set Architecture, ISA). x86 (Intel/AMD) va ARM dan farqli o'laroq,…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299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2990000"/>
            <a:ext cx="70000" cy="125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3385000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99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SI chiplari uchun RISC-V ning jozibasi uch jihatda. Birinchidan, vektor kengaytmasi uzunlikka bog'liq emas (vector-length agnostic): bitta kod 128 bitli chekka yadroda ham, 2048 bitli server yadrosida ham ishlaydi — SIMD ning AVX2/AVX-512 kabi qattiq…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4360000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000" y="4360000"/>
            <a:ext cx="70000" cy="125000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000" y="4755000"/>
            <a:ext cx="460000" cy="4600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4360000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RISC-V ning cheklovlari ham bor: ekotizim (kompilyator optimizatsiyalari, operatsion tizim, kutubxonalar) ARM va x86 dan yosh; yuqori unumdorli server yadrolari hali kam; standartlashtirilmagan kengaytmalar fragmentatsiyaga olib kelishi mumkin. Shunga…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6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62f7323539173c5d.jpg"/>
          <p:cNvPicPr>
            <a:picLocks noChangeAspect="1"/>
          </p:cNvPicPr>
          <p:nvPr/>
        </p:nvPicPr>
        <p:blipFill>
          <a:blip r:embed="rId2"/>
          <a:srcRect l="20433" r="20433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Camera Operator: TSGT Bob Wickley · Wikimedia Commons · Public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Sun'iy intellekt chiplarini loyihalashning asosiy tamoyillari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5-REJA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Sun'iy intellekt chiplarini loyihalashning asosiy tamoyillari (1)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300000"/>
            <a:ext cx="11100000" cy="894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1300000"/>
            <a:ext cx="70000" cy="894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1517000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1300000"/>
            <a:ext cx="10050000" cy="89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Sze va hammualliflar [4] hamda Hennessy va Patterson [1] asosida SI chipi loyihalashning oltita tamoyilini ajratish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2314000"/>
            <a:ext cx="11100000" cy="894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2314000"/>
            <a:ext cx="70000" cy="894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2531000"/>
            <a:ext cx="460000" cy="46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314000"/>
            <a:ext cx="10050000" cy="89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1. Ma'lumot oqimi (dataflow) ni tanlash. PE massivida qaysi ma'lumot joyida turadi va qaysi biri harakatlanadi — loyihaning markaziy qarori.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3328000"/>
            <a:ext cx="11100000" cy="894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000" y="3328000"/>
            <a:ext cx="70000" cy="89400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000" y="3545000"/>
            <a:ext cx="460000" cy="4600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3328000"/>
            <a:ext cx="10050000" cy="89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2. Xotira iyerarxiyasi va energiya byudjeti.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000" y="4342000"/>
            <a:ext cx="11100000" cy="894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000" y="4342000"/>
            <a:ext cx="70000" cy="894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000" y="4559000"/>
            <a:ext cx="460000" cy="4600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4342000"/>
            <a:ext cx="10050000" cy="89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3. Aniqlikni kamaytirish. Har ikki baravar kam bit — ko'paytirgich maydoni taxminan 4 baravar kichik (ko'paytirgich murakkabligi bit kengligi kvadratiga proporsional), xotira va…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000" y="5356000"/>
            <a:ext cx="11100000" cy="894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0000" y="5356000"/>
            <a:ext cx="70000" cy="894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000" y="5573000"/>
            <a:ext cx="460000" cy="46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0000" y="5356000"/>
            <a:ext cx="10050000" cy="89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4. Siyraklik. Neyron tarmoqda nollar ko'p (ReLU dan keyin aktivatsiyalar, kesilgan og'irliklar).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6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6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8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8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8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8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00"/>
                            </p:stCondLst>
                            <p:childTnLst>
                              <p:par>
                                <p:cTn id="1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5-REJA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Sun'iy intellekt chiplarini loyihalashning asosiy tamoyillari (2)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2076666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2076666"/>
            <a:ext cx="70000" cy="125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2471666"/>
            <a:ext cx="460000" cy="4600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2076666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5. Masshtablash va interkonnekt. Bitta kristall o'lchami litografiya chegarasi (~858 mm²) bilan cheklangan.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" y="3446666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00" y="3446666"/>
            <a:ext cx="70000" cy="1250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000" y="3841666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3446666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000" b="0">
                <a:solidFill>
                  <a:srgbClr val="1B2430"/>
                </a:solidFill>
                <a:latin typeface="Calibri"/>
              </a:rPr>
              <a:t>6. Dasturiy stek bilan birgalikda loyihalash.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4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62E4D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e3f961dca185849.jpg"/>
          <p:cNvPicPr>
            <a:picLocks noChangeAspect="1"/>
          </p:cNvPicPr>
          <p:nvPr/>
        </p:nvPicPr>
        <p:blipFill>
          <a:blip r:embed="rId2"/>
          <a:srcRect l="21977" r="21977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6558000"/>
            <a:ext cx="5892000" cy="300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0000" y="6558000"/>
            <a:ext cx="5732000" cy="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900" b="0">
                <a:solidFill>
                  <a:srgbClr val="D7E3F4"/>
                </a:solidFill>
                <a:latin typeface="Calibri"/>
              </a:rPr>
              <a:t>Rasm: Wikideas1 · Wikimedia Commons · CC0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0000" y="0"/>
            <a:ext cx="60000" cy="6858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" y="900000"/>
            <a:ext cx="2300000" cy="2300000"/>
          </a:xfrm>
          <a:prstGeom prst="ellipse">
            <a:avLst/>
          </a:prstGeom>
          <a:noFill/>
          <a:ln w="76200">
            <a:solidFill>
              <a:srgbClr val="7F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900000"/>
            <a:ext cx="2300000" cy="230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00000"/>
            <a:ext cx="5200000" cy="16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Zamonaviy tendensiyalar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2200000" cy="6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100000">
                <a:srgbClr val="2D5C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50000" y="-350000"/>
            <a:ext cx="900000" cy="900000"/>
          </a:xfrm>
          <a:prstGeom prst="ellipse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0000" y="450000"/>
            <a:ext cx="420000" cy="4200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0000"/>
            <a:ext cx="103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1">
                <a:solidFill>
                  <a:srgbClr val="A9C4E6"/>
                </a:solidFill>
                <a:latin typeface="Calibri"/>
              </a:rPr>
              <a:t>6-REJA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30000"/>
            <a:ext cx="10400000" cy="6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Zamonaviy tendensiyalar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0000"/>
            <a:ext cx="12192000" cy="45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420000"/>
            <a:ext cx="95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000" b="0">
                <a:solidFill>
                  <a:srgbClr val="5B6878"/>
                </a:solidFill>
                <a:latin typeface="Calibri"/>
              </a:rPr>
              <a:t>M4 · Mashinali o'qitish algoritmlari uchun apparat tezlatkichlari va sun'iy intellekt chiplarini loyihalash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420000"/>
            <a:ext cx="1100000" cy="3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/>
            <a:r>
              <a:rPr sz="1000" b="0">
                <a:solidFill>
                  <a:srgbClr val="5B687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2533333"/>
            <a:ext cx="11100000" cy="1250000"/>
          </a:xfrm>
          <a:prstGeom prst="roundRect">
            <a:avLst>
              <a:gd name="adj" fmla="val 1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000" y="2533333"/>
            <a:ext cx="70000" cy="1250000"/>
          </a:xfrm>
          <a:prstGeom prst="rect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000" y="2928333"/>
            <a:ext cx="460000" cy="460000"/>
          </a:xfrm>
          <a:prstGeom prst="ellipse">
            <a:avLst/>
          </a:prstGeom>
          <a:solidFill>
            <a:srgbClr val="2D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2533333"/>
            <a:ext cx="10050000" cy="1250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Birinchi tendensiya — transformer uchun ixtisoslashuv: FP8/FP4 formatlar, Transformer Engine, diqqat mexanizmi uchun maxsus yadrolar (FlashAttention apparat bilan birgalikda), katta KV-kesh uchun xotira sig'imi (B200 192 GB, MI300X 192 GB, MI325X 256 GB).…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6E80"/>
              </a:gs>
              <a:gs pos="100000">
                <a:srgbClr val="142845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00000" y="3900000"/>
            <a:ext cx="3600000" cy="3600000"/>
          </a:xfrm>
          <a:prstGeom prst="ellipse">
            <a:avLst/>
          </a:prstGeom>
          <a:solidFill>
            <a:srgbClr val="244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00000"/>
            <a:ext cx="10800000" cy="11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E’tiboringiz uchun rahmat!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200000"/>
            <a:ext cx="10800000" cy="5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>
                <a:solidFill>
                  <a:srgbClr val="7FD6D7"/>
                </a:solidFill>
                <a:latin typeface="Calibri"/>
              </a:rPr>
              <a:t>Savollar?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4300000"/>
            <a:ext cx="9800000" cy="1200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1600" b="0">
                <a:solidFill>
                  <a:srgbClr val="D7E3F4"/>
                </a:solidFill>
                <a:latin typeface="Calibri"/>
              </a:rPr>
              <a:t>Mavzu matni va materiallar: https://aiscan.airi.uz/ktm/#/c/mis2104/mavzu/M4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
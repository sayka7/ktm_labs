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uchun maxsus yaratilgan apparat vositalarining ichki tuzilishini, ularni loyihalash tamoyillarini va sohadagi asosiy tendensiyalarni o'rgatish; magistrant tezlatkichni «qora quti» sifatida emas, balki aniq muhandislik qarorlari — ma'lumot oqimi, aniqlik, xotira iyerarxiyasi, interkonnekt — majmuasi sifatida tushunishi kerak. Mavzu o'zlashtirilgach, magistrant:</a:t>
            </a:r>
          </a:p>
          <a:p/>
          <a:p>
            <a:r>
              <a:t>Tensor Core ning ishlash prinsipini (matritsa fragmentini aralash aniqlikda bir buyruqda ko'paytirib qo'shish), avlodlar bo'yicha evolyutsiyasini va undan to'liq foydalanish shartlarini tushuntira oladi;</a:t>
            </a:r>
          </a:p>
          <a:p/>
          <a:p>
            <a:r>
              <a:t>AI tezlatkichlarining asosiy sinflarini — GPU ichidagi matritsa bloklari, ma'lumotlar markazi ASIC lari, chekka NPU lar, wafer miqyosidagi va SRAM asosidagi chiplar — tuzilishi va maqsadli yuki bo'yicha farqlaydi;</a:t>
            </a:r>
          </a:p>
          <a:p/>
          <a:p>
            <a:r>
              <a:t>FPGA va ASIC asosidagi SI tizimlarining loyihalash oqimini, afzallik va cheklovlarini taqqoslab, berilgan masala uchun qaysi biri mos kelishini asoslaydi;</a:t>
            </a:r>
          </a:p>
          <a:p/>
          <a:p>
            <a:r>
              <a:t>RISC-V arxitekturasining ochiq buyruqlar to'plami sifatidagi mohiyatini, vektor va maxsus kengaytmalar orqali SI chiplarida tutgan o'rnini tavsiflay oladi;</a:t>
            </a:r>
          </a:p>
          <a:p/>
          <a:p>
            <a:r>
              <a:t>SI chipini loyihalashning asosiy tamoyillarini (ma'lumot oqimi turlari, energiya byudjeti, chiplet, HBM, siyraklik, past aniqlik) va zamonaviy tendensiyalarni tahlil qilib, sistolik massivni dasturiy simulyatsiya qilish va Tensor Core unumdorligini o'lchash orqali ularni amalda tekshiradi.</a:t>
            </a:r>
          </a:p>
          <a:p/>
          <a:p>
            <a:r>
              <a:t>Mavzu fanning TN3 (AI tezlatkichlaridan samarali foydalanish usullarini bilish) va TN1 (apparat–dasturiy integratsiya) ta'lim natijalariga xizmat qiladi, A2 amaliy mashg'ulotidagi «Tensor Core va AI acceleratorlarning samaradorligini baholash» vazifasiga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uchun maxsus yaratilgan apparat vositalarining ichki tuzilishini, ularni loyihalash tamoyillarini va sohadagi asosiy tendensiyalarni o'rgatish; magistrant tezlatkichni «qora quti» sifatida emas, balki aniq muhandislik qarorlari — ma'lumot oqimi, aniqlik, xotira iyerarxiyasi, interkonnekt — majmuasi sifatida tushunishi kerak. Mavzu o'zlashtirilgach, magistrant:</a:t>
            </a:r>
          </a:p>
          <a:p/>
          <a:p>
            <a:r>
              <a:t>Tensor Core ning ishlash prinsipini (matritsa fragmentini aralash aniqlikda bir buyruqda ko'paytirib qo'shish), avlodlar bo'yicha evolyutsiyasini va undan to'liq foydalanish shartlarini tushuntira oladi;</a:t>
            </a:r>
          </a:p>
          <a:p/>
          <a:p>
            <a:r>
              <a:t>AI tezlatkichlarining asosiy sinflarini — GPU ichidagi matritsa bloklari, ma'lumotlar markazi ASIC lari, chekka NPU lar, wafer miqyosidagi va SRAM asosidagi chiplar — tuzilishi va maqsadli yuki bo'yicha farqlaydi;</a:t>
            </a:r>
          </a:p>
          <a:p/>
          <a:p>
            <a:r>
              <a:t>FPGA va ASIC asosidagi SI tizimlarining loyihalash oqimini, afzallik va cheklovlarini taqqoslab, berilgan masala uchun qaysi biri mos kelishini asoslaydi;</a:t>
            </a:r>
          </a:p>
          <a:p/>
          <a:p>
            <a:r>
              <a:t>RISC-V arxitekturasining ochiq buyruqlar to'plami sifatidagi mohiyatini, vektor va maxsus kengaytmalar orqali SI chiplarida tutgan o'rnini tavsiflay oladi;</a:t>
            </a:r>
          </a:p>
          <a:p/>
          <a:p>
            <a:r>
              <a:t>SI chipini loyihalashning asosiy tamoyillarini (ma'lumot oqimi turlari, energiya byudjeti, chiplet, HBM, siyraklik, past aniqlik) va zamonaviy tendensiyalarni tahlil qilib, sistolik massivni dasturiy simulyatsiya qilish va Tensor Core unumdorligini o'lchash orqali ularni amalda tekshiradi.</a:t>
            </a:r>
          </a:p>
          <a:p/>
          <a:p>
            <a:r>
              <a:t>Mavzu fanning TN3 (AI tezlatkichlaridan samarali foydalanish usullarini bilish) va TN1 (apparat–dasturiy integratsiya) ta'lim natijalariga xizmat qiladi, A2 amaliy mashg'ulotidagi «Tensor Core va AI acceleratorlarning samaradorligini baholash» vazifasiga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Kompyuter arxitekturasi tarixida 2016–2017-yillar burilish nuqtasi bo'ldi: Google TPU haqidagi maqolani e'lon qildi, NVIDIA Volta arxitekturasida birinchi Tensor Core larni taqdim etdi, Apple esa telefon chipiga Neural Engine qo'shdi. Shundan beri «sun'iy intellekt chipi» alohida sanoatga aylandi: NVIDIA ma'lumotlar markazi tezlatkichlari bozori yiliga yuz milliard dollardan oshdi, o'nlab startaplar (Cerebras, Groq, Graphcore, SambaNova, Tenstorrent) va barcha yirik bulut provayderlari (Google TPU, AWS Trainium/Inferentia, Microsoft Maia, Meta MTIA) o'z chiplarini yaratdi. Bu jarayonning sababi oddiy: Mur qonuni sekinlashgan sharoitda neyron tarmoq hisoblash talabi har yili bir necha baravar o'sdi va yagona yo'l — apparatni aynan shu yukka ixtisoslashtirish bo'lib qoldi.</a:t>
            </a:r>
          </a:p>
          <a:p/>
          <a:p>
            <a:r>
              <a:t>Ixtisoslashuv qanday ishlaydi? Horowitz (2014) keltirgan 45 nm texnologiya uchun energiya raqamlari buni tushuntiradi: 8-bitli qo'shish 0,03 pJ, 32-bitli suzuvchi nuqtali ko'paytirish 3,7 pJ, 8 KB SRAM dan o'qish 5 pJ, DRAM dan 32 bit o'qish 640 pJ. Demak umumiy maqsadli protsessorda arifmetika energiyaning arzimas qismi — asosiy sarf ma'lumotni xotiradan olib kelish va buyruqni boshqarishga ketadi. Neyron tarmoq uchun chip loyihalovchi ana shu ikki xarajatga hujum qiladi: har olib kelingan ma'lumotni yuzlab marta qayta ishlatadigan tuzilma (sistolik massiv, Tensor Core) va bitta buyruq bilan minglab amal bajaradigan nazorat (matritsa buyruqlari). Qo'shimcha ravishda aniqlik kamaytiriladi (FP32 → FP16 → FP8 → FP4), chunki neyron tarmoq xatoga bardoshli, va har ikki marta kamaytirish energiya va maydonni taxminan 2–4 baravar tejaydi.</a:t>
            </a:r>
          </a:p>
          <a:p/>
          <a:p>
            <a:r>
              <a:t>Shu bilan birga ixtisoslashuvning narxi bor: 5 nm texnologiyada yangi chipni loyihalash yuz millionlab dollar va 2–3 yil talab qiladi, model arxitekturalari esa tezroq o'zgaradi. Shuning uchun GPU (umumiy + ixtisoslashgan bloklar), FPGA (qayta dasturlanadigan), ASIC (to'liq ixtisoslashgan) va RISC-V asosidagi dasturlanadigan yadrolar o'rtasidagi muvozanat — SI chiplari sanoatining markaziy muhandislik masalasi. Ushbu ma'ruza shu masalani tahlil qiladi va amaliy misolda sistolik massivni Python da simulyatsiya qilib, Tensor Core ning real ta'sirini PyTorch da o'lchaydi.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uchun maxsus apparat vositalarini ixtisoslashuv darajasi va joylashuvi bo'yicha tasniflash qulay. Umumiy protsessor ichidagi bloklar — CPU dagi AMX/SVE, GPU dagi Tensor Core: dasturlanadigan mashina ichida matritsa buyrug'i; moslashuvchanlik saqlanadi, samaradorlik oshadi. Ma'lumotlar markazi ASIC lari — TPU, AWS Trainium2 va Inferentia2, Microsoft Maia 100, Meta MTIA: bulut provayderi o'z yuki uchun loyihalagan chip, kompilyator orqali dasturlanadi, umumiy maqsadda ishlatilmaydi. Startap arxitekturalari — Cerebras WSE-3 (butun wafer bitta chip: 4 trillion tranzistor, 900 000 yadro, 44 GB on-chip SRAM, 21 PB/s ichki o'tkazuvchanlik), Groq LPU (deterministik, butunlay SRAM asosidagi, HBM siz, LLM inferensida juda past kechikish), Graphcore IPU (1 472 mustaqil yadro, 900 MB on-chip SRAM, MIMD yondashuv), SambaNova RDU (qayta konfiguratsiyalanadigan ma'lumot oqimi), Tenstorrent (RISC-V asosidagi Tensix yadrolari) — har biri ma'lum yuk uchun GPU dan afzal bo'lishga urinadi. Chekka NPU lar — Apple Neural Engine, Qualcomm Hexagon, Google Edge TPU, Hailo-8 (26 TOPS, 2,5 W): vatt boshiga samaradorlik ustuvor. Qayta dasturlanadigan platformalar — FPGA va moslashuvchan SoC lar (AMD Versal, Intel Agilex).</a:t>
            </a:r>
          </a:p>
          <a:p/>
          <a:p>
            <a:r>
              <a:t>Bu xilma-xillikni birlashtiruvchi narsa — barchasi Sze va hammualliflar [4] tavsiflagan bir xil loyihalash fazosida ishlaydi: hisoblash elementlari massivi (processing elements, PE), ular orasidagi ma'lumot oqimi (dataflow), ko'p darajali on-chip xotira (registr → PE lokal SRAM → global bufer → tashqi DRAM/HBM) va tashqi interkonnekt. Farqlar — bu o'lchovlarning qaysi biriga urg'u berilganida.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NVIDIA GPU ning SM i ichidagi matritsa ko'paytirish bloki. Oddiy CUDA yadrosi bir taktda bitta FMA (fused multiply-add) bajaradi; Tensor Core esa bitta buyruqda kichik matritsa amalini D = A × B + C bajaradi, bu yerda A va B past aniqlikda (FP16, BF16, TF32, INT8, FP8), C va D esa yuqori aniqlikda (FP32 yoki INT32) to'planadi — bu aralash aniqlik (mixed precision) tamoyili: ko'paytirish arzon formatda, yig'indi aniq formatda. Birinchi avlod (Volta, 2017) har Tensor Core da taktiga 4×4×4 FP16 matritsa ko'paytirishni (64 FMA) bajargan, SM da 8 ta Tensor Core bo'lgan.</a:t>
            </a:r>
          </a:p>
          <a:p/>
          <a:p>
            <a:r>
              <a:t>Jadvaldagi TF32 (TensorFloat-32) alohida izohga loyiq: bu 19-bitli format (8 bit eksponenta FP32 kabi, 10 bit mantissa FP16 kabi) bo'lib, FP32 kirish ma'lumotini kod o'zgartirmasdan Tensor Core da hisoblash imkonini beradi — A100 da 19,5 ga qarshi 156 TFLOPS. 2:4 strukturali siyraklik har 4 ta ketma-ket og'irlikdan 2 tasi nol bo'lishini talab qiladi; apparat nollarni o'tkazib yuborib o'tkazuvchanlikni ikki baravar oshiradi — shuning uchun pasportda «siyrak» raqam zichdan ikki baravar katta. Transformer Engine (Hopper) har qatlam uchun FP8 yoki FP16 ni statistika asosida avtomatik tanlab, masshtab koeffitsiyentlarini boshqaradi — bu LLM o'qitishda FP8 ni amaliy qildi.</a:t>
            </a:r>
          </a:p>
          <a:p/>
          <a:p>
            <a:r>
              <a:t>Tensor Core dan foydalanish shartlari co-design uchun muhim: (1) aniqlik — FP32 da Tensor Core faqat TF32 yoqilgan bo'lsa ishlaydi; (2) o'lchamlar — FP16 uchun matritsa o'lchamlari 8 ga, INT8 uchun 16 ga karrali bo'lsa, eng samarali yadro tanlanadi (aks holda qo'shimcha to'ldirish yoki sekin yo'l); (3) xotira joylashuvi — kerakli tartib (masalan, konvolyutsiyalar uchun NHWC/channels_last); (4) yetarli yuk — kichik matritsa Tensor Core ni to'ldirmaydi. Dasturchi uchun kirish nuqtalari: cuBLAS/cuDNN (avtomatik), PyTorch autocast (aralash aniqlik), CUTLASS kutubxonasi (shablonli yadrolar), WMMA/mma.sync buyruqlari (bevosita CUDA da), Triton tili (Python dan yadro yozish).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ASIC (Application-Specific Integrated Circuit) va FPGA — ixtisoslashuvning ikki yo'li: biri kremniyda qotirilgan, ikkinchisi qayta dasturlanadigan. Ularni to'g'ri taqqoslash uchun loyihalash oqimini bilish kerak.</a:t>
            </a:r>
          </a:p>
          <a:p/>
          <a:p>
            <a:r>
              <a:t>ASIC loyihalash oqimi quyidagi bosqichlardan iborat: spetsifikatsiya (yuk tahlili, unumdorlik/energiya/maydon maqsadlari) → arxitektura (PE massivi o'lchami, xotira hajmi, ma'lumot oqimi; odatda tezkor simulyator va analitik modellar bilan) → RTL loyihalash (Verilog/SystemVerilog yoki Chisel kabi yuqori darajali tillarda registrlar darajasidagi tavsif) → funksional verifikatsiya (simulyatsiya, formal usullar; umumiy vaqtning 50–70 % i) → mantiqiy sintez (RTL dan standart yacheykalar tarmog'iga, Synopsys/Cadence vositalari) → fizik loyihalash (joylashtirish va trassalash, vaqt va quvvat tahlili) → tape-out va ishlab chiqarish (TSMC, Samsung; 5/4/3 nm jarayonlar) → chipni sinash va dasturiy stek. Butun sikl 18–36 oy, xarajat ilg'or jarayonda yuz millionlab dollar. Buning evaziga ASIC eng yuqori samaradorlikni beradi: TPU v1 o'z davridagi GPU dan vatt boshiga 30–80 baravar samarali edi; zamonaviy chekka NPU lar 5–20 TOPS/W ga erishadi.</a:t>
            </a:r>
          </a:p>
          <a:p/>
          <a:p>
            <a:r>
              <a:t>FPGA oqimi qisqaroq: RTL yoki HLS (C/C++ dan sintez) → sintez → joylashtirish va trassalash (soatlar) → bitstream yuklash (soniyalar). Xato topilsa, qayta sintez qilinadi — tape-out yo'q. SI uchun FPGA ekotizimi: AMD Vitis AI (tayyor DPU yadrosi — konfiguratsiyalanadigan konvolyutsiya tezlatkichi — va kompilyator), FINN (AMD tadqiqot ramkasi, juda past bitli — hatto binar — tarmoqlarni to'g'ridan-to'g'ri mantiqqa yoyadi), hls4ml (CERN da yaratilgan, fizika detektorlari uchun nanosekundlik kechikishli kichik tarmoqlar), Intel OpenVINO FPGA plagini. Yangi avlod «moslashuvchan SoC» lar — AMD Versal AI Core/AI Edge — dasturlanadigan mantiq yoniga yuzlab VLIW vektor protsessorlari (AI Engine) qo'yadi, bu FPGA ning moslashuvchanligi bilan ASIC ga yaqin zichlikni birlashtiradi.</a:t>
            </a:r>
          </a:p>
          <a:p/>
          <a:p>
            <a:r>
              <a:t>Amaliy qoida: tiraj kichik, kechikish qattiq va kiritish-chiqarish nostandart bo'lsa — FPGA; tiraj millionlab va yuk barqaror bo'lsa — ASIC; yuk tez o'zgaradigan va ekotizim muhim bo'lsa — GPU. Ko'pincha FPGA ASIC uchun prototip bosqichi vazifasini ham bajaradi: arxitektura FPGA da tekshiriladi, so'ng kremniyga o'tkaziladi.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RISC-V — 2010-yilda Kaliforniya universiteti Berklida yaratilgan va hozir RISC-V International (Shveytsariya) tomonidan boshqariladigan ochiq buyruqlar to'plami arxitekturasi (Instruction Set Architecture, ISA). x86 (Intel/AMD) va ARM dan farqli o'laroq, RISC-V dan foydalanish uchun litsenziya to'lovi yo'q va har kim o'z yadrosini loyihalashi mumkin. Arxitektura modulli: kichik majburiy asos (RV32I/RV64I — 40 ta butun sonli buyruq) va ixtiyoriy standart kengaytmalar — M (ko'paytirish/bo'lish), A (atomar), F/D (suzuvchi nuqta), C (siqilgan buyruqlar), V (vektor kengaytmasi, 1.0 versiyasi 2021-yilda tasdiqlangan), shuningdek Zve (o'rnatilgan vektor), Zfh (yarim aniqlik), Zvfh, bit manipulyatsiyasi va kriptografiya kengaytmalari. Eng muhimi — maxsus kengaytmalar uchun rezervlangan buyruq maydoni: chip loyihalovchi o'z matritsa yoki neyron buyruqlarini qo'shib, standart kompilyator (GCC, LLVM) va operatsion tizim bilan mosligini saqlaydi.</a:t>
            </a:r>
          </a:p>
          <a:p/>
          <a:p>
            <a:r>
              <a:t>SI chiplari uchun RISC-V ning jozibasi uch jihatda. Birinchidan, vektor kengaytmasi uzunlikka bog'liq emas (vector-length agnostic): bitta kod 128 bitli chekka yadroda ham, 2048 bitli server yadrosida ham ishlaydi — SIMD ning AVX2/AVX-512 kabi qattiq kengliklaridan farqli. Ikkinchidan, tezlatkich ichidagi boshqaruv yadrolari sifatida: ko'p AI chiplari minglab PE larni boshqarish, DMA ni rejalashtirish, firmware ishga tushirish uchun kichik dasturlanadigan yadrolarga muhtoj, va RISC-V bu uchun bepul, ixcham va moslashuvchan. NVIDIA o'z GPU laridagi mikrokontrollerlarni (ilgari Falcon) RISC-V ga o'tkazganini e'lon qilgan; SiFive ma'lumotiga ko'ra, Google TPU larida SiFive X280 (RISC-V + vektor) yadrolari ishlatiladi. Uchinchidan, butun tezlatkich RISC-V asosida qurilishi mumkin: Tenstorrent ning Wormhole/Blackhole chiplaridagi Tensix yadrolari RISC-V skalyar yadrolar bilan boshqariladigan matritsa bloklaridan iborat; Esperanto ET-SoC-1 1 088 ta vektor/tensor bloklari bilan jihozlangan RISC-V yadrosini bitta chipda birlashtirgan; Alibaba T-Head XuanTie va Andes yadrolari Xitoy va Osiyo chekka NPU larida keng tarqalgan. Akademik ekotizim (ETH Zurich ning PULP platformasi, Berkeley Chisel/Rocket/BOOM, OpenHW CORE-V) esa chip loyihalashni o'rganish va tadqiqot uchun to'liq ochiq zanjirni beradi.</a:t>
            </a:r>
          </a:p>
          <a:p/>
          <a:p>
            <a:r>
              <a:t>RISC-V ning cheklovlari ham bor: ekotizim (kompilyator optimizatsiyalari, operatsion tizim, kutubxonalar) ARM va x86 dan yosh; yuqori unumdorli server yadrolari hali kam; standartlashtirilmagan kengaytmalar fragmentatsiyaga olib kelishi mumkin. Shunga qaramay, SI tezlatkichlari sohasida RISC-V de-fakto standart boshqaruv va vektor yadrosi bo'lib bormoqda.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Sze va hammualliflar [4] hamda Hennessy va Patterson [1] asosida SI chipi loyihalashning oltita tamoyilini ajratish mumkin.</a:t>
            </a:r>
          </a:p>
          <a:p/>
          <a:p>
            <a:r>
              <a:t>1. Ma'lumot oqimi (dataflow) ni tanlash. PE massivida qaysi ma'lumot joyida turadi va qaysi biri harakatlanadi — loyihaning markaziy qarori. Og'irlik-statsionar (weight-stationary, TPU): og'irliklar PE larga yuklanadi va ko'p kirish ustida qayta ishlatiladi; katta paketda samarali. Chiqish-statsionar (output-stationary): har PE bitta chiqish elementini to'playdi, qisman yig'indilar harakatlanmaydi. Kirish-statsionar va satr-statsionar (row-stationary, MIT Eyeriss chipi): konvolyutsiya satrlari PE larda saqlanib, uch turdagi qayta ishlatish muvozanatlanadi. To'g'ri tanlov yukning shakliga bog'liq: LLM inferensida (kichik paket, katta og'irliklar) og'irlik-statsionar oqim og'irliklarni qayta ishlata olmaydi va xotira o'tkazuvchanligi chegara bo'ladi — shuning uchun Groq butun modelni SRAM da saqlaydi.</a:t>
            </a:r>
          </a:p>
          <a:p/>
          <a:p>
            <a:r>
              <a:t>2. Xotira iyerarxiyasi va energiya byudjeti. DRAM murojaati SRAM dan 100 baravar qimmat; loyihaning maqsadi — har DRAM murojaati uchun maksimal amal (arifmetik intensivlik). Buning vositalari: katta on-chip SRAM (Cerebras 44 GB, Graphcore 900 MB, H100 50 MB L2), HBM (3D qatlamli DRAM, chip yoniga 2.5D interpozer orqali ulanadi; HBM3e stek boshiga 1 TB/s dan ortiq), plitkalash (tiling) va qayta ishlatish. Muhandis «TOPS» ni emas, «TOPS/W» va «TOPS/mm²» ni optimallashtiradi.</a:t>
            </a:r>
          </a:p>
          <a:p/>
          <a:p>
            <a:r>
              <a:t>3. Aniqlikni kamaytirish. Har ikki baravar kam bit — ko'paytirgich maydoni taxminan 4 baravar kichik (ko'paytirgich murakkabligi bit kengligi kvadratiga proporsional), xotira va o'tkazuvchanlik 2 baravar tejaladi. Shuning uchun avlodlar FP32 → FP16/BF16 → INT8 → FP8 → FP4 yo'lidan bordi; chip loyihasida bu bir vaqtning o'zida bir nechta formatni qo'llab-quvvatlovchi va ularni birlashtira oladigan ko'paytirgichlarni talab qiladi.</a:t>
            </a:r>
          </a:p>
          <a:p/>
          <a:p>
            <a:r>
              <a:t>4. Siyraklik. Neyron tarmoqda nollar ko'p (ReLU dan keyin aktivatsiyalar, kesilgan og'irliklar). Apparat nollarni o'tkazib yuborsa (zero-skipping) yoki strukturali siyraklikni (2:4) qo'llasa, samarali o'tkazuvchanlik oshadi; narxi — indekslarni saqlash va murakkabroq rejalashtirish.</a:t>
            </a:r>
          </a:p>
          <a:p/>
          <a:p>
            <a:r>
              <a:t>5. Masshtablash va interkonnekt. Bitta kristall o'lchami litografiya chegarasi (~858 mm²) bilan cheklangan. Yechimlar: chiplet — bir nechta kichik kristallni bitta paketda birlashtirish (AMD MI300X 8 ta hisoblash chipleti + 4 ta kiritish-chiqarish chipleti, NVIDIA Blackwell 2 kristall 10 TB/s ko'prik bilan; UCIe ochiq standarti 2022), wafer miqyosi (Cerebras), chipdan tashqarida NVLink/NVSwitch, ICI (TPU 3D torus), optik interkonnekt (co-packaged optics — yaqin kelajak).</a:t>
            </a:r>
          </a:p>
          <a:p/>
          <a:p>
            <a:r>
              <a:t>6. Dasturiy stek bilan birgalikda loyihalash. Chip kompilyatorsiz foydasiz. TPU — XLA bilan, Tensor Core — cuBLAS/cuDNN/CUTLASS bilan, NPU lar — o'z SDK lari bilan birga loyihalanadi. Bugungi kunda MLIR va OpenXLA kabi umumiy kompilyator infratuzilmalari yangi chip uchun dasturiy stek yaratish vaqtini qisqartirmoqda; Triton esa yadro yozishni demokratlashtirmoqda.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Sze va hammualliflar [4] hamda Hennessy va Patterson [1] asosida SI chipi loyihalashning oltita tamoyilini ajratish mumkin.</a:t>
            </a:r>
          </a:p>
          <a:p/>
          <a:p>
            <a:r>
              <a:t>1. Ma'lumot oqimi (dataflow) ni tanlash. PE massivida qaysi ma'lumot joyida turadi va qaysi biri harakatlanadi — loyihaning markaziy qarori. Og'irlik-statsionar (weight-stationary, TPU): og'irliklar PE larga yuklanadi va ko'p kirish ustida qayta ishlatiladi; katta paketda samarali. Chiqish-statsionar (output-stationary): har PE bitta chiqish elementini to'playdi, qisman yig'indilar harakatlanmaydi. Kirish-statsionar va satr-statsionar (row-stationary, MIT Eyeriss chipi): konvolyutsiya satrlari PE larda saqlanib, uch turdagi qayta ishlatish muvozanatlanadi. To'g'ri tanlov yukning shakliga bog'liq: LLM inferensida (kichik paket, katta og'irliklar) og'irlik-statsionar oqim og'irliklarni qayta ishlata olmaydi va xotira o'tkazuvchanligi chegara bo'ladi — shuning uchun Groq butun modelni SRAM da saqlaydi.</a:t>
            </a:r>
          </a:p>
          <a:p/>
          <a:p>
            <a:r>
              <a:t>2. Xotira iyerarxiyasi va energiya byudjeti. DRAM murojaati SRAM dan 100 baravar qimmat; loyihaning maqsadi — har DRAM murojaati uchun maksimal amal (arifmetik intensivlik). Buning vositalari: katta on-chip SRAM (Cerebras 44 GB, Graphcore 900 MB, H100 50 MB L2), HBM (3D qatlamli DRAM, chip yoniga 2.5D interpozer orqali ulanadi; HBM3e stek boshiga 1 TB/s dan ortiq), plitkalash (tiling) va qayta ishlatish. Muhandis «TOPS» ni emas, «TOPS/W» va «TOPS/mm²» ni optimallashtiradi.</a:t>
            </a:r>
          </a:p>
          <a:p/>
          <a:p>
            <a:r>
              <a:t>3. Aniqlikni kamaytirish. Har ikki baravar kam bit — ko'paytirgich maydoni taxminan 4 baravar kichik (ko'paytirgich murakkabligi bit kengligi kvadratiga proporsional), xotira va o'tkazuvchanlik 2 baravar tejaladi. Shuning uchun avlodlar FP32 → FP16/BF16 → INT8 → FP8 → FP4 yo'lidan bordi; chip loyihasida bu bir vaqtning o'zida bir nechta formatni qo'llab-quvvatlovchi va ularni birlashtira oladigan ko'paytirgichlarni talab qiladi.</a:t>
            </a:r>
          </a:p>
          <a:p/>
          <a:p>
            <a:r>
              <a:t>4. Siyraklik. Neyron tarmoqda nollar ko'p (ReLU dan keyin aktivatsiyalar, kesilgan og'irliklar). Apparat nollarni o'tkazib yuborsa (zero-skipping) yoki strukturali siyraklikni (2:4) qo'llasa, samarali o'tkazuvchanlik oshadi; narxi — indekslarni saqlash va murakkabroq rejalashtirish.</a:t>
            </a:r>
          </a:p>
          <a:p/>
          <a:p>
            <a:r>
              <a:t>5. Masshtablash va interkonnekt. Bitta kristall o'lchami litografiya chegarasi (~858 mm²) bilan cheklangan. Yechimlar: chiplet — bir nechta kichik kristallni bitta paketda birlashtirish (AMD MI300X 8 ta hisoblash chipleti + 4 ta kiritish-chiqarish chipleti, NVIDIA Blackwell 2 kristall 10 TB/s ko'prik bilan; UCIe ochiq standarti 2022), wafer miqyosi (Cerebras), chipdan tashqarida NVLink/NVSwitch, ICI (TPU 3D torus), optik interkonnekt (co-packaged optics — yaqin kelajak).</a:t>
            </a:r>
          </a:p>
          <a:p/>
          <a:p>
            <a:r>
              <a:t>6. Dasturiy stek bilan birgalikda loyihalash. Chip kompilyatorsiz foydasiz. TPU — XLA bilan, Tensor Core — cuBLAS/cuDNN/CUTLASS bilan, NPU lar — o'z SDK lari bilan birga loyihalanadi. Bugungi kunda MLIR va OpenXLA kabi umumiy kompilyator infratuzilmalari yangi chip uchun dasturiy stek yaratish vaqtini qisqartirmoqda; Triton esa yadro yozishni demokratlashtirmoqda.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Birinchi tendensiya — transformer uchun ixtisoslashuv: FP8/FP4 formatlar, Transformer Engine, diqqat mexanizmi uchun maxsus yadrolar (FlashAttention apparat bilan birgalikda), katta KV-kesh uchun xotira sig'imi (B200 192 GB, MI300X 192 GB, MI325X 256 GB). Ikkinchi — xotira devori bilan kurash: HBM3e va kelayotgan HBM4, xotira yaqinida hisoblash (processing-near-memory), SRAM asosidagi inferens chiplari, analog xotirada hisoblash (in-memory computing — tadqiqot bosqichida, M15 da). Uchinchi — chiplet va ilg'or qadoqlash (TSMC CoWoS, 3D stacking) yangi masshtablash yo'li sifatida; CoWoS sig'imi 2023–2025-yillarda AI chiplari yetkazib berishning asosiy to'sig'i bo'ldi. To'rtinchi — bulut provayderlarining o'z chiplari (TPU, Trainium, Maia, MTIA) NVIDIA ga bog'liqlikni kamaytirish uchun. Beshinchi — ochiq apparat: RISC-V, OpenTitan, ochiq EDA vositalari (OpenROAD), Google ning ochiq shuttle dasturlari — chip loyihalash to'sig'ini pasaytirmoqda. Oltinchi — energiya va sovutish: GPU quvvati 400 → 700 → 1 000+ W, stoyka 120 kW, suyuqlik bilan sovutish majburiy; energiya samaradorligi chip loyihalashning asosiy mezoniga aylandi (Green AI, M15).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ikki qismdan iborat. Birinchi qismda sistolik massiv NumPy da takt-ma-takt simulyatsiya qilinib, ma'lumot oqimi, takt soni va foydalanish koeffitsiyenti o'rganiladi — bu TPU va Tensor Core ning ichki mantig'ini «qo'l bilan» his qilish imkonini beradi. Ikkinchi qismda PyTorch da Tensor Core ning real ta'siri o'lchanadi: aniqlik rejimlari va matritsa o'lchamlarining 8 ga karraliligi unumdorlikka qanday ta'sir qilishi. Birinchi qism faqat CPU talab qiladi; ikkinchisi uchun Tensor Core li GPU (T4, A100, H100 yoki istalgan RTX) kerak.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kod N×N o'lchamli chiqish-statsionar sistolik massivni modellashtiradi: A matritsasining satrlari chapdan, B matritsasining ustunlari yuqoridan har taktda bitta qadam siljiydi; (i, j) pozitsiyadagi PE o'ziga kelgan a va b ni ko'paytirib, o'z akkumulyatoriga qo'shadi va qiymatlarni qo'shnisiga uzatadi. Kirishlar «qiyshaytirilgan» (skewed): i-satr i takt kechikish bilan boshlanadi, shunda to'g'ri juftliklar bir vaqtda uchrashadi.</a:t>
            </a:r>
          </a:p>
          <a:p/>
          <a:p>
            <a:r>
              <a:t>Kutilgan natija:</a:t>
            </a:r>
          </a:p>
          <a:p/>
          <a:p>
            <a:r>
              <a:t>Nima bo'ldi va nega. Simulyator natijaning to'g'riligini A @ B bilan tasdiqladi — demak qiyshaytirish va sistolik uzatish mantig'i to'g'ri. Asosiy kuzatuvlar: (1) 8×8 blok uchun 8 ta foydali taktga 14 ta to'ldirish/bo'shatish takti qo'shiladi — kichik matritsa massivni 36 % band qiladi; (2) K = 64 bo'lganda to'ldirish xarajati amortizatsiya bo'lib, foydalanish 82 % ga ko'tariladi — sistolik massiv uzun ichki o'lcham (K) ni yaxshi ko'radi; (3) M = P = 100 (8 ga karrali emas) bo'lganda oxirgi bloklar to'ldirilmagan (4 satr/ustun bo'sh) va foydalanish 76 % ga tushadi — bu Tensor Core uchun «8 ga karrali» tavsiyasining aynan sababi; (4) K = 1 (matritsa-vektor ko'paytirishga yaqin, LLM dekodlash bosqichidagi kabi) da foydalanish 7 % — massiv deyarli bo'sh, chunki har og'irlik faqat bir marta ishlatiladi; bunday yuk hisoblash bilan emas, xotira bilan cheklanadi. Real TPU da N = 128, shuning uchun to'ldirish xarajati nisbatan kichik, lekin kichik paketli inferensda muammo aynan shunday qoladi.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Simulyatorni o'zgartirib, N ni 4, 8, 16 qilib bir xil 64×64×64 masala uchun takt sonini solishtiring: K + 2N − 2 to'ldirish narxi N bilan o'sadi, lekin bloklar soni (64/N)² kamayadi; umumiy takt ≈ (64/N)² × (64 + 2N − 2): N = 4 da 17 920, N = 8 da 4 992, N = 16 da 1 504. Katta massiv tezroq, lekin uni to'ldirish uchun kattaroq matritsalar kerak — bu TPU v1 ning 256×256 massivdan keyingi avlodlarda 128×128 ga o'tishining sababi: kichikroq massivlar ko'proq yuklarda to'la ishlaydi.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(NVIDIA A100 40 GB):</a:t>
            </a:r>
          </a:p>
          <a:p/>
          <a:p>
            <a:r>
              <a:t>T4 da raqamlar taxminan 5–7 baravar kichik (FP16 Tensor Core 30–45 TFLOPS), H100 da 2,5–3 baravar katta; nisbatlar o'xshash saqlanadi.</a:t>
            </a:r>
          </a:p>
          <a:p/>
          <a:p>
            <a:r>
              <a:t>Nima bo'ldi va nega. Birinchi blok Tensor Core ning mohiyatini ko'rsatadi: bir xil GPU, bir xil kod, faqat allow_tf32 bayrog'i — 6 baravar farq; FP16 ga o'tish 14 baravar. Bu CUDA yadrolari va Tensor Core larning alohida apparat ekanining bevosita isboti. Ikkinchi blok sistolik simulyatsiyadagi xulosani tasdiqlaydi: 4095 o'lchamda cuBLAS 8 ga karrali bo'lmagan matritsa uchun sekinroq yadro tanlaydi yoki to'ldirish (padding) qiladi — 25–40 % yo'qotish bitta element tufayli; amalda bu embedding o'lchami, boshlar soni, so'z boyligi hajmini 8 (yoki 64) ga karrali tanlash tavsiyasini beradi. Uchinchi blok esa n = 64 da GPU imkoniyatining 1 % idan kamini ko'rsatadi — simulyatordagi «kichik matritsa massivni to'ldirmaydi» holati bilan bir xil sabab, yadro ishga tushirish xarajati qo'shilgan holda.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Tezlik yagona mezon emas. torch.float16 da a @ b natijasini torch.float64 etalon bilan solishtiring: ((c16.double() - c64).abs().max() / c64.abs().max()) nisbiy xato FP32 uchun ~10⁻⁶, TF32 uchun ~10⁻³, FP16 uchun ~10⁻³, BF16 uchun ~10⁻² tartibda chiqadi (akkumulyatsiya FP32 da bo'lgani uchun xato kirish aniqligiga mos). Neyron tarmoq o'qitish uchun bu yetarli (aralash aniqlik standart amaliyot), lekin ilmiy hisoblash yoki moliyaviy hisob uchun emas — shuning uchun chip loyihalovchi FP64 Tensor Core ni (Ampere da qo'shilgan) alohida saqlaydi.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qism bir-birini to'ldiradi: simulyator nima uchun ni, benchmark qanchaga ni ko'rsatadi. Sistolik massiv modelidan uchta tuzilmaviy xulosa kelib chiqadi va uchalasi ham real apparatda o'lchandi. Birinchi: ixtisoslashgan matritsa bloki faqat katta va to'g'ri shaklli yukda samarali — o'lchamlar massiv o'lchamiga karrali, ichki o'lcham K uzun. Ikkinchi: matritsa-vektor tipidagi yuk (K yoki paket kichik) massivni bo'sh qoldiradi; bu LLM dekodlash bosqichida H100 ning ham pasportining 5–10 % ida ishlashining sababi va Groq kabi SRAM asosidagi arxitekturalar hamda spekulyativ dekodlash kabi algoritmik yechimlar aynan shu muammoga javob. Uchinchi: aniqlik rejimi apparat yo'lini butunlay o'zgartiradi, va dasturchi buni aniq boshqarishi kerak — PyTorch ning standart sozlamalari (matmul uchun TF32 o'chiq, konvolyutsiya uchun yoqiq) ongli ravishda tanlanmasa, unumdorlikning 6 baravari «stolda qoladi».</a:t>
            </a:r>
          </a:p>
          <a:p/>
          <a:p>
            <a:r>
              <a:t>Chip loyihalash nuqtai nazaridan natijalar savdolashuvlarni ko'rsatadi. Massiv kattalashsa pik unumdorlik oshadi, lekin to'ldirish qiyinlashadi — TPU 256 dan 128 ga tushdi, NVIDIA esa katta massiv o'rniga SM boshiga 4 ta kichik Tensor Core va warp darajasidagi moslashuvchan rejalashtirishni tanladi. FP8/FP4 ga o'tish pik ni ikki-to'rt baravar oshiradi, lekin masshtablash koeffitsiyentlari, dinamik diapazon va aniqlik yo'qotishini boshqarish uchun Transformer Engine kabi qo'shimcha mantiq va dasturiy stek kerak. Har qanday pasport raqami — bu ideal yuk uchun; muhandisning vazifasi o'z yukini ana shu idealga yaqinlashtirish (paketlash, o'lchamlarni tekislash, aniqlikni kamaytirish, yadrolarni birlashtirish) yoki boshqa arxitektura tanlash.</a:t>
            </a:r>
          </a:p>
          <a:p/>
          <a:p>
            <a:r>
              <a:t>Cheklovlar: simulyator funksional — vaqt, energiya va xotira o'tkazuvchanligini modellashtirmaydi (buning uchun SCALE-Sim, Timeloop kabi akademik vositalar bor); benchmark faqat kvadrat GEMM (real qatlamlarda shakllar notekis); FP8 o'lchanmadi (H100 da torch._scaled_mm orqali sinash mumkin). Muqobil yondashuvlar: Triton da o'z matmul yadrosini yozib plitkalash va Tensor Core buyruqlarini bevosita ko'rish; CUTLASS profilerini ishlatib yadro variantlarini solishtirish; Nsight Compute bilan Tensor Core bandligini («Tensor pipe utilization») o'lchash; FPGA ga kirish uchun hls4ml yoki FINN bilan kichik tarmoqni sintez qilish.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avtomatik ishlaydi deb o'ylash. FP32 kodda TF32 yoqilmagan bo'lsa, GPU oddiy CUDA yadrolarida ishlaydi. torch.backends.cuda.matmul.allow_tf32 = True (yoki torch.set_float32_matmul_precision("high")) va autocast ni ongli ravishda yoqing, aniqlik talabini tekshiring.</a:t>
            </a:r>
          </a:p>
          <a:p/>
          <a:p>
            <a:r>
              <a:t>O'lchamlarni tekislamaslik. Embedding, yashirin qatlam, so'z boyligi, paket va ketma-ketlik uzunligi 8 ga (INT8 da 16 ga, ideal holda 64 ga) karrali bo'lsin. GPT-3 da so'z boyligi 50 257 dan 50 304 ga to'ldirilgani bejiz emas.</a:t>
            </a:r>
          </a:p>
          <a:p/>
          <a:p>
            <a:r>
              <a:t>Xotira tartibini e'tiborsiz qoldirish. Konvolyutsiyalar uchun channels_last (NHWC) Tensor Core yadrolarini qo'shimcha transpozitsiyasiz ishlatadi; NCHW da yashirin nusxalash bo'lishi mumkin.</a:t>
            </a:r>
          </a:p>
          <a:p/>
          <a:p>
            <a:r>
              <a:t>Kichik yukda Tensor Core kutish. Paket 1 va kichik matritsalarda ixtisoslashgan blok bo'sh turadi. Paketlang, CUDA Graph ishlating, bir nechta kichik GEMM ni bitta guruhli (batched/grouped) GEMM ga birlashtiring.</a:t>
            </a:r>
          </a:p>
          <a:p/>
          <a:p>
            <a:r>
              <a:t>Siyrak pasportni zich yukka qo'llash. 2:4 siyraklik faqat model maxsus kesilgan (pruned) va mos formatga o'tkazilgan bo'lsa ishlaydi. Oddiy model siyrak raqamning yarmini oladi.</a:t>
            </a:r>
          </a:p>
          <a:p/>
          <a:p>
            <a:r>
              <a:t>FPGA/ASIC ni kompilyator ekotizimisiz tanlash. Chip qanchalik samarali bo'lmasin, operatorlar qo'llab-quvvatlanmasa yoki profiler bo'lmasa, loyiha muhandislik xarajatida yutqazadi. Avval dasturiy stekni o'z modelingiz bilan sinang.</a:t>
            </a:r>
          </a:p>
          <a:p/>
          <a:p>
            <a:r>
              <a:t>RISC-V ni «bepul ARM» deb tushunish. Ochiq ISA yadro loyihasini bermaydi; yadro yoki sotib olinadi (SiFive, Andes), yoki ochiq loyiha (Rocket, CVA6) moslashtiriladi, yoki o'zi loyihalanadi. Afzallik — moslashuvchanlik va maxsus kengaytmalar, bepullik emas.</a:t>
            </a:r>
          </a:p>
          <a:p/>
          <a:p>
            <a:r>
              <a:t>Aniqlikni kamaytirishda masshtablashni unutish. FP8 va INT8 da tensor masshtabi (per-tensor yoki per-channel) noto'g'ri tanlansa, to'lib ketish (overflow) yoki nolga yaqin qiymatlarning yo'qolishi modelni buzadi. Kalibrlash va Transformer Engine uslubidagi dinamik masshtablashdan foydalaning (M8).</a:t>
            </a:r>
          </a:p>
          <a:p/>
          <a:p>
            <a:r>
              <a:t>Xotira o'tkazuvchanligini hisoblash bilan almashtirish. Tezlatkichning piki arifmetik intensivligi yuqori yukda erishiladi; LLM dekodlash kabi past intensivlikli yuk uchun xotira o'tkazuvchanligi va sig'imi (HBM hajmi, SRAM) ni asosiy tanlov mezoni qiling (M10, Roofline).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avtomatik ishlaydi deb o'ylash. FP32 kodda TF32 yoqilmagan bo'lsa, GPU oddiy CUDA yadrolarida ishlaydi. torch.backends.cuda.matmul.allow_tf32 = True (yoki torch.set_float32_matmul_precision("high")) va autocast ni ongli ravishda yoqing, aniqlik talabini tekshiring.</a:t>
            </a:r>
          </a:p>
          <a:p/>
          <a:p>
            <a:r>
              <a:t>O'lchamlarni tekislamaslik. Embedding, yashirin qatlam, so'z boyligi, paket va ketma-ketlik uzunligi 8 ga (INT8 da 16 ga, ideal holda 64 ga) karrali bo'lsin. GPT-3 da so'z boyligi 50 257 dan 50 304 ga to'ldirilgani bejiz emas.</a:t>
            </a:r>
          </a:p>
          <a:p/>
          <a:p>
            <a:r>
              <a:t>Xotira tartibini e'tiborsiz qoldirish. Konvolyutsiyalar uchun channels_last (NHWC) Tensor Core yadrolarini qo'shimcha transpozitsiyasiz ishlatadi; NCHW da yashirin nusxalash bo'lishi mumkin.</a:t>
            </a:r>
          </a:p>
          <a:p/>
          <a:p>
            <a:r>
              <a:t>Kichik yukda Tensor Core kutish. Paket 1 va kichik matritsalarda ixtisoslashgan blok bo'sh turadi. Paketlang, CUDA Graph ishlating, bir nechta kichik GEMM ni bitta guruhli (batched/grouped) GEMM ga birlashtiring.</a:t>
            </a:r>
          </a:p>
          <a:p/>
          <a:p>
            <a:r>
              <a:t>Siyrak pasportni zich yukka qo'llash. 2:4 siyraklik faqat model maxsus kesilgan (pruned) va mos formatga o'tkazilgan bo'lsa ishlaydi. Oddiy model siyrak raqamning yarmini oladi.</a:t>
            </a:r>
          </a:p>
          <a:p/>
          <a:p>
            <a:r>
              <a:t>FPGA/ASIC ni kompilyator ekotizimisiz tanlash. Chip qanchalik samarali bo'lmasin, operatorlar qo'llab-quvvatlanmasa yoki profiler bo'lmasa, loyiha muhandislik xarajatida yutqazadi. Avval dasturiy stekni o'z modelingiz bilan sinang.</a:t>
            </a:r>
          </a:p>
          <a:p/>
          <a:p>
            <a:r>
              <a:t>RISC-V ni «bepul ARM» deb tushunish. Ochiq ISA yadro loyihasini bermaydi; yadro yoki sotib olinadi (SiFive, Andes), yoki ochiq loyiha (Rocket, CVA6) moslashtiriladi, yoki o'zi loyihalanadi. Afzallik — moslashuvchanlik va maxsus kengaytmalar, bepullik emas.</a:t>
            </a:r>
          </a:p>
          <a:p/>
          <a:p>
            <a:r>
              <a:t>Aniqlikni kamaytirishda masshtablashni unutish. FP8 va INT8 da tensor masshtabi (per-tensor yoki per-channel) noto'g'ri tanlansa, to'lib ketish (overflow) yoki nolga yaqin qiymatlarning yo'qolishi modelni buzadi. Kalibrlash va Transformer Engine uslubidagi dinamik masshtablashdan foydalaning (M8).</a:t>
            </a:r>
          </a:p>
          <a:p/>
          <a:p>
            <a:r>
              <a:t>Xotira o'tkazuvchanligini hisoblash bilan almashtirish. Tezlatkichning piki arifmetik intensivligi yuqori yukda erishiladi; LLM dekodlash kabi past intensivlikli yuk uchun xotira o'tkazuvchanligi va sig'imi (HBM hajmi, SRAM) ni asosiy tanlov mezoni qiling (M10, Roofline).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da ko'paytirish FP16 da, yig'indi FP32 da bajariladi. Nega aynan shunday taqsimot? Yig'indini ham FP16 da bajarsak qanday muammo yuzaga keladi?</a:t>
            </a:r>
          </a:p>
          <a:p/>
          <a:p>
            <a:r>
              <a:t>Simulyatorda K = 1 bo'lganda foydalanish 7 % ga tushdi. Bu holat qaysi real SI yukiga mos keladi va chip loyihalovchilar hamda algoritm mualliflari unga qanday javob berishgan?</a:t>
            </a:r>
          </a:p>
          <a:p/>
          <a:p>
            <a:r>
              <a:t>TPU birinchi avlodda 256×256, keyingilarida 128×128 massiv ishlatdi. Simulyatsiya natijalari asosida bu qarorning afzallik va kamchiliklarini tushuntiring.</a:t>
            </a:r>
          </a:p>
          <a:p/>
          <a:p>
            <a:r>
              <a:t>2:4 strukturali siyraklik va strukturasiz siyraklik apparat uchun nima bilan farq qiladi? Nega NVIDIA aynan strukturali variantni tanlagan?</a:t>
            </a:r>
          </a:p>
          <a:p/>
          <a:p>
            <a:r>
              <a:t>ASIC loyihalash sikli 2–3 yil, model arxitekturalari esa har yili o'zgaradi. Chip loyihalovchi bu ziddiyatni qanday boshqaradi? Hopper dagi Transformer Engine shu nuqtai nazardan nimani anglatadi?</a:t>
            </a:r>
          </a:p>
          <a:p/>
          <a:p>
            <a:r>
              <a:t>FPGA bir xil jarayonda ASIC dan 5–10 baravar kam samarali bo'lsa-da, CERN detektorlari va moliyaviy savdo tizimlari FPGA ni tanlaydi. Bu tanlovni belgilovchi texnik talablarni aniq ayting.</a:t>
            </a:r>
          </a:p>
          <a:p/>
          <a:p>
            <a:r>
              <a:t>RISC-V vektor kengaytmasining «uzunlikka bog'liq emasligi» AVX-512 bilan taqqoslaganda SI dasturiy stekiga qanday afzallik beradi? Qanday kamchiligi bo'lishi mumkin?</a:t>
            </a:r>
          </a:p>
          <a:p/>
          <a:p>
            <a:r>
              <a:t>Og'irlik-statsionar va chiqish-statsionar ma'lumot oqimlarini katta paketli o'qitish va kichik paketli inferens uchun taqqoslang. Har bir holatda qaysi biri kam xotira trafigi beradi?</a:t>
            </a:r>
          </a:p>
          <a:p/>
          <a:p>
            <a:r>
              <a:t>Chiplet yondashuvi (MI300X, Blackwell) monolit kristallga nisbatan qanday muammolarni hal qiladi va qanday yangi muammolar (kechikish, o'tkazuvchanlik, issiqlik) tug'diradi?</a:t>
            </a:r>
          </a:p>
          <a:p/>
          <a:p>
            <a:r>
              <a:t>Benchmarkda n = 4095 o'lchamda 30 % yo'qotish kuzatildi. Transformer modelini loyihalayotganda bu kuzatuvdan kelib chiqadigan kamida to'rtta aniq tavsiya bering.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da ko'paytirish FP16 da, yig'indi FP32 da bajariladi. Nega aynan shunday taqsimot? Yig'indini ham FP16 da bajarsak qanday muammo yuzaga keladi?</a:t>
            </a:r>
          </a:p>
          <a:p/>
          <a:p>
            <a:r>
              <a:t>Simulyatorda K = 1 bo'lganda foydalanish 7 % ga tushdi. Bu holat qaysi real SI yukiga mos keladi va chip loyihalovchilar hamda algoritm mualliflari unga qanday javob berishgan?</a:t>
            </a:r>
          </a:p>
          <a:p/>
          <a:p>
            <a:r>
              <a:t>TPU birinchi avlodda 256×256, keyingilarida 128×128 massiv ishlatdi. Simulyatsiya natijalari asosida bu qarorning afzallik va kamchiliklarini tushuntiring.</a:t>
            </a:r>
          </a:p>
          <a:p/>
          <a:p>
            <a:r>
              <a:t>2:4 strukturali siyraklik va strukturasiz siyraklik apparat uchun nima bilan farq qiladi? Nega NVIDIA aynan strukturali variantni tanlagan?</a:t>
            </a:r>
          </a:p>
          <a:p/>
          <a:p>
            <a:r>
              <a:t>ASIC loyihalash sikli 2–3 yil, model arxitekturalari esa har yili o'zgaradi. Chip loyihalovchi bu ziddiyatni qanday boshqaradi? Hopper dagi Transformer Engine shu nuqtai nazardan nimani anglatadi?</a:t>
            </a:r>
          </a:p>
          <a:p/>
          <a:p>
            <a:r>
              <a:t>FPGA bir xil jarayonda ASIC dan 5–10 baravar kam samarali bo'lsa-da, CERN detektorlari va moliyaviy savdo tizimlari FPGA ni tanlaydi. Bu tanlovni belgilovchi texnik talablarni aniq ayting.</a:t>
            </a:r>
          </a:p>
          <a:p/>
          <a:p>
            <a:r>
              <a:t>RISC-V vektor kengaytmasining «uzunlikka bog'liq emasligi» AVX-512 bilan taqqoslaganda SI dasturiy stekiga qanday afzallik beradi? Qanday kamchiligi bo'lishi mumkin?</a:t>
            </a:r>
          </a:p>
          <a:p/>
          <a:p>
            <a:r>
              <a:t>Og'irlik-statsionar va chiqish-statsionar ma'lumot oqimlarini katta paketli o'qitish va kichik paketli inferens uchun taqqoslang. Har bir holatda qaysi biri kam xotira trafigi beradi?</a:t>
            </a:r>
          </a:p>
          <a:p/>
          <a:p>
            <a:r>
              <a:t>Chiplet yondashuvi (MI300X, Blackwell) monolit kristallga nisbatan qanday muammolarni hal qiladi va qanday yangi muammolar (kechikish, o'tkazuvchanlik, issiqlik) tug'diradi?</a:t>
            </a:r>
          </a:p>
          <a:p/>
          <a:p>
            <a:r>
              <a:t>Benchmarkda n = 4095 o'lchamda 30 % yo'qotish kuzatildi. Transformer modelini loyihalayotganda bu kuzatuvdan kelib chiqadigan kamida to'rtta aniq tavsiya bering.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A2 ga tayyorgarlik). Sistolik simulyatorni kengaytiring: (a) og'irlik-statsionar variantini amalga oshiring (B bloki massivga oldindan yuklanadi, A oqib o'tadi) va ikkala variant uchun turli M, K, P da takt soni hamda «xotiradan o'qilgan element» sonini solishtiring; (b) kamida uchta real qatlam shakli (masalan, ResNet-50 ning 1×1 konvolyutsiyasi im2col dan keyin, BERT-base ning diqqat proyeksiyasi, LLM dekodlashdagi paket = 1 matritsa-vektor) uchun 128×128 massivdagi foydalanishni hisoblang. Imkon bo'lsa, shu shakllarni PyTorch da Tensor Core li GPU da o'lchab, simulyator bashorati bilan solishtiring. Hisobot 3–4 bet, kod ilova qilinadi.</a:t>
            </a:r>
          </a:p>
          <a:p/>
          <a:p>
            <a:r>
              <a:t>Baholash mezoni: simulyatorning to'g'riligi va ikkala oqimning amalga oshirilishi (35 %), real shakllar bo'yicha tahlil (35 %), apparat o'lchovi bilan taqqoslash va tushuntirish (30 %).</a:t>
            </a:r>
          </a:p>
          <a:p/>
          <a:p>
            <a:r>
              <a:t>2-topshiriq (tahliliy, sillabusdagi 3-mustaqil ta'lim topshirig'iga bog'langan). Bitta zamonaviy AI chipini tanlang (masalan, Google TPU v5e, AWS Trainium2, Cerebras WSE-3, Groq LPU, Tenstorrent Wormhole, Hailo-8 yoki AMD Versal AI Edge) va rasmiy hujjatlar hamda nashr etilgan maqolalar asosida uning loyihasini ma'ruzadagi oltita tamoyil bo'yicha tahlil qiling: ma'lumot oqimi, xotira iyerarxiyasi, aniqlik formatlari, siyraklik, interkonnekt/qadoqlash, dasturiy stek. Chipning qaysi yuk uchun optimallashtirilgani va qaysi yukda GPU dan yutqazishini miqdoriy asoslang; RISC-V yoki boshqa boshqaruv yadrolari ishlatilgan bo'lsa, ularning rolini ko'rsating. Hajm 4–5 bet.</a:t>
            </a:r>
          </a:p>
          <a:p/>
          <a:p>
            <a:r>
              <a:t>Baholash mezoni: manbalarning ishonchliligi va to'g'ri keltirilishi (25 %), oltita tamoyil bo'yicha tahlil chuqurligi (45 %), GPU bilan miqdoriy taqqoslash va xulosaning asoslanganligi (30 %).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(sohaga xos arxitekturalar: TPU, Microsoft Catapult FPGA, Pixel Visual Core), A ilova (buyruqlar to'plami tamoyillari, RISC-V).</a:t>
            </a:r>
          </a:p>
          <a:p/>
          <a:p>
            <a:r>
              <a:t>[4] Sze, V., Chen, Y.-H., Yang, T.-J., &amp; Emer, J. S. Efficient Processing of Deep Neural Networks: A Tutorial and Survey. Morgan &amp; Claypool, 2020. — 5–6-boblar (ma'lumot oqimi turlari, Eyeriss), 7–8-boblar (aniqlikni kamaytirish, siyraklik), 10-bob (ilg'or texnologiyalar).</a:t>
            </a:r>
          </a:p>
          <a:p/>
          <a:p>
            <a:r>
              <a:t>[5] Kirk, D. B., &amp; Hwu, W.-M. W. Programming Massively Parallel Processors. 4th Edition. Morgan Kaufmann, 2022. — 3–5-boblar (matritsa ko'paytirish, plitkalash, xotira).</a:t>
            </a:r>
          </a:p>
          <a:p/>
          <a:p>
            <a:r>
              <a:t>[6] NVIDIA Developer Portal — https://developer.nvidia.com (Volta/Ampere/Hopper/Blackwell arxitektura hujjatlari, CUTLASS, Transformer Engine, Tensor Core dasturlash bo'yicha qo'llanmalar).</a:t>
            </a:r>
          </a:p>
          <a:p/>
          <a:p>
            <a:r>
              <a:t>[7] PyTorch rasmiy hujjatlari — https://pytorch.org (CUDA semantikasi, TF32, autocast, aralash aniqlik).</a:t>
            </a:r>
          </a:p>
          <a:p/>
          <a:p>
            <a:r>
              <a:t>Jouppi, N. P., Young, C., Patil, N., et al. In-Datacenter Performance Analysis of a Tensor Processing Unit. ISCA 2017, ACM.</a:t>
            </a:r>
          </a:p>
          <a:p/>
          <a:p>
            <a:r>
              <a:t>Chen, Y.-H., Krishna, T., Emer, J. S., &amp; Sze, V. Eyeriss: An Energy-Efficient Reconfigurable Accelerator for Deep Convolutional Neural Networks. IEEE Journal of Solid-State Circuits, 52(1), 2017.</a:t>
            </a:r>
          </a:p>
          <a:p/>
          <a:p>
            <a:r>
              <a:t>Horowitz, M. Computing's Energy Problem (and what we can do about it). IEEE International Solid-State Circuits Conference (ISSCC) 2014.</a:t>
            </a:r>
          </a:p>
          <a:p/>
          <a:p>
            <a:r>
              <a:t>Waterman, A., &amp; Asanović, K. (eds.). The RISC-V Instruction Set Manual, Volume I: Unprivileged ISA. RISC-V International — https://riscv.org/specifications/.</a:t>
            </a:r>
          </a:p>
          <a:p/>
          <a:p>
            <a:r>
              <a:t>Hennessy, J. L., &amp; Patterson, D. A. A New Golden Age for Computer Architecture. Communications of the ACM, 62(2), 2019.</a:t>
            </a:r>
          </a:p>
          <a:p/>
          <a:p>
            <a:r>
              <a:t>AMD Vitis AI hujjatlari — https://www.amd.com (Vitis AI, DPU, Versal AI Engine).</a:t>
            </a:r>
          </a:p>
          <a:p/>
          <a:p>
            <a:r>
              <a:t>Samajdar, A., Zhu, Y., Whatmough, P., Mattina, M., &amp; Krishna, T. SCALE-Sim: Systolic CNN Accelerator Simulator. arXiv:1811.02883, 2018.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(sohaga xos arxitekturalar: TPU, Microsoft Catapult FPGA, Pixel Visual Core), A ilova (buyruqlar to'plami tamoyillari, RISC-V).</a:t>
            </a:r>
          </a:p>
          <a:p/>
          <a:p>
            <a:r>
              <a:t>[4] Sze, V., Chen, Y.-H., Yang, T.-J., &amp; Emer, J. S. Efficient Processing of Deep Neural Networks: A Tutorial and Survey. Morgan &amp; Claypool, 2020. — 5–6-boblar (ma'lumot oqimi turlari, Eyeriss), 7–8-boblar (aniqlikni kamaytirish, siyraklik), 10-bob (ilg'or texnologiyalar).</a:t>
            </a:r>
          </a:p>
          <a:p/>
          <a:p>
            <a:r>
              <a:t>[5] Kirk, D. B., &amp; Hwu, W.-M. W. Programming Massively Parallel Processors. 4th Edition. Morgan Kaufmann, 2022. — 3–5-boblar (matritsa ko'paytirish, plitkalash, xotira).</a:t>
            </a:r>
          </a:p>
          <a:p/>
          <a:p>
            <a:r>
              <a:t>[6] NVIDIA Developer Portal — https://developer.nvidia.com (Volta/Ampere/Hopper/Blackwell arxitektura hujjatlari, CUTLASS, Transformer Engine, Tensor Core dasturlash bo'yicha qo'llanmalar).</a:t>
            </a:r>
          </a:p>
          <a:p/>
          <a:p>
            <a:r>
              <a:t>[7] PyTorch rasmiy hujjatlari — https://pytorch.org (CUDA semantikasi, TF32, autocast, aralash aniqlik).</a:t>
            </a:r>
          </a:p>
          <a:p/>
          <a:p>
            <a:r>
              <a:t>Jouppi, N. P., Young, C., Patil, N., et al. In-Datacenter Performance Analysis of a Tensor Processing Unit. ISCA 2017, ACM.</a:t>
            </a:r>
          </a:p>
          <a:p/>
          <a:p>
            <a:r>
              <a:t>Chen, Y.-H., Krishna, T., Emer, J. S., &amp; Sze, V. Eyeriss: An Energy-Efficient Reconfigurable Accelerator for Deep Convolutional Neural Networks. IEEE Journal of Solid-State Circuits, 52(1), 2017.</a:t>
            </a:r>
          </a:p>
          <a:p/>
          <a:p>
            <a:r>
              <a:t>Horowitz, M. Computing's Energy Problem (and what we can do about it). IEEE International Solid-State Circuits Conference (ISSCC) 2014.</a:t>
            </a:r>
          </a:p>
          <a:p/>
          <a:p>
            <a:r>
              <a:t>Waterman, A., &amp; Asanović, K. (eds.). The RISC-V Instruction Set Manual, Volume I: Unprivileged ISA. RISC-V International — https://riscv.org/specifications/.</a:t>
            </a:r>
          </a:p>
          <a:p/>
          <a:p>
            <a:r>
              <a:t>Hennessy, J. L., &amp; Patterson, D. A. A New Golden Age for Computer Architecture. Communications of the ACM, 62(2), 2019.</a:t>
            </a:r>
          </a:p>
          <a:p/>
          <a:p>
            <a:r>
              <a:t>AMD Vitis AI hujjatlari — https://www.amd.com (Vitis AI, DPU, Versal AI Engine).</a:t>
            </a:r>
          </a:p>
          <a:p/>
          <a:p>
            <a:r>
              <a:t>Samajdar, A., Zhu, Y., Whatmough, P., Mattina, M., &amp; Krishna, T. SCALE-Sim: Systolic CNN Accelerator Simulator. arXiv:1811.02883, 2018.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(sohaga xos arxitekturalar: TPU, Microsoft Catapult FPGA, Pixel Visual Core), A ilova (buyruqlar to'plami tamoyillari, RISC-V).</a:t>
            </a:r>
          </a:p>
          <a:p/>
          <a:p>
            <a:r>
              <a:t>[4] Sze, V., Chen, Y.-H., Yang, T.-J., &amp; Emer, J. S. Efficient Processing of Deep Neural Networks: A Tutorial and Survey. Morgan &amp; Claypool, 2020. — 5–6-boblar (ma'lumot oqimi turlari, Eyeriss), 7–8-boblar (aniqlikni kamaytirish, siyraklik), 10-bob (ilg'or texnologiyalar).</a:t>
            </a:r>
          </a:p>
          <a:p/>
          <a:p>
            <a:r>
              <a:t>[5] Kirk, D. B., &amp; Hwu, W.-M. W. Programming Massively Parallel Processors. 4th Edition. Morgan Kaufmann, 2022. — 3–5-boblar (matritsa ko'paytirish, plitkalash, xotira).</a:t>
            </a:r>
          </a:p>
          <a:p/>
          <a:p>
            <a:r>
              <a:t>[6] NVIDIA Developer Portal — https://developer.nvidia.com (Volta/Ampere/Hopper/Blackwell arxitektura hujjatlari, CUTLASS, Transformer Engine, Tensor Core dasturlash bo'yicha qo'llanmalar).</a:t>
            </a:r>
          </a:p>
          <a:p/>
          <a:p>
            <a:r>
              <a:t>[7] PyTorch rasmiy hujjatlari — https://pytorch.org (CUDA semantikasi, TF32, autocast, aralash aniqlik).</a:t>
            </a:r>
          </a:p>
          <a:p/>
          <a:p>
            <a:r>
              <a:t>Jouppi, N. P., Young, C., Patil, N., et al. In-Datacenter Performance Analysis of a Tensor Processing Unit. ISCA 2017, ACM.</a:t>
            </a:r>
          </a:p>
          <a:p/>
          <a:p>
            <a:r>
              <a:t>Chen, Y.-H., Krishna, T., Emer, J. S., &amp; Sze, V. Eyeriss: An Energy-Efficient Reconfigurable Accelerator for Deep Convolutional Neural Networks. IEEE Journal of Solid-State Circuits, 52(1), 2017.</a:t>
            </a:r>
          </a:p>
          <a:p/>
          <a:p>
            <a:r>
              <a:t>Horowitz, M. Computing's Energy Problem (and what we can do about it). IEEE International Solid-State Circuits Conference (ISSCC) 2014.</a:t>
            </a:r>
          </a:p>
          <a:p/>
          <a:p>
            <a:r>
              <a:t>Waterman, A., &amp; Asanović, K. (eds.). The RISC-V Instruction Set Manual, Volume I: Unprivileged ISA. RISC-V International — https://riscv.org/specifications/.</a:t>
            </a:r>
          </a:p>
          <a:p/>
          <a:p>
            <a:r>
              <a:t>Hennessy, J. L., &amp; Patterson, D. A. A New Golden Age for Computer Architecture. Communications of the ACM, 62(2), 2019.</a:t>
            </a:r>
          </a:p>
          <a:p/>
          <a:p>
            <a:r>
              <a:t>AMD Vitis AI hujjatlari — https://www.amd.com (Vitis AI, DPU, Versal AI Engine).</a:t>
            </a:r>
          </a:p>
          <a:p/>
          <a:p>
            <a:r>
              <a:t>Samajdar, A., Zhu, Y., Whatmough, P., Mattina, M., &amp; Krishna, T. SCALE-Sim: Systolic CNN Accelerator Simulator. arXiv:1811.02883, 2018.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M4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000" b="1">
                <a:solidFill>
                  <a:srgbClr val="FFFFFF"/>
                </a:solidFill>
                <a:latin typeface="Calibri"/>
              </a:rPr>
              <a:t>Mashinali o'qitish algoritmlari uchun apparat tezlatkichlari va sun'iy intellekt chiplarini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 uchun maxsus yaratilgan apparat vositalarining ichki tuzilishini, ularni loyihalash tamoyillarini va sohadagi asosiy tendensiyalarni o'rgatish;…</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 ning ishlash prinsipini (matritsa fragmentini aralash aniqlikda bir buyruqda ko'paytirib qo'shish), avlodlar bo'yicha evolyutsiyasini va undan to'liq foydalanish shartlarini…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AI tezlatkichlarining asosiy sinflarini — GPU ichidagi matritsa bloklari, ma'lumotlar markazi ASIC lari, chekka NPU lar, wafer miqyosidagi va SRAM asosidagi chiplar — tuzilishi va maqsadli…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FPGA va ASIC asosidagi SI tizimlarining loyihalash oqimini, afzallik va cheklovlarini taqqoslab, berilgan masala uchun qaysi biri mos kelishini asoslaydi;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RISC-V arxitekturasining ochiq buyruqlar to'plami sifatidagi mohiyatini, vektor va maxsus kengaytmalar orqali SI chiplarida tutgan o'rnini tavsiflay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SI chipini loyihalashning asosiy tamoyillarini (ma'lumot oqimi turlari, energiya byudjeti, chiplet, HBM, siyraklik, past aniqlik) va zamonaviy tendensiyalarni tahlil qilib, sistolik…</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(AI tezlatkichlaridan samarali foydalanish usullarini bilish) va TN1 (apparat–dasturiy integratsiya) ta'lim natijalariga xizmat qiladi, A2 amaliy mashg'ulotidagi «Tensor…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Kompyuter arxitekturasi tarixida 2016–2017-yillar burilish nuqtasi bo'ldi: Google TPU haqidagi maqolani e'lon qildi, NVIDIA Volta arxitekturasida birinchi Tensor Core larni taqdim etdi, Apple esa telefon chipiga Neural Engine qo'shdi. Shundan beri «sun'iy…</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Ixtisoslashuv qanday ishlaydi? Horowitz (2014) keltirgan 45 nm texnologiya uchun energiya raqamlari buni tushuntiradi: 8-bitli qo'shish 0,03 pJ, 32-bitli suzuvchi nuqtali ko'paytirish 3,7 pJ, 8 KB SRAM dan o'qish 5 pJ, DRAM dan 32 bit o'qish 640 pJ. Demak…</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bilan birga ixtisoslashuvning narxi bor: 5 nm texnologiyada yangi chipni loyihalash yuz millionlab dollar va 2–3 yil talab qiladi, model arxitekturalari esa tezroq o'zgaradi. Shuning uchun GPU (umumiy + ixtisoslashgan bloklar), FPGA (qayta…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uchun maxsus apparat vositalari: umumiy manzara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SI uchun maxsus apparat vositalarini ixtisoslashuv darajasi va joylashuvi bo'yicha tasniflash qulay. Umumiy protsessor ichidagi bloklar — CPU dagi AMX/SVE, GPU dagi Tensor Core: dasturlanadigan mashina ichida matritsa buyrug'i; moslashuvchanlik saqlanadi,…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Bu xilma-xillikni birlashtiruvchi narsa — barchasi Sze va hammualliflar [4] tavsiflagan bir xil loyihalash fazosida ishlaydi: hisoblash elementlari massivi (processing elements, PE), ular orasidagi ma'lumot oqimi (dataflow), ko'p darajali on-chip xotira…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ishlash prinsipi va evolyutsiyasi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Tensor Core — NVIDIA GPU ning SM i ichidagi matritsa ko'paytirish bloki. Oddiy CUDA yadrosi bir taktda bitta FMA (fused multiply-add) bajaradi; Tensor Core esa bitta buyruqda kichik matritsa amalini D = A × B + C bajaradi, bu yerda A va B past aniqlikda…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Jadvaldagi TF32 (TensorFloat-32) alohida izohga loyiq: bu 19-bitli format (8 bit eksponenta FP32 kabi, 10 bit mantissa FP16 kabi) bo'lib, FP32 kirish ma'lumotini kod o'zgartirmasdan Tensor Core da hisoblash imkonini beradi — A100 da 19,5 ga qarshi 156 TFLOPS.…</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Tensor Core dan foydalanish shartlari co-design uchun muhim: (1) aniqlik — FP32 da Tensor Core faqat TF32 yoqilgan bo'lsa ishlaydi; (2) o'lchamlar — FP16 uchun matritsa o'lchamlari 8 ga, INT8 uchun 16 ga karrali bo'lsa, eng samarali yadro tanlanadi (aks holda…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ishlash prinsipi va evolyutsiyasi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Avlod (arxitektura, yil)</a:t>
                      </a:r>
                    </a:p>
                  </a:txBody>
                  <a:tcPr>
                    <a:solidFill>
                      <a:srgbClr val="2D5C8F"/>
                    </a:solidFill>
                  </a:tcPr>
                </a:tc>
                <a:tc>
                  <a:txBody>
                    <a:bodyPr/>
                    <a:lstStyle/>
                    <a:p>
                      <a:r>
                        <a:rPr sz="1200" b="1">
                          <a:solidFill>
                            <a:srgbClr val="FFFFFF"/>
                          </a:solidFill>
                          <a:latin typeface="Calibri"/>
                        </a:rPr>
                        <a:t>Yangi aniqliklar</a:t>
                      </a:r>
                    </a:p>
                  </a:txBody>
                  <a:tcPr>
                    <a:solidFill>
                      <a:srgbClr val="2D5C8F"/>
                    </a:solidFill>
                  </a:tcPr>
                </a:tc>
                <a:tc>
                  <a:txBody>
                    <a:bodyPr/>
                    <a:lstStyle/>
                    <a:p>
                      <a:r>
                        <a:rPr sz="1200" b="1">
                          <a:solidFill>
                            <a:srgbClr val="FFFFFF"/>
                          </a:solidFill>
                          <a:latin typeface="Calibri"/>
                        </a:rPr>
                        <a:t>Boshqa yangiliklar</a:t>
                      </a:r>
                    </a:p>
                  </a:txBody>
                  <a:tcPr>
                    <a:solidFill>
                      <a:srgbClr val="2D5C8F"/>
                    </a:solidFill>
                  </a:tcPr>
                </a:tc>
                <a:tc>
                  <a:txBody>
                    <a:bodyPr/>
                    <a:lstStyle/>
                    <a:p>
                      <a:r>
                        <a:rPr sz="1200" b="1">
                          <a:solidFill>
                            <a:srgbClr val="FFFFFF"/>
                          </a:solidFill>
                          <a:latin typeface="Calibri"/>
                        </a:rPr>
                        <a:t>Vakil chip, zich FP16 TFLOPS</a:t>
                      </a:r>
                    </a:p>
                  </a:txBody>
                  <a:tcPr>
                    <a:solidFill>
                      <a:srgbClr val="2D5C8F"/>
                    </a:solidFill>
                  </a:tcPr>
                </a:tc>
              </a:tr>
              <a:tr h="520000">
                <a:tc>
                  <a:txBody>
                    <a:bodyPr/>
                    <a:lstStyle/>
                    <a:p>
                      <a:r>
                        <a:rPr sz="1200" b="0">
                          <a:solidFill>
                            <a:srgbClr val="1B2430"/>
                          </a:solidFill>
                          <a:latin typeface="Calibri"/>
                        </a:rPr>
                        <a:t>1 (Volta, 2017)</a:t>
                      </a:r>
                    </a:p>
                  </a:txBody>
                  <a:tcPr>
                    <a:solidFill>
                      <a:srgbClr val="F1F4F8"/>
                    </a:solidFill>
                  </a:tcPr>
                </a:tc>
                <a:tc>
                  <a:txBody>
                    <a:bodyPr/>
                    <a:lstStyle/>
                    <a:p>
                      <a:r>
                        <a:rPr sz="1200" b="0">
                          <a:solidFill>
                            <a:srgbClr val="1B2430"/>
                          </a:solidFill>
                          <a:latin typeface="Calibri"/>
                        </a:rPr>
                        <a:t>FP16 → FP32</a:t>
                      </a:r>
                    </a:p>
                  </a:txBody>
                  <a:tcPr>
                    <a:solidFill>
                      <a:srgbClr val="F1F4F8"/>
                    </a:solidFill>
                  </a:tcPr>
                </a:tc>
                <a:tc>
                  <a:txBody>
                    <a:bodyPr/>
                    <a:lstStyle/>
                    <a:p>
                      <a:r>
                        <a:rPr sz="1200" b="0">
                          <a:solidFill>
                            <a:srgbClr val="1B2430"/>
                          </a:solidFill>
                          <a:latin typeface="Calibri"/>
                        </a:rPr>
                        <a:t>Tensor Core kiritildi</a:t>
                      </a:r>
                    </a:p>
                  </a:txBody>
                  <a:tcPr>
                    <a:solidFill>
                      <a:srgbClr val="F1F4F8"/>
                    </a:solidFill>
                  </a:tcPr>
                </a:tc>
                <a:tc>
                  <a:txBody>
                    <a:bodyPr/>
                    <a:lstStyle/>
                    <a:p>
                      <a:r>
                        <a:rPr sz="1200" b="0">
                          <a:solidFill>
                            <a:srgbClr val="1B2430"/>
                          </a:solidFill>
                          <a:latin typeface="Calibri"/>
                        </a:rPr>
                        <a:t>V100, 125</a:t>
                      </a:r>
                    </a:p>
                  </a:txBody>
                  <a:tcPr>
                    <a:solidFill>
                      <a:srgbClr val="F1F4F8"/>
                    </a:solidFill>
                  </a:tcPr>
                </a:tc>
              </a:tr>
              <a:tr h="520000">
                <a:tc>
                  <a:txBody>
                    <a:bodyPr/>
                    <a:lstStyle/>
                    <a:p>
                      <a:r>
                        <a:rPr sz="1200" b="0">
                          <a:solidFill>
                            <a:srgbClr val="1B2430"/>
                          </a:solidFill>
                          <a:latin typeface="Calibri"/>
                        </a:rPr>
                        <a:t>2 (Turing, 2018)</a:t>
                      </a:r>
                    </a:p>
                  </a:txBody>
                  <a:tcPr>
                    <a:solidFill>
                      <a:srgbClr val="FFFFFF"/>
                    </a:solidFill>
                  </a:tcPr>
                </a:tc>
                <a:tc>
                  <a:txBody>
                    <a:bodyPr/>
                    <a:lstStyle/>
                    <a:p>
                      <a:r>
                        <a:rPr sz="1200" b="0">
                          <a:solidFill>
                            <a:srgbClr val="1B2430"/>
                          </a:solidFill>
                          <a:latin typeface="Calibri"/>
                        </a:rPr>
                        <a:t>INT8, INT4</a:t>
                      </a:r>
                    </a:p>
                  </a:txBody>
                  <a:tcPr>
                    <a:solidFill>
                      <a:srgbClr val="FFFFFF"/>
                    </a:solidFill>
                  </a:tcPr>
                </a:tc>
                <a:tc>
                  <a:txBody>
                    <a:bodyPr/>
                    <a:lstStyle/>
                    <a:p>
                      <a:r>
                        <a:rPr sz="1200" b="0">
                          <a:solidFill>
                            <a:srgbClr val="1B2430"/>
                          </a:solidFill>
                          <a:latin typeface="Calibri"/>
                        </a:rPr>
                        <a:t>Inferens uchun</a:t>
                      </a:r>
                    </a:p>
                  </a:txBody>
                  <a:tcPr>
                    <a:solidFill>
                      <a:srgbClr val="FFFFFF"/>
                    </a:solidFill>
                  </a:tcPr>
                </a:tc>
                <a:tc>
                  <a:txBody>
                    <a:bodyPr/>
                    <a:lstStyle/>
                    <a:p>
                      <a:r>
                        <a:rPr sz="1200" b="0">
                          <a:solidFill>
                            <a:srgbClr val="1B2430"/>
                          </a:solidFill>
                          <a:latin typeface="Calibri"/>
                        </a:rPr>
                        <a:t>T4, 65</a:t>
                      </a:r>
                    </a:p>
                  </a:txBody>
                  <a:tcPr>
                    <a:solidFill>
                      <a:srgbClr val="FFFFFF"/>
                    </a:solidFill>
                  </a:tcPr>
                </a:tc>
              </a:tr>
              <a:tr h="520000">
                <a:tc>
                  <a:txBody>
                    <a:bodyPr/>
                    <a:lstStyle/>
                    <a:p>
                      <a:r>
                        <a:rPr sz="1200" b="0">
                          <a:solidFill>
                            <a:srgbClr val="1B2430"/>
                          </a:solidFill>
                          <a:latin typeface="Calibri"/>
                        </a:rPr>
                        <a:t>3 (Ampere, 2020)</a:t>
                      </a:r>
                    </a:p>
                  </a:txBody>
                  <a:tcPr>
                    <a:solidFill>
                      <a:srgbClr val="F1F4F8"/>
                    </a:solidFill>
                  </a:tcPr>
                </a:tc>
                <a:tc>
                  <a:txBody>
                    <a:bodyPr/>
                    <a:lstStyle/>
                    <a:p>
                      <a:r>
                        <a:rPr sz="1200" b="0">
                          <a:solidFill>
                            <a:srgbClr val="1B2430"/>
                          </a:solidFill>
                          <a:latin typeface="Calibri"/>
                        </a:rPr>
                        <a:t>TF32, BF16, FP64</a:t>
                      </a:r>
                    </a:p>
                  </a:txBody>
                  <a:tcPr>
                    <a:solidFill>
                      <a:srgbClr val="F1F4F8"/>
                    </a:solidFill>
                  </a:tcPr>
                </a:tc>
                <a:tc>
                  <a:txBody>
                    <a:bodyPr/>
                    <a:lstStyle/>
                    <a:p>
                      <a:r>
                        <a:rPr sz="1200" b="0">
                          <a:solidFill>
                            <a:srgbClr val="1B2430"/>
                          </a:solidFill>
                          <a:latin typeface="Calibri"/>
                        </a:rPr>
                        <a:t>2:4 strukturali siyraklik, asinxron nusxalash</a:t>
                      </a:r>
                    </a:p>
                  </a:txBody>
                  <a:tcPr>
                    <a:solidFill>
                      <a:srgbClr val="F1F4F8"/>
                    </a:solidFill>
                  </a:tcPr>
                </a:tc>
                <a:tc>
                  <a:txBody>
                    <a:bodyPr/>
                    <a:lstStyle/>
                    <a:p>
                      <a:r>
                        <a:rPr sz="1200" b="0">
                          <a:solidFill>
                            <a:srgbClr val="1B2430"/>
                          </a:solidFill>
                          <a:latin typeface="Calibri"/>
                        </a:rPr>
                        <a:t>A100, 312</a:t>
                      </a:r>
                    </a:p>
                  </a:txBody>
                  <a:tcPr>
                    <a:solidFill>
                      <a:srgbClr val="F1F4F8"/>
                    </a:solidFill>
                  </a:tcPr>
                </a:tc>
              </a:tr>
              <a:tr h="520000">
                <a:tc>
                  <a:txBody>
                    <a:bodyPr/>
                    <a:lstStyle/>
                    <a:p>
                      <a:r>
                        <a:rPr sz="1200" b="0">
                          <a:solidFill>
                            <a:srgbClr val="1B2430"/>
                          </a:solidFill>
                          <a:latin typeface="Calibri"/>
                        </a:rPr>
                        <a:t>4 (Hopper, 2022)</a:t>
                      </a:r>
                    </a:p>
                  </a:txBody>
                  <a:tcPr>
                    <a:solidFill>
                      <a:srgbClr val="FFFFFF"/>
                    </a:solidFill>
                  </a:tcPr>
                </a:tc>
                <a:tc>
                  <a:txBody>
                    <a:bodyPr/>
                    <a:lstStyle/>
                    <a:p>
                      <a:r>
                        <a:rPr sz="1200" b="0">
                          <a:solidFill>
                            <a:srgbClr val="1B2430"/>
                          </a:solidFill>
                          <a:latin typeface="Calibri"/>
                        </a:rPr>
                        <a:t>FP8 (E4M3, E5M2)</a:t>
                      </a:r>
                    </a:p>
                  </a:txBody>
                  <a:tcPr>
                    <a:solidFill>
                      <a:srgbClr val="FFFFFF"/>
                    </a:solidFill>
                  </a:tcPr>
                </a:tc>
                <a:tc>
                  <a:txBody>
                    <a:bodyPr/>
                    <a:lstStyle/>
                    <a:p>
                      <a:r>
                        <a:rPr sz="1200" b="0">
                          <a:solidFill>
                            <a:srgbClr val="1B2430"/>
                          </a:solidFill>
                          <a:latin typeface="Calibri"/>
                        </a:rPr>
                        <a:t>Transformer Engine (dinamik FP8/FP16), warp-guruh buyruqlari</a:t>
                      </a:r>
                    </a:p>
                  </a:txBody>
                  <a:tcPr>
                    <a:solidFill>
                      <a:srgbClr val="FFFFFF"/>
                    </a:solidFill>
                  </a:tcPr>
                </a:tc>
                <a:tc>
                  <a:txBody>
                    <a:bodyPr/>
                    <a:lstStyle/>
                    <a:p>
                      <a:r>
                        <a:rPr sz="1200" b="0">
                          <a:solidFill>
                            <a:srgbClr val="1B2430"/>
                          </a:solidFill>
                          <a:latin typeface="Calibri"/>
                        </a:rPr>
                        <a:t>H100, ~990</a:t>
                      </a:r>
                    </a:p>
                  </a:txBody>
                  <a:tcPr>
                    <a:solidFill>
                      <a:srgbClr val="FFFFFF"/>
                    </a:solidFill>
                  </a:tcPr>
                </a:tc>
              </a:tr>
              <a:tr h="520000">
                <a:tc>
                  <a:txBody>
                    <a:bodyPr/>
                    <a:lstStyle/>
                    <a:p>
                      <a:r>
                        <a:rPr sz="1200" b="0">
                          <a:solidFill>
                            <a:srgbClr val="1B2430"/>
                          </a:solidFill>
                          <a:latin typeface="Calibri"/>
                        </a:rPr>
                        <a:t>5 (Blackwell, 2024)</a:t>
                      </a:r>
                    </a:p>
                  </a:txBody>
                  <a:tcPr>
                    <a:solidFill>
                      <a:srgbClr val="F1F4F8"/>
                    </a:solidFill>
                  </a:tcPr>
                </a:tc>
                <a:tc>
                  <a:txBody>
                    <a:bodyPr/>
                    <a:lstStyle/>
                    <a:p>
                      <a:r>
                        <a:rPr sz="1200" b="0">
                          <a:solidFill>
                            <a:srgbClr val="1B2430"/>
                          </a:solidFill>
                          <a:latin typeface="Calibri"/>
                        </a:rPr>
                        <a:t>FP4, FP6</a:t>
                      </a:r>
                    </a:p>
                  </a:txBody>
                  <a:tcPr>
                    <a:solidFill>
                      <a:srgbClr val="F1F4F8"/>
                    </a:solidFill>
                  </a:tcPr>
                </a:tc>
                <a:tc>
                  <a:txBody>
                    <a:bodyPr/>
                    <a:lstStyle/>
                    <a:p>
                      <a:r>
                        <a:rPr sz="1200" b="0">
                          <a:solidFill>
                            <a:srgbClr val="1B2430"/>
                          </a:solidFill>
                          <a:latin typeface="Calibri"/>
                        </a:rPr>
                        <a:t>2-avlod Transformer Engine, ikki kristalli paket</a:t>
                      </a:r>
                    </a:p>
                  </a:txBody>
                  <a:tcPr>
                    <a:solidFill>
                      <a:srgbClr val="F1F4F8"/>
                    </a:solidFill>
                  </a:tcPr>
                </a:tc>
                <a:tc>
                  <a:txBody>
                    <a:bodyPr/>
                    <a:lstStyle/>
                    <a:p>
                      <a:r>
                        <a:rPr sz="1200" b="0">
                          <a:solidFill>
                            <a:srgbClr val="1B2430"/>
                          </a:solidFill>
                          <a:latin typeface="Calibri"/>
                        </a:rPr>
                        <a:t>B200, ~2 250</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FPGA va ASIC asosidagi sun'iy intellekt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ASIC (Application-Specific Integrated Circuit) va FPGA — ixtisoslashuvning ikki yo'li: biri kremniyda qotirilgan, ikkinchisi qayta dasturlanadigan.</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ASIC loyihalash oqimi quyidagi bosqichlardan iborat: spetsifikatsiya (yuk tahlili, unumdorlik/energiya/maydon maqsadlari) → arxitektura (PE massivi o'lchami, xotira hajmi, ma'lumot oqimi;…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FPGA oqimi qisqaroq: RTL yoki HLS (C/C++ dan sintez) → sintez → joylashtirish va trassalash (soatlar) → bitstream yuklash (soniyalar).</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Amaliy qoida: tiraj kichik, kechikish qattiq va kiritish-chiqarish nostandart bo'lsa — FPGA; tiraj millionlab va yuk barqaror bo'lsa — ASIC; yuk tez o'zgaradigan va ekotizim muhim bo'lsa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FPGA va ASIC asosidagi sun'iy intellekt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FPGA</a:t>
                      </a:r>
                    </a:p>
                  </a:txBody>
                  <a:tcPr>
                    <a:solidFill>
                      <a:srgbClr val="2D5C8F"/>
                    </a:solidFill>
                  </a:tcPr>
                </a:tc>
                <a:tc>
                  <a:txBody>
                    <a:bodyPr/>
                    <a:lstStyle/>
                    <a:p>
                      <a:r>
                        <a:rPr sz="1400" b="1">
                          <a:solidFill>
                            <a:srgbClr val="FFFFFF"/>
                          </a:solidFill>
                          <a:latin typeface="Calibri"/>
                        </a:rPr>
                        <a:t>ASIC</a:t>
                      </a:r>
                    </a:p>
                  </a:txBody>
                  <a:tcPr>
                    <a:solidFill>
                      <a:srgbClr val="2D5C8F"/>
                    </a:solidFill>
                  </a:tcPr>
                </a:tc>
                <a:tc>
                  <a:txBody>
                    <a:bodyPr/>
                    <a:lstStyle/>
                    <a:p>
                      <a:r>
                        <a:rPr sz="1400" b="1">
                          <a:solidFill>
                            <a:srgbClr val="FFFFFF"/>
                          </a:solidFill>
                          <a:latin typeface="Calibri"/>
                        </a:rPr>
                        <a:t>GPU (taqqoslash uchun)</a:t>
                      </a:r>
                    </a:p>
                  </a:txBody>
                  <a:tcPr>
                    <a:solidFill>
                      <a:srgbClr val="2D5C8F"/>
                    </a:solidFill>
                  </a:tcPr>
                </a:tc>
              </a:tr>
              <a:tr h="520000">
                <a:tc>
                  <a:txBody>
                    <a:bodyPr/>
                    <a:lstStyle/>
                    <a:p>
                      <a:r>
                        <a:rPr sz="1400" b="0">
                          <a:solidFill>
                            <a:srgbClr val="1B2430"/>
                          </a:solidFill>
                          <a:latin typeface="Calibri"/>
                        </a:rPr>
                        <a:t>Ishlab chiqish vaqti</a:t>
                      </a:r>
                    </a:p>
                  </a:txBody>
                  <a:tcPr>
                    <a:solidFill>
                      <a:srgbClr val="F1F4F8"/>
                    </a:solidFill>
                  </a:tcPr>
                </a:tc>
                <a:tc>
                  <a:txBody>
                    <a:bodyPr/>
                    <a:lstStyle/>
                    <a:p>
                      <a:r>
                        <a:rPr sz="1400" b="0">
                          <a:solidFill>
                            <a:srgbClr val="1B2430"/>
                          </a:solidFill>
                          <a:latin typeface="Calibri"/>
                        </a:rPr>
                        <a:t>Haftalar–oylar</a:t>
                      </a:r>
                    </a:p>
                  </a:txBody>
                  <a:tcPr>
                    <a:solidFill>
                      <a:srgbClr val="F1F4F8"/>
                    </a:solidFill>
                  </a:tcPr>
                </a:tc>
                <a:tc>
                  <a:txBody>
                    <a:bodyPr/>
                    <a:lstStyle/>
                    <a:p>
                      <a:r>
                        <a:rPr sz="1400" b="0">
                          <a:solidFill>
                            <a:srgbClr val="1B2430"/>
                          </a:solidFill>
                          <a:latin typeface="Calibri"/>
                        </a:rPr>
                        <a:t>1,5–3 yil</a:t>
                      </a:r>
                    </a:p>
                  </a:txBody>
                  <a:tcPr>
                    <a:solidFill>
                      <a:srgbClr val="F1F4F8"/>
                    </a:solidFill>
                  </a:tcPr>
                </a:tc>
                <a:tc>
                  <a:txBody>
                    <a:bodyPr/>
                    <a:lstStyle/>
                    <a:p>
                      <a:r>
                        <a:rPr sz="1400" b="0">
                          <a:solidFill>
                            <a:srgbClr val="1B2430"/>
                          </a:solidFill>
                          <a:latin typeface="Calibri"/>
                        </a:rPr>
                        <a:t>Kunlar (dastur)</a:t>
                      </a:r>
                    </a:p>
                  </a:txBody>
                  <a:tcPr>
                    <a:solidFill>
                      <a:srgbClr val="F1F4F8"/>
                    </a:solidFill>
                  </a:tcPr>
                </a:tc>
              </a:tr>
              <a:tr h="520000">
                <a:tc>
                  <a:txBody>
                    <a:bodyPr/>
                    <a:lstStyle/>
                    <a:p>
                      <a:r>
                        <a:rPr sz="1400" b="0">
                          <a:solidFill>
                            <a:srgbClr val="1B2430"/>
                          </a:solidFill>
                          <a:latin typeface="Calibri"/>
                        </a:rPr>
                        <a:t>Boshlang'ich xarajat</a:t>
                      </a:r>
                    </a:p>
                  </a:txBody>
                  <a:tcPr>
                    <a:solidFill>
                      <a:srgbClr val="FFFFFF"/>
                    </a:solidFill>
                  </a:tcPr>
                </a:tc>
                <a:tc>
                  <a:txBody>
                    <a:bodyPr/>
                    <a:lstStyle/>
                    <a:p>
                      <a:r>
                        <a:rPr sz="1400" b="0">
                          <a:solidFill>
                            <a:srgbClr val="1B2430"/>
                          </a:solidFill>
                          <a:latin typeface="Calibri"/>
                        </a:rPr>
                        <a:t>Karta narxi (ming–o'n ming dollar)</a:t>
                      </a:r>
                    </a:p>
                  </a:txBody>
                  <a:tcPr>
                    <a:solidFill>
                      <a:srgbClr val="FFFFFF"/>
                    </a:solidFill>
                  </a:tcPr>
                </a:tc>
                <a:tc>
                  <a:txBody>
                    <a:bodyPr/>
                    <a:lstStyle/>
                    <a:p>
                      <a:r>
                        <a:rPr sz="1400" b="0">
                          <a:solidFill>
                            <a:srgbClr val="1B2430"/>
                          </a:solidFill>
                          <a:latin typeface="Calibri"/>
                        </a:rPr>
                        <a:t>Yuz millionlab dollar</a:t>
                      </a:r>
                    </a:p>
                  </a:txBody>
                  <a:tcPr>
                    <a:solidFill>
                      <a:srgbClr val="FFFFFF"/>
                    </a:solidFill>
                  </a:tcPr>
                </a:tc>
                <a:tc>
                  <a:txBody>
                    <a:bodyPr/>
                    <a:lstStyle/>
                    <a:p>
                      <a:r>
                        <a:rPr sz="1400" b="0">
                          <a:solidFill>
                            <a:srgbClr val="1B2430"/>
                          </a:solidFill>
                          <a:latin typeface="Calibri"/>
                        </a:rPr>
                        <a:t>Karta narxi</a:t>
                      </a:r>
                    </a:p>
                  </a:txBody>
                  <a:tcPr>
                    <a:solidFill>
                      <a:srgbClr val="FFFFFF"/>
                    </a:solidFill>
                  </a:tcPr>
                </a:tc>
              </a:tr>
              <a:tr h="520000">
                <a:tc>
                  <a:txBody>
                    <a:bodyPr/>
                    <a:lstStyle/>
                    <a:p>
                      <a:r>
                        <a:rPr sz="1400" b="0">
                          <a:solidFill>
                            <a:srgbClr val="1B2430"/>
                          </a:solidFill>
                          <a:latin typeface="Calibri"/>
                        </a:rPr>
                        <a:t>Birlik narxi katta tirajda</a:t>
                      </a:r>
                    </a:p>
                  </a:txBody>
                  <a:tcPr>
                    <a:solidFill>
                      <a:srgbClr val="F1F4F8"/>
                    </a:solidFill>
                  </a:tcPr>
                </a:tc>
                <a:tc>
                  <a:txBody>
                    <a:bodyPr/>
                    <a:lstStyle/>
                    <a:p>
                      <a:r>
                        <a:rPr sz="1400" b="0">
                          <a:solidFill>
                            <a:srgbClr val="1B2430"/>
                          </a:solidFill>
                          <a:latin typeface="Calibri"/>
                        </a:rPr>
                        <a:t>Yuqori</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O'rta</a:t>
                      </a:r>
                    </a:p>
                  </a:txBody>
                  <a:tcPr>
                    <a:solidFill>
                      <a:srgbClr val="F1F4F8"/>
                    </a:solidFill>
                  </a:tcPr>
                </a:tc>
              </a:tr>
              <a:tr h="520000">
                <a:tc>
                  <a:txBody>
                    <a:bodyPr/>
                    <a:lstStyle/>
                    <a:p>
                      <a:r>
                        <a:rPr sz="1400" b="0">
                          <a:solidFill>
                            <a:srgbClr val="1B2430"/>
                          </a:solidFill>
                          <a:latin typeface="Calibri"/>
                        </a:rPr>
                        <a:t>Energiya samaradorligi</a:t>
                      </a:r>
                    </a:p>
                  </a:txBody>
                  <a:tcPr>
                    <a:solidFill>
                      <a:srgbClr val="FFFFFF"/>
                    </a:solidFill>
                  </a:tcPr>
                </a:tc>
                <a:tc>
                  <a:txBody>
                    <a:bodyPr/>
                    <a:lstStyle/>
                    <a:p>
                      <a:r>
                        <a:rPr sz="1400" b="0">
                          <a:solidFill>
                            <a:srgbClr val="1B2430"/>
                          </a:solidFill>
                          <a:latin typeface="Calibri"/>
                        </a:rPr>
                        <a:t>Yaxshi (ASIC dan 5–10× past)</a:t>
                      </a:r>
                    </a:p>
                  </a:txBody>
                  <a:tcPr>
                    <a:solidFill>
                      <a:srgbClr val="FFFFFF"/>
                    </a:solidFill>
                  </a:tcPr>
                </a:tc>
                <a:tc>
                  <a:txBody>
                    <a:bodyPr/>
                    <a:lstStyle/>
                    <a:p>
                      <a:r>
                        <a:rPr sz="1400" b="0">
                          <a:solidFill>
                            <a:srgbClr val="1B2430"/>
                          </a:solidFill>
                          <a:latin typeface="Calibri"/>
                        </a:rPr>
                        <a:t>Eng yuqori</a:t>
                      </a:r>
                    </a:p>
                  </a:txBody>
                  <a:tcPr>
                    <a:solidFill>
                      <a:srgbClr val="FFFFFF"/>
                    </a:solidFill>
                  </a:tcPr>
                </a:tc>
                <a:tc>
                  <a:txBody>
                    <a:bodyPr/>
                    <a:lstStyle/>
                    <a:p>
                      <a:r>
                        <a:rPr sz="1400" b="0">
                          <a:solidFill>
                            <a:srgbClr val="1B2430"/>
                          </a:solidFill>
                          <a:latin typeface="Calibri"/>
                        </a:rPr>
                        <a:t>O'rta</a:t>
                      </a:r>
                    </a:p>
                  </a:txBody>
                  <a:tcPr>
                    <a:solidFill>
                      <a:srgbClr val="FFFFF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Mikrosekund, deterministik</a:t>
                      </a:r>
                    </a:p>
                  </a:txBody>
                  <a:tcPr>
                    <a:solidFill>
                      <a:srgbClr val="F1F4F8"/>
                    </a:solidFill>
                  </a:tcPr>
                </a:tc>
                <a:tc>
                  <a:txBody>
                    <a:bodyPr/>
                    <a:lstStyle/>
                    <a:p>
                      <a:r>
                        <a:rPr sz="1400" b="0">
                          <a:solidFill>
                            <a:srgbClr val="1B2430"/>
                          </a:solidFill>
                          <a:latin typeface="Calibri"/>
                        </a:rPr>
                        <a:t>Mikrosekund, deterministik</a:t>
                      </a:r>
                    </a:p>
                  </a:txBody>
                  <a:tcPr>
                    <a:solidFill>
                      <a:srgbClr val="F1F4F8"/>
                    </a:solidFill>
                  </a:tcPr>
                </a:tc>
                <a:tc>
                  <a:txBody>
                    <a:bodyPr/>
                    <a:lstStyle/>
                    <a:p>
                      <a:r>
                        <a:rPr sz="1400" b="0">
                          <a:solidFill>
                            <a:srgbClr val="1B2430"/>
                          </a:solidFill>
                          <a:latin typeface="Calibri"/>
                        </a:rPr>
                        <a:t>O'n–yuz mikrosekund, o'zgaruvchan</a:t>
                      </a:r>
                    </a:p>
                  </a:txBody>
                  <a:tcPr>
                    <a:solidFill>
                      <a:srgbClr val="F1F4F8"/>
                    </a:solidFill>
                  </a:tcPr>
                </a:tc>
              </a:tr>
              <a:tr h="520000">
                <a:tc>
                  <a:txBody>
                    <a:bodyPr/>
                    <a:lstStyle/>
                    <a:p>
                      <a:r>
                        <a:rPr sz="1400" b="0">
                          <a:solidFill>
                            <a:srgbClr val="1B2430"/>
                          </a:solidFill>
                          <a:latin typeface="Calibri"/>
                        </a:rPr>
                        <a:t>Aniqlik</a:t>
                      </a:r>
                    </a:p>
                  </a:txBody>
                  <a:tcPr>
                    <a:solidFill>
                      <a:srgbClr val="FFFFFF"/>
                    </a:solidFill>
                  </a:tcPr>
                </a:tc>
                <a:tc>
                  <a:txBody>
                    <a:bodyPr/>
                    <a:lstStyle/>
                    <a:p>
                      <a:r>
                        <a:rPr sz="1400" b="0">
                          <a:solidFill>
                            <a:srgbClr val="1B2430"/>
                          </a:solidFill>
                          <a:latin typeface="Calibri"/>
                        </a:rPr>
                        <a:t>Ixtiyoriy bit kenglik</a:t>
                      </a:r>
                    </a:p>
                  </a:txBody>
                  <a:tcPr>
                    <a:solidFill>
                      <a:srgbClr val="FFFFFF"/>
                    </a:solidFill>
                  </a:tcPr>
                </a:tc>
                <a:tc>
                  <a:txBody>
                    <a:bodyPr/>
                    <a:lstStyle/>
                    <a:p>
                      <a:r>
                        <a:rPr sz="1400" b="0">
                          <a:solidFill>
                            <a:srgbClr val="1B2430"/>
                          </a:solidFill>
                          <a:latin typeface="Calibri"/>
                        </a:rPr>
                        <a:t>Loyihada belgilangan</a:t>
                      </a:r>
                    </a:p>
                  </a:txBody>
                  <a:tcPr>
                    <a:solidFill>
                      <a:srgbClr val="FFFFFF"/>
                    </a:solidFill>
                  </a:tcPr>
                </a:tc>
                <a:tc>
                  <a:txBody>
                    <a:bodyPr/>
                    <a:lstStyle/>
                    <a:p>
                      <a:r>
                        <a:rPr sz="1400" b="0">
                          <a:solidFill>
                            <a:srgbClr val="1B2430"/>
                          </a:solidFill>
                          <a:latin typeface="Calibri"/>
                        </a:rPr>
                        <a:t>FP64–FP4 to'plam</a:t>
                      </a:r>
                    </a:p>
                  </a:txBody>
                  <a:tcPr>
                    <a:solidFill>
                      <a:srgbClr val="FFFFFF"/>
                    </a:solidFill>
                  </a:tcPr>
                </a:tc>
              </a:tr>
              <a:tr h="520000">
                <a:tc>
                  <a:txBody>
                    <a:bodyPr/>
                    <a:lstStyle/>
                    <a:p>
                      <a:r>
                        <a:rPr sz="1400" b="0">
                          <a:solidFill>
                            <a:srgbClr val="1B2430"/>
                          </a:solidFill>
                          <a:latin typeface="Calibri"/>
                        </a:rPr>
                        <a:t>Modelni o'zgartirish</a:t>
                      </a:r>
                    </a:p>
                  </a:txBody>
                  <a:tcPr>
                    <a:solidFill>
                      <a:srgbClr val="F1F4F8"/>
                    </a:solidFill>
                  </a:tcPr>
                </a:tc>
                <a:tc>
                  <a:txBody>
                    <a:bodyPr/>
                    <a:lstStyle/>
                    <a:p>
                      <a:r>
                        <a:rPr sz="1400" b="0">
                          <a:solidFill>
                            <a:srgbClr val="1B2430"/>
                          </a:solidFill>
                          <a:latin typeface="Calibri"/>
                        </a:rPr>
                        <a:t>Qayta sintez</a:t>
                      </a:r>
                    </a:p>
                  </a:txBody>
                  <a:tcPr>
                    <a:solidFill>
                      <a:srgbClr val="F1F4F8"/>
                    </a:solidFill>
                  </a:tcPr>
                </a:tc>
                <a:tc>
                  <a:txBody>
                    <a:bodyPr/>
                    <a:lstStyle/>
                    <a:p>
                      <a:r>
                        <a:rPr sz="1400" b="0">
                          <a:solidFill>
                            <a:srgbClr val="1B2430"/>
                          </a:solidFill>
                          <a:latin typeface="Calibri"/>
                        </a:rPr>
                        <a:t>Faqat kompilyator doirasida</a:t>
                      </a:r>
                    </a:p>
                  </a:txBody>
                  <a:tcPr>
                    <a:solidFill>
                      <a:srgbClr val="F1F4F8"/>
                    </a:solidFill>
                  </a:tcPr>
                </a:tc>
                <a:tc>
                  <a:txBody>
                    <a:bodyPr/>
                    <a:lstStyle/>
                    <a:p>
                      <a:r>
                        <a:rPr sz="1400" b="0">
                          <a:solidFill>
                            <a:srgbClr val="1B2430"/>
                          </a:solidFill>
                          <a:latin typeface="Calibri"/>
                        </a:rPr>
                        <a:t>Erkin</a:t>
                      </a:r>
                    </a:p>
                  </a:txBody>
                  <a:tcPr>
                    <a:solidFill>
                      <a:srgbClr val="F1F4F8"/>
                    </a:solidFill>
                  </a:tcPr>
                </a:tc>
              </a:tr>
              <a:tr h="520000">
                <a:tc>
                  <a:txBody>
                    <a:bodyPr/>
                    <a:lstStyle/>
                    <a:p>
                      <a:r>
                        <a:rPr sz="1400" b="0">
                          <a:solidFill>
                            <a:srgbClr val="1B2430"/>
                          </a:solidFill>
                          <a:latin typeface="Calibri"/>
                        </a:rPr>
                        <a:t>Tipik soha</a:t>
                      </a:r>
                    </a:p>
                  </a:txBody>
                  <a:tcPr>
                    <a:solidFill>
                      <a:srgbClr val="FFFFFF"/>
                    </a:solidFill>
                  </a:tcPr>
                </a:tc>
                <a:tc>
                  <a:txBody>
                    <a:bodyPr/>
                    <a:lstStyle/>
                    <a:p>
                      <a:r>
                        <a:rPr sz="1400" b="0">
                          <a:solidFill>
                            <a:srgbClr val="1B2430"/>
                          </a:solidFill>
                          <a:latin typeface="Calibri"/>
                        </a:rPr>
                        <a:t>Sanoat, radar, moliya, prototip</a:t>
                      </a:r>
                    </a:p>
                  </a:txBody>
                  <a:tcPr>
                    <a:solidFill>
                      <a:srgbClr val="FFFFFF"/>
                    </a:solidFill>
                  </a:tcPr>
                </a:tc>
                <a:tc>
                  <a:txBody>
                    <a:bodyPr/>
                    <a:lstStyle/>
                    <a:p>
                      <a:r>
                        <a:rPr sz="1400" b="0">
                          <a:solidFill>
                            <a:srgbClr val="1B2430"/>
                          </a:solidFill>
                          <a:latin typeface="Calibri"/>
                        </a:rPr>
                        <a:t>Bulut, telefon, avtomobil (katta tiraj)</a:t>
                      </a:r>
                    </a:p>
                  </a:txBody>
                  <a:tcPr>
                    <a:solidFill>
                      <a:srgbClr val="FFFFFF"/>
                    </a:solidFill>
                  </a:tcPr>
                </a:tc>
                <a:tc>
                  <a:txBody>
                    <a:bodyPr/>
                    <a:lstStyle/>
                    <a:p>
                      <a:r>
                        <a:rPr sz="1400" b="0">
                          <a:solidFill>
                            <a:srgbClr val="1B2430"/>
                          </a:solidFill>
                          <a:latin typeface="Calibri"/>
                        </a:rPr>
                        <a:t>O'qitish, umumiy inferens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RISC-V arxitekturasi va uning SI chiplaridagi o'rni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RISC-V — 2010-yilda Kaliforniya universiteti Berklida yaratilgan va hozir RISC-V International (Shveytsariya) tomonidan boshqariladigan ochiq buyruqlar to'plami arxitekturasi (Instruction Set Architecture, ISA). x86 (Intel/AMD) va ARM dan farqli o'laroq,…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SI chiplari uchun RISC-V ning jozibasi uch jihatda. Birinchidan, vektor kengaytmasi uzunlikka bog'liq emas (vector-length agnostic): bitta kod 128 bitli chekka yadroda ham, 2048 bitli server yadrosida ham ishlaydi — SIMD ning AVX2/AVX-512 kabi qattiq…</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RISC-V ning cheklovlari ham bor: ekotizim (kompilyator optimizatsiyalari, operatsion tizim, kutubxonalar) ARM va x86 dan yosh; yuqori unumdorli server yadrolari hali kam; standartlashtirilmagan kengaytmalar fragmentatsiyaga olib kelishi mumkin. Shunga…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chiplarini loyihalashning asosiy tamoyillari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Sze va hammualliflar [4] hamda Hennessy va Patterson [1] asosida SI chipi loyihalashning oltita tamoyilini ajratish mumkin.</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1. Ma'lumot oqimi (dataflow) ni tanlash. PE massivida qaysi ma'lumot joyida turadi va qaysi biri harakatlanadi — loyihaning markaziy qarori.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2. Xotira iyerarxiyasi va energiya byudjeti.</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3. Aniqlikni kamaytirish. Har ikki baravar kam bit — ko'paytirgich maydoni taxminan 4 baravar kichik (ko'paytirgich murakkabligi bit kengligi kvadratiga proporsional), xotira va…</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4. Siyraklik. Neyron tarmoqda nollar ko'p (ReLU dan keyin aktivatsiyalar, kesilgan og'irliklar).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chiplarini loyihalashning asosiy tamoyillari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5. Masshtablash va interkonnekt. Bitta kristall o'lchami litografiya chegarasi (~858 mm²) bilan cheklangan.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6. Dasturiy stek bilan birgalikda loyihalash.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Zamonaviy tendensiyalar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Birinchi tendensiya — transformer uchun ixtisoslashuv: FP8/FP4 formatlar, Transformer Engine, diqqat mexanizmi uchun maxsus yadrolar (FlashAttention apparat bilan birgalikda), katta KV-kesh uchun xotira sig'imi (B200 192 GB, MI300X 192 GB, MI325X 256 GB).…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 ikki qismdan iborat. Birinchi qismda sistolik massiv NumPy da takt-ma-takt simulyatsiya qilinib, ma'lumot oqimi, takt soni va foydalanish koeffitsiyenti o'rganiladi — bu TPU va Tensor Core ning ichki mantig'ini «qo'l bilan» his qilish imkonini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kod N×N o'lchamli chiqish-statsionar sistolik massivni modellashtiradi: A matritsasining satrlari chapdan, B matritsasining ustunlari yuqoridan har taktda bitta qadam siljiydi; (i, j) pozitsiyadagi PE o'ziga kelgan a va b ni ko'paytirib, o'z…</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Simulyator natijaning to'g'riligini A @ B bilan tasdiqladi — demak qiyshaytirish va sistolik uzatish mantig'i to'g'ri. Asosiy kuzatuvlar: (1) 8×8 blok uchun 8 ta foydali taktga 14 ta to'ldirish/bo'shatish takti qo'shiladi — kichik…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systolic_sim.py — chiqish-statsionar sistolik massiv simulyatori (NumPy)</a:t>
            </a:r>
          </a:p>
          <a:p>
            <a:r>
              <a:rPr sz="1200">
                <a:solidFill>
                  <a:srgbClr val="E2E8F0"/>
                </a:solidFill>
                <a:latin typeface="Consolas"/>
              </a:rPr>
              <a:t>import numpy as np</a:t>
            </a:r>
          </a:p>
          <a:p>
            <a:r>
              <a:rPr sz="1200">
                <a:solidFill>
                  <a:srgbClr val="E2E8F0"/>
                </a:solidFill>
                <a:latin typeface="Consolas"/>
              </a:rPr>
              <a:t> </a:t>
            </a:r>
          </a:p>
          <a:p>
            <a:r>
              <a:rPr sz="1200">
                <a:solidFill>
                  <a:srgbClr val="E2E8F0"/>
                </a:solidFill>
                <a:latin typeface="Consolas"/>
              </a:rPr>
              <a:t>def systolic_matmul(A, B, N):</a:t>
            </a:r>
          </a:p>
          <a:p>
            <a:r>
              <a:rPr sz="1200">
                <a:solidFill>
                  <a:srgbClr val="E2E8F0"/>
                </a:solidFill>
                <a:latin typeface="Consolas"/>
              </a:rPr>
              <a:t>    """A: (M, K), B: (K, P). N×N massiv; natija bloklar bo'yicha yig'iladi.</a:t>
            </a:r>
          </a:p>
          <a:p>
            <a:r>
              <a:rPr sz="1200">
                <a:solidFill>
                  <a:srgbClr val="E2E8F0"/>
                </a:solidFill>
                <a:latin typeface="Consolas"/>
              </a:rPr>
              <a:t>    Qaytaradi: C, umumiy takt soni, foydalanish koeffitsiyenti."""</a:t>
            </a:r>
          </a:p>
          <a:p>
            <a:r>
              <a:rPr sz="1200">
                <a:solidFill>
                  <a:srgbClr val="E2E8F0"/>
                </a:solidFill>
                <a:latin typeface="Consolas"/>
              </a:rPr>
              <a:t>    M, K = A.shape; K2, P = B.shape; assert K == K2</a:t>
            </a:r>
          </a:p>
          <a:p>
            <a:r>
              <a:rPr sz="1200">
                <a:solidFill>
                  <a:srgbClr val="E2E8F0"/>
                </a:solidFill>
                <a:latin typeface="Consolas"/>
              </a:rPr>
              <a:t>    C = np.zeros((M, P), dtype=np.float64)</a:t>
            </a:r>
          </a:p>
          <a:p>
            <a:r>
              <a:rPr sz="1200">
                <a:solidFill>
                  <a:srgbClr val="E2E8F0"/>
                </a:solidFill>
                <a:latin typeface="Consolas"/>
              </a:rPr>
              <a:t>    total_cycles, busy_pe_cycles = 0, 0</a:t>
            </a:r>
          </a:p>
          <a:p>
            <a:r>
              <a:rPr sz="1200">
                <a:solidFill>
                  <a:srgbClr val="E2E8F0"/>
                </a:solidFill>
                <a:latin typeface="Consolas"/>
              </a:rPr>
              <a:t>    for i0 in range(0, M, N):                   # satr bloklari</a:t>
            </a:r>
          </a:p>
          <a:p>
            <a:r>
              <a:rPr sz="1200">
                <a:solidFill>
                  <a:srgbClr val="E2E8F0"/>
                </a:solidFill>
                <a:latin typeface="Consolas"/>
              </a:rPr>
              <a:t>        for j0 in range(0, P, N):               # ustun bloklari</a:t>
            </a:r>
          </a:p>
          <a:p>
            <a:r>
              <a:rPr sz="1200">
                <a:solidFill>
                  <a:srgbClr val="E2E8F0"/>
                </a:solidFill>
                <a:latin typeface="Consolas"/>
              </a:rPr>
              <a:t>            a_blk = A[i0:i0+N, :]; b_blk = B[:, j0:j0+N]</a:t>
            </a:r>
          </a:p>
          <a:p>
            <a:r>
              <a:rPr sz="1200">
                <a:solidFill>
                  <a:srgbClr val="E2E8F0"/>
                </a:solidFill>
                <a:latin typeface="Consolas"/>
              </a:rPr>
              <a:t>            rows, cols = a_blk.shape[0], b_blk.shape[1]</a:t>
            </a:r>
          </a:p>
          <a:p>
            <a:r>
              <a:rPr sz="1200">
                <a:solidFill>
                  <a:srgbClr val="E2E8F0"/>
                </a:solidFill>
                <a:latin typeface="Consolas"/>
              </a:rPr>
              <a:t>            acc = np.zeros((N, N)); a_reg = np.zeros((N, N)); b_reg = np.zeros((N, N))</a:t>
            </a:r>
          </a:p>
          <a:p>
            <a:r>
              <a:rPr sz="1200">
                <a:solidFill>
                  <a:srgbClr val="E2E8F0"/>
                </a:solidFill>
                <a:latin typeface="Consolas"/>
              </a:rPr>
              <a:t>            cycles = K + 2 * N - 2              # to'ldirish + K + bo'shatish</a:t>
            </a:r>
          </a:p>
          <a:p>
            <a:r>
              <a:rPr sz="1200">
                <a:solidFill>
                  <a:srgbClr val="E2E8F0"/>
                </a:solidFill>
                <a:latin typeface="Consolas"/>
              </a:rPr>
              <a:t>            for t in range(cycles):</a:t>
            </a:r>
          </a:p>
          <a:p>
            <a:r>
              <a:rPr sz="1200">
                <a:solidFill>
                  <a:srgbClr val="7FD6D7"/>
                </a:solidFill>
                <a:latin typeface="Consolas"/>
              </a:rPr>
              <a:t>                # ma'lumot bir qadam o'ngga/pastga siljiydi (sistolik uzatish)</a:t>
            </a:r>
          </a:p>
          <a:p>
            <a:r>
              <a:rPr sz="1200">
                <a:solidFill>
                  <a:srgbClr val="E2E8F0"/>
                </a:solidFill>
                <a:latin typeface="Consolas"/>
              </a:rPr>
              <a:t>                a_reg[:, 1:] = a_reg[:, :-1]; b_reg[1:, :] = b_reg[:-1, :]</a:t>
            </a:r>
          </a:p>
          <a:p>
            <a:r>
              <a:rPr sz="1200">
                <a:solidFill>
                  <a:srgbClr val="E2E8F0"/>
                </a:solidFill>
                <a:latin typeface="Consolas"/>
              </a:rPr>
              <a:t>                for i in range(N):              # chap chegaradan a kiradi (qiyshaytirilgan)</a:t>
            </a:r>
          </a:p>
          <a:p>
            <a:r>
              <a:rPr sz="1200">
                <a:solidFill>
                  <a:srgbClr val="E2E8F0"/>
                </a:solidFill>
                <a:latin typeface="Consolas"/>
              </a:rPr>
              <a:t>                    k = t - i</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M=  8 K=  8 P=  8 N=8: to'g'ri=True  takt=   22  MAC/takt=  23.3 (maks 64)  foydalanish=0.36</a:t>
            </a:r>
          </a:p>
          <a:p>
            <a:r>
              <a:rPr sz="1200">
                <a:solidFill>
                  <a:srgbClr val="E2E8F0"/>
                </a:solidFill>
                <a:latin typeface="Consolas"/>
              </a:rPr>
              <a:t>M= 64 K= 64 P= 64 N=8: to'g'ri=True  takt= 4992  MAC/takt=  52.5 (maks 64)  foydalanish=0.82</a:t>
            </a:r>
          </a:p>
          <a:p>
            <a:r>
              <a:rPr sz="1200">
                <a:solidFill>
                  <a:srgbClr val="E2E8F0"/>
                </a:solidFill>
                <a:latin typeface="Consolas"/>
              </a:rPr>
              <a:t>M=100 K= 64 P=100 N=8: to'g'ri=True  takt=13182  MAC/takt=  48.6 (maks 64)  foydalanish=0.76</a:t>
            </a:r>
          </a:p>
          <a:p>
            <a:r>
              <a:rPr sz="1200">
                <a:solidFill>
                  <a:srgbClr val="E2E8F0"/>
                </a:solidFill>
                <a:latin typeface="Consolas"/>
              </a:rPr>
              <a:t>M= 16 K=  1 P= 16 N=8: to'g'ri=True  takt=   60  MAC/takt=   4.3 (maks 64)  foydalanish=0.07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Ma'lumot oqimining ta'sirini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Simulyatorni o'zgartirib, N ni 4, 8, 16 qilib bir xil 64×64×64 masala uchun takt sonini solishtiring: K + 2N − 2 to'ldirish narxi N bilan o'sadi, lekin bloklar soni (64/N)² kamayadi; umumiy takt ≈ (64/N)² × (64 + 2N − 2): N = 4 da 17 920, N = 8 da 4 992, N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taxminiy natijalar (NVIDIA A100 40 GB):</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T4 da raqamlar taxminan 5–7 baravar kichik (FP16 Tensor Core 30–45 TFLOPS), H100 da 2,5–3 baravar katta; nisbatlar o'xshash saqlanadi.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Birinchi blok Tensor Core ning mohiyatini ko'rsatadi: bir xil GPU, bir xil kod, faqat allow_tf32 bayrog'i — 6 baravar farq; FP16 ga o'tish 14 baravar. Bu CUDA yadrolari va Tensor Core larning alohida apparat ekanining bevosita isboti.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O'lchov</a:t>
                      </a:r>
                    </a:p>
                  </a:txBody>
                  <a:tcPr>
                    <a:solidFill>
                      <a:srgbClr val="2D5C8F"/>
                    </a:solidFill>
                  </a:tcPr>
                </a:tc>
                <a:tc>
                  <a:txBody>
                    <a:bodyPr/>
                    <a:lstStyle/>
                    <a:p>
                      <a:r>
                        <a:rPr sz="1200" b="1">
                          <a:solidFill>
                            <a:srgbClr val="FFFFFF"/>
                          </a:solidFill>
                          <a:latin typeface="Calibri"/>
                        </a:rPr>
                        <a:t>Natija, TFLOPS</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FP32, CUDA yadrolari</a:t>
                      </a:r>
                    </a:p>
                  </a:txBody>
                  <a:tcPr>
                    <a:solidFill>
                      <a:srgbClr val="F1F4F8"/>
                    </a:solidFill>
                  </a:tcPr>
                </a:tc>
                <a:tc>
                  <a:txBody>
                    <a:bodyPr/>
                    <a:lstStyle/>
                    <a:p>
                      <a:r>
                        <a:rPr sz="1200" b="0">
                          <a:solidFill>
                            <a:srgbClr val="1B2430"/>
                          </a:solidFill>
                          <a:latin typeface="Calibri"/>
                        </a:rPr>
                        <a:t>17–19</a:t>
                      </a:r>
                    </a:p>
                  </a:txBody>
                  <a:tcPr>
                    <a:solidFill>
                      <a:srgbClr val="F1F4F8"/>
                    </a:solidFill>
                  </a:tcPr>
                </a:tc>
                <a:tc>
                  <a:txBody>
                    <a:bodyPr/>
                    <a:lstStyle/>
                    <a:p>
                      <a:r>
                        <a:rPr sz="1200" b="0">
                          <a:solidFill>
                            <a:srgbClr val="1B2430"/>
                          </a:solidFill>
                          <a:latin typeface="Calibri"/>
                        </a:rPr>
                        <a:t>Pasport 19,5</a:t>
                      </a:r>
                    </a:p>
                  </a:txBody>
                  <a:tcPr>
                    <a:solidFill>
                      <a:srgbClr val="F1F4F8"/>
                    </a:solidFill>
                  </a:tcPr>
                </a:tc>
              </a:tr>
              <a:tr h="520000">
                <a:tc>
                  <a:txBody>
                    <a:bodyPr/>
                    <a:lstStyle/>
                    <a:p>
                      <a:r>
                        <a:rPr sz="1200" b="0">
                          <a:solidFill>
                            <a:srgbClr val="1B2430"/>
                          </a:solidFill>
                          <a:latin typeface="Calibri"/>
                        </a:rPr>
                        <a:t>TF32, Tensor Core</a:t>
                      </a:r>
                    </a:p>
                  </a:txBody>
                  <a:tcPr>
                    <a:solidFill>
                      <a:srgbClr val="FFFFFF"/>
                    </a:solidFill>
                  </a:tcPr>
                </a:tc>
                <a:tc>
                  <a:txBody>
                    <a:bodyPr/>
                    <a:lstStyle/>
                    <a:p>
                      <a:r>
                        <a:rPr sz="1200" b="0">
                          <a:solidFill>
                            <a:srgbClr val="1B2430"/>
                          </a:solidFill>
                          <a:latin typeface="Calibri"/>
                        </a:rPr>
                        <a:t>95–125</a:t>
                      </a:r>
                    </a:p>
                  </a:txBody>
                  <a:tcPr>
                    <a:solidFill>
                      <a:srgbClr val="FFFFFF"/>
                    </a:solidFill>
                  </a:tcPr>
                </a:tc>
                <a:tc>
                  <a:txBody>
                    <a:bodyPr/>
                    <a:lstStyle/>
                    <a:p>
                      <a:r>
                        <a:rPr sz="1200" b="0">
                          <a:solidFill>
                            <a:srgbClr val="1B2430"/>
                          </a:solidFill>
                          <a:latin typeface="Calibri"/>
                        </a:rPr>
                        <a:t>6–7× o'sish, kod o'zgarmadi</a:t>
                      </a:r>
                    </a:p>
                  </a:txBody>
                  <a:tcPr>
                    <a:solidFill>
                      <a:srgbClr val="FFFFFF"/>
                    </a:solidFill>
                  </a:tcPr>
                </a:tc>
              </a:tr>
              <a:tr h="520000">
                <a:tc>
                  <a:txBody>
                    <a:bodyPr/>
                    <a:lstStyle/>
                    <a:p>
                      <a:r>
                        <a:rPr sz="1200" b="0">
                          <a:solidFill>
                            <a:srgbClr val="1B2430"/>
                          </a:solidFill>
                          <a:latin typeface="Calibri"/>
                        </a:rPr>
                        <a:t>FP16, Tensor Core</a:t>
                      </a:r>
                    </a:p>
                  </a:txBody>
                  <a:tcPr>
                    <a:solidFill>
                      <a:srgbClr val="F1F4F8"/>
                    </a:solidFill>
                  </a:tcPr>
                </a:tc>
                <a:tc>
                  <a:txBody>
                    <a:bodyPr/>
                    <a:lstStyle/>
                    <a:p>
                      <a:r>
                        <a:rPr sz="1200" b="0">
                          <a:solidFill>
                            <a:srgbClr val="1B2430"/>
                          </a:solidFill>
                          <a:latin typeface="Calibri"/>
                        </a:rPr>
                        <a:t>230–280</a:t>
                      </a:r>
                    </a:p>
                  </a:txBody>
                  <a:tcPr>
                    <a:solidFill>
                      <a:srgbClr val="F1F4F8"/>
                    </a:solidFill>
                  </a:tcPr>
                </a:tc>
                <a:tc>
                  <a:txBody>
                    <a:bodyPr/>
                    <a:lstStyle/>
                    <a:p>
                      <a:r>
                        <a:rPr sz="1200" b="0">
                          <a:solidFill>
                            <a:srgbClr val="1B2430"/>
                          </a:solidFill>
                          <a:latin typeface="Calibri"/>
                        </a:rPr>
                        <a:t>Pasport 312</a:t>
                      </a:r>
                    </a:p>
                  </a:txBody>
                  <a:tcPr>
                    <a:solidFill>
                      <a:srgbClr val="F1F4F8"/>
                    </a:solidFill>
                  </a:tcPr>
                </a:tc>
              </a:tr>
              <a:tr h="520000">
                <a:tc>
                  <a:txBody>
                    <a:bodyPr/>
                    <a:lstStyle/>
                    <a:p>
                      <a:r>
                        <a:rPr sz="1200" b="0">
                          <a:solidFill>
                            <a:srgbClr val="1B2430"/>
                          </a:solidFill>
                          <a:latin typeface="Calibri"/>
                        </a:rPr>
                        <a:t>BF16, Tensor Core</a:t>
                      </a:r>
                    </a:p>
                  </a:txBody>
                  <a:tcPr>
                    <a:solidFill>
                      <a:srgbClr val="FFFFFF"/>
                    </a:solidFill>
                  </a:tcPr>
                </a:tc>
                <a:tc>
                  <a:txBody>
                    <a:bodyPr/>
                    <a:lstStyle/>
                    <a:p>
                      <a:r>
                        <a:rPr sz="1200" b="0">
                          <a:solidFill>
                            <a:srgbClr val="1B2430"/>
                          </a:solidFill>
                          <a:latin typeface="Calibri"/>
                        </a:rPr>
                        <a:t>230–280</a:t>
                      </a:r>
                    </a:p>
                  </a:txBody>
                  <a:tcPr>
                    <a:solidFill>
                      <a:srgbClr val="FFFFFF"/>
                    </a:solidFill>
                  </a:tcPr>
                </a:tc>
                <a:tc>
                  <a:txBody>
                    <a:bodyPr/>
                    <a:lstStyle/>
                    <a:p>
                      <a:r>
                        <a:rPr sz="1200" b="0">
                          <a:solidFill>
                            <a:srgbClr val="1B2430"/>
                          </a:solidFill>
                          <a:latin typeface="Calibri"/>
                        </a:rPr>
                        <a:t>FP16 bilan bir xil tezlik, kengroq diapazon</a:t>
                      </a:r>
                    </a:p>
                  </a:txBody>
                  <a:tcPr>
                    <a:solidFill>
                      <a:srgbClr val="FFFFFF"/>
                    </a:solidFill>
                  </a:tcPr>
                </a:tc>
              </a:tr>
              <a:tr h="520000">
                <a:tc>
                  <a:txBody>
                    <a:bodyPr/>
                    <a:lstStyle/>
                    <a:p>
                      <a:r>
                        <a:rPr sz="1200" b="0">
                          <a:solidFill>
                            <a:srgbClr val="1B2430"/>
                          </a:solidFill>
                          <a:latin typeface="Calibri"/>
                        </a:rPr>
                        <a:t>FP16, n = 4095 (mod 8 = 7)</a:t>
                      </a:r>
                    </a:p>
                  </a:txBody>
                  <a:tcPr>
                    <a:solidFill>
                      <a:srgbClr val="F1F4F8"/>
                    </a:solidFill>
                  </a:tcPr>
                </a:tc>
                <a:tc>
                  <a:txBody>
                    <a:bodyPr/>
                    <a:lstStyle/>
                    <a:p>
                      <a:r>
                        <a:rPr sz="1200" b="0">
                          <a:solidFill>
                            <a:srgbClr val="1B2430"/>
                          </a:solidFill>
                          <a:latin typeface="Calibri"/>
                        </a:rPr>
                        <a:t>150–200</a:t>
                      </a:r>
                    </a:p>
                  </a:txBody>
                  <a:tcPr>
                    <a:solidFill>
                      <a:srgbClr val="F1F4F8"/>
                    </a:solidFill>
                  </a:tcPr>
                </a:tc>
                <a:tc>
                  <a:txBody>
                    <a:bodyPr/>
                    <a:lstStyle/>
                    <a:p>
                      <a:r>
                        <a:rPr sz="1200" b="0">
                          <a:solidFill>
                            <a:srgbClr val="1B2430"/>
                          </a:solidFill>
                          <a:latin typeface="Calibri"/>
                        </a:rPr>
                        <a:t>8 ga karrali emas: 25–40 % yo'qotish</a:t>
                      </a:r>
                    </a:p>
                  </a:txBody>
                  <a:tcPr>
                    <a:solidFill>
                      <a:srgbClr val="F1F4F8"/>
                    </a:solidFill>
                  </a:tcPr>
                </a:tc>
              </a:tr>
              <a:tr h="520000">
                <a:tc>
                  <a:txBody>
                    <a:bodyPr/>
                    <a:lstStyle/>
                    <a:p>
                      <a:r>
                        <a:rPr sz="1200" b="0">
                          <a:solidFill>
                            <a:srgbClr val="1B2430"/>
                          </a:solidFill>
                          <a:latin typeface="Calibri"/>
                        </a:rPr>
                        <a:t>FP16, n = 4088 (mod 8 = 0)</a:t>
                      </a:r>
                    </a:p>
                  </a:txBody>
                  <a:tcPr>
                    <a:solidFill>
                      <a:srgbClr val="FFFFFF"/>
                    </a:solidFill>
                  </a:tcPr>
                </a:tc>
                <a:tc>
                  <a:txBody>
                    <a:bodyPr/>
                    <a:lstStyle/>
                    <a:p>
                      <a:r>
                        <a:rPr sz="1200" b="0">
                          <a:solidFill>
                            <a:srgbClr val="1B2430"/>
                          </a:solidFill>
                          <a:latin typeface="Calibri"/>
                        </a:rPr>
                        <a:t>230–270</a:t>
                      </a:r>
                    </a:p>
                  </a:txBody>
                  <a:tcPr>
                    <a:solidFill>
                      <a:srgbClr val="FFFFFF"/>
                    </a:solidFill>
                  </a:tcPr>
                </a:tc>
                <a:tc>
                  <a:txBody>
                    <a:bodyPr/>
                    <a:lstStyle/>
                    <a:p>
                      <a:r>
                        <a:rPr sz="1200" b="0">
                          <a:solidFill>
                            <a:srgbClr val="1B2430"/>
                          </a:solidFill>
                          <a:latin typeface="Calibri"/>
                        </a:rPr>
                        <a:t>Deyarli to'liq tezlik</a:t>
                      </a:r>
                    </a:p>
                  </a:txBody>
                  <a:tcPr>
                    <a:solidFill>
                      <a:srgbClr val="FFFFFF"/>
                    </a:solidFill>
                  </a:tcPr>
                </a:tc>
              </a:tr>
              <a:tr h="520000">
                <a:tc>
                  <a:txBody>
                    <a:bodyPr/>
                    <a:lstStyle/>
                    <a:p>
                      <a:r>
                        <a:rPr sz="1200" b="0">
                          <a:solidFill>
                            <a:srgbClr val="1B2430"/>
                          </a:solidFill>
                          <a:latin typeface="Calibri"/>
                        </a:rPr>
                        <a:t>FP16, n = 64</a:t>
                      </a:r>
                    </a:p>
                  </a:txBody>
                  <a:tcPr>
                    <a:solidFill>
                      <a:srgbClr val="F1F4F8"/>
                    </a:solidFill>
                  </a:tcPr>
                </a:tc>
                <a:tc>
                  <a:txBody>
                    <a:bodyPr/>
                    <a:lstStyle/>
                    <a:p>
                      <a:r>
                        <a:rPr sz="1200" b="0">
                          <a:solidFill>
                            <a:srgbClr val="1B2430"/>
                          </a:solidFill>
                          <a:latin typeface="Calibri"/>
                        </a:rPr>
                        <a:t>1–3</a:t>
                      </a:r>
                    </a:p>
                  </a:txBody>
                  <a:tcPr>
                    <a:solidFill>
                      <a:srgbClr val="F1F4F8"/>
                    </a:solidFill>
                  </a:tcPr>
                </a:tc>
                <a:tc>
                  <a:txBody>
                    <a:bodyPr/>
                    <a:lstStyle/>
                    <a:p>
                      <a:r>
                        <a:rPr sz="1200" b="0">
                          <a:solidFill>
                            <a:srgbClr val="1B2430"/>
                          </a:solidFill>
                          <a:latin typeface="Calibri"/>
                        </a:rPr>
                        <a:t>Ishga tushirish xarajati ustun</a:t>
                      </a:r>
                    </a:p>
                  </a:txBody>
                  <a:tcPr>
                    <a:solidFill>
                      <a:srgbClr val="F1F4F8"/>
                    </a:solidFill>
                  </a:tcPr>
                </a:tc>
              </a:tr>
              <a:tr h="520000">
                <a:tc>
                  <a:txBody>
                    <a:bodyPr/>
                    <a:lstStyle/>
                    <a:p>
                      <a:r>
                        <a:rPr sz="1200" b="0">
                          <a:solidFill>
                            <a:srgbClr val="1B2430"/>
                          </a:solidFill>
                          <a:latin typeface="Calibri"/>
                        </a:rPr>
                        <a:t>FP16, n = 1024</a:t>
                      </a:r>
                    </a:p>
                  </a:txBody>
                  <a:tcPr>
                    <a:solidFill>
                      <a:srgbClr val="FFFFFF"/>
                    </a:solidFill>
                  </a:tcPr>
                </a:tc>
                <a:tc>
                  <a:txBody>
                    <a:bodyPr/>
                    <a:lstStyle/>
                    <a:p>
                      <a:r>
                        <a:rPr sz="1200" b="0">
                          <a:solidFill>
                            <a:srgbClr val="1B2430"/>
                          </a:solidFill>
                          <a:latin typeface="Calibri"/>
                        </a:rPr>
                        <a:t>80–150</a:t>
                      </a:r>
                    </a:p>
                  </a:txBody>
                  <a:tcPr>
                    <a:solidFill>
                      <a:srgbClr val="FFFFFF"/>
                    </a:solidFill>
                  </a:tcPr>
                </a:tc>
                <a:tc>
                  <a:txBody>
                    <a:bodyPr/>
                    <a:lstStyle/>
                    <a:p>
                      <a:r>
                        <a:rPr sz="1200" b="0">
                          <a:solidFill>
                            <a:srgbClr val="1B2430"/>
                          </a:solidFill>
                          <a:latin typeface="Calibri"/>
                        </a:rPr>
                        <a:t>Massiv to'la emas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tensor_core_bench.py — aniqlik va o'lcham karraliligining Tensor Core ga ta'siri</a:t>
            </a:r>
          </a:p>
          <a:p>
            <a:r>
              <a:rPr sz="1000">
                <a:solidFill>
                  <a:srgbClr val="E2E8F0"/>
                </a:solidFill>
                <a:latin typeface="Consolas"/>
              </a:rPr>
              <a:t>import torch, time</a:t>
            </a:r>
          </a:p>
          <a:p>
            <a:r>
              <a:rPr sz="1000">
                <a:solidFill>
                  <a:srgbClr val="E2E8F0"/>
                </a:solidFill>
                <a:latin typeface="Consolas"/>
              </a:rPr>
              <a:t>assert torch.cuda.is_available(), "Tensor Core li GPU kerak"</a:t>
            </a:r>
          </a:p>
          <a:p>
            <a:r>
              <a:rPr sz="1000">
                <a:solidFill>
                  <a:srgbClr val="E2E8F0"/>
                </a:solidFill>
                <a:latin typeface="Consolas"/>
              </a:rPr>
              <a:t>dev = "cuda"; print(torch.cuda.get_device_name(0))</a:t>
            </a:r>
          </a:p>
          <a:p>
            <a:r>
              <a:rPr sz="1000">
                <a:solidFill>
                  <a:srgbClr val="E2E8F0"/>
                </a:solidFill>
                <a:latin typeface="Consolas"/>
              </a:rPr>
              <a:t> </a:t>
            </a:r>
          </a:p>
          <a:p>
            <a:r>
              <a:rPr sz="1000">
                <a:solidFill>
                  <a:srgbClr val="E2E8F0"/>
                </a:solidFill>
                <a:latin typeface="Consolas"/>
              </a:rPr>
              <a:t>def tflops(n, dtype, tf32=False, iters=20):</a:t>
            </a:r>
          </a:p>
          <a:p>
            <a:r>
              <a:rPr sz="1000">
                <a:solidFill>
                  <a:srgbClr val="E2E8F0"/>
                </a:solidFill>
                <a:latin typeface="Consolas"/>
              </a:rPr>
              <a:t>    torch.backends.cuda.matmul.allow_tf32 = tf32</a:t>
            </a:r>
          </a:p>
          <a:p>
            <a:r>
              <a:rPr sz="1000">
                <a:solidFill>
                  <a:srgbClr val="E2E8F0"/>
                </a:solidFill>
                <a:latin typeface="Consolas"/>
              </a:rPr>
              <a:t>    a = torch.randn(n, n, device=dev, dtype=dtype); b = torch.randn(n, n, device=dev, dtype=dtype)</a:t>
            </a:r>
          </a:p>
          <a:p>
            <a:r>
              <a:rPr sz="1000">
                <a:solidFill>
                  <a:srgbClr val="E2E8F0"/>
                </a:solidFill>
                <a:latin typeface="Consolas"/>
              </a:rPr>
              <a:t>    for _ in range(3): a @ b</a:t>
            </a:r>
          </a:p>
          <a:p>
            <a:r>
              <a:rPr sz="1000">
                <a:solidFill>
                  <a:srgbClr val="E2E8F0"/>
                </a:solidFill>
                <a:latin typeface="Consolas"/>
              </a:rPr>
              <a:t>    torch.cuda.synchronize(); t0 = time.perf_counter()</a:t>
            </a:r>
          </a:p>
          <a:p>
            <a:r>
              <a:rPr sz="1000">
                <a:solidFill>
                  <a:srgbClr val="E2E8F0"/>
                </a:solidFill>
                <a:latin typeface="Consolas"/>
              </a:rPr>
              <a:t>    for _ in range(iters): a @ b</a:t>
            </a:r>
          </a:p>
          <a:p>
            <a:r>
              <a:rPr sz="1000">
                <a:solidFill>
                  <a:srgbClr val="E2E8F0"/>
                </a:solidFill>
                <a:latin typeface="Consolas"/>
              </a:rPr>
              <a:t>    torch.cuda.synchronize()</a:t>
            </a:r>
          </a:p>
          <a:p>
            <a:r>
              <a:rPr sz="1000">
                <a:solidFill>
                  <a:srgbClr val="E2E8F0"/>
                </a:solidFill>
                <a:latin typeface="Consolas"/>
              </a:rPr>
              <a:t>    return 2 * n**3 * iters / (time.perf_counter() - t0) / 1e12</a:t>
            </a:r>
          </a:p>
          <a:p>
            <a:r>
              <a:rPr sz="1000">
                <a:solidFill>
                  <a:srgbClr val="E2E8F0"/>
                </a:solidFill>
                <a:latin typeface="Consolas"/>
              </a:rPr>
              <a:t> </a:t>
            </a:r>
          </a:p>
          <a:p>
            <a:r>
              <a:rPr sz="1000">
                <a:solidFill>
                  <a:srgbClr val="E2E8F0"/>
                </a:solidFill>
                <a:latin typeface="Consolas"/>
              </a:rPr>
              <a:t>print("1) Aniqlik rejimlari, n=4096")</a:t>
            </a:r>
          </a:p>
          <a:p>
            <a:r>
              <a:rPr sz="1000">
                <a:solidFill>
                  <a:srgbClr val="E2E8F0"/>
                </a:solidFill>
                <a:latin typeface="Consolas"/>
              </a:rPr>
              <a:t>for name, dt, tf in [("FP32 (CUDA yadro)", torch.float32, False), ("TF32 (Tensor Core)", torch.float32, True),</a:t>
            </a:r>
          </a:p>
          <a:p>
            <a:r>
              <a:rPr sz="1000">
                <a:solidFill>
                  <a:srgbClr val="E2E8F0"/>
                </a:solidFill>
                <a:latin typeface="Consolas"/>
              </a:rPr>
              <a:t>                     ("FP16 (Tensor Core)", torch.float16, False), ("BF16 (Tensor Core)", torch.bfloat16, False)]:</a:t>
            </a:r>
          </a:p>
          <a:p>
            <a:r>
              <a:rPr sz="1000">
                <a:solidFill>
                  <a:srgbClr val="E2E8F0"/>
                </a:solidFill>
                <a:latin typeface="Consolas"/>
              </a:rPr>
              <a:t>    print(f"   {name:20s}: {tflops(4096, dt, tf):7.1f} TFLOPS")</a:t>
            </a:r>
          </a:p>
          <a:p>
            <a:r>
              <a:rPr sz="1000">
                <a:solidFill>
                  <a:srgbClr val="E2E8F0"/>
                </a:solidFill>
                <a:latin typeface="Consolas"/>
              </a:rPr>
              <a:t> </a:t>
            </a:r>
          </a:p>
          <a:p>
            <a:r>
              <a:rPr sz="1000">
                <a:solidFill>
                  <a:srgbClr val="E2E8F0"/>
                </a:solidFill>
                <a:latin typeface="Consolas"/>
              </a:rPr>
              <a:t>print("2) O'lcham karraliligi, FP16")</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Natijalarni aniqlik bilan bog'lash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Tezlik yagona mezon emas. torch.float16 da a @ b natijasini torch.float64 etalon bilan solishtiring: ((c16.double() - c64).abs().max() / c64.abs().max()) nisbiy xato FP32 uchun ~10⁻⁶, TF32 uchun ~10⁻³, FP16 uchun ~10⁻³, BF16 uchun ~10⁻² tartibda chiqadi…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Ikki qism bir-birini to'ldiradi: simulyator nima uchun ni, benchmark qanchaga ni ko'rsatadi. Sistolik massiv modelidan uchta tuzilmaviy xulosa kelib chiqadi va uchalasi ham real apparatda o'lchandi.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Chip loyihalash nuqtai nazaridan natijalar savdolashuvlarni ko'rsatadi. Massiv kattalashsa pik unumdorlik oshadi, lekin to'ldirish qiyinlashadi — TPU 256 dan 128 ga tushdi, NVIDIA esa katta massiv o'rniga SM boshiga 4 ta kichik Tensor Core va warp…</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simulyator funksional — vaqt, energiya va xotira o'tkazuvchanligini modellashtirmaydi (buning uchun SCALE-Sim, Timeloop kabi akademik vositalar bor); benchmark faqat kvadrat GEMM (real qatlamlarda shakllar notekis); FP8 o'lchanmadi (H100 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 avtomatik ishlaydi deb o'ylash. FP32 kodda TF32 yoqilmagan bo'lsa, GPU oddiy CUDA yadrolarida ishlaydi. torch.backends.cuda.matmul.allow_tf32 = True (yoki…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O'lchamlarni tekislamaslik. Embedding, yashirin qatlam, so'z boyligi, paket va ketma-ketlik uzunligi 8 ga (INT8 da 16 ga, ideal holda 64 ga) karrali bo'lsin. GPT-3 da so'z boyligi 50 257…</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Xotira tartibini e'tiborsiz qoldirish. Konvolyutsiyalar uchun channels_last (NHWC) Tensor Core yadrolarini qo'shimcha transpozitsiyasiz ishlatadi; NCHW da yashirin nusxalash bo'lishi mumkin.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Kichik yukda Tensor Core kutish. Paket 1 va kichik matritsalarda ixtisoslashgan blok bo'sh turadi. Paketlang, CUDA Graph ishlating, bir nechta kichik GEMM ni bitta guruhli (batched/grouped)…</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Siyrak pasportni zich yukka qo'llash. 2:4 siyraklik faqat model maxsus kesilgan (pruned) va mos formatga o'tkazilgan bo'lsa ishlaydi. Oddiy model siyrak raqamning yarmini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FPGA/ASIC ni kompilyator ekotizimisiz tanlash. Chip qanchalik samarali bo'lmasin, operatorlar qo'llab-quvvatlanmasa yoki profiler bo'lmasa, loyiha muhandislik xarajatida yutqazadi. Avval…</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RISC-V ni «bepul ARM» deb tushunish. Ochiq ISA yadro loyihasini bermaydi; yadro yoki sotib olinadi (SiFive, Andes), yoki ochiq loyiha (Rocket, CVA6) moslashtiriladi, yoki o'zi loyihalanadi.…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Aniqlikni kamaytirishda masshtablashni unutish. FP8 va INT8 da tensor masshtabi (per-tensor yoki per-channel) noto'g'ri tanlansa, to'lib ketish (overflow) yoki nolga yaqin qiymatlarning…</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Xotira o'tkazuvchanligini hisoblash bilan almashtirish. Tezlatkichning piki arifmetik intensivligi yuqori yukda erishiladi; LLM dekodlash kabi past intensivlikli yuk uchun xotira…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 da ko'paytirish FP16 da, yig'indi FP32 da bajariladi. Nega aynan shunday taqsimot? Yig'indini ham FP16 da bajarsak qanday muammo yuzaga keladi?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Simulyatorda K = 1 bo'lganda foydalanish 7 % ga tushdi. Bu holat qaysi real SI yukiga mos keladi va chip loyihalovchilar hamda algoritm mualliflari unga qanday javob berishgan?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TPU birinchi avlodda 256×256, keyingilarida 128×128 massiv ishlatdi. Simulyatsiya natijalari asosida bu qarorning afzallik va kamchiliklarini tushuntiring.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2:4 strukturali siyraklik va strukturasiz siyraklik apparat uchun nima bilan farq qiladi? Nega NVIDIA aynan strukturali variantni tanlagan?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ASIC loyihalash sikli 2–3 yil, model arxitekturalari esa har yili o'zgaradi. Chip loyihalovchi bu ziddiyatni qanday boshqaradi? Hopper dagi Transformer Engine shu nuqtai nazardan nimani…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FPGA bir xil jarayonda ASIC dan 5–10 baravar kam samarali bo'lsa-da, CERN detektorlari va moliyaviy savdo tizimlari FPGA ni tanlaydi. Bu tanlovni belgilovchi texnik talablarni aniq ayting.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RISC-V vektor kengaytmasining «uzunlikka bog'liq emasligi» AVX-512 bilan taqqoslaganda SI dasturiy stekiga qanday afzallik beradi? Qanday kamchiligi bo'lishi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Og'irlik-statsionar va chiqish-statsionar ma'lumot oqimlarini katta paketli o'qitish va kichik paketli inferens uchun taqqoslang. Har bir holatda qaysi biri kam xotira trafigi beradi?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Chiplet yondashuvi (MI300X, Blackwell) monolit kristallga nisbatan qanday muammolarni hal qiladi va qanday yangi muammolar (kechikish, o'tkazuvchanlik, issiqlik) tug'diradi?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Benchmarkda n = 4095 o'lchamda 30 % yo'qotish kuzatildi. Transformer modelini loyihalayotganda bu kuzatuvdan kelib chiqadigan kamida to'rtta aniq tavsiya bering.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1-topshiriq (amaliy, A2 ga tayyorgarlik).</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simulyatorning to'g'riligi va ikkala oqimning amalga oshirilishi (35 %), real shakllar bo'yicha tahlil (35 %), apparat o'lchovi bilan taqqoslash va tushuntirish (30 %).</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2-topshiriq (tahliliy, sillabusdagi 3-mustaqil ta'lim topshirig'iga bog'langan).</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manbalarning ishonchliligi va to'g'ri keltirilishi (25 %), oltita tamoyil bo'yicha tahlil chuqurligi (45 %), GPU bilan miqdoriy taqqoslash va xulosaning asoslanganligi (30…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7-bob (sohaga xos arxitekturalar: TPU, Microsoft Catapult FPGA,…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A Tutorial and Survey. Morgan &amp; Claypool, 2020. — 5–6-boblar (ma'lumot oqimi turlari,…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4th Edition. Morgan Kaufmann, 2022. — 3–5-boblar (matritsa ko'paytirish, plitkalash, xotira).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https://developer.nvidia.com (Volta/Ampere/Hopper/Blackwell arxitektura hujjatlari, CUTLASS, Transformer Engine, Tensor Core dasturlash bo'yicha qo'llanmalar).</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https://pytorch.org (CUDA semantikasi, TF32, autocast, aralash aniqlik).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Jouppi, N. P., Young, C., Patil, N., et al. In-Datacenter Performance Analysis of a Tensor Processing Unit. ISCA 2017, ACM.</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Chen, Y.-H., Krishna, T., Emer, J. S., &amp; Sze, V. Eyeriss: An Energy-Efficient Reconfigurable Accelerator for Deep Convolutional Neural Networks. IEEE Journal of Solid-State Circuits, 52(1),…</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Horowitz, M. Computing's Energy Problem (and what we can do about it). IEEE International Solid-State Circuits Conference (ISSCC) 2014.</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Waterman, A., &amp; Asanović, K. (eds.). The RISC-V Instruction Set Manual, Volume I: Unprivileged ISA. RISC-V International — https://riscv.org/specifications/.</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Hennessy, J. L., &amp; Patterson, D. A. A New Golden Age for Computer Architecture. Communications of the ACM, 62(2), 2019.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AMD Vitis AI hujjatlari — https://www.amd.com (Vitis AI, DPU, Versal AI Engine).</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Samajdar, A., Zhu, Y., Whatmough, P., Mattina, M., &amp; Krishna, T. SCALE-Sim: Systolic CNN Accelerator Simulator. arXiv:1811.02883, 2018.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https://aiscan.airi.uz/ktm/#/c/mis2104/mavzu/M4</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